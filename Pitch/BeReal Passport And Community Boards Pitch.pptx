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15"/>
    <p:restoredTop sz="93617"/>
  </p:normalViewPr>
  <p:slideViewPr>
    <p:cSldViewPr snapToGrid="0" snapToObjects="1">
      <p:cViewPr varScale="1">
        <p:scale>
          <a:sx n="98" d="100"/>
          <a:sy n="98" d="100"/>
        </p:scale>
        <p:origin x="39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2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Hi, I’m Lashawn, and today I want to show you how BeReal can win back the people who’ve quietly </a:t>
            </a:r>
            <a:r>
              <a:rPr lang="en-US" sz="1200" b="0" i="0" u="none" strike="noStrike" kern="1200">
                <a:solidFill>
                  <a:schemeClr val="tx1"/>
                </a:solidFill>
                <a:effectLst/>
                <a:latin typeface="+mn-lt"/>
                <a:ea typeface="+mn-ea"/>
                <a:cs typeface="+mn-cs"/>
              </a:rPr>
              <a:t>stopped posting.</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dirty="0"/>
              <a:t>People love BeReal’s realness, but most of them stop showing up. Daily users fell from about 15 million to about 6 million in a matter of months. [pause] When we asked why, one occasional user said: “I forget about it unless a friend mentions it.” [pause] BeReal gives you one prompt a day. Miss it, or the moment feels dull, and you skip. That’s our opportunity: give people a reason to come back, without adding pressure.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behind the drift? We ran a 40-minute focus group with five people, from daily users to people who barely open the app. Three reasons kept coming up. Friends are the trigger. Ordinary moments don’t feel worth posting. And the novelty wears off: “It kind of got old after a while.” [pause] None of these is about wanting more pressure. People just need a reason to come back.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we designed BeReal Passport and Community Boards. Each month, your squad shares themed boards like Coffee, Hike or Cramming. Post your BeReal to one and you earn a collectible stamp; at the end of the month, the board becomes a capsule. Each piece answers what we heard: shared boards bring friends in, themes make any moment worth posting, and new stamps keep it fresh. And it stays BeReal: opt-in, the same real photo, no public likes.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we designed BeReal Passport and Community Boards. Each month, your squad shares themed boards like Coffee, Hike or Cramming. Post your BeReal to one and you earn a collectible stamp; at the end of the month, the board becomes a capsule. Each piece answers what we heard: shared boards bring friends in, themes make any moment worth posting, and new stamps keep it fresh. And it stays BeReal: opt-in, the same real photo, no public likes.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does it work? Four out of five testers said they’d open BeReal more often. [pause] One put it simply: “I’d definitely open the app more often because of this.” What surprised us most: the reminders and streak scored highest of anything for low pressure, 4.2 out of 5. [pause] We also heard a real gap: “a few too many button clicks.” That tells us what to fix, not whether to build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matters for BeReal. Occasional users are the ones most likely to drift away, and both of them rated “open more often” 5 out of 5. [pause] Our target is 2.5 times more daily opens per user: a goal to prove in an MVP, not a result yet. With five testers, this shows direction, not proof. In the MVP, we’d track DAU over MAU, retention, and how many taps it takes to post.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matters for BeReal. Occasional users are the ones most likely to drift away, and both of them rated “open more often” 5 out of 5. [pause] Our target is 2.5 times more daily opens per user: a goal to prove in an MVP, not a result yet. With five testers, this shows direction, not proof. In the MVP, we’d track DAU over MAU, retention, and how many taps it takes to post.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0E1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8400"/>
            <a:ext cx="8293100" cy="692150"/>
          </a:xfrm>
          <a:prstGeom prst="rect">
            <a:avLst/>
          </a:prstGeom>
          <a:noFill/>
          <a:ln/>
        </p:spPr>
        <p:txBody>
          <a:bodyPr wrap="square" lIns="0" tIns="0" rIns="0" bIns="0" rtlCol="0" anchor="t"/>
          <a:lstStyle>
            <a:lvl1pPr marL="0" indent="0" algn="l">
              <a:lnSpc>
                <a:spcPct val="115000"/>
              </a:lnSpc>
              <a:buNone/>
              <a:defRPr lang="en-US" sz="3400" dirty="0">
                <a:solidFill>
                  <a:srgbClr val="F5F4EF"/>
                </a:solidFill>
                <a:latin typeface="DM Sans" pitchFamily="34" charset="0"/>
                <a:ea typeface="DM Sans" pitchFamily="34" charset="-122"/>
                <a:cs typeface="DM Sa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165350"/>
            <a:ext cx="10566400" cy="3879850"/>
          </a:xfrm>
          <a:prstGeom prst="rect">
            <a:avLst/>
          </a:prstGeom>
          <a:noFill/>
          <a:ln/>
        </p:spPr>
        <p:txBody>
          <a:bodyPr wrap="square" lIns="0" tIns="0" rIns="0" bIns="0" rtlCol="0" anchor="t"/>
          <a:lstStyle>
            <a:lvl1pPr marL="0" indent="0" algn="l">
              <a:lnSpc>
                <a:spcPct val="140000"/>
              </a:lnSpc>
              <a:buNone/>
              <a:defRPr lang="en-US" sz="1600" dirty="0">
                <a:solidFill>
                  <a:srgbClr val="F5F4EF"/>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E1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8400"/>
            <a:ext cx="8293100" cy="692150"/>
          </a:xfrm>
          <a:prstGeom prst="rect">
            <a:avLst/>
          </a:prstGeom>
          <a:noFill/>
          <a:ln/>
        </p:spPr>
        <p:txBody>
          <a:bodyPr wrap="square" lIns="0" tIns="0" rIns="0" bIns="0" rtlCol="0" anchor="t"/>
          <a:lstStyle>
            <a:lvl1pPr marL="0" indent="0" algn="l">
              <a:lnSpc>
                <a:spcPct val="115000"/>
              </a:lnSpc>
              <a:buNone/>
              <a:defRPr lang="en-US" sz="3400" dirty="0">
                <a:solidFill>
                  <a:srgbClr val="F5F4EF"/>
                </a:solidFill>
                <a:latin typeface="DM Sans" pitchFamily="34" charset="0"/>
                <a:ea typeface="DM Sans" pitchFamily="34" charset="-122"/>
                <a:cs typeface="DM Sa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165350"/>
            <a:ext cx="10566400" cy="3879850"/>
          </a:xfrm>
          <a:prstGeom prst="rect">
            <a:avLst/>
          </a:prstGeom>
          <a:noFill/>
          <a:ln/>
        </p:spPr>
        <p:txBody>
          <a:bodyPr wrap="square" lIns="0" tIns="0" rIns="0" bIns="0" rtlCol="0" anchor="t"/>
          <a:lstStyle>
            <a:lvl1pPr marL="0" indent="0" algn="l">
              <a:lnSpc>
                <a:spcPct val="140000"/>
              </a:lnSpc>
              <a:buNone/>
              <a:defRPr lang="en-US" sz="1600" dirty="0">
                <a:solidFill>
                  <a:srgbClr val="F5F4EF"/>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lashawnfofung.github.io/BeReal-RealProces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LashawnFofung/BeReal-RealProcess/blob/main/Case%20Study/BeReal%20Case%20Study%20-%20Real%20Passport%20And%20Community%20Boards.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0"/>
        </a:solidFill>
        <a:effectLst/>
      </p:bgPr>
    </p:bg>
    <p:spTree>
      <p:nvGrpSpPr>
        <p:cNvPr id="1" name=""/>
        <p:cNvGrpSpPr/>
        <p:nvPr/>
      </p:nvGrpSpPr>
      <p:grpSpPr>
        <a:xfrm>
          <a:off x="0" y="0"/>
          <a:ext cx="0" cy="0"/>
          <a:chOff x="0" y="0"/>
          <a:chExt cx="0" cy="0"/>
        </a:xfrm>
      </p:grpSpPr>
      <p:sp>
        <p:nvSpPr>
          <p:cNvPr id="2" name="Text 0"/>
          <p:cNvSpPr/>
          <p:nvPr/>
        </p:nvSpPr>
        <p:spPr>
          <a:xfrm>
            <a:off x="812800" y="1460500"/>
            <a:ext cx="7665466"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DE59"/>
                </a:solidFill>
                <a:latin typeface="DM Sans" pitchFamily="34" charset="0"/>
                <a:ea typeface="DM Sans" pitchFamily="34" charset="-122"/>
                <a:cs typeface="DM Sans" pitchFamily="34" charset="-120"/>
              </a:rPr>
              <a:t>THE PROBLEM</a:t>
            </a:r>
            <a:endParaRPr lang="en-US" sz="1200" dirty="0"/>
          </a:p>
        </p:txBody>
      </p:sp>
      <p:sp>
        <p:nvSpPr>
          <p:cNvPr id="3" name="Text 1"/>
          <p:cNvSpPr>
            <a:spLocks noGrp="1"/>
          </p:cNvSpPr>
          <p:nvPr>
            <p:ph type="title"/>
          </p:nvPr>
        </p:nvSpPr>
        <p:spPr>
          <a:xfrm>
            <a:off x="812800" y="1943100"/>
            <a:ext cx="7665466" cy="1219200"/>
          </a:xfrm>
          <a:prstGeom prst="rect">
            <a:avLst/>
          </a:prstGeom>
          <a:noFill/>
          <a:ln/>
        </p:spPr>
        <p:txBody>
          <a:bodyPr wrap="square" lIns="0" tIns="0" rIns="0" bIns="0" rtlCol="0" anchor="t">
            <a:normAutofit fontScale="90000"/>
          </a:bodyPr>
          <a:lstStyle/>
          <a:p>
            <a:pPr marL="0" indent="0" algn="l">
              <a:lnSpc>
                <a:spcPts val="4752"/>
              </a:lnSpc>
              <a:buNone/>
            </a:pPr>
            <a:r>
              <a:rPr lang="en-US" sz="4400" b="1" i="0" kern="0" spc="-100" dirty="0">
                <a:solidFill>
                  <a:srgbClr val="F5F4EF"/>
                </a:solidFill>
                <a:latin typeface="DM Sans" pitchFamily="34" charset="0"/>
                <a:ea typeface="DM Sans" pitchFamily="34" charset="-122"/>
                <a:cs typeface="DM Sans" pitchFamily="34" charset="-120"/>
              </a:rPr>
              <a:t>People love BeReal. Then they drift away.</a:t>
            </a:r>
            <a:endParaRPr lang="en-US" sz="4400" dirty="0"/>
          </a:p>
        </p:txBody>
      </p:sp>
      <p:sp>
        <p:nvSpPr>
          <p:cNvPr id="4" name="Shape 2"/>
          <p:cNvSpPr/>
          <p:nvPr/>
        </p:nvSpPr>
        <p:spPr>
          <a:xfrm>
            <a:off x="812800" y="3416300"/>
            <a:ext cx="7442200" cy="1219200"/>
          </a:xfrm>
          <a:prstGeom prst="roundRect">
            <a:avLst>
              <a:gd name="adj" fmla="val 12500"/>
            </a:avLst>
          </a:prstGeom>
          <a:solidFill>
            <a:srgbClr val="1E1E22"/>
          </a:solidFill>
          <a:ln/>
        </p:spPr>
        <p:txBody>
          <a:bodyPr/>
          <a:lstStyle/>
          <a:p>
            <a:endParaRPr lang="en-US"/>
          </a:p>
        </p:txBody>
      </p:sp>
      <p:sp>
        <p:nvSpPr>
          <p:cNvPr id="5" name="Text 3"/>
          <p:cNvSpPr/>
          <p:nvPr/>
        </p:nvSpPr>
        <p:spPr>
          <a:xfrm>
            <a:off x="1092200" y="3695700"/>
            <a:ext cx="7089902" cy="381000"/>
          </a:xfrm>
          <a:prstGeom prst="rect">
            <a:avLst/>
          </a:prstGeom>
          <a:noFill/>
          <a:ln/>
        </p:spPr>
        <p:txBody>
          <a:bodyPr wrap="square" lIns="0" tIns="0" rIns="0" bIns="0" rtlCol="0" anchor="t">
            <a:normAutofit/>
          </a:bodyPr>
          <a:lstStyle/>
          <a:p>
            <a:pPr marL="0" indent="0" algn="l">
              <a:lnSpc>
                <a:spcPts val="2860"/>
              </a:lnSpc>
              <a:buNone/>
            </a:pPr>
            <a:r>
              <a:rPr lang="en-US" sz="2200" i="1" dirty="0">
                <a:solidFill>
                  <a:srgbClr val="F5F4EF"/>
                </a:solidFill>
                <a:latin typeface="DM Sans" pitchFamily="34" charset="0"/>
                <a:ea typeface="DM Sans" pitchFamily="34" charset="-122"/>
                <a:cs typeface="DM Sans" pitchFamily="34" charset="-120"/>
              </a:rPr>
              <a:t>“I forget about it unless a friend mentions it.”</a:t>
            </a:r>
            <a:endParaRPr lang="en-US" sz="2200" dirty="0"/>
          </a:p>
        </p:txBody>
      </p:sp>
      <p:sp>
        <p:nvSpPr>
          <p:cNvPr id="6" name="Text 4"/>
          <p:cNvSpPr/>
          <p:nvPr/>
        </p:nvSpPr>
        <p:spPr>
          <a:xfrm>
            <a:off x="1092200" y="4152900"/>
            <a:ext cx="7089902"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9C0"/>
                </a:solidFill>
                <a:latin typeface="DM Sans" pitchFamily="34" charset="0"/>
                <a:ea typeface="DM Sans" pitchFamily="34" charset="-122"/>
                <a:cs typeface="DM Sans" pitchFamily="34" charset="-120"/>
              </a:rPr>
              <a:t>Occasional BeReal user, focus group</a:t>
            </a:r>
            <a:endParaRPr lang="en-US" sz="1200" dirty="0"/>
          </a:p>
        </p:txBody>
      </p:sp>
      <p:pic>
        <p:nvPicPr>
          <p:cNvPr id="8" name="Image 0" descr="Prototype Today screen for a new user, with friends’ posts blurred until you post"/>
          <p:cNvPicPr>
            <a:picLocks noChangeAspect="1"/>
          </p:cNvPicPr>
          <p:nvPr/>
        </p:nvPicPr>
        <p:blipFill>
          <a:blip r:embed="rId3"/>
          <a:srcRect l="-440" r="-440"/>
          <a:stretch/>
        </p:blipFill>
        <p:spPr>
          <a:xfrm>
            <a:off x="8966200" y="812800"/>
            <a:ext cx="2413000" cy="5029200"/>
          </a:xfrm>
          <a:prstGeom prst="rect">
            <a:avLst/>
          </a:prstGeom>
        </p:spPr>
      </p:pic>
      <p:sp>
        <p:nvSpPr>
          <p:cNvPr id="9" name="Text 6"/>
          <p:cNvSpPr/>
          <p:nvPr/>
        </p:nvSpPr>
        <p:spPr>
          <a:xfrm>
            <a:off x="812800" y="62484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A92"/>
                </a:solidFill>
                <a:latin typeface="DM Sans" pitchFamily="34" charset="0"/>
                <a:ea typeface="DM Sans" pitchFamily="34" charset="-122"/>
                <a:cs typeface="DM Sans" pitchFamily="34" charset="-120"/>
              </a:rPr>
              <a:t>BeReal Passport &amp; Community Boards · Feature concept by Lashawn Fofung, MBA, CSM, CSPO</a:t>
            </a:r>
            <a:endParaRPr lang="en-US" sz="1200" dirty="0"/>
          </a:p>
        </p:txBody>
      </p:sp>
      <p:sp>
        <p:nvSpPr>
          <p:cNvPr id="10" name="Text 5">
            <a:extLst>
              <a:ext uri="{FF2B5EF4-FFF2-40B4-BE49-F238E27FC236}">
                <a16:creationId xmlns:a16="http://schemas.microsoft.com/office/drawing/2014/main" id="{B91D0B59-4569-1C8F-2AF5-359FAA0E1EA0}"/>
              </a:ext>
            </a:extLst>
          </p:cNvPr>
          <p:cNvSpPr/>
          <p:nvPr/>
        </p:nvSpPr>
        <p:spPr>
          <a:xfrm>
            <a:off x="812800" y="5041900"/>
            <a:ext cx="7665466"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9C0"/>
                </a:solidFill>
                <a:latin typeface="DM Sans" pitchFamily="34" charset="0"/>
                <a:ea typeface="DM Sans" pitchFamily="34" charset="-122"/>
                <a:cs typeface="DM Sans" pitchFamily="34" charset="-120"/>
              </a:rPr>
              <a:t>Daily users fell from about 15M to about 6M in 2022–23. One prompt a day; miss it, or the moment feels dull, and you skip.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44557A"/>
                </a:solidFill>
                <a:latin typeface="DM Sans" pitchFamily="34" charset="0"/>
                <a:ea typeface="DM Sans" pitchFamily="34" charset="-122"/>
                <a:cs typeface="DM Sans" pitchFamily="34" charset="-120"/>
              </a:rPr>
              <a:t>WHAT WE LEARNED</a:t>
            </a:r>
            <a:endParaRPr lang="en-US" sz="1200" dirty="0"/>
          </a:p>
        </p:txBody>
      </p:sp>
      <p:sp>
        <p:nvSpPr>
          <p:cNvPr id="3" name="Text 1"/>
          <p:cNvSpPr>
            <a:spLocks noGrp="1"/>
          </p:cNvSpPr>
          <p:nvPr>
            <p:ph type="title"/>
          </p:nvPr>
        </p:nvSpPr>
        <p:spPr>
          <a:xfrm>
            <a:off x="812800" y="1168400"/>
            <a:ext cx="10883392" cy="52070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7171A"/>
                </a:solidFill>
                <a:latin typeface="DM Sans" pitchFamily="34" charset="0"/>
                <a:ea typeface="DM Sans" pitchFamily="34" charset="-122"/>
                <a:cs typeface="DM Sans" pitchFamily="34" charset="-120"/>
              </a:rPr>
              <a:t>Three reasons people stop posting</a:t>
            </a:r>
            <a:endParaRPr lang="en-US" sz="3600" dirty="0"/>
          </a:p>
        </p:txBody>
      </p:sp>
      <p:sp>
        <p:nvSpPr>
          <p:cNvPr id="4" name="Shape 2"/>
          <p:cNvSpPr/>
          <p:nvPr/>
        </p:nvSpPr>
        <p:spPr>
          <a:xfrm>
            <a:off x="815975" y="2022475"/>
            <a:ext cx="3380383" cy="2787650"/>
          </a:xfrm>
          <a:prstGeom prst="roundRect">
            <a:avLst>
              <a:gd name="adj" fmla="val 5353"/>
            </a:avLst>
          </a:prstGeom>
          <a:solidFill>
            <a:srgbClr val="FCFBF7"/>
          </a:solidFill>
          <a:ln w="6350">
            <a:solidFill>
              <a:srgbClr val="E2E0D8"/>
            </a:solidFill>
            <a:prstDash val="solid"/>
          </a:ln>
        </p:spPr>
        <p:txBody>
          <a:bodyPr/>
          <a:lstStyle/>
          <a:p>
            <a:endParaRPr lang="en-US"/>
          </a:p>
        </p:txBody>
      </p:sp>
      <p:sp>
        <p:nvSpPr>
          <p:cNvPr id="5" name="Text 3"/>
          <p:cNvSpPr/>
          <p:nvPr/>
        </p:nvSpPr>
        <p:spPr>
          <a:xfrm>
            <a:off x="1130300" y="2336800"/>
            <a:ext cx="283428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44557A"/>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130300" y="2921000"/>
            <a:ext cx="283428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71A"/>
                </a:solidFill>
                <a:latin typeface="DM Sans" pitchFamily="34" charset="0"/>
                <a:ea typeface="DM Sans" pitchFamily="34" charset="-122"/>
                <a:cs typeface="DM Sans" pitchFamily="34" charset="-120"/>
              </a:rPr>
              <a:t>Friends are the trigger</a:t>
            </a:r>
            <a:endParaRPr lang="en-US" sz="2000" dirty="0"/>
          </a:p>
        </p:txBody>
      </p:sp>
      <p:sp>
        <p:nvSpPr>
          <p:cNvPr id="7" name="Text 5"/>
          <p:cNvSpPr/>
          <p:nvPr/>
        </p:nvSpPr>
        <p:spPr>
          <a:xfrm>
            <a:off x="1130300" y="3657600"/>
            <a:ext cx="2834285" cy="58420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55555E"/>
                </a:solidFill>
                <a:latin typeface="DM Sans" pitchFamily="34" charset="0"/>
                <a:ea typeface="DM Sans" pitchFamily="34" charset="-122"/>
                <a:cs typeface="DM Sans" pitchFamily="34" charset="-120"/>
              </a:rPr>
              <a:t>“I forget about it unless a friend mentions it.”</a:t>
            </a:r>
            <a:endParaRPr lang="en-US" sz="1600" dirty="0"/>
          </a:p>
        </p:txBody>
      </p:sp>
      <p:sp>
        <p:nvSpPr>
          <p:cNvPr id="8" name="Shape 6"/>
          <p:cNvSpPr/>
          <p:nvPr/>
        </p:nvSpPr>
        <p:spPr>
          <a:xfrm>
            <a:off x="4405908" y="2022475"/>
            <a:ext cx="3380383" cy="2787650"/>
          </a:xfrm>
          <a:prstGeom prst="roundRect">
            <a:avLst>
              <a:gd name="adj" fmla="val 5353"/>
            </a:avLst>
          </a:prstGeom>
          <a:solidFill>
            <a:srgbClr val="FCFBF7"/>
          </a:solidFill>
          <a:ln w="6350">
            <a:solidFill>
              <a:srgbClr val="E2E0D8"/>
            </a:solidFill>
            <a:prstDash val="solid"/>
          </a:ln>
        </p:spPr>
        <p:txBody>
          <a:bodyPr/>
          <a:lstStyle/>
          <a:p>
            <a:endParaRPr lang="en-US"/>
          </a:p>
        </p:txBody>
      </p:sp>
      <p:sp>
        <p:nvSpPr>
          <p:cNvPr id="9" name="Text 7"/>
          <p:cNvSpPr/>
          <p:nvPr/>
        </p:nvSpPr>
        <p:spPr>
          <a:xfrm>
            <a:off x="4720233" y="2336800"/>
            <a:ext cx="283428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44557A"/>
                </a:solidFill>
                <a:latin typeface="DM Sans" pitchFamily="34" charset="0"/>
                <a:ea typeface="DM Sans" pitchFamily="34" charset="-122"/>
                <a:cs typeface="DM Sans" pitchFamily="34" charset="-120"/>
              </a:rPr>
              <a:t>2</a:t>
            </a:r>
            <a:endParaRPr lang="en-US" sz="3600" dirty="0"/>
          </a:p>
        </p:txBody>
      </p:sp>
      <p:sp>
        <p:nvSpPr>
          <p:cNvPr id="10" name="Text 8"/>
          <p:cNvSpPr/>
          <p:nvPr/>
        </p:nvSpPr>
        <p:spPr>
          <a:xfrm>
            <a:off x="4720233" y="2921000"/>
            <a:ext cx="283428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71A"/>
                </a:solidFill>
                <a:latin typeface="DM Sans" pitchFamily="34" charset="0"/>
                <a:ea typeface="DM Sans" pitchFamily="34" charset="-122"/>
                <a:cs typeface="DM Sans" pitchFamily="34" charset="-120"/>
              </a:rPr>
              <a:t>Ordinary moments feel not worth it</a:t>
            </a:r>
            <a:endParaRPr lang="en-US" sz="2000" dirty="0"/>
          </a:p>
        </p:txBody>
      </p:sp>
      <p:sp>
        <p:nvSpPr>
          <p:cNvPr id="11" name="Text 9"/>
          <p:cNvSpPr/>
          <p:nvPr/>
        </p:nvSpPr>
        <p:spPr>
          <a:xfrm>
            <a:off x="4720233" y="3657600"/>
            <a:ext cx="2834285" cy="86360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55555E"/>
                </a:solidFill>
                <a:latin typeface="DM Sans" pitchFamily="34" charset="0"/>
                <a:ea typeface="DM Sans" pitchFamily="34" charset="-122"/>
                <a:cs typeface="DM Sans" pitchFamily="34" charset="-120"/>
              </a:rPr>
              <a:t>“I skip posting if I’m just sitting at my desk doing nothing exciting.”</a:t>
            </a:r>
            <a:endParaRPr lang="en-US" sz="1600" dirty="0"/>
          </a:p>
        </p:txBody>
      </p:sp>
      <p:sp>
        <p:nvSpPr>
          <p:cNvPr id="12" name="Shape 10"/>
          <p:cNvSpPr/>
          <p:nvPr/>
        </p:nvSpPr>
        <p:spPr>
          <a:xfrm>
            <a:off x="7995841" y="2022475"/>
            <a:ext cx="3380383" cy="2787650"/>
          </a:xfrm>
          <a:prstGeom prst="roundRect">
            <a:avLst>
              <a:gd name="adj" fmla="val 5353"/>
            </a:avLst>
          </a:prstGeom>
          <a:solidFill>
            <a:srgbClr val="FCFBF7"/>
          </a:solidFill>
          <a:ln w="6350">
            <a:solidFill>
              <a:srgbClr val="E2E0D8"/>
            </a:solidFill>
            <a:prstDash val="solid"/>
          </a:ln>
        </p:spPr>
        <p:txBody>
          <a:bodyPr/>
          <a:lstStyle/>
          <a:p>
            <a:endParaRPr lang="en-US"/>
          </a:p>
        </p:txBody>
      </p:sp>
      <p:sp>
        <p:nvSpPr>
          <p:cNvPr id="13" name="Text 11"/>
          <p:cNvSpPr/>
          <p:nvPr/>
        </p:nvSpPr>
        <p:spPr>
          <a:xfrm>
            <a:off x="8310166" y="2336800"/>
            <a:ext cx="283428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44557A"/>
                </a:solidFill>
                <a:latin typeface="DM Sans" pitchFamily="34" charset="0"/>
                <a:ea typeface="DM Sans" pitchFamily="34" charset="-122"/>
                <a:cs typeface="DM Sans" pitchFamily="34" charset="-120"/>
              </a:rPr>
              <a:t>3</a:t>
            </a:r>
            <a:endParaRPr lang="en-US" sz="3600" dirty="0"/>
          </a:p>
        </p:txBody>
      </p:sp>
      <p:sp>
        <p:nvSpPr>
          <p:cNvPr id="14" name="Text 12"/>
          <p:cNvSpPr/>
          <p:nvPr/>
        </p:nvSpPr>
        <p:spPr>
          <a:xfrm>
            <a:off x="8310166" y="2921000"/>
            <a:ext cx="283428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71A"/>
                </a:solidFill>
                <a:latin typeface="DM Sans" pitchFamily="34" charset="0"/>
                <a:ea typeface="DM Sans" pitchFamily="34" charset="-122"/>
                <a:cs typeface="DM Sans" pitchFamily="34" charset="-120"/>
              </a:rPr>
              <a:t>The novelty wears off</a:t>
            </a:r>
            <a:endParaRPr lang="en-US" sz="2000" dirty="0"/>
          </a:p>
        </p:txBody>
      </p:sp>
      <p:sp>
        <p:nvSpPr>
          <p:cNvPr id="15" name="Text 13"/>
          <p:cNvSpPr/>
          <p:nvPr/>
        </p:nvSpPr>
        <p:spPr>
          <a:xfrm>
            <a:off x="8310166" y="3352800"/>
            <a:ext cx="2834285" cy="58420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55555E"/>
                </a:solidFill>
                <a:latin typeface="DM Sans" pitchFamily="34" charset="0"/>
                <a:ea typeface="DM Sans" pitchFamily="34" charset="-122"/>
                <a:cs typeface="DM Sans" pitchFamily="34" charset="-120"/>
              </a:rPr>
              <a:t>“It kind of got old after a while.”</a:t>
            </a:r>
            <a:endParaRPr lang="en-US" sz="1600" dirty="0"/>
          </a:p>
        </p:txBody>
      </p:sp>
      <p:sp>
        <p:nvSpPr>
          <p:cNvPr id="16" name="Text 14"/>
          <p:cNvSpPr/>
          <p:nvPr/>
        </p:nvSpPr>
        <p:spPr>
          <a:xfrm>
            <a:off x="812800" y="62484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A72"/>
                </a:solidFill>
                <a:latin typeface="DM Sans" pitchFamily="34" charset="0"/>
                <a:ea typeface="DM Sans" pitchFamily="34" charset="-122"/>
                <a:cs typeface="DM Sans" pitchFamily="34" charset="-120"/>
              </a:rPr>
              <a:t>From a 5-person, 40-minute in-person focus group · October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DE59"/>
                </a:solidFill>
                <a:latin typeface="DM Sans" pitchFamily="34" charset="0"/>
                <a:ea typeface="DM Sans" pitchFamily="34" charset="-122"/>
                <a:cs typeface="DM Sans" pitchFamily="34" charset="-120"/>
              </a:rPr>
              <a:t>THE SOLUTION</a:t>
            </a:r>
            <a:endParaRPr lang="en-US" sz="1200" dirty="0"/>
          </a:p>
        </p:txBody>
      </p:sp>
      <p:sp>
        <p:nvSpPr>
          <p:cNvPr id="3" name="Text 1"/>
          <p:cNvSpPr>
            <a:spLocks noGrp="1"/>
          </p:cNvSpPr>
          <p:nvPr>
            <p:ph type="title"/>
          </p:nvPr>
        </p:nvSpPr>
        <p:spPr>
          <a:xfrm>
            <a:off x="812800" y="1168400"/>
            <a:ext cx="10883392" cy="52070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4EF"/>
                </a:solidFill>
                <a:latin typeface="DM Sans" pitchFamily="34" charset="0"/>
                <a:ea typeface="DM Sans" pitchFamily="34" charset="-122"/>
                <a:cs typeface="DM Sans" pitchFamily="34" charset="-120"/>
              </a:rPr>
              <a:t>BeReal Passport &amp; Community Boards</a:t>
            </a:r>
            <a:endParaRPr lang="en-US" sz="3600" dirty="0"/>
          </a:p>
        </p:txBody>
      </p:sp>
      <p:sp>
        <p:nvSpPr>
          <p:cNvPr id="4" name="Text 2"/>
          <p:cNvSpPr/>
          <p:nvPr/>
        </p:nvSpPr>
        <p:spPr>
          <a:xfrm>
            <a:off x="812800" y="1816100"/>
            <a:ext cx="10883392"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B9C0"/>
                </a:solidFill>
                <a:latin typeface="DM Sans" pitchFamily="34" charset="0"/>
                <a:ea typeface="DM Sans" pitchFamily="34" charset="-122"/>
                <a:cs typeface="DM Sans" pitchFamily="34" charset="-120"/>
              </a:rPr>
              <a:t>Post your BeReal to a monthly board your squad shares, earn a collectible stamp, and save the month as a capsule. Opt-in, no filters, no public likes.</a:t>
            </a:r>
            <a:endParaRPr lang="en-US" sz="1800" dirty="0"/>
          </a:p>
        </p:txBody>
      </p:sp>
      <p:pic>
        <p:nvPicPr>
          <p:cNvPr id="5" name="Image 0" descr="Hike passport stamp"/>
          <p:cNvPicPr>
            <a:picLocks noChangeAspect="1"/>
          </p:cNvPicPr>
          <p:nvPr/>
        </p:nvPicPr>
        <p:blipFill>
          <a:blip r:embed="rId3"/>
          <a:srcRect t="-388" b="-388"/>
          <a:stretch/>
        </p:blipFill>
        <p:spPr>
          <a:xfrm>
            <a:off x="812800" y="2755900"/>
            <a:ext cx="1270000" cy="1270000"/>
          </a:xfrm>
          <a:prstGeom prst="rect">
            <a:avLst/>
          </a:prstGeom>
        </p:spPr>
      </p:pic>
      <p:pic>
        <p:nvPicPr>
          <p:cNvPr id="6" name="Image 1" descr="Cramming passport stamp"/>
          <p:cNvPicPr>
            <a:picLocks noChangeAspect="1"/>
          </p:cNvPicPr>
          <p:nvPr/>
        </p:nvPicPr>
        <p:blipFill>
          <a:blip r:embed="rId4"/>
          <a:srcRect t="-584" b="-584"/>
          <a:stretch/>
        </p:blipFill>
        <p:spPr>
          <a:xfrm>
            <a:off x="2671961" y="2755900"/>
            <a:ext cx="1270000" cy="1270000"/>
          </a:xfrm>
          <a:prstGeom prst="rect">
            <a:avLst/>
          </a:prstGeom>
        </p:spPr>
      </p:pic>
      <p:pic>
        <p:nvPicPr>
          <p:cNvPr id="7" name="Image 2" descr="Coffee passport stamp"/>
          <p:cNvPicPr>
            <a:picLocks noChangeAspect="1"/>
          </p:cNvPicPr>
          <p:nvPr/>
        </p:nvPicPr>
        <p:blipFill>
          <a:blip r:embed="rId5"/>
          <a:srcRect l="-193" r="-193"/>
          <a:stretch/>
        </p:blipFill>
        <p:spPr>
          <a:xfrm>
            <a:off x="4531122" y="2755900"/>
            <a:ext cx="1270000" cy="1270000"/>
          </a:xfrm>
          <a:prstGeom prst="rect">
            <a:avLst/>
          </a:prstGeom>
        </p:spPr>
      </p:pic>
      <p:pic>
        <p:nvPicPr>
          <p:cNvPr id="8" name="Image 3" descr="Haunted passport stamp"/>
          <p:cNvPicPr>
            <a:picLocks noChangeAspect="1"/>
          </p:cNvPicPr>
          <p:nvPr/>
        </p:nvPicPr>
        <p:blipFill>
          <a:blip r:embed="rId6"/>
          <a:srcRect t="-193" b="-193"/>
          <a:stretch/>
        </p:blipFill>
        <p:spPr>
          <a:xfrm>
            <a:off x="6390283" y="2755900"/>
            <a:ext cx="1270000" cy="1270000"/>
          </a:xfrm>
          <a:prstGeom prst="rect">
            <a:avLst/>
          </a:prstGeom>
        </p:spPr>
      </p:pic>
      <p:pic>
        <p:nvPicPr>
          <p:cNvPr id="9" name="Image 4" descr="Little Wins passport stamp"/>
          <p:cNvPicPr>
            <a:picLocks noChangeAspect="1"/>
          </p:cNvPicPr>
          <p:nvPr/>
        </p:nvPicPr>
        <p:blipFill>
          <a:blip r:embed="rId7"/>
          <a:srcRect/>
          <a:stretch/>
        </p:blipFill>
        <p:spPr>
          <a:xfrm>
            <a:off x="8249444" y="2755900"/>
            <a:ext cx="1270000" cy="1270000"/>
          </a:xfrm>
          <a:prstGeom prst="rect">
            <a:avLst/>
          </a:prstGeom>
        </p:spPr>
      </p:pic>
      <p:pic>
        <p:nvPicPr>
          <p:cNvPr id="10" name="Image 5" descr="Game Time passport stamp"/>
          <p:cNvPicPr>
            <a:picLocks noChangeAspect="1"/>
          </p:cNvPicPr>
          <p:nvPr/>
        </p:nvPicPr>
        <p:blipFill>
          <a:blip r:embed="rId8"/>
          <a:srcRect l="-584" r="-584"/>
          <a:stretch/>
        </p:blipFill>
        <p:spPr>
          <a:xfrm>
            <a:off x="10108605" y="2755900"/>
            <a:ext cx="1270000" cy="1270000"/>
          </a:xfrm>
          <a:prstGeom prst="rect">
            <a:avLst/>
          </a:prstGeom>
        </p:spPr>
      </p:pic>
      <p:sp>
        <p:nvSpPr>
          <p:cNvPr id="11" name="Text 3"/>
          <p:cNvSpPr/>
          <p:nvPr/>
        </p:nvSpPr>
        <p:spPr>
          <a:xfrm>
            <a:off x="812800" y="4330700"/>
            <a:ext cx="3488335"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E59"/>
                </a:solidFill>
                <a:latin typeface="DM Sans" pitchFamily="34" charset="0"/>
                <a:ea typeface="DM Sans" pitchFamily="34" charset="-122"/>
                <a:cs typeface="DM Sans" pitchFamily="34" charset="-120"/>
              </a:rPr>
              <a:t>Friends are the trigger</a:t>
            </a:r>
            <a:endParaRPr lang="en-US" sz="1400" dirty="0"/>
          </a:p>
        </p:txBody>
      </p:sp>
      <p:sp>
        <p:nvSpPr>
          <p:cNvPr id="12" name="Text 4"/>
          <p:cNvSpPr/>
          <p:nvPr/>
        </p:nvSpPr>
        <p:spPr>
          <a:xfrm>
            <a:off x="812800" y="4622800"/>
            <a:ext cx="3488335"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DM Sans" pitchFamily="34" charset="0"/>
                <a:ea typeface="DM Sans" pitchFamily="34" charset="-122"/>
                <a:cs typeface="DM Sans" pitchFamily="34" charset="-120"/>
              </a:rPr>
              <a:t>→ boards you share with your squad</a:t>
            </a:r>
            <a:endParaRPr lang="en-US" sz="1400" dirty="0"/>
          </a:p>
        </p:txBody>
      </p:sp>
      <p:sp>
        <p:nvSpPr>
          <p:cNvPr id="13" name="Text 5"/>
          <p:cNvSpPr/>
          <p:nvPr/>
        </p:nvSpPr>
        <p:spPr>
          <a:xfrm>
            <a:off x="4402733" y="4330700"/>
            <a:ext cx="3488335"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E59"/>
                </a:solidFill>
                <a:latin typeface="DM Sans" pitchFamily="34" charset="0"/>
                <a:ea typeface="DM Sans" pitchFamily="34" charset="-122"/>
                <a:cs typeface="DM Sans" pitchFamily="34" charset="-120"/>
              </a:rPr>
              <a:t>Ordinary moments</a:t>
            </a:r>
            <a:endParaRPr lang="en-US" sz="1400" dirty="0"/>
          </a:p>
        </p:txBody>
      </p:sp>
      <p:sp>
        <p:nvSpPr>
          <p:cNvPr id="14" name="Text 6"/>
          <p:cNvSpPr/>
          <p:nvPr/>
        </p:nvSpPr>
        <p:spPr>
          <a:xfrm>
            <a:off x="4402733" y="4622800"/>
            <a:ext cx="3589933"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DM Sans" pitchFamily="34" charset="0"/>
                <a:ea typeface="DM Sans" pitchFamily="34" charset="-122"/>
                <a:cs typeface="DM Sans" pitchFamily="34" charset="-120"/>
              </a:rPr>
              <a:t>→ monthly themes make any moment fit</a:t>
            </a:r>
            <a:endParaRPr lang="en-US" sz="1400" dirty="0"/>
          </a:p>
        </p:txBody>
      </p:sp>
      <p:sp>
        <p:nvSpPr>
          <p:cNvPr id="15" name="Text 7"/>
          <p:cNvSpPr/>
          <p:nvPr/>
        </p:nvSpPr>
        <p:spPr>
          <a:xfrm>
            <a:off x="7992666" y="4330700"/>
            <a:ext cx="3488335"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E59"/>
                </a:solidFill>
                <a:latin typeface="DM Sans" pitchFamily="34" charset="0"/>
                <a:ea typeface="DM Sans" pitchFamily="34" charset="-122"/>
                <a:cs typeface="DM Sans" pitchFamily="34" charset="-120"/>
              </a:rPr>
              <a:t>The novelty wears off</a:t>
            </a:r>
            <a:endParaRPr lang="en-US" sz="1400" dirty="0"/>
          </a:p>
        </p:txBody>
      </p:sp>
      <p:sp>
        <p:nvSpPr>
          <p:cNvPr id="16" name="Text 8"/>
          <p:cNvSpPr/>
          <p:nvPr/>
        </p:nvSpPr>
        <p:spPr>
          <a:xfrm>
            <a:off x="7992666" y="4622800"/>
            <a:ext cx="3488335"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DM Sans" pitchFamily="34" charset="0"/>
                <a:ea typeface="DM Sans" pitchFamily="34" charset="-122"/>
                <a:cs typeface="DM Sans" pitchFamily="34" charset="-120"/>
              </a:rPr>
              <a:t>→ new stamp designs every month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44557A"/>
                </a:solidFill>
                <a:latin typeface="DM Sans" pitchFamily="34" charset="0"/>
                <a:ea typeface="DM Sans" pitchFamily="34" charset="-122"/>
                <a:cs typeface="DM Sans" pitchFamily="34" charset="-120"/>
              </a:rPr>
              <a:t>HOW IT WORKS</a:t>
            </a:r>
            <a:endParaRPr lang="en-US" sz="1200" dirty="0"/>
          </a:p>
        </p:txBody>
      </p:sp>
      <p:sp>
        <p:nvSpPr>
          <p:cNvPr id="3" name="Text 1"/>
          <p:cNvSpPr>
            <a:spLocks noGrp="1"/>
          </p:cNvSpPr>
          <p:nvPr>
            <p:ph type="title"/>
          </p:nvPr>
        </p:nvSpPr>
        <p:spPr>
          <a:xfrm>
            <a:off x="812800" y="1168400"/>
            <a:ext cx="10883392" cy="52070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7171A"/>
                </a:solidFill>
                <a:latin typeface="DM Sans" pitchFamily="34" charset="0"/>
                <a:ea typeface="DM Sans" pitchFamily="34" charset="-122"/>
                <a:cs typeface="DM Sans" pitchFamily="34" charset="-120"/>
              </a:rPr>
              <a:t>Four steps, one habit loop</a:t>
            </a:r>
            <a:endParaRPr lang="en-US" sz="3600" dirty="0"/>
          </a:p>
        </p:txBody>
      </p:sp>
      <p:pic>
        <p:nvPicPr>
          <p:cNvPr id="4" name="Image 0" descr="Compose screen with the Community Board toggle switched on"/>
          <p:cNvPicPr>
            <a:picLocks noChangeAspect="1"/>
          </p:cNvPicPr>
          <p:nvPr/>
        </p:nvPicPr>
        <p:blipFill>
          <a:blip r:embed="rId3"/>
          <a:srcRect t="-64" b="-64"/>
          <a:stretch/>
        </p:blipFill>
        <p:spPr>
          <a:xfrm>
            <a:off x="1333500" y="1917700"/>
            <a:ext cx="1447800" cy="3048000"/>
          </a:xfrm>
          <a:prstGeom prst="rect">
            <a:avLst/>
          </a:prstGeom>
        </p:spPr>
      </p:pic>
      <p:sp>
        <p:nvSpPr>
          <p:cNvPr id="5" name="Text 2"/>
          <p:cNvSpPr/>
          <p:nvPr/>
        </p:nvSpPr>
        <p:spPr>
          <a:xfrm>
            <a:off x="1495425" y="5041900"/>
            <a:ext cx="112395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7171A"/>
                </a:solidFill>
                <a:latin typeface="DM Sans" pitchFamily="34" charset="0"/>
                <a:ea typeface="DM Sans" pitchFamily="34" charset="-122"/>
                <a:cs typeface="DM Sans" pitchFamily="34" charset="-120"/>
              </a:rPr>
              <a:t>1. Capture</a:t>
            </a:r>
            <a:endParaRPr lang="en-US" sz="1600" dirty="0"/>
          </a:p>
        </p:txBody>
      </p:sp>
      <p:sp>
        <p:nvSpPr>
          <p:cNvPr id="6" name="Text 3"/>
          <p:cNvSpPr/>
          <p:nvPr/>
        </p:nvSpPr>
        <p:spPr>
          <a:xfrm>
            <a:off x="775462" y="5397500"/>
            <a:ext cx="2563876" cy="43180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E"/>
                </a:solidFill>
                <a:latin typeface="DM Sans" pitchFamily="34" charset="0"/>
                <a:ea typeface="DM Sans" pitchFamily="34" charset="-122"/>
                <a:cs typeface="DM Sans" pitchFamily="34" charset="-120"/>
              </a:rPr>
              <a:t>Take your BeReal like always and switch on Community Board.</a:t>
            </a:r>
            <a:endParaRPr lang="en-US" sz="1200" dirty="0"/>
          </a:p>
        </p:txBody>
      </p:sp>
      <p:pic>
        <p:nvPicPr>
          <p:cNvPr id="7" name="Image 1" descr="Board select screen with the Cramming board chosen"/>
          <p:cNvPicPr>
            <a:picLocks noChangeAspect="1"/>
          </p:cNvPicPr>
          <p:nvPr/>
        </p:nvPicPr>
        <p:blipFill>
          <a:blip r:embed="rId4"/>
          <a:srcRect t="-64" b="-64"/>
          <a:stretch/>
        </p:blipFill>
        <p:spPr>
          <a:xfrm>
            <a:off x="4025900" y="1917700"/>
            <a:ext cx="1447800" cy="3048000"/>
          </a:xfrm>
          <a:prstGeom prst="rect">
            <a:avLst/>
          </a:prstGeom>
        </p:spPr>
      </p:pic>
      <p:sp>
        <p:nvSpPr>
          <p:cNvPr id="8" name="Text 4"/>
          <p:cNvSpPr/>
          <p:nvPr/>
        </p:nvSpPr>
        <p:spPr>
          <a:xfrm>
            <a:off x="3914715" y="5041900"/>
            <a:ext cx="1669971"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7171A"/>
                </a:solidFill>
                <a:latin typeface="DM Sans" pitchFamily="34" charset="0"/>
                <a:ea typeface="DM Sans" pitchFamily="34" charset="-122"/>
                <a:cs typeface="DM Sans" pitchFamily="34" charset="-120"/>
              </a:rPr>
              <a:t>2. Pick a board</a:t>
            </a:r>
            <a:endParaRPr lang="en-US" sz="1600" dirty="0"/>
          </a:p>
        </p:txBody>
      </p:sp>
      <p:sp>
        <p:nvSpPr>
          <p:cNvPr id="9" name="Text 5"/>
          <p:cNvSpPr/>
          <p:nvPr/>
        </p:nvSpPr>
        <p:spPr>
          <a:xfrm>
            <a:off x="3467862" y="5397500"/>
            <a:ext cx="2563876" cy="43180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E"/>
                </a:solidFill>
                <a:latin typeface="DM Sans" pitchFamily="34" charset="0"/>
                <a:ea typeface="DM Sans" pitchFamily="34" charset="-122"/>
                <a:cs typeface="DM Sans" pitchFamily="34" charset="-120"/>
              </a:rPr>
              <a:t>Choose one of this month’s six shared boards.</a:t>
            </a:r>
            <a:endParaRPr lang="en-US" sz="1200" dirty="0"/>
          </a:p>
        </p:txBody>
      </p:sp>
      <p:pic>
        <p:nvPicPr>
          <p:cNvPr id="10" name="Image 2" descr="Stamp earned confirmation for the Cramming board"/>
          <p:cNvPicPr>
            <a:picLocks noChangeAspect="1"/>
          </p:cNvPicPr>
          <p:nvPr/>
        </p:nvPicPr>
        <p:blipFill>
          <a:blip r:embed="rId5"/>
          <a:srcRect t="-64" b="-64"/>
          <a:stretch/>
        </p:blipFill>
        <p:spPr>
          <a:xfrm>
            <a:off x="6718300" y="1917700"/>
            <a:ext cx="1447800" cy="3048000"/>
          </a:xfrm>
          <a:prstGeom prst="rect">
            <a:avLst/>
          </a:prstGeom>
        </p:spPr>
      </p:pic>
      <p:sp>
        <p:nvSpPr>
          <p:cNvPr id="11" name="Text 6"/>
          <p:cNvSpPr/>
          <p:nvPr/>
        </p:nvSpPr>
        <p:spPr>
          <a:xfrm>
            <a:off x="6561634" y="5041900"/>
            <a:ext cx="1760934"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7171A"/>
                </a:solidFill>
                <a:latin typeface="DM Sans" pitchFamily="34" charset="0"/>
                <a:ea typeface="DM Sans" pitchFamily="34" charset="-122"/>
                <a:cs typeface="DM Sans" pitchFamily="34" charset="-120"/>
              </a:rPr>
              <a:t>3. Earn a stamp</a:t>
            </a:r>
            <a:endParaRPr lang="en-US" sz="1600" dirty="0"/>
          </a:p>
        </p:txBody>
      </p:sp>
      <p:sp>
        <p:nvSpPr>
          <p:cNvPr id="12" name="Text 7"/>
          <p:cNvSpPr/>
          <p:nvPr/>
        </p:nvSpPr>
        <p:spPr>
          <a:xfrm>
            <a:off x="6160262" y="5397500"/>
            <a:ext cx="2563876" cy="43180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E"/>
                </a:solidFill>
                <a:latin typeface="DM Sans" pitchFamily="34" charset="0"/>
                <a:ea typeface="DM Sans" pitchFamily="34" charset="-122"/>
                <a:cs typeface="DM Sans" pitchFamily="34" charset="-120"/>
              </a:rPr>
              <a:t>Your post lands on the board with a Real Passport stamp.</a:t>
            </a:r>
            <a:endParaRPr lang="en-US" sz="1200" dirty="0"/>
          </a:p>
        </p:txBody>
      </p:sp>
      <p:pic>
        <p:nvPicPr>
          <p:cNvPr id="13" name="Image 3" descr="October capsule collage in Memories"/>
          <p:cNvPicPr>
            <a:picLocks noChangeAspect="1"/>
          </p:cNvPicPr>
          <p:nvPr/>
        </p:nvPicPr>
        <p:blipFill>
          <a:blip r:embed="rId6"/>
          <a:srcRect t="-64" b="-64"/>
          <a:stretch/>
        </p:blipFill>
        <p:spPr>
          <a:xfrm>
            <a:off x="9410700" y="1917700"/>
            <a:ext cx="1447800" cy="3048000"/>
          </a:xfrm>
          <a:prstGeom prst="rect">
            <a:avLst/>
          </a:prstGeom>
        </p:spPr>
      </p:pic>
      <p:sp>
        <p:nvSpPr>
          <p:cNvPr id="14" name="Text 8"/>
          <p:cNvSpPr/>
          <p:nvPr/>
        </p:nvSpPr>
        <p:spPr>
          <a:xfrm>
            <a:off x="9092109" y="5041900"/>
            <a:ext cx="2084784"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7171A"/>
                </a:solidFill>
                <a:latin typeface="DM Sans" pitchFamily="34" charset="0"/>
                <a:ea typeface="DM Sans" pitchFamily="34" charset="-122"/>
                <a:cs typeface="DM Sans" pitchFamily="34" charset="-120"/>
              </a:rPr>
              <a:t>4. Save the month</a:t>
            </a:r>
            <a:endParaRPr lang="en-US" sz="1600" dirty="0"/>
          </a:p>
        </p:txBody>
      </p:sp>
      <p:sp>
        <p:nvSpPr>
          <p:cNvPr id="15" name="Text 9"/>
          <p:cNvSpPr/>
          <p:nvPr/>
        </p:nvSpPr>
        <p:spPr>
          <a:xfrm>
            <a:off x="8852662" y="5397500"/>
            <a:ext cx="2563876" cy="43180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E"/>
                </a:solidFill>
                <a:latin typeface="DM Sans" pitchFamily="34" charset="0"/>
                <a:ea typeface="DM Sans" pitchFamily="34" charset="-122"/>
                <a:cs typeface="DM Sans" pitchFamily="34" charset="-120"/>
              </a:rPr>
              <a:t>Each board becomes a capsule in Memories.</a:t>
            </a:r>
            <a:endParaRPr lang="en-US" sz="1200" dirty="0"/>
          </a:p>
        </p:txBody>
      </p:sp>
      <p:sp>
        <p:nvSpPr>
          <p:cNvPr id="16" name="Text 13">
            <a:extLst>
              <a:ext uri="{FF2B5EF4-FFF2-40B4-BE49-F238E27FC236}">
                <a16:creationId xmlns:a16="http://schemas.microsoft.com/office/drawing/2014/main" id="{05F5AA97-669A-54BA-057E-149B05B3B0F3}"/>
              </a:ext>
            </a:extLst>
          </p:cNvPr>
          <p:cNvSpPr/>
          <p:nvPr/>
        </p:nvSpPr>
        <p:spPr>
          <a:xfrm>
            <a:off x="3725884" y="6326414"/>
            <a:ext cx="4740232" cy="304673"/>
          </a:xfrm>
          <a:prstGeom prst="rect">
            <a:avLst/>
          </a:prstGeom>
          <a:noFill/>
          <a:ln/>
        </p:spPr>
        <p:txBody>
          <a:bodyPr wrap="square" lIns="0" tIns="0" rIns="0" bIns="0" rtlCol="0" anchor="t">
            <a:noAutofit/>
          </a:bodyPr>
          <a:lstStyle/>
          <a:p>
            <a:pPr algn="ctr">
              <a:lnSpc>
                <a:spcPct val="100000"/>
              </a:lnSpc>
            </a:pPr>
            <a:r>
              <a:rPr lang="en-US" sz="1000" b="1" dirty="0">
                <a:solidFill>
                  <a:schemeClr val="bg1"/>
                </a:solidFill>
                <a:latin typeface="DM Sans" pitchFamily="34" charset="0"/>
                <a:ea typeface="DM Sans" pitchFamily="34" charset="-122"/>
                <a:cs typeface="DM Sans" pitchFamily="34" charset="-120"/>
              </a:rPr>
              <a:t>Interactive Demo:    </a:t>
            </a:r>
            <a:r>
              <a:rPr lang="en-US" sz="1000" u="sng" dirty="0">
                <a:hlinkClick r:id="rId7"/>
              </a:rPr>
              <a:t>https://lashawnfofung.github.io/BeReal-RealProcess/</a:t>
            </a:r>
            <a:endParaRPr lang="en-US" sz="1000" dirty="0"/>
          </a:p>
          <a:p>
            <a:pPr algn="ctr">
              <a:lnSpc>
                <a:spcPts val="1680"/>
              </a:lnSpc>
            </a:pPr>
            <a:r>
              <a:rPr lang="en-US" sz="900" dirty="0">
                <a:solidFill>
                  <a:schemeClr val="bg1"/>
                </a:solidFill>
                <a:latin typeface="DM Sans" pitchFamily="34" charset="0"/>
                <a:ea typeface="DM Sans" pitchFamily="34" charset="-122"/>
                <a:cs typeface="DM Sans" pitchFamily="34" charset="-120"/>
              </a:rPr>
              <a:t> </a:t>
            </a:r>
            <a:endParaRPr lang="en-US" sz="9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10"/>
        </a:solidFill>
        <a:effectLst/>
      </p:bgPr>
    </p:bg>
    <p:spTree>
      <p:nvGrpSpPr>
        <p:cNvPr id="1" name=""/>
        <p:cNvGrpSpPr/>
        <p:nvPr/>
      </p:nvGrpSpPr>
      <p:grpSpPr>
        <a:xfrm>
          <a:off x="0" y="0"/>
          <a:ext cx="0" cy="0"/>
          <a:chOff x="0" y="0"/>
          <a:chExt cx="0" cy="0"/>
        </a:xfrm>
      </p:grpSpPr>
      <p:sp>
        <p:nvSpPr>
          <p:cNvPr id="2" name="Text 0"/>
          <p:cNvSpPr/>
          <p:nvPr/>
        </p:nvSpPr>
        <p:spPr>
          <a:xfrm>
            <a:off x="812800" y="812800"/>
            <a:ext cx="6200394"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DE59"/>
                </a:solidFill>
                <a:latin typeface="DM Sans" pitchFamily="34" charset="0"/>
                <a:ea typeface="DM Sans" pitchFamily="34" charset="-122"/>
                <a:cs typeface="DM Sans" pitchFamily="34" charset="-120"/>
              </a:rPr>
              <a:t>WHAT USERS SAID</a:t>
            </a:r>
            <a:endParaRPr lang="en-US" sz="1200" dirty="0"/>
          </a:p>
        </p:txBody>
      </p:sp>
      <p:sp>
        <p:nvSpPr>
          <p:cNvPr id="3" name="Text 1"/>
          <p:cNvSpPr>
            <a:spLocks noGrp="1"/>
          </p:cNvSpPr>
          <p:nvPr>
            <p:ph type="title"/>
          </p:nvPr>
        </p:nvSpPr>
        <p:spPr>
          <a:xfrm>
            <a:off x="812800" y="1168400"/>
            <a:ext cx="6200394" cy="91440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5F4EF"/>
                </a:solidFill>
                <a:latin typeface="DM Sans" pitchFamily="34" charset="0"/>
                <a:ea typeface="DM Sans" pitchFamily="34" charset="-122"/>
                <a:cs typeface="DM Sans" pitchFamily="34" charset="-120"/>
              </a:rPr>
              <a:t>4 of 5 would open BeReal more often</a:t>
            </a:r>
            <a:endParaRPr lang="en-US" sz="3200" dirty="0"/>
          </a:p>
        </p:txBody>
      </p:sp>
      <p:sp>
        <p:nvSpPr>
          <p:cNvPr id="4" name="Text 2"/>
          <p:cNvSpPr/>
          <p:nvPr/>
        </p:nvSpPr>
        <p:spPr>
          <a:xfrm>
            <a:off x="812800" y="2311400"/>
            <a:ext cx="6200394"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B9C0"/>
                </a:solidFill>
                <a:latin typeface="DM Sans" pitchFamily="34" charset="0"/>
                <a:ea typeface="DM Sans" pitchFamily="34" charset="-122"/>
                <a:cs typeface="DM Sans" pitchFamily="34" charset="-120"/>
              </a:rPr>
              <a:t>Easy to understand</a:t>
            </a:r>
            <a:endParaRPr lang="en-US" sz="1400" dirty="0"/>
          </a:p>
        </p:txBody>
      </p:sp>
      <p:sp>
        <p:nvSpPr>
          <p:cNvPr id="5" name="Shape 3"/>
          <p:cNvSpPr/>
          <p:nvPr/>
        </p:nvSpPr>
        <p:spPr>
          <a:xfrm>
            <a:off x="812800" y="2603500"/>
            <a:ext cx="3657600" cy="254000"/>
          </a:xfrm>
          <a:prstGeom prst="roundRect">
            <a:avLst>
              <a:gd name="adj" fmla="val 20000"/>
            </a:avLst>
          </a:prstGeom>
          <a:solidFill>
            <a:srgbClr val="FFDE59"/>
          </a:solidFill>
          <a:ln/>
        </p:spPr>
        <p:txBody>
          <a:bodyPr/>
          <a:lstStyle/>
          <a:p>
            <a:endParaRPr lang="en-US"/>
          </a:p>
        </p:txBody>
      </p:sp>
      <p:sp>
        <p:nvSpPr>
          <p:cNvPr id="6" name="Text 4"/>
          <p:cNvSpPr/>
          <p:nvPr/>
        </p:nvSpPr>
        <p:spPr>
          <a:xfrm>
            <a:off x="4597400" y="2609850"/>
            <a:ext cx="311467"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3.6</a:t>
            </a:r>
            <a:endParaRPr lang="en-US" sz="1400" dirty="0"/>
          </a:p>
        </p:txBody>
      </p:sp>
      <p:sp>
        <p:nvSpPr>
          <p:cNvPr id="7" name="Text 5"/>
          <p:cNvSpPr/>
          <p:nvPr/>
        </p:nvSpPr>
        <p:spPr>
          <a:xfrm>
            <a:off x="812800" y="3009900"/>
            <a:ext cx="6200394"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B9C0"/>
                </a:solidFill>
                <a:latin typeface="DM Sans" pitchFamily="34" charset="0"/>
                <a:ea typeface="DM Sans" pitchFamily="34" charset="-122"/>
                <a:cs typeface="DM Sans" pitchFamily="34" charset="-120"/>
              </a:rPr>
              <a:t>Feels authentic to BeReal</a:t>
            </a:r>
            <a:endParaRPr lang="en-US" sz="1400" dirty="0"/>
          </a:p>
        </p:txBody>
      </p:sp>
      <p:sp>
        <p:nvSpPr>
          <p:cNvPr id="8" name="Shape 6"/>
          <p:cNvSpPr/>
          <p:nvPr/>
        </p:nvSpPr>
        <p:spPr>
          <a:xfrm>
            <a:off x="812800" y="3302000"/>
            <a:ext cx="3657600" cy="254000"/>
          </a:xfrm>
          <a:prstGeom prst="roundRect">
            <a:avLst>
              <a:gd name="adj" fmla="val 20000"/>
            </a:avLst>
          </a:prstGeom>
          <a:solidFill>
            <a:srgbClr val="FFDE59"/>
          </a:solidFill>
          <a:ln/>
        </p:spPr>
        <p:txBody>
          <a:bodyPr/>
          <a:lstStyle/>
          <a:p>
            <a:endParaRPr lang="en-US"/>
          </a:p>
        </p:txBody>
      </p:sp>
      <p:sp>
        <p:nvSpPr>
          <p:cNvPr id="9" name="Text 7"/>
          <p:cNvSpPr/>
          <p:nvPr/>
        </p:nvSpPr>
        <p:spPr>
          <a:xfrm>
            <a:off x="4597400" y="3308350"/>
            <a:ext cx="311467"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3.6</a:t>
            </a:r>
            <a:endParaRPr lang="en-US" sz="1400" dirty="0"/>
          </a:p>
        </p:txBody>
      </p:sp>
      <p:sp>
        <p:nvSpPr>
          <p:cNvPr id="10" name="Text 8"/>
          <p:cNvSpPr/>
          <p:nvPr/>
        </p:nvSpPr>
        <p:spPr>
          <a:xfrm>
            <a:off x="812800" y="3708400"/>
            <a:ext cx="6200394"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B9C0"/>
                </a:solidFill>
                <a:latin typeface="DM Sans" pitchFamily="34" charset="0"/>
                <a:ea typeface="DM Sans" pitchFamily="34" charset="-122"/>
                <a:cs typeface="DM Sans" pitchFamily="34" charset="-120"/>
              </a:rPr>
              <a:t>Would open BeReal more often</a:t>
            </a:r>
            <a:endParaRPr lang="en-US" sz="1400" dirty="0"/>
          </a:p>
        </p:txBody>
      </p:sp>
      <p:sp>
        <p:nvSpPr>
          <p:cNvPr id="11" name="Shape 9"/>
          <p:cNvSpPr/>
          <p:nvPr/>
        </p:nvSpPr>
        <p:spPr>
          <a:xfrm>
            <a:off x="812800" y="4000500"/>
            <a:ext cx="3860800" cy="254000"/>
          </a:xfrm>
          <a:prstGeom prst="roundRect">
            <a:avLst>
              <a:gd name="adj" fmla="val 20000"/>
            </a:avLst>
          </a:prstGeom>
          <a:solidFill>
            <a:srgbClr val="FFDE59"/>
          </a:solidFill>
          <a:ln/>
        </p:spPr>
        <p:txBody>
          <a:bodyPr/>
          <a:lstStyle/>
          <a:p>
            <a:endParaRPr lang="en-US"/>
          </a:p>
        </p:txBody>
      </p:sp>
      <p:sp>
        <p:nvSpPr>
          <p:cNvPr id="12" name="Text 10"/>
          <p:cNvSpPr/>
          <p:nvPr/>
        </p:nvSpPr>
        <p:spPr>
          <a:xfrm>
            <a:off x="4800600" y="4006850"/>
            <a:ext cx="317421"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3.8</a:t>
            </a:r>
            <a:endParaRPr lang="en-US" sz="1400" dirty="0"/>
          </a:p>
        </p:txBody>
      </p:sp>
      <p:sp>
        <p:nvSpPr>
          <p:cNvPr id="13" name="Text 11"/>
          <p:cNvSpPr/>
          <p:nvPr/>
        </p:nvSpPr>
        <p:spPr>
          <a:xfrm>
            <a:off x="812800" y="4406900"/>
            <a:ext cx="6200394" cy="266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B9C0"/>
                </a:solidFill>
                <a:latin typeface="DM Sans" pitchFamily="34" charset="0"/>
                <a:ea typeface="DM Sans" pitchFamily="34" charset="-122"/>
                <a:cs typeface="DM Sans" pitchFamily="34" charset="-120"/>
              </a:rPr>
              <a:t>Reminders and streak felt low-pressure</a:t>
            </a:r>
            <a:endParaRPr lang="en-US" sz="1400" dirty="0"/>
          </a:p>
        </p:txBody>
      </p:sp>
      <p:sp>
        <p:nvSpPr>
          <p:cNvPr id="14" name="Shape 12"/>
          <p:cNvSpPr/>
          <p:nvPr/>
        </p:nvSpPr>
        <p:spPr>
          <a:xfrm>
            <a:off x="812800" y="4699000"/>
            <a:ext cx="4267200" cy="254000"/>
          </a:xfrm>
          <a:prstGeom prst="roundRect">
            <a:avLst>
              <a:gd name="adj" fmla="val 20000"/>
            </a:avLst>
          </a:prstGeom>
          <a:solidFill>
            <a:srgbClr val="FFDE59"/>
          </a:solidFill>
          <a:ln/>
        </p:spPr>
        <p:txBody>
          <a:bodyPr/>
          <a:lstStyle/>
          <a:p>
            <a:endParaRPr lang="en-US"/>
          </a:p>
        </p:txBody>
      </p:sp>
      <p:sp>
        <p:nvSpPr>
          <p:cNvPr id="15" name="Text 13"/>
          <p:cNvSpPr/>
          <p:nvPr/>
        </p:nvSpPr>
        <p:spPr>
          <a:xfrm>
            <a:off x="5207000" y="4705350"/>
            <a:ext cx="315754"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4.2</a:t>
            </a:r>
            <a:endParaRPr lang="en-US" sz="1400" dirty="0"/>
          </a:p>
        </p:txBody>
      </p:sp>
      <p:sp>
        <p:nvSpPr>
          <p:cNvPr id="16" name="Text 14"/>
          <p:cNvSpPr/>
          <p:nvPr/>
        </p:nvSpPr>
        <p:spPr>
          <a:xfrm>
            <a:off x="812800" y="5207000"/>
            <a:ext cx="6200394"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A92"/>
                </a:solidFill>
                <a:latin typeface="DM Sans" pitchFamily="34" charset="0"/>
                <a:ea typeface="DM Sans" pitchFamily="34" charset="-122"/>
                <a:cs typeface="DM Sans" pitchFamily="34" charset="-120"/>
              </a:rPr>
              <a:t>Average score out of 5 · 5 survey responses</a:t>
            </a:r>
            <a:endParaRPr lang="en-US" sz="1200" dirty="0"/>
          </a:p>
        </p:txBody>
      </p:sp>
      <p:sp>
        <p:nvSpPr>
          <p:cNvPr id="17" name="Shape 15"/>
          <p:cNvSpPr/>
          <p:nvPr/>
        </p:nvSpPr>
        <p:spPr>
          <a:xfrm>
            <a:off x="7442200" y="1346200"/>
            <a:ext cx="3937000" cy="1320800"/>
          </a:xfrm>
          <a:prstGeom prst="roundRect">
            <a:avLst>
              <a:gd name="adj" fmla="val 11538"/>
            </a:avLst>
          </a:prstGeom>
          <a:solidFill>
            <a:srgbClr val="1E1E22"/>
          </a:solidFill>
          <a:ln/>
        </p:spPr>
        <p:txBody>
          <a:bodyPr/>
          <a:lstStyle/>
          <a:p>
            <a:endParaRPr lang="en-US"/>
          </a:p>
        </p:txBody>
      </p:sp>
      <p:sp>
        <p:nvSpPr>
          <p:cNvPr id="18" name="Text 16"/>
          <p:cNvSpPr/>
          <p:nvPr/>
        </p:nvSpPr>
        <p:spPr>
          <a:xfrm>
            <a:off x="7696200" y="1600200"/>
            <a:ext cx="3531870" cy="558800"/>
          </a:xfrm>
          <a:prstGeom prst="rect">
            <a:avLst/>
          </a:prstGeom>
          <a:noFill/>
          <a:ln/>
        </p:spPr>
        <p:txBody>
          <a:bodyPr wrap="square" lIns="0" tIns="0" rIns="0" bIns="0" rtlCol="0" anchor="t">
            <a:normAutofit/>
          </a:bodyPr>
          <a:lstStyle/>
          <a:p>
            <a:pPr marL="0" indent="0" algn="l">
              <a:lnSpc>
                <a:spcPts val="2160"/>
              </a:lnSpc>
              <a:buNone/>
            </a:pPr>
            <a:r>
              <a:rPr lang="en-US" sz="1600" i="1" dirty="0">
                <a:solidFill>
                  <a:srgbClr val="F5F4EF"/>
                </a:solidFill>
                <a:latin typeface="DM Sans" pitchFamily="34" charset="0"/>
                <a:ea typeface="DM Sans" pitchFamily="34" charset="-122"/>
                <a:cs typeface="DM Sans" pitchFamily="34" charset="-120"/>
              </a:rPr>
              <a:t>“I’d definitely open the app more often because of this.”</a:t>
            </a:r>
            <a:endParaRPr lang="en-US" sz="1600" dirty="0"/>
          </a:p>
        </p:txBody>
      </p:sp>
      <p:sp>
        <p:nvSpPr>
          <p:cNvPr id="19" name="Text 17"/>
          <p:cNvSpPr/>
          <p:nvPr/>
        </p:nvSpPr>
        <p:spPr>
          <a:xfrm>
            <a:off x="7696200" y="2209800"/>
            <a:ext cx="3531870"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9C0"/>
                </a:solidFill>
                <a:latin typeface="DM Sans" pitchFamily="34" charset="0"/>
                <a:ea typeface="DM Sans" pitchFamily="34" charset="-122"/>
                <a:cs typeface="DM Sans" pitchFamily="34" charset="-120"/>
              </a:rPr>
              <a:t>Occasional BeReal user</a:t>
            </a:r>
            <a:endParaRPr lang="en-US" sz="1200" dirty="0"/>
          </a:p>
        </p:txBody>
      </p:sp>
      <p:sp>
        <p:nvSpPr>
          <p:cNvPr id="20" name="Shape 18"/>
          <p:cNvSpPr/>
          <p:nvPr/>
        </p:nvSpPr>
        <p:spPr>
          <a:xfrm>
            <a:off x="7442200" y="2844800"/>
            <a:ext cx="3937000" cy="1320800"/>
          </a:xfrm>
          <a:prstGeom prst="roundRect">
            <a:avLst>
              <a:gd name="adj" fmla="val 11538"/>
            </a:avLst>
          </a:prstGeom>
          <a:solidFill>
            <a:srgbClr val="1E1E22"/>
          </a:solidFill>
          <a:ln/>
        </p:spPr>
        <p:txBody>
          <a:bodyPr/>
          <a:lstStyle/>
          <a:p>
            <a:endParaRPr lang="en-US"/>
          </a:p>
        </p:txBody>
      </p:sp>
      <p:sp>
        <p:nvSpPr>
          <p:cNvPr id="21" name="Text 19"/>
          <p:cNvSpPr/>
          <p:nvPr/>
        </p:nvSpPr>
        <p:spPr>
          <a:xfrm>
            <a:off x="7696200" y="3098800"/>
            <a:ext cx="3531870" cy="22860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DE59"/>
                </a:solidFill>
                <a:latin typeface="DM Sans" pitchFamily="34" charset="0"/>
                <a:ea typeface="DM Sans" pitchFamily="34" charset="-122"/>
                <a:cs typeface="DM Sans" pitchFamily="34" charset="-120"/>
              </a:rPr>
              <a:t>THE HONEST GAP</a:t>
            </a:r>
            <a:endParaRPr lang="en-US" sz="1200" dirty="0"/>
          </a:p>
        </p:txBody>
      </p:sp>
      <p:sp>
        <p:nvSpPr>
          <p:cNvPr id="22" name="Text 20"/>
          <p:cNvSpPr/>
          <p:nvPr/>
        </p:nvSpPr>
        <p:spPr>
          <a:xfrm>
            <a:off x="7696200" y="3378200"/>
            <a:ext cx="3531870" cy="558800"/>
          </a:xfrm>
          <a:prstGeom prst="rect">
            <a:avLst/>
          </a:prstGeom>
          <a:noFill/>
          <a:ln/>
        </p:spPr>
        <p:txBody>
          <a:bodyPr wrap="square" lIns="0" tIns="0" rIns="0" bIns="0" rtlCol="0" anchor="t">
            <a:normAutofit/>
          </a:bodyPr>
          <a:lstStyle/>
          <a:p>
            <a:pPr marL="0" indent="0" algn="l">
              <a:lnSpc>
                <a:spcPts val="2160"/>
              </a:lnSpc>
              <a:buNone/>
            </a:pPr>
            <a:r>
              <a:rPr lang="en-US" sz="1600" i="1" dirty="0">
                <a:solidFill>
                  <a:srgbClr val="F5F4EF"/>
                </a:solidFill>
                <a:latin typeface="DM Sans" pitchFamily="34" charset="0"/>
                <a:ea typeface="DM Sans" pitchFamily="34" charset="-122"/>
                <a:cs typeface="DM Sans" pitchFamily="34" charset="-120"/>
              </a:rPr>
              <a:t>“There are a few too many button clicks in this flow.”</a:t>
            </a:r>
            <a:endParaRPr lang="en-US" sz="1600" dirty="0"/>
          </a:p>
        </p:txBody>
      </p:sp>
      <p:sp>
        <p:nvSpPr>
          <p:cNvPr id="23" name="Shape 21"/>
          <p:cNvSpPr/>
          <p:nvPr/>
        </p:nvSpPr>
        <p:spPr>
          <a:xfrm>
            <a:off x="7442200" y="4343400"/>
            <a:ext cx="3937000" cy="1168400"/>
          </a:xfrm>
          <a:prstGeom prst="roundRect">
            <a:avLst>
              <a:gd name="adj" fmla="val 13043"/>
            </a:avLst>
          </a:prstGeom>
          <a:solidFill>
            <a:srgbClr val="1E1E22"/>
          </a:solidFill>
          <a:ln/>
        </p:spPr>
        <p:txBody>
          <a:bodyPr/>
          <a:lstStyle/>
          <a:p>
            <a:endParaRPr lang="en-US"/>
          </a:p>
        </p:txBody>
      </p:sp>
      <p:sp>
        <p:nvSpPr>
          <p:cNvPr id="24" name="Text 22"/>
          <p:cNvSpPr/>
          <p:nvPr/>
        </p:nvSpPr>
        <p:spPr>
          <a:xfrm>
            <a:off x="7696200" y="4597400"/>
            <a:ext cx="3531870"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9C0"/>
                </a:solidFill>
                <a:latin typeface="DM Sans" pitchFamily="34" charset="0"/>
                <a:ea typeface="DM Sans" pitchFamily="34" charset="-122"/>
                <a:cs typeface="DM Sans" pitchFamily="34" charset="-120"/>
              </a:rPr>
              <a:t>Would you want BeReal to launch it?</a:t>
            </a:r>
            <a:endParaRPr lang="en-US" sz="1200" dirty="0"/>
          </a:p>
        </p:txBody>
      </p:sp>
      <p:sp>
        <p:nvSpPr>
          <p:cNvPr id="25" name="Text 23"/>
          <p:cNvSpPr/>
          <p:nvPr/>
        </p:nvSpPr>
        <p:spPr>
          <a:xfrm>
            <a:off x="7696200" y="4876800"/>
            <a:ext cx="3531870" cy="40640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5F4EF"/>
                </a:solidFill>
                <a:latin typeface="DM Sans" pitchFamily="34" charset="0"/>
                <a:ea typeface="DM Sans" pitchFamily="34" charset="-122"/>
                <a:cs typeface="DM Sans" pitchFamily="34" charset="-120"/>
              </a:rPr>
              <a:t>Yes 3 · Maybe 1 · No 1</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44557A"/>
                </a:solidFill>
                <a:latin typeface="DM Sans" pitchFamily="34" charset="0"/>
                <a:ea typeface="DM Sans" pitchFamily="34" charset="-122"/>
                <a:cs typeface="DM Sans" pitchFamily="34" charset="-120"/>
              </a:rPr>
              <a:t>THE IMPACT</a:t>
            </a:r>
            <a:endParaRPr lang="en-US" sz="1200" dirty="0"/>
          </a:p>
        </p:txBody>
      </p:sp>
      <p:sp>
        <p:nvSpPr>
          <p:cNvPr id="3" name="Text 1"/>
          <p:cNvSpPr>
            <a:spLocks noGrp="1"/>
          </p:cNvSpPr>
          <p:nvPr>
            <p:ph type="title"/>
          </p:nvPr>
        </p:nvSpPr>
        <p:spPr>
          <a:xfrm>
            <a:off x="812800" y="1168400"/>
            <a:ext cx="10883392" cy="52070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7171A"/>
                </a:solidFill>
                <a:latin typeface="DM Sans" pitchFamily="34" charset="0"/>
                <a:ea typeface="DM Sans" pitchFamily="34" charset="-122"/>
                <a:cs typeface="DM Sans" pitchFamily="34" charset="-120"/>
              </a:rPr>
              <a:t>Bring back the users BeReal is losing</a:t>
            </a:r>
            <a:endParaRPr lang="en-US" sz="3600" dirty="0"/>
          </a:p>
        </p:txBody>
      </p:sp>
      <p:sp>
        <p:nvSpPr>
          <p:cNvPr id="4" name="Shape 2"/>
          <p:cNvSpPr/>
          <p:nvPr/>
        </p:nvSpPr>
        <p:spPr>
          <a:xfrm>
            <a:off x="815975" y="1971675"/>
            <a:ext cx="3380383" cy="2063750"/>
          </a:xfrm>
          <a:prstGeom prst="roundRect">
            <a:avLst>
              <a:gd name="adj" fmla="val 7231"/>
            </a:avLst>
          </a:prstGeom>
          <a:solidFill>
            <a:srgbClr val="FCFBF7"/>
          </a:solidFill>
          <a:ln w="6350">
            <a:solidFill>
              <a:srgbClr val="E2E0D8"/>
            </a:solidFill>
            <a:prstDash val="solid"/>
          </a:ln>
        </p:spPr>
        <p:txBody>
          <a:bodyPr/>
          <a:lstStyle/>
          <a:p>
            <a:endParaRPr lang="en-US"/>
          </a:p>
        </p:txBody>
      </p:sp>
      <p:sp>
        <p:nvSpPr>
          <p:cNvPr id="5" name="Text 3"/>
          <p:cNvSpPr/>
          <p:nvPr/>
        </p:nvSpPr>
        <p:spPr>
          <a:xfrm>
            <a:off x="1130300" y="2286000"/>
            <a:ext cx="283428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44557A"/>
                </a:solidFill>
                <a:latin typeface="DM Sans" pitchFamily="34" charset="0"/>
                <a:ea typeface="DM Sans" pitchFamily="34" charset="-122"/>
                <a:cs typeface="DM Sans" pitchFamily="34" charset="-120"/>
              </a:rPr>
              <a:t>5/5</a:t>
            </a:r>
            <a:endParaRPr lang="en-US" sz="4800" dirty="0"/>
          </a:p>
        </p:txBody>
      </p:sp>
      <p:sp>
        <p:nvSpPr>
          <p:cNvPr id="6" name="Text 4"/>
          <p:cNvSpPr/>
          <p:nvPr/>
        </p:nvSpPr>
        <p:spPr>
          <a:xfrm>
            <a:off x="1130300" y="2997200"/>
            <a:ext cx="2834285" cy="749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71A"/>
                </a:solidFill>
                <a:latin typeface="DM Sans" pitchFamily="34" charset="0"/>
                <a:ea typeface="DM Sans" pitchFamily="34" charset="-122"/>
                <a:cs typeface="DM Sans" pitchFamily="34" charset="-120"/>
              </a:rPr>
              <a:t>Both occasional users rated “open BeReal more often” the top score</a:t>
            </a:r>
            <a:endParaRPr lang="en-US" sz="1400" dirty="0"/>
          </a:p>
        </p:txBody>
      </p:sp>
      <p:sp>
        <p:nvSpPr>
          <p:cNvPr id="7" name="Shape 5"/>
          <p:cNvSpPr/>
          <p:nvPr/>
        </p:nvSpPr>
        <p:spPr>
          <a:xfrm>
            <a:off x="4405908" y="1971675"/>
            <a:ext cx="3380383" cy="2063750"/>
          </a:xfrm>
          <a:prstGeom prst="roundRect">
            <a:avLst>
              <a:gd name="adj" fmla="val 7231"/>
            </a:avLst>
          </a:prstGeom>
          <a:solidFill>
            <a:srgbClr val="FCFBF7"/>
          </a:solidFill>
          <a:ln w="6350">
            <a:solidFill>
              <a:srgbClr val="E2E0D8"/>
            </a:solidFill>
            <a:prstDash val="solid"/>
          </a:ln>
        </p:spPr>
        <p:txBody>
          <a:bodyPr/>
          <a:lstStyle/>
          <a:p>
            <a:endParaRPr lang="en-US"/>
          </a:p>
        </p:txBody>
      </p:sp>
      <p:sp>
        <p:nvSpPr>
          <p:cNvPr id="8" name="Text 6"/>
          <p:cNvSpPr/>
          <p:nvPr/>
        </p:nvSpPr>
        <p:spPr>
          <a:xfrm>
            <a:off x="4720233" y="2286000"/>
            <a:ext cx="283428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44557A"/>
                </a:solidFill>
                <a:latin typeface="DM Sans" pitchFamily="34" charset="0"/>
                <a:ea typeface="DM Sans" pitchFamily="34" charset="-122"/>
                <a:cs typeface="DM Sans" pitchFamily="34" charset="-120"/>
              </a:rPr>
              <a:t>2.5×</a:t>
            </a:r>
            <a:endParaRPr lang="en-US" sz="4800" dirty="0"/>
          </a:p>
        </p:txBody>
      </p:sp>
      <p:sp>
        <p:nvSpPr>
          <p:cNvPr id="9" name="Text 7"/>
          <p:cNvSpPr/>
          <p:nvPr/>
        </p:nvSpPr>
        <p:spPr>
          <a:xfrm>
            <a:off x="4720233" y="2997200"/>
            <a:ext cx="2834285" cy="508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71A"/>
                </a:solidFill>
                <a:latin typeface="DM Sans" pitchFamily="34" charset="0"/>
                <a:ea typeface="DM Sans" pitchFamily="34" charset="-122"/>
                <a:cs typeface="DM Sans" pitchFamily="34" charset="-120"/>
              </a:rPr>
              <a:t>Target daily opens per user, to validate in the MVP</a:t>
            </a:r>
            <a:endParaRPr lang="en-US" sz="1400" dirty="0"/>
          </a:p>
        </p:txBody>
      </p:sp>
      <p:sp>
        <p:nvSpPr>
          <p:cNvPr id="10" name="Shape 8"/>
          <p:cNvSpPr/>
          <p:nvPr/>
        </p:nvSpPr>
        <p:spPr>
          <a:xfrm>
            <a:off x="7995841" y="1971675"/>
            <a:ext cx="3380383" cy="2063750"/>
          </a:xfrm>
          <a:prstGeom prst="roundRect">
            <a:avLst>
              <a:gd name="adj" fmla="val 7231"/>
            </a:avLst>
          </a:prstGeom>
          <a:solidFill>
            <a:srgbClr val="FCFBF7"/>
          </a:solidFill>
          <a:ln w="6350">
            <a:solidFill>
              <a:srgbClr val="E2E0D8"/>
            </a:solidFill>
            <a:prstDash val="solid"/>
          </a:ln>
        </p:spPr>
        <p:txBody>
          <a:bodyPr/>
          <a:lstStyle/>
          <a:p>
            <a:endParaRPr lang="en-US"/>
          </a:p>
        </p:txBody>
      </p:sp>
      <p:sp>
        <p:nvSpPr>
          <p:cNvPr id="11" name="Text 9"/>
          <p:cNvSpPr/>
          <p:nvPr/>
        </p:nvSpPr>
        <p:spPr>
          <a:xfrm>
            <a:off x="8310166" y="2286000"/>
            <a:ext cx="283428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44557A"/>
                </a:solidFill>
                <a:latin typeface="DM Sans" pitchFamily="34" charset="0"/>
                <a:ea typeface="DM Sans" pitchFamily="34" charset="-122"/>
                <a:cs typeface="DM Sans" pitchFamily="34" charset="-120"/>
              </a:rPr>
              <a:t>4.2/5</a:t>
            </a:r>
            <a:endParaRPr lang="en-US" sz="4800" dirty="0"/>
          </a:p>
        </p:txBody>
      </p:sp>
      <p:sp>
        <p:nvSpPr>
          <p:cNvPr id="12" name="Text 10"/>
          <p:cNvSpPr/>
          <p:nvPr/>
        </p:nvSpPr>
        <p:spPr>
          <a:xfrm>
            <a:off x="8310166" y="2997200"/>
            <a:ext cx="2834285" cy="508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71A"/>
                </a:solidFill>
                <a:latin typeface="DM Sans" pitchFamily="34" charset="0"/>
                <a:ea typeface="DM Sans" pitchFamily="34" charset="-122"/>
                <a:cs typeface="DM Sans" pitchFamily="34" charset="-120"/>
              </a:rPr>
              <a:t>Low-pressure score: opt-in, time-boxed, no streak-loss guilt</a:t>
            </a:r>
            <a:endParaRPr lang="en-US" sz="1400" dirty="0"/>
          </a:p>
        </p:txBody>
      </p:sp>
      <p:sp>
        <p:nvSpPr>
          <p:cNvPr id="13" name="Text 11"/>
          <p:cNvSpPr/>
          <p:nvPr/>
        </p:nvSpPr>
        <p:spPr>
          <a:xfrm>
            <a:off x="812800" y="4387850"/>
            <a:ext cx="1323380" cy="2667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A"/>
                </a:solidFill>
                <a:latin typeface="DM Sans" pitchFamily="34" charset="0"/>
                <a:ea typeface="DM Sans" pitchFamily="34" charset="-122"/>
                <a:cs typeface="DM Sans" pitchFamily="34" charset="-120"/>
              </a:rPr>
              <a:t>We’ll measure</a:t>
            </a:r>
            <a:endParaRPr lang="en-US" sz="1400" dirty="0"/>
          </a:p>
        </p:txBody>
      </p:sp>
      <p:sp>
        <p:nvSpPr>
          <p:cNvPr id="14" name="Shape 12"/>
          <p:cNvSpPr/>
          <p:nvPr/>
        </p:nvSpPr>
        <p:spPr>
          <a:xfrm>
            <a:off x="2136180" y="4343400"/>
            <a:ext cx="1038622" cy="330200"/>
          </a:xfrm>
          <a:prstGeom prst="roundRect">
            <a:avLst>
              <a:gd name="adj" fmla="val 50000"/>
            </a:avLst>
          </a:prstGeom>
          <a:solidFill>
            <a:srgbClr val="17171A"/>
          </a:solidFill>
          <a:ln/>
        </p:spPr>
        <p:txBody>
          <a:bodyPr/>
          <a:lstStyle/>
          <a:p>
            <a:endParaRPr lang="en-US"/>
          </a:p>
        </p:txBody>
      </p:sp>
      <p:sp>
        <p:nvSpPr>
          <p:cNvPr id="15" name="Text 13"/>
          <p:cNvSpPr/>
          <p:nvPr/>
        </p:nvSpPr>
        <p:spPr>
          <a:xfrm>
            <a:off x="2275880" y="4406900"/>
            <a:ext cx="810022"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4EF"/>
                </a:solidFill>
                <a:latin typeface="DM Sans" pitchFamily="34" charset="0"/>
                <a:ea typeface="DM Sans" pitchFamily="34" charset="-122"/>
                <a:cs typeface="DM Sans" pitchFamily="34" charset="-120"/>
              </a:rPr>
              <a:t>DAU / MAU</a:t>
            </a:r>
            <a:endParaRPr lang="en-US" sz="1200" dirty="0"/>
          </a:p>
        </p:txBody>
      </p:sp>
      <p:sp>
        <p:nvSpPr>
          <p:cNvPr id="16" name="Shape 14"/>
          <p:cNvSpPr/>
          <p:nvPr/>
        </p:nvSpPr>
        <p:spPr>
          <a:xfrm>
            <a:off x="3276402" y="4343400"/>
            <a:ext cx="1791097" cy="330200"/>
          </a:xfrm>
          <a:prstGeom prst="roundRect">
            <a:avLst>
              <a:gd name="adj" fmla="val 50000"/>
            </a:avLst>
          </a:prstGeom>
          <a:solidFill>
            <a:srgbClr val="17171A"/>
          </a:solidFill>
          <a:ln/>
        </p:spPr>
        <p:txBody>
          <a:bodyPr/>
          <a:lstStyle/>
          <a:p>
            <a:endParaRPr lang="en-US"/>
          </a:p>
        </p:txBody>
      </p:sp>
      <p:sp>
        <p:nvSpPr>
          <p:cNvPr id="17" name="Text 15"/>
          <p:cNvSpPr/>
          <p:nvPr/>
        </p:nvSpPr>
        <p:spPr>
          <a:xfrm>
            <a:off x="3416102" y="4406900"/>
            <a:ext cx="1562497"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4EF"/>
                </a:solidFill>
                <a:latin typeface="DM Sans" pitchFamily="34" charset="0"/>
                <a:ea typeface="DM Sans" pitchFamily="34" charset="-122"/>
                <a:cs typeface="DM Sans" pitchFamily="34" charset="-120"/>
              </a:rPr>
              <a:t>D7 and D30 retention</a:t>
            </a:r>
            <a:endParaRPr lang="en-US" sz="1200" dirty="0"/>
          </a:p>
        </p:txBody>
      </p:sp>
      <p:sp>
        <p:nvSpPr>
          <p:cNvPr id="18" name="Shape 16"/>
          <p:cNvSpPr/>
          <p:nvPr/>
        </p:nvSpPr>
        <p:spPr>
          <a:xfrm>
            <a:off x="5169098" y="4343400"/>
            <a:ext cx="1770856" cy="330200"/>
          </a:xfrm>
          <a:prstGeom prst="roundRect">
            <a:avLst>
              <a:gd name="adj" fmla="val 50000"/>
            </a:avLst>
          </a:prstGeom>
          <a:solidFill>
            <a:srgbClr val="17171A"/>
          </a:solidFill>
          <a:ln/>
        </p:spPr>
        <p:txBody>
          <a:bodyPr/>
          <a:lstStyle/>
          <a:p>
            <a:endParaRPr lang="en-US"/>
          </a:p>
        </p:txBody>
      </p:sp>
      <p:sp>
        <p:nvSpPr>
          <p:cNvPr id="19" name="Text 17"/>
          <p:cNvSpPr/>
          <p:nvPr/>
        </p:nvSpPr>
        <p:spPr>
          <a:xfrm>
            <a:off x="5308798" y="4406900"/>
            <a:ext cx="1542256"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4EF"/>
                </a:solidFill>
                <a:latin typeface="DM Sans" pitchFamily="34" charset="0"/>
                <a:ea typeface="DM Sans" pitchFamily="34" charset="-122"/>
                <a:cs typeface="DM Sans" pitchFamily="34" charset="-120"/>
              </a:rPr>
              <a:t>% of posts on boards</a:t>
            </a:r>
            <a:endParaRPr lang="en-US" sz="1200" dirty="0"/>
          </a:p>
        </p:txBody>
      </p:sp>
      <p:sp>
        <p:nvSpPr>
          <p:cNvPr id="20" name="Shape 18"/>
          <p:cNvSpPr/>
          <p:nvPr/>
        </p:nvSpPr>
        <p:spPr>
          <a:xfrm>
            <a:off x="7041555" y="4343400"/>
            <a:ext cx="2118320" cy="330200"/>
          </a:xfrm>
          <a:prstGeom prst="roundRect">
            <a:avLst>
              <a:gd name="adj" fmla="val 50000"/>
            </a:avLst>
          </a:prstGeom>
          <a:solidFill>
            <a:srgbClr val="17171A"/>
          </a:solidFill>
          <a:ln/>
        </p:spPr>
        <p:txBody>
          <a:bodyPr/>
          <a:lstStyle/>
          <a:p>
            <a:endParaRPr lang="en-US"/>
          </a:p>
        </p:txBody>
      </p:sp>
      <p:sp>
        <p:nvSpPr>
          <p:cNvPr id="21" name="Text 19"/>
          <p:cNvSpPr/>
          <p:nvPr/>
        </p:nvSpPr>
        <p:spPr>
          <a:xfrm>
            <a:off x="7181255" y="4406900"/>
            <a:ext cx="1894088"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4EF"/>
                </a:solidFill>
                <a:latin typeface="DM Sans" pitchFamily="34" charset="0"/>
                <a:ea typeface="DM Sans" pitchFamily="34" charset="-122"/>
                <a:cs typeface="DM Sans" pitchFamily="34" charset="-120"/>
              </a:rPr>
              <a:t>Taps from capture to post</a:t>
            </a:r>
            <a:endParaRPr lang="en-US" sz="1200" dirty="0"/>
          </a:p>
        </p:txBody>
      </p:sp>
      <p:sp>
        <p:nvSpPr>
          <p:cNvPr id="22" name="Text 20"/>
          <p:cNvSpPr/>
          <p:nvPr/>
        </p:nvSpPr>
        <p:spPr>
          <a:xfrm>
            <a:off x="812800" y="62484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A72"/>
                </a:solidFill>
                <a:latin typeface="DM Sans" pitchFamily="34" charset="0"/>
                <a:ea typeface="DM Sans" pitchFamily="34" charset="-122"/>
                <a:cs typeface="DM Sans" pitchFamily="34" charset="-120"/>
              </a:rPr>
              <a:t>Focus group of 5: these results show direction, not proof.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DE5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60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171A"/>
                </a:solidFill>
                <a:latin typeface="DM Sans" pitchFamily="34" charset="0"/>
                <a:ea typeface="DM Sans" pitchFamily="34" charset="-122"/>
                <a:cs typeface="DM Sans" pitchFamily="34" charset="-120"/>
              </a:rPr>
              <a:t>RECOMMENDATION</a:t>
            </a:r>
            <a:endParaRPr lang="en-US" sz="1200" dirty="0"/>
          </a:p>
        </p:txBody>
      </p:sp>
      <p:sp>
        <p:nvSpPr>
          <p:cNvPr id="3" name="Text 1"/>
          <p:cNvSpPr>
            <a:spLocks noGrp="1"/>
          </p:cNvSpPr>
          <p:nvPr>
            <p:ph type="title"/>
          </p:nvPr>
        </p:nvSpPr>
        <p:spPr>
          <a:xfrm>
            <a:off x="812800" y="11684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kern="0" spc="-150" dirty="0">
                <a:solidFill>
                  <a:srgbClr val="17171A"/>
                </a:solidFill>
                <a:latin typeface="DM Sans" pitchFamily="34" charset="0"/>
                <a:ea typeface="DM Sans" pitchFamily="34" charset="-122"/>
                <a:cs typeface="DM Sans" pitchFamily="34" charset="-120"/>
              </a:rPr>
              <a:t>Refine, then retest.</a:t>
            </a:r>
            <a:endParaRPr lang="en-US" sz="6000" dirty="0"/>
          </a:p>
        </p:txBody>
      </p:sp>
      <p:sp>
        <p:nvSpPr>
          <p:cNvPr id="4" name="Shape 2"/>
          <p:cNvSpPr/>
          <p:nvPr/>
        </p:nvSpPr>
        <p:spPr>
          <a:xfrm>
            <a:off x="812800" y="2782292"/>
            <a:ext cx="3386733" cy="0"/>
          </a:xfrm>
          <a:prstGeom prst="line">
            <a:avLst/>
          </a:prstGeom>
          <a:noFill/>
          <a:ln w="19050">
            <a:solidFill>
              <a:srgbClr val="17171A"/>
            </a:solidFill>
            <a:prstDash val="solid"/>
          </a:ln>
        </p:spPr>
        <p:txBody>
          <a:bodyPr/>
          <a:lstStyle/>
          <a:p>
            <a:endParaRPr lang="en-US"/>
          </a:p>
        </p:txBody>
      </p:sp>
      <p:sp>
        <p:nvSpPr>
          <p:cNvPr id="5" name="Text 3"/>
          <p:cNvSpPr/>
          <p:nvPr/>
        </p:nvSpPr>
        <p:spPr>
          <a:xfrm>
            <a:off x="812800" y="2937867"/>
            <a:ext cx="3488335" cy="2286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171A"/>
                </a:solidFill>
                <a:latin typeface="DM Sans" pitchFamily="34" charset="0"/>
                <a:ea typeface="DM Sans" pitchFamily="34" charset="-122"/>
                <a:cs typeface="DM Sans" pitchFamily="34" charset="-120"/>
              </a:rPr>
              <a:t>01</a:t>
            </a:r>
            <a:endParaRPr lang="en-US" sz="1200" dirty="0"/>
          </a:p>
        </p:txBody>
      </p:sp>
      <p:sp>
        <p:nvSpPr>
          <p:cNvPr id="6" name="Text 4"/>
          <p:cNvSpPr/>
          <p:nvPr/>
        </p:nvSpPr>
        <p:spPr>
          <a:xfrm>
            <a:off x="812800" y="3217267"/>
            <a:ext cx="3488335" cy="5842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7171A"/>
                </a:solidFill>
                <a:latin typeface="DM Sans" pitchFamily="34" charset="0"/>
                <a:ea typeface="DM Sans" pitchFamily="34" charset="-122"/>
                <a:cs typeface="DM Sans" pitchFamily="34" charset="-120"/>
              </a:rPr>
              <a:t>Cut taps from capture to stamp</a:t>
            </a:r>
            <a:endParaRPr lang="en-US" sz="1800" dirty="0"/>
          </a:p>
        </p:txBody>
      </p:sp>
      <p:sp>
        <p:nvSpPr>
          <p:cNvPr id="7" name="Shape 5"/>
          <p:cNvSpPr/>
          <p:nvPr/>
        </p:nvSpPr>
        <p:spPr>
          <a:xfrm>
            <a:off x="4402733" y="2782292"/>
            <a:ext cx="3386733" cy="0"/>
          </a:xfrm>
          <a:prstGeom prst="line">
            <a:avLst/>
          </a:prstGeom>
          <a:noFill/>
          <a:ln w="19050">
            <a:solidFill>
              <a:srgbClr val="17171A"/>
            </a:solidFill>
            <a:prstDash val="solid"/>
          </a:ln>
        </p:spPr>
        <p:txBody>
          <a:bodyPr/>
          <a:lstStyle/>
          <a:p>
            <a:endParaRPr lang="en-US"/>
          </a:p>
        </p:txBody>
      </p:sp>
      <p:sp>
        <p:nvSpPr>
          <p:cNvPr id="8" name="Text 6"/>
          <p:cNvSpPr/>
          <p:nvPr/>
        </p:nvSpPr>
        <p:spPr>
          <a:xfrm>
            <a:off x="4402733" y="2937867"/>
            <a:ext cx="3488335" cy="2286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171A"/>
                </a:solidFill>
                <a:latin typeface="DM Sans" pitchFamily="34" charset="0"/>
                <a:ea typeface="DM Sans" pitchFamily="34" charset="-122"/>
                <a:cs typeface="DM Sans" pitchFamily="34" charset="-120"/>
              </a:rPr>
              <a:t>02</a:t>
            </a:r>
            <a:endParaRPr lang="en-US" sz="1200" dirty="0"/>
          </a:p>
        </p:txBody>
      </p:sp>
      <p:sp>
        <p:nvSpPr>
          <p:cNvPr id="9" name="Text 7"/>
          <p:cNvSpPr/>
          <p:nvPr/>
        </p:nvSpPr>
        <p:spPr>
          <a:xfrm>
            <a:off x="4402733" y="3217267"/>
            <a:ext cx="3488335" cy="5842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7171A"/>
                </a:solidFill>
                <a:latin typeface="DM Sans" pitchFamily="34" charset="0"/>
                <a:ea typeface="DM Sans" pitchFamily="34" charset="-122"/>
                <a:cs typeface="DM Sans" pitchFamily="34" charset="-120"/>
              </a:rPr>
              <a:t>Make SEND vs COMMUNITY BOARD clear</a:t>
            </a:r>
            <a:endParaRPr lang="en-US" sz="1800" dirty="0"/>
          </a:p>
        </p:txBody>
      </p:sp>
      <p:sp>
        <p:nvSpPr>
          <p:cNvPr id="10" name="Shape 8"/>
          <p:cNvSpPr/>
          <p:nvPr/>
        </p:nvSpPr>
        <p:spPr>
          <a:xfrm>
            <a:off x="7992666" y="2782292"/>
            <a:ext cx="3386733" cy="0"/>
          </a:xfrm>
          <a:prstGeom prst="line">
            <a:avLst/>
          </a:prstGeom>
          <a:noFill/>
          <a:ln w="19050">
            <a:solidFill>
              <a:srgbClr val="17171A"/>
            </a:solidFill>
            <a:prstDash val="solid"/>
          </a:ln>
        </p:spPr>
        <p:txBody>
          <a:bodyPr/>
          <a:lstStyle/>
          <a:p>
            <a:endParaRPr lang="en-US"/>
          </a:p>
        </p:txBody>
      </p:sp>
      <p:sp>
        <p:nvSpPr>
          <p:cNvPr id="11" name="Text 9"/>
          <p:cNvSpPr/>
          <p:nvPr/>
        </p:nvSpPr>
        <p:spPr>
          <a:xfrm>
            <a:off x="7992666" y="2937867"/>
            <a:ext cx="3488335" cy="2286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171A"/>
                </a:solidFill>
                <a:latin typeface="DM Sans" pitchFamily="34" charset="0"/>
                <a:ea typeface="DM Sans" pitchFamily="34" charset="-122"/>
                <a:cs typeface="DM Sans" pitchFamily="34" charset="-120"/>
              </a:rPr>
              <a:t>03</a:t>
            </a:r>
            <a:endParaRPr lang="en-US" sz="1200" dirty="0"/>
          </a:p>
        </p:txBody>
      </p:sp>
      <p:sp>
        <p:nvSpPr>
          <p:cNvPr id="12" name="Text 10"/>
          <p:cNvSpPr/>
          <p:nvPr/>
        </p:nvSpPr>
        <p:spPr>
          <a:xfrm>
            <a:off x="7992666" y="3217267"/>
            <a:ext cx="3488335" cy="3048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7171A"/>
                </a:solidFill>
                <a:latin typeface="DM Sans" pitchFamily="34" charset="0"/>
                <a:ea typeface="DM Sans" pitchFamily="34" charset="-122"/>
                <a:cs typeface="DM Sans" pitchFamily="34" charset="-120"/>
              </a:rPr>
              <a:t>Add a first-use explainer</a:t>
            </a:r>
            <a:endParaRPr lang="en-US" sz="1800" dirty="0"/>
          </a:p>
        </p:txBody>
      </p:sp>
      <p:sp>
        <p:nvSpPr>
          <p:cNvPr id="13" name="Text 11"/>
          <p:cNvSpPr/>
          <p:nvPr/>
        </p:nvSpPr>
        <p:spPr>
          <a:xfrm>
            <a:off x="812800" y="4580334"/>
            <a:ext cx="1088339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171A"/>
                </a:solidFill>
                <a:latin typeface="DM Sans" pitchFamily="34" charset="0"/>
                <a:ea typeface="DM Sans" pitchFamily="34" charset="-122"/>
                <a:cs typeface="DM Sans" pitchFamily="34" charset="-120"/>
              </a:rPr>
              <a:t>Next: retest with 7–10 people → MVP with one friend group and one board → full rollout</a:t>
            </a:r>
            <a:endParaRPr lang="en-US" sz="1600" dirty="0"/>
          </a:p>
        </p:txBody>
      </p:sp>
      <p:sp>
        <p:nvSpPr>
          <p:cNvPr id="14" name="Text 12"/>
          <p:cNvSpPr/>
          <p:nvPr/>
        </p:nvSpPr>
        <p:spPr>
          <a:xfrm>
            <a:off x="812800" y="5664002"/>
            <a:ext cx="5468064" cy="40640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171A"/>
                </a:solidFill>
                <a:latin typeface="DM Sans" pitchFamily="34" charset="0"/>
                <a:ea typeface="DM Sans" pitchFamily="34" charset="-122"/>
                <a:cs typeface="DM Sans" pitchFamily="34" charset="-120"/>
              </a:rPr>
              <a:t>Thank you. Let’s keep BeReal real.</a:t>
            </a:r>
            <a:endParaRPr lang="en-US" sz="2200" dirty="0"/>
          </a:p>
        </p:txBody>
      </p:sp>
      <p:sp>
        <p:nvSpPr>
          <p:cNvPr id="15" name="Text 13"/>
          <p:cNvSpPr/>
          <p:nvPr/>
        </p:nvSpPr>
        <p:spPr>
          <a:xfrm>
            <a:off x="930498" y="6210029"/>
            <a:ext cx="3151335" cy="177872"/>
          </a:xfrm>
          <a:prstGeom prst="rect">
            <a:avLst/>
          </a:prstGeom>
          <a:noFill/>
          <a:ln/>
        </p:spPr>
        <p:txBody>
          <a:bodyPr wrap="square" lIns="0" tIns="0" rIns="0" bIns="0" rtlCol="0" anchor="t">
            <a:noAutofit/>
          </a:bodyPr>
          <a:lstStyle/>
          <a:p>
            <a:pPr algn="ctr">
              <a:lnSpc>
                <a:spcPts val="1680"/>
              </a:lnSpc>
            </a:pPr>
            <a:r>
              <a:rPr lang="en-US" sz="900" dirty="0">
                <a:solidFill>
                  <a:schemeClr val="bg1"/>
                </a:solidFill>
                <a:latin typeface="DM Sans" pitchFamily="34" charset="0"/>
                <a:ea typeface="DM Sans" pitchFamily="34" charset="-122"/>
                <a:cs typeface="DM Sans" pitchFamily="34" charset="-120"/>
              </a:rPr>
              <a:t>Lashawn Fofung, MBA, CSM, CSPO</a:t>
            </a:r>
            <a:endParaRPr lang="en-US" sz="900" dirty="0">
              <a:solidFill>
                <a:schemeClr val="bg1"/>
              </a:solidFill>
            </a:endParaRPr>
          </a:p>
        </p:txBody>
      </p:sp>
      <p:sp>
        <p:nvSpPr>
          <p:cNvPr id="16" name="Text 13">
            <a:extLst>
              <a:ext uri="{FF2B5EF4-FFF2-40B4-BE49-F238E27FC236}">
                <a16:creationId xmlns:a16="http://schemas.microsoft.com/office/drawing/2014/main" id="{CE8F2C69-5CA9-9659-1D49-0A32D9E16110}"/>
              </a:ext>
            </a:extLst>
          </p:cNvPr>
          <p:cNvSpPr/>
          <p:nvPr/>
        </p:nvSpPr>
        <p:spPr>
          <a:xfrm>
            <a:off x="524099" y="6488503"/>
            <a:ext cx="4896987" cy="177872"/>
          </a:xfrm>
          <a:prstGeom prst="rect">
            <a:avLst/>
          </a:prstGeom>
          <a:noFill/>
          <a:ln/>
        </p:spPr>
        <p:txBody>
          <a:bodyPr wrap="square" lIns="0" tIns="0" rIns="0" bIns="0" rtlCol="0" anchor="t">
            <a:noAutofit/>
          </a:bodyPr>
          <a:lstStyle/>
          <a:p>
            <a:pPr algn="ctr">
              <a:lnSpc>
                <a:spcPts val="1680"/>
              </a:lnSpc>
            </a:pPr>
            <a:r>
              <a:rPr lang="en-US" sz="900" dirty="0">
                <a:solidFill>
                  <a:schemeClr val="bg1"/>
                </a:solidFill>
                <a:latin typeface="DM Sans" pitchFamily="34" charset="0"/>
                <a:ea typeface="DM Sans" pitchFamily="34" charset="-122"/>
                <a:cs typeface="DM Sans" pitchFamily="34" charset="-120"/>
              </a:rPr>
              <a:t>Full Case Study:  </a:t>
            </a:r>
            <a:r>
              <a:rPr lang="en-US" sz="900" dirty="0">
                <a:solidFill>
                  <a:schemeClr val="bg1"/>
                </a:solidFill>
                <a:latin typeface="DM Sans" pitchFamily="34" charset="0"/>
                <a:ea typeface="DM Sans" pitchFamily="34" charset="-122"/>
                <a:cs typeface="DM Sans" pitchFamily="34" charset="-120"/>
                <a:hlinkClick r:id="rId3"/>
              </a:rPr>
              <a:t>BeReal Case Study – Real Passport And Community </a:t>
            </a:r>
            <a:r>
              <a:rPr lang="en-US" sz="900" dirty="0" err="1">
                <a:solidFill>
                  <a:schemeClr val="bg1"/>
                </a:solidFill>
                <a:latin typeface="DM Sans" pitchFamily="34" charset="0"/>
                <a:ea typeface="DM Sans" pitchFamily="34" charset="-122"/>
                <a:cs typeface="DM Sans" pitchFamily="34" charset="-120"/>
                <a:hlinkClick r:id="rId3"/>
              </a:rPr>
              <a:t>Boards.pdf</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BeReal Passport Pitch">
  <a:themeElements>
    <a:clrScheme name="BeReal Passport Pitch">
      <a:dk1>
        <a:srgbClr val="0E0E10"/>
      </a:dk1>
      <a:lt1>
        <a:srgbClr val="F5F4EF"/>
      </a:lt1>
      <a:dk2>
        <a:srgbClr val="252526"/>
      </a:dk2>
      <a:lt2>
        <a:srgbClr val="BBBBB7"/>
      </a:lt2>
      <a:accent1>
        <a:srgbClr val="FFDE59"/>
      </a:accent1>
      <a:accent2>
        <a:srgbClr val="44557A"/>
      </a:accent2>
      <a:accent3>
        <a:srgbClr val="B9B9C0"/>
      </a:accent3>
      <a:accent4>
        <a:srgbClr val="55555E"/>
      </a:accent4>
      <a:accent5>
        <a:srgbClr val="8A8A92"/>
      </a:accent5>
      <a:accent6>
        <a:srgbClr val="6A6A72"/>
      </a:accent6>
      <a:hlink>
        <a:srgbClr val="0563C1"/>
      </a:hlink>
      <a:folHlink>
        <a:srgbClr val="954F72"/>
      </a:folHlink>
    </a:clrScheme>
    <a:fontScheme name="BeReal Passport Pitch">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1207</Words>
  <Application>Microsoft Macintosh PowerPoint</Application>
  <PresentationFormat>Widescreen</PresentationFormat>
  <Paragraphs>98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DM Sans</vt:lpstr>
      <vt:lpstr>BeReal Passport Pitch</vt:lpstr>
      <vt:lpstr>People love BeReal. Then they drift away.</vt:lpstr>
      <vt:lpstr>Three reasons people stop posting</vt:lpstr>
      <vt:lpstr>BeReal Passport &amp; Community Boards</vt:lpstr>
      <vt:lpstr>Four steps, one habit loop</vt:lpstr>
      <vt:lpstr>4 of 5 would open BeReal more often</vt:lpstr>
      <vt:lpstr>Bring back the users BeReal is losing</vt:lpstr>
      <vt:lpstr>Refine, then retest.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BeReal Passport Pitch</dc:title>
  <dc:subject/>
  <dc:creator/>
  <cp:lastModifiedBy>Lashawn Fofung</cp:lastModifiedBy>
  <cp:revision>14</cp:revision>
  <dcterms:created xsi:type="dcterms:W3CDTF">2026-10-24T17:13:15Z</dcterms:created>
  <dcterms:modified xsi:type="dcterms:W3CDTF">2026-10-26T01:32:48Z</dcterms:modified>
</cp:coreProperties>
</file>