
<file path=[Content_Types].xml><?xml version="1.0" encoding="utf-8"?>
<Types xmlns="http://schemas.openxmlformats.org/package/2006/content-types">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38"/>
  </p:notesMasterIdLst>
  <p:sldIdLst>
    <p:sldId id="256" r:id="rId2"/>
    <p:sldId id="257" r:id="rId3"/>
    <p:sldId id="295" r:id="rId4"/>
    <p:sldId id="291" r:id="rId5"/>
    <p:sldId id="258" r:id="rId6"/>
    <p:sldId id="288" r:id="rId7"/>
    <p:sldId id="292"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8" r:id="rId26"/>
    <p:sldId id="277" r:id="rId27"/>
    <p:sldId id="293" r:id="rId28"/>
    <p:sldId id="281" r:id="rId29"/>
    <p:sldId id="282" r:id="rId30"/>
    <p:sldId id="283" r:id="rId31"/>
    <p:sldId id="294" r:id="rId32"/>
    <p:sldId id="284" r:id="rId33"/>
    <p:sldId id="285" r:id="rId34"/>
    <p:sldId id="286" r:id="rId35"/>
    <p:sldId id="290" r:id="rId36"/>
    <p:sldId id="276" r:id="rId37"/>
  </p:sldIdLst>
  <p:sldSz cx="18288000" cy="10287000"/>
  <p:notesSz cx="6858000" cy="9144000"/>
  <p:embeddedFontLst>
    <p:embeddedFont>
      <p:font typeface="Arial Bold" panose="020B0704020202020204" pitchFamily="34" charset="0"/>
      <p:regular r:id="rId39"/>
      <p:bold r:id="rId40"/>
    </p:embeddedFont>
    <p:embeddedFont>
      <p:font typeface="Arial Bold Italics" panose="020B0704020202090204" pitchFamily="34" charset="0"/>
      <p:regular r:id="rId41"/>
      <p:bold r:id="rId42"/>
      <p:italic r:id="rId43"/>
      <p:boldItalic r:id="rId44"/>
    </p:embeddedFont>
    <p:embeddedFont>
      <p:font typeface="Arial Italics" panose="020B0604020202090204" pitchFamily="34" charset="0"/>
      <p:regular r:id="rId45"/>
      <p:italic r:id="rId46"/>
    </p:embeddedFont>
    <p:embeddedFont>
      <p:font typeface="Calibri (MS)" panose="020F0502020204030204" pitchFamily="34" charset="0"/>
      <p:regular r:id="rId47"/>
    </p:embeddedFont>
    <p:embeddedFont>
      <p:font typeface="Calibri (MS) Bold" panose="020F0702030404030204" pitchFamily="34" charset="0"/>
      <p:regular r:id="rId48"/>
      <p:bold r:id="rId49"/>
    </p:embeddedFont>
    <p:embeddedFont>
      <p:font typeface="Calibri (MS) Bold Italics" panose="020F07020304040A0204" pitchFamily="34" charset="0"/>
      <p:regular r:id="rId50"/>
      <p:bold r:id="rId51"/>
      <p:italic r:id="rId52"/>
      <p:boldItalic r:id="rId53"/>
    </p:embeddedFont>
    <p:embeddedFont>
      <p:font typeface="Calibri (MS) Italics" panose="020F05020202040A0204" pitchFamily="34" charset="0"/>
      <p:regular r:id="rId54"/>
      <p:italic r:id="rId55"/>
    </p:embeddedFont>
    <p:embeddedFont>
      <p:font typeface="Cambria Bold Italics" panose="020408030504060A0204" pitchFamily="18" charset="0"/>
      <p:regular r:id="rId56"/>
      <p:bold r:id="rId57"/>
      <p:italic r:id="rId58"/>
      <p:boldItalic r:id="rId59"/>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DE5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8715" autoAdjust="0"/>
    <p:restoredTop sz="94454" autoAdjust="0"/>
  </p:normalViewPr>
  <p:slideViewPr>
    <p:cSldViewPr>
      <p:cViewPr>
        <p:scale>
          <a:sx n="65" d="100"/>
          <a:sy n="65" d="100"/>
        </p:scale>
        <p:origin x="56" y="208"/>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font" Target="fonts/font1.fntdata"/><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font" Target="fonts/font4.fntdata"/><Relationship Id="rId47" Type="http://schemas.openxmlformats.org/officeDocument/2006/relationships/font" Target="fonts/font9.fntdata"/><Relationship Id="rId50" Type="http://schemas.openxmlformats.org/officeDocument/2006/relationships/font" Target="fonts/font12.fntdata"/><Relationship Id="rId55" Type="http://schemas.openxmlformats.org/officeDocument/2006/relationships/font" Target="fonts/font17.fntdata"/><Relationship Id="rId63"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font" Target="fonts/font2.fntdata"/><Relationship Id="rId45" Type="http://schemas.openxmlformats.org/officeDocument/2006/relationships/font" Target="fonts/font7.fntdata"/><Relationship Id="rId53" Type="http://schemas.openxmlformats.org/officeDocument/2006/relationships/font" Target="fonts/font15.fntdata"/><Relationship Id="rId58" Type="http://schemas.openxmlformats.org/officeDocument/2006/relationships/font" Target="fonts/font20.fntdata"/><Relationship Id="rId5" Type="http://schemas.openxmlformats.org/officeDocument/2006/relationships/slide" Target="slides/slide4.xml"/><Relationship Id="rId61" Type="http://schemas.openxmlformats.org/officeDocument/2006/relationships/viewProps" Target="viewProps.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font" Target="fonts/font5.fntdata"/><Relationship Id="rId48" Type="http://schemas.openxmlformats.org/officeDocument/2006/relationships/font" Target="fonts/font10.fntdata"/><Relationship Id="rId56" Type="http://schemas.openxmlformats.org/officeDocument/2006/relationships/font" Target="fonts/font18.fntdata"/><Relationship Id="rId8" Type="http://schemas.openxmlformats.org/officeDocument/2006/relationships/slide" Target="slides/slide7.xml"/><Relationship Id="rId51" Type="http://schemas.openxmlformats.org/officeDocument/2006/relationships/font" Target="fonts/font13.fntdata"/><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notesMaster" Target="notesMasters/notesMaster1.xml"/><Relationship Id="rId46" Type="http://schemas.openxmlformats.org/officeDocument/2006/relationships/font" Target="fonts/font8.fntdata"/><Relationship Id="rId59" Type="http://schemas.openxmlformats.org/officeDocument/2006/relationships/font" Target="fonts/font21.fntdata"/><Relationship Id="rId20" Type="http://schemas.openxmlformats.org/officeDocument/2006/relationships/slide" Target="slides/slide19.xml"/><Relationship Id="rId41" Type="http://schemas.openxmlformats.org/officeDocument/2006/relationships/font" Target="fonts/font3.fntdata"/><Relationship Id="rId54" Type="http://schemas.openxmlformats.org/officeDocument/2006/relationships/font" Target="fonts/font16.fntdata"/><Relationship Id="rId62"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font" Target="fonts/font11.fntdata"/><Relationship Id="rId57" Type="http://schemas.openxmlformats.org/officeDocument/2006/relationships/font" Target="fonts/font19.fntdata"/><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font" Target="fonts/font6.fntdata"/><Relationship Id="rId52" Type="http://schemas.openxmlformats.org/officeDocument/2006/relationships/font" Target="fonts/font14.fntdata"/><Relationship Id="rId6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27.10.2026</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3" Type="http://schemas.openxmlformats.org/officeDocument/2006/relationships/hyperlink" Target="https://en.wikipedia.org/wiki/BeReal" TargetMode="External"/><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Hi, I’m Lashawn Fofung. This is my case study for BeReal Passport and Community Boards: a feature I designed, prototyped and tested to bring casual users back to BeReal, without adding pressure to post. I’ll walk you through the research, the design, what users told me in testing, and what I’d recommend next.</a:t>
            </a:r>
          </a:p>
          <a:p>
            <a:endParaRPr lang="en-US" dirty="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dirty="0"/>
              <a:t>Here’s the project at a glance. I worked as both the UI/UX designer and the product manager. The work moved in five steps: a teardown of BeReal, a persona and journey map, the user flow and screens, a clickable prototype tested with five people, and finally a recommendation and pitch. I used Canva for design, Claude to build the clickable prototype and promo reel, Google Forms for the survey, and GitHub Pages to host the prototype. [pause] The short version of the outcome: four of five testers said they’d open BeReal more often.</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dirty="0"/>
              <a:t>Here’s how this is organized, in four parts. First, the problem and the research behind it. Second, the design: the user flow, the screens, and the decisions behind them. Third, what happened in user testing. And fourth, my recommendation and what I learned.</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dirty="0"/>
              <a:t>Let’s start with the problem, and what the research showed.</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BeReal’s mission is authentic daily sharing, but it struggles to keep people coming back. I framed four problems: the slump after the notification, a single touchpoint per day, a passive feed, and casual users dropping off. The enhancement answers each one: a midnight theme prompt, squad board collages, collectible passport stamps and a monthly capsule. The 2.5 times daily-opens figure is my target, which I’d validate in an MVP.</a:t>
            </a:r>
          </a:p>
          <a:p>
            <a:endParaRPr lang="en-US" dirty="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dirty="0"/>
              <a:t>The research backs this up. BeReal’s daily users fell from about 15 million to about 6 million in a matter of months, according to The New York Times. [pause] My journey map follows Denise, an introverted first-time user. At the prompt stage, she feels stressed and put on the spot by the two-minute window, and the gated feed shuts her out unless she posts. My takeaway: more urgency won’t bring people back. They need a better reason to post.</a:t>
            </a:r>
          </a:p>
          <a:p>
            <a:endParaRPr lang="en-US" dirty="0"/>
          </a:p>
          <a:p>
            <a:endParaRPr lang="en-US" dirty="0"/>
          </a:p>
          <a:p>
            <a:r>
              <a:rPr lang="en-US" sz="1200" b="0" i="0" u="none" strike="noStrike" kern="1200" dirty="0">
                <a:solidFill>
                  <a:schemeClr val="tx1"/>
                </a:solidFill>
                <a:effectLst/>
                <a:latin typeface="+mn-lt"/>
                <a:ea typeface="+mn-ea"/>
                <a:cs typeface="+mn-cs"/>
              </a:rPr>
              <a:t>Notation: Source for the daily-user figure: </a:t>
            </a:r>
            <a:r>
              <a:rPr lang="en-US" b="0" i="0" dirty="0">
                <a:effectLst/>
                <a:hlinkClick r:id="rId3"/>
              </a:rPr>
              <a:t>BeReal (Wikipedia)</a:t>
            </a:r>
            <a:r>
              <a:rPr lang="en-US" sz="1200" b="0" i="0" u="none" strike="noStrike" kern="1200" dirty="0">
                <a:solidFill>
                  <a:schemeClr val="tx1"/>
                </a:solidFill>
                <a:effectLst/>
                <a:latin typeface="+mn-lt"/>
                <a:ea typeface="+mn-ea"/>
                <a:cs typeface="+mn-cs"/>
              </a:rPr>
              <a:t>, citing </a:t>
            </a:r>
            <a:r>
              <a:rPr lang="en-US" sz="1200" b="0" i="1" kern="1200" dirty="0">
                <a:solidFill>
                  <a:schemeClr val="tx1"/>
                </a:solidFill>
                <a:effectLst/>
                <a:latin typeface="+mn-lt"/>
                <a:ea typeface="+mn-ea"/>
                <a:cs typeface="+mn-cs"/>
              </a:rPr>
              <a:t>The New York Times</a:t>
            </a:r>
            <a:r>
              <a:rPr lang="en-US" sz="1200" b="0" i="0" u="none" strike="noStrike" kern="1200" dirty="0">
                <a:solidFill>
                  <a:schemeClr val="tx1"/>
                </a:solidFill>
                <a:effectLst/>
                <a:latin typeface="+mn-lt"/>
                <a:ea typeface="+mn-ea"/>
                <a:cs typeface="+mn-cs"/>
              </a:rPr>
              <a:t>, “They’re Over Being Real” (April 13, 2023).</a:t>
            </a:r>
            <a:endParaRPr lang="en-US" dirty="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dirty="0"/>
              <a:t>Now that we know why people drift away, let’s look at how I designed a better reason to come back.</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dirty="0"/>
              <a:t>I designed a seven-screen habit loop: the Today screen, capture toggle, board select, post confirm, capsule and board details, Passport and leaderboard, and settings. It loops back to the Today screen the next day with a fresh theme. First-time users see a one-time intro; returning users go straight to the boards.</a:t>
            </a:r>
          </a:p>
          <a:p>
            <a:endParaRPr lang="en-US" dirty="0"/>
          </a:p>
          <a:p>
            <a:endParaRPr lang="en-US" dirty="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dirty="0"/>
              <a:t>Here’s what each screen does. Today shows the daily theme, a reminder bubble and a come-back banner. The capture toggle lets you choose a themed post or a regular one. Board select, post confirm, the capsule, the Passport, the leaderboard and settings complete the loop, including the option to opt out of any board.</a:t>
            </a:r>
          </a:p>
          <a:p>
            <a:endParaRPr lang="en-US" dirty="0"/>
          </a:p>
          <a:p>
            <a:endParaRPr lang="en-US" dirty="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dirty="0"/>
              <a:t>Tone mattered as much as features. The empty state says it best: “No one’s posted to this board yet — be the first!” It would have been easy to make that a dead end or a guilt trip. Instead, it stays warm and inviting, the way BeReal talks everywhere else.</a:t>
            </a:r>
          </a:p>
          <a:p>
            <a:endParaRPr lang="en-US" dirty="0"/>
          </a:p>
          <a:p>
            <a:endParaRPr lang="en-US" dirty="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dirty="0"/>
              <a:t>Beyond tone, I designed for more than the happy path: empty, loading, success and error. Each state has its own message, from “Stamping your passport…” to “That didn’t go through — let’s try again.”</a:t>
            </a:r>
          </a:p>
          <a:p>
            <a:endParaRPr lang="en-US" dirty="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These are the hooks that bring people back, built to invite rather than pressure. A reminder bubble sparks curiosity: “3 friends already posted to Coffee today.” A soft streak cue has no loss framing. And a come-back banner sets up tomorrow without pushing.</a:t>
            </a:r>
          </a:p>
          <a:p>
            <a:endParaRPr lang="en-US" dirty="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290763" y="512763"/>
            <a:ext cx="4562475" cy="2566987"/>
          </a:xfrm>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Here’s the concept in one line: your daily BeReal, now stamped. You capture first, pick a board, collect a stamp, and archive the month together. The design principles are a pitch-black canvas, the candid dual-camera feel, tactile stamp ink, private squad reactions, and a monthly collection loop.</a:t>
            </a:r>
          </a:p>
          <a:p>
            <a:endParaRPr lang="en-US" dirty="0"/>
          </a:p>
        </p:txBody>
      </p:sp>
      <p:sp>
        <p:nvSpPr>
          <p:cNvPr id="4" name="Slide Number Placeholder 3"/>
          <p:cNvSpPr>
            <a:spLocks noGrp="1"/>
          </p:cNvSpPr>
          <p:nvPr>
            <p:ph type="sldNum" sz="quarter" idx="5"/>
          </p:nvPr>
        </p:nvSpPr>
        <p:spPr/>
        <p:txBody>
          <a:bodyPr/>
          <a:lstStyle/>
          <a:p>
            <a:fld id="{871B2431-D351-4C6E-A3CF-9DFAC0E3E050}" type="slidenum">
              <a:rPr lang="cs-CZ" smtClean="0"/>
              <a:t>13</a:t>
            </a:fld>
            <a:endParaRPr lang="cs-CZ"/>
          </a:p>
        </p:txBody>
      </p:sp>
    </p:spTree>
    <p:extLst>
      <p:ext uri="{BB962C8B-B14F-4D97-AF65-F5344CB8AC3E}">
        <p14:creationId xmlns:p14="http://schemas.microsoft.com/office/powerpoint/2010/main" val="305749153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290763" y="512763"/>
            <a:ext cx="4562475" cy="2566987"/>
          </a:xfrm>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Let’s walk through the flow. A new user gets an alert at 12:00 AM local time when the month’s boards open. It isn’t a timed post; they open the app whenever it suits them. Community Boards are opt-in, so nothing changes unless they choose to join.</a:t>
            </a:r>
          </a:p>
          <a:p>
            <a:endParaRPr lang="en-US" dirty="0"/>
          </a:p>
        </p:txBody>
      </p:sp>
      <p:sp>
        <p:nvSpPr>
          <p:cNvPr id="4" name="Slide Number Placeholder 3"/>
          <p:cNvSpPr>
            <a:spLocks noGrp="1"/>
          </p:cNvSpPr>
          <p:nvPr>
            <p:ph type="sldNum" sz="quarter" idx="5"/>
          </p:nvPr>
        </p:nvSpPr>
        <p:spPr/>
        <p:txBody>
          <a:bodyPr/>
          <a:lstStyle/>
          <a:p>
            <a:fld id="{871B2431-D351-4C6E-A3CF-9DFAC0E3E050}" type="slidenum">
              <a:rPr lang="cs-CZ" smtClean="0"/>
              <a:t>14</a:t>
            </a:fld>
            <a:endParaRPr lang="cs-CZ"/>
          </a:p>
        </p:txBody>
      </p:sp>
    </p:spTree>
    <p:extLst>
      <p:ext uri="{BB962C8B-B14F-4D97-AF65-F5344CB8AC3E}">
        <p14:creationId xmlns:p14="http://schemas.microsoft.com/office/powerpoint/2010/main" val="333190993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290763" y="512763"/>
            <a:ext cx="4562475" cy="2566987"/>
          </a:xfrm>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After taking a photo, the user chooses the post type. SEND is a regular post with no passport. COMMUNITY BOARD is a themed post that adds a stamp. The board choice comes after the photo, so capturing stays as fast as it is today.</a:t>
            </a:r>
          </a:p>
          <a:p>
            <a:endParaRPr lang="en-US" dirty="0"/>
          </a:p>
        </p:txBody>
      </p:sp>
      <p:sp>
        <p:nvSpPr>
          <p:cNvPr id="4" name="Slide Number Placeholder 3"/>
          <p:cNvSpPr>
            <a:spLocks noGrp="1"/>
          </p:cNvSpPr>
          <p:nvPr>
            <p:ph type="sldNum" sz="quarter" idx="5"/>
          </p:nvPr>
        </p:nvSpPr>
        <p:spPr/>
        <p:txBody>
          <a:bodyPr/>
          <a:lstStyle/>
          <a:p>
            <a:fld id="{871B2431-D351-4C6E-A3CF-9DFAC0E3E050}" type="slidenum">
              <a:rPr lang="cs-CZ" smtClean="0"/>
              <a:t>15</a:t>
            </a:fld>
            <a:endParaRPr lang="cs-CZ"/>
          </a:p>
        </p:txBody>
      </p:sp>
    </p:spTree>
    <p:extLst>
      <p:ext uri="{BB962C8B-B14F-4D97-AF65-F5344CB8AC3E}">
        <p14:creationId xmlns:p14="http://schemas.microsoft.com/office/powerpoint/2010/main" val="173230305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290763" y="512763"/>
            <a:ext cx="4562475" cy="2566987"/>
          </a:xfrm>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Next, they pick a board. The selected card switches from grey to white with the board’s name, and its lock icon changes to unlocked, so the choice is confirmed at a glance.</a:t>
            </a:r>
          </a:p>
          <a:p>
            <a:endParaRPr lang="en-US" dirty="0"/>
          </a:p>
        </p:txBody>
      </p:sp>
      <p:sp>
        <p:nvSpPr>
          <p:cNvPr id="4" name="Slide Number Placeholder 3"/>
          <p:cNvSpPr>
            <a:spLocks noGrp="1"/>
          </p:cNvSpPr>
          <p:nvPr>
            <p:ph type="sldNum" sz="quarter" idx="5"/>
          </p:nvPr>
        </p:nvSpPr>
        <p:spPr/>
        <p:txBody>
          <a:bodyPr/>
          <a:lstStyle/>
          <a:p>
            <a:fld id="{871B2431-D351-4C6E-A3CF-9DFAC0E3E050}" type="slidenum">
              <a:rPr lang="cs-CZ" smtClean="0"/>
              <a:t>16</a:t>
            </a:fld>
            <a:endParaRPr lang="cs-CZ"/>
          </a:p>
        </p:txBody>
      </p:sp>
    </p:spTree>
    <p:extLst>
      <p:ext uri="{BB962C8B-B14F-4D97-AF65-F5344CB8AC3E}">
        <p14:creationId xmlns:p14="http://schemas.microsoft.com/office/powerpoint/2010/main" val="48655067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290763" y="512763"/>
            <a:ext cx="4562475" cy="2566987"/>
          </a:xfrm>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Post confirm covers every state: a loading message, “Stamping your passport…”, then “Stamp earned! Added to the Cramming board.” If something goes wrong, the error message invites them to try again.</a:t>
            </a:r>
          </a:p>
          <a:p>
            <a:endParaRPr lang="en-US" dirty="0"/>
          </a:p>
        </p:txBody>
      </p:sp>
      <p:sp>
        <p:nvSpPr>
          <p:cNvPr id="4" name="Slide Number Placeholder 3"/>
          <p:cNvSpPr>
            <a:spLocks noGrp="1"/>
          </p:cNvSpPr>
          <p:nvPr>
            <p:ph type="sldNum" sz="quarter" idx="5"/>
          </p:nvPr>
        </p:nvSpPr>
        <p:spPr/>
        <p:txBody>
          <a:bodyPr/>
          <a:lstStyle/>
          <a:p>
            <a:fld id="{871B2431-D351-4C6E-A3CF-9DFAC0E3E050}" type="slidenum">
              <a:rPr lang="cs-CZ" smtClean="0"/>
              <a:t>17</a:t>
            </a:fld>
            <a:endParaRPr lang="cs-CZ"/>
          </a:p>
        </p:txBody>
      </p:sp>
    </p:spTree>
    <p:extLst>
      <p:ext uri="{BB962C8B-B14F-4D97-AF65-F5344CB8AC3E}">
        <p14:creationId xmlns:p14="http://schemas.microsoft.com/office/powerpoint/2010/main" val="1726858352"/>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290763" y="512763"/>
            <a:ext cx="4562475" cy="2566987"/>
          </a:xfrm>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The post then lands in the Cramming board feed with its passport stamp, alongside friends’ stamped posts.</a:t>
            </a:r>
          </a:p>
          <a:p>
            <a:endParaRPr lang="en-US" dirty="0"/>
          </a:p>
        </p:txBody>
      </p:sp>
      <p:sp>
        <p:nvSpPr>
          <p:cNvPr id="4" name="Slide Number Placeholder 3"/>
          <p:cNvSpPr>
            <a:spLocks noGrp="1"/>
          </p:cNvSpPr>
          <p:nvPr>
            <p:ph type="sldNum" sz="quarter" idx="5"/>
          </p:nvPr>
        </p:nvSpPr>
        <p:spPr/>
        <p:txBody>
          <a:bodyPr/>
          <a:lstStyle/>
          <a:p>
            <a:fld id="{871B2431-D351-4C6E-A3CF-9DFAC0E3E050}" type="slidenum">
              <a:rPr lang="cs-CZ" smtClean="0"/>
              <a:t>18</a:t>
            </a:fld>
            <a:endParaRPr lang="cs-CZ"/>
          </a:p>
        </p:txBody>
      </p:sp>
    </p:spTree>
    <p:extLst>
      <p:ext uri="{BB962C8B-B14F-4D97-AF65-F5344CB8AC3E}">
        <p14:creationId xmlns:p14="http://schemas.microsoft.com/office/powerpoint/2010/main" val="788633858"/>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290763" y="512763"/>
            <a:ext cx="4562475" cy="2566987"/>
          </a:xfrm>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Returning users see the month’s snapshot: every board, themed and sponsored, with its lock state, its stamp, the friends who’ve posted and the number of posts, plus a daily prompt.</a:t>
            </a:r>
          </a:p>
          <a:p>
            <a:endParaRPr lang="en-US" dirty="0"/>
          </a:p>
        </p:txBody>
      </p:sp>
      <p:sp>
        <p:nvSpPr>
          <p:cNvPr id="4" name="Slide Number Placeholder 3"/>
          <p:cNvSpPr>
            <a:spLocks noGrp="1"/>
          </p:cNvSpPr>
          <p:nvPr>
            <p:ph type="sldNum" sz="quarter" idx="5"/>
          </p:nvPr>
        </p:nvSpPr>
        <p:spPr/>
        <p:txBody>
          <a:bodyPr/>
          <a:lstStyle/>
          <a:p>
            <a:fld id="{871B2431-D351-4C6E-A3CF-9DFAC0E3E050}" type="slidenum">
              <a:rPr lang="cs-CZ" smtClean="0"/>
              <a:t>19</a:t>
            </a:fld>
            <a:endParaRPr lang="cs-CZ"/>
          </a:p>
        </p:txBody>
      </p:sp>
    </p:spTree>
    <p:extLst>
      <p:ext uri="{BB962C8B-B14F-4D97-AF65-F5344CB8AC3E}">
        <p14:creationId xmlns:p14="http://schemas.microsoft.com/office/powerpoint/2010/main" val="3446937257"/>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290763" y="512763"/>
            <a:ext cx="4562475" cy="2566987"/>
          </a:xfrm>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Here are the three reminders in context: a notification that friends have posted, a soft streak cue, and a come-back banner. None of them uses loss framing.</a:t>
            </a:r>
          </a:p>
          <a:p>
            <a:endParaRPr lang="en-US" dirty="0"/>
          </a:p>
        </p:txBody>
      </p:sp>
      <p:sp>
        <p:nvSpPr>
          <p:cNvPr id="4" name="Slide Number Placeholder 3"/>
          <p:cNvSpPr>
            <a:spLocks noGrp="1"/>
          </p:cNvSpPr>
          <p:nvPr>
            <p:ph type="sldNum" sz="quarter" idx="5"/>
          </p:nvPr>
        </p:nvSpPr>
        <p:spPr/>
        <p:txBody>
          <a:bodyPr/>
          <a:lstStyle/>
          <a:p>
            <a:fld id="{871B2431-D351-4C6E-A3CF-9DFAC0E3E050}" type="slidenum">
              <a:rPr lang="cs-CZ" smtClean="0"/>
              <a:t>20</a:t>
            </a:fld>
            <a:endParaRPr lang="cs-CZ"/>
          </a:p>
        </p:txBody>
      </p:sp>
    </p:spTree>
    <p:extLst>
      <p:ext uri="{BB962C8B-B14F-4D97-AF65-F5344CB8AC3E}">
        <p14:creationId xmlns:p14="http://schemas.microsoft.com/office/powerpoint/2010/main" val="2216609432"/>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290763" y="512763"/>
            <a:ext cx="4562475" cy="2566987"/>
          </a:xfrm>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When a month ends, its board is saved to Memories as capsules. You can browse them as a carousel or a collage, open any post, and see who took part.</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endParaRPr lang="en-US" dirty="0"/>
          </a:p>
        </p:txBody>
      </p:sp>
      <p:sp>
        <p:nvSpPr>
          <p:cNvPr id="4" name="Slide Number Placeholder 3"/>
          <p:cNvSpPr>
            <a:spLocks noGrp="1"/>
          </p:cNvSpPr>
          <p:nvPr>
            <p:ph type="sldNum" sz="quarter" idx="5"/>
          </p:nvPr>
        </p:nvSpPr>
        <p:spPr/>
        <p:txBody>
          <a:bodyPr/>
          <a:lstStyle/>
          <a:p>
            <a:fld id="{871B2431-D351-4C6E-A3CF-9DFAC0E3E050}" type="slidenum">
              <a:rPr lang="cs-CZ" smtClean="0"/>
              <a:t>21</a:t>
            </a:fld>
            <a:endParaRPr lang="cs-CZ"/>
          </a:p>
        </p:txBody>
      </p:sp>
    </p:spTree>
    <p:extLst>
      <p:ext uri="{BB962C8B-B14F-4D97-AF65-F5344CB8AC3E}">
        <p14:creationId xmlns:p14="http://schemas.microsoft.com/office/powerpoint/2010/main" val="2343963644"/>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290763" y="512763"/>
            <a:ext cx="4562475" cy="2566987"/>
          </a:xfrm>
        </p:spPr>
      </p:sp>
      <p:sp>
        <p:nvSpPr>
          <p:cNvPr id="3" name="Notes Placeholder 2"/>
          <p:cNvSpPr>
            <a:spLocks noGrp="1"/>
          </p:cNvSpPr>
          <p:nvPr>
            <p:ph type="body" idx="1"/>
          </p:nvPr>
        </p:nvSpPr>
        <p:spPr/>
        <p:txBody>
          <a:bodyPr/>
          <a:lstStyle/>
          <a:p>
            <a:r>
              <a:rPr lang="en-US" dirty="0"/>
              <a:t>Then there’s the Passport itself: the collection. New stamp designs launch every month, including sponsored ones, which opens a future monetization path. The whole collection lives in its own Passport tab.</a:t>
            </a:r>
          </a:p>
          <a:p>
            <a:endParaRPr lang="en-US" dirty="0"/>
          </a:p>
        </p:txBody>
      </p:sp>
      <p:sp>
        <p:nvSpPr>
          <p:cNvPr id="4" name="Slide Number Placeholder 3"/>
          <p:cNvSpPr>
            <a:spLocks noGrp="1"/>
          </p:cNvSpPr>
          <p:nvPr>
            <p:ph type="sldNum" sz="quarter" idx="5"/>
          </p:nvPr>
        </p:nvSpPr>
        <p:spPr/>
        <p:txBody>
          <a:bodyPr/>
          <a:lstStyle/>
          <a:p>
            <a:fld id="{871B2431-D351-4C6E-A3CF-9DFAC0E3E050}" type="slidenum">
              <a:rPr lang="cs-CZ" smtClean="0"/>
              <a:t>22</a:t>
            </a:fld>
            <a:endParaRPr lang="cs-CZ"/>
          </a:p>
        </p:txBody>
      </p:sp>
    </p:spTree>
    <p:extLst>
      <p:ext uri="{BB962C8B-B14F-4D97-AF65-F5344CB8AC3E}">
        <p14:creationId xmlns:p14="http://schemas.microsoft.com/office/powerpoint/2010/main" val="4069978886"/>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290763" y="512763"/>
            <a:ext cx="4562475" cy="2566987"/>
          </a:xfrm>
        </p:spPr>
      </p:sp>
      <p:sp>
        <p:nvSpPr>
          <p:cNvPr id="3" name="Notes Placeholder 2"/>
          <p:cNvSpPr>
            <a:spLocks noGrp="1"/>
          </p:cNvSpPr>
          <p:nvPr>
            <p:ph type="body" idx="1"/>
          </p:nvPr>
        </p:nvSpPr>
        <p:spPr/>
        <p:txBody>
          <a:bodyPr/>
          <a:lstStyle/>
          <a:p>
            <a:r>
              <a:rPr lang="en-US" dirty="0"/>
              <a:t>Alongside the collection, the leaderboard shows a squad stamp tally, your collection, and a quick link to the capsule carousel. It also works as a landing page for notifications and feature announcements.</a:t>
            </a:r>
          </a:p>
          <a:p>
            <a:endParaRPr lang="en-US" dirty="0"/>
          </a:p>
        </p:txBody>
      </p:sp>
      <p:sp>
        <p:nvSpPr>
          <p:cNvPr id="4" name="Slide Number Placeholder 3"/>
          <p:cNvSpPr>
            <a:spLocks noGrp="1"/>
          </p:cNvSpPr>
          <p:nvPr>
            <p:ph type="sldNum" sz="quarter" idx="5"/>
          </p:nvPr>
        </p:nvSpPr>
        <p:spPr/>
        <p:txBody>
          <a:bodyPr/>
          <a:lstStyle/>
          <a:p>
            <a:fld id="{871B2431-D351-4C6E-A3CF-9DFAC0E3E050}" type="slidenum">
              <a:rPr lang="cs-CZ" smtClean="0"/>
              <a:t>23</a:t>
            </a:fld>
            <a:endParaRPr lang="cs-CZ"/>
          </a:p>
        </p:txBody>
      </p:sp>
    </p:spTree>
    <p:extLst>
      <p:ext uri="{BB962C8B-B14F-4D97-AF65-F5344CB8AC3E}">
        <p14:creationId xmlns:p14="http://schemas.microsoft.com/office/powerpoint/2010/main" val="120046124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290763" y="512763"/>
            <a:ext cx="4562475" cy="2566987"/>
          </a:xfrm>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And settings let users opt in or out of each board at any time, so they’re always in control.</a:t>
            </a:r>
          </a:p>
          <a:p>
            <a:endParaRPr lang="en-US" dirty="0"/>
          </a:p>
        </p:txBody>
      </p:sp>
      <p:sp>
        <p:nvSpPr>
          <p:cNvPr id="4" name="Slide Number Placeholder 3"/>
          <p:cNvSpPr>
            <a:spLocks noGrp="1"/>
          </p:cNvSpPr>
          <p:nvPr>
            <p:ph type="sldNum" sz="quarter" idx="5"/>
          </p:nvPr>
        </p:nvSpPr>
        <p:spPr/>
        <p:txBody>
          <a:bodyPr/>
          <a:lstStyle/>
          <a:p>
            <a:fld id="{871B2431-D351-4C6E-A3CF-9DFAC0E3E050}" type="slidenum">
              <a:rPr lang="cs-CZ" smtClean="0"/>
              <a:t>24</a:t>
            </a:fld>
            <a:endParaRPr lang="cs-CZ"/>
          </a:p>
        </p:txBody>
      </p:sp>
    </p:spTree>
    <p:extLst>
      <p:ext uri="{BB962C8B-B14F-4D97-AF65-F5344CB8AC3E}">
        <p14:creationId xmlns:p14="http://schemas.microsoft.com/office/powerpoint/2010/main" val="3642510266"/>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Behind these screens were some deliberate trade-offs. I put the board choice after the photo to keep capture instant, at the cost of an extra step, which testers did notice. Boards are opt-in only, which protects the experience but limits reach at launch. Reactions stay inside the squad, with no public likes. Hooks invite instead of guilt, which is a softer nudge than classic streaks. And boards close every month, so they become a keepsake, not a treadmill.</a:t>
            </a:r>
          </a:p>
          <a:p>
            <a:endParaRPr lang="en-US" dirty="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290763" y="512763"/>
            <a:ext cx="4562475" cy="2566987"/>
          </a:xfrm>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That’s why I’d argue it still feels like BeReal: it’s additive, not addictive. Same real photo, opt-in only, time-boxed, and no shame mechanics.</a:t>
            </a:r>
          </a:p>
          <a:p>
            <a:endParaRPr lang="en-US" dirty="0"/>
          </a:p>
        </p:txBody>
      </p:sp>
      <p:sp>
        <p:nvSpPr>
          <p:cNvPr id="4" name="Slide Number Placeholder 3"/>
          <p:cNvSpPr>
            <a:spLocks noGrp="1"/>
          </p:cNvSpPr>
          <p:nvPr>
            <p:ph type="sldNum" sz="quarter" idx="5"/>
          </p:nvPr>
        </p:nvSpPr>
        <p:spPr/>
        <p:txBody>
          <a:bodyPr/>
          <a:lstStyle/>
          <a:p>
            <a:fld id="{871B2431-D351-4C6E-A3CF-9DFAC0E3E050}" type="slidenum">
              <a:rPr lang="cs-CZ" smtClean="0"/>
              <a:t>26</a:t>
            </a:fld>
            <a:endParaRPr lang="cs-CZ"/>
          </a:p>
        </p:txBody>
      </p:sp>
    </p:spTree>
    <p:extLst>
      <p:ext uri="{BB962C8B-B14F-4D97-AF65-F5344CB8AC3E}">
        <p14:creationId xmlns:p14="http://schemas.microsoft.com/office/powerpoint/2010/main" val="2924562014"/>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dirty="0"/>
              <a:t>A design is only a guess until real people use it. [pause] So let’s see what happened when I put it in front of users.</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290763" y="512763"/>
            <a:ext cx="4562475" cy="2566987"/>
          </a:xfrm>
        </p:spPr>
      </p:sp>
      <p:sp>
        <p:nvSpPr>
          <p:cNvPr id="3" name="Notes Placeholder 2"/>
          <p:cNvSpPr>
            <a:spLocks noGrp="1"/>
          </p:cNvSpPr>
          <p:nvPr>
            <p:ph type="body" idx="1"/>
          </p:nvPr>
        </p:nvSpPr>
        <p:spPr/>
        <p:txBody>
          <a:bodyPr/>
          <a:lstStyle/>
          <a:p>
            <a:r>
              <a:rPr lang="en-US" dirty="0"/>
              <a:t>I ran a 40-minute, in-person focus group with five people: one daily user, two occasional users, and two who rarely use BeReal. They completed three tasks while thinking aloud, then we discussed it and they took an eight-question survey.</a:t>
            </a:r>
          </a:p>
          <a:p>
            <a:endParaRPr lang="en-US" dirty="0"/>
          </a:p>
        </p:txBody>
      </p:sp>
      <p:sp>
        <p:nvSpPr>
          <p:cNvPr id="4" name="Slide Number Placeholder 3"/>
          <p:cNvSpPr>
            <a:spLocks noGrp="1"/>
          </p:cNvSpPr>
          <p:nvPr>
            <p:ph type="sldNum" sz="quarter" idx="5"/>
          </p:nvPr>
        </p:nvSpPr>
        <p:spPr/>
        <p:txBody>
          <a:bodyPr/>
          <a:lstStyle/>
          <a:p>
            <a:fld id="{871B2431-D351-4C6E-A3CF-9DFAC0E3E050}" type="slidenum">
              <a:rPr lang="cs-CZ" smtClean="0"/>
              <a:t>28</a:t>
            </a:fld>
            <a:endParaRPr lang="cs-CZ"/>
          </a:p>
        </p:txBody>
      </p:sp>
    </p:spTree>
    <p:extLst>
      <p:ext uri="{BB962C8B-B14F-4D97-AF65-F5344CB8AC3E}">
        <p14:creationId xmlns:p14="http://schemas.microsoft.com/office/powerpoint/2010/main" val="750582754"/>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290763" y="512763"/>
            <a:ext cx="4562475" cy="2566987"/>
          </a:xfrm>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Four of five said they’d open BeReal more often. [pause] And the reminders, streak and leaderboard scored 4.2 out of 5 for feeling low-pressure, the highest score of all. [pause] Three would launch it, one said maybe, and one said no.</a:t>
            </a:r>
          </a:p>
          <a:p>
            <a:endParaRPr lang="en-US" dirty="0"/>
          </a:p>
        </p:txBody>
      </p:sp>
      <p:sp>
        <p:nvSpPr>
          <p:cNvPr id="4" name="Slide Number Placeholder 3"/>
          <p:cNvSpPr>
            <a:spLocks noGrp="1"/>
          </p:cNvSpPr>
          <p:nvPr>
            <p:ph type="sldNum" sz="quarter" idx="5"/>
          </p:nvPr>
        </p:nvSpPr>
        <p:spPr/>
        <p:txBody>
          <a:bodyPr/>
          <a:lstStyle/>
          <a:p>
            <a:fld id="{871B2431-D351-4C6E-A3CF-9DFAC0E3E050}" type="slidenum">
              <a:rPr lang="cs-CZ" smtClean="0"/>
              <a:t>29</a:t>
            </a:fld>
            <a:endParaRPr lang="cs-CZ"/>
          </a:p>
        </p:txBody>
      </p:sp>
    </p:spTree>
    <p:extLst>
      <p:ext uri="{BB962C8B-B14F-4D97-AF65-F5344CB8AC3E}">
        <p14:creationId xmlns:p14="http://schemas.microsoft.com/office/powerpoint/2010/main" val="96744722"/>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290763" y="512763"/>
            <a:ext cx="4562475" cy="2566987"/>
          </a:xfrm>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Four findings stood out. It brings back occasional users. The capture-to-post flow had too many taps. The stamps and the Passport were the draw. And the risk wasn’t pressure; it was complexity. The one non-user said it felt “less authentic and overly complex.”</a:t>
            </a:r>
          </a:p>
          <a:p>
            <a:endParaRPr lang="en-US" dirty="0"/>
          </a:p>
        </p:txBody>
      </p:sp>
      <p:sp>
        <p:nvSpPr>
          <p:cNvPr id="4" name="Slide Number Placeholder 3"/>
          <p:cNvSpPr>
            <a:spLocks noGrp="1"/>
          </p:cNvSpPr>
          <p:nvPr>
            <p:ph type="sldNum" sz="quarter" idx="5"/>
          </p:nvPr>
        </p:nvSpPr>
        <p:spPr/>
        <p:txBody>
          <a:bodyPr/>
          <a:lstStyle/>
          <a:p>
            <a:fld id="{871B2431-D351-4C6E-A3CF-9DFAC0E3E050}" type="slidenum">
              <a:rPr lang="cs-CZ" smtClean="0"/>
              <a:t>30</a:t>
            </a:fld>
            <a:endParaRPr lang="cs-CZ"/>
          </a:p>
        </p:txBody>
      </p:sp>
    </p:spTree>
    <p:extLst>
      <p:ext uri="{BB962C8B-B14F-4D97-AF65-F5344CB8AC3E}">
        <p14:creationId xmlns:p14="http://schemas.microsoft.com/office/powerpoint/2010/main" val="32951032"/>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So what should BeReal do with these results? Here’s my recommendation, and what I learned along the way.</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290763" y="512763"/>
            <a:ext cx="4562475" cy="2566987"/>
          </a:xfrm>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My recommendation is to refine, then retest. Keep the concept. Cut the taps from capture to stamp, make the SEND versus COMMUNITY BOARD choice clear, add a first-use explainer, and keep the hooks as they are.</a:t>
            </a:r>
          </a:p>
          <a:p>
            <a:endParaRPr lang="en-US" dirty="0"/>
          </a:p>
        </p:txBody>
      </p:sp>
      <p:sp>
        <p:nvSpPr>
          <p:cNvPr id="4" name="Slide Number Placeholder 3"/>
          <p:cNvSpPr>
            <a:spLocks noGrp="1"/>
          </p:cNvSpPr>
          <p:nvPr>
            <p:ph type="sldNum" sz="quarter" idx="5"/>
          </p:nvPr>
        </p:nvSpPr>
        <p:spPr/>
        <p:txBody>
          <a:bodyPr/>
          <a:lstStyle/>
          <a:p>
            <a:fld id="{871B2431-D351-4C6E-A3CF-9DFAC0E3E050}" type="slidenum">
              <a:rPr lang="cs-CZ" smtClean="0"/>
              <a:t>32</a:t>
            </a:fld>
            <a:endParaRPr lang="cs-CZ"/>
          </a:p>
        </p:txBody>
      </p:sp>
    </p:spTree>
    <p:extLst>
      <p:ext uri="{BB962C8B-B14F-4D97-AF65-F5344CB8AC3E}">
        <p14:creationId xmlns:p14="http://schemas.microsoft.com/office/powerpoint/2010/main" val="4205130906"/>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290763" y="512763"/>
            <a:ext cx="4562475" cy="2566987"/>
          </a:xfrm>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From there, a staged rollout. Phase 0, prototype and test, is complete. Phase 1 refines and retests with seven to ten people. Phase 2 is an MVP with one friend group, then a full rollout, and later a sponsored-board pilot.</a:t>
            </a:r>
          </a:p>
          <a:p>
            <a:endParaRPr lang="en-US" dirty="0"/>
          </a:p>
        </p:txBody>
      </p:sp>
      <p:sp>
        <p:nvSpPr>
          <p:cNvPr id="4" name="Slide Number Placeholder 3"/>
          <p:cNvSpPr>
            <a:spLocks noGrp="1"/>
          </p:cNvSpPr>
          <p:nvPr>
            <p:ph type="sldNum" sz="quarter" idx="5"/>
          </p:nvPr>
        </p:nvSpPr>
        <p:spPr/>
        <p:txBody>
          <a:bodyPr/>
          <a:lstStyle/>
          <a:p>
            <a:fld id="{871B2431-D351-4C6E-A3CF-9DFAC0E3E050}" type="slidenum">
              <a:rPr lang="cs-CZ" smtClean="0"/>
              <a:t>33</a:t>
            </a:fld>
            <a:endParaRPr lang="cs-CZ"/>
          </a:p>
        </p:txBody>
      </p:sp>
    </p:spTree>
    <p:extLst>
      <p:ext uri="{BB962C8B-B14F-4D97-AF65-F5344CB8AC3E}">
        <p14:creationId xmlns:p14="http://schemas.microsoft.com/office/powerpoint/2010/main" val="543389429"/>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290763" y="512763"/>
            <a:ext cx="4562475" cy="2566987"/>
          </a:xfrm>
        </p:spPr>
      </p:sp>
      <p:sp>
        <p:nvSpPr>
          <p:cNvPr id="3" name="Notes Placeholder 2"/>
          <p:cNvSpPr>
            <a:spLocks noGrp="1"/>
          </p:cNvSpPr>
          <p:nvPr>
            <p:ph type="body" idx="1"/>
          </p:nvPr>
        </p:nvSpPr>
        <p:spPr/>
        <p:txBody>
          <a:bodyPr/>
          <a:lstStyle/>
          <a:p>
            <a:r>
              <a:rPr lang="en-US" dirty="0"/>
              <a:t>How will we know it’s working? Success means stickiness: DAU over MAU, daily opens, day-7 and day-30 retention, the share of posts on boards, and how many taps it takes to post. Confidence is medium for now, because five testers show direction, not proof.</a:t>
            </a:r>
          </a:p>
          <a:p>
            <a:endParaRPr lang="en-US" dirty="0"/>
          </a:p>
        </p:txBody>
      </p:sp>
      <p:sp>
        <p:nvSpPr>
          <p:cNvPr id="4" name="Slide Number Placeholder 3"/>
          <p:cNvSpPr>
            <a:spLocks noGrp="1"/>
          </p:cNvSpPr>
          <p:nvPr>
            <p:ph type="sldNum" sz="quarter" idx="5"/>
          </p:nvPr>
        </p:nvSpPr>
        <p:spPr/>
        <p:txBody>
          <a:bodyPr/>
          <a:lstStyle/>
          <a:p>
            <a:fld id="{871B2431-D351-4C6E-A3CF-9DFAC0E3E050}" type="slidenum">
              <a:rPr lang="cs-CZ" smtClean="0"/>
              <a:t>34</a:t>
            </a:fld>
            <a:endParaRPr lang="cs-CZ"/>
          </a:p>
        </p:txBody>
      </p:sp>
    </p:spTree>
    <p:extLst>
      <p:ext uri="{BB962C8B-B14F-4D97-AF65-F5344CB8AC3E}">
        <p14:creationId xmlns:p14="http://schemas.microsoft.com/office/powerpoint/2010/main" val="198778239"/>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Looking back, three lessons stand out. First, complexity, not pressure, was the real risk to authenticity. Second, I should test with more of the people I want to win, especially non-users. Third, a clickable prototype showed me in one session what static slides never could: the extra taps. [pause] Next time, I’d recruit seven to ten testers, measure taps and time on task during the session, and test the hooks over a full week.</a:t>
            </a:r>
          </a:p>
          <a:p>
            <a:endParaRPr lang="en-US" dirty="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Thank you. Be real, not polished. [pause] I’m happy to take any questions, and you can try the prototype yourself at the link.</a:t>
            </a:r>
          </a:p>
          <a:p>
            <a:endParaRPr lang="en-US" dirty="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10/27/26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10/27/26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10/27/26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10/27/26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10/27/26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10/27/26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10/27/26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10/27/26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10/27/26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10/27/26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10/27/26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10/27/26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7.xml"/><Relationship Id="rId6" Type="http://schemas.openxmlformats.org/officeDocument/2006/relationships/image" Target="../media/image4.svg"/><Relationship Id="rId5" Type="http://schemas.openxmlformats.org/officeDocument/2006/relationships/image" Target="../media/image3.jpe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xml"/><Relationship Id="rId1" Type="http://schemas.openxmlformats.org/officeDocument/2006/relationships/slideLayout" Target="../slideLayouts/slideLayout7.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png"/></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7.xml"/><Relationship Id="rId4" Type="http://schemas.openxmlformats.org/officeDocument/2006/relationships/image" Target="../media/image3.jpeg"/></Relationships>
</file>

<file path=ppt/slides/_rels/slide5.xml.rels><?xml version="1.0" encoding="UTF-8" standalone="yes"?>
<Relationships xmlns="http://schemas.openxmlformats.org/package/2006/relationships"><Relationship Id="rId3" Type="http://schemas.openxmlformats.org/officeDocument/2006/relationships/image" Target="../media/image3.jpeg"/><Relationship Id="rId7" Type="http://schemas.openxmlformats.org/officeDocument/2006/relationships/image" Target="../media/image12.jpeg"/><Relationship Id="rId2" Type="http://schemas.openxmlformats.org/officeDocument/2006/relationships/notesSlide" Target="../notesSlides/notesSlide5.xml"/><Relationship Id="rId1" Type="http://schemas.openxmlformats.org/officeDocument/2006/relationships/slideLayout" Target="../slideLayouts/slideLayout7.xml"/><Relationship Id="rId6" Type="http://schemas.openxmlformats.org/officeDocument/2006/relationships/image" Target="../media/image11.jpeg"/><Relationship Id="rId5" Type="http://schemas.openxmlformats.org/officeDocument/2006/relationships/image" Target="../media/image10.jpeg"/><Relationship Id="rId4" Type="http://schemas.openxmlformats.org/officeDocument/2006/relationships/image" Target="../media/image9.png"/></Relationships>
</file>

<file path=ppt/slides/_rels/slide6.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7.xml"/><Relationship Id="rId1" Type="http://schemas.openxmlformats.org/officeDocument/2006/relationships/slideLayout" Target="../slideLayouts/slideLayout7.xml"/><Relationship Id="rId4" Type="http://schemas.openxmlformats.org/officeDocument/2006/relationships/image" Target="../media/image3.jpeg"/></Relationships>
</file>

<file path=ppt/slides/_rels/slide8.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8.xml"/><Relationship Id="rId1" Type="http://schemas.openxmlformats.org/officeDocument/2006/relationships/slideLayout" Target="../slideLayouts/slideLayout7.xml"/><Relationship Id="rId4" Type="http://schemas.openxmlformats.org/officeDocument/2006/relationships/hyperlink" Target="https://youtube.com/shorts/exXoJ6NqmbI" TargetMode="External"/></Relationships>
</file>

<file path=ppt/slides/_rels/slide9.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8" Type="http://schemas.openxmlformats.org/officeDocument/2006/relationships/image" Target="../media/image18.svg"/><Relationship Id="rId13" Type="http://schemas.openxmlformats.org/officeDocument/2006/relationships/image" Target="../media/image23.svg"/><Relationship Id="rId3" Type="http://schemas.openxmlformats.org/officeDocument/2006/relationships/image" Target="../media/image3.jpeg"/><Relationship Id="rId7" Type="http://schemas.openxmlformats.org/officeDocument/2006/relationships/image" Target="../media/image17.svg"/><Relationship Id="rId12" Type="http://schemas.openxmlformats.org/officeDocument/2006/relationships/image" Target="../media/image22.svg"/><Relationship Id="rId2" Type="http://schemas.openxmlformats.org/officeDocument/2006/relationships/notesSlide" Target="../notesSlides/notesSlide13.xml"/><Relationship Id="rId16" Type="http://schemas.openxmlformats.org/officeDocument/2006/relationships/hyperlink" Target="https://lashawnfofung.github.io/BeReal-RealProcess/" TargetMode="External"/><Relationship Id="rId1" Type="http://schemas.openxmlformats.org/officeDocument/2006/relationships/slideLayout" Target="../slideLayouts/slideLayout7.xml"/><Relationship Id="rId6" Type="http://schemas.openxmlformats.org/officeDocument/2006/relationships/image" Target="../media/image16.svg"/><Relationship Id="rId11" Type="http://schemas.openxmlformats.org/officeDocument/2006/relationships/image" Target="../media/image21.jpeg"/><Relationship Id="rId5" Type="http://schemas.openxmlformats.org/officeDocument/2006/relationships/image" Target="../media/image15.svg"/><Relationship Id="rId15" Type="http://schemas.openxmlformats.org/officeDocument/2006/relationships/hyperlink" Target="https://claude.ai/artifact/QouixAtcmRQXoxXEiUsXgm" TargetMode="External"/><Relationship Id="rId10" Type="http://schemas.openxmlformats.org/officeDocument/2006/relationships/image" Target="../media/image20.svg"/><Relationship Id="rId4" Type="http://schemas.openxmlformats.org/officeDocument/2006/relationships/image" Target="../media/image14.svg"/><Relationship Id="rId9" Type="http://schemas.openxmlformats.org/officeDocument/2006/relationships/image" Target="../media/image19.svg"/><Relationship Id="rId14" Type="http://schemas.openxmlformats.org/officeDocument/2006/relationships/image" Target="../media/image24.png"/></Relationships>
</file>

<file path=ppt/slides/_rels/slide14.xml.rels><?xml version="1.0" encoding="UTF-8" standalone="yes"?>
<Relationships xmlns="http://schemas.openxmlformats.org/package/2006/relationships"><Relationship Id="rId8" Type="http://schemas.openxmlformats.org/officeDocument/2006/relationships/image" Target="../media/image18.svg"/><Relationship Id="rId13" Type="http://schemas.openxmlformats.org/officeDocument/2006/relationships/image" Target="../media/image23.svg"/><Relationship Id="rId18" Type="http://schemas.openxmlformats.org/officeDocument/2006/relationships/image" Target="../media/image29.svg"/><Relationship Id="rId3" Type="http://schemas.openxmlformats.org/officeDocument/2006/relationships/image" Target="../media/image3.jpeg"/><Relationship Id="rId7" Type="http://schemas.openxmlformats.org/officeDocument/2006/relationships/image" Target="../media/image17.svg"/><Relationship Id="rId12" Type="http://schemas.openxmlformats.org/officeDocument/2006/relationships/image" Target="../media/image22.svg"/><Relationship Id="rId17" Type="http://schemas.openxmlformats.org/officeDocument/2006/relationships/image" Target="../media/image28.png"/><Relationship Id="rId2" Type="http://schemas.openxmlformats.org/officeDocument/2006/relationships/notesSlide" Target="../notesSlides/notesSlide14.xml"/><Relationship Id="rId16" Type="http://schemas.openxmlformats.org/officeDocument/2006/relationships/image" Target="../media/image27.svg"/><Relationship Id="rId1" Type="http://schemas.openxmlformats.org/officeDocument/2006/relationships/slideLayout" Target="../slideLayouts/slideLayout7.xml"/><Relationship Id="rId6" Type="http://schemas.openxmlformats.org/officeDocument/2006/relationships/image" Target="../media/image16.svg"/><Relationship Id="rId11" Type="http://schemas.openxmlformats.org/officeDocument/2006/relationships/image" Target="../media/image21.jpeg"/><Relationship Id="rId5" Type="http://schemas.openxmlformats.org/officeDocument/2006/relationships/image" Target="../media/image15.svg"/><Relationship Id="rId15" Type="http://schemas.openxmlformats.org/officeDocument/2006/relationships/image" Target="../media/image26.jpeg"/><Relationship Id="rId10" Type="http://schemas.openxmlformats.org/officeDocument/2006/relationships/image" Target="../media/image20.svg"/><Relationship Id="rId19" Type="http://schemas.openxmlformats.org/officeDocument/2006/relationships/image" Target="../media/image30.svg"/><Relationship Id="rId4" Type="http://schemas.openxmlformats.org/officeDocument/2006/relationships/image" Target="../media/image14.svg"/><Relationship Id="rId9" Type="http://schemas.openxmlformats.org/officeDocument/2006/relationships/image" Target="../media/image19.svg"/><Relationship Id="rId14" Type="http://schemas.openxmlformats.org/officeDocument/2006/relationships/image" Target="../media/image25.jpeg"/></Relationships>
</file>

<file path=ppt/slides/_rels/slide15.xml.rels><?xml version="1.0" encoding="UTF-8" standalone="yes"?>
<Relationships xmlns="http://schemas.openxmlformats.org/package/2006/relationships"><Relationship Id="rId8" Type="http://schemas.openxmlformats.org/officeDocument/2006/relationships/image" Target="../media/image32.svg"/><Relationship Id="rId13" Type="http://schemas.openxmlformats.org/officeDocument/2006/relationships/image" Target="../media/image37.svg"/><Relationship Id="rId3" Type="http://schemas.openxmlformats.org/officeDocument/2006/relationships/image" Target="../media/image3.jpeg"/><Relationship Id="rId7" Type="http://schemas.openxmlformats.org/officeDocument/2006/relationships/image" Target="../media/image15.svg"/><Relationship Id="rId12" Type="http://schemas.openxmlformats.org/officeDocument/2006/relationships/image" Target="../media/image36.svg"/><Relationship Id="rId2" Type="http://schemas.openxmlformats.org/officeDocument/2006/relationships/notesSlide" Target="../notesSlides/notesSlide15.xml"/><Relationship Id="rId1" Type="http://schemas.openxmlformats.org/officeDocument/2006/relationships/slideLayout" Target="../slideLayouts/slideLayout7.xml"/><Relationship Id="rId6" Type="http://schemas.openxmlformats.org/officeDocument/2006/relationships/image" Target="../media/image14.svg"/><Relationship Id="rId11" Type="http://schemas.openxmlformats.org/officeDocument/2006/relationships/image" Target="../media/image35.png"/><Relationship Id="rId5" Type="http://schemas.openxmlformats.org/officeDocument/2006/relationships/image" Target="../media/image31.svg"/><Relationship Id="rId10" Type="http://schemas.openxmlformats.org/officeDocument/2006/relationships/image" Target="../media/image34.svg"/><Relationship Id="rId4" Type="http://schemas.openxmlformats.org/officeDocument/2006/relationships/image" Target="../media/image21.jpeg"/><Relationship Id="rId9" Type="http://schemas.openxmlformats.org/officeDocument/2006/relationships/image" Target="../media/image33.svg"/></Relationships>
</file>

<file path=ppt/slides/_rels/slide16.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16.xml"/><Relationship Id="rId1" Type="http://schemas.openxmlformats.org/officeDocument/2006/relationships/slideLayout" Target="../slideLayouts/slideLayout7.xml"/><Relationship Id="rId5" Type="http://schemas.openxmlformats.org/officeDocument/2006/relationships/image" Target="../media/image39.png"/><Relationship Id="rId4" Type="http://schemas.openxmlformats.org/officeDocument/2006/relationships/image" Target="../media/image38.png"/></Relationships>
</file>

<file path=ppt/slides/_rels/slide17.xml.rels><?xml version="1.0" encoding="UTF-8" standalone="yes"?>
<Relationships xmlns="http://schemas.openxmlformats.org/package/2006/relationships"><Relationship Id="rId13" Type="http://schemas.openxmlformats.org/officeDocument/2006/relationships/image" Target="../media/image23.svg"/><Relationship Id="rId18" Type="http://schemas.openxmlformats.org/officeDocument/2006/relationships/image" Target="../media/image44.png"/><Relationship Id="rId26" Type="http://schemas.openxmlformats.org/officeDocument/2006/relationships/image" Target="../media/image52.svg"/><Relationship Id="rId39" Type="http://schemas.openxmlformats.org/officeDocument/2006/relationships/image" Target="../media/image65.svg"/><Relationship Id="rId21" Type="http://schemas.openxmlformats.org/officeDocument/2006/relationships/image" Target="../media/image47.svg"/><Relationship Id="rId34" Type="http://schemas.openxmlformats.org/officeDocument/2006/relationships/image" Target="../media/image60.svg"/><Relationship Id="rId42" Type="http://schemas.openxmlformats.org/officeDocument/2006/relationships/image" Target="../media/image68.jpeg"/><Relationship Id="rId7" Type="http://schemas.openxmlformats.org/officeDocument/2006/relationships/image" Target="../media/image17.svg"/><Relationship Id="rId2" Type="http://schemas.openxmlformats.org/officeDocument/2006/relationships/notesSlide" Target="../notesSlides/notesSlide17.xml"/><Relationship Id="rId16" Type="http://schemas.openxmlformats.org/officeDocument/2006/relationships/image" Target="../media/image42.svg"/><Relationship Id="rId20" Type="http://schemas.openxmlformats.org/officeDocument/2006/relationships/image" Target="../media/image46.svg"/><Relationship Id="rId29" Type="http://schemas.openxmlformats.org/officeDocument/2006/relationships/image" Target="../media/image55.svg"/><Relationship Id="rId41" Type="http://schemas.openxmlformats.org/officeDocument/2006/relationships/image" Target="../media/image67.svg"/><Relationship Id="rId1" Type="http://schemas.openxmlformats.org/officeDocument/2006/relationships/slideLayout" Target="../slideLayouts/slideLayout7.xml"/><Relationship Id="rId6" Type="http://schemas.openxmlformats.org/officeDocument/2006/relationships/image" Target="../media/image16.svg"/><Relationship Id="rId11" Type="http://schemas.openxmlformats.org/officeDocument/2006/relationships/image" Target="../media/image21.jpeg"/><Relationship Id="rId24" Type="http://schemas.openxmlformats.org/officeDocument/2006/relationships/image" Target="../media/image50.svg"/><Relationship Id="rId32" Type="http://schemas.openxmlformats.org/officeDocument/2006/relationships/image" Target="../media/image58.svg"/><Relationship Id="rId37" Type="http://schemas.openxmlformats.org/officeDocument/2006/relationships/image" Target="../media/image63.svg"/><Relationship Id="rId40" Type="http://schemas.openxmlformats.org/officeDocument/2006/relationships/image" Target="../media/image66.svg"/><Relationship Id="rId5" Type="http://schemas.openxmlformats.org/officeDocument/2006/relationships/image" Target="../media/image15.svg"/><Relationship Id="rId15" Type="http://schemas.openxmlformats.org/officeDocument/2006/relationships/image" Target="../media/image41.svg"/><Relationship Id="rId23" Type="http://schemas.openxmlformats.org/officeDocument/2006/relationships/image" Target="../media/image49.svg"/><Relationship Id="rId28" Type="http://schemas.openxmlformats.org/officeDocument/2006/relationships/image" Target="../media/image54.svg"/><Relationship Id="rId36" Type="http://schemas.openxmlformats.org/officeDocument/2006/relationships/image" Target="../media/image62.svg"/><Relationship Id="rId10" Type="http://schemas.openxmlformats.org/officeDocument/2006/relationships/image" Target="../media/image20.svg"/><Relationship Id="rId19" Type="http://schemas.openxmlformats.org/officeDocument/2006/relationships/image" Target="../media/image45.svg"/><Relationship Id="rId31" Type="http://schemas.openxmlformats.org/officeDocument/2006/relationships/image" Target="../media/image57.svg"/><Relationship Id="rId44" Type="http://schemas.openxmlformats.org/officeDocument/2006/relationships/image" Target="../media/image70.png"/><Relationship Id="rId4" Type="http://schemas.openxmlformats.org/officeDocument/2006/relationships/image" Target="../media/image14.svg"/><Relationship Id="rId9" Type="http://schemas.openxmlformats.org/officeDocument/2006/relationships/image" Target="../media/image19.svg"/><Relationship Id="rId14" Type="http://schemas.openxmlformats.org/officeDocument/2006/relationships/image" Target="../media/image40.svg"/><Relationship Id="rId22" Type="http://schemas.openxmlformats.org/officeDocument/2006/relationships/image" Target="../media/image48.svg"/><Relationship Id="rId27" Type="http://schemas.openxmlformats.org/officeDocument/2006/relationships/image" Target="../media/image53.svg"/><Relationship Id="rId30" Type="http://schemas.openxmlformats.org/officeDocument/2006/relationships/image" Target="../media/image56.svg"/><Relationship Id="rId35" Type="http://schemas.openxmlformats.org/officeDocument/2006/relationships/image" Target="../media/image61.svg"/><Relationship Id="rId43" Type="http://schemas.openxmlformats.org/officeDocument/2006/relationships/image" Target="../media/image69.svg"/><Relationship Id="rId8" Type="http://schemas.openxmlformats.org/officeDocument/2006/relationships/image" Target="../media/image18.svg"/><Relationship Id="rId3" Type="http://schemas.openxmlformats.org/officeDocument/2006/relationships/image" Target="../media/image3.jpeg"/><Relationship Id="rId12" Type="http://schemas.openxmlformats.org/officeDocument/2006/relationships/image" Target="../media/image22.svg"/><Relationship Id="rId17" Type="http://schemas.openxmlformats.org/officeDocument/2006/relationships/image" Target="../media/image43.svg"/><Relationship Id="rId25" Type="http://schemas.openxmlformats.org/officeDocument/2006/relationships/image" Target="../media/image51.svg"/><Relationship Id="rId33" Type="http://schemas.openxmlformats.org/officeDocument/2006/relationships/image" Target="../media/image59.svg"/><Relationship Id="rId38" Type="http://schemas.openxmlformats.org/officeDocument/2006/relationships/image" Target="../media/image64.svg"/></Relationships>
</file>

<file path=ppt/slides/_rels/slide18.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18.xml"/><Relationship Id="rId1" Type="http://schemas.openxmlformats.org/officeDocument/2006/relationships/slideLayout" Target="../slideLayouts/slideLayout7.xml"/><Relationship Id="rId4" Type="http://schemas.openxmlformats.org/officeDocument/2006/relationships/image" Target="../media/image71.png"/></Relationships>
</file>

<file path=ppt/slides/_rels/slide19.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19.xml"/><Relationship Id="rId1" Type="http://schemas.openxmlformats.org/officeDocument/2006/relationships/slideLayout" Target="../slideLayouts/slideLayout7.xml"/><Relationship Id="rId5" Type="http://schemas.openxmlformats.org/officeDocument/2006/relationships/image" Target="../media/image73.png"/><Relationship Id="rId4" Type="http://schemas.openxmlformats.org/officeDocument/2006/relationships/image" Target="../media/image72.png"/></Relationships>
</file>

<file path=ppt/slides/_rels/slide20.xml.rels><?xml version="1.0" encoding="UTF-8" standalone="yes"?>
<Relationships xmlns="http://schemas.openxmlformats.org/package/2006/relationships"><Relationship Id="rId13" Type="http://schemas.openxmlformats.org/officeDocument/2006/relationships/image" Target="../media/image81.png"/><Relationship Id="rId18" Type="http://schemas.openxmlformats.org/officeDocument/2006/relationships/image" Target="../media/image19.svg"/><Relationship Id="rId26" Type="http://schemas.openxmlformats.org/officeDocument/2006/relationships/image" Target="../media/image44.png"/><Relationship Id="rId39" Type="http://schemas.openxmlformats.org/officeDocument/2006/relationships/image" Target="../media/image67.svg"/><Relationship Id="rId21" Type="http://schemas.openxmlformats.org/officeDocument/2006/relationships/image" Target="../media/image23.svg"/><Relationship Id="rId34" Type="http://schemas.openxmlformats.org/officeDocument/2006/relationships/image" Target="../media/image52.svg"/><Relationship Id="rId42" Type="http://schemas.openxmlformats.org/officeDocument/2006/relationships/image" Target="../media/image83.jpeg"/><Relationship Id="rId47" Type="http://schemas.openxmlformats.org/officeDocument/2006/relationships/image" Target="../media/image88.jpeg"/><Relationship Id="rId50" Type="http://schemas.openxmlformats.org/officeDocument/2006/relationships/image" Target="../media/image60.svg"/><Relationship Id="rId55" Type="http://schemas.openxmlformats.org/officeDocument/2006/relationships/image" Target="../media/image65.svg"/><Relationship Id="rId7" Type="http://schemas.openxmlformats.org/officeDocument/2006/relationships/image" Target="../media/image77.svg"/><Relationship Id="rId2" Type="http://schemas.openxmlformats.org/officeDocument/2006/relationships/notesSlide" Target="../notesSlides/notesSlide20.xml"/><Relationship Id="rId16" Type="http://schemas.openxmlformats.org/officeDocument/2006/relationships/image" Target="../media/image17.svg"/><Relationship Id="rId29" Type="http://schemas.openxmlformats.org/officeDocument/2006/relationships/image" Target="../media/image47.svg"/><Relationship Id="rId11" Type="http://schemas.openxmlformats.org/officeDocument/2006/relationships/image" Target="../media/image80.jpeg"/><Relationship Id="rId24" Type="http://schemas.openxmlformats.org/officeDocument/2006/relationships/image" Target="../media/image42.svg"/><Relationship Id="rId32" Type="http://schemas.openxmlformats.org/officeDocument/2006/relationships/image" Target="../media/image50.svg"/><Relationship Id="rId37" Type="http://schemas.openxmlformats.org/officeDocument/2006/relationships/image" Target="../media/image55.svg"/><Relationship Id="rId40" Type="http://schemas.openxmlformats.org/officeDocument/2006/relationships/image" Target="../media/image57.svg"/><Relationship Id="rId45" Type="http://schemas.openxmlformats.org/officeDocument/2006/relationships/image" Target="../media/image86.jpeg"/><Relationship Id="rId53" Type="http://schemas.openxmlformats.org/officeDocument/2006/relationships/image" Target="../media/image63.svg"/><Relationship Id="rId58" Type="http://schemas.openxmlformats.org/officeDocument/2006/relationships/image" Target="../media/image90.jpeg"/><Relationship Id="rId5" Type="http://schemas.openxmlformats.org/officeDocument/2006/relationships/image" Target="../media/image75.svg"/><Relationship Id="rId19" Type="http://schemas.openxmlformats.org/officeDocument/2006/relationships/image" Target="../media/image20.svg"/><Relationship Id="rId4" Type="http://schemas.openxmlformats.org/officeDocument/2006/relationships/image" Target="../media/image74.jpeg"/><Relationship Id="rId9" Type="http://schemas.openxmlformats.org/officeDocument/2006/relationships/image" Target="../media/image78.svg"/><Relationship Id="rId14" Type="http://schemas.openxmlformats.org/officeDocument/2006/relationships/image" Target="../media/image14.svg"/><Relationship Id="rId22" Type="http://schemas.openxmlformats.org/officeDocument/2006/relationships/image" Target="../media/image40.svg"/><Relationship Id="rId27" Type="http://schemas.openxmlformats.org/officeDocument/2006/relationships/image" Target="../media/image45.svg"/><Relationship Id="rId30" Type="http://schemas.openxmlformats.org/officeDocument/2006/relationships/image" Target="../media/image48.svg"/><Relationship Id="rId35" Type="http://schemas.openxmlformats.org/officeDocument/2006/relationships/image" Target="../media/image53.svg"/><Relationship Id="rId43" Type="http://schemas.openxmlformats.org/officeDocument/2006/relationships/image" Target="../media/image84.jpeg"/><Relationship Id="rId48" Type="http://schemas.openxmlformats.org/officeDocument/2006/relationships/image" Target="../media/image58.svg"/><Relationship Id="rId56" Type="http://schemas.openxmlformats.org/officeDocument/2006/relationships/image" Target="../media/image66.svg"/><Relationship Id="rId8" Type="http://schemas.openxmlformats.org/officeDocument/2006/relationships/image" Target="../media/image16.svg"/><Relationship Id="rId51" Type="http://schemas.openxmlformats.org/officeDocument/2006/relationships/image" Target="../media/image61.svg"/><Relationship Id="rId3" Type="http://schemas.openxmlformats.org/officeDocument/2006/relationships/image" Target="../media/image3.jpeg"/><Relationship Id="rId12" Type="http://schemas.openxmlformats.org/officeDocument/2006/relationships/image" Target="../media/image22.svg"/><Relationship Id="rId17" Type="http://schemas.openxmlformats.org/officeDocument/2006/relationships/image" Target="../media/image18.svg"/><Relationship Id="rId25" Type="http://schemas.openxmlformats.org/officeDocument/2006/relationships/image" Target="../media/image43.svg"/><Relationship Id="rId33" Type="http://schemas.openxmlformats.org/officeDocument/2006/relationships/image" Target="../media/image51.svg"/><Relationship Id="rId38" Type="http://schemas.openxmlformats.org/officeDocument/2006/relationships/image" Target="../media/image56.svg"/><Relationship Id="rId46" Type="http://schemas.openxmlformats.org/officeDocument/2006/relationships/image" Target="../media/image87.jpeg"/><Relationship Id="rId20" Type="http://schemas.openxmlformats.org/officeDocument/2006/relationships/image" Target="../media/image21.jpeg"/><Relationship Id="rId41" Type="http://schemas.openxmlformats.org/officeDocument/2006/relationships/image" Target="../media/image82.jpeg"/><Relationship Id="rId54" Type="http://schemas.openxmlformats.org/officeDocument/2006/relationships/image" Target="../media/image64.svg"/><Relationship Id="rId1" Type="http://schemas.openxmlformats.org/officeDocument/2006/relationships/slideLayout" Target="../slideLayouts/slideLayout7.xml"/><Relationship Id="rId6" Type="http://schemas.openxmlformats.org/officeDocument/2006/relationships/image" Target="../media/image76.svg"/><Relationship Id="rId15" Type="http://schemas.openxmlformats.org/officeDocument/2006/relationships/image" Target="../media/image15.svg"/><Relationship Id="rId23" Type="http://schemas.openxmlformats.org/officeDocument/2006/relationships/image" Target="../media/image41.svg"/><Relationship Id="rId28" Type="http://schemas.openxmlformats.org/officeDocument/2006/relationships/image" Target="../media/image46.svg"/><Relationship Id="rId36" Type="http://schemas.openxmlformats.org/officeDocument/2006/relationships/image" Target="../media/image54.svg"/><Relationship Id="rId49" Type="http://schemas.openxmlformats.org/officeDocument/2006/relationships/image" Target="../media/image59.svg"/><Relationship Id="rId57" Type="http://schemas.openxmlformats.org/officeDocument/2006/relationships/image" Target="../media/image89.jpeg"/><Relationship Id="rId10" Type="http://schemas.openxmlformats.org/officeDocument/2006/relationships/image" Target="../media/image79.jpeg"/><Relationship Id="rId31" Type="http://schemas.openxmlformats.org/officeDocument/2006/relationships/image" Target="../media/image49.svg"/><Relationship Id="rId44" Type="http://schemas.openxmlformats.org/officeDocument/2006/relationships/image" Target="../media/image85.jpeg"/><Relationship Id="rId52" Type="http://schemas.openxmlformats.org/officeDocument/2006/relationships/image" Target="../media/image62.svg"/></Relationships>
</file>

<file path=ppt/slides/_rels/slide21.xml.rels><?xml version="1.0" encoding="UTF-8" standalone="yes"?>
<Relationships xmlns="http://schemas.openxmlformats.org/package/2006/relationships"><Relationship Id="rId13" Type="http://schemas.openxmlformats.org/officeDocument/2006/relationships/image" Target="../media/image92.svg"/><Relationship Id="rId18" Type="http://schemas.openxmlformats.org/officeDocument/2006/relationships/image" Target="../media/image82.jpeg"/><Relationship Id="rId26" Type="http://schemas.openxmlformats.org/officeDocument/2006/relationships/image" Target="../media/image48.svg"/><Relationship Id="rId39" Type="http://schemas.openxmlformats.org/officeDocument/2006/relationships/image" Target="../media/image49.svg"/><Relationship Id="rId21" Type="http://schemas.openxmlformats.org/officeDocument/2006/relationships/image" Target="../media/image97.jpeg"/><Relationship Id="rId34" Type="http://schemas.openxmlformats.org/officeDocument/2006/relationships/image" Target="../media/image40.svg"/><Relationship Id="rId42" Type="http://schemas.openxmlformats.org/officeDocument/2006/relationships/image" Target="../media/image52.svg"/><Relationship Id="rId47" Type="http://schemas.openxmlformats.org/officeDocument/2006/relationships/image" Target="../media/image103.jpeg"/><Relationship Id="rId50" Type="http://schemas.openxmlformats.org/officeDocument/2006/relationships/image" Target="../media/image106.png"/><Relationship Id="rId7" Type="http://schemas.openxmlformats.org/officeDocument/2006/relationships/image" Target="../media/image17.svg"/><Relationship Id="rId2" Type="http://schemas.openxmlformats.org/officeDocument/2006/relationships/notesSlide" Target="../notesSlides/notesSlide21.xml"/><Relationship Id="rId16" Type="http://schemas.openxmlformats.org/officeDocument/2006/relationships/image" Target="../media/image95.svg"/><Relationship Id="rId29" Type="http://schemas.openxmlformats.org/officeDocument/2006/relationships/image" Target="../media/image53.svg"/><Relationship Id="rId11" Type="http://schemas.openxmlformats.org/officeDocument/2006/relationships/image" Target="../media/image91.svg"/><Relationship Id="rId24" Type="http://schemas.openxmlformats.org/officeDocument/2006/relationships/image" Target="../media/image42.svg"/><Relationship Id="rId32" Type="http://schemas.openxmlformats.org/officeDocument/2006/relationships/image" Target="../media/image56.svg"/><Relationship Id="rId37" Type="http://schemas.openxmlformats.org/officeDocument/2006/relationships/image" Target="../media/image44.png"/><Relationship Id="rId40" Type="http://schemas.openxmlformats.org/officeDocument/2006/relationships/image" Target="../media/image50.svg"/><Relationship Id="rId45" Type="http://schemas.openxmlformats.org/officeDocument/2006/relationships/image" Target="../media/image84.jpeg"/><Relationship Id="rId5" Type="http://schemas.openxmlformats.org/officeDocument/2006/relationships/image" Target="../media/image15.svg"/><Relationship Id="rId15" Type="http://schemas.openxmlformats.org/officeDocument/2006/relationships/image" Target="../media/image94.svg"/><Relationship Id="rId23" Type="http://schemas.openxmlformats.org/officeDocument/2006/relationships/image" Target="../media/image46.svg"/><Relationship Id="rId28" Type="http://schemas.openxmlformats.org/officeDocument/2006/relationships/image" Target="../media/image87.jpeg"/><Relationship Id="rId36" Type="http://schemas.openxmlformats.org/officeDocument/2006/relationships/image" Target="../media/image43.svg"/><Relationship Id="rId49" Type="http://schemas.openxmlformats.org/officeDocument/2006/relationships/image" Target="../media/image105.jpeg"/><Relationship Id="rId10" Type="http://schemas.openxmlformats.org/officeDocument/2006/relationships/image" Target="../media/image21.jpeg"/><Relationship Id="rId19" Type="http://schemas.openxmlformats.org/officeDocument/2006/relationships/image" Target="../media/image85.jpeg"/><Relationship Id="rId31" Type="http://schemas.openxmlformats.org/officeDocument/2006/relationships/image" Target="../media/image55.svg"/><Relationship Id="rId44" Type="http://schemas.openxmlformats.org/officeDocument/2006/relationships/image" Target="../media/image86.jpeg"/><Relationship Id="rId52" Type="http://schemas.openxmlformats.org/officeDocument/2006/relationships/image" Target="../media/image83.jpeg"/><Relationship Id="rId4" Type="http://schemas.openxmlformats.org/officeDocument/2006/relationships/image" Target="../media/image14.svg"/><Relationship Id="rId9" Type="http://schemas.openxmlformats.org/officeDocument/2006/relationships/image" Target="../media/image19.svg"/><Relationship Id="rId14" Type="http://schemas.openxmlformats.org/officeDocument/2006/relationships/image" Target="../media/image93.svg"/><Relationship Id="rId22" Type="http://schemas.openxmlformats.org/officeDocument/2006/relationships/image" Target="../media/image45.svg"/><Relationship Id="rId27" Type="http://schemas.openxmlformats.org/officeDocument/2006/relationships/image" Target="../media/image98.jpeg"/><Relationship Id="rId30" Type="http://schemas.openxmlformats.org/officeDocument/2006/relationships/image" Target="../media/image54.svg"/><Relationship Id="rId35" Type="http://schemas.openxmlformats.org/officeDocument/2006/relationships/image" Target="../media/image41.svg"/><Relationship Id="rId43" Type="http://schemas.openxmlformats.org/officeDocument/2006/relationships/image" Target="../media/image101.jpeg"/><Relationship Id="rId48" Type="http://schemas.openxmlformats.org/officeDocument/2006/relationships/image" Target="../media/image104.jpeg"/><Relationship Id="rId8" Type="http://schemas.openxmlformats.org/officeDocument/2006/relationships/image" Target="../media/image18.svg"/><Relationship Id="rId51" Type="http://schemas.openxmlformats.org/officeDocument/2006/relationships/image" Target="../media/image107.jpeg"/><Relationship Id="rId3" Type="http://schemas.openxmlformats.org/officeDocument/2006/relationships/image" Target="../media/image3.jpeg"/><Relationship Id="rId12" Type="http://schemas.openxmlformats.org/officeDocument/2006/relationships/image" Target="../media/image22.svg"/><Relationship Id="rId17" Type="http://schemas.openxmlformats.org/officeDocument/2006/relationships/image" Target="../media/image88.jpeg"/><Relationship Id="rId25" Type="http://schemas.openxmlformats.org/officeDocument/2006/relationships/image" Target="../media/image47.svg"/><Relationship Id="rId33" Type="http://schemas.openxmlformats.org/officeDocument/2006/relationships/image" Target="../media/image99.jpeg"/><Relationship Id="rId38" Type="http://schemas.openxmlformats.org/officeDocument/2006/relationships/image" Target="../media/image100.jpeg"/><Relationship Id="rId46" Type="http://schemas.openxmlformats.org/officeDocument/2006/relationships/image" Target="../media/image102.jpeg"/><Relationship Id="rId20" Type="http://schemas.openxmlformats.org/officeDocument/2006/relationships/image" Target="../media/image96.svg"/><Relationship Id="rId41" Type="http://schemas.openxmlformats.org/officeDocument/2006/relationships/image" Target="../media/image51.svg"/><Relationship Id="rId1" Type="http://schemas.openxmlformats.org/officeDocument/2006/relationships/slideLayout" Target="../slideLayouts/slideLayout7.xml"/><Relationship Id="rId6" Type="http://schemas.openxmlformats.org/officeDocument/2006/relationships/image" Target="../media/image16.svg"/></Relationships>
</file>

<file path=ppt/slides/_rels/slide22.xml.rels><?xml version="1.0" encoding="UTF-8" standalone="yes"?>
<Relationships xmlns="http://schemas.openxmlformats.org/package/2006/relationships"><Relationship Id="rId8" Type="http://schemas.openxmlformats.org/officeDocument/2006/relationships/image" Target="../media/image112.png"/><Relationship Id="rId3" Type="http://schemas.openxmlformats.org/officeDocument/2006/relationships/image" Target="../media/image3.jpeg"/><Relationship Id="rId7" Type="http://schemas.openxmlformats.org/officeDocument/2006/relationships/image" Target="../media/image111.png"/><Relationship Id="rId2" Type="http://schemas.openxmlformats.org/officeDocument/2006/relationships/notesSlide" Target="../notesSlides/notesSlide22.xml"/><Relationship Id="rId1" Type="http://schemas.openxmlformats.org/officeDocument/2006/relationships/slideLayout" Target="../slideLayouts/slideLayout7.xml"/><Relationship Id="rId6" Type="http://schemas.openxmlformats.org/officeDocument/2006/relationships/image" Target="../media/image110.png"/><Relationship Id="rId5" Type="http://schemas.openxmlformats.org/officeDocument/2006/relationships/image" Target="../media/image109.png"/><Relationship Id="rId4" Type="http://schemas.openxmlformats.org/officeDocument/2006/relationships/image" Target="../media/image108.png"/><Relationship Id="rId9" Type="http://schemas.openxmlformats.org/officeDocument/2006/relationships/image" Target="../media/image113.png"/></Relationships>
</file>

<file path=ppt/slides/_rels/slide23.xml.rels><?xml version="1.0" encoding="UTF-8" standalone="yes"?>
<Relationships xmlns="http://schemas.openxmlformats.org/package/2006/relationships"><Relationship Id="rId8" Type="http://schemas.openxmlformats.org/officeDocument/2006/relationships/image" Target="../media/image116.svg"/><Relationship Id="rId13" Type="http://schemas.openxmlformats.org/officeDocument/2006/relationships/image" Target="../media/image120.jpg"/><Relationship Id="rId3" Type="http://schemas.openxmlformats.org/officeDocument/2006/relationships/image" Target="../media/image82.jpeg"/><Relationship Id="rId7" Type="http://schemas.openxmlformats.org/officeDocument/2006/relationships/image" Target="../media/image115.svg"/><Relationship Id="rId12" Type="http://schemas.openxmlformats.org/officeDocument/2006/relationships/image" Target="../media/image119.svg"/><Relationship Id="rId2" Type="http://schemas.openxmlformats.org/officeDocument/2006/relationships/notesSlide" Target="../notesSlides/notesSlide23.xml"/><Relationship Id="rId1" Type="http://schemas.openxmlformats.org/officeDocument/2006/relationships/slideLayout" Target="../slideLayouts/slideLayout7.xml"/><Relationship Id="rId6" Type="http://schemas.openxmlformats.org/officeDocument/2006/relationships/image" Target="../media/image114.svg"/><Relationship Id="rId11" Type="http://schemas.openxmlformats.org/officeDocument/2006/relationships/image" Target="../media/image118.svg"/><Relationship Id="rId5" Type="http://schemas.openxmlformats.org/officeDocument/2006/relationships/image" Target="../media/image84.jpeg"/><Relationship Id="rId10" Type="http://schemas.openxmlformats.org/officeDocument/2006/relationships/image" Target="../media/image117.jpg"/><Relationship Id="rId4" Type="http://schemas.openxmlformats.org/officeDocument/2006/relationships/image" Target="../media/image83.jpeg"/><Relationship Id="rId9" Type="http://schemas.openxmlformats.org/officeDocument/2006/relationships/image" Target="../media/image3.jpeg"/></Relationships>
</file>

<file path=ppt/slides/_rels/slide24.xml.rels><?xml version="1.0" encoding="UTF-8" standalone="yes"?>
<Relationships xmlns="http://schemas.openxmlformats.org/package/2006/relationships"><Relationship Id="rId13" Type="http://schemas.openxmlformats.org/officeDocument/2006/relationships/image" Target="../media/image122.svg"/><Relationship Id="rId18" Type="http://schemas.openxmlformats.org/officeDocument/2006/relationships/image" Target="../media/image127.svg"/><Relationship Id="rId26" Type="http://schemas.openxmlformats.org/officeDocument/2006/relationships/image" Target="../media/image134.svg"/><Relationship Id="rId39" Type="http://schemas.openxmlformats.org/officeDocument/2006/relationships/image" Target="../media/image52.svg"/><Relationship Id="rId21" Type="http://schemas.openxmlformats.org/officeDocument/2006/relationships/image" Target="../media/image130.svg"/><Relationship Id="rId34" Type="http://schemas.openxmlformats.org/officeDocument/2006/relationships/image" Target="../media/image47.svg"/><Relationship Id="rId42" Type="http://schemas.openxmlformats.org/officeDocument/2006/relationships/image" Target="../media/image55.svg"/><Relationship Id="rId47" Type="http://schemas.openxmlformats.org/officeDocument/2006/relationships/image" Target="../media/image61.svg"/><Relationship Id="rId50" Type="http://schemas.openxmlformats.org/officeDocument/2006/relationships/image" Target="../media/image64.svg"/><Relationship Id="rId7" Type="http://schemas.openxmlformats.org/officeDocument/2006/relationships/image" Target="../media/image20.svg"/><Relationship Id="rId2" Type="http://schemas.openxmlformats.org/officeDocument/2006/relationships/notesSlide" Target="../notesSlides/notesSlide24.xml"/><Relationship Id="rId16" Type="http://schemas.openxmlformats.org/officeDocument/2006/relationships/image" Target="../media/image125.svg"/><Relationship Id="rId29" Type="http://schemas.openxmlformats.org/officeDocument/2006/relationships/image" Target="../media/image42.svg"/><Relationship Id="rId11" Type="http://schemas.openxmlformats.org/officeDocument/2006/relationships/image" Target="../media/image33.svg"/><Relationship Id="rId24" Type="http://schemas.openxmlformats.org/officeDocument/2006/relationships/image" Target="../media/image133.svg"/><Relationship Id="rId32" Type="http://schemas.openxmlformats.org/officeDocument/2006/relationships/image" Target="../media/image45.svg"/><Relationship Id="rId37" Type="http://schemas.openxmlformats.org/officeDocument/2006/relationships/image" Target="../media/image50.svg"/><Relationship Id="rId40" Type="http://schemas.openxmlformats.org/officeDocument/2006/relationships/image" Target="../media/image53.svg"/><Relationship Id="rId45" Type="http://schemas.openxmlformats.org/officeDocument/2006/relationships/image" Target="../media/image59.svg"/><Relationship Id="rId53" Type="http://schemas.openxmlformats.org/officeDocument/2006/relationships/image" Target="../media/image135.svg"/><Relationship Id="rId5" Type="http://schemas.openxmlformats.org/officeDocument/2006/relationships/image" Target="../media/image18.svg"/><Relationship Id="rId10" Type="http://schemas.openxmlformats.org/officeDocument/2006/relationships/image" Target="../media/image23.svg"/><Relationship Id="rId19" Type="http://schemas.openxmlformats.org/officeDocument/2006/relationships/image" Target="../media/image128.svg"/><Relationship Id="rId31" Type="http://schemas.openxmlformats.org/officeDocument/2006/relationships/image" Target="../media/image44.png"/><Relationship Id="rId44" Type="http://schemas.openxmlformats.org/officeDocument/2006/relationships/image" Target="../media/image58.svg"/><Relationship Id="rId52" Type="http://schemas.openxmlformats.org/officeDocument/2006/relationships/image" Target="../media/image66.svg"/><Relationship Id="rId4" Type="http://schemas.openxmlformats.org/officeDocument/2006/relationships/image" Target="../media/image14.svg"/><Relationship Id="rId9" Type="http://schemas.openxmlformats.org/officeDocument/2006/relationships/image" Target="../media/image22.svg"/><Relationship Id="rId14" Type="http://schemas.openxmlformats.org/officeDocument/2006/relationships/image" Target="../media/image123.svg"/><Relationship Id="rId22" Type="http://schemas.openxmlformats.org/officeDocument/2006/relationships/image" Target="../media/image131.svg"/><Relationship Id="rId27" Type="http://schemas.openxmlformats.org/officeDocument/2006/relationships/image" Target="../media/image40.svg"/><Relationship Id="rId30" Type="http://schemas.openxmlformats.org/officeDocument/2006/relationships/image" Target="../media/image43.svg"/><Relationship Id="rId35" Type="http://schemas.openxmlformats.org/officeDocument/2006/relationships/image" Target="../media/image48.svg"/><Relationship Id="rId43" Type="http://schemas.openxmlformats.org/officeDocument/2006/relationships/image" Target="../media/image56.svg"/><Relationship Id="rId48" Type="http://schemas.openxmlformats.org/officeDocument/2006/relationships/image" Target="../media/image62.svg"/><Relationship Id="rId8" Type="http://schemas.openxmlformats.org/officeDocument/2006/relationships/image" Target="../media/image21.jpeg"/><Relationship Id="rId51" Type="http://schemas.openxmlformats.org/officeDocument/2006/relationships/image" Target="../media/image65.svg"/><Relationship Id="rId3" Type="http://schemas.openxmlformats.org/officeDocument/2006/relationships/image" Target="../media/image3.jpeg"/><Relationship Id="rId12" Type="http://schemas.openxmlformats.org/officeDocument/2006/relationships/image" Target="../media/image121.png"/><Relationship Id="rId17" Type="http://schemas.openxmlformats.org/officeDocument/2006/relationships/image" Target="../media/image126.svg"/><Relationship Id="rId25" Type="http://schemas.openxmlformats.org/officeDocument/2006/relationships/image" Target="../media/image32.svg"/><Relationship Id="rId33" Type="http://schemas.openxmlformats.org/officeDocument/2006/relationships/image" Target="../media/image46.svg"/><Relationship Id="rId38" Type="http://schemas.openxmlformats.org/officeDocument/2006/relationships/image" Target="../media/image51.svg"/><Relationship Id="rId46" Type="http://schemas.openxmlformats.org/officeDocument/2006/relationships/image" Target="../media/image60.svg"/><Relationship Id="rId20" Type="http://schemas.openxmlformats.org/officeDocument/2006/relationships/image" Target="../media/image129.svg"/><Relationship Id="rId41" Type="http://schemas.openxmlformats.org/officeDocument/2006/relationships/image" Target="../media/image54.svg"/><Relationship Id="rId54" Type="http://schemas.openxmlformats.org/officeDocument/2006/relationships/image" Target="../media/image136.png"/><Relationship Id="rId1" Type="http://schemas.openxmlformats.org/officeDocument/2006/relationships/slideLayout" Target="../slideLayouts/slideLayout7.xml"/><Relationship Id="rId6" Type="http://schemas.openxmlformats.org/officeDocument/2006/relationships/image" Target="../media/image19.svg"/><Relationship Id="rId15" Type="http://schemas.openxmlformats.org/officeDocument/2006/relationships/image" Target="../media/image124.svg"/><Relationship Id="rId23" Type="http://schemas.openxmlformats.org/officeDocument/2006/relationships/image" Target="../media/image132.svg"/><Relationship Id="rId28" Type="http://schemas.openxmlformats.org/officeDocument/2006/relationships/image" Target="../media/image41.svg"/><Relationship Id="rId36" Type="http://schemas.openxmlformats.org/officeDocument/2006/relationships/image" Target="../media/image49.svg"/><Relationship Id="rId49" Type="http://schemas.openxmlformats.org/officeDocument/2006/relationships/image" Target="../media/image63.svg"/></Relationships>
</file>

<file path=ppt/slides/_rels/slide25.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25.xml"/><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26.xml"/><Relationship Id="rId1" Type="http://schemas.openxmlformats.org/officeDocument/2006/relationships/slideLayout" Target="../slideLayouts/slideLayout7.xml"/><Relationship Id="rId4" Type="http://schemas.openxmlformats.org/officeDocument/2006/relationships/image" Target="../media/image137.svg"/></Relationships>
</file>

<file path=ppt/slides/_rels/slide2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7.xml"/><Relationship Id="rId1" Type="http://schemas.openxmlformats.org/officeDocument/2006/relationships/slideLayout" Target="../slideLayouts/slideLayout7.xml"/><Relationship Id="rId4" Type="http://schemas.openxmlformats.org/officeDocument/2006/relationships/image" Target="../media/image3.jpeg"/></Relationships>
</file>

<file path=ppt/slides/_rels/slide28.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28.xml"/><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3" Type="http://schemas.openxmlformats.org/officeDocument/2006/relationships/image" Target="../media/image138.png"/><Relationship Id="rId2" Type="http://schemas.openxmlformats.org/officeDocument/2006/relationships/notesSlide" Target="../notesSlides/notesSlide29.xml"/><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31.xml"/><Relationship Id="rId1" Type="http://schemas.openxmlformats.org/officeDocument/2006/relationships/slideLayout" Target="../slideLayouts/slideLayout7.xml"/><Relationship Id="rId4" Type="http://schemas.openxmlformats.org/officeDocument/2006/relationships/image" Target="../media/image3.jpeg"/></Relationships>
</file>

<file path=ppt/slides/_rels/slide32.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32.xml"/><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34.xml"/><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35.xml"/><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36.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A0A0A"/>
        </a:solidFill>
        <a:effectLst/>
      </p:bgPr>
    </p:bg>
    <p:spTree>
      <p:nvGrpSpPr>
        <p:cNvPr id="1" name=""/>
        <p:cNvGrpSpPr/>
        <p:nvPr/>
      </p:nvGrpSpPr>
      <p:grpSpPr>
        <a:xfrm>
          <a:off x="0" y="0"/>
          <a:ext cx="0" cy="0"/>
          <a:chOff x="0" y="0"/>
          <a:chExt cx="0" cy="0"/>
        </a:xfrm>
      </p:grpSpPr>
      <p:grpSp>
        <p:nvGrpSpPr>
          <p:cNvPr id="2" name="Group 2"/>
          <p:cNvGrpSpPr/>
          <p:nvPr/>
        </p:nvGrpSpPr>
        <p:grpSpPr>
          <a:xfrm>
            <a:off x="2410164" y="3358496"/>
            <a:ext cx="4018673" cy="5289080"/>
            <a:chOff x="0" y="0"/>
            <a:chExt cx="4720590" cy="6212891"/>
          </a:xfrm>
        </p:grpSpPr>
        <p:sp>
          <p:nvSpPr>
            <p:cNvPr id="3" name="Freeform 3"/>
            <p:cNvSpPr/>
            <p:nvPr/>
          </p:nvSpPr>
          <p:spPr>
            <a:xfrm flipH="1">
              <a:off x="0" y="0"/>
              <a:ext cx="4720590" cy="6212967"/>
            </a:xfrm>
            <a:custGeom>
              <a:avLst/>
              <a:gdLst/>
              <a:ahLst/>
              <a:cxnLst/>
              <a:rect l="l" t="t" r="r" b="b"/>
              <a:pathLst>
                <a:path w="4720590" h="6212967">
                  <a:moveTo>
                    <a:pt x="4720590" y="259207"/>
                  </a:moveTo>
                  <a:cubicBezTo>
                    <a:pt x="4720590" y="116078"/>
                    <a:pt x="4604512" y="0"/>
                    <a:pt x="4461383" y="0"/>
                  </a:cubicBezTo>
                  <a:lnTo>
                    <a:pt x="259207" y="0"/>
                  </a:lnTo>
                  <a:cubicBezTo>
                    <a:pt x="116078" y="0"/>
                    <a:pt x="0" y="116078"/>
                    <a:pt x="0" y="259207"/>
                  </a:cubicBezTo>
                  <a:lnTo>
                    <a:pt x="0" y="5953760"/>
                  </a:lnTo>
                  <a:cubicBezTo>
                    <a:pt x="0" y="6096889"/>
                    <a:pt x="116078" y="6212967"/>
                    <a:pt x="259207" y="6212967"/>
                  </a:cubicBezTo>
                  <a:lnTo>
                    <a:pt x="4461383" y="6212967"/>
                  </a:lnTo>
                  <a:cubicBezTo>
                    <a:pt x="4604512" y="6212840"/>
                    <a:pt x="4720590" y="6096889"/>
                    <a:pt x="4720590" y="5953760"/>
                  </a:cubicBezTo>
                  <a:close/>
                </a:path>
              </a:pathLst>
            </a:custGeom>
            <a:blipFill>
              <a:blip r:embed="rId3"/>
              <a:stretch>
                <a:fillRect l="-850" r="-850"/>
              </a:stretch>
            </a:blipFill>
            <a:ln w="42862" cap="sq">
              <a:solidFill>
                <a:srgbClr val="FFFFFF"/>
              </a:solidFill>
              <a:prstDash val="solid"/>
              <a:miter/>
            </a:ln>
          </p:spPr>
          <p:txBody>
            <a:bodyPr/>
            <a:lstStyle/>
            <a:p>
              <a:endParaRPr lang="en-US"/>
            </a:p>
          </p:txBody>
        </p:sp>
      </p:grpSp>
      <p:grpSp>
        <p:nvGrpSpPr>
          <p:cNvPr id="4" name="Group 4"/>
          <p:cNvGrpSpPr/>
          <p:nvPr/>
        </p:nvGrpSpPr>
        <p:grpSpPr>
          <a:xfrm>
            <a:off x="813205" y="3840088"/>
            <a:ext cx="2048841" cy="1878040"/>
            <a:chOff x="0" y="0"/>
            <a:chExt cx="2406699" cy="2206066"/>
          </a:xfrm>
        </p:grpSpPr>
        <p:sp>
          <p:nvSpPr>
            <p:cNvPr id="5" name="Freeform 5"/>
            <p:cNvSpPr/>
            <p:nvPr/>
          </p:nvSpPr>
          <p:spPr>
            <a:xfrm>
              <a:off x="0" y="0"/>
              <a:ext cx="2406664" cy="2206117"/>
            </a:xfrm>
            <a:custGeom>
              <a:avLst/>
              <a:gdLst/>
              <a:ahLst/>
              <a:cxnLst/>
              <a:rect l="l" t="t" r="r" b="b"/>
              <a:pathLst>
                <a:path w="2406664" h="2206117">
                  <a:moveTo>
                    <a:pt x="0" y="189103"/>
                  </a:moveTo>
                  <a:cubicBezTo>
                    <a:pt x="0" y="84709"/>
                    <a:pt x="117437" y="0"/>
                    <a:pt x="262164" y="0"/>
                  </a:cubicBezTo>
                  <a:lnTo>
                    <a:pt x="2144500" y="0"/>
                  </a:lnTo>
                  <a:cubicBezTo>
                    <a:pt x="2289227" y="0"/>
                    <a:pt x="2406664" y="84709"/>
                    <a:pt x="2406664" y="189103"/>
                  </a:cubicBezTo>
                  <a:lnTo>
                    <a:pt x="2406664" y="2017014"/>
                  </a:lnTo>
                  <a:cubicBezTo>
                    <a:pt x="2406664" y="2121408"/>
                    <a:pt x="2289227" y="2206117"/>
                    <a:pt x="2144500" y="2206117"/>
                  </a:cubicBezTo>
                  <a:lnTo>
                    <a:pt x="262164" y="2206117"/>
                  </a:lnTo>
                  <a:cubicBezTo>
                    <a:pt x="117437" y="2206117"/>
                    <a:pt x="0" y="2121408"/>
                    <a:pt x="0" y="2017014"/>
                  </a:cubicBezTo>
                  <a:close/>
                </a:path>
              </a:pathLst>
            </a:custGeom>
            <a:blipFill>
              <a:blip r:embed="rId4"/>
              <a:stretch>
                <a:fillRect l="-10399" r="-10399"/>
              </a:stretch>
            </a:blipFill>
            <a:ln w="42862" cap="sq">
              <a:solidFill>
                <a:srgbClr val="FFFFFF"/>
              </a:solidFill>
              <a:prstDash val="solid"/>
              <a:miter/>
            </a:ln>
          </p:spPr>
          <p:txBody>
            <a:bodyPr/>
            <a:lstStyle/>
            <a:p>
              <a:endParaRPr lang="en-US"/>
            </a:p>
          </p:txBody>
        </p:sp>
      </p:grpSp>
      <p:grpSp>
        <p:nvGrpSpPr>
          <p:cNvPr id="6" name="Group 6"/>
          <p:cNvGrpSpPr/>
          <p:nvPr/>
        </p:nvGrpSpPr>
        <p:grpSpPr>
          <a:xfrm>
            <a:off x="7201502" y="3358496"/>
            <a:ext cx="9172471" cy="548640"/>
            <a:chOff x="0" y="0"/>
            <a:chExt cx="12229962" cy="731520"/>
          </a:xfrm>
        </p:grpSpPr>
        <p:sp>
          <p:nvSpPr>
            <p:cNvPr id="7" name="Freeform 7"/>
            <p:cNvSpPr/>
            <p:nvPr/>
          </p:nvSpPr>
          <p:spPr>
            <a:xfrm>
              <a:off x="0" y="0"/>
              <a:ext cx="12229962" cy="731520"/>
            </a:xfrm>
            <a:custGeom>
              <a:avLst/>
              <a:gdLst/>
              <a:ahLst/>
              <a:cxnLst/>
              <a:rect l="l" t="t" r="r" b="b"/>
              <a:pathLst>
                <a:path w="12229962" h="731520">
                  <a:moveTo>
                    <a:pt x="0" y="0"/>
                  </a:moveTo>
                  <a:lnTo>
                    <a:pt x="12229962" y="0"/>
                  </a:lnTo>
                  <a:lnTo>
                    <a:pt x="12229962" y="731520"/>
                  </a:lnTo>
                  <a:lnTo>
                    <a:pt x="0" y="731520"/>
                  </a:lnTo>
                  <a:close/>
                </a:path>
              </a:pathLst>
            </a:custGeom>
            <a:blipFill>
              <a:blip r:embed="rId5">
                <a:alphaModFix amt="0"/>
              </a:blip>
              <a:stretch>
                <a:fillRect t="-339700" r="-19627" b="-339700"/>
              </a:stretch>
            </a:blipFill>
          </p:spPr>
          <p:txBody>
            <a:bodyPr/>
            <a:lstStyle/>
            <a:p>
              <a:endParaRPr lang="en-US"/>
            </a:p>
          </p:txBody>
        </p:sp>
        <p:sp>
          <p:nvSpPr>
            <p:cNvPr id="8" name="TextBox 8"/>
            <p:cNvSpPr txBox="1"/>
            <p:nvPr/>
          </p:nvSpPr>
          <p:spPr>
            <a:xfrm>
              <a:off x="0" y="-9525"/>
              <a:ext cx="12229962" cy="741045"/>
            </a:xfrm>
            <a:prstGeom prst="rect">
              <a:avLst/>
            </a:prstGeom>
          </p:spPr>
          <p:txBody>
            <a:bodyPr lIns="0" tIns="0" rIns="0" bIns="0" rtlCol="0" anchor="ctr"/>
            <a:lstStyle/>
            <a:p>
              <a:pPr algn="l">
                <a:lnSpc>
                  <a:spcPts val="2520"/>
                </a:lnSpc>
              </a:pPr>
              <a:r>
                <a:rPr lang="en-US" sz="2100" b="1" spc="450">
                  <a:solidFill>
                    <a:srgbClr val="93A9CF"/>
                  </a:solidFill>
                  <a:latin typeface="Arial Bold"/>
                  <a:ea typeface="Arial Bold"/>
                  <a:cs typeface="Arial Bold"/>
                  <a:sym typeface="Arial Bold"/>
                </a:rPr>
                <a:t>UI/UX DESIGN | PRODUCT MANAGEMENT</a:t>
              </a:r>
            </a:p>
          </p:txBody>
        </p:sp>
      </p:grpSp>
      <p:grpSp>
        <p:nvGrpSpPr>
          <p:cNvPr id="9" name="Group 9"/>
          <p:cNvGrpSpPr/>
          <p:nvPr/>
        </p:nvGrpSpPr>
        <p:grpSpPr>
          <a:xfrm>
            <a:off x="7144174" y="3829314"/>
            <a:ext cx="10892310" cy="2487364"/>
            <a:chOff x="0" y="0"/>
            <a:chExt cx="14523080" cy="3316486"/>
          </a:xfrm>
        </p:grpSpPr>
        <p:sp>
          <p:nvSpPr>
            <p:cNvPr id="10" name="Freeform 10"/>
            <p:cNvSpPr/>
            <p:nvPr/>
          </p:nvSpPr>
          <p:spPr>
            <a:xfrm>
              <a:off x="0" y="0"/>
              <a:ext cx="14523079" cy="3316486"/>
            </a:xfrm>
            <a:custGeom>
              <a:avLst/>
              <a:gdLst/>
              <a:ahLst/>
              <a:cxnLst/>
              <a:rect l="l" t="t" r="r" b="b"/>
              <a:pathLst>
                <a:path w="14523079" h="3316486">
                  <a:moveTo>
                    <a:pt x="0" y="0"/>
                  </a:moveTo>
                  <a:lnTo>
                    <a:pt x="14523079" y="0"/>
                  </a:lnTo>
                  <a:lnTo>
                    <a:pt x="14523079" y="3316486"/>
                  </a:lnTo>
                  <a:lnTo>
                    <a:pt x="0" y="3316486"/>
                  </a:lnTo>
                  <a:close/>
                </a:path>
              </a:pathLst>
            </a:custGeom>
            <a:blipFill>
              <a:blip r:embed="rId5">
                <a:alphaModFix amt="0"/>
              </a:blip>
              <a:stretch>
                <a:fillRect t="-55202" r="-19627" b="-48944"/>
              </a:stretch>
            </a:blipFill>
          </p:spPr>
          <p:txBody>
            <a:bodyPr/>
            <a:lstStyle/>
            <a:p>
              <a:endParaRPr lang="en-US"/>
            </a:p>
          </p:txBody>
        </p:sp>
        <p:sp>
          <p:nvSpPr>
            <p:cNvPr id="11" name="TextBox 11"/>
            <p:cNvSpPr txBox="1"/>
            <p:nvPr/>
          </p:nvSpPr>
          <p:spPr>
            <a:xfrm>
              <a:off x="0" y="-47625"/>
              <a:ext cx="14523080" cy="3364111"/>
            </a:xfrm>
            <a:prstGeom prst="rect">
              <a:avLst/>
            </a:prstGeom>
          </p:spPr>
          <p:txBody>
            <a:bodyPr lIns="0" tIns="0" rIns="0" bIns="0" rtlCol="0" anchor="ctr"/>
            <a:lstStyle/>
            <a:p>
              <a:pPr algn="l">
                <a:lnSpc>
                  <a:spcPts val="14400"/>
                </a:lnSpc>
              </a:pPr>
              <a:r>
                <a:rPr lang="en-US" sz="12000" b="1">
                  <a:solidFill>
                    <a:srgbClr val="FFFFFF"/>
                  </a:solidFill>
                  <a:latin typeface="Arial Bold"/>
                  <a:ea typeface="Arial Bold"/>
                  <a:cs typeface="Arial Bold"/>
                  <a:sym typeface="Arial Bold"/>
                </a:rPr>
                <a:t>BeReal.</a:t>
              </a:r>
            </a:p>
          </p:txBody>
        </p:sp>
      </p:grpSp>
      <p:grpSp>
        <p:nvGrpSpPr>
          <p:cNvPr id="12" name="Group 12"/>
          <p:cNvGrpSpPr/>
          <p:nvPr/>
        </p:nvGrpSpPr>
        <p:grpSpPr>
          <a:xfrm>
            <a:off x="7201502" y="6101696"/>
            <a:ext cx="9860407" cy="822960"/>
            <a:chOff x="0" y="0"/>
            <a:chExt cx="13147209" cy="1097280"/>
          </a:xfrm>
        </p:grpSpPr>
        <p:sp>
          <p:nvSpPr>
            <p:cNvPr id="13" name="Freeform 13"/>
            <p:cNvSpPr/>
            <p:nvPr/>
          </p:nvSpPr>
          <p:spPr>
            <a:xfrm>
              <a:off x="0" y="0"/>
              <a:ext cx="13147210" cy="1097280"/>
            </a:xfrm>
            <a:custGeom>
              <a:avLst/>
              <a:gdLst/>
              <a:ahLst/>
              <a:cxnLst/>
              <a:rect l="l" t="t" r="r" b="b"/>
              <a:pathLst>
                <a:path w="13147210" h="1097280">
                  <a:moveTo>
                    <a:pt x="0" y="0"/>
                  </a:moveTo>
                  <a:lnTo>
                    <a:pt x="13147210" y="0"/>
                  </a:lnTo>
                  <a:lnTo>
                    <a:pt x="13147210" y="1097280"/>
                  </a:lnTo>
                  <a:lnTo>
                    <a:pt x="0" y="1097280"/>
                  </a:lnTo>
                  <a:close/>
                </a:path>
              </a:pathLst>
            </a:custGeom>
            <a:blipFill>
              <a:blip r:embed="rId5">
                <a:alphaModFix amt="0"/>
              </a:blip>
              <a:stretch>
                <a:fillRect t="-229285" r="-19627" b="-229285"/>
              </a:stretch>
            </a:blipFill>
          </p:spPr>
          <p:txBody>
            <a:bodyPr/>
            <a:lstStyle/>
            <a:p>
              <a:endParaRPr lang="en-US"/>
            </a:p>
          </p:txBody>
        </p:sp>
        <p:sp>
          <p:nvSpPr>
            <p:cNvPr id="14" name="TextBox 14"/>
            <p:cNvSpPr txBox="1"/>
            <p:nvPr/>
          </p:nvSpPr>
          <p:spPr>
            <a:xfrm>
              <a:off x="0" y="-19050"/>
              <a:ext cx="13147209" cy="1116330"/>
            </a:xfrm>
            <a:prstGeom prst="rect">
              <a:avLst/>
            </a:prstGeom>
          </p:spPr>
          <p:txBody>
            <a:bodyPr lIns="0" tIns="0" rIns="0" bIns="0" rtlCol="0" anchor="ctr"/>
            <a:lstStyle/>
            <a:p>
              <a:pPr algn="l">
                <a:lnSpc>
                  <a:spcPts val="3240"/>
                </a:lnSpc>
              </a:pPr>
              <a:r>
                <a:rPr lang="en-US" sz="2700" i="1">
                  <a:solidFill>
                    <a:srgbClr val="93A9CF"/>
                  </a:solidFill>
                  <a:latin typeface="Arial Italics"/>
                  <a:ea typeface="Arial Italics"/>
                  <a:cs typeface="Arial Italics"/>
                  <a:sym typeface="Arial Italics"/>
                </a:rPr>
                <a:t>BeReal Passport And Community Boards</a:t>
              </a:r>
            </a:p>
          </p:txBody>
        </p:sp>
      </p:grpSp>
      <p:sp>
        <p:nvSpPr>
          <p:cNvPr id="15" name="AutoShape 15"/>
          <p:cNvSpPr/>
          <p:nvPr/>
        </p:nvSpPr>
        <p:spPr>
          <a:xfrm>
            <a:off x="7189556" y="7184680"/>
            <a:ext cx="2317001" cy="28592"/>
          </a:xfrm>
          <a:prstGeom prst="line">
            <a:avLst/>
          </a:prstGeom>
          <a:ln w="19050" cap="rnd">
            <a:solidFill>
              <a:srgbClr val="2B2B2B"/>
            </a:solidFill>
            <a:prstDash val="solid"/>
            <a:headEnd type="none" w="sm" len="sm"/>
            <a:tailEnd type="none" w="sm" len="sm"/>
          </a:ln>
        </p:spPr>
        <p:txBody>
          <a:bodyPr/>
          <a:lstStyle/>
          <a:p>
            <a:endParaRPr lang="en-US"/>
          </a:p>
        </p:txBody>
      </p:sp>
      <p:grpSp>
        <p:nvGrpSpPr>
          <p:cNvPr id="16" name="Group 16"/>
          <p:cNvGrpSpPr/>
          <p:nvPr/>
        </p:nvGrpSpPr>
        <p:grpSpPr>
          <a:xfrm>
            <a:off x="7201502" y="7473296"/>
            <a:ext cx="6879354" cy="480060"/>
            <a:chOff x="0" y="0"/>
            <a:chExt cx="9172471" cy="640080"/>
          </a:xfrm>
        </p:grpSpPr>
        <p:sp>
          <p:nvSpPr>
            <p:cNvPr id="17" name="Freeform 17"/>
            <p:cNvSpPr/>
            <p:nvPr/>
          </p:nvSpPr>
          <p:spPr>
            <a:xfrm>
              <a:off x="0" y="0"/>
              <a:ext cx="9172471" cy="640080"/>
            </a:xfrm>
            <a:custGeom>
              <a:avLst/>
              <a:gdLst/>
              <a:ahLst/>
              <a:cxnLst/>
              <a:rect l="l" t="t" r="r" b="b"/>
              <a:pathLst>
                <a:path w="9172471" h="640080">
                  <a:moveTo>
                    <a:pt x="0" y="0"/>
                  </a:moveTo>
                  <a:lnTo>
                    <a:pt x="9172471" y="0"/>
                  </a:lnTo>
                  <a:lnTo>
                    <a:pt x="9172471" y="640080"/>
                  </a:lnTo>
                  <a:lnTo>
                    <a:pt x="0" y="640080"/>
                  </a:lnTo>
                  <a:close/>
                </a:path>
              </a:pathLst>
            </a:custGeom>
            <a:blipFill>
              <a:blip r:embed="rId5">
                <a:alphaModFix amt="0"/>
              </a:blip>
              <a:stretch>
                <a:fillRect t="-284029" r="-19627" b="-284029"/>
              </a:stretch>
            </a:blipFill>
          </p:spPr>
          <p:txBody>
            <a:bodyPr/>
            <a:lstStyle/>
            <a:p>
              <a:endParaRPr lang="en-US"/>
            </a:p>
          </p:txBody>
        </p:sp>
        <p:sp>
          <p:nvSpPr>
            <p:cNvPr id="18" name="TextBox 18"/>
            <p:cNvSpPr txBox="1"/>
            <p:nvPr/>
          </p:nvSpPr>
          <p:spPr>
            <a:xfrm>
              <a:off x="0" y="-19050"/>
              <a:ext cx="9172471" cy="659130"/>
            </a:xfrm>
            <a:prstGeom prst="rect">
              <a:avLst/>
            </a:prstGeom>
          </p:spPr>
          <p:txBody>
            <a:bodyPr lIns="0" tIns="0" rIns="0" bIns="0" rtlCol="0" anchor="ctr"/>
            <a:lstStyle/>
            <a:p>
              <a:pPr algn="l">
                <a:lnSpc>
                  <a:spcPts val="2160"/>
                </a:lnSpc>
              </a:pPr>
              <a:r>
                <a:rPr lang="en-US" sz="1800">
                  <a:solidFill>
                    <a:srgbClr val="FFFFFF"/>
                  </a:solidFill>
                  <a:latin typeface="Arial"/>
                  <a:ea typeface="Arial"/>
                  <a:cs typeface="Arial"/>
                  <a:sym typeface="Arial"/>
                </a:rPr>
                <a:t>Enhancement Proposal •  2026</a:t>
              </a:r>
            </a:p>
          </p:txBody>
        </p:sp>
      </p:grpSp>
      <p:sp>
        <p:nvSpPr>
          <p:cNvPr id="19" name="Freeform 19"/>
          <p:cNvSpPr/>
          <p:nvPr/>
        </p:nvSpPr>
        <p:spPr>
          <a:xfrm>
            <a:off x="2161514" y="1605934"/>
            <a:ext cx="4515973" cy="1030206"/>
          </a:xfrm>
          <a:custGeom>
            <a:avLst/>
            <a:gdLst/>
            <a:ahLst/>
            <a:cxnLst/>
            <a:rect l="l" t="t" r="r" b="b"/>
            <a:pathLst>
              <a:path w="4515973" h="1030206">
                <a:moveTo>
                  <a:pt x="0" y="0"/>
                </a:moveTo>
                <a:lnTo>
                  <a:pt x="4515973" y="0"/>
                </a:lnTo>
                <a:lnTo>
                  <a:pt x="4515973" y="1030206"/>
                </a:lnTo>
                <a:lnTo>
                  <a:pt x="0" y="1030206"/>
                </a:lnTo>
                <a:lnTo>
                  <a:pt x="0" y="0"/>
                </a:lnTo>
                <a:close/>
              </a:path>
            </a:pathLst>
          </a:custGeom>
          <a:blipFill>
            <a:blip>
              <a:extLst>
                <a:ext uri="{96DAC541-7B7A-43D3-8B79-37D633B846F1}">
                  <asvg:svgBlip xmlns:asvg="http://schemas.microsoft.com/office/drawing/2016/SVG/main" r:embed="rId6"/>
                </a:ext>
              </a:extLst>
            </a:blip>
            <a:stretch>
              <a:fillRect/>
            </a:stretch>
          </a:blipFill>
        </p:spPr>
        <p:txBody>
          <a:bodyPr/>
          <a:lstStyle/>
          <a:p>
            <a:endParaRPr lang="en-US"/>
          </a:p>
        </p:txBody>
      </p:sp>
      <p:grpSp>
        <p:nvGrpSpPr>
          <p:cNvPr id="20" name="Group 20"/>
          <p:cNvGrpSpPr/>
          <p:nvPr/>
        </p:nvGrpSpPr>
        <p:grpSpPr>
          <a:xfrm>
            <a:off x="7201502" y="8201006"/>
            <a:ext cx="6879354" cy="480060"/>
            <a:chOff x="0" y="0"/>
            <a:chExt cx="9172471" cy="640080"/>
          </a:xfrm>
        </p:grpSpPr>
        <p:sp>
          <p:nvSpPr>
            <p:cNvPr id="21" name="Freeform 21"/>
            <p:cNvSpPr/>
            <p:nvPr/>
          </p:nvSpPr>
          <p:spPr>
            <a:xfrm>
              <a:off x="0" y="0"/>
              <a:ext cx="9172471" cy="640080"/>
            </a:xfrm>
            <a:custGeom>
              <a:avLst/>
              <a:gdLst/>
              <a:ahLst/>
              <a:cxnLst/>
              <a:rect l="l" t="t" r="r" b="b"/>
              <a:pathLst>
                <a:path w="9172471" h="640080">
                  <a:moveTo>
                    <a:pt x="0" y="0"/>
                  </a:moveTo>
                  <a:lnTo>
                    <a:pt x="9172471" y="0"/>
                  </a:lnTo>
                  <a:lnTo>
                    <a:pt x="9172471" y="640080"/>
                  </a:lnTo>
                  <a:lnTo>
                    <a:pt x="0" y="640080"/>
                  </a:lnTo>
                  <a:close/>
                </a:path>
              </a:pathLst>
            </a:custGeom>
            <a:blipFill>
              <a:blip r:embed="rId5">
                <a:alphaModFix amt="0"/>
              </a:blip>
              <a:stretch>
                <a:fillRect t="-284029" r="-19627" b="-284029"/>
              </a:stretch>
            </a:blipFill>
          </p:spPr>
          <p:txBody>
            <a:bodyPr/>
            <a:lstStyle/>
            <a:p>
              <a:endParaRPr lang="en-US"/>
            </a:p>
          </p:txBody>
        </p:sp>
        <p:sp>
          <p:nvSpPr>
            <p:cNvPr id="22" name="TextBox 22"/>
            <p:cNvSpPr txBox="1"/>
            <p:nvPr/>
          </p:nvSpPr>
          <p:spPr>
            <a:xfrm>
              <a:off x="0" y="-19050"/>
              <a:ext cx="9172471" cy="659130"/>
            </a:xfrm>
            <a:prstGeom prst="rect">
              <a:avLst/>
            </a:prstGeom>
          </p:spPr>
          <p:txBody>
            <a:bodyPr lIns="0" tIns="0" rIns="0" bIns="0" rtlCol="0" anchor="ctr"/>
            <a:lstStyle/>
            <a:p>
              <a:pPr algn="l">
                <a:lnSpc>
                  <a:spcPts val="2160"/>
                </a:lnSpc>
              </a:pPr>
              <a:r>
                <a:rPr lang="en-US" sz="1800">
                  <a:solidFill>
                    <a:srgbClr val="FFFFFF"/>
                  </a:solidFill>
                  <a:latin typeface="Arial"/>
                  <a:ea typeface="Arial"/>
                  <a:cs typeface="Arial"/>
                  <a:sym typeface="Arial"/>
                </a:rPr>
                <a:t>Presented by Lashawn Fofung, MBA, PMP, CSM, CSPO</a:t>
              </a:r>
            </a:p>
          </p:txBody>
        </p:sp>
      </p:gr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2" name="TextBox 2"/>
          <p:cNvSpPr txBox="1"/>
          <p:nvPr/>
        </p:nvSpPr>
        <p:spPr>
          <a:xfrm>
            <a:off x="960120" y="666750"/>
            <a:ext cx="16367760" cy="206467"/>
          </a:xfrm>
          <a:prstGeom prst="rect">
            <a:avLst/>
          </a:prstGeom>
        </p:spPr>
        <p:txBody>
          <a:bodyPr lIns="0" tIns="0" rIns="0" bIns="0" rtlCol="0" anchor="t">
            <a:spAutoFit/>
          </a:bodyPr>
          <a:lstStyle/>
          <a:p>
            <a:pPr algn="l">
              <a:lnSpc>
                <a:spcPts val="1559"/>
              </a:lnSpc>
            </a:pPr>
            <a:r>
              <a:rPr lang="en-US" b="1" spc="599" dirty="0">
                <a:solidFill>
                  <a:srgbClr val="93A9CF"/>
                </a:solidFill>
                <a:latin typeface="Arial Bold"/>
                <a:ea typeface="Arial Bold"/>
                <a:cs typeface="Arial Bold"/>
                <a:sym typeface="Arial Bold"/>
              </a:rPr>
              <a:t>PROJECT AT A GLANCE</a:t>
            </a:r>
          </a:p>
        </p:txBody>
      </p:sp>
      <p:sp>
        <p:nvSpPr>
          <p:cNvPr id="3" name="TextBox 3"/>
          <p:cNvSpPr txBox="1"/>
          <p:nvPr/>
        </p:nvSpPr>
        <p:spPr>
          <a:xfrm>
            <a:off x="960120" y="1179195"/>
            <a:ext cx="16367760" cy="578428"/>
          </a:xfrm>
          <a:prstGeom prst="rect">
            <a:avLst/>
          </a:prstGeom>
        </p:spPr>
        <p:txBody>
          <a:bodyPr lIns="0" tIns="0" rIns="0" bIns="0" rtlCol="0" anchor="t">
            <a:spAutoFit/>
          </a:bodyPr>
          <a:lstStyle/>
          <a:p>
            <a:pPr algn="l">
              <a:lnSpc>
                <a:spcPts val="4799"/>
              </a:lnSpc>
            </a:pPr>
            <a:r>
              <a:rPr lang="en-US" sz="3999" b="1" dirty="0">
                <a:solidFill>
                  <a:srgbClr val="FFFFFF"/>
                </a:solidFill>
                <a:latin typeface="Arial Bold"/>
                <a:ea typeface="Arial Bold"/>
                <a:cs typeface="Arial Bold"/>
                <a:sym typeface="Arial Bold"/>
              </a:rPr>
              <a:t>From Teardown To Tested Pitch In Five Steps</a:t>
            </a:r>
          </a:p>
        </p:txBody>
      </p:sp>
      <p:grpSp>
        <p:nvGrpSpPr>
          <p:cNvPr id="4" name="Group 4"/>
          <p:cNvGrpSpPr/>
          <p:nvPr/>
        </p:nvGrpSpPr>
        <p:grpSpPr>
          <a:xfrm>
            <a:off x="960120" y="2606040"/>
            <a:ext cx="3054096" cy="3017520"/>
            <a:chOff x="0" y="0"/>
            <a:chExt cx="4072128" cy="4023360"/>
          </a:xfrm>
        </p:grpSpPr>
        <p:sp>
          <p:nvSpPr>
            <p:cNvPr id="5" name="Freeform 5"/>
            <p:cNvSpPr/>
            <p:nvPr/>
          </p:nvSpPr>
          <p:spPr>
            <a:xfrm>
              <a:off x="0" y="0"/>
              <a:ext cx="4072128" cy="4023360"/>
            </a:xfrm>
            <a:custGeom>
              <a:avLst/>
              <a:gdLst/>
              <a:ahLst/>
              <a:cxnLst/>
              <a:rect l="l" t="t" r="r" b="b"/>
              <a:pathLst>
                <a:path w="4072128" h="4023360">
                  <a:moveTo>
                    <a:pt x="0" y="146304"/>
                  </a:moveTo>
                  <a:cubicBezTo>
                    <a:pt x="0" y="65532"/>
                    <a:pt x="65532" y="0"/>
                    <a:pt x="146304" y="0"/>
                  </a:cubicBezTo>
                  <a:lnTo>
                    <a:pt x="3925824" y="0"/>
                  </a:lnTo>
                  <a:cubicBezTo>
                    <a:pt x="4006596" y="0"/>
                    <a:pt x="4072128" y="65532"/>
                    <a:pt x="4072128" y="146304"/>
                  </a:cubicBezTo>
                  <a:lnTo>
                    <a:pt x="4072128" y="3877056"/>
                  </a:lnTo>
                  <a:cubicBezTo>
                    <a:pt x="4072128" y="3957828"/>
                    <a:pt x="4006596" y="4023360"/>
                    <a:pt x="3925824" y="4023360"/>
                  </a:cubicBezTo>
                  <a:lnTo>
                    <a:pt x="146304" y="4023360"/>
                  </a:lnTo>
                  <a:cubicBezTo>
                    <a:pt x="65532" y="4023360"/>
                    <a:pt x="0" y="3957828"/>
                    <a:pt x="0" y="3877056"/>
                  </a:cubicBezTo>
                  <a:close/>
                </a:path>
              </a:pathLst>
            </a:custGeom>
            <a:solidFill>
              <a:srgbClr val="222222"/>
            </a:solidFill>
          </p:spPr>
          <p:txBody>
            <a:bodyPr/>
            <a:lstStyle/>
            <a:p>
              <a:endParaRPr lang="en-US"/>
            </a:p>
          </p:txBody>
        </p:sp>
      </p:grpSp>
      <p:grpSp>
        <p:nvGrpSpPr>
          <p:cNvPr id="6" name="Group 6"/>
          <p:cNvGrpSpPr/>
          <p:nvPr/>
        </p:nvGrpSpPr>
        <p:grpSpPr>
          <a:xfrm>
            <a:off x="1280160" y="2926080"/>
            <a:ext cx="548640" cy="548640"/>
            <a:chOff x="0" y="0"/>
            <a:chExt cx="731520" cy="731520"/>
          </a:xfrm>
        </p:grpSpPr>
        <p:sp>
          <p:nvSpPr>
            <p:cNvPr id="7" name="Freeform 7"/>
            <p:cNvSpPr/>
            <p:nvPr/>
          </p:nvSpPr>
          <p:spPr>
            <a:xfrm>
              <a:off x="0" y="0"/>
              <a:ext cx="731520" cy="731520"/>
            </a:xfrm>
            <a:custGeom>
              <a:avLst/>
              <a:gdLst/>
              <a:ahLst/>
              <a:cxnLst/>
              <a:rect l="l" t="t" r="r" b="b"/>
              <a:pathLst>
                <a:path w="731520" h="731520">
                  <a:moveTo>
                    <a:pt x="0" y="365760"/>
                  </a:moveTo>
                  <a:cubicBezTo>
                    <a:pt x="0" y="163703"/>
                    <a:pt x="163703" y="0"/>
                    <a:pt x="365760" y="0"/>
                  </a:cubicBezTo>
                  <a:cubicBezTo>
                    <a:pt x="567817" y="0"/>
                    <a:pt x="731520" y="163703"/>
                    <a:pt x="731520" y="365760"/>
                  </a:cubicBezTo>
                  <a:cubicBezTo>
                    <a:pt x="731520" y="567817"/>
                    <a:pt x="567817" y="731520"/>
                    <a:pt x="365760" y="731520"/>
                  </a:cubicBezTo>
                  <a:cubicBezTo>
                    <a:pt x="163703" y="731520"/>
                    <a:pt x="0" y="567817"/>
                    <a:pt x="0" y="365760"/>
                  </a:cubicBezTo>
                  <a:close/>
                </a:path>
              </a:pathLst>
            </a:custGeom>
            <a:solidFill>
              <a:srgbClr val="FFDE59"/>
            </a:solidFill>
          </p:spPr>
          <p:txBody>
            <a:bodyPr/>
            <a:lstStyle/>
            <a:p>
              <a:endParaRPr lang="en-US"/>
            </a:p>
          </p:txBody>
        </p:sp>
        <p:sp>
          <p:nvSpPr>
            <p:cNvPr id="8" name="TextBox 8"/>
            <p:cNvSpPr txBox="1"/>
            <p:nvPr/>
          </p:nvSpPr>
          <p:spPr>
            <a:xfrm>
              <a:off x="0" y="-19050"/>
              <a:ext cx="731520" cy="750570"/>
            </a:xfrm>
            <a:prstGeom prst="rect">
              <a:avLst/>
            </a:prstGeom>
          </p:spPr>
          <p:txBody>
            <a:bodyPr lIns="50800" tIns="50800" rIns="50800" bIns="50800" rtlCol="0" anchor="ctr"/>
            <a:lstStyle/>
            <a:p>
              <a:pPr algn="ctr">
                <a:lnSpc>
                  <a:spcPts val="1919"/>
                </a:lnSpc>
              </a:pPr>
              <a:r>
                <a:rPr lang="en-US" sz="1599" b="1">
                  <a:solidFill>
                    <a:srgbClr val="0A0A0A"/>
                  </a:solidFill>
                  <a:latin typeface="Arial Bold"/>
                  <a:ea typeface="Arial Bold"/>
                  <a:cs typeface="Arial Bold"/>
                  <a:sym typeface="Arial Bold"/>
                </a:rPr>
                <a:t>01</a:t>
              </a:r>
            </a:p>
          </p:txBody>
        </p:sp>
      </p:grpSp>
      <p:sp>
        <p:nvSpPr>
          <p:cNvPr id="9" name="TextBox 9"/>
          <p:cNvSpPr txBox="1"/>
          <p:nvPr/>
        </p:nvSpPr>
        <p:spPr>
          <a:xfrm>
            <a:off x="1280160" y="3739515"/>
            <a:ext cx="2414016" cy="466725"/>
          </a:xfrm>
          <a:prstGeom prst="rect">
            <a:avLst/>
          </a:prstGeom>
        </p:spPr>
        <p:txBody>
          <a:bodyPr lIns="0" tIns="0" rIns="0" bIns="0" rtlCol="0" anchor="t">
            <a:spAutoFit/>
          </a:bodyPr>
          <a:lstStyle/>
          <a:p>
            <a:pPr algn="l">
              <a:lnSpc>
                <a:spcPts val="2520"/>
              </a:lnSpc>
            </a:pPr>
            <a:r>
              <a:rPr lang="en-US" sz="2100" b="1">
                <a:solidFill>
                  <a:srgbClr val="FFFFFF"/>
                </a:solidFill>
                <a:latin typeface="Arial Bold"/>
                <a:ea typeface="Arial Bold"/>
                <a:cs typeface="Arial Bold"/>
                <a:sym typeface="Arial Bold"/>
              </a:rPr>
              <a:t>Discover</a:t>
            </a:r>
          </a:p>
        </p:txBody>
      </p:sp>
      <p:sp>
        <p:nvSpPr>
          <p:cNvPr id="10" name="TextBox 10"/>
          <p:cNvSpPr txBox="1"/>
          <p:nvPr/>
        </p:nvSpPr>
        <p:spPr>
          <a:xfrm>
            <a:off x="1280160" y="4259580"/>
            <a:ext cx="2414016" cy="1226820"/>
          </a:xfrm>
          <a:prstGeom prst="rect">
            <a:avLst/>
          </a:prstGeom>
        </p:spPr>
        <p:txBody>
          <a:bodyPr lIns="0" tIns="0" rIns="0" bIns="0" rtlCol="0" anchor="t">
            <a:spAutoFit/>
          </a:bodyPr>
          <a:lstStyle/>
          <a:p>
            <a:pPr algn="l">
              <a:lnSpc>
                <a:spcPts val="1800"/>
              </a:lnSpc>
            </a:pPr>
            <a:r>
              <a:rPr lang="en-US" sz="1500">
                <a:solidFill>
                  <a:srgbClr val="B4B4BC"/>
                </a:solidFill>
                <a:latin typeface="Calibri (MS)"/>
                <a:ea typeface="Calibri (MS)"/>
                <a:cs typeface="Calibri (MS)"/>
                <a:sym typeface="Calibri (MS)"/>
              </a:rPr>
              <a:t>BeReal UI/UX teardown and corporate snapshot</a:t>
            </a:r>
          </a:p>
        </p:txBody>
      </p:sp>
      <p:grpSp>
        <p:nvGrpSpPr>
          <p:cNvPr id="11" name="Group 11"/>
          <p:cNvGrpSpPr/>
          <p:nvPr/>
        </p:nvGrpSpPr>
        <p:grpSpPr>
          <a:xfrm>
            <a:off x="4288536" y="2606040"/>
            <a:ext cx="3054096" cy="3017520"/>
            <a:chOff x="0" y="0"/>
            <a:chExt cx="4072128" cy="4023360"/>
          </a:xfrm>
        </p:grpSpPr>
        <p:sp>
          <p:nvSpPr>
            <p:cNvPr id="12" name="Freeform 12"/>
            <p:cNvSpPr/>
            <p:nvPr/>
          </p:nvSpPr>
          <p:spPr>
            <a:xfrm>
              <a:off x="0" y="0"/>
              <a:ext cx="4072128" cy="4023360"/>
            </a:xfrm>
            <a:custGeom>
              <a:avLst/>
              <a:gdLst/>
              <a:ahLst/>
              <a:cxnLst/>
              <a:rect l="l" t="t" r="r" b="b"/>
              <a:pathLst>
                <a:path w="4072128" h="4023360">
                  <a:moveTo>
                    <a:pt x="0" y="146304"/>
                  </a:moveTo>
                  <a:cubicBezTo>
                    <a:pt x="0" y="65532"/>
                    <a:pt x="65532" y="0"/>
                    <a:pt x="146304" y="0"/>
                  </a:cubicBezTo>
                  <a:lnTo>
                    <a:pt x="3925824" y="0"/>
                  </a:lnTo>
                  <a:cubicBezTo>
                    <a:pt x="4006596" y="0"/>
                    <a:pt x="4072128" y="65532"/>
                    <a:pt x="4072128" y="146304"/>
                  </a:cubicBezTo>
                  <a:lnTo>
                    <a:pt x="4072128" y="3877056"/>
                  </a:lnTo>
                  <a:cubicBezTo>
                    <a:pt x="4072128" y="3957828"/>
                    <a:pt x="4006596" y="4023360"/>
                    <a:pt x="3925824" y="4023360"/>
                  </a:cubicBezTo>
                  <a:lnTo>
                    <a:pt x="146304" y="4023360"/>
                  </a:lnTo>
                  <a:cubicBezTo>
                    <a:pt x="65532" y="4023360"/>
                    <a:pt x="0" y="3957828"/>
                    <a:pt x="0" y="3877056"/>
                  </a:cubicBezTo>
                  <a:close/>
                </a:path>
              </a:pathLst>
            </a:custGeom>
            <a:solidFill>
              <a:srgbClr val="222222"/>
            </a:solidFill>
          </p:spPr>
          <p:txBody>
            <a:bodyPr/>
            <a:lstStyle/>
            <a:p>
              <a:endParaRPr lang="en-US"/>
            </a:p>
          </p:txBody>
        </p:sp>
      </p:grpSp>
      <p:grpSp>
        <p:nvGrpSpPr>
          <p:cNvPr id="13" name="Group 13"/>
          <p:cNvGrpSpPr/>
          <p:nvPr/>
        </p:nvGrpSpPr>
        <p:grpSpPr>
          <a:xfrm>
            <a:off x="4608576" y="2926080"/>
            <a:ext cx="548640" cy="548640"/>
            <a:chOff x="0" y="0"/>
            <a:chExt cx="731520" cy="731520"/>
          </a:xfrm>
        </p:grpSpPr>
        <p:sp>
          <p:nvSpPr>
            <p:cNvPr id="14" name="Freeform 14"/>
            <p:cNvSpPr/>
            <p:nvPr/>
          </p:nvSpPr>
          <p:spPr>
            <a:xfrm>
              <a:off x="0" y="0"/>
              <a:ext cx="731520" cy="731520"/>
            </a:xfrm>
            <a:custGeom>
              <a:avLst/>
              <a:gdLst/>
              <a:ahLst/>
              <a:cxnLst/>
              <a:rect l="l" t="t" r="r" b="b"/>
              <a:pathLst>
                <a:path w="731520" h="731520">
                  <a:moveTo>
                    <a:pt x="0" y="365760"/>
                  </a:moveTo>
                  <a:cubicBezTo>
                    <a:pt x="0" y="163703"/>
                    <a:pt x="163703" y="0"/>
                    <a:pt x="365760" y="0"/>
                  </a:cubicBezTo>
                  <a:cubicBezTo>
                    <a:pt x="567817" y="0"/>
                    <a:pt x="731520" y="163703"/>
                    <a:pt x="731520" y="365760"/>
                  </a:cubicBezTo>
                  <a:cubicBezTo>
                    <a:pt x="731520" y="567817"/>
                    <a:pt x="567817" y="731520"/>
                    <a:pt x="365760" y="731520"/>
                  </a:cubicBezTo>
                  <a:cubicBezTo>
                    <a:pt x="163703" y="731520"/>
                    <a:pt x="0" y="567817"/>
                    <a:pt x="0" y="365760"/>
                  </a:cubicBezTo>
                  <a:close/>
                </a:path>
              </a:pathLst>
            </a:custGeom>
            <a:solidFill>
              <a:srgbClr val="FFDE59"/>
            </a:solidFill>
          </p:spPr>
          <p:txBody>
            <a:bodyPr/>
            <a:lstStyle/>
            <a:p>
              <a:endParaRPr lang="en-US"/>
            </a:p>
          </p:txBody>
        </p:sp>
        <p:sp>
          <p:nvSpPr>
            <p:cNvPr id="15" name="TextBox 15"/>
            <p:cNvSpPr txBox="1"/>
            <p:nvPr/>
          </p:nvSpPr>
          <p:spPr>
            <a:xfrm>
              <a:off x="0" y="-19050"/>
              <a:ext cx="731520" cy="750570"/>
            </a:xfrm>
            <a:prstGeom prst="rect">
              <a:avLst/>
            </a:prstGeom>
          </p:spPr>
          <p:txBody>
            <a:bodyPr lIns="50800" tIns="50800" rIns="50800" bIns="50800" rtlCol="0" anchor="ctr"/>
            <a:lstStyle/>
            <a:p>
              <a:pPr algn="ctr">
                <a:lnSpc>
                  <a:spcPts val="1919"/>
                </a:lnSpc>
              </a:pPr>
              <a:r>
                <a:rPr lang="en-US" sz="1599" b="1">
                  <a:solidFill>
                    <a:srgbClr val="0A0A0A"/>
                  </a:solidFill>
                  <a:latin typeface="Arial Bold"/>
                  <a:ea typeface="Arial Bold"/>
                  <a:cs typeface="Arial Bold"/>
                  <a:sym typeface="Arial Bold"/>
                </a:rPr>
                <a:t>02</a:t>
              </a:r>
            </a:p>
          </p:txBody>
        </p:sp>
      </p:grpSp>
      <p:sp>
        <p:nvSpPr>
          <p:cNvPr id="16" name="TextBox 16"/>
          <p:cNvSpPr txBox="1"/>
          <p:nvPr/>
        </p:nvSpPr>
        <p:spPr>
          <a:xfrm>
            <a:off x="4608576" y="3739515"/>
            <a:ext cx="2414016" cy="466725"/>
          </a:xfrm>
          <a:prstGeom prst="rect">
            <a:avLst/>
          </a:prstGeom>
        </p:spPr>
        <p:txBody>
          <a:bodyPr lIns="0" tIns="0" rIns="0" bIns="0" rtlCol="0" anchor="t">
            <a:spAutoFit/>
          </a:bodyPr>
          <a:lstStyle/>
          <a:p>
            <a:pPr algn="l">
              <a:lnSpc>
                <a:spcPts val="2520"/>
              </a:lnSpc>
            </a:pPr>
            <a:r>
              <a:rPr lang="en-US" sz="2100" b="1">
                <a:solidFill>
                  <a:srgbClr val="FFFFFF"/>
                </a:solidFill>
                <a:latin typeface="Arial Bold"/>
                <a:ea typeface="Arial Bold"/>
                <a:cs typeface="Arial Bold"/>
                <a:sym typeface="Arial Bold"/>
              </a:rPr>
              <a:t>Define</a:t>
            </a:r>
          </a:p>
        </p:txBody>
      </p:sp>
      <p:sp>
        <p:nvSpPr>
          <p:cNvPr id="17" name="TextBox 17"/>
          <p:cNvSpPr txBox="1"/>
          <p:nvPr/>
        </p:nvSpPr>
        <p:spPr>
          <a:xfrm>
            <a:off x="4608576" y="4259580"/>
            <a:ext cx="2414016" cy="1226820"/>
          </a:xfrm>
          <a:prstGeom prst="rect">
            <a:avLst/>
          </a:prstGeom>
        </p:spPr>
        <p:txBody>
          <a:bodyPr lIns="0" tIns="0" rIns="0" bIns="0" rtlCol="0" anchor="t">
            <a:spAutoFit/>
          </a:bodyPr>
          <a:lstStyle/>
          <a:p>
            <a:pPr algn="l">
              <a:lnSpc>
                <a:spcPts val="1800"/>
              </a:lnSpc>
            </a:pPr>
            <a:r>
              <a:rPr lang="en-US" sz="1500">
                <a:solidFill>
                  <a:srgbClr val="B4B4BC"/>
                </a:solidFill>
                <a:latin typeface="Calibri (MS)"/>
                <a:ea typeface="Calibri (MS)"/>
                <a:cs typeface="Calibri (MS)"/>
                <a:sym typeface="Calibri (MS)"/>
              </a:rPr>
              <a:t>Introvert persona and 5-stage journey map</a:t>
            </a:r>
          </a:p>
        </p:txBody>
      </p:sp>
      <p:grpSp>
        <p:nvGrpSpPr>
          <p:cNvPr id="18" name="Group 18"/>
          <p:cNvGrpSpPr/>
          <p:nvPr/>
        </p:nvGrpSpPr>
        <p:grpSpPr>
          <a:xfrm>
            <a:off x="7616952" y="2606040"/>
            <a:ext cx="3054096" cy="3017520"/>
            <a:chOff x="0" y="0"/>
            <a:chExt cx="4072128" cy="4023360"/>
          </a:xfrm>
        </p:grpSpPr>
        <p:sp>
          <p:nvSpPr>
            <p:cNvPr id="19" name="Freeform 19"/>
            <p:cNvSpPr/>
            <p:nvPr/>
          </p:nvSpPr>
          <p:spPr>
            <a:xfrm>
              <a:off x="0" y="0"/>
              <a:ext cx="4072128" cy="4023360"/>
            </a:xfrm>
            <a:custGeom>
              <a:avLst/>
              <a:gdLst/>
              <a:ahLst/>
              <a:cxnLst/>
              <a:rect l="l" t="t" r="r" b="b"/>
              <a:pathLst>
                <a:path w="4072128" h="4023360">
                  <a:moveTo>
                    <a:pt x="0" y="146304"/>
                  </a:moveTo>
                  <a:cubicBezTo>
                    <a:pt x="0" y="65532"/>
                    <a:pt x="65532" y="0"/>
                    <a:pt x="146304" y="0"/>
                  </a:cubicBezTo>
                  <a:lnTo>
                    <a:pt x="3925824" y="0"/>
                  </a:lnTo>
                  <a:cubicBezTo>
                    <a:pt x="4006596" y="0"/>
                    <a:pt x="4072128" y="65532"/>
                    <a:pt x="4072128" y="146304"/>
                  </a:cubicBezTo>
                  <a:lnTo>
                    <a:pt x="4072128" y="3877056"/>
                  </a:lnTo>
                  <a:cubicBezTo>
                    <a:pt x="4072128" y="3957828"/>
                    <a:pt x="4006596" y="4023360"/>
                    <a:pt x="3925824" y="4023360"/>
                  </a:cubicBezTo>
                  <a:lnTo>
                    <a:pt x="146304" y="4023360"/>
                  </a:lnTo>
                  <a:cubicBezTo>
                    <a:pt x="65532" y="4023360"/>
                    <a:pt x="0" y="3957828"/>
                    <a:pt x="0" y="3877056"/>
                  </a:cubicBezTo>
                  <a:close/>
                </a:path>
              </a:pathLst>
            </a:custGeom>
            <a:solidFill>
              <a:srgbClr val="222222"/>
            </a:solidFill>
          </p:spPr>
          <p:txBody>
            <a:bodyPr/>
            <a:lstStyle/>
            <a:p>
              <a:endParaRPr lang="en-US"/>
            </a:p>
          </p:txBody>
        </p:sp>
      </p:grpSp>
      <p:grpSp>
        <p:nvGrpSpPr>
          <p:cNvPr id="20" name="Group 20"/>
          <p:cNvGrpSpPr/>
          <p:nvPr/>
        </p:nvGrpSpPr>
        <p:grpSpPr>
          <a:xfrm>
            <a:off x="7936992" y="2926080"/>
            <a:ext cx="548640" cy="548640"/>
            <a:chOff x="0" y="0"/>
            <a:chExt cx="731520" cy="731520"/>
          </a:xfrm>
        </p:grpSpPr>
        <p:sp>
          <p:nvSpPr>
            <p:cNvPr id="21" name="Freeform 21"/>
            <p:cNvSpPr/>
            <p:nvPr/>
          </p:nvSpPr>
          <p:spPr>
            <a:xfrm>
              <a:off x="0" y="0"/>
              <a:ext cx="731520" cy="731520"/>
            </a:xfrm>
            <a:custGeom>
              <a:avLst/>
              <a:gdLst/>
              <a:ahLst/>
              <a:cxnLst/>
              <a:rect l="l" t="t" r="r" b="b"/>
              <a:pathLst>
                <a:path w="731520" h="731520">
                  <a:moveTo>
                    <a:pt x="0" y="365760"/>
                  </a:moveTo>
                  <a:cubicBezTo>
                    <a:pt x="0" y="163703"/>
                    <a:pt x="163703" y="0"/>
                    <a:pt x="365760" y="0"/>
                  </a:cubicBezTo>
                  <a:cubicBezTo>
                    <a:pt x="567817" y="0"/>
                    <a:pt x="731520" y="163703"/>
                    <a:pt x="731520" y="365760"/>
                  </a:cubicBezTo>
                  <a:cubicBezTo>
                    <a:pt x="731520" y="567817"/>
                    <a:pt x="567817" y="731520"/>
                    <a:pt x="365760" y="731520"/>
                  </a:cubicBezTo>
                  <a:cubicBezTo>
                    <a:pt x="163703" y="731520"/>
                    <a:pt x="0" y="567817"/>
                    <a:pt x="0" y="365760"/>
                  </a:cubicBezTo>
                  <a:close/>
                </a:path>
              </a:pathLst>
            </a:custGeom>
            <a:solidFill>
              <a:srgbClr val="FFDE59"/>
            </a:solidFill>
          </p:spPr>
          <p:txBody>
            <a:bodyPr/>
            <a:lstStyle/>
            <a:p>
              <a:endParaRPr lang="en-US"/>
            </a:p>
          </p:txBody>
        </p:sp>
        <p:sp>
          <p:nvSpPr>
            <p:cNvPr id="22" name="TextBox 22"/>
            <p:cNvSpPr txBox="1"/>
            <p:nvPr/>
          </p:nvSpPr>
          <p:spPr>
            <a:xfrm>
              <a:off x="0" y="-19050"/>
              <a:ext cx="731520" cy="750570"/>
            </a:xfrm>
            <a:prstGeom prst="rect">
              <a:avLst/>
            </a:prstGeom>
          </p:spPr>
          <p:txBody>
            <a:bodyPr lIns="50800" tIns="50800" rIns="50800" bIns="50800" rtlCol="0" anchor="ctr"/>
            <a:lstStyle/>
            <a:p>
              <a:pPr algn="ctr">
                <a:lnSpc>
                  <a:spcPts val="1919"/>
                </a:lnSpc>
              </a:pPr>
              <a:r>
                <a:rPr lang="en-US" sz="1599" b="1">
                  <a:solidFill>
                    <a:srgbClr val="0A0A0A"/>
                  </a:solidFill>
                  <a:latin typeface="Arial Bold"/>
                  <a:ea typeface="Arial Bold"/>
                  <a:cs typeface="Arial Bold"/>
                  <a:sym typeface="Arial Bold"/>
                </a:rPr>
                <a:t>03</a:t>
              </a:r>
            </a:p>
          </p:txBody>
        </p:sp>
      </p:grpSp>
      <p:sp>
        <p:nvSpPr>
          <p:cNvPr id="23" name="TextBox 23"/>
          <p:cNvSpPr txBox="1"/>
          <p:nvPr/>
        </p:nvSpPr>
        <p:spPr>
          <a:xfrm>
            <a:off x="7936992" y="3739515"/>
            <a:ext cx="2414016" cy="466725"/>
          </a:xfrm>
          <a:prstGeom prst="rect">
            <a:avLst/>
          </a:prstGeom>
        </p:spPr>
        <p:txBody>
          <a:bodyPr lIns="0" tIns="0" rIns="0" bIns="0" rtlCol="0" anchor="t">
            <a:spAutoFit/>
          </a:bodyPr>
          <a:lstStyle/>
          <a:p>
            <a:pPr algn="l">
              <a:lnSpc>
                <a:spcPts val="2520"/>
              </a:lnSpc>
            </a:pPr>
            <a:r>
              <a:rPr lang="en-US" sz="2100" b="1">
                <a:solidFill>
                  <a:srgbClr val="FFFFFF"/>
                </a:solidFill>
                <a:latin typeface="Arial Bold"/>
                <a:ea typeface="Arial Bold"/>
                <a:cs typeface="Arial Bold"/>
                <a:sym typeface="Arial Bold"/>
              </a:rPr>
              <a:t>Design</a:t>
            </a:r>
          </a:p>
        </p:txBody>
      </p:sp>
      <p:sp>
        <p:nvSpPr>
          <p:cNvPr id="24" name="TextBox 24"/>
          <p:cNvSpPr txBox="1"/>
          <p:nvPr/>
        </p:nvSpPr>
        <p:spPr>
          <a:xfrm>
            <a:off x="7936992" y="4259580"/>
            <a:ext cx="2414016" cy="1226820"/>
          </a:xfrm>
          <a:prstGeom prst="rect">
            <a:avLst/>
          </a:prstGeom>
        </p:spPr>
        <p:txBody>
          <a:bodyPr lIns="0" tIns="0" rIns="0" bIns="0" rtlCol="0" anchor="t">
            <a:spAutoFit/>
          </a:bodyPr>
          <a:lstStyle/>
          <a:p>
            <a:pPr algn="l">
              <a:lnSpc>
                <a:spcPts val="1800"/>
              </a:lnSpc>
            </a:pPr>
            <a:r>
              <a:rPr lang="en-US" sz="1500">
                <a:solidFill>
                  <a:srgbClr val="B4B4BC"/>
                </a:solidFill>
                <a:latin typeface="Calibri (MS)"/>
                <a:ea typeface="Calibri (MS)"/>
                <a:cs typeface="Calibri (MS)"/>
                <a:sym typeface="Calibri (MS)"/>
              </a:rPr>
              <a:t>7-screen user flow, UI states and hooks</a:t>
            </a:r>
          </a:p>
        </p:txBody>
      </p:sp>
      <p:grpSp>
        <p:nvGrpSpPr>
          <p:cNvPr id="25" name="Group 25"/>
          <p:cNvGrpSpPr/>
          <p:nvPr/>
        </p:nvGrpSpPr>
        <p:grpSpPr>
          <a:xfrm>
            <a:off x="10945368" y="2606040"/>
            <a:ext cx="3054096" cy="3017520"/>
            <a:chOff x="0" y="0"/>
            <a:chExt cx="4072128" cy="4023360"/>
          </a:xfrm>
        </p:grpSpPr>
        <p:sp>
          <p:nvSpPr>
            <p:cNvPr id="26" name="Freeform 26"/>
            <p:cNvSpPr/>
            <p:nvPr/>
          </p:nvSpPr>
          <p:spPr>
            <a:xfrm>
              <a:off x="0" y="0"/>
              <a:ext cx="4072128" cy="4023360"/>
            </a:xfrm>
            <a:custGeom>
              <a:avLst/>
              <a:gdLst/>
              <a:ahLst/>
              <a:cxnLst/>
              <a:rect l="l" t="t" r="r" b="b"/>
              <a:pathLst>
                <a:path w="4072128" h="4023360">
                  <a:moveTo>
                    <a:pt x="0" y="146304"/>
                  </a:moveTo>
                  <a:cubicBezTo>
                    <a:pt x="0" y="65532"/>
                    <a:pt x="65532" y="0"/>
                    <a:pt x="146304" y="0"/>
                  </a:cubicBezTo>
                  <a:lnTo>
                    <a:pt x="3925824" y="0"/>
                  </a:lnTo>
                  <a:cubicBezTo>
                    <a:pt x="4006596" y="0"/>
                    <a:pt x="4072128" y="65532"/>
                    <a:pt x="4072128" y="146304"/>
                  </a:cubicBezTo>
                  <a:lnTo>
                    <a:pt x="4072128" y="3877056"/>
                  </a:lnTo>
                  <a:cubicBezTo>
                    <a:pt x="4072128" y="3957828"/>
                    <a:pt x="4006596" y="4023360"/>
                    <a:pt x="3925824" y="4023360"/>
                  </a:cubicBezTo>
                  <a:lnTo>
                    <a:pt x="146304" y="4023360"/>
                  </a:lnTo>
                  <a:cubicBezTo>
                    <a:pt x="65532" y="4023360"/>
                    <a:pt x="0" y="3957828"/>
                    <a:pt x="0" y="3877056"/>
                  </a:cubicBezTo>
                  <a:close/>
                </a:path>
              </a:pathLst>
            </a:custGeom>
            <a:solidFill>
              <a:srgbClr val="222222"/>
            </a:solidFill>
          </p:spPr>
          <p:txBody>
            <a:bodyPr/>
            <a:lstStyle/>
            <a:p>
              <a:endParaRPr lang="en-US"/>
            </a:p>
          </p:txBody>
        </p:sp>
      </p:grpSp>
      <p:grpSp>
        <p:nvGrpSpPr>
          <p:cNvPr id="27" name="Group 27"/>
          <p:cNvGrpSpPr/>
          <p:nvPr/>
        </p:nvGrpSpPr>
        <p:grpSpPr>
          <a:xfrm>
            <a:off x="11265408" y="2926080"/>
            <a:ext cx="548640" cy="548640"/>
            <a:chOff x="0" y="0"/>
            <a:chExt cx="731520" cy="731520"/>
          </a:xfrm>
        </p:grpSpPr>
        <p:sp>
          <p:nvSpPr>
            <p:cNvPr id="28" name="Freeform 28"/>
            <p:cNvSpPr/>
            <p:nvPr/>
          </p:nvSpPr>
          <p:spPr>
            <a:xfrm>
              <a:off x="0" y="0"/>
              <a:ext cx="731520" cy="731520"/>
            </a:xfrm>
            <a:custGeom>
              <a:avLst/>
              <a:gdLst/>
              <a:ahLst/>
              <a:cxnLst/>
              <a:rect l="l" t="t" r="r" b="b"/>
              <a:pathLst>
                <a:path w="731520" h="731520">
                  <a:moveTo>
                    <a:pt x="0" y="365760"/>
                  </a:moveTo>
                  <a:cubicBezTo>
                    <a:pt x="0" y="163703"/>
                    <a:pt x="163703" y="0"/>
                    <a:pt x="365760" y="0"/>
                  </a:cubicBezTo>
                  <a:cubicBezTo>
                    <a:pt x="567817" y="0"/>
                    <a:pt x="731520" y="163703"/>
                    <a:pt x="731520" y="365760"/>
                  </a:cubicBezTo>
                  <a:cubicBezTo>
                    <a:pt x="731520" y="567817"/>
                    <a:pt x="567817" y="731520"/>
                    <a:pt x="365760" y="731520"/>
                  </a:cubicBezTo>
                  <a:cubicBezTo>
                    <a:pt x="163703" y="731520"/>
                    <a:pt x="0" y="567817"/>
                    <a:pt x="0" y="365760"/>
                  </a:cubicBezTo>
                  <a:close/>
                </a:path>
              </a:pathLst>
            </a:custGeom>
            <a:solidFill>
              <a:srgbClr val="FFDE59"/>
            </a:solidFill>
          </p:spPr>
          <p:txBody>
            <a:bodyPr/>
            <a:lstStyle/>
            <a:p>
              <a:endParaRPr lang="en-US"/>
            </a:p>
          </p:txBody>
        </p:sp>
        <p:sp>
          <p:nvSpPr>
            <p:cNvPr id="29" name="TextBox 29"/>
            <p:cNvSpPr txBox="1"/>
            <p:nvPr/>
          </p:nvSpPr>
          <p:spPr>
            <a:xfrm>
              <a:off x="0" y="-19050"/>
              <a:ext cx="731520" cy="750570"/>
            </a:xfrm>
            <a:prstGeom prst="rect">
              <a:avLst/>
            </a:prstGeom>
          </p:spPr>
          <p:txBody>
            <a:bodyPr lIns="50800" tIns="50800" rIns="50800" bIns="50800" rtlCol="0" anchor="ctr"/>
            <a:lstStyle/>
            <a:p>
              <a:pPr algn="ctr">
                <a:lnSpc>
                  <a:spcPts val="1919"/>
                </a:lnSpc>
              </a:pPr>
              <a:r>
                <a:rPr lang="en-US" sz="1599" b="1">
                  <a:solidFill>
                    <a:srgbClr val="0A0A0A"/>
                  </a:solidFill>
                  <a:latin typeface="Arial Bold"/>
                  <a:ea typeface="Arial Bold"/>
                  <a:cs typeface="Arial Bold"/>
                  <a:sym typeface="Arial Bold"/>
                </a:rPr>
                <a:t>04</a:t>
              </a:r>
            </a:p>
          </p:txBody>
        </p:sp>
      </p:grpSp>
      <p:sp>
        <p:nvSpPr>
          <p:cNvPr id="30" name="TextBox 30"/>
          <p:cNvSpPr txBox="1"/>
          <p:nvPr/>
        </p:nvSpPr>
        <p:spPr>
          <a:xfrm>
            <a:off x="11265408" y="3739515"/>
            <a:ext cx="2414016" cy="320601"/>
          </a:xfrm>
          <a:prstGeom prst="rect">
            <a:avLst/>
          </a:prstGeom>
        </p:spPr>
        <p:txBody>
          <a:bodyPr lIns="0" tIns="0" rIns="0" bIns="0" rtlCol="0" anchor="t">
            <a:spAutoFit/>
          </a:bodyPr>
          <a:lstStyle/>
          <a:p>
            <a:pPr algn="l">
              <a:lnSpc>
                <a:spcPts val="2520"/>
              </a:lnSpc>
            </a:pPr>
            <a:r>
              <a:rPr lang="en-US" sz="2100" b="1" dirty="0">
                <a:solidFill>
                  <a:srgbClr val="FFFFFF"/>
                </a:solidFill>
                <a:latin typeface="Arial Bold"/>
                <a:ea typeface="Arial Bold"/>
                <a:cs typeface="Arial Bold"/>
                <a:sym typeface="Arial Bold"/>
              </a:rPr>
              <a:t>Prototype &amp; Test</a:t>
            </a:r>
          </a:p>
        </p:txBody>
      </p:sp>
      <p:sp>
        <p:nvSpPr>
          <p:cNvPr id="31" name="TextBox 31"/>
          <p:cNvSpPr txBox="1"/>
          <p:nvPr/>
        </p:nvSpPr>
        <p:spPr>
          <a:xfrm>
            <a:off x="11265408" y="4259580"/>
            <a:ext cx="2414016" cy="1226820"/>
          </a:xfrm>
          <a:prstGeom prst="rect">
            <a:avLst/>
          </a:prstGeom>
        </p:spPr>
        <p:txBody>
          <a:bodyPr lIns="0" tIns="0" rIns="0" bIns="0" rtlCol="0" anchor="t">
            <a:spAutoFit/>
          </a:bodyPr>
          <a:lstStyle/>
          <a:p>
            <a:pPr algn="l">
              <a:lnSpc>
                <a:spcPts val="1800"/>
              </a:lnSpc>
            </a:pPr>
            <a:r>
              <a:rPr lang="en-US" sz="1500">
                <a:solidFill>
                  <a:srgbClr val="B4B4BC"/>
                </a:solidFill>
                <a:latin typeface="Calibri (MS)"/>
                <a:ea typeface="Calibri (MS)"/>
                <a:cs typeface="Calibri (MS)"/>
                <a:sym typeface="Calibri (MS)"/>
              </a:rPr>
              <a:t>Clickable prototype, 5-person focus group, survey</a:t>
            </a:r>
          </a:p>
        </p:txBody>
      </p:sp>
      <p:grpSp>
        <p:nvGrpSpPr>
          <p:cNvPr id="32" name="Group 32"/>
          <p:cNvGrpSpPr/>
          <p:nvPr/>
        </p:nvGrpSpPr>
        <p:grpSpPr>
          <a:xfrm>
            <a:off x="14273784" y="2606040"/>
            <a:ext cx="3054096" cy="3017520"/>
            <a:chOff x="0" y="0"/>
            <a:chExt cx="4072128" cy="4023360"/>
          </a:xfrm>
        </p:grpSpPr>
        <p:sp>
          <p:nvSpPr>
            <p:cNvPr id="33" name="Freeform 33"/>
            <p:cNvSpPr/>
            <p:nvPr/>
          </p:nvSpPr>
          <p:spPr>
            <a:xfrm>
              <a:off x="0" y="0"/>
              <a:ext cx="4072128" cy="4023360"/>
            </a:xfrm>
            <a:custGeom>
              <a:avLst/>
              <a:gdLst/>
              <a:ahLst/>
              <a:cxnLst/>
              <a:rect l="l" t="t" r="r" b="b"/>
              <a:pathLst>
                <a:path w="4072128" h="4023360">
                  <a:moveTo>
                    <a:pt x="0" y="146304"/>
                  </a:moveTo>
                  <a:cubicBezTo>
                    <a:pt x="0" y="65532"/>
                    <a:pt x="65532" y="0"/>
                    <a:pt x="146304" y="0"/>
                  </a:cubicBezTo>
                  <a:lnTo>
                    <a:pt x="3925824" y="0"/>
                  </a:lnTo>
                  <a:cubicBezTo>
                    <a:pt x="4006596" y="0"/>
                    <a:pt x="4072128" y="65532"/>
                    <a:pt x="4072128" y="146304"/>
                  </a:cubicBezTo>
                  <a:lnTo>
                    <a:pt x="4072128" y="3877056"/>
                  </a:lnTo>
                  <a:cubicBezTo>
                    <a:pt x="4072128" y="3957828"/>
                    <a:pt x="4006596" y="4023360"/>
                    <a:pt x="3925824" y="4023360"/>
                  </a:cubicBezTo>
                  <a:lnTo>
                    <a:pt x="146304" y="4023360"/>
                  </a:lnTo>
                  <a:cubicBezTo>
                    <a:pt x="65532" y="4023360"/>
                    <a:pt x="0" y="3957828"/>
                    <a:pt x="0" y="3877056"/>
                  </a:cubicBezTo>
                  <a:close/>
                </a:path>
              </a:pathLst>
            </a:custGeom>
            <a:solidFill>
              <a:srgbClr val="222222"/>
            </a:solidFill>
          </p:spPr>
          <p:txBody>
            <a:bodyPr/>
            <a:lstStyle/>
            <a:p>
              <a:endParaRPr lang="en-US"/>
            </a:p>
          </p:txBody>
        </p:sp>
      </p:grpSp>
      <p:grpSp>
        <p:nvGrpSpPr>
          <p:cNvPr id="34" name="Group 34"/>
          <p:cNvGrpSpPr/>
          <p:nvPr/>
        </p:nvGrpSpPr>
        <p:grpSpPr>
          <a:xfrm>
            <a:off x="14593824" y="2926080"/>
            <a:ext cx="548640" cy="548640"/>
            <a:chOff x="0" y="0"/>
            <a:chExt cx="731520" cy="731520"/>
          </a:xfrm>
        </p:grpSpPr>
        <p:sp>
          <p:nvSpPr>
            <p:cNvPr id="35" name="Freeform 35"/>
            <p:cNvSpPr/>
            <p:nvPr/>
          </p:nvSpPr>
          <p:spPr>
            <a:xfrm>
              <a:off x="0" y="0"/>
              <a:ext cx="731520" cy="731520"/>
            </a:xfrm>
            <a:custGeom>
              <a:avLst/>
              <a:gdLst/>
              <a:ahLst/>
              <a:cxnLst/>
              <a:rect l="l" t="t" r="r" b="b"/>
              <a:pathLst>
                <a:path w="731520" h="731520">
                  <a:moveTo>
                    <a:pt x="0" y="365760"/>
                  </a:moveTo>
                  <a:cubicBezTo>
                    <a:pt x="0" y="163703"/>
                    <a:pt x="163703" y="0"/>
                    <a:pt x="365760" y="0"/>
                  </a:cubicBezTo>
                  <a:cubicBezTo>
                    <a:pt x="567817" y="0"/>
                    <a:pt x="731520" y="163703"/>
                    <a:pt x="731520" y="365760"/>
                  </a:cubicBezTo>
                  <a:cubicBezTo>
                    <a:pt x="731520" y="567817"/>
                    <a:pt x="567817" y="731520"/>
                    <a:pt x="365760" y="731520"/>
                  </a:cubicBezTo>
                  <a:cubicBezTo>
                    <a:pt x="163703" y="731520"/>
                    <a:pt x="0" y="567817"/>
                    <a:pt x="0" y="365760"/>
                  </a:cubicBezTo>
                  <a:close/>
                </a:path>
              </a:pathLst>
            </a:custGeom>
            <a:solidFill>
              <a:srgbClr val="FFDE59"/>
            </a:solidFill>
          </p:spPr>
          <p:txBody>
            <a:bodyPr/>
            <a:lstStyle/>
            <a:p>
              <a:endParaRPr lang="en-US"/>
            </a:p>
          </p:txBody>
        </p:sp>
        <p:sp>
          <p:nvSpPr>
            <p:cNvPr id="36" name="TextBox 36"/>
            <p:cNvSpPr txBox="1"/>
            <p:nvPr/>
          </p:nvSpPr>
          <p:spPr>
            <a:xfrm>
              <a:off x="0" y="-19050"/>
              <a:ext cx="731520" cy="750570"/>
            </a:xfrm>
            <a:prstGeom prst="rect">
              <a:avLst/>
            </a:prstGeom>
          </p:spPr>
          <p:txBody>
            <a:bodyPr lIns="50800" tIns="50800" rIns="50800" bIns="50800" rtlCol="0" anchor="ctr"/>
            <a:lstStyle/>
            <a:p>
              <a:pPr algn="ctr">
                <a:lnSpc>
                  <a:spcPts val="1919"/>
                </a:lnSpc>
              </a:pPr>
              <a:r>
                <a:rPr lang="en-US" sz="1599" b="1">
                  <a:solidFill>
                    <a:srgbClr val="0A0A0A"/>
                  </a:solidFill>
                  <a:latin typeface="Arial Bold"/>
                  <a:ea typeface="Arial Bold"/>
                  <a:cs typeface="Arial Bold"/>
                  <a:sym typeface="Arial Bold"/>
                </a:rPr>
                <a:t>05</a:t>
              </a:r>
            </a:p>
          </p:txBody>
        </p:sp>
      </p:grpSp>
      <p:sp>
        <p:nvSpPr>
          <p:cNvPr id="37" name="TextBox 37"/>
          <p:cNvSpPr txBox="1"/>
          <p:nvPr/>
        </p:nvSpPr>
        <p:spPr>
          <a:xfrm>
            <a:off x="14593824" y="3739515"/>
            <a:ext cx="2414016" cy="466725"/>
          </a:xfrm>
          <a:prstGeom prst="rect">
            <a:avLst/>
          </a:prstGeom>
        </p:spPr>
        <p:txBody>
          <a:bodyPr lIns="0" tIns="0" rIns="0" bIns="0" rtlCol="0" anchor="t">
            <a:spAutoFit/>
          </a:bodyPr>
          <a:lstStyle/>
          <a:p>
            <a:pPr algn="l">
              <a:lnSpc>
                <a:spcPts val="2520"/>
              </a:lnSpc>
            </a:pPr>
            <a:r>
              <a:rPr lang="en-US" sz="2100" b="1">
                <a:solidFill>
                  <a:srgbClr val="FFFFFF"/>
                </a:solidFill>
                <a:latin typeface="Arial Bold"/>
                <a:ea typeface="Arial Bold"/>
                <a:cs typeface="Arial Bold"/>
                <a:sym typeface="Arial Bold"/>
              </a:rPr>
              <a:t>Pitch</a:t>
            </a:r>
          </a:p>
        </p:txBody>
      </p:sp>
      <p:sp>
        <p:nvSpPr>
          <p:cNvPr id="38" name="TextBox 38"/>
          <p:cNvSpPr txBox="1"/>
          <p:nvPr/>
        </p:nvSpPr>
        <p:spPr>
          <a:xfrm>
            <a:off x="14593824" y="4259580"/>
            <a:ext cx="2414016" cy="1226820"/>
          </a:xfrm>
          <a:prstGeom prst="rect">
            <a:avLst/>
          </a:prstGeom>
        </p:spPr>
        <p:txBody>
          <a:bodyPr lIns="0" tIns="0" rIns="0" bIns="0" rtlCol="0" anchor="t">
            <a:spAutoFit/>
          </a:bodyPr>
          <a:lstStyle/>
          <a:p>
            <a:pPr algn="l">
              <a:lnSpc>
                <a:spcPts val="1800"/>
              </a:lnSpc>
            </a:pPr>
            <a:r>
              <a:rPr lang="en-US" sz="1500">
                <a:solidFill>
                  <a:srgbClr val="B4B4BC"/>
                </a:solidFill>
                <a:latin typeface="Calibri (MS)"/>
                <a:ea typeface="Calibri (MS)"/>
                <a:cs typeface="Calibri (MS)"/>
                <a:sym typeface="Calibri (MS)"/>
              </a:rPr>
              <a:t>Test report, Refine recommendation, pitch video</a:t>
            </a:r>
          </a:p>
        </p:txBody>
      </p:sp>
      <p:sp>
        <p:nvSpPr>
          <p:cNvPr id="39" name="TextBox 39"/>
          <p:cNvSpPr txBox="1"/>
          <p:nvPr/>
        </p:nvSpPr>
        <p:spPr>
          <a:xfrm>
            <a:off x="960120" y="6153150"/>
            <a:ext cx="3817620" cy="339090"/>
          </a:xfrm>
          <a:prstGeom prst="rect">
            <a:avLst/>
          </a:prstGeom>
        </p:spPr>
        <p:txBody>
          <a:bodyPr lIns="0" tIns="0" rIns="0" bIns="0" rtlCol="0" anchor="t">
            <a:spAutoFit/>
          </a:bodyPr>
          <a:lstStyle/>
          <a:p>
            <a:pPr algn="l">
              <a:lnSpc>
                <a:spcPts val="1559"/>
              </a:lnSpc>
            </a:pPr>
            <a:r>
              <a:rPr lang="en-US" sz="1299" b="1" spc="399">
                <a:solidFill>
                  <a:srgbClr val="FFDE59"/>
                </a:solidFill>
                <a:latin typeface="Arial Bold"/>
                <a:ea typeface="Arial Bold"/>
                <a:cs typeface="Arial Bold"/>
                <a:sym typeface="Arial Bold"/>
              </a:rPr>
              <a:t>ROLE</a:t>
            </a:r>
          </a:p>
        </p:txBody>
      </p:sp>
      <p:sp>
        <p:nvSpPr>
          <p:cNvPr id="40" name="TextBox 40"/>
          <p:cNvSpPr txBox="1"/>
          <p:nvPr/>
        </p:nvSpPr>
        <p:spPr>
          <a:xfrm>
            <a:off x="960120" y="6555105"/>
            <a:ext cx="3817620" cy="1857375"/>
          </a:xfrm>
          <a:prstGeom prst="rect">
            <a:avLst/>
          </a:prstGeom>
        </p:spPr>
        <p:txBody>
          <a:bodyPr lIns="0" tIns="0" rIns="0" bIns="0" rtlCol="0" anchor="t">
            <a:spAutoFit/>
          </a:bodyPr>
          <a:lstStyle/>
          <a:p>
            <a:pPr algn="l">
              <a:lnSpc>
                <a:spcPts val="1919"/>
              </a:lnSpc>
            </a:pPr>
            <a:r>
              <a:rPr lang="en-US" sz="1599">
                <a:solidFill>
                  <a:srgbClr val="FFFFFF"/>
                </a:solidFill>
                <a:latin typeface="Calibri (MS)"/>
                <a:ea typeface="Calibri (MS)"/>
                <a:cs typeface="Calibri (MS)"/>
                <a:sym typeface="Calibri (MS)"/>
              </a:rPr>
              <a:t>UI/UX designer and product manager (solo project)</a:t>
            </a:r>
          </a:p>
        </p:txBody>
      </p:sp>
      <p:sp>
        <p:nvSpPr>
          <p:cNvPr id="41" name="TextBox 41"/>
          <p:cNvSpPr txBox="1"/>
          <p:nvPr/>
        </p:nvSpPr>
        <p:spPr>
          <a:xfrm>
            <a:off x="5143500" y="6153150"/>
            <a:ext cx="3817620" cy="339090"/>
          </a:xfrm>
          <a:prstGeom prst="rect">
            <a:avLst/>
          </a:prstGeom>
        </p:spPr>
        <p:txBody>
          <a:bodyPr lIns="0" tIns="0" rIns="0" bIns="0" rtlCol="0" anchor="t">
            <a:spAutoFit/>
          </a:bodyPr>
          <a:lstStyle/>
          <a:p>
            <a:pPr algn="l">
              <a:lnSpc>
                <a:spcPts val="1559"/>
              </a:lnSpc>
            </a:pPr>
            <a:r>
              <a:rPr lang="en-US" sz="1299" b="1" spc="399">
                <a:solidFill>
                  <a:srgbClr val="FFDE59"/>
                </a:solidFill>
                <a:latin typeface="Arial Bold"/>
                <a:ea typeface="Arial Bold"/>
                <a:cs typeface="Arial Bold"/>
                <a:sym typeface="Arial Bold"/>
              </a:rPr>
              <a:t>METHODS</a:t>
            </a:r>
          </a:p>
        </p:txBody>
      </p:sp>
      <p:sp>
        <p:nvSpPr>
          <p:cNvPr id="42" name="TextBox 42"/>
          <p:cNvSpPr txBox="1"/>
          <p:nvPr/>
        </p:nvSpPr>
        <p:spPr>
          <a:xfrm>
            <a:off x="5143500" y="6555105"/>
            <a:ext cx="3817620" cy="1857375"/>
          </a:xfrm>
          <a:prstGeom prst="rect">
            <a:avLst/>
          </a:prstGeom>
        </p:spPr>
        <p:txBody>
          <a:bodyPr lIns="0" tIns="0" rIns="0" bIns="0" rtlCol="0" anchor="t">
            <a:spAutoFit/>
          </a:bodyPr>
          <a:lstStyle/>
          <a:p>
            <a:pPr algn="l">
              <a:lnSpc>
                <a:spcPts val="1919"/>
              </a:lnSpc>
            </a:pPr>
            <a:r>
              <a:rPr lang="en-US" sz="1599">
                <a:solidFill>
                  <a:srgbClr val="FFFFFF"/>
                </a:solidFill>
                <a:latin typeface="Calibri (MS)"/>
                <a:ea typeface="Calibri (MS)"/>
                <a:cs typeface="Calibri (MS)"/>
                <a:sym typeface="Calibri (MS)"/>
              </a:rPr>
              <a:t>Product teardown, persona, journey mapping, usability testing, focus group, survey</a:t>
            </a:r>
          </a:p>
        </p:txBody>
      </p:sp>
      <p:sp>
        <p:nvSpPr>
          <p:cNvPr id="43" name="TextBox 43"/>
          <p:cNvSpPr txBox="1"/>
          <p:nvPr/>
        </p:nvSpPr>
        <p:spPr>
          <a:xfrm>
            <a:off x="9326880" y="6153150"/>
            <a:ext cx="3817620" cy="339090"/>
          </a:xfrm>
          <a:prstGeom prst="rect">
            <a:avLst/>
          </a:prstGeom>
        </p:spPr>
        <p:txBody>
          <a:bodyPr lIns="0" tIns="0" rIns="0" bIns="0" rtlCol="0" anchor="t">
            <a:spAutoFit/>
          </a:bodyPr>
          <a:lstStyle/>
          <a:p>
            <a:pPr algn="l">
              <a:lnSpc>
                <a:spcPts val="1559"/>
              </a:lnSpc>
            </a:pPr>
            <a:r>
              <a:rPr lang="en-US" sz="1299" b="1" spc="399">
                <a:solidFill>
                  <a:srgbClr val="FFDE59"/>
                </a:solidFill>
                <a:latin typeface="Arial Bold"/>
                <a:ea typeface="Arial Bold"/>
                <a:cs typeface="Arial Bold"/>
                <a:sym typeface="Arial Bold"/>
              </a:rPr>
              <a:t>TOOLS</a:t>
            </a:r>
          </a:p>
        </p:txBody>
      </p:sp>
      <p:sp>
        <p:nvSpPr>
          <p:cNvPr id="44" name="TextBox 44"/>
          <p:cNvSpPr txBox="1"/>
          <p:nvPr/>
        </p:nvSpPr>
        <p:spPr>
          <a:xfrm>
            <a:off x="9326880" y="6555105"/>
            <a:ext cx="3817620" cy="1857375"/>
          </a:xfrm>
          <a:prstGeom prst="rect">
            <a:avLst/>
          </a:prstGeom>
        </p:spPr>
        <p:txBody>
          <a:bodyPr lIns="0" tIns="0" rIns="0" bIns="0" rtlCol="0" anchor="t">
            <a:spAutoFit/>
          </a:bodyPr>
          <a:lstStyle/>
          <a:p>
            <a:pPr algn="l">
              <a:lnSpc>
                <a:spcPts val="1919"/>
              </a:lnSpc>
            </a:pPr>
            <a:r>
              <a:rPr lang="en-US" sz="1599">
                <a:solidFill>
                  <a:srgbClr val="FFFFFF"/>
                </a:solidFill>
                <a:latin typeface="Calibri (MS)"/>
                <a:ea typeface="Calibri (MS)"/>
                <a:cs typeface="Calibri (MS)"/>
                <a:sym typeface="Calibri (MS)"/>
              </a:rPr>
              <a:t>Canva, Claude (clickable prototype and promo reel), Google Forms, GitHub Pages</a:t>
            </a:r>
          </a:p>
        </p:txBody>
      </p:sp>
      <p:sp>
        <p:nvSpPr>
          <p:cNvPr id="45" name="TextBox 45"/>
          <p:cNvSpPr txBox="1"/>
          <p:nvPr/>
        </p:nvSpPr>
        <p:spPr>
          <a:xfrm>
            <a:off x="13510260" y="6153150"/>
            <a:ext cx="3817620" cy="339090"/>
          </a:xfrm>
          <a:prstGeom prst="rect">
            <a:avLst/>
          </a:prstGeom>
        </p:spPr>
        <p:txBody>
          <a:bodyPr lIns="0" tIns="0" rIns="0" bIns="0" rtlCol="0" anchor="t">
            <a:spAutoFit/>
          </a:bodyPr>
          <a:lstStyle/>
          <a:p>
            <a:pPr algn="l">
              <a:lnSpc>
                <a:spcPts val="1559"/>
              </a:lnSpc>
            </a:pPr>
            <a:r>
              <a:rPr lang="en-US" sz="1299" b="1" spc="399">
                <a:solidFill>
                  <a:srgbClr val="FFDE59"/>
                </a:solidFill>
                <a:latin typeface="Arial Bold"/>
                <a:ea typeface="Arial Bold"/>
                <a:cs typeface="Arial Bold"/>
                <a:sym typeface="Arial Bold"/>
              </a:rPr>
              <a:t>OUTCOME</a:t>
            </a:r>
          </a:p>
        </p:txBody>
      </p:sp>
      <p:sp>
        <p:nvSpPr>
          <p:cNvPr id="46" name="TextBox 46"/>
          <p:cNvSpPr txBox="1"/>
          <p:nvPr/>
        </p:nvSpPr>
        <p:spPr>
          <a:xfrm>
            <a:off x="13510260" y="6555105"/>
            <a:ext cx="3817620" cy="1857375"/>
          </a:xfrm>
          <a:prstGeom prst="rect">
            <a:avLst/>
          </a:prstGeom>
        </p:spPr>
        <p:txBody>
          <a:bodyPr lIns="0" tIns="0" rIns="0" bIns="0" rtlCol="0" anchor="t">
            <a:spAutoFit/>
          </a:bodyPr>
          <a:lstStyle/>
          <a:p>
            <a:pPr algn="l">
              <a:lnSpc>
                <a:spcPts val="1919"/>
              </a:lnSpc>
            </a:pPr>
            <a:r>
              <a:rPr lang="en-US" sz="1599">
                <a:solidFill>
                  <a:srgbClr val="FFFFFF"/>
                </a:solidFill>
                <a:latin typeface="Calibri (MS)"/>
                <a:ea typeface="Calibri (MS)"/>
                <a:cs typeface="Calibri (MS)"/>
                <a:sym typeface="Calibri (MS)"/>
              </a:rPr>
              <a:t>Concept validated with direction: 4 of 5 testers would open BeReal more often. Recommendation: refine, then retest</a:t>
            </a:r>
          </a:p>
        </p:txBody>
      </p:sp>
      <p:sp>
        <p:nvSpPr>
          <p:cNvPr id="47" name="TextBox 47"/>
          <p:cNvSpPr txBox="1"/>
          <p:nvPr/>
        </p:nvSpPr>
        <p:spPr>
          <a:xfrm>
            <a:off x="960120" y="8978265"/>
            <a:ext cx="16367760" cy="394335"/>
          </a:xfrm>
          <a:prstGeom prst="rect">
            <a:avLst/>
          </a:prstGeom>
        </p:spPr>
        <p:txBody>
          <a:bodyPr lIns="0" tIns="0" rIns="0" bIns="0" rtlCol="0" anchor="t">
            <a:spAutoFit/>
          </a:bodyPr>
          <a:lstStyle/>
          <a:p>
            <a:pPr algn="l">
              <a:lnSpc>
                <a:spcPts val="1680"/>
              </a:lnSpc>
            </a:pPr>
            <a:r>
              <a:rPr lang="en-US" sz="1400" b="1">
                <a:solidFill>
                  <a:srgbClr val="FFFFFF"/>
                </a:solidFill>
                <a:latin typeface="Calibri (MS) Bold"/>
                <a:ea typeface="Calibri (MS) Bold"/>
                <a:cs typeface="Calibri (MS) Bold"/>
                <a:sym typeface="Calibri (MS) Bold"/>
              </a:rPr>
              <a:t>Live prototype: </a:t>
            </a:r>
            <a:r>
              <a:rPr lang="en-US" sz="1400">
                <a:solidFill>
                  <a:srgbClr val="93A9CF"/>
                </a:solidFill>
                <a:latin typeface="Calibri (MS)"/>
                <a:ea typeface="Calibri (MS)"/>
                <a:cs typeface="Calibri (MS)"/>
                <a:sym typeface="Calibri (MS)"/>
              </a:rPr>
              <a:t>lashawnfofung.github.io/BeReal-RealProcess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2" name="TextBox 2"/>
          <p:cNvSpPr txBox="1"/>
          <p:nvPr/>
        </p:nvSpPr>
        <p:spPr>
          <a:xfrm>
            <a:off x="960120" y="666750"/>
            <a:ext cx="16367760" cy="206467"/>
          </a:xfrm>
          <a:prstGeom prst="rect">
            <a:avLst/>
          </a:prstGeom>
        </p:spPr>
        <p:txBody>
          <a:bodyPr lIns="0" tIns="0" rIns="0" bIns="0" rtlCol="0" anchor="t">
            <a:spAutoFit/>
          </a:bodyPr>
          <a:lstStyle/>
          <a:p>
            <a:pPr algn="l">
              <a:lnSpc>
                <a:spcPts val="1559"/>
              </a:lnSpc>
            </a:pPr>
            <a:r>
              <a:rPr lang="en-US" b="1" spc="599" dirty="0">
                <a:solidFill>
                  <a:srgbClr val="93A9CF"/>
                </a:solidFill>
                <a:latin typeface="Arial Bold"/>
                <a:ea typeface="Arial Bold"/>
                <a:cs typeface="Arial Bold"/>
                <a:sym typeface="Arial Bold"/>
              </a:rPr>
              <a:t>AGENDA</a:t>
            </a:r>
          </a:p>
        </p:txBody>
      </p:sp>
      <p:sp>
        <p:nvSpPr>
          <p:cNvPr id="3" name="TextBox 3"/>
          <p:cNvSpPr txBox="1"/>
          <p:nvPr/>
        </p:nvSpPr>
        <p:spPr>
          <a:xfrm>
            <a:off x="960120" y="1179195"/>
            <a:ext cx="16367760" cy="578428"/>
          </a:xfrm>
          <a:prstGeom prst="rect">
            <a:avLst/>
          </a:prstGeom>
        </p:spPr>
        <p:txBody>
          <a:bodyPr lIns="0" tIns="0" rIns="0" bIns="0" rtlCol="0" anchor="t">
            <a:spAutoFit/>
          </a:bodyPr>
          <a:lstStyle/>
          <a:p>
            <a:pPr algn="l">
              <a:lnSpc>
                <a:spcPts val="4799"/>
              </a:lnSpc>
            </a:pPr>
            <a:r>
              <a:rPr lang="en-US" sz="3999" b="1" dirty="0">
                <a:solidFill>
                  <a:srgbClr val="FFFFFF"/>
                </a:solidFill>
                <a:latin typeface="Arial Bold"/>
                <a:ea typeface="Arial Bold"/>
                <a:cs typeface="Arial Bold"/>
                <a:sym typeface="Arial Bold"/>
              </a:rPr>
              <a:t>What We’ll Cover</a:t>
            </a:r>
          </a:p>
        </p:txBody>
      </p:sp>
      <p:grpSp>
        <p:nvGrpSpPr>
          <p:cNvPr id="4" name="Group 4"/>
          <p:cNvGrpSpPr/>
          <p:nvPr/>
        </p:nvGrpSpPr>
        <p:grpSpPr>
          <a:xfrm>
            <a:off x="960120" y="2560320"/>
            <a:ext cx="3851910" cy="6629400"/>
            <a:chOff x="0" y="0"/>
            <a:chExt cx="5135880" cy="8839200"/>
          </a:xfrm>
        </p:grpSpPr>
        <p:sp>
          <p:nvSpPr>
            <p:cNvPr id="5" name="Freeform 5"/>
            <p:cNvSpPr/>
            <p:nvPr/>
          </p:nvSpPr>
          <p:spPr>
            <a:xfrm>
              <a:off x="0" y="0"/>
              <a:ext cx="5135880" cy="8839200"/>
            </a:xfrm>
            <a:custGeom>
              <a:avLst/>
              <a:gdLst/>
              <a:ahLst/>
              <a:cxnLst/>
              <a:rect l="l" t="t" r="r" b="b"/>
              <a:pathLst>
                <a:path w="5135880" h="8839200">
                  <a:moveTo>
                    <a:pt x="0" y="146304"/>
                  </a:moveTo>
                  <a:cubicBezTo>
                    <a:pt x="0" y="65532"/>
                    <a:pt x="65532" y="0"/>
                    <a:pt x="146304" y="0"/>
                  </a:cubicBezTo>
                  <a:lnTo>
                    <a:pt x="4989576" y="0"/>
                  </a:lnTo>
                  <a:cubicBezTo>
                    <a:pt x="5070348" y="0"/>
                    <a:pt x="5135880" y="65532"/>
                    <a:pt x="5135880" y="146304"/>
                  </a:cubicBezTo>
                  <a:lnTo>
                    <a:pt x="5135880" y="8692896"/>
                  </a:lnTo>
                  <a:cubicBezTo>
                    <a:pt x="5135880" y="8773668"/>
                    <a:pt x="5070348" y="8839200"/>
                    <a:pt x="4989576" y="8839200"/>
                  </a:cubicBezTo>
                  <a:lnTo>
                    <a:pt x="146304" y="8839200"/>
                  </a:lnTo>
                  <a:cubicBezTo>
                    <a:pt x="65532" y="8839200"/>
                    <a:pt x="0" y="8773668"/>
                    <a:pt x="0" y="8692896"/>
                  </a:cubicBezTo>
                  <a:close/>
                </a:path>
              </a:pathLst>
            </a:custGeom>
            <a:solidFill>
              <a:srgbClr val="222222"/>
            </a:solidFill>
          </p:spPr>
          <p:txBody>
            <a:bodyPr/>
            <a:lstStyle/>
            <a:p>
              <a:endParaRPr lang="en-US"/>
            </a:p>
          </p:txBody>
        </p:sp>
      </p:grpSp>
      <p:grpSp>
        <p:nvGrpSpPr>
          <p:cNvPr id="6" name="Group 6"/>
          <p:cNvGrpSpPr/>
          <p:nvPr/>
        </p:nvGrpSpPr>
        <p:grpSpPr>
          <a:xfrm rot="-480000">
            <a:off x="3211830" y="2880360"/>
            <a:ext cx="1280160" cy="1280160"/>
            <a:chOff x="0" y="0"/>
            <a:chExt cx="1706880" cy="1706880"/>
          </a:xfrm>
        </p:grpSpPr>
        <p:sp>
          <p:nvSpPr>
            <p:cNvPr id="7" name="Freeform 7" descr="hike.png"/>
            <p:cNvSpPr/>
            <p:nvPr/>
          </p:nvSpPr>
          <p:spPr>
            <a:xfrm>
              <a:off x="0" y="0"/>
              <a:ext cx="1706880" cy="1706880"/>
            </a:xfrm>
            <a:custGeom>
              <a:avLst/>
              <a:gdLst/>
              <a:ahLst/>
              <a:cxnLst/>
              <a:rect l="l" t="t" r="r" b="b"/>
              <a:pathLst>
                <a:path w="1706880" h="1706880">
                  <a:moveTo>
                    <a:pt x="0" y="0"/>
                  </a:moveTo>
                  <a:lnTo>
                    <a:pt x="1706880" y="0"/>
                  </a:lnTo>
                  <a:lnTo>
                    <a:pt x="1706880" y="1706880"/>
                  </a:lnTo>
                  <a:lnTo>
                    <a:pt x="0" y="1706880"/>
                  </a:lnTo>
                  <a:lnTo>
                    <a:pt x="0" y="0"/>
                  </a:lnTo>
                  <a:close/>
                </a:path>
              </a:pathLst>
            </a:custGeom>
            <a:blipFill>
              <a:blip r:embed="rId3"/>
              <a:stretch>
                <a:fillRect l="-393" r="-393"/>
              </a:stretch>
            </a:blipFill>
          </p:spPr>
          <p:txBody>
            <a:bodyPr/>
            <a:lstStyle/>
            <a:p>
              <a:endParaRPr lang="en-US"/>
            </a:p>
          </p:txBody>
        </p:sp>
      </p:grpSp>
      <p:sp>
        <p:nvSpPr>
          <p:cNvPr id="8" name="TextBox 8"/>
          <p:cNvSpPr txBox="1"/>
          <p:nvPr/>
        </p:nvSpPr>
        <p:spPr>
          <a:xfrm>
            <a:off x="1325880" y="2796540"/>
            <a:ext cx="2286000" cy="1318260"/>
          </a:xfrm>
          <a:prstGeom prst="rect">
            <a:avLst/>
          </a:prstGeom>
        </p:spPr>
        <p:txBody>
          <a:bodyPr lIns="0" tIns="0" rIns="0" bIns="0" rtlCol="0" anchor="t">
            <a:spAutoFit/>
          </a:bodyPr>
          <a:lstStyle/>
          <a:p>
            <a:pPr algn="l">
              <a:lnSpc>
                <a:spcPts val="7920"/>
              </a:lnSpc>
            </a:pPr>
            <a:r>
              <a:rPr lang="en-US" sz="6600" b="1">
                <a:solidFill>
                  <a:srgbClr val="FFDE59"/>
                </a:solidFill>
                <a:latin typeface="Arial Bold"/>
                <a:ea typeface="Arial Bold"/>
                <a:cs typeface="Arial Bold"/>
                <a:sym typeface="Arial Bold"/>
              </a:rPr>
              <a:t>01</a:t>
            </a:r>
          </a:p>
        </p:txBody>
      </p:sp>
      <p:sp>
        <p:nvSpPr>
          <p:cNvPr id="9" name="TextBox 9"/>
          <p:cNvSpPr txBox="1"/>
          <p:nvPr/>
        </p:nvSpPr>
        <p:spPr>
          <a:xfrm>
            <a:off x="1325880" y="4324350"/>
            <a:ext cx="3120390" cy="333425"/>
          </a:xfrm>
          <a:prstGeom prst="rect">
            <a:avLst/>
          </a:prstGeom>
        </p:spPr>
        <p:txBody>
          <a:bodyPr lIns="0" tIns="0" rIns="0" bIns="0" rtlCol="0" anchor="t">
            <a:spAutoFit/>
          </a:bodyPr>
          <a:lstStyle/>
          <a:p>
            <a:pPr algn="l">
              <a:lnSpc>
                <a:spcPts val="2639"/>
              </a:lnSpc>
            </a:pPr>
            <a:r>
              <a:rPr lang="en-US" sz="2199" b="1" dirty="0">
                <a:solidFill>
                  <a:srgbClr val="FFFFFF"/>
                </a:solidFill>
                <a:latin typeface="Arial Bold"/>
                <a:ea typeface="Arial Bold"/>
                <a:cs typeface="Arial Bold"/>
                <a:sym typeface="Arial Bold"/>
              </a:rPr>
              <a:t>Overview &amp; Research</a:t>
            </a:r>
          </a:p>
        </p:txBody>
      </p:sp>
      <p:sp>
        <p:nvSpPr>
          <p:cNvPr id="10" name="AutoShape 10"/>
          <p:cNvSpPr/>
          <p:nvPr/>
        </p:nvSpPr>
        <p:spPr>
          <a:xfrm rot="27780">
            <a:off x="1313126" y="5522595"/>
            <a:ext cx="3145888" cy="0"/>
          </a:xfrm>
          <a:prstGeom prst="line">
            <a:avLst/>
          </a:prstGeom>
          <a:ln w="19050" cap="rnd">
            <a:solidFill>
              <a:srgbClr val="3A3A3E"/>
            </a:solidFill>
            <a:prstDash val="solid"/>
            <a:headEnd type="none" w="sm" len="sm"/>
            <a:tailEnd type="none" w="sm" len="sm"/>
          </a:ln>
        </p:spPr>
        <p:txBody>
          <a:bodyPr/>
          <a:lstStyle/>
          <a:p>
            <a:endParaRPr lang="en-US"/>
          </a:p>
        </p:txBody>
      </p:sp>
      <p:sp>
        <p:nvSpPr>
          <p:cNvPr id="11" name="TextBox 11"/>
          <p:cNvSpPr txBox="1"/>
          <p:nvPr/>
        </p:nvSpPr>
        <p:spPr>
          <a:xfrm>
            <a:off x="1325880" y="5768340"/>
            <a:ext cx="3120390" cy="2689860"/>
          </a:xfrm>
          <a:prstGeom prst="rect">
            <a:avLst/>
          </a:prstGeom>
        </p:spPr>
        <p:txBody>
          <a:bodyPr lIns="0" tIns="0" rIns="0" bIns="0" rtlCol="0" anchor="t">
            <a:spAutoFit/>
          </a:bodyPr>
          <a:lstStyle/>
          <a:p>
            <a:pPr algn="l">
              <a:lnSpc>
                <a:spcPts val="2279"/>
              </a:lnSpc>
            </a:pPr>
            <a:r>
              <a:rPr lang="en-US" sz="1899" dirty="0">
                <a:solidFill>
                  <a:srgbClr val="B4B4BC"/>
                </a:solidFill>
                <a:latin typeface="Calibri (MS)"/>
                <a:ea typeface="Calibri (MS)"/>
                <a:cs typeface="Calibri (MS)"/>
                <a:sym typeface="Calibri (MS)"/>
              </a:rPr>
              <a:t>The problem</a:t>
            </a:r>
          </a:p>
          <a:p>
            <a:pPr algn="l">
              <a:lnSpc>
                <a:spcPts val="2279"/>
              </a:lnSpc>
            </a:pPr>
            <a:r>
              <a:rPr lang="en-US" sz="1899" dirty="0">
                <a:solidFill>
                  <a:srgbClr val="B4B4BC"/>
                </a:solidFill>
                <a:latin typeface="Calibri (MS)"/>
                <a:ea typeface="Calibri (MS)"/>
                <a:cs typeface="Calibri (MS)"/>
                <a:sym typeface="Calibri (MS)"/>
              </a:rPr>
              <a:t>Research: where BeReal loses people</a:t>
            </a:r>
          </a:p>
        </p:txBody>
      </p:sp>
      <p:grpSp>
        <p:nvGrpSpPr>
          <p:cNvPr id="13" name="Group 13"/>
          <p:cNvGrpSpPr/>
          <p:nvPr/>
        </p:nvGrpSpPr>
        <p:grpSpPr>
          <a:xfrm>
            <a:off x="5132070" y="2560320"/>
            <a:ext cx="3851910" cy="6629400"/>
            <a:chOff x="0" y="0"/>
            <a:chExt cx="5135880" cy="8839200"/>
          </a:xfrm>
        </p:grpSpPr>
        <p:sp>
          <p:nvSpPr>
            <p:cNvPr id="14" name="Freeform 14"/>
            <p:cNvSpPr/>
            <p:nvPr/>
          </p:nvSpPr>
          <p:spPr>
            <a:xfrm>
              <a:off x="0" y="0"/>
              <a:ext cx="5135880" cy="8839200"/>
            </a:xfrm>
            <a:custGeom>
              <a:avLst/>
              <a:gdLst/>
              <a:ahLst/>
              <a:cxnLst/>
              <a:rect l="l" t="t" r="r" b="b"/>
              <a:pathLst>
                <a:path w="5135880" h="8839200">
                  <a:moveTo>
                    <a:pt x="0" y="146304"/>
                  </a:moveTo>
                  <a:cubicBezTo>
                    <a:pt x="0" y="65532"/>
                    <a:pt x="65532" y="0"/>
                    <a:pt x="146304" y="0"/>
                  </a:cubicBezTo>
                  <a:lnTo>
                    <a:pt x="4989576" y="0"/>
                  </a:lnTo>
                  <a:cubicBezTo>
                    <a:pt x="5070348" y="0"/>
                    <a:pt x="5135880" y="65532"/>
                    <a:pt x="5135880" y="146304"/>
                  </a:cubicBezTo>
                  <a:lnTo>
                    <a:pt x="5135880" y="8692896"/>
                  </a:lnTo>
                  <a:cubicBezTo>
                    <a:pt x="5135880" y="8773668"/>
                    <a:pt x="5070348" y="8839200"/>
                    <a:pt x="4989576" y="8839200"/>
                  </a:cubicBezTo>
                  <a:lnTo>
                    <a:pt x="146304" y="8839200"/>
                  </a:lnTo>
                  <a:cubicBezTo>
                    <a:pt x="65532" y="8839200"/>
                    <a:pt x="0" y="8773668"/>
                    <a:pt x="0" y="8692896"/>
                  </a:cubicBezTo>
                  <a:close/>
                </a:path>
              </a:pathLst>
            </a:custGeom>
            <a:solidFill>
              <a:srgbClr val="222222"/>
            </a:solidFill>
          </p:spPr>
          <p:txBody>
            <a:bodyPr/>
            <a:lstStyle/>
            <a:p>
              <a:endParaRPr lang="en-US"/>
            </a:p>
          </p:txBody>
        </p:sp>
      </p:grpSp>
      <p:grpSp>
        <p:nvGrpSpPr>
          <p:cNvPr id="15" name="Group 15"/>
          <p:cNvGrpSpPr/>
          <p:nvPr/>
        </p:nvGrpSpPr>
        <p:grpSpPr>
          <a:xfrm rot="360000">
            <a:off x="7383780" y="2880360"/>
            <a:ext cx="1280160" cy="1280160"/>
            <a:chOff x="0" y="0"/>
            <a:chExt cx="1706880" cy="1706880"/>
          </a:xfrm>
        </p:grpSpPr>
        <p:sp>
          <p:nvSpPr>
            <p:cNvPr id="16" name="Freeform 16" descr="cram.png"/>
            <p:cNvSpPr/>
            <p:nvPr/>
          </p:nvSpPr>
          <p:spPr>
            <a:xfrm>
              <a:off x="0" y="0"/>
              <a:ext cx="1706880" cy="1706880"/>
            </a:xfrm>
            <a:custGeom>
              <a:avLst/>
              <a:gdLst/>
              <a:ahLst/>
              <a:cxnLst/>
              <a:rect l="l" t="t" r="r" b="b"/>
              <a:pathLst>
                <a:path w="1706880" h="1706880">
                  <a:moveTo>
                    <a:pt x="0" y="0"/>
                  </a:moveTo>
                  <a:lnTo>
                    <a:pt x="1706880" y="0"/>
                  </a:lnTo>
                  <a:lnTo>
                    <a:pt x="1706880" y="1706880"/>
                  </a:lnTo>
                  <a:lnTo>
                    <a:pt x="0" y="1706880"/>
                  </a:lnTo>
                  <a:lnTo>
                    <a:pt x="0" y="0"/>
                  </a:lnTo>
                  <a:close/>
                </a:path>
              </a:pathLst>
            </a:custGeom>
            <a:blipFill>
              <a:blip r:embed="rId4"/>
              <a:stretch>
                <a:fillRect l="-525" r="-524"/>
              </a:stretch>
            </a:blipFill>
          </p:spPr>
          <p:txBody>
            <a:bodyPr/>
            <a:lstStyle/>
            <a:p>
              <a:endParaRPr lang="en-US"/>
            </a:p>
          </p:txBody>
        </p:sp>
      </p:grpSp>
      <p:sp>
        <p:nvSpPr>
          <p:cNvPr id="17" name="TextBox 17"/>
          <p:cNvSpPr txBox="1"/>
          <p:nvPr/>
        </p:nvSpPr>
        <p:spPr>
          <a:xfrm>
            <a:off x="5497830" y="2796540"/>
            <a:ext cx="2286000" cy="1318260"/>
          </a:xfrm>
          <a:prstGeom prst="rect">
            <a:avLst/>
          </a:prstGeom>
        </p:spPr>
        <p:txBody>
          <a:bodyPr lIns="0" tIns="0" rIns="0" bIns="0" rtlCol="0" anchor="t">
            <a:spAutoFit/>
          </a:bodyPr>
          <a:lstStyle/>
          <a:p>
            <a:pPr algn="l">
              <a:lnSpc>
                <a:spcPts val="7920"/>
              </a:lnSpc>
            </a:pPr>
            <a:r>
              <a:rPr lang="en-US" sz="6600" b="1">
                <a:solidFill>
                  <a:srgbClr val="FFDE59"/>
                </a:solidFill>
                <a:latin typeface="Arial Bold"/>
                <a:ea typeface="Arial Bold"/>
                <a:cs typeface="Arial Bold"/>
                <a:sym typeface="Arial Bold"/>
              </a:rPr>
              <a:t>02</a:t>
            </a:r>
          </a:p>
        </p:txBody>
      </p:sp>
      <p:sp>
        <p:nvSpPr>
          <p:cNvPr id="18" name="TextBox 18"/>
          <p:cNvSpPr txBox="1"/>
          <p:nvPr/>
        </p:nvSpPr>
        <p:spPr>
          <a:xfrm>
            <a:off x="5497830" y="4324350"/>
            <a:ext cx="3120390" cy="1116330"/>
          </a:xfrm>
          <a:prstGeom prst="rect">
            <a:avLst/>
          </a:prstGeom>
        </p:spPr>
        <p:txBody>
          <a:bodyPr lIns="0" tIns="0" rIns="0" bIns="0" rtlCol="0" anchor="t">
            <a:spAutoFit/>
          </a:bodyPr>
          <a:lstStyle/>
          <a:p>
            <a:pPr algn="l">
              <a:lnSpc>
                <a:spcPts val="2639"/>
              </a:lnSpc>
            </a:pPr>
            <a:r>
              <a:rPr lang="en-US" sz="2199" b="1">
                <a:solidFill>
                  <a:srgbClr val="FFFFFF"/>
                </a:solidFill>
                <a:latin typeface="Arial Bold"/>
                <a:ea typeface="Arial Bold"/>
                <a:cs typeface="Arial Bold"/>
                <a:sym typeface="Arial Bold"/>
              </a:rPr>
              <a:t>Design</a:t>
            </a:r>
          </a:p>
        </p:txBody>
      </p:sp>
      <p:sp>
        <p:nvSpPr>
          <p:cNvPr id="19" name="AutoShape 19"/>
          <p:cNvSpPr/>
          <p:nvPr/>
        </p:nvSpPr>
        <p:spPr>
          <a:xfrm rot="27780">
            <a:off x="5485076" y="5522595"/>
            <a:ext cx="3145888" cy="0"/>
          </a:xfrm>
          <a:prstGeom prst="line">
            <a:avLst/>
          </a:prstGeom>
          <a:ln w="19050" cap="rnd">
            <a:solidFill>
              <a:srgbClr val="3A3A3E"/>
            </a:solidFill>
            <a:prstDash val="solid"/>
            <a:headEnd type="none" w="sm" len="sm"/>
            <a:tailEnd type="none" w="sm" len="sm"/>
          </a:ln>
        </p:spPr>
        <p:txBody>
          <a:bodyPr/>
          <a:lstStyle/>
          <a:p>
            <a:endParaRPr lang="en-US"/>
          </a:p>
        </p:txBody>
      </p:sp>
      <p:sp>
        <p:nvSpPr>
          <p:cNvPr id="20" name="TextBox 20"/>
          <p:cNvSpPr txBox="1"/>
          <p:nvPr/>
        </p:nvSpPr>
        <p:spPr>
          <a:xfrm>
            <a:off x="5497830" y="5768340"/>
            <a:ext cx="3120390" cy="2689860"/>
          </a:xfrm>
          <a:prstGeom prst="rect">
            <a:avLst/>
          </a:prstGeom>
        </p:spPr>
        <p:txBody>
          <a:bodyPr lIns="0" tIns="0" rIns="0" bIns="0" rtlCol="0" anchor="t">
            <a:spAutoFit/>
          </a:bodyPr>
          <a:lstStyle/>
          <a:p>
            <a:pPr algn="l">
              <a:lnSpc>
                <a:spcPts val="2279"/>
              </a:lnSpc>
            </a:pPr>
            <a:r>
              <a:rPr lang="en-US" sz="1899">
                <a:solidFill>
                  <a:srgbClr val="B4B4BC"/>
                </a:solidFill>
                <a:latin typeface="Calibri (MS)"/>
                <a:ea typeface="Calibri (MS)"/>
                <a:cs typeface="Calibri (MS)"/>
                <a:sym typeface="Calibri (MS)"/>
              </a:rPr>
              <a:t>The seven-screen user flow</a:t>
            </a:r>
          </a:p>
          <a:p>
            <a:pPr algn="l">
              <a:lnSpc>
                <a:spcPts val="2279"/>
              </a:lnSpc>
            </a:pPr>
            <a:r>
              <a:rPr lang="en-US" sz="1899">
                <a:solidFill>
                  <a:srgbClr val="B4B4BC"/>
                </a:solidFill>
                <a:latin typeface="Calibri (MS)"/>
                <a:ea typeface="Calibri (MS)"/>
                <a:cs typeface="Calibri (MS)"/>
                <a:sym typeface="Calibri (MS)"/>
              </a:rPr>
              <a:t>UI states and hooks</a:t>
            </a:r>
          </a:p>
          <a:p>
            <a:pPr algn="l">
              <a:lnSpc>
                <a:spcPts val="2279"/>
              </a:lnSpc>
            </a:pPr>
            <a:r>
              <a:rPr lang="en-US" sz="1899">
                <a:solidFill>
                  <a:srgbClr val="B4B4BC"/>
                </a:solidFill>
                <a:latin typeface="Calibri (MS)"/>
                <a:ea typeface="Calibri (MS)"/>
                <a:cs typeface="Calibri (MS)"/>
                <a:sym typeface="Calibri (MS)"/>
              </a:rPr>
              <a:t>Prototype walkthrough</a:t>
            </a:r>
          </a:p>
          <a:p>
            <a:pPr algn="l">
              <a:lnSpc>
                <a:spcPts val="2279"/>
              </a:lnSpc>
            </a:pPr>
            <a:r>
              <a:rPr lang="en-US" sz="1899">
                <a:solidFill>
                  <a:srgbClr val="B4B4BC"/>
                </a:solidFill>
                <a:latin typeface="Calibri (MS)"/>
                <a:ea typeface="Calibri (MS)"/>
                <a:cs typeface="Calibri (MS)"/>
                <a:sym typeface="Calibri (MS)"/>
              </a:rPr>
              <a:t>Design decisions</a:t>
            </a:r>
          </a:p>
        </p:txBody>
      </p:sp>
      <p:grpSp>
        <p:nvGrpSpPr>
          <p:cNvPr id="22" name="Group 22"/>
          <p:cNvGrpSpPr/>
          <p:nvPr/>
        </p:nvGrpSpPr>
        <p:grpSpPr>
          <a:xfrm>
            <a:off x="9304020" y="2560320"/>
            <a:ext cx="3851910" cy="6629400"/>
            <a:chOff x="0" y="0"/>
            <a:chExt cx="5135880" cy="8839200"/>
          </a:xfrm>
        </p:grpSpPr>
        <p:sp>
          <p:nvSpPr>
            <p:cNvPr id="23" name="Freeform 23"/>
            <p:cNvSpPr/>
            <p:nvPr/>
          </p:nvSpPr>
          <p:spPr>
            <a:xfrm>
              <a:off x="0" y="0"/>
              <a:ext cx="5135880" cy="8839200"/>
            </a:xfrm>
            <a:custGeom>
              <a:avLst/>
              <a:gdLst/>
              <a:ahLst/>
              <a:cxnLst/>
              <a:rect l="l" t="t" r="r" b="b"/>
              <a:pathLst>
                <a:path w="5135880" h="8839200">
                  <a:moveTo>
                    <a:pt x="0" y="146304"/>
                  </a:moveTo>
                  <a:cubicBezTo>
                    <a:pt x="0" y="65532"/>
                    <a:pt x="65532" y="0"/>
                    <a:pt x="146304" y="0"/>
                  </a:cubicBezTo>
                  <a:lnTo>
                    <a:pt x="4989576" y="0"/>
                  </a:lnTo>
                  <a:cubicBezTo>
                    <a:pt x="5070348" y="0"/>
                    <a:pt x="5135880" y="65532"/>
                    <a:pt x="5135880" y="146304"/>
                  </a:cubicBezTo>
                  <a:lnTo>
                    <a:pt x="5135880" y="8692896"/>
                  </a:lnTo>
                  <a:cubicBezTo>
                    <a:pt x="5135880" y="8773668"/>
                    <a:pt x="5070348" y="8839200"/>
                    <a:pt x="4989576" y="8839200"/>
                  </a:cubicBezTo>
                  <a:lnTo>
                    <a:pt x="146304" y="8839200"/>
                  </a:lnTo>
                  <a:cubicBezTo>
                    <a:pt x="65532" y="8839200"/>
                    <a:pt x="0" y="8773668"/>
                    <a:pt x="0" y="8692896"/>
                  </a:cubicBezTo>
                  <a:close/>
                </a:path>
              </a:pathLst>
            </a:custGeom>
            <a:solidFill>
              <a:srgbClr val="222222"/>
            </a:solidFill>
          </p:spPr>
          <p:txBody>
            <a:bodyPr/>
            <a:lstStyle/>
            <a:p>
              <a:endParaRPr lang="en-US"/>
            </a:p>
          </p:txBody>
        </p:sp>
      </p:grpSp>
      <p:grpSp>
        <p:nvGrpSpPr>
          <p:cNvPr id="24" name="Group 24"/>
          <p:cNvGrpSpPr/>
          <p:nvPr/>
        </p:nvGrpSpPr>
        <p:grpSpPr>
          <a:xfrm rot="-300000">
            <a:off x="11555730" y="2880360"/>
            <a:ext cx="1280160" cy="1280160"/>
            <a:chOff x="0" y="0"/>
            <a:chExt cx="1706880" cy="1706880"/>
          </a:xfrm>
        </p:grpSpPr>
        <p:sp>
          <p:nvSpPr>
            <p:cNvPr id="25" name="Freeform 25" descr="game.png"/>
            <p:cNvSpPr/>
            <p:nvPr/>
          </p:nvSpPr>
          <p:spPr>
            <a:xfrm>
              <a:off x="0" y="0"/>
              <a:ext cx="1706880" cy="1706880"/>
            </a:xfrm>
            <a:custGeom>
              <a:avLst/>
              <a:gdLst/>
              <a:ahLst/>
              <a:cxnLst/>
              <a:rect l="l" t="t" r="r" b="b"/>
              <a:pathLst>
                <a:path w="1706880" h="1706880">
                  <a:moveTo>
                    <a:pt x="0" y="0"/>
                  </a:moveTo>
                  <a:lnTo>
                    <a:pt x="1706880" y="0"/>
                  </a:lnTo>
                  <a:lnTo>
                    <a:pt x="1706880" y="1706880"/>
                  </a:lnTo>
                  <a:lnTo>
                    <a:pt x="0" y="1706880"/>
                  </a:lnTo>
                  <a:lnTo>
                    <a:pt x="0" y="0"/>
                  </a:lnTo>
                  <a:close/>
                </a:path>
              </a:pathLst>
            </a:custGeom>
            <a:blipFill>
              <a:blip r:embed="rId5"/>
              <a:stretch>
                <a:fillRect t="-654" b="-654"/>
              </a:stretch>
            </a:blipFill>
          </p:spPr>
          <p:txBody>
            <a:bodyPr/>
            <a:lstStyle/>
            <a:p>
              <a:endParaRPr lang="en-US"/>
            </a:p>
          </p:txBody>
        </p:sp>
      </p:grpSp>
      <p:sp>
        <p:nvSpPr>
          <p:cNvPr id="26" name="TextBox 26"/>
          <p:cNvSpPr txBox="1"/>
          <p:nvPr/>
        </p:nvSpPr>
        <p:spPr>
          <a:xfrm>
            <a:off x="9669780" y="2796540"/>
            <a:ext cx="2286000" cy="1318260"/>
          </a:xfrm>
          <a:prstGeom prst="rect">
            <a:avLst/>
          </a:prstGeom>
        </p:spPr>
        <p:txBody>
          <a:bodyPr lIns="0" tIns="0" rIns="0" bIns="0" rtlCol="0" anchor="t">
            <a:spAutoFit/>
          </a:bodyPr>
          <a:lstStyle/>
          <a:p>
            <a:pPr algn="l">
              <a:lnSpc>
                <a:spcPts val="7920"/>
              </a:lnSpc>
            </a:pPr>
            <a:r>
              <a:rPr lang="en-US" sz="6600" b="1">
                <a:solidFill>
                  <a:srgbClr val="FFDE59"/>
                </a:solidFill>
                <a:latin typeface="Arial Bold"/>
                <a:ea typeface="Arial Bold"/>
                <a:cs typeface="Arial Bold"/>
                <a:sym typeface="Arial Bold"/>
              </a:rPr>
              <a:t>03</a:t>
            </a:r>
          </a:p>
        </p:txBody>
      </p:sp>
      <p:sp>
        <p:nvSpPr>
          <p:cNvPr id="27" name="TextBox 27"/>
          <p:cNvSpPr txBox="1"/>
          <p:nvPr/>
        </p:nvSpPr>
        <p:spPr>
          <a:xfrm>
            <a:off x="9669780" y="4324350"/>
            <a:ext cx="3120390" cy="333425"/>
          </a:xfrm>
          <a:prstGeom prst="rect">
            <a:avLst/>
          </a:prstGeom>
        </p:spPr>
        <p:txBody>
          <a:bodyPr lIns="0" tIns="0" rIns="0" bIns="0" rtlCol="0" anchor="t">
            <a:spAutoFit/>
          </a:bodyPr>
          <a:lstStyle/>
          <a:p>
            <a:pPr algn="l">
              <a:lnSpc>
                <a:spcPts val="2639"/>
              </a:lnSpc>
            </a:pPr>
            <a:r>
              <a:rPr lang="en-US" sz="2199" b="1" dirty="0">
                <a:solidFill>
                  <a:srgbClr val="FFFFFF"/>
                </a:solidFill>
                <a:latin typeface="Arial Bold"/>
                <a:ea typeface="Arial Bold"/>
                <a:cs typeface="Arial Bold"/>
                <a:sym typeface="Arial Bold"/>
              </a:rPr>
              <a:t>User Testing</a:t>
            </a:r>
          </a:p>
        </p:txBody>
      </p:sp>
      <p:sp>
        <p:nvSpPr>
          <p:cNvPr id="28" name="AutoShape 28"/>
          <p:cNvSpPr/>
          <p:nvPr/>
        </p:nvSpPr>
        <p:spPr>
          <a:xfrm rot="27780">
            <a:off x="9657026" y="5522595"/>
            <a:ext cx="3145888" cy="0"/>
          </a:xfrm>
          <a:prstGeom prst="line">
            <a:avLst/>
          </a:prstGeom>
          <a:ln w="19050" cap="rnd">
            <a:solidFill>
              <a:srgbClr val="3A3A3E"/>
            </a:solidFill>
            <a:prstDash val="solid"/>
            <a:headEnd type="none" w="sm" len="sm"/>
            <a:tailEnd type="none" w="sm" len="sm"/>
          </a:ln>
        </p:spPr>
        <p:txBody>
          <a:bodyPr/>
          <a:lstStyle/>
          <a:p>
            <a:endParaRPr lang="en-US"/>
          </a:p>
        </p:txBody>
      </p:sp>
      <p:sp>
        <p:nvSpPr>
          <p:cNvPr id="29" name="TextBox 29"/>
          <p:cNvSpPr txBox="1"/>
          <p:nvPr/>
        </p:nvSpPr>
        <p:spPr>
          <a:xfrm>
            <a:off x="9669780" y="5768340"/>
            <a:ext cx="3120390" cy="2689860"/>
          </a:xfrm>
          <a:prstGeom prst="rect">
            <a:avLst/>
          </a:prstGeom>
        </p:spPr>
        <p:txBody>
          <a:bodyPr lIns="0" tIns="0" rIns="0" bIns="0" rtlCol="0" anchor="t">
            <a:spAutoFit/>
          </a:bodyPr>
          <a:lstStyle/>
          <a:p>
            <a:pPr algn="l">
              <a:lnSpc>
                <a:spcPts val="2279"/>
              </a:lnSpc>
            </a:pPr>
            <a:r>
              <a:rPr lang="en-US" sz="1899">
                <a:solidFill>
                  <a:srgbClr val="B4B4BC"/>
                </a:solidFill>
                <a:latin typeface="Calibri (MS)"/>
                <a:ea typeface="Calibri (MS)"/>
                <a:cs typeface="Calibri (MS)"/>
                <a:sym typeface="Calibri (MS)"/>
              </a:rPr>
              <a:t>Focus group setup</a:t>
            </a:r>
          </a:p>
          <a:p>
            <a:pPr algn="l">
              <a:lnSpc>
                <a:spcPts val="2279"/>
              </a:lnSpc>
            </a:pPr>
            <a:r>
              <a:rPr lang="en-US" sz="1899">
                <a:solidFill>
                  <a:srgbClr val="B4B4BC"/>
                </a:solidFill>
                <a:latin typeface="Calibri (MS)"/>
                <a:ea typeface="Calibri (MS)"/>
                <a:cs typeface="Calibri (MS)"/>
                <a:sym typeface="Calibri (MS)"/>
              </a:rPr>
              <a:t>Survey results</a:t>
            </a:r>
          </a:p>
          <a:p>
            <a:pPr algn="l">
              <a:lnSpc>
                <a:spcPts val="2279"/>
              </a:lnSpc>
            </a:pPr>
            <a:r>
              <a:rPr lang="en-US" sz="1899">
                <a:solidFill>
                  <a:srgbClr val="B4B4BC"/>
                </a:solidFill>
                <a:latin typeface="Calibri (MS)"/>
                <a:ea typeface="Calibri (MS)"/>
                <a:cs typeface="Calibri (MS)"/>
                <a:sym typeface="Calibri (MS)"/>
              </a:rPr>
              <a:t>Key findings</a:t>
            </a:r>
          </a:p>
        </p:txBody>
      </p:sp>
      <p:grpSp>
        <p:nvGrpSpPr>
          <p:cNvPr id="31" name="Group 31"/>
          <p:cNvGrpSpPr/>
          <p:nvPr/>
        </p:nvGrpSpPr>
        <p:grpSpPr>
          <a:xfrm>
            <a:off x="13475970" y="2560320"/>
            <a:ext cx="3851910" cy="6629400"/>
            <a:chOff x="0" y="0"/>
            <a:chExt cx="5135880" cy="8839200"/>
          </a:xfrm>
        </p:grpSpPr>
        <p:sp>
          <p:nvSpPr>
            <p:cNvPr id="32" name="Freeform 32"/>
            <p:cNvSpPr/>
            <p:nvPr/>
          </p:nvSpPr>
          <p:spPr>
            <a:xfrm>
              <a:off x="0" y="0"/>
              <a:ext cx="5135880" cy="8839200"/>
            </a:xfrm>
            <a:custGeom>
              <a:avLst/>
              <a:gdLst/>
              <a:ahLst/>
              <a:cxnLst/>
              <a:rect l="l" t="t" r="r" b="b"/>
              <a:pathLst>
                <a:path w="5135880" h="8839200">
                  <a:moveTo>
                    <a:pt x="0" y="146304"/>
                  </a:moveTo>
                  <a:cubicBezTo>
                    <a:pt x="0" y="65532"/>
                    <a:pt x="65532" y="0"/>
                    <a:pt x="146304" y="0"/>
                  </a:cubicBezTo>
                  <a:lnTo>
                    <a:pt x="4989576" y="0"/>
                  </a:lnTo>
                  <a:cubicBezTo>
                    <a:pt x="5070348" y="0"/>
                    <a:pt x="5135880" y="65532"/>
                    <a:pt x="5135880" y="146304"/>
                  </a:cubicBezTo>
                  <a:lnTo>
                    <a:pt x="5135880" y="8692896"/>
                  </a:lnTo>
                  <a:cubicBezTo>
                    <a:pt x="5135880" y="8773668"/>
                    <a:pt x="5070348" y="8839200"/>
                    <a:pt x="4989576" y="8839200"/>
                  </a:cubicBezTo>
                  <a:lnTo>
                    <a:pt x="146304" y="8839200"/>
                  </a:lnTo>
                  <a:cubicBezTo>
                    <a:pt x="65532" y="8839200"/>
                    <a:pt x="0" y="8773668"/>
                    <a:pt x="0" y="8692896"/>
                  </a:cubicBezTo>
                  <a:close/>
                </a:path>
              </a:pathLst>
            </a:custGeom>
            <a:solidFill>
              <a:srgbClr val="222222"/>
            </a:solidFill>
          </p:spPr>
          <p:txBody>
            <a:bodyPr/>
            <a:lstStyle/>
            <a:p>
              <a:endParaRPr lang="en-US"/>
            </a:p>
          </p:txBody>
        </p:sp>
      </p:grpSp>
      <p:grpSp>
        <p:nvGrpSpPr>
          <p:cNvPr id="33" name="Group 33"/>
          <p:cNvGrpSpPr/>
          <p:nvPr/>
        </p:nvGrpSpPr>
        <p:grpSpPr>
          <a:xfrm rot="480000">
            <a:off x="15727680" y="2880360"/>
            <a:ext cx="1280160" cy="1280160"/>
            <a:chOff x="0" y="0"/>
            <a:chExt cx="1706880" cy="1706880"/>
          </a:xfrm>
        </p:grpSpPr>
        <p:sp>
          <p:nvSpPr>
            <p:cNvPr id="34" name="Freeform 34" descr="wins.png"/>
            <p:cNvSpPr/>
            <p:nvPr/>
          </p:nvSpPr>
          <p:spPr>
            <a:xfrm>
              <a:off x="0" y="0"/>
              <a:ext cx="1706880" cy="1706880"/>
            </a:xfrm>
            <a:custGeom>
              <a:avLst/>
              <a:gdLst/>
              <a:ahLst/>
              <a:cxnLst/>
              <a:rect l="l" t="t" r="r" b="b"/>
              <a:pathLst>
                <a:path w="1706880" h="1706880">
                  <a:moveTo>
                    <a:pt x="0" y="0"/>
                  </a:moveTo>
                  <a:lnTo>
                    <a:pt x="1706880" y="0"/>
                  </a:lnTo>
                  <a:lnTo>
                    <a:pt x="1706880" y="1706880"/>
                  </a:lnTo>
                  <a:lnTo>
                    <a:pt x="0" y="1706880"/>
                  </a:lnTo>
                  <a:lnTo>
                    <a:pt x="0" y="0"/>
                  </a:lnTo>
                  <a:close/>
                </a:path>
              </a:pathLst>
            </a:custGeom>
            <a:blipFill>
              <a:blip r:embed="rId6"/>
              <a:stretch>
                <a:fillRect/>
              </a:stretch>
            </a:blipFill>
          </p:spPr>
          <p:txBody>
            <a:bodyPr/>
            <a:lstStyle/>
            <a:p>
              <a:endParaRPr lang="en-US"/>
            </a:p>
          </p:txBody>
        </p:sp>
      </p:grpSp>
      <p:sp>
        <p:nvSpPr>
          <p:cNvPr id="35" name="TextBox 35"/>
          <p:cNvSpPr txBox="1"/>
          <p:nvPr/>
        </p:nvSpPr>
        <p:spPr>
          <a:xfrm>
            <a:off x="13841730" y="2796540"/>
            <a:ext cx="2286000" cy="1318260"/>
          </a:xfrm>
          <a:prstGeom prst="rect">
            <a:avLst/>
          </a:prstGeom>
        </p:spPr>
        <p:txBody>
          <a:bodyPr lIns="0" tIns="0" rIns="0" bIns="0" rtlCol="0" anchor="t">
            <a:spAutoFit/>
          </a:bodyPr>
          <a:lstStyle/>
          <a:p>
            <a:pPr algn="l">
              <a:lnSpc>
                <a:spcPts val="7920"/>
              </a:lnSpc>
            </a:pPr>
            <a:r>
              <a:rPr lang="en-US" sz="6600" b="1">
                <a:solidFill>
                  <a:srgbClr val="FFDE59"/>
                </a:solidFill>
                <a:latin typeface="Arial Bold"/>
                <a:ea typeface="Arial Bold"/>
                <a:cs typeface="Arial Bold"/>
                <a:sym typeface="Arial Bold"/>
              </a:rPr>
              <a:t>04</a:t>
            </a:r>
          </a:p>
        </p:txBody>
      </p:sp>
      <p:sp>
        <p:nvSpPr>
          <p:cNvPr id="36" name="TextBox 36"/>
          <p:cNvSpPr txBox="1"/>
          <p:nvPr/>
        </p:nvSpPr>
        <p:spPr>
          <a:xfrm>
            <a:off x="13841730" y="4324350"/>
            <a:ext cx="3120390" cy="666849"/>
          </a:xfrm>
          <a:prstGeom prst="rect">
            <a:avLst/>
          </a:prstGeom>
        </p:spPr>
        <p:txBody>
          <a:bodyPr lIns="0" tIns="0" rIns="0" bIns="0" rtlCol="0" anchor="t">
            <a:spAutoFit/>
          </a:bodyPr>
          <a:lstStyle/>
          <a:p>
            <a:pPr algn="l">
              <a:lnSpc>
                <a:spcPts val="2639"/>
              </a:lnSpc>
            </a:pPr>
            <a:r>
              <a:rPr lang="en-US" sz="2199" b="1" dirty="0">
                <a:solidFill>
                  <a:srgbClr val="FFFFFF"/>
                </a:solidFill>
                <a:latin typeface="Arial Bold"/>
                <a:ea typeface="Arial Bold"/>
                <a:cs typeface="Arial Bold"/>
                <a:sym typeface="Arial Bold"/>
              </a:rPr>
              <a:t>Recommendation &amp; Reflection</a:t>
            </a:r>
          </a:p>
        </p:txBody>
      </p:sp>
      <p:sp>
        <p:nvSpPr>
          <p:cNvPr id="37" name="AutoShape 37"/>
          <p:cNvSpPr/>
          <p:nvPr/>
        </p:nvSpPr>
        <p:spPr>
          <a:xfrm rot="27780">
            <a:off x="13828976" y="5522595"/>
            <a:ext cx="3145888" cy="0"/>
          </a:xfrm>
          <a:prstGeom prst="line">
            <a:avLst/>
          </a:prstGeom>
          <a:ln w="19050" cap="rnd">
            <a:solidFill>
              <a:srgbClr val="3A3A3E"/>
            </a:solidFill>
            <a:prstDash val="solid"/>
            <a:headEnd type="none" w="sm" len="sm"/>
            <a:tailEnd type="none" w="sm" len="sm"/>
          </a:ln>
        </p:spPr>
        <p:txBody>
          <a:bodyPr/>
          <a:lstStyle/>
          <a:p>
            <a:endParaRPr lang="en-US"/>
          </a:p>
        </p:txBody>
      </p:sp>
      <p:sp>
        <p:nvSpPr>
          <p:cNvPr id="38" name="TextBox 38"/>
          <p:cNvSpPr txBox="1"/>
          <p:nvPr/>
        </p:nvSpPr>
        <p:spPr>
          <a:xfrm>
            <a:off x="13841730" y="5768340"/>
            <a:ext cx="3120390" cy="2689860"/>
          </a:xfrm>
          <a:prstGeom prst="rect">
            <a:avLst/>
          </a:prstGeom>
        </p:spPr>
        <p:txBody>
          <a:bodyPr lIns="0" tIns="0" rIns="0" bIns="0" rtlCol="0" anchor="t">
            <a:spAutoFit/>
          </a:bodyPr>
          <a:lstStyle/>
          <a:p>
            <a:pPr algn="l">
              <a:lnSpc>
                <a:spcPts val="2279"/>
              </a:lnSpc>
            </a:pPr>
            <a:r>
              <a:rPr lang="en-US" sz="1899">
                <a:solidFill>
                  <a:srgbClr val="B4B4BC"/>
                </a:solidFill>
                <a:latin typeface="Calibri (MS)"/>
                <a:ea typeface="Calibri (MS)"/>
                <a:cs typeface="Calibri (MS)"/>
                <a:sym typeface="Calibri (MS)"/>
              </a:rPr>
              <a:t>Refine, then retest</a:t>
            </a:r>
          </a:p>
          <a:p>
            <a:pPr algn="l">
              <a:lnSpc>
                <a:spcPts val="2279"/>
              </a:lnSpc>
            </a:pPr>
            <a:r>
              <a:rPr lang="en-US" sz="1899">
                <a:solidFill>
                  <a:srgbClr val="B4B4BC"/>
                </a:solidFill>
                <a:latin typeface="Calibri (MS)"/>
                <a:ea typeface="Calibri (MS)"/>
                <a:cs typeface="Calibri (MS)"/>
                <a:sym typeface="Calibri (MS)"/>
              </a:rPr>
              <a:t>Staged rollout and metrics</a:t>
            </a:r>
          </a:p>
          <a:p>
            <a:pPr algn="l">
              <a:lnSpc>
                <a:spcPts val="2279"/>
              </a:lnSpc>
            </a:pPr>
            <a:r>
              <a:rPr lang="en-US" sz="1899">
                <a:solidFill>
                  <a:srgbClr val="B4B4BC"/>
                </a:solidFill>
                <a:latin typeface="Calibri (MS)"/>
                <a:ea typeface="Calibri (MS)"/>
                <a:cs typeface="Calibri (MS)"/>
                <a:sym typeface="Calibri (MS)"/>
              </a:rPr>
              <a:t>What I learned</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2" name="TextBox 2"/>
          <p:cNvSpPr txBox="1"/>
          <p:nvPr/>
        </p:nvSpPr>
        <p:spPr>
          <a:xfrm>
            <a:off x="960120" y="666750"/>
            <a:ext cx="9144000" cy="206467"/>
          </a:xfrm>
          <a:prstGeom prst="rect">
            <a:avLst/>
          </a:prstGeom>
        </p:spPr>
        <p:txBody>
          <a:bodyPr lIns="0" tIns="0" rIns="0" bIns="0" rtlCol="0" anchor="t">
            <a:spAutoFit/>
          </a:bodyPr>
          <a:lstStyle/>
          <a:p>
            <a:pPr algn="l">
              <a:lnSpc>
                <a:spcPts val="1559"/>
              </a:lnSpc>
            </a:pPr>
            <a:r>
              <a:rPr lang="en-US" b="1" spc="599" dirty="0">
                <a:solidFill>
                  <a:srgbClr val="93A9CF"/>
                </a:solidFill>
                <a:latin typeface="Arial Bold"/>
                <a:ea typeface="Arial Bold"/>
                <a:cs typeface="Arial Bold"/>
                <a:sym typeface="Arial Bold"/>
              </a:rPr>
              <a:t>PART 1 OF 4</a:t>
            </a:r>
          </a:p>
        </p:txBody>
      </p:sp>
      <p:sp>
        <p:nvSpPr>
          <p:cNvPr id="3" name="TextBox 3"/>
          <p:cNvSpPr txBox="1"/>
          <p:nvPr/>
        </p:nvSpPr>
        <p:spPr>
          <a:xfrm>
            <a:off x="960120" y="1670685"/>
            <a:ext cx="8229600" cy="2992755"/>
          </a:xfrm>
          <a:prstGeom prst="rect">
            <a:avLst/>
          </a:prstGeom>
        </p:spPr>
        <p:txBody>
          <a:bodyPr lIns="0" tIns="0" rIns="0" bIns="0" rtlCol="0" anchor="t">
            <a:spAutoFit/>
          </a:bodyPr>
          <a:lstStyle/>
          <a:p>
            <a:pPr algn="l">
              <a:lnSpc>
                <a:spcPts val="24000"/>
              </a:lnSpc>
            </a:pPr>
            <a:r>
              <a:rPr lang="en-US" sz="20000" b="1">
                <a:solidFill>
                  <a:srgbClr val="FFDE59"/>
                </a:solidFill>
                <a:latin typeface="Arial Bold"/>
                <a:ea typeface="Arial Bold"/>
                <a:cs typeface="Arial Bold"/>
                <a:sym typeface="Arial Bold"/>
              </a:rPr>
              <a:t>01</a:t>
            </a:r>
          </a:p>
        </p:txBody>
      </p:sp>
      <p:sp>
        <p:nvSpPr>
          <p:cNvPr id="4" name="TextBox 4"/>
          <p:cNvSpPr txBox="1"/>
          <p:nvPr/>
        </p:nvSpPr>
        <p:spPr>
          <a:xfrm>
            <a:off x="960120" y="4863465"/>
            <a:ext cx="10515600" cy="923330"/>
          </a:xfrm>
          <a:prstGeom prst="rect">
            <a:avLst/>
          </a:prstGeom>
        </p:spPr>
        <p:txBody>
          <a:bodyPr lIns="0" tIns="0" rIns="0" bIns="0" rtlCol="0" anchor="t">
            <a:spAutoFit/>
          </a:bodyPr>
          <a:lstStyle/>
          <a:p>
            <a:pPr algn="l">
              <a:lnSpc>
                <a:spcPts val="7200"/>
              </a:lnSpc>
            </a:pPr>
            <a:r>
              <a:rPr lang="en-US" sz="6000" b="1" dirty="0">
                <a:solidFill>
                  <a:srgbClr val="FFFFFF"/>
                </a:solidFill>
                <a:latin typeface="Arial Bold"/>
                <a:ea typeface="Arial Bold"/>
                <a:cs typeface="Arial Bold"/>
                <a:sym typeface="Arial Bold"/>
              </a:rPr>
              <a:t>Overview &amp; Research</a:t>
            </a:r>
          </a:p>
        </p:txBody>
      </p:sp>
      <p:sp>
        <p:nvSpPr>
          <p:cNvPr id="5" name="TextBox 5"/>
          <p:cNvSpPr txBox="1"/>
          <p:nvPr/>
        </p:nvSpPr>
        <p:spPr>
          <a:xfrm>
            <a:off x="960120" y="6124575"/>
            <a:ext cx="9601200" cy="962025"/>
          </a:xfrm>
          <a:prstGeom prst="rect">
            <a:avLst/>
          </a:prstGeom>
        </p:spPr>
        <p:txBody>
          <a:bodyPr lIns="0" tIns="0" rIns="0" bIns="0" rtlCol="0" anchor="t">
            <a:spAutoFit/>
          </a:bodyPr>
          <a:lstStyle/>
          <a:p>
            <a:pPr algn="l">
              <a:lnSpc>
                <a:spcPts val="2639"/>
              </a:lnSpc>
            </a:pPr>
            <a:r>
              <a:rPr lang="en-US" sz="2199">
                <a:solidFill>
                  <a:srgbClr val="B4B4BC"/>
                </a:solidFill>
                <a:latin typeface="Calibri (MS)"/>
                <a:ea typeface="Calibri (MS)"/>
                <a:cs typeface="Calibri (MS)"/>
                <a:sym typeface="Calibri (MS)"/>
              </a:rPr>
              <a:t>Why people drift away from BeReal, and what the research showed.</a:t>
            </a:r>
          </a:p>
        </p:txBody>
      </p:sp>
      <p:grpSp>
        <p:nvGrpSpPr>
          <p:cNvPr id="6" name="Group 6"/>
          <p:cNvGrpSpPr/>
          <p:nvPr/>
        </p:nvGrpSpPr>
        <p:grpSpPr>
          <a:xfrm rot="-480000">
            <a:off x="11887200" y="2194560"/>
            <a:ext cx="4754880" cy="4754880"/>
            <a:chOff x="0" y="0"/>
            <a:chExt cx="6339840" cy="6339840"/>
          </a:xfrm>
        </p:grpSpPr>
        <p:sp>
          <p:nvSpPr>
            <p:cNvPr id="7" name="Freeform 7" descr="hike.png"/>
            <p:cNvSpPr/>
            <p:nvPr/>
          </p:nvSpPr>
          <p:spPr>
            <a:xfrm>
              <a:off x="0" y="0"/>
              <a:ext cx="6339840" cy="6339840"/>
            </a:xfrm>
            <a:custGeom>
              <a:avLst/>
              <a:gdLst/>
              <a:ahLst/>
              <a:cxnLst/>
              <a:rect l="l" t="t" r="r" b="b"/>
              <a:pathLst>
                <a:path w="6339840" h="6339840">
                  <a:moveTo>
                    <a:pt x="0" y="0"/>
                  </a:moveTo>
                  <a:lnTo>
                    <a:pt x="6339840" y="0"/>
                  </a:lnTo>
                  <a:lnTo>
                    <a:pt x="6339840" y="6339840"/>
                  </a:lnTo>
                  <a:lnTo>
                    <a:pt x="0" y="6339840"/>
                  </a:lnTo>
                  <a:lnTo>
                    <a:pt x="0" y="0"/>
                  </a:lnTo>
                  <a:close/>
                </a:path>
              </a:pathLst>
            </a:custGeom>
            <a:blipFill>
              <a:blip r:embed="rId3"/>
              <a:stretch>
                <a:fillRect l="-393" r="-393"/>
              </a:stretch>
            </a:blipFill>
          </p:spPr>
          <p:txBody>
            <a:bodyPr/>
            <a:lstStyle/>
            <a:p>
              <a:endParaRPr lang="en-US"/>
            </a:p>
          </p:txBody>
        </p:sp>
      </p:grpSp>
      <p:grpSp>
        <p:nvGrpSpPr>
          <p:cNvPr id="8" name="Group 8"/>
          <p:cNvGrpSpPr/>
          <p:nvPr/>
        </p:nvGrpSpPr>
        <p:grpSpPr>
          <a:xfrm>
            <a:off x="960120" y="8412480"/>
            <a:ext cx="3920490" cy="777240"/>
            <a:chOff x="0" y="0"/>
            <a:chExt cx="5227320" cy="1036320"/>
          </a:xfrm>
        </p:grpSpPr>
        <p:sp>
          <p:nvSpPr>
            <p:cNvPr id="9" name="Freeform 9"/>
            <p:cNvSpPr/>
            <p:nvPr/>
          </p:nvSpPr>
          <p:spPr>
            <a:xfrm>
              <a:off x="0" y="0"/>
              <a:ext cx="5227320" cy="1036320"/>
            </a:xfrm>
            <a:custGeom>
              <a:avLst/>
              <a:gdLst/>
              <a:ahLst/>
              <a:cxnLst/>
              <a:rect l="l" t="t" r="r" b="b"/>
              <a:pathLst>
                <a:path w="5227320" h="1036320">
                  <a:moveTo>
                    <a:pt x="0" y="146304"/>
                  </a:moveTo>
                  <a:cubicBezTo>
                    <a:pt x="0" y="65532"/>
                    <a:pt x="65532" y="0"/>
                    <a:pt x="146304" y="0"/>
                  </a:cubicBezTo>
                  <a:lnTo>
                    <a:pt x="5081016" y="0"/>
                  </a:lnTo>
                  <a:cubicBezTo>
                    <a:pt x="5161788" y="0"/>
                    <a:pt x="5227320" y="65532"/>
                    <a:pt x="5227320" y="146304"/>
                  </a:cubicBezTo>
                  <a:lnTo>
                    <a:pt x="5227320" y="890016"/>
                  </a:lnTo>
                  <a:cubicBezTo>
                    <a:pt x="5227320" y="970788"/>
                    <a:pt x="5161788" y="1036320"/>
                    <a:pt x="5081016" y="1036320"/>
                  </a:cubicBezTo>
                  <a:lnTo>
                    <a:pt x="146304" y="1036320"/>
                  </a:lnTo>
                  <a:cubicBezTo>
                    <a:pt x="65532" y="1036320"/>
                    <a:pt x="0" y="970788"/>
                    <a:pt x="0" y="890016"/>
                  </a:cubicBezTo>
                  <a:close/>
                </a:path>
              </a:pathLst>
            </a:custGeom>
            <a:solidFill>
              <a:srgbClr val="FFDE59"/>
            </a:solidFill>
          </p:spPr>
          <p:txBody>
            <a:bodyPr/>
            <a:lstStyle/>
            <a:p>
              <a:endParaRPr lang="en-US"/>
            </a:p>
          </p:txBody>
        </p:sp>
      </p:grpSp>
      <p:grpSp>
        <p:nvGrpSpPr>
          <p:cNvPr id="10" name="Group 10"/>
          <p:cNvGrpSpPr/>
          <p:nvPr/>
        </p:nvGrpSpPr>
        <p:grpSpPr>
          <a:xfrm>
            <a:off x="1234440" y="8412480"/>
            <a:ext cx="3371850" cy="777240"/>
            <a:chOff x="0" y="0"/>
            <a:chExt cx="4495800" cy="1036320"/>
          </a:xfrm>
        </p:grpSpPr>
        <p:sp>
          <p:nvSpPr>
            <p:cNvPr id="11" name="Freeform 11"/>
            <p:cNvSpPr/>
            <p:nvPr/>
          </p:nvSpPr>
          <p:spPr>
            <a:xfrm>
              <a:off x="0" y="0"/>
              <a:ext cx="4495799" cy="1036320"/>
            </a:xfrm>
            <a:custGeom>
              <a:avLst/>
              <a:gdLst/>
              <a:ahLst/>
              <a:cxnLst/>
              <a:rect l="l" t="t" r="r" b="b"/>
              <a:pathLst>
                <a:path w="4495799" h="1036320">
                  <a:moveTo>
                    <a:pt x="0" y="0"/>
                  </a:moveTo>
                  <a:lnTo>
                    <a:pt x="4495799" y="0"/>
                  </a:lnTo>
                  <a:lnTo>
                    <a:pt x="4495799" y="1036320"/>
                  </a:lnTo>
                  <a:lnTo>
                    <a:pt x="0" y="1036320"/>
                  </a:lnTo>
                  <a:close/>
                </a:path>
              </a:pathLst>
            </a:custGeom>
            <a:blipFill>
              <a:blip r:embed="rId4">
                <a:alphaModFix amt="0"/>
              </a:blip>
              <a:stretch>
                <a:fillRect t="-34530" b="-34530"/>
              </a:stretch>
            </a:blipFill>
          </p:spPr>
          <p:txBody>
            <a:bodyPr/>
            <a:lstStyle/>
            <a:p>
              <a:endParaRPr lang="en-US"/>
            </a:p>
          </p:txBody>
        </p:sp>
        <p:sp>
          <p:nvSpPr>
            <p:cNvPr id="12" name="TextBox 12"/>
            <p:cNvSpPr txBox="1"/>
            <p:nvPr/>
          </p:nvSpPr>
          <p:spPr>
            <a:xfrm>
              <a:off x="0" y="-38100"/>
              <a:ext cx="4495800" cy="1074420"/>
            </a:xfrm>
            <a:prstGeom prst="rect">
              <a:avLst/>
            </a:prstGeom>
          </p:spPr>
          <p:txBody>
            <a:bodyPr lIns="0" tIns="0" rIns="0" bIns="0" rtlCol="0" anchor="ctr"/>
            <a:lstStyle/>
            <a:p>
              <a:pPr algn="l">
                <a:lnSpc>
                  <a:spcPts val="1800"/>
                </a:lnSpc>
              </a:pPr>
              <a:r>
                <a:rPr lang="en-US" sz="1500" b="1" dirty="0">
                  <a:solidFill>
                    <a:srgbClr val="0A0A0A"/>
                  </a:solidFill>
                  <a:latin typeface="Calibri (MS) Bold"/>
                  <a:ea typeface="Calibri (MS) Bold"/>
                  <a:cs typeface="Calibri (MS) Bold"/>
                  <a:sym typeface="Calibri (MS) Bold"/>
                </a:rPr>
                <a:t>01  </a:t>
              </a:r>
              <a:r>
                <a:rPr lang="en-US" sz="1500" dirty="0">
                  <a:solidFill>
                    <a:srgbClr val="0A0A0A"/>
                  </a:solidFill>
                  <a:latin typeface="Calibri (MS)"/>
                  <a:ea typeface="Calibri (MS)"/>
                  <a:cs typeface="Calibri (MS)"/>
                  <a:sym typeface="Calibri (MS)"/>
                </a:rPr>
                <a:t>Overview &amp; Research</a:t>
              </a:r>
            </a:p>
          </p:txBody>
        </p:sp>
      </p:grpSp>
      <p:grpSp>
        <p:nvGrpSpPr>
          <p:cNvPr id="13" name="Group 13"/>
          <p:cNvGrpSpPr/>
          <p:nvPr/>
        </p:nvGrpSpPr>
        <p:grpSpPr>
          <a:xfrm>
            <a:off x="5109210" y="8412480"/>
            <a:ext cx="3920490" cy="777240"/>
            <a:chOff x="0" y="0"/>
            <a:chExt cx="5227320" cy="1036320"/>
          </a:xfrm>
        </p:grpSpPr>
        <p:sp>
          <p:nvSpPr>
            <p:cNvPr id="14" name="Freeform 14"/>
            <p:cNvSpPr/>
            <p:nvPr/>
          </p:nvSpPr>
          <p:spPr>
            <a:xfrm>
              <a:off x="0" y="0"/>
              <a:ext cx="5227320" cy="1036320"/>
            </a:xfrm>
            <a:custGeom>
              <a:avLst/>
              <a:gdLst/>
              <a:ahLst/>
              <a:cxnLst/>
              <a:rect l="l" t="t" r="r" b="b"/>
              <a:pathLst>
                <a:path w="5227320" h="1036320">
                  <a:moveTo>
                    <a:pt x="0" y="146304"/>
                  </a:moveTo>
                  <a:cubicBezTo>
                    <a:pt x="0" y="65532"/>
                    <a:pt x="65532" y="0"/>
                    <a:pt x="146304" y="0"/>
                  </a:cubicBezTo>
                  <a:lnTo>
                    <a:pt x="5081016" y="0"/>
                  </a:lnTo>
                  <a:cubicBezTo>
                    <a:pt x="5161788" y="0"/>
                    <a:pt x="5227320" y="65532"/>
                    <a:pt x="5227320" y="146304"/>
                  </a:cubicBezTo>
                  <a:lnTo>
                    <a:pt x="5227320" y="890016"/>
                  </a:lnTo>
                  <a:cubicBezTo>
                    <a:pt x="5227320" y="970788"/>
                    <a:pt x="5161788" y="1036320"/>
                    <a:pt x="5081016" y="1036320"/>
                  </a:cubicBezTo>
                  <a:lnTo>
                    <a:pt x="146304" y="1036320"/>
                  </a:lnTo>
                  <a:cubicBezTo>
                    <a:pt x="65532" y="1036320"/>
                    <a:pt x="0" y="970788"/>
                    <a:pt x="0" y="890016"/>
                  </a:cubicBezTo>
                  <a:close/>
                </a:path>
              </a:pathLst>
            </a:custGeom>
            <a:solidFill>
              <a:srgbClr val="222222"/>
            </a:solidFill>
          </p:spPr>
          <p:txBody>
            <a:bodyPr/>
            <a:lstStyle/>
            <a:p>
              <a:endParaRPr lang="en-US"/>
            </a:p>
          </p:txBody>
        </p:sp>
      </p:grpSp>
      <p:grpSp>
        <p:nvGrpSpPr>
          <p:cNvPr id="15" name="Group 15"/>
          <p:cNvGrpSpPr/>
          <p:nvPr/>
        </p:nvGrpSpPr>
        <p:grpSpPr>
          <a:xfrm>
            <a:off x="5383530" y="8412480"/>
            <a:ext cx="3371850" cy="777240"/>
            <a:chOff x="0" y="0"/>
            <a:chExt cx="4495800" cy="1036320"/>
          </a:xfrm>
        </p:grpSpPr>
        <p:sp>
          <p:nvSpPr>
            <p:cNvPr id="16" name="Freeform 16"/>
            <p:cNvSpPr/>
            <p:nvPr/>
          </p:nvSpPr>
          <p:spPr>
            <a:xfrm>
              <a:off x="0" y="0"/>
              <a:ext cx="4495799" cy="1036320"/>
            </a:xfrm>
            <a:custGeom>
              <a:avLst/>
              <a:gdLst/>
              <a:ahLst/>
              <a:cxnLst/>
              <a:rect l="l" t="t" r="r" b="b"/>
              <a:pathLst>
                <a:path w="4495799" h="1036320">
                  <a:moveTo>
                    <a:pt x="0" y="0"/>
                  </a:moveTo>
                  <a:lnTo>
                    <a:pt x="4495799" y="0"/>
                  </a:lnTo>
                  <a:lnTo>
                    <a:pt x="4495799" y="1036320"/>
                  </a:lnTo>
                  <a:lnTo>
                    <a:pt x="0" y="1036320"/>
                  </a:lnTo>
                  <a:close/>
                </a:path>
              </a:pathLst>
            </a:custGeom>
            <a:blipFill>
              <a:blip r:embed="rId4">
                <a:alphaModFix amt="0"/>
              </a:blip>
              <a:stretch>
                <a:fillRect t="-34530" b="-34530"/>
              </a:stretch>
            </a:blipFill>
          </p:spPr>
          <p:txBody>
            <a:bodyPr/>
            <a:lstStyle/>
            <a:p>
              <a:endParaRPr lang="en-US"/>
            </a:p>
          </p:txBody>
        </p:sp>
        <p:sp>
          <p:nvSpPr>
            <p:cNvPr id="17" name="TextBox 17"/>
            <p:cNvSpPr txBox="1"/>
            <p:nvPr/>
          </p:nvSpPr>
          <p:spPr>
            <a:xfrm>
              <a:off x="0" y="-38100"/>
              <a:ext cx="4495800" cy="1074420"/>
            </a:xfrm>
            <a:prstGeom prst="rect">
              <a:avLst/>
            </a:prstGeom>
          </p:spPr>
          <p:txBody>
            <a:bodyPr lIns="0" tIns="0" rIns="0" bIns="0" rtlCol="0" anchor="ctr"/>
            <a:lstStyle/>
            <a:p>
              <a:pPr algn="l">
                <a:lnSpc>
                  <a:spcPts val="1800"/>
                </a:lnSpc>
              </a:pPr>
              <a:r>
                <a:rPr lang="en-US" sz="1500" b="1" dirty="0">
                  <a:solidFill>
                    <a:srgbClr val="B4B4BC"/>
                  </a:solidFill>
                  <a:latin typeface="Calibri (MS) Bold"/>
                  <a:ea typeface="Calibri (MS) Bold"/>
                  <a:cs typeface="Calibri (MS) Bold"/>
                  <a:sym typeface="Calibri (MS) Bold"/>
                </a:rPr>
                <a:t>02  </a:t>
              </a:r>
              <a:r>
                <a:rPr lang="en-US" sz="1500" dirty="0">
                  <a:solidFill>
                    <a:srgbClr val="B4B4BC"/>
                  </a:solidFill>
                  <a:latin typeface="Calibri (MS)"/>
                  <a:ea typeface="Calibri (MS)"/>
                  <a:cs typeface="Calibri (MS)"/>
                  <a:sym typeface="Calibri (MS)"/>
                </a:rPr>
                <a:t>Design</a:t>
              </a:r>
            </a:p>
          </p:txBody>
        </p:sp>
      </p:grpSp>
      <p:grpSp>
        <p:nvGrpSpPr>
          <p:cNvPr id="18" name="Group 18"/>
          <p:cNvGrpSpPr/>
          <p:nvPr/>
        </p:nvGrpSpPr>
        <p:grpSpPr>
          <a:xfrm>
            <a:off x="9258300" y="8412480"/>
            <a:ext cx="3920490" cy="777240"/>
            <a:chOff x="0" y="0"/>
            <a:chExt cx="5227320" cy="1036320"/>
          </a:xfrm>
        </p:grpSpPr>
        <p:sp>
          <p:nvSpPr>
            <p:cNvPr id="19" name="Freeform 19"/>
            <p:cNvSpPr/>
            <p:nvPr/>
          </p:nvSpPr>
          <p:spPr>
            <a:xfrm>
              <a:off x="0" y="0"/>
              <a:ext cx="5227320" cy="1036320"/>
            </a:xfrm>
            <a:custGeom>
              <a:avLst/>
              <a:gdLst/>
              <a:ahLst/>
              <a:cxnLst/>
              <a:rect l="l" t="t" r="r" b="b"/>
              <a:pathLst>
                <a:path w="5227320" h="1036320">
                  <a:moveTo>
                    <a:pt x="0" y="146304"/>
                  </a:moveTo>
                  <a:cubicBezTo>
                    <a:pt x="0" y="65532"/>
                    <a:pt x="65532" y="0"/>
                    <a:pt x="146304" y="0"/>
                  </a:cubicBezTo>
                  <a:lnTo>
                    <a:pt x="5081016" y="0"/>
                  </a:lnTo>
                  <a:cubicBezTo>
                    <a:pt x="5161788" y="0"/>
                    <a:pt x="5227320" y="65532"/>
                    <a:pt x="5227320" y="146304"/>
                  </a:cubicBezTo>
                  <a:lnTo>
                    <a:pt x="5227320" y="890016"/>
                  </a:lnTo>
                  <a:cubicBezTo>
                    <a:pt x="5227320" y="970788"/>
                    <a:pt x="5161788" y="1036320"/>
                    <a:pt x="5081016" y="1036320"/>
                  </a:cubicBezTo>
                  <a:lnTo>
                    <a:pt x="146304" y="1036320"/>
                  </a:lnTo>
                  <a:cubicBezTo>
                    <a:pt x="65532" y="1036320"/>
                    <a:pt x="0" y="970788"/>
                    <a:pt x="0" y="890016"/>
                  </a:cubicBezTo>
                  <a:close/>
                </a:path>
              </a:pathLst>
            </a:custGeom>
            <a:solidFill>
              <a:srgbClr val="222222"/>
            </a:solidFill>
          </p:spPr>
          <p:txBody>
            <a:bodyPr/>
            <a:lstStyle/>
            <a:p>
              <a:endParaRPr lang="en-US"/>
            </a:p>
          </p:txBody>
        </p:sp>
      </p:grpSp>
      <p:grpSp>
        <p:nvGrpSpPr>
          <p:cNvPr id="20" name="Group 20"/>
          <p:cNvGrpSpPr/>
          <p:nvPr/>
        </p:nvGrpSpPr>
        <p:grpSpPr>
          <a:xfrm>
            <a:off x="9532620" y="8412480"/>
            <a:ext cx="3371850" cy="777240"/>
            <a:chOff x="0" y="0"/>
            <a:chExt cx="4495800" cy="1036320"/>
          </a:xfrm>
        </p:grpSpPr>
        <p:sp>
          <p:nvSpPr>
            <p:cNvPr id="21" name="Freeform 21"/>
            <p:cNvSpPr/>
            <p:nvPr/>
          </p:nvSpPr>
          <p:spPr>
            <a:xfrm>
              <a:off x="0" y="0"/>
              <a:ext cx="4495799" cy="1036320"/>
            </a:xfrm>
            <a:custGeom>
              <a:avLst/>
              <a:gdLst/>
              <a:ahLst/>
              <a:cxnLst/>
              <a:rect l="l" t="t" r="r" b="b"/>
              <a:pathLst>
                <a:path w="4495799" h="1036320">
                  <a:moveTo>
                    <a:pt x="0" y="0"/>
                  </a:moveTo>
                  <a:lnTo>
                    <a:pt x="4495799" y="0"/>
                  </a:lnTo>
                  <a:lnTo>
                    <a:pt x="4495799" y="1036320"/>
                  </a:lnTo>
                  <a:lnTo>
                    <a:pt x="0" y="1036320"/>
                  </a:lnTo>
                  <a:close/>
                </a:path>
              </a:pathLst>
            </a:custGeom>
            <a:blipFill>
              <a:blip r:embed="rId4">
                <a:alphaModFix amt="0"/>
              </a:blip>
              <a:stretch>
                <a:fillRect t="-34530" b="-34530"/>
              </a:stretch>
            </a:blipFill>
          </p:spPr>
          <p:txBody>
            <a:bodyPr/>
            <a:lstStyle/>
            <a:p>
              <a:endParaRPr lang="en-US"/>
            </a:p>
          </p:txBody>
        </p:sp>
        <p:sp>
          <p:nvSpPr>
            <p:cNvPr id="22" name="TextBox 22"/>
            <p:cNvSpPr txBox="1"/>
            <p:nvPr/>
          </p:nvSpPr>
          <p:spPr>
            <a:xfrm>
              <a:off x="0" y="-38100"/>
              <a:ext cx="4495800" cy="1074420"/>
            </a:xfrm>
            <a:prstGeom prst="rect">
              <a:avLst/>
            </a:prstGeom>
          </p:spPr>
          <p:txBody>
            <a:bodyPr lIns="0" tIns="0" rIns="0" bIns="0" rtlCol="0" anchor="ctr"/>
            <a:lstStyle/>
            <a:p>
              <a:pPr algn="l">
                <a:lnSpc>
                  <a:spcPts val="1800"/>
                </a:lnSpc>
              </a:pPr>
              <a:r>
                <a:rPr lang="en-US" sz="1500" b="1" dirty="0">
                  <a:solidFill>
                    <a:srgbClr val="B4B4BC"/>
                  </a:solidFill>
                  <a:latin typeface="Calibri (MS) Bold"/>
                  <a:ea typeface="Calibri (MS) Bold"/>
                  <a:cs typeface="Calibri (MS) Bold"/>
                  <a:sym typeface="Calibri (MS) Bold"/>
                </a:rPr>
                <a:t>03  </a:t>
              </a:r>
              <a:r>
                <a:rPr lang="en-US" sz="1500" dirty="0">
                  <a:solidFill>
                    <a:srgbClr val="B4B4BC"/>
                  </a:solidFill>
                  <a:latin typeface="Calibri (MS)"/>
                  <a:ea typeface="Calibri (MS)"/>
                  <a:cs typeface="Calibri (MS)"/>
                  <a:sym typeface="Calibri (MS)"/>
                </a:rPr>
                <a:t>User Testing</a:t>
              </a:r>
            </a:p>
          </p:txBody>
        </p:sp>
      </p:grpSp>
      <p:grpSp>
        <p:nvGrpSpPr>
          <p:cNvPr id="23" name="Group 23"/>
          <p:cNvGrpSpPr/>
          <p:nvPr/>
        </p:nvGrpSpPr>
        <p:grpSpPr>
          <a:xfrm>
            <a:off x="13407390" y="8412480"/>
            <a:ext cx="3920490" cy="777240"/>
            <a:chOff x="0" y="0"/>
            <a:chExt cx="5227320" cy="1036320"/>
          </a:xfrm>
        </p:grpSpPr>
        <p:sp>
          <p:nvSpPr>
            <p:cNvPr id="24" name="Freeform 24"/>
            <p:cNvSpPr/>
            <p:nvPr/>
          </p:nvSpPr>
          <p:spPr>
            <a:xfrm>
              <a:off x="0" y="0"/>
              <a:ext cx="5227320" cy="1036320"/>
            </a:xfrm>
            <a:custGeom>
              <a:avLst/>
              <a:gdLst/>
              <a:ahLst/>
              <a:cxnLst/>
              <a:rect l="l" t="t" r="r" b="b"/>
              <a:pathLst>
                <a:path w="5227320" h="1036320">
                  <a:moveTo>
                    <a:pt x="0" y="146304"/>
                  </a:moveTo>
                  <a:cubicBezTo>
                    <a:pt x="0" y="65532"/>
                    <a:pt x="65532" y="0"/>
                    <a:pt x="146304" y="0"/>
                  </a:cubicBezTo>
                  <a:lnTo>
                    <a:pt x="5081016" y="0"/>
                  </a:lnTo>
                  <a:cubicBezTo>
                    <a:pt x="5161788" y="0"/>
                    <a:pt x="5227320" y="65532"/>
                    <a:pt x="5227320" y="146304"/>
                  </a:cubicBezTo>
                  <a:lnTo>
                    <a:pt x="5227320" y="890016"/>
                  </a:lnTo>
                  <a:cubicBezTo>
                    <a:pt x="5227320" y="970788"/>
                    <a:pt x="5161788" y="1036320"/>
                    <a:pt x="5081016" y="1036320"/>
                  </a:cubicBezTo>
                  <a:lnTo>
                    <a:pt x="146304" y="1036320"/>
                  </a:lnTo>
                  <a:cubicBezTo>
                    <a:pt x="65532" y="1036320"/>
                    <a:pt x="0" y="970788"/>
                    <a:pt x="0" y="890016"/>
                  </a:cubicBezTo>
                  <a:close/>
                </a:path>
              </a:pathLst>
            </a:custGeom>
            <a:solidFill>
              <a:srgbClr val="222222"/>
            </a:solidFill>
          </p:spPr>
          <p:txBody>
            <a:bodyPr/>
            <a:lstStyle/>
            <a:p>
              <a:endParaRPr lang="en-US"/>
            </a:p>
          </p:txBody>
        </p:sp>
      </p:grpSp>
      <p:grpSp>
        <p:nvGrpSpPr>
          <p:cNvPr id="25" name="Group 25"/>
          <p:cNvGrpSpPr/>
          <p:nvPr/>
        </p:nvGrpSpPr>
        <p:grpSpPr>
          <a:xfrm>
            <a:off x="13681710" y="8412480"/>
            <a:ext cx="3371850" cy="777240"/>
            <a:chOff x="0" y="0"/>
            <a:chExt cx="4495800" cy="1036320"/>
          </a:xfrm>
        </p:grpSpPr>
        <p:sp>
          <p:nvSpPr>
            <p:cNvPr id="26" name="Freeform 26"/>
            <p:cNvSpPr/>
            <p:nvPr/>
          </p:nvSpPr>
          <p:spPr>
            <a:xfrm>
              <a:off x="0" y="0"/>
              <a:ext cx="4495799" cy="1036320"/>
            </a:xfrm>
            <a:custGeom>
              <a:avLst/>
              <a:gdLst/>
              <a:ahLst/>
              <a:cxnLst/>
              <a:rect l="l" t="t" r="r" b="b"/>
              <a:pathLst>
                <a:path w="4495799" h="1036320">
                  <a:moveTo>
                    <a:pt x="0" y="0"/>
                  </a:moveTo>
                  <a:lnTo>
                    <a:pt x="4495799" y="0"/>
                  </a:lnTo>
                  <a:lnTo>
                    <a:pt x="4495799" y="1036320"/>
                  </a:lnTo>
                  <a:lnTo>
                    <a:pt x="0" y="1036320"/>
                  </a:lnTo>
                  <a:close/>
                </a:path>
              </a:pathLst>
            </a:custGeom>
            <a:blipFill>
              <a:blip r:embed="rId4">
                <a:alphaModFix amt="0"/>
              </a:blip>
              <a:stretch>
                <a:fillRect t="-34530" b="-34530"/>
              </a:stretch>
            </a:blipFill>
          </p:spPr>
          <p:txBody>
            <a:bodyPr/>
            <a:lstStyle/>
            <a:p>
              <a:endParaRPr lang="en-US"/>
            </a:p>
          </p:txBody>
        </p:sp>
        <p:sp>
          <p:nvSpPr>
            <p:cNvPr id="27" name="TextBox 27"/>
            <p:cNvSpPr txBox="1"/>
            <p:nvPr/>
          </p:nvSpPr>
          <p:spPr>
            <a:xfrm>
              <a:off x="0" y="-38100"/>
              <a:ext cx="4495800" cy="1074420"/>
            </a:xfrm>
            <a:prstGeom prst="rect">
              <a:avLst/>
            </a:prstGeom>
          </p:spPr>
          <p:txBody>
            <a:bodyPr lIns="0" tIns="0" rIns="0" bIns="0" rtlCol="0" anchor="ctr"/>
            <a:lstStyle/>
            <a:p>
              <a:pPr algn="l">
                <a:lnSpc>
                  <a:spcPts val="1800"/>
                </a:lnSpc>
              </a:pPr>
              <a:r>
                <a:rPr lang="en-US" sz="1500" b="1" dirty="0">
                  <a:solidFill>
                    <a:srgbClr val="B4B4BC"/>
                  </a:solidFill>
                  <a:latin typeface="Calibri (MS) Bold"/>
                  <a:ea typeface="Calibri (MS) Bold"/>
                  <a:cs typeface="Calibri (MS) Bold"/>
                  <a:sym typeface="Calibri (MS) Bold"/>
                </a:rPr>
                <a:t>04  </a:t>
              </a:r>
              <a:r>
                <a:rPr lang="en-US" sz="1500" dirty="0">
                  <a:solidFill>
                    <a:srgbClr val="B4B4BC"/>
                  </a:solidFill>
                  <a:latin typeface="Calibri (MS)"/>
                  <a:ea typeface="Calibri (MS)"/>
                  <a:cs typeface="Calibri (MS)"/>
                  <a:sym typeface="Calibri (MS)"/>
                </a:rPr>
                <a:t>Recommendation &amp; Reflection</a:t>
              </a:r>
            </a:p>
          </p:txBody>
        </p:sp>
      </p:gr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0A0A0A"/>
        </a:solidFill>
        <a:effectLst/>
      </p:bgPr>
    </p:bg>
    <p:spTree>
      <p:nvGrpSpPr>
        <p:cNvPr id="1" name=""/>
        <p:cNvGrpSpPr/>
        <p:nvPr/>
      </p:nvGrpSpPr>
      <p:grpSpPr>
        <a:xfrm>
          <a:off x="0" y="0"/>
          <a:ext cx="0" cy="0"/>
          <a:chOff x="0" y="0"/>
          <a:chExt cx="0" cy="0"/>
        </a:xfrm>
      </p:grpSpPr>
      <p:grpSp>
        <p:nvGrpSpPr>
          <p:cNvPr id="2" name="Group 2"/>
          <p:cNvGrpSpPr/>
          <p:nvPr/>
        </p:nvGrpSpPr>
        <p:grpSpPr>
          <a:xfrm>
            <a:off x="960120" y="685800"/>
            <a:ext cx="10972800" cy="480060"/>
            <a:chOff x="0" y="0"/>
            <a:chExt cx="14630400" cy="640080"/>
          </a:xfrm>
        </p:grpSpPr>
        <p:sp>
          <p:nvSpPr>
            <p:cNvPr id="3" name="Freeform 3"/>
            <p:cNvSpPr/>
            <p:nvPr/>
          </p:nvSpPr>
          <p:spPr>
            <a:xfrm>
              <a:off x="0" y="0"/>
              <a:ext cx="14630400" cy="640080"/>
            </a:xfrm>
            <a:custGeom>
              <a:avLst/>
              <a:gdLst/>
              <a:ahLst/>
              <a:cxnLst/>
              <a:rect l="l" t="t" r="r" b="b"/>
              <a:pathLst>
                <a:path w="14630400" h="640080">
                  <a:moveTo>
                    <a:pt x="0" y="0"/>
                  </a:moveTo>
                  <a:lnTo>
                    <a:pt x="14630400" y="0"/>
                  </a:lnTo>
                  <a:lnTo>
                    <a:pt x="14630400" y="640080"/>
                  </a:lnTo>
                  <a:lnTo>
                    <a:pt x="0" y="640080"/>
                  </a:lnTo>
                  <a:close/>
                </a:path>
              </a:pathLst>
            </a:custGeom>
            <a:blipFill>
              <a:blip r:embed="rId3">
                <a:alphaModFix amt="0"/>
              </a:blip>
              <a:stretch>
                <a:fillRect t="-395372" b="-395372"/>
              </a:stretch>
            </a:blipFill>
          </p:spPr>
          <p:txBody>
            <a:bodyPr/>
            <a:lstStyle/>
            <a:p>
              <a:endParaRPr lang="en-US"/>
            </a:p>
          </p:txBody>
        </p:sp>
        <p:sp>
          <p:nvSpPr>
            <p:cNvPr id="4" name="TextBox 4"/>
            <p:cNvSpPr txBox="1"/>
            <p:nvPr/>
          </p:nvSpPr>
          <p:spPr>
            <a:xfrm>
              <a:off x="0" y="-19050"/>
              <a:ext cx="14630400" cy="659130"/>
            </a:xfrm>
            <a:prstGeom prst="rect">
              <a:avLst/>
            </a:prstGeom>
          </p:spPr>
          <p:txBody>
            <a:bodyPr lIns="0" tIns="0" rIns="0" bIns="0" rtlCol="0" anchor="ctr"/>
            <a:lstStyle/>
            <a:p>
              <a:pPr algn="l">
                <a:lnSpc>
                  <a:spcPts val="2160"/>
                </a:lnSpc>
              </a:pPr>
              <a:r>
                <a:rPr lang="en-US" sz="1800" b="1" spc="450">
                  <a:solidFill>
                    <a:srgbClr val="93A9CF"/>
                  </a:solidFill>
                  <a:latin typeface="Arial Bold"/>
                  <a:ea typeface="Arial Bold"/>
                  <a:cs typeface="Arial Bold"/>
                  <a:sym typeface="Arial Bold"/>
                </a:rPr>
                <a:t>THE INTRO</a:t>
              </a:r>
            </a:p>
          </p:txBody>
        </p:sp>
      </p:grpSp>
      <p:grpSp>
        <p:nvGrpSpPr>
          <p:cNvPr id="5" name="Group 5"/>
          <p:cNvGrpSpPr/>
          <p:nvPr/>
        </p:nvGrpSpPr>
        <p:grpSpPr>
          <a:xfrm>
            <a:off x="960120" y="1237323"/>
            <a:ext cx="16112109" cy="1542360"/>
            <a:chOff x="0" y="0"/>
            <a:chExt cx="21482812" cy="2056480"/>
          </a:xfrm>
        </p:grpSpPr>
        <p:sp>
          <p:nvSpPr>
            <p:cNvPr id="6" name="Freeform 6"/>
            <p:cNvSpPr/>
            <p:nvPr/>
          </p:nvSpPr>
          <p:spPr>
            <a:xfrm>
              <a:off x="0" y="0"/>
              <a:ext cx="21482813" cy="2056480"/>
            </a:xfrm>
            <a:custGeom>
              <a:avLst/>
              <a:gdLst/>
              <a:ahLst/>
              <a:cxnLst/>
              <a:rect l="l" t="t" r="r" b="b"/>
              <a:pathLst>
                <a:path w="21482813" h="2056480">
                  <a:moveTo>
                    <a:pt x="0" y="0"/>
                  </a:moveTo>
                  <a:lnTo>
                    <a:pt x="21482813" y="0"/>
                  </a:lnTo>
                  <a:lnTo>
                    <a:pt x="21482813" y="2056480"/>
                  </a:lnTo>
                  <a:lnTo>
                    <a:pt x="0" y="2056480"/>
                  </a:lnTo>
                  <a:close/>
                </a:path>
              </a:pathLst>
            </a:custGeom>
            <a:blipFill>
              <a:blip r:embed="rId3">
                <a:alphaModFix amt="0"/>
              </a:blip>
              <a:stretch>
                <a:fillRect t="-106777" r="26789" b="-91260"/>
              </a:stretch>
            </a:blipFill>
          </p:spPr>
          <p:txBody>
            <a:bodyPr/>
            <a:lstStyle/>
            <a:p>
              <a:endParaRPr lang="en-US"/>
            </a:p>
          </p:txBody>
        </p:sp>
        <p:sp>
          <p:nvSpPr>
            <p:cNvPr id="7" name="TextBox 7"/>
            <p:cNvSpPr txBox="1"/>
            <p:nvPr/>
          </p:nvSpPr>
          <p:spPr>
            <a:xfrm>
              <a:off x="0" y="28575"/>
              <a:ext cx="21482812" cy="2027905"/>
            </a:xfrm>
            <a:prstGeom prst="rect">
              <a:avLst/>
            </a:prstGeom>
          </p:spPr>
          <p:txBody>
            <a:bodyPr lIns="0" tIns="0" rIns="0" bIns="0" rtlCol="0" anchor="ctr"/>
            <a:lstStyle/>
            <a:p>
              <a:pPr algn="l">
                <a:lnSpc>
                  <a:spcPts val="4800"/>
                </a:lnSpc>
              </a:pPr>
              <a:r>
                <a:rPr lang="en-US" sz="4500" b="1">
                  <a:solidFill>
                    <a:srgbClr val="FFFFFF"/>
                  </a:solidFill>
                  <a:latin typeface="Arial Bold"/>
                  <a:ea typeface="Arial Bold"/>
                  <a:cs typeface="Arial Bold"/>
                  <a:sym typeface="Arial Bold"/>
                </a:rPr>
                <a:t>Driving Authentic Daily Engagement &amp; Long-Term Retention on BeReal.</a:t>
              </a:r>
            </a:p>
          </p:txBody>
        </p:sp>
      </p:grpSp>
      <p:grpSp>
        <p:nvGrpSpPr>
          <p:cNvPr id="8" name="Group 8"/>
          <p:cNvGrpSpPr/>
          <p:nvPr/>
        </p:nvGrpSpPr>
        <p:grpSpPr>
          <a:xfrm>
            <a:off x="0" y="6120330"/>
            <a:ext cx="18288000" cy="4565712"/>
            <a:chOff x="0" y="0"/>
            <a:chExt cx="5005885" cy="1202492"/>
          </a:xfrm>
        </p:grpSpPr>
        <p:sp>
          <p:nvSpPr>
            <p:cNvPr id="9" name="Freeform 9"/>
            <p:cNvSpPr/>
            <p:nvPr/>
          </p:nvSpPr>
          <p:spPr>
            <a:xfrm>
              <a:off x="0" y="0"/>
              <a:ext cx="5005886" cy="1202492"/>
            </a:xfrm>
            <a:custGeom>
              <a:avLst/>
              <a:gdLst/>
              <a:ahLst/>
              <a:cxnLst/>
              <a:rect l="l" t="t" r="r" b="b"/>
              <a:pathLst>
                <a:path w="5005886" h="1202492">
                  <a:moveTo>
                    <a:pt x="0" y="0"/>
                  </a:moveTo>
                  <a:lnTo>
                    <a:pt x="5005886" y="0"/>
                  </a:lnTo>
                  <a:lnTo>
                    <a:pt x="5005886" y="1202492"/>
                  </a:lnTo>
                  <a:lnTo>
                    <a:pt x="0" y="1202492"/>
                  </a:lnTo>
                  <a:close/>
                </a:path>
              </a:pathLst>
            </a:custGeom>
            <a:solidFill>
              <a:srgbClr val="FFFFFF"/>
            </a:solidFill>
          </p:spPr>
          <p:txBody>
            <a:bodyPr/>
            <a:lstStyle/>
            <a:p>
              <a:endParaRPr lang="en-US"/>
            </a:p>
          </p:txBody>
        </p:sp>
        <p:sp>
          <p:nvSpPr>
            <p:cNvPr id="10" name="TextBox 10"/>
            <p:cNvSpPr txBox="1"/>
            <p:nvPr/>
          </p:nvSpPr>
          <p:spPr>
            <a:xfrm>
              <a:off x="0" y="-47625"/>
              <a:ext cx="5005885" cy="1250117"/>
            </a:xfrm>
            <a:prstGeom prst="rect">
              <a:avLst/>
            </a:prstGeom>
          </p:spPr>
          <p:txBody>
            <a:bodyPr lIns="50800" tIns="50800" rIns="50800" bIns="50800" rtlCol="0" anchor="ctr"/>
            <a:lstStyle/>
            <a:p>
              <a:pPr algn="ctr">
                <a:lnSpc>
                  <a:spcPts val="2340"/>
                </a:lnSpc>
              </a:pPr>
              <a:endParaRPr/>
            </a:p>
          </p:txBody>
        </p:sp>
      </p:grpSp>
      <p:grpSp>
        <p:nvGrpSpPr>
          <p:cNvPr id="11" name="Group 11"/>
          <p:cNvGrpSpPr/>
          <p:nvPr/>
        </p:nvGrpSpPr>
        <p:grpSpPr>
          <a:xfrm>
            <a:off x="211387" y="6754624"/>
            <a:ext cx="2841385" cy="382494"/>
            <a:chOff x="0" y="0"/>
            <a:chExt cx="4754880" cy="640080"/>
          </a:xfrm>
        </p:grpSpPr>
        <p:sp>
          <p:nvSpPr>
            <p:cNvPr id="12" name="Freeform 12"/>
            <p:cNvSpPr/>
            <p:nvPr/>
          </p:nvSpPr>
          <p:spPr>
            <a:xfrm>
              <a:off x="0" y="0"/>
              <a:ext cx="4754880" cy="640080"/>
            </a:xfrm>
            <a:custGeom>
              <a:avLst/>
              <a:gdLst/>
              <a:ahLst/>
              <a:cxnLst/>
              <a:rect l="l" t="t" r="r" b="b"/>
              <a:pathLst>
                <a:path w="4754880" h="640080">
                  <a:moveTo>
                    <a:pt x="0" y="0"/>
                  </a:moveTo>
                  <a:lnTo>
                    <a:pt x="4754880" y="0"/>
                  </a:lnTo>
                  <a:lnTo>
                    <a:pt x="4754880" y="640080"/>
                  </a:lnTo>
                  <a:lnTo>
                    <a:pt x="0" y="640080"/>
                  </a:lnTo>
                  <a:close/>
                </a:path>
              </a:pathLst>
            </a:custGeom>
            <a:blipFill>
              <a:blip r:embed="rId3">
                <a:alphaModFix amt="0"/>
              </a:blip>
              <a:stretch>
                <a:fillRect t="-94745" b="-94745"/>
              </a:stretch>
            </a:blipFill>
          </p:spPr>
          <p:txBody>
            <a:bodyPr/>
            <a:lstStyle/>
            <a:p>
              <a:endParaRPr lang="en-US"/>
            </a:p>
          </p:txBody>
        </p:sp>
        <p:sp>
          <p:nvSpPr>
            <p:cNvPr id="13" name="TextBox 13"/>
            <p:cNvSpPr txBox="1"/>
            <p:nvPr/>
          </p:nvSpPr>
          <p:spPr>
            <a:xfrm>
              <a:off x="0" y="-38100"/>
              <a:ext cx="4754880" cy="678180"/>
            </a:xfrm>
            <a:prstGeom prst="rect">
              <a:avLst/>
            </a:prstGeom>
          </p:spPr>
          <p:txBody>
            <a:bodyPr lIns="0" tIns="0" rIns="0" bIns="0" rtlCol="0" anchor="ctr"/>
            <a:lstStyle/>
            <a:p>
              <a:pPr algn="l">
                <a:lnSpc>
                  <a:spcPts val="2250"/>
                </a:lnSpc>
              </a:pPr>
              <a:r>
                <a:rPr lang="en-US" sz="1875" b="1">
                  <a:solidFill>
                    <a:srgbClr val="17375E"/>
                  </a:solidFill>
                  <a:latin typeface="Calibri (MS) Bold"/>
                  <a:ea typeface="Calibri (MS) Bold"/>
                  <a:cs typeface="Calibri (MS) Bold"/>
                  <a:sym typeface="Calibri (MS) Bold"/>
                </a:rPr>
                <a:t>Time to Be Real.</a:t>
              </a:r>
            </a:p>
          </p:txBody>
        </p:sp>
      </p:grpSp>
      <p:sp>
        <p:nvSpPr>
          <p:cNvPr id="14" name="Freeform 14"/>
          <p:cNvSpPr/>
          <p:nvPr/>
        </p:nvSpPr>
        <p:spPr>
          <a:xfrm>
            <a:off x="211387" y="7310884"/>
            <a:ext cx="944463" cy="891796"/>
          </a:xfrm>
          <a:custGeom>
            <a:avLst/>
            <a:gdLst/>
            <a:ahLst/>
            <a:cxnLst/>
            <a:rect l="l" t="t" r="r" b="b"/>
            <a:pathLst>
              <a:path w="944463" h="891796">
                <a:moveTo>
                  <a:pt x="0" y="0"/>
                </a:moveTo>
                <a:lnTo>
                  <a:pt x="944463" y="0"/>
                </a:lnTo>
                <a:lnTo>
                  <a:pt x="944463" y="891797"/>
                </a:lnTo>
                <a:lnTo>
                  <a:pt x="0" y="891797"/>
                </a:lnTo>
                <a:lnTo>
                  <a:pt x="0" y="0"/>
                </a:lnTo>
                <a:close/>
              </a:path>
            </a:pathLst>
          </a:custGeom>
          <a:blipFill>
            <a:blip r:embed="rId4"/>
            <a:stretch>
              <a:fillRect t="-3217" r="-499" b="-3217"/>
            </a:stretch>
          </a:blipFill>
        </p:spPr>
        <p:txBody>
          <a:bodyPr/>
          <a:lstStyle/>
          <a:p>
            <a:endParaRPr lang="en-US"/>
          </a:p>
        </p:txBody>
      </p:sp>
      <p:grpSp>
        <p:nvGrpSpPr>
          <p:cNvPr id="15" name="Group 15"/>
          <p:cNvGrpSpPr/>
          <p:nvPr/>
        </p:nvGrpSpPr>
        <p:grpSpPr>
          <a:xfrm>
            <a:off x="960120" y="3309154"/>
            <a:ext cx="3119194" cy="2104293"/>
            <a:chOff x="0" y="0"/>
            <a:chExt cx="4158925" cy="2805724"/>
          </a:xfrm>
        </p:grpSpPr>
        <p:grpSp>
          <p:nvGrpSpPr>
            <p:cNvPr id="16" name="Group 16"/>
            <p:cNvGrpSpPr/>
            <p:nvPr/>
          </p:nvGrpSpPr>
          <p:grpSpPr>
            <a:xfrm>
              <a:off x="0" y="1082276"/>
              <a:ext cx="4067485" cy="1723448"/>
              <a:chOff x="0" y="0"/>
              <a:chExt cx="4067485" cy="1723448"/>
            </a:xfrm>
          </p:grpSpPr>
          <p:sp>
            <p:nvSpPr>
              <p:cNvPr id="17" name="Freeform 17"/>
              <p:cNvSpPr/>
              <p:nvPr/>
            </p:nvSpPr>
            <p:spPr>
              <a:xfrm>
                <a:off x="0" y="0"/>
                <a:ext cx="4067485" cy="1723448"/>
              </a:xfrm>
              <a:custGeom>
                <a:avLst/>
                <a:gdLst/>
                <a:ahLst/>
                <a:cxnLst/>
                <a:rect l="l" t="t" r="r" b="b"/>
                <a:pathLst>
                  <a:path w="4067485" h="1723448">
                    <a:moveTo>
                      <a:pt x="0" y="0"/>
                    </a:moveTo>
                    <a:lnTo>
                      <a:pt x="4067485" y="0"/>
                    </a:lnTo>
                    <a:lnTo>
                      <a:pt x="4067485" y="1723448"/>
                    </a:lnTo>
                    <a:lnTo>
                      <a:pt x="0" y="1723448"/>
                    </a:lnTo>
                    <a:close/>
                  </a:path>
                </a:pathLst>
              </a:custGeom>
              <a:blipFill>
                <a:blip r:embed="rId3">
                  <a:alphaModFix amt="0"/>
                </a:blip>
                <a:stretch>
                  <a:fillRect t="-201806" r="-408064" b="-165474"/>
                </a:stretch>
              </a:blipFill>
            </p:spPr>
            <p:txBody>
              <a:bodyPr/>
              <a:lstStyle/>
              <a:p>
                <a:endParaRPr lang="en-US"/>
              </a:p>
            </p:txBody>
          </p:sp>
          <p:sp>
            <p:nvSpPr>
              <p:cNvPr id="18" name="TextBox 18"/>
              <p:cNvSpPr txBox="1"/>
              <p:nvPr/>
            </p:nvSpPr>
            <p:spPr>
              <a:xfrm>
                <a:off x="0" y="-57150"/>
                <a:ext cx="4067485" cy="1780598"/>
              </a:xfrm>
              <a:prstGeom prst="rect">
                <a:avLst/>
              </a:prstGeom>
            </p:spPr>
            <p:txBody>
              <a:bodyPr lIns="0" tIns="0" rIns="0" bIns="0" rtlCol="0" anchor="ctr"/>
              <a:lstStyle/>
              <a:p>
                <a:pPr marL="404812" lvl="1" indent="-202406" algn="just">
                  <a:lnSpc>
                    <a:spcPts val="2400"/>
                  </a:lnSpc>
                  <a:buFont typeface="Arial"/>
                  <a:buChar char="•"/>
                </a:pPr>
                <a:r>
                  <a:rPr lang="en-US" sz="1875">
                    <a:solidFill>
                      <a:srgbClr val="FFFFFF"/>
                    </a:solidFill>
                    <a:latin typeface="Calibri (MS)"/>
                    <a:ea typeface="Calibri (MS)"/>
                    <a:cs typeface="Calibri (MS)"/>
                    <a:sym typeface="Calibri (MS)"/>
                  </a:rPr>
                  <a:t>Post- Notification Slump</a:t>
                </a:r>
              </a:p>
              <a:p>
                <a:pPr marL="404812" lvl="1" indent="-202406" algn="just">
                  <a:lnSpc>
                    <a:spcPts val="2400"/>
                  </a:lnSpc>
                  <a:buFont typeface="Arial"/>
                  <a:buChar char="•"/>
                </a:pPr>
                <a:r>
                  <a:rPr lang="en-US" sz="1875">
                    <a:solidFill>
                      <a:srgbClr val="FFFFFF"/>
                    </a:solidFill>
                    <a:latin typeface="Calibri (MS)"/>
                    <a:ea typeface="Calibri (MS)"/>
                    <a:cs typeface="Calibri (MS)"/>
                    <a:sym typeface="Calibri (MS)"/>
                  </a:rPr>
                  <a:t>Single-Touchpoint Limit</a:t>
                </a:r>
              </a:p>
              <a:p>
                <a:pPr marL="404812" lvl="1" indent="-202406" algn="just">
                  <a:lnSpc>
                    <a:spcPts val="2400"/>
                  </a:lnSpc>
                  <a:buFont typeface="Arial"/>
                  <a:buChar char="•"/>
                </a:pPr>
                <a:r>
                  <a:rPr lang="en-US" sz="1875">
                    <a:solidFill>
                      <a:srgbClr val="FFFFFF"/>
                    </a:solidFill>
                    <a:latin typeface="Calibri (MS)"/>
                    <a:ea typeface="Calibri (MS)"/>
                    <a:cs typeface="Calibri (MS)"/>
                    <a:sym typeface="Calibri (MS)"/>
                  </a:rPr>
                  <a:t>Passive Feed Stagnation</a:t>
                </a:r>
              </a:p>
              <a:p>
                <a:pPr marL="404812" lvl="1" indent="-202406" algn="just">
                  <a:lnSpc>
                    <a:spcPts val="2400"/>
                  </a:lnSpc>
                  <a:buFont typeface="Arial"/>
                  <a:buChar char="•"/>
                </a:pPr>
                <a:r>
                  <a:rPr lang="en-US" sz="1875">
                    <a:solidFill>
                      <a:srgbClr val="FFFFFF"/>
                    </a:solidFill>
                    <a:latin typeface="Calibri (MS)"/>
                    <a:ea typeface="Calibri (MS)"/>
                    <a:cs typeface="Calibri (MS)"/>
                    <a:sym typeface="Calibri (MS)"/>
                  </a:rPr>
                  <a:t>Casual Drop-Off Risk</a:t>
                </a:r>
              </a:p>
            </p:txBody>
          </p:sp>
        </p:grpSp>
        <p:grpSp>
          <p:nvGrpSpPr>
            <p:cNvPr id="19" name="Group 19"/>
            <p:cNvGrpSpPr/>
            <p:nvPr/>
          </p:nvGrpSpPr>
          <p:grpSpPr>
            <a:xfrm>
              <a:off x="91440" y="0"/>
              <a:ext cx="4067485" cy="1097280"/>
              <a:chOff x="0" y="0"/>
              <a:chExt cx="4067485" cy="1097280"/>
            </a:xfrm>
          </p:grpSpPr>
          <p:sp>
            <p:nvSpPr>
              <p:cNvPr id="20" name="Freeform 20"/>
              <p:cNvSpPr/>
              <p:nvPr/>
            </p:nvSpPr>
            <p:spPr>
              <a:xfrm>
                <a:off x="0" y="0"/>
                <a:ext cx="4067485" cy="1097280"/>
              </a:xfrm>
              <a:custGeom>
                <a:avLst/>
                <a:gdLst/>
                <a:ahLst/>
                <a:cxnLst/>
                <a:rect l="l" t="t" r="r" b="b"/>
                <a:pathLst>
                  <a:path w="4067485" h="1097280">
                    <a:moveTo>
                      <a:pt x="0" y="0"/>
                    </a:moveTo>
                    <a:lnTo>
                      <a:pt x="4067485" y="0"/>
                    </a:lnTo>
                    <a:lnTo>
                      <a:pt x="4067485" y="1097280"/>
                    </a:lnTo>
                    <a:lnTo>
                      <a:pt x="0" y="1097280"/>
                    </a:lnTo>
                    <a:close/>
                  </a:path>
                </a:pathLst>
              </a:custGeom>
              <a:blipFill>
                <a:blip r:embed="rId3">
                  <a:alphaModFix amt="0"/>
                </a:blip>
                <a:stretch>
                  <a:fillRect t="-316968" r="-408064" b="-316968"/>
                </a:stretch>
              </a:blipFill>
            </p:spPr>
            <p:txBody>
              <a:bodyPr/>
              <a:lstStyle/>
              <a:p>
                <a:endParaRPr lang="en-US"/>
              </a:p>
            </p:txBody>
          </p:sp>
          <p:sp>
            <p:nvSpPr>
              <p:cNvPr id="21" name="TextBox 21"/>
              <p:cNvSpPr txBox="1"/>
              <p:nvPr/>
            </p:nvSpPr>
            <p:spPr>
              <a:xfrm>
                <a:off x="0" y="-57150"/>
                <a:ext cx="4067485" cy="1154430"/>
              </a:xfrm>
              <a:prstGeom prst="rect">
                <a:avLst/>
              </a:prstGeom>
            </p:spPr>
            <p:txBody>
              <a:bodyPr lIns="0" tIns="0" rIns="0" bIns="0" rtlCol="0" anchor="ctr"/>
              <a:lstStyle/>
              <a:p>
                <a:pPr algn="ctr">
                  <a:lnSpc>
                    <a:spcPts val="2400"/>
                  </a:lnSpc>
                </a:pPr>
                <a:r>
                  <a:rPr lang="en-US" sz="1875" b="1" dirty="0">
                    <a:solidFill>
                      <a:srgbClr val="FFFFFF"/>
                    </a:solidFill>
                    <a:latin typeface="Calibri (MS) Bold"/>
                    <a:ea typeface="Calibri (MS) Bold"/>
                    <a:cs typeface="Calibri (MS) Bold"/>
                    <a:sym typeface="Calibri (MS) Bold"/>
                  </a:rPr>
                  <a:t>THE PROBLEM STATEMENT</a:t>
                </a:r>
              </a:p>
            </p:txBody>
          </p:sp>
        </p:grpSp>
      </p:grpSp>
      <p:grpSp>
        <p:nvGrpSpPr>
          <p:cNvPr id="22" name="Group 22"/>
          <p:cNvGrpSpPr/>
          <p:nvPr/>
        </p:nvGrpSpPr>
        <p:grpSpPr>
          <a:xfrm>
            <a:off x="7456578" y="3385756"/>
            <a:ext cx="3119194" cy="2104293"/>
            <a:chOff x="0" y="0"/>
            <a:chExt cx="4158925" cy="2805724"/>
          </a:xfrm>
        </p:grpSpPr>
        <p:grpSp>
          <p:nvGrpSpPr>
            <p:cNvPr id="23" name="Group 23"/>
            <p:cNvGrpSpPr/>
            <p:nvPr/>
          </p:nvGrpSpPr>
          <p:grpSpPr>
            <a:xfrm>
              <a:off x="0" y="1082276"/>
              <a:ext cx="4067485" cy="1723448"/>
              <a:chOff x="0" y="0"/>
              <a:chExt cx="4067485" cy="1723448"/>
            </a:xfrm>
          </p:grpSpPr>
          <p:sp>
            <p:nvSpPr>
              <p:cNvPr id="24" name="Freeform 24"/>
              <p:cNvSpPr/>
              <p:nvPr/>
            </p:nvSpPr>
            <p:spPr>
              <a:xfrm>
                <a:off x="0" y="0"/>
                <a:ext cx="4067485" cy="1723448"/>
              </a:xfrm>
              <a:custGeom>
                <a:avLst/>
                <a:gdLst/>
                <a:ahLst/>
                <a:cxnLst/>
                <a:rect l="l" t="t" r="r" b="b"/>
                <a:pathLst>
                  <a:path w="4067485" h="1723448">
                    <a:moveTo>
                      <a:pt x="0" y="0"/>
                    </a:moveTo>
                    <a:lnTo>
                      <a:pt x="4067485" y="0"/>
                    </a:lnTo>
                    <a:lnTo>
                      <a:pt x="4067485" y="1723448"/>
                    </a:lnTo>
                    <a:lnTo>
                      <a:pt x="0" y="1723448"/>
                    </a:lnTo>
                    <a:close/>
                  </a:path>
                </a:pathLst>
              </a:custGeom>
              <a:blipFill>
                <a:blip r:embed="rId3">
                  <a:alphaModFix amt="0"/>
                </a:blip>
                <a:stretch>
                  <a:fillRect t="-201806" r="-408064" b="-165474"/>
                </a:stretch>
              </a:blipFill>
            </p:spPr>
            <p:txBody>
              <a:bodyPr/>
              <a:lstStyle/>
              <a:p>
                <a:endParaRPr lang="en-US"/>
              </a:p>
            </p:txBody>
          </p:sp>
          <p:sp>
            <p:nvSpPr>
              <p:cNvPr id="25" name="TextBox 25"/>
              <p:cNvSpPr txBox="1"/>
              <p:nvPr/>
            </p:nvSpPr>
            <p:spPr>
              <a:xfrm>
                <a:off x="0" y="-57150"/>
                <a:ext cx="4067485" cy="1780598"/>
              </a:xfrm>
              <a:prstGeom prst="rect">
                <a:avLst/>
              </a:prstGeom>
            </p:spPr>
            <p:txBody>
              <a:bodyPr lIns="0" tIns="0" rIns="0" bIns="0" rtlCol="0" anchor="ctr"/>
              <a:lstStyle/>
              <a:p>
                <a:pPr marL="404812" lvl="1" indent="-202406" algn="l">
                  <a:lnSpc>
                    <a:spcPts val="2400"/>
                  </a:lnSpc>
                  <a:buFont typeface="Arial"/>
                  <a:buChar char="•"/>
                </a:pPr>
                <a:r>
                  <a:rPr lang="en-US" sz="1875">
                    <a:solidFill>
                      <a:srgbClr val="FFFFFF"/>
                    </a:solidFill>
                    <a:latin typeface="Calibri (MS)"/>
                    <a:ea typeface="Calibri (MS)"/>
                    <a:cs typeface="Calibri (MS)"/>
                    <a:sym typeface="Calibri (MS)"/>
                  </a:rPr>
                  <a:t>Midnight Theme Prompt</a:t>
                </a:r>
              </a:p>
              <a:p>
                <a:pPr marL="404812" lvl="1" indent="-202406" algn="l">
                  <a:lnSpc>
                    <a:spcPts val="2400"/>
                  </a:lnSpc>
                  <a:buFont typeface="Arial"/>
                  <a:buChar char="•"/>
                </a:pPr>
                <a:r>
                  <a:rPr lang="en-US" sz="1875">
                    <a:solidFill>
                      <a:srgbClr val="FFFFFF"/>
                    </a:solidFill>
                    <a:latin typeface="Calibri (MS)"/>
                    <a:ea typeface="Calibri (MS)"/>
                    <a:cs typeface="Calibri (MS)"/>
                    <a:sym typeface="Calibri (MS)"/>
                  </a:rPr>
                  <a:t>Squad Board Collages</a:t>
                </a:r>
              </a:p>
              <a:p>
                <a:pPr marL="404812" lvl="1" indent="-202406" algn="l">
                  <a:lnSpc>
                    <a:spcPts val="2400"/>
                  </a:lnSpc>
                  <a:buFont typeface="Arial"/>
                  <a:buChar char="•"/>
                </a:pPr>
                <a:r>
                  <a:rPr lang="en-US" sz="1875">
                    <a:solidFill>
                      <a:srgbClr val="FFFFFF"/>
                    </a:solidFill>
                    <a:latin typeface="Calibri (MS)"/>
                    <a:ea typeface="Calibri (MS)"/>
                    <a:cs typeface="Calibri (MS)"/>
                    <a:sym typeface="Calibri (MS)"/>
                  </a:rPr>
                  <a:t>Vector Passport Stamps</a:t>
                </a:r>
              </a:p>
              <a:p>
                <a:pPr marL="404812" lvl="1" indent="-202406" algn="l">
                  <a:lnSpc>
                    <a:spcPts val="2400"/>
                  </a:lnSpc>
                  <a:buFont typeface="Arial"/>
                  <a:buChar char="•"/>
                </a:pPr>
                <a:r>
                  <a:rPr lang="en-US" sz="1875">
                    <a:solidFill>
                      <a:srgbClr val="FFFFFF"/>
                    </a:solidFill>
                    <a:latin typeface="Calibri (MS)"/>
                    <a:ea typeface="Calibri (MS)"/>
                    <a:cs typeface="Calibri (MS)"/>
                    <a:sym typeface="Calibri (MS)"/>
                  </a:rPr>
                  <a:t>Monthly Capsule Vault</a:t>
                </a:r>
              </a:p>
            </p:txBody>
          </p:sp>
        </p:grpSp>
        <p:grpSp>
          <p:nvGrpSpPr>
            <p:cNvPr id="26" name="Group 26"/>
            <p:cNvGrpSpPr/>
            <p:nvPr/>
          </p:nvGrpSpPr>
          <p:grpSpPr>
            <a:xfrm>
              <a:off x="91440" y="0"/>
              <a:ext cx="4067485" cy="1097280"/>
              <a:chOff x="0" y="0"/>
              <a:chExt cx="4067485" cy="1097280"/>
            </a:xfrm>
          </p:grpSpPr>
          <p:sp>
            <p:nvSpPr>
              <p:cNvPr id="27" name="Freeform 27"/>
              <p:cNvSpPr/>
              <p:nvPr/>
            </p:nvSpPr>
            <p:spPr>
              <a:xfrm>
                <a:off x="0" y="0"/>
                <a:ext cx="4067485" cy="1097280"/>
              </a:xfrm>
              <a:custGeom>
                <a:avLst/>
                <a:gdLst/>
                <a:ahLst/>
                <a:cxnLst/>
                <a:rect l="l" t="t" r="r" b="b"/>
                <a:pathLst>
                  <a:path w="4067485" h="1097280">
                    <a:moveTo>
                      <a:pt x="0" y="0"/>
                    </a:moveTo>
                    <a:lnTo>
                      <a:pt x="4067485" y="0"/>
                    </a:lnTo>
                    <a:lnTo>
                      <a:pt x="4067485" y="1097280"/>
                    </a:lnTo>
                    <a:lnTo>
                      <a:pt x="0" y="1097280"/>
                    </a:lnTo>
                    <a:close/>
                  </a:path>
                </a:pathLst>
              </a:custGeom>
              <a:blipFill>
                <a:blip r:embed="rId3">
                  <a:alphaModFix amt="0"/>
                </a:blip>
                <a:stretch>
                  <a:fillRect t="-316968" r="-408064" b="-316968"/>
                </a:stretch>
              </a:blipFill>
            </p:spPr>
            <p:txBody>
              <a:bodyPr/>
              <a:lstStyle/>
              <a:p>
                <a:endParaRPr lang="en-US"/>
              </a:p>
            </p:txBody>
          </p:sp>
          <p:sp>
            <p:nvSpPr>
              <p:cNvPr id="28" name="TextBox 28"/>
              <p:cNvSpPr txBox="1"/>
              <p:nvPr/>
            </p:nvSpPr>
            <p:spPr>
              <a:xfrm>
                <a:off x="0" y="-57150"/>
                <a:ext cx="4067485" cy="1154430"/>
              </a:xfrm>
              <a:prstGeom prst="rect">
                <a:avLst/>
              </a:prstGeom>
            </p:spPr>
            <p:txBody>
              <a:bodyPr lIns="0" tIns="0" rIns="0" bIns="0" rtlCol="0" anchor="ctr"/>
              <a:lstStyle/>
              <a:p>
                <a:pPr algn="ctr">
                  <a:lnSpc>
                    <a:spcPts val="2400"/>
                  </a:lnSpc>
                </a:pPr>
                <a:r>
                  <a:rPr lang="en-US" sz="1875" b="1" dirty="0">
                    <a:solidFill>
                      <a:srgbClr val="FFFFFF"/>
                    </a:solidFill>
                    <a:latin typeface="Calibri (MS) Bold"/>
                    <a:ea typeface="Calibri (MS) Bold"/>
                    <a:cs typeface="Calibri (MS) Bold"/>
                    <a:sym typeface="Calibri (MS) Bold"/>
                  </a:rPr>
                  <a:t>THE ENHANCEMENT</a:t>
                </a:r>
              </a:p>
            </p:txBody>
          </p:sp>
        </p:grpSp>
      </p:grpSp>
      <p:grpSp>
        <p:nvGrpSpPr>
          <p:cNvPr id="29" name="Group 29"/>
          <p:cNvGrpSpPr/>
          <p:nvPr/>
        </p:nvGrpSpPr>
        <p:grpSpPr>
          <a:xfrm>
            <a:off x="13953035" y="3342894"/>
            <a:ext cx="3374845" cy="2147155"/>
            <a:chOff x="0" y="-57149"/>
            <a:chExt cx="5368918" cy="2862873"/>
          </a:xfrm>
        </p:grpSpPr>
        <p:grpSp>
          <p:nvGrpSpPr>
            <p:cNvPr id="30" name="Group 30"/>
            <p:cNvGrpSpPr/>
            <p:nvPr/>
          </p:nvGrpSpPr>
          <p:grpSpPr>
            <a:xfrm>
              <a:off x="0" y="1082276"/>
              <a:ext cx="5250875" cy="1723448"/>
              <a:chOff x="0" y="0"/>
              <a:chExt cx="5250875" cy="1723448"/>
            </a:xfrm>
          </p:grpSpPr>
          <p:sp>
            <p:nvSpPr>
              <p:cNvPr id="31" name="Freeform 31"/>
              <p:cNvSpPr/>
              <p:nvPr/>
            </p:nvSpPr>
            <p:spPr>
              <a:xfrm>
                <a:off x="0" y="0"/>
                <a:ext cx="5250875" cy="1723448"/>
              </a:xfrm>
              <a:custGeom>
                <a:avLst/>
                <a:gdLst/>
                <a:ahLst/>
                <a:cxnLst/>
                <a:rect l="l" t="t" r="r" b="b"/>
                <a:pathLst>
                  <a:path w="5250875" h="1723448">
                    <a:moveTo>
                      <a:pt x="0" y="0"/>
                    </a:moveTo>
                    <a:lnTo>
                      <a:pt x="5250875" y="0"/>
                    </a:lnTo>
                    <a:lnTo>
                      <a:pt x="5250875" y="1723448"/>
                    </a:lnTo>
                    <a:lnTo>
                      <a:pt x="0" y="1723448"/>
                    </a:lnTo>
                    <a:close/>
                  </a:path>
                </a:pathLst>
              </a:custGeom>
              <a:blipFill>
                <a:blip r:embed="rId3">
                  <a:alphaModFix amt="0"/>
                </a:blip>
                <a:stretch>
                  <a:fillRect t="-201806" r="-293561" b="-165474"/>
                </a:stretch>
              </a:blipFill>
            </p:spPr>
            <p:txBody>
              <a:bodyPr/>
              <a:lstStyle/>
              <a:p>
                <a:endParaRPr lang="en-US"/>
              </a:p>
            </p:txBody>
          </p:sp>
          <p:sp>
            <p:nvSpPr>
              <p:cNvPr id="32" name="TextBox 32"/>
              <p:cNvSpPr txBox="1"/>
              <p:nvPr/>
            </p:nvSpPr>
            <p:spPr>
              <a:xfrm>
                <a:off x="0" y="-57150"/>
                <a:ext cx="5250875" cy="1780598"/>
              </a:xfrm>
              <a:prstGeom prst="rect">
                <a:avLst/>
              </a:prstGeom>
            </p:spPr>
            <p:txBody>
              <a:bodyPr lIns="0" tIns="0" rIns="0" bIns="0" rtlCol="0" anchor="ctr"/>
              <a:lstStyle/>
              <a:p>
                <a:pPr marL="404812" lvl="1" indent="-202406" algn="l">
                  <a:lnSpc>
                    <a:spcPts val="2400"/>
                  </a:lnSpc>
                  <a:buFont typeface="Arial"/>
                  <a:buChar char="•"/>
                </a:pPr>
                <a:r>
                  <a:rPr lang="en-US" sz="1875" dirty="0">
                    <a:solidFill>
                      <a:srgbClr val="FFFFFF"/>
                    </a:solidFill>
                    <a:latin typeface="Calibri (MS)"/>
                    <a:ea typeface="Calibri (MS)"/>
                    <a:cs typeface="Calibri (MS)"/>
                    <a:sym typeface="Calibri (MS)"/>
                  </a:rPr>
                  <a:t>2.5x Daily Opens/User</a:t>
                </a:r>
              </a:p>
              <a:p>
                <a:pPr marL="404812" lvl="1" indent="-202406" algn="l">
                  <a:lnSpc>
                    <a:spcPts val="2400"/>
                  </a:lnSpc>
                  <a:buFont typeface="Arial"/>
                  <a:buChar char="•"/>
                </a:pPr>
                <a:r>
                  <a:rPr lang="en-US" sz="1875" dirty="0">
                    <a:solidFill>
                      <a:srgbClr val="FFFFFF"/>
                    </a:solidFill>
                    <a:latin typeface="Calibri (MS)"/>
                    <a:ea typeface="Calibri (MS)"/>
                    <a:cs typeface="Calibri (MS)"/>
                    <a:sym typeface="Calibri (MS)"/>
                  </a:rPr>
                  <a:t>Organic Peer Accountability</a:t>
                </a:r>
              </a:p>
              <a:p>
                <a:pPr marL="404812" lvl="1" indent="-202406" algn="l">
                  <a:lnSpc>
                    <a:spcPts val="2400"/>
                  </a:lnSpc>
                  <a:buFont typeface="Arial"/>
                  <a:buChar char="•"/>
                </a:pPr>
                <a:r>
                  <a:rPr lang="en-US" sz="1875" dirty="0">
                    <a:solidFill>
                      <a:srgbClr val="FFFFFF"/>
                    </a:solidFill>
                    <a:latin typeface="Calibri (MS)"/>
                    <a:ea typeface="Calibri (MS)"/>
                    <a:cs typeface="Calibri (MS)"/>
                    <a:sym typeface="Calibri (MS)"/>
                  </a:rPr>
                  <a:t>30-Day Retention Vaulting</a:t>
                </a:r>
              </a:p>
              <a:p>
                <a:pPr marL="404812" lvl="1" indent="-202406" algn="l">
                  <a:lnSpc>
                    <a:spcPts val="2400"/>
                  </a:lnSpc>
                  <a:buFont typeface="Arial"/>
                  <a:buChar char="•"/>
                </a:pPr>
                <a:r>
                  <a:rPr lang="en-US" sz="1875" dirty="0">
                    <a:solidFill>
                      <a:srgbClr val="FFFFFF"/>
                    </a:solidFill>
                    <a:latin typeface="Calibri (MS)"/>
                    <a:ea typeface="Calibri (MS)"/>
                    <a:cs typeface="Calibri (MS)"/>
                    <a:sym typeface="Calibri (MS)"/>
                  </a:rPr>
                  <a:t>Zero Vanity Metric Loops</a:t>
                </a:r>
              </a:p>
            </p:txBody>
          </p:sp>
        </p:grpSp>
        <p:grpSp>
          <p:nvGrpSpPr>
            <p:cNvPr id="33" name="Group 33"/>
            <p:cNvGrpSpPr/>
            <p:nvPr/>
          </p:nvGrpSpPr>
          <p:grpSpPr>
            <a:xfrm>
              <a:off x="118043" y="-57149"/>
              <a:ext cx="5250875" cy="1154431"/>
              <a:chOff x="0" y="-57149"/>
              <a:chExt cx="5250875" cy="1154431"/>
            </a:xfrm>
          </p:grpSpPr>
          <p:sp>
            <p:nvSpPr>
              <p:cNvPr id="34" name="Freeform 34"/>
              <p:cNvSpPr/>
              <p:nvPr/>
            </p:nvSpPr>
            <p:spPr>
              <a:xfrm>
                <a:off x="0" y="0"/>
                <a:ext cx="5250875" cy="1097280"/>
              </a:xfrm>
              <a:custGeom>
                <a:avLst/>
                <a:gdLst/>
                <a:ahLst/>
                <a:cxnLst/>
                <a:rect l="l" t="t" r="r" b="b"/>
                <a:pathLst>
                  <a:path w="5250875" h="1097280">
                    <a:moveTo>
                      <a:pt x="0" y="0"/>
                    </a:moveTo>
                    <a:lnTo>
                      <a:pt x="5250875" y="0"/>
                    </a:lnTo>
                    <a:lnTo>
                      <a:pt x="5250875" y="1097280"/>
                    </a:lnTo>
                    <a:lnTo>
                      <a:pt x="0" y="1097280"/>
                    </a:lnTo>
                    <a:close/>
                  </a:path>
                </a:pathLst>
              </a:custGeom>
              <a:blipFill>
                <a:blip r:embed="rId3">
                  <a:alphaModFix amt="0"/>
                </a:blip>
                <a:stretch>
                  <a:fillRect t="-316968" r="-293561" b="-316968"/>
                </a:stretch>
              </a:blipFill>
            </p:spPr>
            <p:txBody>
              <a:bodyPr/>
              <a:lstStyle/>
              <a:p>
                <a:endParaRPr lang="en-US"/>
              </a:p>
            </p:txBody>
          </p:sp>
          <p:sp>
            <p:nvSpPr>
              <p:cNvPr id="35" name="TextBox 35"/>
              <p:cNvSpPr txBox="1"/>
              <p:nvPr/>
            </p:nvSpPr>
            <p:spPr>
              <a:xfrm>
                <a:off x="0" y="-57149"/>
                <a:ext cx="4040883" cy="1154431"/>
              </a:xfrm>
              <a:prstGeom prst="rect">
                <a:avLst/>
              </a:prstGeom>
            </p:spPr>
            <p:txBody>
              <a:bodyPr lIns="0" tIns="0" rIns="0" bIns="0" rtlCol="0" anchor="ctr"/>
              <a:lstStyle/>
              <a:p>
                <a:pPr algn="ctr">
                  <a:lnSpc>
                    <a:spcPts val="2400"/>
                  </a:lnSpc>
                </a:pPr>
                <a:r>
                  <a:rPr lang="en-US" sz="1875" b="1" dirty="0">
                    <a:solidFill>
                      <a:srgbClr val="FFFFFF"/>
                    </a:solidFill>
                    <a:latin typeface="Calibri (MS) Bold"/>
                    <a:ea typeface="Calibri (MS) Bold"/>
                    <a:cs typeface="Calibri (MS) Bold"/>
                    <a:sym typeface="Calibri (MS) Bold"/>
                  </a:rPr>
                  <a:t>THE MAU IMPACT</a:t>
                </a:r>
              </a:p>
            </p:txBody>
          </p:sp>
        </p:grpSp>
      </p:grpSp>
      <p:sp>
        <p:nvSpPr>
          <p:cNvPr id="36" name="Freeform 36"/>
          <p:cNvSpPr/>
          <p:nvPr/>
        </p:nvSpPr>
        <p:spPr>
          <a:xfrm>
            <a:off x="8790263" y="6479185"/>
            <a:ext cx="7176117" cy="3420712"/>
          </a:xfrm>
          <a:custGeom>
            <a:avLst/>
            <a:gdLst/>
            <a:ahLst/>
            <a:cxnLst/>
            <a:rect l="l" t="t" r="r" b="b"/>
            <a:pathLst>
              <a:path w="7176117" h="3420712">
                <a:moveTo>
                  <a:pt x="0" y="0"/>
                </a:moveTo>
                <a:lnTo>
                  <a:pt x="7176117" y="0"/>
                </a:lnTo>
                <a:lnTo>
                  <a:pt x="7176117" y="3420712"/>
                </a:lnTo>
                <a:lnTo>
                  <a:pt x="0" y="3420712"/>
                </a:lnTo>
                <a:lnTo>
                  <a:pt x="0" y="0"/>
                </a:lnTo>
                <a:close/>
              </a:path>
            </a:pathLst>
          </a:custGeom>
          <a:blipFill>
            <a:blip r:embed="rId5"/>
            <a:stretch>
              <a:fillRect l="-505" t="-633" r="-2900"/>
            </a:stretch>
          </a:blipFill>
        </p:spPr>
        <p:txBody>
          <a:bodyPr/>
          <a:lstStyle/>
          <a:p>
            <a:endParaRPr lang="en-US"/>
          </a:p>
        </p:txBody>
      </p:sp>
      <p:sp>
        <p:nvSpPr>
          <p:cNvPr id="38" name="Freeform 38"/>
          <p:cNvSpPr/>
          <p:nvPr/>
        </p:nvSpPr>
        <p:spPr>
          <a:xfrm>
            <a:off x="2092251" y="6485755"/>
            <a:ext cx="6612287" cy="3433851"/>
          </a:xfrm>
          <a:custGeom>
            <a:avLst/>
            <a:gdLst/>
            <a:ahLst/>
            <a:cxnLst/>
            <a:rect l="l" t="t" r="r" b="b"/>
            <a:pathLst>
              <a:path w="6612287" h="3433851">
                <a:moveTo>
                  <a:pt x="0" y="0"/>
                </a:moveTo>
                <a:lnTo>
                  <a:pt x="6612287" y="0"/>
                </a:lnTo>
                <a:lnTo>
                  <a:pt x="6612287" y="3433851"/>
                </a:lnTo>
                <a:lnTo>
                  <a:pt x="0" y="3433851"/>
                </a:lnTo>
                <a:lnTo>
                  <a:pt x="0" y="0"/>
                </a:lnTo>
                <a:close/>
              </a:path>
            </a:pathLst>
          </a:custGeom>
          <a:blipFill>
            <a:blip r:embed="rId6"/>
            <a:stretch>
              <a:fillRect l="-26957" t="-95308" r="-25916" b="-97719"/>
            </a:stretch>
          </a:blipFill>
        </p:spPr>
        <p:txBody>
          <a:bodyPr/>
          <a:lstStyle/>
          <a:p>
            <a:endParaRPr lang="en-US"/>
          </a:p>
        </p:txBody>
      </p:sp>
      <p:sp>
        <p:nvSpPr>
          <p:cNvPr id="39" name="Freeform 38">
            <a:extLst>
              <a:ext uri="{FF2B5EF4-FFF2-40B4-BE49-F238E27FC236}">
                <a16:creationId xmlns:a16="http://schemas.microsoft.com/office/drawing/2014/main" id="{BE975AE8-29FA-557C-4143-5889927ABBA9}"/>
              </a:ext>
            </a:extLst>
          </p:cNvPr>
          <p:cNvSpPr/>
          <p:nvPr/>
        </p:nvSpPr>
        <p:spPr>
          <a:xfrm>
            <a:off x="16052105" y="6479185"/>
            <a:ext cx="1927620" cy="3420712"/>
          </a:xfrm>
          <a:custGeom>
            <a:avLst/>
            <a:gdLst/>
            <a:ahLst/>
            <a:cxnLst/>
            <a:rect l="l" t="t" r="r" b="b"/>
            <a:pathLst>
              <a:path w="1927620" h="3420712">
                <a:moveTo>
                  <a:pt x="0" y="0"/>
                </a:moveTo>
                <a:lnTo>
                  <a:pt x="1927619" y="0"/>
                </a:lnTo>
                <a:lnTo>
                  <a:pt x="1927619" y="3420712"/>
                </a:lnTo>
                <a:lnTo>
                  <a:pt x="0" y="3420712"/>
                </a:lnTo>
                <a:lnTo>
                  <a:pt x="0" y="0"/>
                </a:lnTo>
                <a:close/>
              </a:path>
            </a:pathLst>
          </a:custGeom>
          <a:blipFill>
            <a:blip r:embed="rId7"/>
            <a:stretch>
              <a:fillRect l="-19789" t="-56586" r="-21547" b="-712"/>
            </a:stretch>
          </a:blipFill>
        </p:spPr>
        <p:txBody>
          <a:bodyPr/>
          <a:lstStyle/>
          <a:p>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2" name="TextBox 2"/>
          <p:cNvSpPr txBox="1"/>
          <p:nvPr/>
        </p:nvSpPr>
        <p:spPr>
          <a:xfrm>
            <a:off x="960120" y="666750"/>
            <a:ext cx="16367760" cy="206467"/>
          </a:xfrm>
          <a:prstGeom prst="rect">
            <a:avLst/>
          </a:prstGeom>
        </p:spPr>
        <p:txBody>
          <a:bodyPr lIns="0" tIns="0" rIns="0" bIns="0" rtlCol="0" anchor="t">
            <a:spAutoFit/>
          </a:bodyPr>
          <a:lstStyle/>
          <a:p>
            <a:pPr algn="l">
              <a:lnSpc>
                <a:spcPts val="1559"/>
              </a:lnSpc>
            </a:pPr>
            <a:r>
              <a:rPr lang="en-US" b="1" spc="599">
                <a:solidFill>
                  <a:srgbClr val="93A9CF"/>
                </a:solidFill>
                <a:latin typeface="Arial Bold"/>
                <a:ea typeface="Arial Bold"/>
                <a:cs typeface="Arial Bold"/>
                <a:sym typeface="Arial Bold"/>
              </a:rPr>
              <a:t>RESEARCH</a:t>
            </a:r>
          </a:p>
        </p:txBody>
      </p:sp>
      <p:sp>
        <p:nvSpPr>
          <p:cNvPr id="3" name="TextBox 3"/>
          <p:cNvSpPr txBox="1"/>
          <p:nvPr/>
        </p:nvSpPr>
        <p:spPr>
          <a:xfrm>
            <a:off x="960120" y="1179195"/>
            <a:ext cx="16367760" cy="578428"/>
          </a:xfrm>
          <a:prstGeom prst="rect">
            <a:avLst/>
          </a:prstGeom>
        </p:spPr>
        <p:txBody>
          <a:bodyPr lIns="0" tIns="0" rIns="0" bIns="0" rtlCol="0" anchor="t">
            <a:spAutoFit/>
          </a:bodyPr>
          <a:lstStyle/>
          <a:p>
            <a:pPr algn="l">
              <a:lnSpc>
                <a:spcPts val="4799"/>
              </a:lnSpc>
            </a:pPr>
            <a:r>
              <a:rPr lang="en-US" sz="3999" b="1" dirty="0">
                <a:solidFill>
                  <a:srgbClr val="FFFFFF"/>
                </a:solidFill>
                <a:latin typeface="Arial Bold"/>
                <a:ea typeface="Arial Bold"/>
                <a:cs typeface="Arial Bold"/>
                <a:sym typeface="Arial Bold"/>
              </a:rPr>
              <a:t>Where BeReal Loses People</a:t>
            </a:r>
          </a:p>
        </p:txBody>
      </p:sp>
      <p:grpSp>
        <p:nvGrpSpPr>
          <p:cNvPr id="4" name="Group 4"/>
          <p:cNvGrpSpPr/>
          <p:nvPr/>
        </p:nvGrpSpPr>
        <p:grpSpPr>
          <a:xfrm>
            <a:off x="960120" y="2560320"/>
            <a:ext cx="6035040" cy="1965960"/>
            <a:chOff x="0" y="0"/>
            <a:chExt cx="8046720" cy="2621280"/>
          </a:xfrm>
        </p:grpSpPr>
        <p:sp>
          <p:nvSpPr>
            <p:cNvPr id="5" name="Freeform 5"/>
            <p:cNvSpPr/>
            <p:nvPr/>
          </p:nvSpPr>
          <p:spPr>
            <a:xfrm>
              <a:off x="0" y="0"/>
              <a:ext cx="8046720" cy="2621280"/>
            </a:xfrm>
            <a:custGeom>
              <a:avLst/>
              <a:gdLst/>
              <a:ahLst/>
              <a:cxnLst/>
              <a:rect l="l" t="t" r="r" b="b"/>
              <a:pathLst>
                <a:path w="8046720" h="2621280">
                  <a:moveTo>
                    <a:pt x="0" y="146304"/>
                  </a:moveTo>
                  <a:cubicBezTo>
                    <a:pt x="0" y="65532"/>
                    <a:pt x="65532" y="0"/>
                    <a:pt x="146304" y="0"/>
                  </a:cubicBezTo>
                  <a:lnTo>
                    <a:pt x="7900416" y="0"/>
                  </a:lnTo>
                  <a:cubicBezTo>
                    <a:pt x="7981188" y="0"/>
                    <a:pt x="8046720" y="65532"/>
                    <a:pt x="8046720" y="146304"/>
                  </a:cubicBezTo>
                  <a:lnTo>
                    <a:pt x="8046720" y="2474976"/>
                  </a:lnTo>
                  <a:cubicBezTo>
                    <a:pt x="8046720" y="2555748"/>
                    <a:pt x="7981188" y="2621280"/>
                    <a:pt x="7900416" y="2621280"/>
                  </a:cubicBezTo>
                  <a:lnTo>
                    <a:pt x="146304" y="2621280"/>
                  </a:lnTo>
                  <a:cubicBezTo>
                    <a:pt x="65532" y="2621280"/>
                    <a:pt x="0" y="2555748"/>
                    <a:pt x="0" y="2474976"/>
                  </a:cubicBezTo>
                  <a:close/>
                </a:path>
              </a:pathLst>
            </a:custGeom>
            <a:solidFill>
              <a:srgbClr val="222222"/>
            </a:solidFill>
          </p:spPr>
          <p:txBody>
            <a:bodyPr/>
            <a:lstStyle/>
            <a:p>
              <a:endParaRPr lang="en-US"/>
            </a:p>
          </p:txBody>
        </p:sp>
      </p:grpSp>
      <p:sp>
        <p:nvSpPr>
          <p:cNvPr id="6" name="TextBox 6"/>
          <p:cNvSpPr txBox="1"/>
          <p:nvPr/>
        </p:nvSpPr>
        <p:spPr>
          <a:xfrm>
            <a:off x="1325880" y="2769870"/>
            <a:ext cx="5303520" cy="842010"/>
          </a:xfrm>
          <a:prstGeom prst="rect">
            <a:avLst/>
          </a:prstGeom>
        </p:spPr>
        <p:txBody>
          <a:bodyPr lIns="0" tIns="0" rIns="0" bIns="0" rtlCol="0" anchor="t">
            <a:spAutoFit/>
          </a:bodyPr>
          <a:lstStyle/>
          <a:p>
            <a:pPr algn="l">
              <a:lnSpc>
                <a:spcPts val="5280"/>
              </a:lnSpc>
            </a:pPr>
            <a:r>
              <a:rPr lang="en-US" sz="4400" b="1">
                <a:solidFill>
                  <a:srgbClr val="FFDE59"/>
                </a:solidFill>
                <a:latin typeface="Arial Bold"/>
                <a:ea typeface="Arial Bold"/>
                <a:cs typeface="Arial Bold"/>
                <a:sym typeface="Arial Bold"/>
              </a:rPr>
              <a:t>15M → 6M</a:t>
            </a:r>
          </a:p>
        </p:txBody>
      </p:sp>
      <p:sp>
        <p:nvSpPr>
          <p:cNvPr id="7" name="TextBox 7"/>
          <p:cNvSpPr txBox="1"/>
          <p:nvPr/>
        </p:nvSpPr>
        <p:spPr>
          <a:xfrm>
            <a:off x="1325880" y="3573780"/>
            <a:ext cx="5303520" cy="861060"/>
          </a:xfrm>
          <a:prstGeom prst="rect">
            <a:avLst/>
          </a:prstGeom>
        </p:spPr>
        <p:txBody>
          <a:bodyPr lIns="0" tIns="0" rIns="0" bIns="0" rtlCol="0" anchor="t">
            <a:spAutoFit/>
          </a:bodyPr>
          <a:lstStyle/>
          <a:p>
            <a:pPr algn="l">
              <a:lnSpc>
                <a:spcPts val="1800"/>
              </a:lnSpc>
            </a:pPr>
            <a:r>
              <a:rPr lang="en-US" sz="1500">
                <a:solidFill>
                  <a:srgbClr val="FFFFFF"/>
                </a:solidFill>
                <a:latin typeface="Calibri (MS)"/>
                <a:ea typeface="Calibri (MS)"/>
                <a:cs typeface="Calibri (MS)"/>
                <a:sym typeface="Calibri (MS)"/>
              </a:rPr>
              <a:t>BeReal daily users, October 2022 to spring 2023 (The New York Times)</a:t>
            </a:r>
          </a:p>
        </p:txBody>
      </p:sp>
      <p:grpSp>
        <p:nvGrpSpPr>
          <p:cNvPr id="8" name="Group 8"/>
          <p:cNvGrpSpPr/>
          <p:nvPr/>
        </p:nvGrpSpPr>
        <p:grpSpPr>
          <a:xfrm>
            <a:off x="960120" y="4754880"/>
            <a:ext cx="6035040" cy="1965960"/>
            <a:chOff x="0" y="0"/>
            <a:chExt cx="8046720" cy="2621280"/>
          </a:xfrm>
        </p:grpSpPr>
        <p:sp>
          <p:nvSpPr>
            <p:cNvPr id="9" name="Freeform 9"/>
            <p:cNvSpPr/>
            <p:nvPr/>
          </p:nvSpPr>
          <p:spPr>
            <a:xfrm>
              <a:off x="0" y="0"/>
              <a:ext cx="8046720" cy="2621280"/>
            </a:xfrm>
            <a:custGeom>
              <a:avLst/>
              <a:gdLst/>
              <a:ahLst/>
              <a:cxnLst/>
              <a:rect l="l" t="t" r="r" b="b"/>
              <a:pathLst>
                <a:path w="8046720" h="2621280">
                  <a:moveTo>
                    <a:pt x="0" y="146304"/>
                  </a:moveTo>
                  <a:cubicBezTo>
                    <a:pt x="0" y="65532"/>
                    <a:pt x="65532" y="0"/>
                    <a:pt x="146304" y="0"/>
                  </a:cubicBezTo>
                  <a:lnTo>
                    <a:pt x="7900416" y="0"/>
                  </a:lnTo>
                  <a:cubicBezTo>
                    <a:pt x="7981188" y="0"/>
                    <a:pt x="8046720" y="65532"/>
                    <a:pt x="8046720" y="146304"/>
                  </a:cubicBezTo>
                  <a:lnTo>
                    <a:pt x="8046720" y="2474976"/>
                  </a:lnTo>
                  <a:cubicBezTo>
                    <a:pt x="8046720" y="2555748"/>
                    <a:pt x="7981188" y="2621280"/>
                    <a:pt x="7900416" y="2621280"/>
                  </a:cubicBezTo>
                  <a:lnTo>
                    <a:pt x="146304" y="2621280"/>
                  </a:lnTo>
                  <a:cubicBezTo>
                    <a:pt x="65532" y="2621280"/>
                    <a:pt x="0" y="2555748"/>
                    <a:pt x="0" y="2474976"/>
                  </a:cubicBezTo>
                  <a:close/>
                </a:path>
              </a:pathLst>
            </a:custGeom>
            <a:solidFill>
              <a:srgbClr val="222222"/>
            </a:solidFill>
          </p:spPr>
          <p:txBody>
            <a:bodyPr/>
            <a:lstStyle/>
            <a:p>
              <a:endParaRPr lang="en-US"/>
            </a:p>
          </p:txBody>
        </p:sp>
      </p:grpSp>
      <p:sp>
        <p:nvSpPr>
          <p:cNvPr id="10" name="TextBox 10"/>
          <p:cNvSpPr txBox="1"/>
          <p:nvPr/>
        </p:nvSpPr>
        <p:spPr>
          <a:xfrm>
            <a:off x="1325880" y="4945380"/>
            <a:ext cx="5303520" cy="1043940"/>
          </a:xfrm>
          <a:prstGeom prst="rect">
            <a:avLst/>
          </a:prstGeom>
        </p:spPr>
        <p:txBody>
          <a:bodyPr lIns="0" tIns="0" rIns="0" bIns="0" rtlCol="0" anchor="t">
            <a:spAutoFit/>
          </a:bodyPr>
          <a:lstStyle/>
          <a:p>
            <a:pPr algn="l">
              <a:lnSpc>
                <a:spcPts val="2160"/>
              </a:lnSpc>
            </a:pPr>
            <a:r>
              <a:rPr lang="en-US" sz="1800" i="1">
                <a:solidFill>
                  <a:srgbClr val="FFFFFF"/>
                </a:solidFill>
                <a:latin typeface="Calibri (MS) Italics"/>
                <a:ea typeface="Calibri (MS) Italics"/>
                <a:cs typeface="Calibri (MS) Italics"/>
                <a:sym typeface="Calibri (MS) Italics"/>
              </a:rPr>
              <a:t>“I’m in the middle of working… I wasn’t expecting to take a photo right now.”</a:t>
            </a:r>
          </a:p>
        </p:txBody>
      </p:sp>
      <p:sp>
        <p:nvSpPr>
          <p:cNvPr id="11" name="TextBox 11"/>
          <p:cNvSpPr txBox="1"/>
          <p:nvPr/>
        </p:nvSpPr>
        <p:spPr>
          <a:xfrm>
            <a:off x="1325880" y="6006465"/>
            <a:ext cx="5303520" cy="577215"/>
          </a:xfrm>
          <a:prstGeom prst="rect">
            <a:avLst/>
          </a:prstGeom>
        </p:spPr>
        <p:txBody>
          <a:bodyPr lIns="0" tIns="0" rIns="0" bIns="0" rtlCol="0" anchor="t">
            <a:spAutoFit/>
          </a:bodyPr>
          <a:lstStyle/>
          <a:p>
            <a:pPr algn="l">
              <a:lnSpc>
                <a:spcPts val="1680"/>
              </a:lnSpc>
            </a:pPr>
            <a:r>
              <a:rPr lang="en-US" sz="1400">
                <a:solidFill>
                  <a:srgbClr val="B4B4BC"/>
                </a:solidFill>
                <a:latin typeface="Calibri (MS)"/>
                <a:ea typeface="Calibri (MS)"/>
                <a:cs typeface="Calibri (MS)"/>
                <a:sym typeface="Calibri (MS)"/>
              </a:rPr>
              <a:t>Denise, introvert persona, at the prompt stage</a:t>
            </a:r>
          </a:p>
        </p:txBody>
      </p:sp>
      <p:grpSp>
        <p:nvGrpSpPr>
          <p:cNvPr id="12" name="Group 12"/>
          <p:cNvGrpSpPr/>
          <p:nvPr/>
        </p:nvGrpSpPr>
        <p:grpSpPr>
          <a:xfrm>
            <a:off x="960120" y="6949440"/>
            <a:ext cx="6035040" cy="1965960"/>
            <a:chOff x="0" y="0"/>
            <a:chExt cx="8046720" cy="2621280"/>
          </a:xfrm>
        </p:grpSpPr>
        <p:sp>
          <p:nvSpPr>
            <p:cNvPr id="13" name="Freeform 13"/>
            <p:cNvSpPr/>
            <p:nvPr/>
          </p:nvSpPr>
          <p:spPr>
            <a:xfrm>
              <a:off x="0" y="0"/>
              <a:ext cx="8046720" cy="2621280"/>
            </a:xfrm>
            <a:custGeom>
              <a:avLst/>
              <a:gdLst/>
              <a:ahLst/>
              <a:cxnLst/>
              <a:rect l="l" t="t" r="r" b="b"/>
              <a:pathLst>
                <a:path w="8046720" h="2621280">
                  <a:moveTo>
                    <a:pt x="0" y="146304"/>
                  </a:moveTo>
                  <a:cubicBezTo>
                    <a:pt x="0" y="65532"/>
                    <a:pt x="65532" y="0"/>
                    <a:pt x="146304" y="0"/>
                  </a:cubicBezTo>
                  <a:lnTo>
                    <a:pt x="7900416" y="0"/>
                  </a:lnTo>
                  <a:cubicBezTo>
                    <a:pt x="7981188" y="0"/>
                    <a:pt x="8046720" y="65532"/>
                    <a:pt x="8046720" y="146304"/>
                  </a:cubicBezTo>
                  <a:lnTo>
                    <a:pt x="8046720" y="2474976"/>
                  </a:lnTo>
                  <a:cubicBezTo>
                    <a:pt x="8046720" y="2555748"/>
                    <a:pt x="7981188" y="2621280"/>
                    <a:pt x="7900416" y="2621280"/>
                  </a:cubicBezTo>
                  <a:lnTo>
                    <a:pt x="146304" y="2621280"/>
                  </a:lnTo>
                  <a:cubicBezTo>
                    <a:pt x="65532" y="2621280"/>
                    <a:pt x="0" y="2555748"/>
                    <a:pt x="0" y="2474976"/>
                  </a:cubicBezTo>
                  <a:close/>
                </a:path>
              </a:pathLst>
            </a:custGeom>
            <a:solidFill>
              <a:srgbClr val="222222"/>
            </a:solidFill>
          </p:spPr>
          <p:txBody>
            <a:bodyPr/>
            <a:lstStyle/>
            <a:p>
              <a:endParaRPr lang="en-US"/>
            </a:p>
          </p:txBody>
        </p:sp>
      </p:grpSp>
      <p:sp>
        <p:nvSpPr>
          <p:cNvPr id="14" name="TextBox 14"/>
          <p:cNvSpPr txBox="1"/>
          <p:nvPr/>
        </p:nvSpPr>
        <p:spPr>
          <a:xfrm>
            <a:off x="1325880" y="7158990"/>
            <a:ext cx="5303520" cy="384810"/>
          </a:xfrm>
          <a:prstGeom prst="rect">
            <a:avLst/>
          </a:prstGeom>
        </p:spPr>
        <p:txBody>
          <a:bodyPr lIns="0" tIns="0" rIns="0" bIns="0" rtlCol="0" anchor="t">
            <a:spAutoFit/>
          </a:bodyPr>
          <a:lstStyle/>
          <a:p>
            <a:pPr algn="l">
              <a:lnSpc>
                <a:spcPts val="1559"/>
              </a:lnSpc>
            </a:pPr>
            <a:r>
              <a:rPr lang="en-US" sz="1299" b="1" spc="399">
                <a:solidFill>
                  <a:srgbClr val="FFDE59"/>
                </a:solidFill>
                <a:latin typeface="Arial Bold"/>
                <a:ea typeface="Arial Bold"/>
                <a:cs typeface="Arial Bold"/>
                <a:sym typeface="Arial Bold"/>
              </a:rPr>
              <a:t>WHAT IT MEANT</a:t>
            </a:r>
          </a:p>
        </p:txBody>
      </p:sp>
      <p:sp>
        <p:nvSpPr>
          <p:cNvPr id="15" name="TextBox 15"/>
          <p:cNvSpPr txBox="1"/>
          <p:nvPr/>
        </p:nvSpPr>
        <p:spPr>
          <a:xfrm>
            <a:off x="1325880" y="7551420"/>
            <a:ext cx="5303520" cy="1226820"/>
          </a:xfrm>
          <a:prstGeom prst="rect">
            <a:avLst/>
          </a:prstGeom>
        </p:spPr>
        <p:txBody>
          <a:bodyPr lIns="0" tIns="0" rIns="0" bIns="0" rtlCol="0" anchor="t">
            <a:spAutoFit/>
          </a:bodyPr>
          <a:lstStyle/>
          <a:p>
            <a:pPr algn="l">
              <a:lnSpc>
                <a:spcPts val="1800"/>
              </a:lnSpc>
            </a:pPr>
            <a:r>
              <a:rPr lang="en-US" sz="1500">
                <a:solidFill>
                  <a:srgbClr val="FFFFFF"/>
                </a:solidFill>
                <a:latin typeface="Calibri (MS)"/>
                <a:ea typeface="Calibri (MS)"/>
                <a:cs typeface="Calibri (MS)"/>
                <a:sym typeface="Calibri (MS)"/>
              </a:rPr>
              <a:t>Pressure points (the 2-minute window, the gated feed) push people away. More urgency won’t win them back; a better reason to post will.</a:t>
            </a:r>
          </a:p>
        </p:txBody>
      </p:sp>
      <p:grpSp>
        <p:nvGrpSpPr>
          <p:cNvPr id="16" name="Group 16"/>
          <p:cNvGrpSpPr/>
          <p:nvPr/>
        </p:nvGrpSpPr>
        <p:grpSpPr>
          <a:xfrm>
            <a:off x="7452360" y="2560320"/>
            <a:ext cx="9875520" cy="5332781"/>
            <a:chOff x="0" y="0"/>
            <a:chExt cx="13167360" cy="7110374"/>
          </a:xfrm>
        </p:grpSpPr>
        <p:sp>
          <p:nvSpPr>
            <p:cNvPr id="17" name="Freeform 17" descr="journey.jpg"/>
            <p:cNvSpPr/>
            <p:nvPr/>
          </p:nvSpPr>
          <p:spPr>
            <a:xfrm>
              <a:off x="0" y="0"/>
              <a:ext cx="13167361" cy="7110349"/>
            </a:xfrm>
            <a:custGeom>
              <a:avLst/>
              <a:gdLst/>
              <a:ahLst/>
              <a:cxnLst/>
              <a:rect l="l" t="t" r="r" b="b"/>
              <a:pathLst>
                <a:path w="13167361" h="7110349">
                  <a:moveTo>
                    <a:pt x="0" y="0"/>
                  </a:moveTo>
                  <a:lnTo>
                    <a:pt x="13167361" y="0"/>
                  </a:lnTo>
                  <a:lnTo>
                    <a:pt x="13167361" y="7110349"/>
                  </a:lnTo>
                  <a:lnTo>
                    <a:pt x="0" y="7110349"/>
                  </a:lnTo>
                  <a:lnTo>
                    <a:pt x="0" y="0"/>
                  </a:lnTo>
                  <a:close/>
                </a:path>
              </a:pathLst>
            </a:custGeom>
            <a:blipFill>
              <a:blip r:embed="rId3"/>
              <a:stretch>
                <a:fillRect/>
              </a:stretch>
            </a:blipFill>
          </p:spPr>
          <p:txBody>
            <a:bodyPr/>
            <a:lstStyle/>
            <a:p>
              <a:endParaRPr lang="en-US"/>
            </a:p>
          </p:txBody>
        </p:sp>
      </p:grpSp>
      <p:sp>
        <p:nvSpPr>
          <p:cNvPr id="18" name="TextBox 18"/>
          <p:cNvSpPr txBox="1"/>
          <p:nvPr/>
        </p:nvSpPr>
        <p:spPr>
          <a:xfrm>
            <a:off x="7452360" y="8047406"/>
            <a:ext cx="9875520" cy="394335"/>
          </a:xfrm>
          <a:prstGeom prst="rect">
            <a:avLst/>
          </a:prstGeom>
        </p:spPr>
        <p:txBody>
          <a:bodyPr lIns="0" tIns="0" rIns="0" bIns="0" rtlCol="0" anchor="t">
            <a:spAutoFit/>
          </a:bodyPr>
          <a:lstStyle/>
          <a:p>
            <a:pPr algn="l">
              <a:lnSpc>
                <a:spcPts val="1559"/>
              </a:lnSpc>
            </a:pPr>
            <a:r>
              <a:rPr lang="en-US" sz="1299" i="1" dirty="0">
                <a:solidFill>
                  <a:srgbClr val="B4B4BC"/>
                </a:solidFill>
                <a:latin typeface="Calibri (MS) Italics"/>
                <a:ea typeface="Calibri (MS) Italics"/>
                <a:cs typeface="Calibri (MS) Italics"/>
                <a:sym typeface="Calibri (MS) Italics"/>
              </a:rPr>
              <a:t>User journey map: introverted first-time user (Onboard → Connect → Prompt → Capture → Consume)</a:t>
            </a:r>
          </a:p>
        </p:txBody>
      </p:sp>
      <p:sp>
        <p:nvSpPr>
          <p:cNvPr id="19" name="TextBox 18">
            <a:extLst>
              <a:ext uri="{FF2B5EF4-FFF2-40B4-BE49-F238E27FC236}">
                <a16:creationId xmlns:a16="http://schemas.microsoft.com/office/drawing/2014/main" id="{4BED5447-376B-6D91-7074-50ABB8AB1298}"/>
              </a:ext>
            </a:extLst>
          </p:cNvPr>
          <p:cNvSpPr txBox="1"/>
          <p:nvPr/>
        </p:nvSpPr>
        <p:spPr>
          <a:xfrm>
            <a:off x="7452360" y="8456514"/>
            <a:ext cx="9875520" cy="608243"/>
          </a:xfrm>
          <a:prstGeom prst="rect">
            <a:avLst/>
          </a:prstGeom>
        </p:spPr>
        <p:txBody>
          <a:bodyPr lIns="0" tIns="0" rIns="0" bIns="0" rtlCol="0" anchor="t">
            <a:spAutoFit/>
          </a:bodyPr>
          <a:lstStyle/>
          <a:p>
            <a:pPr>
              <a:lnSpc>
                <a:spcPts val="1559"/>
              </a:lnSpc>
            </a:pPr>
            <a:r>
              <a:rPr lang="en-US" sz="1300" b="1" i="1" dirty="0">
                <a:solidFill>
                  <a:srgbClr val="FFDE59"/>
                </a:solidFill>
                <a:latin typeface="Calibri (MS) Italics"/>
                <a:ea typeface="Calibri (MS) Italics"/>
                <a:cs typeface="Calibri (MS) Italics"/>
                <a:sym typeface="Calibri (MS) Italics"/>
              </a:rPr>
              <a:t>View Image: </a:t>
            </a:r>
            <a:r>
              <a:rPr lang="en-US" sz="1300" dirty="0">
                <a:solidFill>
                  <a:schemeClr val="bg1"/>
                </a:solidFill>
              </a:rPr>
              <a:t>https://</a:t>
            </a:r>
            <a:r>
              <a:rPr lang="en-US" sz="1300" dirty="0" err="1">
                <a:solidFill>
                  <a:schemeClr val="bg1"/>
                </a:solidFill>
              </a:rPr>
              <a:t>github.com</a:t>
            </a:r>
            <a:r>
              <a:rPr lang="en-US" sz="1300" dirty="0">
                <a:solidFill>
                  <a:schemeClr val="bg1"/>
                </a:solidFill>
              </a:rPr>
              <a:t>/</a:t>
            </a:r>
            <a:r>
              <a:rPr lang="en-US" sz="1300" dirty="0" err="1">
                <a:solidFill>
                  <a:schemeClr val="bg1"/>
                </a:solidFill>
              </a:rPr>
              <a:t>LashawnFofung</a:t>
            </a:r>
            <a:r>
              <a:rPr lang="en-US" sz="1300" dirty="0">
                <a:solidFill>
                  <a:schemeClr val="bg1"/>
                </a:solidFill>
              </a:rPr>
              <a:t>/BeReal-RealProcess/blob/main/User%20Journey/BeReal%20User%20Journey%20For%20An%20Introvert%20transparent.png</a:t>
            </a:r>
          </a:p>
          <a:p>
            <a:pPr algn="l">
              <a:lnSpc>
                <a:spcPts val="1559"/>
              </a:lnSpc>
            </a:pPr>
            <a:r>
              <a:rPr lang="en-US" sz="1300" i="1" dirty="0">
                <a:solidFill>
                  <a:schemeClr val="bg1"/>
                </a:solidFill>
                <a:latin typeface="Calibri (MS) Italics"/>
                <a:ea typeface="Calibri (MS) Italics"/>
                <a:cs typeface="Calibri (MS) Italics"/>
                <a:sym typeface="Calibri (MS) Italics"/>
              </a:rPr>
              <a:t> </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2" name="TextBox 2"/>
          <p:cNvSpPr txBox="1"/>
          <p:nvPr/>
        </p:nvSpPr>
        <p:spPr>
          <a:xfrm>
            <a:off x="960120" y="666750"/>
            <a:ext cx="9144000" cy="206467"/>
          </a:xfrm>
          <a:prstGeom prst="rect">
            <a:avLst/>
          </a:prstGeom>
        </p:spPr>
        <p:txBody>
          <a:bodyPr lIns="0" tIns="0" rIns="0" bIns="0" rtlCol="0" anchor="t">
            <a:spAutoFit/>
          </a:bodyPr>
          <a:lstStyle/>
          <a:p>
            <a:pPr algn="l">
              <a:lnSpc>
                <a:spcPts val="1559"/>
              </a:lnSpc>
            </a:pPr>
            <a:r>
              <a:rPr lang="en-US" b="1" spc="599">
                <a:solidFill>
                  <a:srgbClr val="93A9CF"/>
                </a:solidFill>
                <a:latin typeface="Arial Bold"/>
                <a:ea typeface="Arial Bold"/>
                <a:cs typeface="Arial Bold"/>
                <a:sym typeface="Arial Bold"/>
              </a:rPr>
              <a:t>PART 2 OF 4</a:t>
            </a:r>
          </a:p>
        </p:txBody>
      </p:sp>
      <p:sp>
        <p:nvSpPr>
          <p:cNvPr id="3" name="TextBox 3"/>
          <p:cNvSpPr txBox="1"/>
          <p:nvPr/>
        </p:nvSpPr>
        <p:spPr>
          <a:xfrm>
            <a:off x="960120" y="1670685"/>
            <a:ext cx="8229600" cy="2992755"/>
          </a:xfrm>
          <a:prstGeom prst="rect">
            <a:avLst/>
          </a:prstGeom>
        </p:spPr>
        <p:txBody>
          <a:bodyPr lIns="0" tIns="0" rIns="0" bIns="0" rtlCol="0" anchor="t">
            <a:spAutoFit/>
          </a:bodyPr>
          <a:lstStyle/>
          <a:p>
            <a:pPr algn="l">
              <a:lnSpc>
                <a:spcPts val="24000"/>
              </a:lnSpc>
            </a:pPr>
            <a:r>
              <a:rPr lang="en-US" sz="20000" b="1">
                <a:solidFill>
                  <a:srgbClr val="FFDE59"/>
                </a:solidFill>
                <a:latin typeface="Arial Bold"/>
                <a:ea typeface="Arial Bold"/>
                <a:cs typeface="Arial Bold"/>
                <a:sym typeface="Arial Bold"/>
              </a:rPr>
              <a:t>02</a:t>
            </a:r>
          </a:p>
        </p:txBody>
      </p:sp>
      <p:sp>
        <p:nvSpPr>
          <p:cNvPr id="4" name="TextBox 4"/>
          <p:cNvSpPr txBox="1"/>
          <p:nvPr/>
        </p:nvSpPr>
        <p:spPr>
          <a:xfrm>
            <a:off x="960120" y="4863465"/>
            <a:ext cx="10515600" cy="1125855"/>
          </a:xfrm>
          <a:prstGeom prst="rect">
            <a:avLst/>
          </a:prstGeom>
        </p:spPr>
        <p:txBody>
          <a:bodyPr lIns="0" tIns="0" rIns="0" bIns="0" rtlCol="0" anchor="t">
            <a:spAutoFit/>
          </a:bodyPr>
          <a:lstStyle/>
          <a:p>
            <a:pPr algn="l">
              <a:lnSpc>
                <a:spcPts val="7200"/>
              </a:lnSpc>
            </a:pPr>
            <a:r>
              <a:rPr lang="en-US" sz="6000" b="1">
                <a:solidFill>
                  <a:srgbClr val="FFFFFF"/>
                </a:solidFill>
                <a:latin typeface="Arial Bold"/>
                <a:ea typeface="Arial Bold"/>
                <a:cs typeface="Arial Bold"/>
                <a:sym typeface="Arial Bold"/>
              </a:rPr>
              <a:t>Design</a:t>
            </a:r>
          </a:p>
        </p:txBody>
      </p:sp>
      <p:sp>
        <p:nvSpPr>
          <p:cNvPr id="5" name="TextBox 5"/>
          <p:cNvSpPr txBox="1"/>
          <p:nvPr/>
        </p:nvSpPr>
        <p:spPr>
          <a:xfrm>
            <a:off x="960120" y="6124575"/>
            <a:ext cx="9601200" cy="962025"/>
          </a:xfrm>
          <a:prstGeom prst="rect">
            <a:avLst/>
          </a:prstGeom>
        </p:spPr>
        <p:txBody>
          <a:bodyPr lIns="0" tIns="0" rIns="0" bIns="0" rtlCol="0" anchor="t">
            <a:spAutoFit/>
          </a:bodyPr>
          <a:lstStyle/>
          <a:p>
            <a:pPr algn="l">
              <a:lnSpc>
                <a:spcPts val="2639"/>
              </a:lnSpc>
            </a:pPr>
            <a:r>
              <a:rPr lang="en-US" sz="2199">
                <a:solidFill>
                  <a:srgbClr val="B4B4BC"/>
                </a:solidFill>
                <a:latin typeface="Calibri (MS)"/>
                <a:ea typeface="Calibri (MS)"/>
                <a:cs typeface="Calibri (MS)"/>
                <a:sym typeface="Calibri (MS)"/>
              </a:rPr>
              <a:t>A seven-screen habit loop, and the decisions behind it.</a:t>
            </a:r>
          </a:p>
        </p:txBody>
      </p:sp>
      <p:grpSp>
        <p:nvGrpSpPr>
          <p:cNvPr id="6" name="Group 6"/>
          <p:cNvGrpSpPr/>
          <p:nvPr/>
        </p:nvGrpSpPr>
        <p:grpSpPr>
          <a:xfrm rot="360000">
            <a:off x="11887200" y="2194560"/>
            <a:ext cx="4754880" cy="4754880"/>
            <a:chOff x="0" y="0"/>
            <a:chExt cx="6339840" cy="6339840"/>
          </a:xfrm>
        </p:grpSpPr>
        <p:sp>
          <p:nvSpPr>
            <p:cNvPr id="7" name="Freeform 7" descr="cram.png"/>
            <p:cNvSpPr/>
            <p:nvPr/>
          </p:nvSpPr>
          <p:spPr>
            <a:xfrm>
              <a:off x="0" y="0"/>
              <a:ext cx="6339840" cy="6339840"/>
            </a:xfrm>
            <a:custGeom>
              <a:avLst/>
              <a:gdLst/>
              <a:ahLst/>
              <a:cxnLst/>
              <a:rect l="l" t="t" r="r" b="b"/>
              <a:pathLst>
                <a:path w="6339840" h="6339840">
                  <a:moveTo>
                    <a:pt x="0" y="0"/>
                  </a:moveTo>
                  <a:lnTo>
                    <a:pt x="6339840" y="0"/>
                  </a:lnTo>
                  <a:lnTo>
                    <a:pt x="6339840" y="6339840"/>
                  </a:lnTo>
                  <a:lnTo>
                    <a:pt x="0" y="6339840"/>
                  </a:lnTo>
                  <a:lnTo>
                    <a:pt x="0" y="0"/>
                  </a:lnTo>
                  <a:close/>
                </a:path>
              </a:pathLst>
            </a:custGeom>
            <a:blipFill>
              <a:blip r:embed="rId3"/>
              <a:stretch>
                <a:fillRect l="-524" r="-525"/>
              </a:stretch>
            </a:blipFill>
          </p:spPr>
          <p:txBody>
            <a:bodyPr/>
            <a:lstStyle/>
            <a:p>
              <a:endParaRPr lang="en-US"/>
            </a:p>
          </p:txBody>
        </p:sp>
      </p:grpSp>
      <p:grpSp>
        <p:nvGrpSpPr>
          <p:cNvPr id="8" name="Group 8"/>
          <p:cNvGrpSpPr/>
          <p:nvPr/>
        </p:nvGrpSpPr>
        <p:grpSpPr>
          <a:xfrm>
            <a:off x="960120" y="8412480"/>
            <a:ext cx="3920490" cy="777240"/>
            <a:chOff x="0" y="0"/>
            <a:chExt cx="5227320" cy="1036320"/>
          </a:xfrm>
        </p:grpSpPr>
        <p:sp>
          <p:nvSpPr>
            <p:cNvPr id="9" name="Freeform 9"/>
            <p:cNvSpPr/>
            <p:nvPr/>
          </p:nvSpPr>
          <p:spPr>
            <a:xfrm>
              <a:off x="0" y="0"/>
              <a:ext cx="5227320" cy="1036320"/>
            </a:xfrm>
            <a:custGeom>
              <a:avLst/>
              <a:gdLst/>
              <a:ahLst/>
              <a:cxnLst/>
              <a:rect l="l" t="t" r="r" b="b"/>
              <a:pathLst>
                <a:path w="5227320" h="1036320">
                  <a:moveTo>
                    <a:pt x="0" y="146304"/>
                  </a:moveTo>
                  <a:cubicBezTo>
                    <a:pt x="0" y="65532"/>
                    <a:pt x="65532" y="0"/>
                    <a:pt x="146304" y="0"/>
                  </a:cubicBezTo>
                  <a:lnTo>
                    <a:pt x="5081016" y="0"/>
                  </a:lnTo>
                  <a:cubicBezTo>
                    <a:pt x="5161788" y="0"/>
                    <a:pt x="5227320" y="65532"/>
                    <a:pt x="5227320" y="146304"/>
                  </a:cubicBezTo>
                  <a:lnTo>
                    <a:pt x="5227320" y="890016"/>
                  </a:lnTo>
                  <a:cubicBezTo>
                    <a:pt x="5227320" y="970788"/>
                    <a:pt x="5161788" y="1036320"/>
                    <a:pt x="5081016" y="1036320"/>
                  </a:cubicBezTo>
                  <a:lnTo>
                    <a:pt x="146304" y="1036320"/>
                  </a:lnTo>
                  <a:cubicBezTo>
                    <a:pt x="65532" y="1036320"/>
                    <a:pt x="0" y="970788"/>
                    <a:pt x="0" y="890016"/>
                  </a:cubicBezTo>
                  <a:close/>
                </a:path>
              </a:pathLst>
            </a:custGeom>
            <a:solidFill>
              <a:srgbClr val="222222"/>
            </a:solidFill>
          </p:spPr>
          <p:txBody>
            <a:bodyPr/>
            <a:lstStyle/>
            <a:p>
              <a:endParaRPr lang="en-US"/>
            </a:p>
          </p:txBody>
        </p:sp>
      </p:grpSp>
      <p:grpSp>
        <p:nvGrpSpPr>
          <p:cNvPr id="10" name="Group 10"/>
          <p:cNvGrpSpPr/>
          <p:nvPr/>
        </p:nvGrpSpPr>
        <p:grpSpPr>
          <a:xfrm>
            <a:off x="1234440" y="8412480"/>
            <a:ext cx="3371850" cy="777240"/>
            <a:chOff x="0" y="0"/>
            <a:chExt cx="4495800" cy="1036320"/>
          </a:xfrm>
        </p:grpSpPr>
        <p:sp>
          <p:nvSpPr>
            <p:cNvPr id="11" name="Freeform 11"/>
            <p:cNvSpPr/>
            <p:nvPr/>
          </p:nvSpPr>
          <p:spPr>
            <a:xfrm>
              <a:off x="0" y="0"/>
              <a:ext cx="4495799" cy="1036320"/>
            </a:xfrm>
            <a:custGeom>
              <a:avLst/>
              <a:gdLst/>
              <a:ahLst/>
              <a:cxnLst/>
              <a:rect l="l" t="t" r="r" b="b"/>
              <a:pathLst>
                <a:path w="4495799" h="1036320">
                  <a:moveTo>
                    <a:pt x="0" y="0"/>
                  </a:moveTo>
                  <a:lnTo>
                    <a:pt x="4495799" y="0"/>
                  </a:lnTo>
                  <a:lnTo>
                    <a:pt x="4495799" y="1036320"/>
                  </a:lnTo>
                  <a:lnTo>
                    <a:pt x="0" y="1036320"/>
                  </a:lnTo>
                  <a:close/>
                </a:path>
              </a:pathLst>
            </a:custGeom>
            <a:blipFill>
              <a:blip r:embed="rId4">
                <a:alphaModFix amt="0"/>
              </a:blip>
              <a:stretch>
                <a:fillRect t="-34530" b="-34530"/>
              </a:stretch>
            </a:blipFill>
          </p:spPr>
          <p:txBody>
            <a:bodyPr/>
            <a:lstStyle/>
            <a:p>
              <a:endParaRPr lang="en-US"/>
            </a:p>
          </p:txBody>
        </p:sp>
        <p:sp>
          <p:nvSpPr>
            <p:cNvPr id="12" name="TextBox 12"/>
            <p:cNvSpPr txBox="1"/>
            <p:nvPr/>
          </p:nvSpPr>
          <p:spPr>
            <a:xfrm>
              <a:off x="0" y="-38100"/>
              <a:ext cx="4495800" cy="1074420"/>
            </a:xfrm>
            <a:prstGeom prst="rect">
              <a:avLst/>
            </a:prstGeom>
          </p:spPr>
          <p:txBody>
            <a:bodyPr lIns="0" tIns="0" rIns="0" bIns="0" rtlCol="0" anchor="ctr"/>
            <a:lstStyle/>
            <a:p>
              <a:pPr algn="l">
                <a:lnSpc>
                  <a:spcPts val="1800"/>
                </a:lnSpc>
              </a:pPr>
              <a:r>
                <a:rPr lang="en-US" sz="1500" b="1" dirty="0">
                  <a:solidFill>
                    <a:srgbClr val="B4B4BC"/>
                  </a:solidFill>
                  <a:latin typeface="Calibri (MS) Bold"/>
                  <a:ea typeface="Calibri (MS) Bold"/>
                  <a:cs typeface="Calibri (MS) Bold"/>
                  <a:sym typeface="Calibri (MS) Bold"/>
                </a:rPr>
                <a:t>01  </a:t>
              </a:r>
              <a:r>
                <a:rPr lang="en-US" sz="1500" dirty="0">
                  <a:solidFill>
                    <a:srgbClr val="B4B4BC"/>
                  </a:solidFill>
                  <a:latin typeface="Calibri (MS)"/>
                  <a:ea typeface="Calibri (MS)"/>
                  <a:cs typeface="Calibri (MS)"/>
                  <a:sym typeface="Calibri (MS)"/>
                </a:rPr>
                <a:t>Overview &amp; Research</a:t>
              </a:r>
            </a:p>
          </p:txBody>
        </p:sp>
      </p:grpSp>
      <p:grpSp>
        <p:nvGrpSpPr>
          <p:cNvPr id="13" name="Group 13"/>
          <p:cNvGrpSpPr/>
          <p:nvPr/>
        </p:nvGrpSpPr>
        <p:grpSpPr>
          <a:xfrm>
            <a:off x="5109210" y="8412480"/>
            <a:ext cx="3920490" cy="777240"/>
            <a:chOff x="0" y="0"/>
            <a:chExt cx="5227320" cy="1036320"/>
          </a:xfrm>
        </p:grpSpPr>
        <p:sp>
          <p:nvSpPr>
            <p:cNvPr id="14" name="Freeform 14"/>
            <p:cNvSpPr/>
            <p:nvPr/>
          </p:nvSpPr>
          <p:spPr>
            <a:xfrm>
              <a:off x="0" y="0"/>
              <a:ext cx="5227320" cy="1036320"/>
            </a:xfrm>
            <a:custGeom>
              <a:avLst/>
              <a:gdLst/>
              <a:ahLst/>
              <a:cxnLst/>
              <a:rect l="l" t="t" r="r" b="b"/>
              <a:pathLst>
                <a:path w="5227320" h="1036320">
                  <a:moveTo>
                    <a:pt x="0" y="146304"/>
                  </a:moveTo>
                  <a:cubicBezTo>
                    <a:pt x="0" y="65532"/>
                    <a:pt x="65532" y="0"/>
                    <a:pt x="146304" y="0"/>
                  </a:cubicBezTo>
                  <a:lnTo>
                    <a:pt x="5081016" y="0"/>
                  </a:lnTo>
                  <a:cubicBezTo>
                    <a:pt x="5161788" y="0"/>
                    <a:pt x="5227320" y="65532"/>
                    <a:pt x="5227320" y="146304"/>
                  </a:cubicBezTo>
                  <a:lnTo>
                    <a:pt x="5227320" y="890016"/>
                  </a:lnTo>
                  <a:cubicBezTo>
                    <a:pt x="5227320" y="970788"/>
                    <a:pt x="5161788" y="1036320"/>
                    <a:pt x="5081016" y="1036320"/>
                  </a:cubicBezTo>
                  <a:lnTo>
                    <a:pt x="146304" y="1036320"/>
                  </a:lnTo>
                  <a:cubicBezTo>
                    <a:pt x="65532" y="1036320"/>
                    <a:pt x="0" y="970788"/>
                    <a:pt x="0" y="890016"/>
                  </a:cubicBezTo>
                  <a:close/>
                </a:path>
              </a:pathLst>
            </a:custGeom>
            <a:solidFill>
              <a:srgbClr val="FFDE59"/>
            </a:solidFill>
          </p:spPr>
          <p:txBody>
            <a:bodyPr/>
            <a:lstStyle/>
            <a:p>
              <a:endParaRPr lang="en-US"/>
            </a:p>
          </p:txBody>
        </p:sp>
      </p:grpSp>
      <p:grpSp>
        <p:nvGrpSpPr>
          <p:cNvPr id="15" name="Group 15"/>
          <p:cNvGrpSpPr/>
          <p:nvPr/>
        </p:nvGrpSpPr>
        <p:grpSpPr>
          <a:xfrm>
            <a:off x="5383530" y="8412480"/>
            <a:ext cx="3371850" cy="777240"/>
            <a:chOff x="0" y="0"/>
            <a:chExt cx="4495800" cy="1036320"/>
          </a:xfrm>
        </p:grpSpPr>
        <p:sp>
          <p:nvSpPr>
            <p:cNvPr id="16" name="Freeform 16"/>
            <p:cNvSpPr/>
            <p:nvPr/>
          </p:nvSpPr>
          <p:spPr>
            <a:xfrm>
              <a:off x="0" y="0"/>
              <a:ext cx="4495799" cy="1036320"/>
            </a:xfrm>
            <a:custGeom>
              <a:avLst/>
              <a:gdLst/>
              <a:ahLst/>
              <a:cxnLst/>
              <a:rect l="l" t="t" r="r" b="b"/>
              <a:pathLst>
                <a:path w="4495799" h="1036320">
                  <a:moveTo>
                    <a:pt x="0" y="0"/>
                  </a:moveTo>
                  <a:lnTo>
                    <a:pt x="4495799" y="0"/>
                  </a:lnTo>
                  <a:lnTo>
                    <a:pt x="4495799" y="1036320"/>
                  </a:lnTo>
                  <a:lnTo>
                    <a:pt x="0" y="1036320"/>
                  </a:lnTo>
                  <a:close/>
                </a:path>
              </a:pathLst>
            </a:custGeom>
            <a:blipFill>
              <a:blip r:embed="rId4">
                <a:alphaModFix amt="0"/>
              </a:blip>
              <a:stretch>
                <a:fillRect t="-34530" b="-34530"/>
              </a:stretch>
            </a:blipFill>
          </p:spPr>
          <p:txBody>
            <a:bodyPr/>
            <a:lstStyle/>
            <a:p>
              <a:endParaRPr lang="en-US"/>
            </a:p>
          </p:txBody>
        </p:sp>
        <p:sp>
          <p:nvSpPr>
            <p:cNvPr id="17" name="TextBox 17"/>
            <p:cNvSpPr txBox="1"/>
            <p:nvPr/>
          </p:nvSpPr>
          <p:spPr>
            <a:xfrm>
              <a:off x="0" y="-38100"/>
              <a:ext cx="4495800" cy="1074420"/>
            </a:xfrm>
            <a:prstGeom prst="rect">
              <a:avLst/>
            </a:prstGeom>
          </p:spPr>
          <p:txBody>
            <a:bodyPr lIns="0" tIns="0" rIns="0" bIns="0" rtlCol="0" anchor="ctr"/>
            <a:lstStyle/>
            <a:p>
              <a:pPr algn="l">
                <a:lnSpc>
                  <a:spcPts val="1800"/>
                </a:lnSpc>
              </a:pPr>
              <a:r>
                <a:rPr lang="en-US" sz="1500" b="1">
                  <a:solidFill>
                    <a:srgbClr val="0A0A0A"/>
                  </a:solidFill>
                  <a:latin typeface="Calibri (MS) Bold"/>
                  <a:ea typeface="Calibri (MS) Bold"/>
                  <a:cs typeface="Calibri (MS) Bold"/>
                  <a:sym typeface="Calibri (MS) Bold"/>
                </a:rPr>
                <a:t>02  </a:t>
              </a:r>
              <a:r>
                <a:rPr lang="en-US" sz="1500">
                  <a:solidFill>
                    <a:srgbClr val="0A0A0A"/>
                  </a:solidFill>
                  <a:latin typeface="Calibri (MS)"/>
                  <a:ea typeface="Calibri (MS)"/>
                  <a:cs typeface="Calibri (MS)"/>
                  <a:sym typeface="Calibri (MS)"/>
                </a:rPr>
                <a:t>Design</a:t>
              </a:r>
            </a:p>
          </p:txBody>
        </p:sp>
      </p:grpSp>
      <p:grpSp>
        <p:nvGrpSpPr>
          <p:cNvPr id="18" name="Group 18"/>
          <p:cNvGrpSpPr/>
          <p:nvPr/>
        </p:nvGrpSpPr>
        <p:grpSpPr>
          <a:xfrm>
            <a:off x="9258300" y="8412480"/>
            <a:ext cx="3920490" cy="777240"/>
            <a:chOff x="0" y="0"/>
            <a:chExt cx="5227320" cy="1036320"/>
          </a:xfrm>
        </p:grpSpPr>
        <p:sp>
          <p:nvSpPr>
            <p:cNvPr id="19" name="Freeform 19"/>
            <p:cNvSpPr/>
            <p:nvPr/>
          </p:nvSpPr>
          <p:spPr>
            <a:xfrm>
              <a:off x="0" y="0"/>
              <a:ext cx="5227320" cy="1036320"/>
            </a:xfrm>
            <a:custGeom>
              <a:avLst/>
              <a:gdLst/>
              <a:ahLst/>
              <a:cxnLst/>
              <a:rect l="l" t="t" r="r" b="b"/>
              <a:pathLst>
                <a:path w="5227320" h="1036320">
                  <a:moveTo>
                    <a:pt x="0" y="146304"/>
                  </a:moveTo>
                  <a:cubicBezTo>
                    <a:pt x="0" y="65532"/>
                    <a:pt x="65532" y="0"/>
                    <a:pt x="146304" y="0"/>
                  </a:cubicBezTo>
                  <a:lnTo>
                    <a:pt x="5081016" y="0"/>
                  </a:lnTo>
                  <a:cubicBezTo>
                    <a:pt x="5161788" y="0"/>
                    <a:pt x="5227320" y="65532"/>
                    <a:pt x="5227320" y="146304"/>
                  </a:cubicBezTo>
                  <a:lnTo>
                    <a:pt x="5227320" y="890016"/>
                  </a:lnTo>
                  <a:cubicBezTo>
                    <a:pt x="5227320" y="970788"/>
                    <a:pt x="5161788" y="1036320"/>
                    <a:pt x="5081016" y="1036320"/>
                  </a:cubicBezTo>
                  <a:lnTo>
                    <a:pt x="146304" y="1036320"/>
                  </a:lnTo>
                  <a:cubicBezTo>
                    <a:pt x="65532" y="1036320"/>
                    <a:pt x="0" y="970788"/>
                    <a:pt x="0" y="890016"/>
                  </a:cubicBezTo>
                  <a:close/>
                </a:path>
              </a:pathLst>
            </a:custGeom>
            <a:solidFill>
              <a:srgbClr val="222222"/>
            </a:solidFill>
          </p:spPr>
          <p:txBody>
            <a:bodyPr/>
            <a:lstStyle/>
            <a:p>
              <a:endParaRPr lang="en-US"/>
            </a:p>
          </p:txBody>
        </p:sp>
      </p:grpSp>
      <p:grpSp>
        <p:nvGrpSpPr>
          <p:cNvPr id="20" name="Group 20"/>
          <p:cNvGrpSpPr/>
          <p:nvPr/>
        </p:nvGrpSpPr>
        <p:grpSpPr>
          <a:xfrm>
            <a:off x="9532620" y="8412480"/>
            <a:ext cx="3371850" cy="777240"/>
            <a:chOff x="0" y="0"/>
            <a:chExt cx="4495800" cy="1036320"/>
          </a:xfrm>
        </p:grpSpPr>
        <p:sp>
          <p:nvSpPr>
            <p:cNvPr id="21" name="Freeform 21"/>
            <p:cNvSpPr/>
            <p:nvPr/>
          </p:nvSpPr>
          <p:spPr>
            <a:xfrm>
              <a:off x="0" y="0"/>
              <a:ext cx="4495799" cy="1036320"/>
            </a:xfrm>
            <a:custGeom>
              <a:avLst/>
              <a:gdLst/>
              <a:ahLst/>
              <a:cxnLst/>
              <a:rect l="l" t="t" r="r" b="b"/>
              <a:pathLst>
                <a:path w="4495799" h="1036320">
                  <a:moveTo>
                    <a:pt x="0" y="0"/>
                  </a:moveTo>
                  <a:lnTo>
                    <a:pt x="4495799" y="0"/>
                  </a:lnTo>
                  <a:lnTo>
                    <a:pt x="4495799" y="1036320"/>
                  </a:lnTo>
                  <a:lnTo>
                    <a:pt x="0" y="1036320"/>
                  </a:lnTo>
                  <a:close/>
                </a:path>
              </a:pathLst>
            </a:custGeom>
            <a:blipFill>
              <a:blip r:embed="rId4">
                <a:alphaModFix amt="0"/>
              </a:blip>
              <a:stretch>
                <a:fillRect t="-34530" b="-34530"/>
              </a:stretch>
            </a:blipFill>
          </p:spPr>
          <p:txBody>
            <a:bodyPr/>
            <a:lstStyle/>
            <a:p>
              <a:endParaRPr lang="en-US"/>
            </a:p>
          </p:txBody>
        </p:sp>
        <p:sp>
          <p:nvSpPr>
            <p:cNvPr id="22" name="TextBox 22"/>
            <p:cNvSpPr txBox="1"/>
            <p:nvPr/>
          </p:nvSpPr>
          <p:spPr>
            <a:xfrm>
              <a:off x="0" y="-38100"/>
              <a:ext cx="4495800" cy="1074420"/>
            </a:xfrm>
            <a:prstGeom prst="rect">
              <a:avLst/>
            </a:prstGeom>
          </p:spPr>
          <p:txBody>
            <a:bodyPr lIns="0" tIns="0" rIns="0" bIns="0" rtlCol="0" anchor="ctr"/>
            <a:lstStyle/>
            <a:p>
              <a:pPr algn="l">
                <a:lnSpc>
                  <a:spcPts val="1800"/>
                </a:lnSpc>
              </a:pPr>
              <a:r>
                <a:rPr lang="en-US" sz="1500" b="1" dirty="0">
                  <a:solidFill>
                    <a:srgbClr val="B4B4BC"/>
                  </a:solidFill>
                  <a:latin typeface="Calibri (MS) Bold"/>
                  <a:ea typeface="Calibri (MS) Bold"/>
                  <a:cs typeface="Calibri (MS) Bold"/>
                  <a:sym typeface="Calibri (MS) Bold"/>
                </a:rPr>
                <a:t>03  </a:t>
              </a:r>
              <a:r>
                <a:rPr lang="en-US" sz="1500" dirty="0">
                  <a:solidFill>
                    <a:srgbClr val="B4B4BC"/>
                  </a:solidFill>
                  <a:latin typeface="Calibri (MS)"/>
                  <a:ea typeface="Calibri (MS)"/>
                  <a:cs typeface="Calibri (MS)"/>
                  <a:sym typeface="Calibri (MS)"/>
                </a:rPr>
                <a:t>User Testing</a:t>
              </a:r>
            </a:p>
          </p:txBody>
        </p:sp>
      </p:grpSp>
      <p:grpSp>
        <p:nvGrpSpPr>
          <p:cNvPr id="23" name="Group 23"/>
          <p:cNvGrpSpPr/>
          <p:nvPr/>
        </p:nvGrpSpPr>
        <p:grpSpPr>
          <a:xfrm>
            <a:off x="13407390" y="8412480"/>
            <a:ext cx="3920490" cy="777240"/>
            <a:chOff x="0" y="0"/>
            <a:chExt cx="5227320" cy="1036320"/>
          </a:xfrm>
        </p:grpSpPr>
        <p:sp>
          <p:nvSpPr>
            <p:cNvPr id="24" name="Freeform 24"/>
            <p:cNvSpPr/>
            <p:nvPr/>
          </p:nvSpPr>
          <p:spPr>
            <a:xfrm>
              <a:off x="0" y="0"/>
              <a:ext cx="5227320" cy="1036320"/>
            </a:xfrm>
            <a:custGeom>
              <a:avLst/>
              <a:gdLst/>
              <a:ahLst/>
              <a:cxnLst/>
              <a:rect l="l" t="t" r="r" b="b"/>
              <a:pathLst>
                <a:path w="5227320" h="1036320">
                  <a:moveTo>
                    <a:pt x="0" y="146304"/>
                  </a:moveTo>
                  <a:cubicBezTo>
                    <a:pt x="0" y="65532"/>
                    <a:pt x="65532" y="0"/>
                    <a:pt x="146304" y="0"/>
                  </a:cubicBezTo>
                  <a:lnTo>
                    <a:pt x="5081016" y="0"/>
                  </a:lnTo>
                  <a:cubicBezTo>
                    <a:pt x="5161788" y="0"/>
                    <a:pt x="5227320" y="65532"/>
                    <a:pt x="5227320" y="146304"/>
                  </a:cubicBezTo>
                  <a:lnTo>
                    <a:pt x="5227320" y="890016"/>
                  </a:lnTo>
                  <a:cubicBezTo>
                    <a:pt x="5227320" y="970788"/>
                    <a:pt x="5161788" y="1036320"/>
                    <a:pt x="5081016" y="1036320"/>
                  </a:cubicBezTo>
                  <a:lnTo>
                    <a:pt x="146304" y="1036320"/>
                  </a:lnTo>
                  <a:cubicBezTo>
                    <a:pt x="65532" y="1036320"/>
                    <a:pt x="0" y="970788"/>
                    <a:pt x="0" y="890016"/>
                  </a:cubicBezTo>
                  <a:close/>
                </a:path>
              </a:pathLst>
            </a:custGeom>
            <a:solidFill>
              <a:srgbClr val="222222"/>
            </a:solidFill>
          </p:spPr>
          <p:txBody>
            <a:bodyPr/>
            <a:lstStyle/>
            <a:p>
              <a:endParaRPr lang="en-US"/>
            </a:p>
          </p:txBody>
        </p:sp>
      </p:grpSp>
      <p:grpSp>
        <p:nvGrpSpPr>
          <p:cNvPr id="25" name="Group 25"/>
          <p:cNvGrpSpPr/>
          <p:nvPr/>
        </p:nvGrpSpPr>
        <p:grpSpPr>
          <a:xfrm>
            <a:off x="13681710" y="8412480"/>
            <a:ext cx="3371850" cy="777240"/>
            <a:chOff x="0" y="0"/>
            <a:chExt cx="4495800" cy="1036320"/>
          </a:xfrm>
        </p:grpSpPr>
        <p:sp>
          <p:nvSpPr>
            <p:cNvPr id="26" name="Freeform 26"/>
            <p:cNvSpPr/>
            <p:nvPr/>
          </p:nvSpPr>
          <p:spPr>
            <a:xfrm>
              <a:off x="0" y="0"/>
              <a:ext cx="4495799" cy="1036320"/>
            </a:xfrm>
            <a:custGeom>
              <a:avLst/>
              <a:gdLst/>
              <a:ahLst/>
              <a:cxnLst/>
              <a:rect l="l" t="t" r="r" b="b"/>
              <a:pathLst>
                <a:path w="4495799" h="1036320">
                  <a:moveTo>
                    <a:pt x="0" y="0"/>
                  </a:moveTo>
                  <a:lnTo>
                    <a:pt x="4495799" y="0"/>
                  </a:lnTo>
                  <a:lnTo>
                    <a:pt x="4495799" y="1036320"/>
                  </a:lnTo>
                  <a:lnTo>
                    <a:pt x="0" y="1036320"/>
                  </a:lnTo>
                  <a:close/>
                </a:path>
              </a:pathLst>
            </a:custGeom>
            <a:blipFill>
              <a:blip r:embed="rId4">
                <a:alphaModFix amt="0"/>
              </a:blip>
              <a:stretch>
                <a:fillRect t="-34530" b="-34530"/>
              </a:stretch>
            </a:blipFill>
          </p:spPr>
          <p:txBody>
            <a:bodyPr/>
            <a:lstStyle/>
            <a:p>
              <a:endParaRPr lang="en-US"/>
            </a:p>
          </p:txBody>
        </p:sp>
        <p:sp>
          <p:nvSpPr>
            <p:cNvPr id="27" name="TextBox 27"/>
            <p:cNvSpPr txBox="1"/>
            <p:nvPr/>
          </p:nvSpPr>
          <p:spPr>
            <a:xfrm>
              <a:off x="0" y="-38100"/>
              <a:ext cx="4495800" cy="1074420"/>
            </a:xfrm>
            <a:prstGeom prst="rect">
              <a:avLst/>
            </a:prstGeom>
          </p:spPr>
          <p:txBody>
            <a:bodyPr lIns="0" tIns="0" rIns="0" bIns="0" rtlCol="0" anchor="ctr"/>
            <a:lstStyle/>
            <a:p>
              <a:pPr algn="l">
                <a:lnSpc>
                  <a:spcPts val="1800"/>
                </a:lnSpc>
              </a:pPr>
              <a:r>
                <a:rPr lang="en-US" sz="1500" b="1" dirty="0">
                  <a:solidFill>
                    <a:srgbClr val="B4B4BC"/>
                  </a:solidFill>
                  <a:latin typeface="Calibri (MS) Bold"/>
                  <a:ea typeface="Calibri (MS) Bold"/>
                  <a:cs typeface="Calibri (MS) Bold"/>
                  <a:sym typeface="Calibri (MS) Bold"/>
                </a:rPr>
                <a:t>04  </a:t>
              </a:r>
              <a:r>
                <a:rPr lang="en-US" sz="1500" dirty="0">
                  <a:solidFill>
                    <a:srgbClr val="B4B4BC"/>
                  </a:solidFill>
                  <a:latin typeface="Calibri (MS)"/>
                  <a:ea typeface="Calibri (MS)"/>
                  <a:cs typeface="Calibri (MS)"/>
                  <a:sym typeface="Calibri (MS)"/>
                </a:rPr>
                <a:t>Recommendation &amp; Reflection</a:t>
              </a:r>
            </a:p>
          </p:txBody>
        </p:sp>
      </p:gr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0A0A0A"/>
        </a:solidFill>
        <a:effectLst/>
      </p:bgPr>
    </p:bg>
    <p:spTree>
      <p:nvGrpSpPr>
        <p:cNvPr id="1" name=""/>
        <p:cNvGrpSpPr/>
        <p:nvPr/>
      </p:nvGrpSpPr>
      <p:grpSpPr>
        <a:xfrm>
          <a:off x="0" y="0"/>
          <a:ext cx="0" cy="0"/>
          <a:chOff x="0" y="0"/>
          <a:chExt cx="0" cy="0"/>
        </a:xfrm>
      </p:grpSpPr>
      <p:grpSp>
        <p:nvGrpSpPr>
          <p:cNvPr id="2" name="Group 2"/>
          <p:cNvGrpSpPr/>
          <p:nvPr/>
        </p:nvGrpSpPr>
        <p:grpSpPr>
          <a:xfrm>
            <a:off x="960120" y="685800"/>
            <a:ext cx="10972800" cy="480060"/>
            <a:chOff x="0" y="0"/>
            <a:chExt cx="14630400" cy="640080"/>
          </a:xfrm>
        </p:grpSpPr>
        <p:sp>
          <p:nvSpPr>
            <p:cNvPr id="3" name="Freeform 3"/>
            <p:cNvSpPr/>
            <p:nvPr/>
          </p:nvSpPr>
          <p:spPr>
            <a:xfrm>
              <a:off x="0" y="0"/>
              <a:ext cx="14630400" cy="640080"/>
            </a:xfrm>
            <a:custGeom>
              <a:avLst/>
              <a:gdLst/>
              <a:ahLst/>
              <a:cxnLst/>
              <a:rect l="l" t="t" r="r" b="b"/>
              <a:pathLst>
                <a:path w="14630400" h="640080">
                  <a:moveTo>
                    <a:pt x="0" y="0"/>
                  </a:moveTo>
                  <a:lnTo>
                    <a:pt x="14630400" y="0"/>
                  </a:lnTo>
                  <a:lnTo>
                    <a:pt x="14630400" y="640080"/>
                  </a:lnTo>
                  <a:lnTo>
                    <a:pt x="0" y="640080"/>
                  </a:lnTo>
                  <a:close/>
                </a:path>
              </a:pathLst>
            </a:custGeom>
            <a:blipFill>
              <a:blip r:embed="rId3">
                <a:alphaModFix amt="0"/>
              </a:blip>
              <a:stretch>
                <a:fillRect t="-395372" b="-395372"/>
              </a:stretch>
            </a:blipFill>
          </p:spPr>
          <p:txBody>
            <a:bodyPr/>
            <a:lstStyle/>
            <a:p>
              <a:endParaRPr lang="en-US"/>
            </a:p>
          </p:txBody>
        </p:sp>
        <p:sp>
          <p:nvSpPr>
            <p:cNvPr id="4" name="TextBox 4"/>
            <p:cNvSpPr txBox="1"/>
            <p:nvPr/>
          </p:nvSpPr>
          <p:spPr>
            <a:xfrm>
              <a:off x="0" y="-19050"/>
              <a:ext cx="14630400" cy="659130"/>
            </a:xfrm>
            <a:prstGeom prst="rect">
              <a:avLst/>
            </a:prstGeom>
          </p:spPr>
          <p:txBody>
            <a:bodyPr lIns="0" tIns="0" rIns="0" bIns="0" rtlCol="0" anchor="ctr"/>
            <a:lstStyle/>
            <a:p>
              <a:pPr algn="l">
                <a:lnSpc>
                  <a:spcPts val="2160"/>
                </a:lnSpc>
              </a:pPr>
              <a:r>
                <a:rPr lang="en-US" sz="1800" b="1" spc="450">
                  <a:solidFill>
                    <a:srgbClr val="93A9CF"/>
                  </a:solidFill>
                  <a:latin typeface="Arial Bold"/>
                  <a:ea typeface="Arial Bold"/>
                  <a:cs typeface="Arial Bold"/>
                  <a:sym typeface="Arial Bold"/>
                </a:rPr>
                <a:t>THE USER FLOW</a:t>
              </a:r>
            </a:p>
          </p:txBody>
        </p:sp>
      </p:grpSp>
      <p:grpSp>
        <p:nvGrpSpPr>
          <p:cNvPr id="5" name="Group 5"/>
          <p:cNvGrpSpPr/>
          <p:nvPr/>
        </p:nvGrpSpPr>
        <p:grpSpPr>
          <a:xfrm>
            <a:off x="960120" y="1124712"/>
            <a:ext cx="11795760" cy="1303020"/>
            <a:chOff x="0" y="0"/>
            <a:chExt cx="15727680" cy="1737360"/>
          </a:xfrm>
        </p:grpSpPr>
        <p:sp>
          <p:nvSpPr>
            <p:cNvPr id="6" name="Freeform 6"/>
            <p:cNvSpPr/>
            <p:nvPr/>
          </p:nvSpPr>
          <p:spPr>
            <a:xfrm>
              <a:off x="0" y="0"/>
              <a:ext cx="15727680" cy="1737360"/>
            </a:xfrm>
            <a:custGeom>
              <a:avLst/>
              <a:gdLst/>
              <a:ahLst/>
              <a:cxnLst/>
              <a:rect l="l" t="t" r="r" b="b"/>
              <a:pathLst>
                <a:path w="15727680" h="1737360">
                  <a:moveTo>
                    <a:pt x="0" y="0"/>
                  </a:moveTo>
                  <a:lnTo>
                    <a:pt x="15727680" y="0"/>
                  </a:lnTo>
                  <a:lnTo>
                    <a:pt x="15727680" y="1737360"/>
                  </a:lnTo>
                  <a:lnTo>
                    <a:pt x="0" y="1737360"/>
                  </a:lnTo>
                  <a:close/>
                </a:path>
              </a:pathLst>
            </a:custGeom>
            <a:blipFill>
              <a:blip r:embed="rId3">
                <a:alphaModFix amt="0"/>
              </a:blip>
              <a:stretch>
                <a:fillRect t="-126390" b="-126390"/>
              </a:stretch>
            </a:blipFill>
          </p:spPr>
          <p:txBody>
            <a:bodyPr/>
            <a:lstStyle/>
            <a:p>
              <a:endParaRPr lang="en-US"/>
            </a:p>
          </p:txBody>
        </p:sp>
        <p:sp>
          <p:nvSpPr>
            <p:cNvPr id="7" name="TextBox 7"/>
            <p:cNvSpPr txBox="1"/>
            <p:nvPr/>
          </p:nvSpPr>
          <p:spPr>
            <a:xfrm>
              <a:off x="0" y="28575"/>
              <a:ext cx="15727680" cy="1708785"/>
            </a:xfrm>
            <a:prstGeom prst="rect">
              <a:avLst/>
            </a:prstGeom>
          </p:spPr>
          <p:txBody>
            <a:bodyPr lIns="0" tIns="0" rIns="0" bIns="0" rtlCol="0" anchor="ctr"/>
            <a:lstStyle/>
            <a:p>
              <a:pPr algn="l">
                <a:lnSpc>
                  <a:spcPts val="4800"/>
                </a:lnSpc>
              </a:pPr>
              <a:r>
                <a:rPr lang="en-US" sz="4500" b="1" dirty="0">
                  <a:solidFill>
                    <a:srgbClr val="FFFFFF"/>
                  </a:solidFill>
                  <a:latin typeface="Arial Bold"/>
                  <a:ea typeface="Arial Bold"/>
                  <a:cs typeface="Arial Bold"/>
                  <a:sym typeface="Arial Bold"/>
                </a:rPr>
                <a:t>Seven Screens, One Habit Loop</a:t>
              </a:r>
            </a:p>
          </p:txBody>
        </p:sp>
      </p:grpSp>
      <p:grpSp>
        <p:nvGrpSpPr>
          <p:cNvPr id="8" name="Group 8"/>
          <p:cNvGrpSpPr/>
          <p:nvPr/>
        </p:nvGrpSpPr>
        <p:grpSpPr>
          <a:xfrm>
            <a:off x="960120" y="3581049"/>
            <a:ext cx="3790950" cy="1322070"/>
            <a:chOff x="0" y="0"/>
            <a:chExt cx="5054600" cy="1762760"/>
          </a:xfrm>
        </p:grpSpPr>
        <p:sp>
          <p:nvSpPr>
            <p:cNvPr id="9" name="Freeform 9"/>
            <p:cNvSpPr/>
            <p:nvPr/>
          </p:nvSpPr>
          <p:spPr>
            <a:xfrm>
              <a:off x="0" y="0"/>
              <a:ext cx="5054600" cy="1762760"/>
            </a:xfrm>
            <a:custGeom>
              <a:avLst/>
              <a:gdLst/>
              <a:ahLst/>
              <a:cxnLst/>
              <a:rect l="l" t="t" r="r" b="b"/>
              <a:pathLst>
                <a:path w="5054600" h="1762760">
                  <a:moveTo>
                    <a:pt x="0" y="185547"/>
                  </a:moveTo>
                  <a:cubicBezTo>
                    <a:pt x="0" y="83058"/>
                    <a:pt x="83058" y="0"/>
                    <a:pt x="185547" y="0"/>
                  </a:cubicBezTo>
                  <a:lnTo>
                    <a:pt x="4869053" y="0"/>
                  </a:lnTo>
                  <a:cubicBezTo>
                    <a:pt x="4971542" y="0"/>
                    <a:pt x="5054600" y="83058"/>
                    <a:pt x="5054600" y="185547"/>
                  </a:cubicBezTo>
                  <a:lnTo>
                    <a:pt x="5054600" y="1577213"/>
                  </a:lnTo>
                  <a:cubicBezTo>
                    <a:pt x="5054600" y="1679702"/>
                    <a:pt x="4971542" y="1762760"/>
                    <a:pt x="4869053" y="1762760"/>
                  </a:cubicBezTo>
                  <a:lnTo>
                    <a:pt x="185547" y="1762760"/>
                  </a:lnTo>
                  <a:cubicBezTo>
                    <a:pt x="83058" y="1762760"/>
                    <a:pt x="0" y="1679702"/>
                    <a:pt x="0" y="1577213"/>
                  </a:cubicBezTo>
                  <a:close/>
                </a:path>
              </a:pathLst>
            </a:custGeom>
            <a:solidFill>
              <a:srgbClr val="FAFAF8"/>
            </a:solidFill>
            <a:ln w="19050" cap="sq">
              <a:solidFill>
                <a:srgbClr val="E4E0D6"/>
              </a:solidFill>
              <a:prstDash val="solid"/>
              <a:miter/>
            </a:ln>
          </p:spPr>
          <p:txBody>
            <a:bodyPr/>
            <a:lstStyle/>
            <a:p>
              <a:endParaRPr lang="en-US"/>
            </a:p>
          </p:txBody>
        </p:sp>
      </p:grpSp>
      <p:grpSp>
        <p:nvGrpSpPr>
          <p:cNvPr id="10" name="Group 10"/>
          <p:cNvGrpSpPr/>
          <p:nvPr/>
        </p:nvGrpSpPr>
        <p:grpSpPr>
          <a:xfrm>
            <a:off x="1175385" y="3700302"/>
            <a:ext cx="685800" cy="548640"/>
            <a:chOff x="0" y="0"/>
            <a:chExt cx="914400" cy="731520"/>
          </a:xfrm>
        </p:grpSpPr>
        <p:sp>
          <p:nvSpPr>
            <p:cNvPr id="11" name="Freeform 11"/>
            <p:cNvSpPr/>
            <p:nvPr/>
          </p:nvSpPr>
          <p:spPr>
            <a:xfrm>
              <a:off x="0" y="0"/>
              <a:ext cx="914400" cy="731520"/>
            </a:xfrm>
            <a:custGeom>
              <a:avLst/>
              <a:gdLst/>
              <a:ahLst/>
              <a:cxnLst/>
              <a:rect l="l" t="t" r="r" b="b"/>
              <a:pathLst>
                <a:path w="914400" h="731520">
                  <a:moveTo>
                    <a:pt x="0" y="0"/>
                  </a:moveTo>
                  <a:lnTo>
                    <a:pt x="914400" y="0"/>
                  </a:lnTo>
                  <a:lnTo>
                    <a:pt x="914400" y="731520"/>
                  </a:lnTo>
                  <a:lnTo>
                    <a:pt x="0" y="731520"/>
                  </a:lnTo>
                  <a:close/>
                </a:path>
              </a:pathLst>
            </a:custGeom>
            <a:blipFill>
              <a:blip r:embed="rId3">
                <a:alphaModFix amt="0"/>
              </a:blip>
              <a:stretch>
                <a:fillRect l="-52642" r="-52642"/>
              </a:stretch>
            </a:blipFill>
          </p:spPr>
          <p:txBody>
            <a:bodyPr/>
            <a:lstStyle/>
            <a:p>
              <a:endParaRPr lang="en-US"/>
            </a:p>
          </p:txBody>
        </p:sp>
        <p:sp>
          <p:nvSpPr>
            <p:cNvPr id="12" name="TextBox 12"/>
            <p:cNvSpPr txBox="1"/>
            <p:nvPr/>
          </p:nvSpPr>
          <p:spPr>
            <a:xfrm>
              <a:off x="0" y="-47625"/>
              <a:ext cx="914400" cy="779145"/>
            </a:xfrm>
            <a:prstGeom prst="rect">
              <a:avLst/>
            </a:prstGeom>
          </p:spPr>
          <p:txBody>
            <a:bodyPr lIns="0" tIns="0" rIns="0" bIns="0" rtlCol="0" anchor="ctr"/>
            <a:lstStyle/>
            <a:p>
              <a:pPr algn="l">
                <a:lnSpc>
                  <a:spcPts val="2340"/>
                </a:lnSpc>
              </a:pPr>
              <a:r>
                <a:rPr lang="en-US" sz="1950" b="1">
                  <a:solidFill>
                    <a:srgbClr val="93A9CF"/>
                  </a:solidFill>
                  <a:latin typeface="Calibri (MS) Bold"/>
                  <a:ea typeface="Calibri (MS) Bold"/>
                  <a:cs typeface="Calibri (MS) Bold"/>
                  <a:sym typeface="Calibri (MS) Bold"/>
                </a:rPr>
                <a:t>1</a:t>
              </a:r>
            </a:p>
          </p:txBody>
        </p:sp>
      </p:grpSp>
      <p:grpSp>
        <p:nvGrpSpPr>
          <p:cNvPr id="13" name="Group 13"/>
          <p:cNvGrpSpPr/>
          <p:nvPr/>
        </p:nvGrpSpPr>
        <p:grpSpPr>
          <a:xfrm>
            <a:off x="1175385" y="4111782"/>
            <a:ext cx="3360420" cy="685800"/>
            <a:chOff x="0" y="0"/>
            <a:chExt cx="4480560" cy="914400"/>
          </a:xfrm>
        </p:grpSpPr>
        <p:sp>
          <p:nvSpPr>
            <p:cNvPr id="14" name="Freeform 14"/>
            <p:cNvSpPr/>
            <p:nvPr/>
          </p:nvSpPr>
          <p:spPr>
            <a:xfrm>
              <a:off x="0" y="0"/>
              <a:ext cx="4480560" cy="914400"/>
            </a:xfrm>
            <a:custGeom>
              <a:avLst/>
              <a:gdLst/>
              <a:ahLst/>
              <a:cxnLst/>
              <a:rect l="l" t="t" r="r" b="b"/>
              <a:pathLst>
                <a:path w="4480560" h="914400">
                  <a:moveTo>
                    <a:pt x="0" y="0"/>
                  </a:moveTo>
                  <a:lnTo>
                    <a:pt x="4480560" y="0"/>
                  </a:lnTo>
                  <a:lnTo>
                    <a:pt x="4480560" y="914400"/>
                  </a:lnTo>
                  <a:lnTo>
                    <a:pt x="0" y="914400"/>
                  </a:lnTo>
                  <a:close/>
                </a:path>
              </a:pathLst>
            </a:custGeom>
            <a:blipFill>
              <a:blip r:embed="rId3">
                <a:alphaModFix amt="0"/>
              </a:blip>
              <a:stretch>
                <a:fillRect t="-45476" b="-45476"/>
              </a:stretch>
            </a:blipFill>
          </p:spPr>
          <p:txBody>
            <a:bodyPr/>
            <a:lstStyle/>
            <a:p>
              <a:endParaRPr lang="en-US"/>
            </a:p>
          </p:txBody>
        </p:sp>
        <p:sp>
          <p:nvSpPr>
            <p:cNvPr id="15" name="TextBox 15"/>
            <p:cNvSpPr txBox="1"/>
            <p:nvPr/>
          </p:nvSpPr>
          <p:spPr>
            <a:xfrm>
              <a:off x="0" y="-38100"/>
              <a:ext cx="4480560" cy="952500"/>
            </a:xfrm>
            <a:prstGeom prst="rect">
              <a:avLst/>
            </a:prstGeom>
          </p:spPr>
          <p:txBody>
            <a:bodyPr lIns="0" tIns="0" rIns="0" bIns="0" rtlCol="0" anchor="ctr"/>
            <a:lstStyle/>
            <a:p>
              <a:pPr algn="l">
                <a:lnSpc>
                  <a:spcPts val="2250"/>
                </a:lnSpc>
              </a:pPr>
              <a:r>
                <a:rPr lang="en-US" sz="1950" b="1">
                  <a:solidFill>
                    <a:srgbClr val="1A1A1A"/>
                  </a:solidFill>
                  <a:latin typeface="Calibri (MS) Bold"/>
                  <a:ea typeface="Calibri (MS) Bold"/>
                  <a:cs typeface="Calibri (MS) Bold"/>
                  <a:sym typeface="Calibri (MS) Bold"/>
                </a:rPr>
                <a:t>Today Screen</a:t>
              </a:r>
            </a:p>
          </p:txBody>
        </p:sp>
      </p:grpSp>
      <p:grpSp>
        <p:nvGrpSpPr>
          <p:cNvPr id="16" name="Group 16"/>
          <p:cNvGrpSpPr/>
          <p:nvPr/>
        </p:nvGrpSpPr>
        <p:grpSpPr>
          <a:xfrm>
            <a:off x="4741545" y="3974622"/>
            <a:ext cx="384048" cy="548640"/>
            <a:chOff x="0" y="0"/>
            <a:chExt cx="512064" cy="731520"/>
          </a:xfrm>
        </p:grpSpPr>
        <p:sp>
          <p:nvSpPr>
            <p:cNvPr id="17" name="Freeform 17"/>
            <p:cNvSpPr/>
            <p:nvPr/>
          </p:nvSpPr>
          <p:spPr>
            <a:xfrm>
              <a:off x="0" y="0"/>
              <a:ext cx="512064" cy="731520"/>
            </a:xfrm>
            <a:custGeom>
              <a:avLst/>
              <a:gdLst/>
              <a:ahLst/>
              <a:cxnLst/>
              <a:rect l="l" t="t" r="r" b="b"/>
              <a:pathLst>
                <a:path w="512064" h="731520">
                  <a:moveTo>
                    <a:pt x="0" y="0"/>
                  </a:moveTo>
                  <a:lnTo>
                    <a:pt x="512064" y="0"/>
                  </a:lnTo>
                  <a:lnTo>
                    <a:pt x="512064" y="731520"/>
                  </a:lnTo>
                  <a:lnTo>
                    <a:pt x="0" y="731520"/>
                  </a:lnTo>
                  <a:close/>
                </a:path>
              </a:pathLst>
            </a:custGeom>
            <a:blipFill>
              <a:blip r:embed="rId3">
                <a:alphaModFix amt="0"/>
              </a:blip>
              <a:stretch>
                <a:fillRect l="-133290" r="-133290"/>
              </a:stretch>
            </a:blipFill>
          </p:spPr>
          <p:txBody>
            <a:bodyPr/>
            <a:lstStyle/>
            <a:p>
              <a:endParaRPr lang="en-US"/>
            </a:p>
          </p:txBody>
        </p:sp>
        <p:sp>
          <p:nvSpPr>
            <p:cNvPr id="18" name="TextBox 18"/>
            <p:cNvSpPr txBox="1"/>
            <p:nvPr/>
          </p:nvSpPr>
          <p:spPr>
            <a:xfrm>
              <a:off x="0" y="-38100"/>
              <a:ext cx="512064" cy="769620"/>
            </a:xfrm>
            <a:prstGeom prst="rect">
              <a:avLst/>
            </a:prstGeom>
          </p:spPr>
          <p:txBody>
            <a:bodyPr lIns="0" tIns="0" rIns="0" bIns="0" rtlCol="0" anchor="ctr"/>
            <a:lstStyle/>
            <a:p>
              <a:pPr algn="ctr">
                <a:lnSpc>
                  <a:spcPts val="2879"/>
                </a:lnSpc>
              </a:pPr>
              <a:r>
                <a:rPr lang="en-US" sz="2400" b="1">
                  <a:solidFill>
                    <a:srgbClr val="93A9CF"/>
                  </a:solidFill>
                  <a:latin typeface="Calibri (MS) Bold"/>
                  <a:ea typeface="Calibri (MS) Bold"/>
                  <a:cs typeface="Calibri (MS) Bold"/>
                  <a:sym typeface="Calibri (MS) Bold"/>
                </a:rPr>
                <a:t>→</a:t>
              </a:r>
            </a:p>
          </p:txBody>
        </p:sp>
      </p:grpSp>
      <p:grpSp>
        <p:nvGrpSpPr>
          <p:cNvPr id="19" name="Group 19"/>
          <p:cNvGrpSpPr/>
          <p:nvPr/>
        </p:nvGrpSpPr>
        <p:grpSpPr>
          <a:xfrm>
            <a:off x="5116068" y="3581049"/>
            <a:ext cx="3790950" cy="1322070"/>
            <a:chOff x="0" y="0"/>
            <a:chExt cx="5054600" cy="1762760"/>
          </a:xfrm>
        </p:grpSpPr>
        <p:sp>
          <p:nvSpPr>
            <p:cNvPr id="20" name="Freeform 20"/>
            <p:cNvSpPr/>
            <p:nvPr/>
          </p:nvSpPr>
          <p:spPr>
            <a:xfrm>
              <a:off x="0" y="0"/>
              <a:ext cx="5054600" cy="1762760"/>
            </a:xfrm>
            <a:custGeom>
              <a:avLst/>
              <a:gdLst/>
              <a:ahLst/>
              <a:cxnLst/>
              <a:rect l="l" t="t" r="r" b="b"/>
              <a:pathLst>
                <a:path w="5054600" h="1762760">
                  <a:moveTo>
                    <a:pt x="0" y="185547"/>
                  </a:moveTo>
                  <a:cubicBezTo>
                    <a:pt x="0" y="83058"/>
                    <a:pt x="83058" y="0"/>
                    <a:pt x="185547" y="0"/>
                  </a:cubicBezTo>
                  <a:lnTo>
                    <a:pt x="4869053" y="0"/>
                  </a:lnTo>
                  <a:cubicBezTo>
                    <a:pt x="4971542" y="0"/>
                    <a:pt x="5054600" y="83058"/>
                    <a:pt x="5054600" y="185547"/>
                  </a:cubicBezTo>
                  <a:lnTo>
                    <a:pt x="5054600" y="1577213"/>
                  </a:lnTo>
                  <a:cubicBezTo>
                    <a:pt x="5054600" y="1679702"/>
                    <a:pt x="4971542" y="1762760"/>
                    <a:pt x="4869053" y="1762760"/>
                  </a:cubicBezTo>
                  <a:lnTo>
                    <a:pt x="185547" y="1762760"/>
                  </a:lnTo>
                  <a:cubicBezTo>
                    <a:pt x="83058" y="1762760"/>
                    <a:pt x="0" y="1679702"/>
                    <a:pt x="0" y="1577213"/>
                  </a:cubicBezTo>
                  <a:close/>
                </a:path>
              </a:pathLst>
            </a:custGeom>
            <a:solidFill>
              <a:srgbClr val="FAFAF8"/>
            </a:solidFill>
            <a:ln w="19050" cap="sq">
              <a:solidFill>
                <a:srgbClr val="E4E0D6"/>
              </a:solidFill>
              <a:prstDash val="solid"/>
              <a:miter/>
            </a:ln>
          </p:spPr>
          <p:txBody>
            <a:bodyPr/>
            <a:lstStyle/>
            <a:p>
              <a:endParaRPr lang="en-US"/>
            </a:p>
          </p:txBody>
        </p:sp>
      </p:grpSp>
      <p:grpSp>
        <p:nvGrpSpPr>
          <p:cNvPr id="21" name="Group 21"/>
          <p:cNvGrpSpPr/>
          <p:nvPr/>
        </p:nvGrpSpPr>
        <p:grpSpPr>
          <a:xfrm>
            <a:off x="5331333" y="3700302"/>
            <a:ext cx="685800" cy="548640"/>
            <a:chOff x="0" y="0"/>
            <a:chExt cx="914400" cy="731520"/>
          </a:xfrm>
        </p:grpSpPr>
        <p:sp>
          <p:nvSpPr>
            <p:cNvPr id="22" name="Freeform 22"/>
            <p:cNvSpPr/>
            <p:nvPr/>
          </p:nvSpPr>
          <p:spPr>
            <a:xfrm>
              <a:off x="0" y="0"/>
              <a:ext cx="914400" cy="731520"/>
            </a:xfrm>
            <a:custGeom>
              <a:avLst/>
              <a:gdLst/>
              <a:ahLst/>
              <a:cxnLst/>
              <a:rect l="l" t="t" r="r" b="b"/>
              <a:pathLst>
                <a:path w="914400" h="731520">
                  <a:moveTo>
                    <a:pt x="0" y="0"/>
                  </a:moveTo>
                  <a:lnTo>
                    <a:pt x="914400" y="0"/>
                  </a:lnTo>
                  <a:lnTo>
                    <a:pt x="914400" y="731520"/>
                  </a:lnTo>
                  <a:lnTo>
                    <a:pt x="0" y="731520"/>
                  </a:lnTo>
                  <a:close/>
                </a:path>
              </a:pathLst>
            </a:custGeom>
            <a:blipFill>
              <a:blip r:embed="rId3">
                <a:alphaModFix amt="0"/>
              </a:blip>
              <a:stretch>
                <a:fillRect l="-52642" r="-52642"/>
              </a:stretch>
            </a:blipFill>
          </p:spPr>
          <p:txBody>
            <a:bodyPr/>
            <a:lstStyle/>
            <a:p>
              <a:endParaRPr lang="en-US"/>
            </a:p>
          </p:txBody>
        </p:sp>
        <p:sp>
          <p:nvSpPr>
            <p:cNvPr id="23" name="TextBox 23"/>
            <p:cNvSpPr txBox="1"/>
            <p:nvPr/>
          </p:nvSpPr>
          <p:spPr>
            <a:xfrm>
              <a:off x="0" y="-47625"/>
              <a:ext cx="914400" cy="779145"/>
            </a:xfrm>
            <a:prstGeom prst="rect">
              <a:avLst/>
            </a:prstGeom>
          </p:spPr>
          <p:txBody>
            <a:bodyPr lIns="0" tIns="0" rIns="0" bIns="0" rtlCol="0" anchor="ctr"/>
            <a:lstStyle/>
            <a:p>
              <a:pPr algn="l">
                <a:lnSpc>
                  <a:spcPts val="2340"/>
                </a:lnSpc>
              </a:pPr>
              <a:r>
                <a:rPr lang="en-US" sz="1950" b="1">
                  <a:solidFill>
                    <a:srgbClr val="93A9CF"/>
                  </a:solidFill>
                  <a:latin typeface="Calibri (MS) Bold"/>
                  <a:ea typeface="Calibri (MS) Bold"/>
                  <a:cs typeface="Calibri (MS) Bold"/>
                  <a:sym typeface="Calibri (MS) Bold"/>
                </a:rPr>
                <a:t>2</a:t>
              </a:r>
            </a:p>
          </p:txBody>
        </p:sp>
      </p:grpSp>
      <p:grpSp>
        <p:nvGrpSpPr>
          <p:cNvPr id="24" name="Group 24"/>
          <p:cNvGrpSpPr/>
          <p:nvPr/>
        </p:nvGrpSpPr>
        <p:grpSpPr>
          <a:xfrm>
            <a:off x="5331333" y="4111782"/>
            <a:ext cx="3360420" cy="685800"/>
            <a:chOff x="0" y="0"/>
            <a:chExt cx="4480560" cy="914400"/>
          </a:xfrm>
        </p:grpSpPr>
        <p:sp>
          <p:nvSpPr>
            <p:cNvPr id="25" name="Freeform 25"/>
            <p:cNvSpPr/>
            <p:nvPr/>
          </p:nvSpPr>
          <p:spPr>
            <a:xfrm>
              <a:off x="0" y="0"/>
              <a:ext cx="4480560" cy="914400"/>
            </a:xfrm>
            <a:custGeom>
              <a:avLst/>
              <a:gdLst/>
              <a:ahLst/>
              <a:cxnLst/>
              <a:rect l="l" t="t" r="r" b="b"/>
              <a:pathLst>
                <a:path w="4480560" h="914400">
                  <a:moveTo>
                    <a:pt x="0" y="0"/>
                  </a:moveTo>
                  <a:lnTo>
                    <a:pt x="4480560" y="0"/>
                  </a:lnTo>
                  <a:lnTo>
                    <a:pt x="4480560" y="914400"/>
                  </a:lnTo>
                  <a:lnTo>
                    <a:pt x="0" y="914400"/>
                  </a:lnTo>
                  <a:close/>
                </a:path>
              </a:pathLst>
            </a:custGeom>
            <a:blipFill>
              <a:blip r:embed="rId3">
                <a:alphaModFix amt="0"/>
              </a:blip>
              <a:stretch>
                <a:fillRect t="-45476" b="-45476"/>
              </a:stretch>
            </a:blipFill>
          </p:spPr>
          <p:txBody>
            <a:bodyPr/>
            <a:lstStyle/>
            <a:p>
              <a:endParaRPr lang="en-US"/>
            </a:p>
          </p:txBody>
        </p:sp>
        <p:sp>
          <p:nvSpPr>
            <p:cNvPr id="26" name="TextBox 26"/>
            <p:cNvSpPr txBox="1"/>
            <p:nvPr/>
          </p:nvSpPr>
          <p:spPr>
            <a:xfrm>
              <a:off x="0" y="-38100"/>
              <a:ext cx="4480560" cy="952500"/>
            </a:xfrm>
            <a:prstGeom prst="rect">
              <a:avLst/>
            </a:prstGeom>
          </p:spPr>
          <p:txBody>
            <a:bodyPr lIns="0" tIns="0" rIns="0" bIns="0" rtlCol="0" anchor="ctr"/>
            <a:lstStyle/>
            <a:p>
              <a:pPr algn="l">
                <a:lnSpc>
                  <a:spcPts val="2250"/>
                </a:lnSpc>
              </a:pPr>
              <a:r>
                <a:rPr lang="en-US" sz="1950" b="1">
                  <a:solidFill>
                    <a:srgbClr val="1A1A1A"/>
                  </a:solidFill>
                  <a:latin typeface="Calibri (MS) Bold"/>
                  <a:ea typeface="Calibri (MS) Bold"/>
                  <a:cs typeface="Calibri (MS) Bold"/>
                  <a:sym typeface="Calibri (MS) Bold"/>
                </a:rPr>
                <a:t>Capture Toggle</a:t>
              </a:r>
            </a:p>
          </p:txBody>
        </p:sp>
      </p:grpSp>
      <p:grpSp>
        <p:nvGrpSpPr>
          <p:cNvPr id="27" name="Group 27"/>
          <p:cNvGrpSpPr/>
          <p:nvPr/>
        </p:nvGrpSpPr>
        <p:grpSpPr>
          <a:xfrm>
            <a:off x="8897493" y="3974622"/>
            <a:ext cx="384048" cy="548640"/>
            <a:chOff x="0" y="0"/>
            <a:chExt cx="512064" cy="731520"/>
          </a:xfrm>
        </p:grpSpPr>
        <p:sp>
          <p:nvSpPr>
            <p:cNvPr id="28" name="Freeform 28"/>
            <p:cNvSpPr/>
            <p:nvPr/>
          </p:nvSpPr>
          <p:spPr>
            <a:xfrm>
              <a:off x="0" y="0"/>
              <a:ext cx="512064" cy="731520"/>
            </a:xfrm>
            <a:custGeom>
              <a:avLst/>
              <a:gdLst/>
              <a:ahLst/>
              <a:cxnLst/>
              <a:rect l="l" t="t" r="r" b="b"/>
              <a:pathLst>
                <a:path w="512064" h="731520">
                  <a:moveTo>
                    <a:pt x="0" y="0"/>
                  </a:moveTo>
                  <a:lnTo>
                    <a:pt x="512064" y="0"/>
                  </a:lnTo>
                  <a:lnTo>
                    <a:pt x="512064" y="731520"/>
                  </a:lnTo>
                  <a:lnTo>
                    <a:pt x="0" y="731520"/>
                  </a:lnTo>
                  <a:close/>
                </a:path>
              </a:pathLst>
            </a:custGeom>
            <a:blipFill>
              <a:blip r:embed="rId3">
                <a:alphaModFix amt="0"/>
              </a:blip>
              <a:stretch>
                <a:fillRect l="-133290" r="-133290"/>
              </a:stretch>
            </a:blipFill>
          </p:spPr>
          <p:txBody>
            <a:bodyPr/>
            <a:lstStyle/>
            <a:p>
              <a:endParaRPr lang="en-US"/>
            </a:p>
          </p:txBody>
        </p:sp>
        <p:sp>
          <p:nvSpPr>
            <p:cNvPr id="29" name="TextBox 29"/>
            <p:cNvSpPr txBox="1"/>
            <p:nvPr/>
          </p:nvSpPr>
          <p:spPr>
            <a:xfrm>
              <a:off x="0" y="-38100"/>
              <a:ext cx="512064" cy="769620"/>
            </a:xfrm>
            <a:prstGeom prst="rect">
              <a:avLst/>
            </a:prstGeom>
          </p:spPr>
          <p:txBody>
            <a:bodyPr lIns="0" tIns="0" rIns="0" bIns="0" rtlCol="0" anchor="ctr"/>
            <a:lstStyle/>
            <a:p>
              <a:pPr algn="ctr">
                <a:lnSpc>
                  <a:spcPts val="2879"/>
                </a:lnSpc>
              </a:pPr>
              <a:r>
                <a:rPr lang="en-US" sz="2400" b="1">
                  <a:solidFill>
                    <a:srgbClr val="93A9CF"/>
                  </a:solidFill>
                  <a:latin typeface="Calibri (MS) Bold"/>
                  <a:ea typeface="Calibri (MS) Bold"/>
                  <a:cs typeface="Calibri (MS) Bold"/>
                  <a:sym typeface="Calibri (MS) Bold"/>
                </a:rPr>
                <a:t>→</a:t>
              </a:r>
            </a:p>
          </p:txBody>
        </p:sp>
      </p:grpSp>
      <p:grpSp>
        <p:nvGrpSpPr>
          <p:cNvPr id="30" name="Group 30"/>
          <p:cNvGrpSpPr/>
          <p:nvPr/>
        </p:nvGrpSpPr>
        <p:grpSpPr>
          <a:xfrm>
            <a:off x="9272016" y="3581049"/>
            <a:ext cx="3790950" cy="1322070"/>
            <a:chOff x="0" y="0"/>
            <a:chExt cx="5054600" cy="1762760"/>
          </a:xfrm>
        </p:grpSpPr>
        <p:sp>
          <p:nvSpPr>
            <p:cNvPr id="31" name="Freeform 31"/>
            <p:cNvSpPr/>
            <p:nvPr/>
          </p:nvSpPr>
          <p:spPr>
            <a:xfrm>
              <a:off x="0" y="0"/>
              <a:ext cx="5054600" cy="1762760"/>
            </a:xfrm>
            <a:custGeom>
              <a:avLst/>
              <a:gdLst/>
              <a:ahLst/>
              <a:cxnLst/>
              <a:rect l="l" t="t" r="r" b="b"/>
              <a:pathLst>
                <a:path w="5054600" h="1762760">
                  <a:moveTo>
                    <a:pt x="0" y="185547"/>
                  </a:moveTo>
                  <a:cubicBezTo>
                    <a:pt x="0" y="83058"/>
                    <a:pt x="83058" y="0"/>
                    <a:pt x="185547" y="0"/>
                  </a:cubicBezTo>
                  <a:lnTo>
                    <a:pt x="4869053" y="0"/>
                  </a:lnTo>
                  <a:cubicBezTo>
                    <a:pt x="4971542" y="0"/>
                    <a:pt x="5054600" y="83058"/>
                    <a:pt x="5054600" y="185547"/>
                  </a:cubicBezTo>
                  <a:lnTo>
                    <a:pt x="5054600" y="1577213"/>
                  </a:lnTo>
                  <a:cubicBezTo>
                    <a:pt x="5054600" y="1679702"/>
                    <a:pt x="4971542" y="1762760"/>
                    <a:pt x="4869053" y="1762760"/>
                  </a:cubicBezTo>
                  <a:lnTo>
                    <a:pt x="185547" y="1762760"/>
                  </a:lnTo>
                  <a:cubicBezTo>
                    <a:pt x="83058" y="1762760"/>
                    <a:pt x="0" y="1679702"/>
                    <a:pt x="0" y="1577213"/>
                  </a:cubicBezTo>
                  <a:close/>
                </a:path>
              </a:pathLst>
            </a:custGeom>
            <a:solidFill>
              <a:srgbClr val="FAFAF8"/>
            </a:solidFill>
            <a:ln w="19050" cap="sq">
              <a:solidFill>
                <a:srgbClr val="E4E0D6"/>
              </a:solidFill>
              <a:prstDash val="solid"/>
              <a:miter/>
            </a:ln>
          </p:spPr>
          <p:txBody>
            <a:bodyPr/>
            <a:lstStyle/>
            <a:p>
              <a:endParaRPr lang="en-US"/>
            </a:p>
          </p:txBody>
        </p:sp>
      </p:grpSp>
      <p:grpSp>
        <p:nvGrpSpPr>
          <p:cNvPr id="32" name="Group 32"/>
          <p:cNvGrpSpPr/>
          <p:nvPr/>
        </p:nvGrpSpPr>
        <p:grpSpPr>
          <a:xfrm>
            <a:off x="9487281" y="3700302"/>
            <a:ext cx="685800" cy="548640"/>
            <a:chOff x="0" y="0"/>
            <a:chExt cx="914400" cy="731520"/>
          </a:xfrm>
        </p:grpSpPr>
        <p:sp>
          <p:nvSpPr>
            <p:cNvPr id="33" name="Freeform 33"/>
            <p:cNvSpPr/>
            <p:nvPr/>
          </p:nvSpPr>
          <p:spPr>
            <a:xfrm>
              <a:off x="0" y="0"/>
              <a:ext cx="914400" cy="731520"/>
            </a:xfrm>
            <a:custGeom>
              <a:avLst/>
              <a:gdLst/>
              <a:ahLst/>
              <a:cxnLst/>
              <a:rect l="l" t="t" r="r" b="b"/>
              <a:pathLst>
                <a:path w="914400" h="731520">
                  <a:moveTo>
                    <a:pt x="0" y="0"/>
                  </a:moveTo>
                  <a:lnTo>
                    <a:pt x="914400" y="0"/>
                  </a:lnTo>
                  <a:lnTo>
                    <a:pt x="914400" y="731520"/>
                  </a:lnTo>
                  <a:lnTo>
                    <a:pt x="0" y="731520"/>
                  </a:lnTo>
                  <a:close/>
                </a:path>
              </a:pathLst>
            </a:custGeom>
            <a:blipFill>
              <a:blip r:embed="rId3">
                <a:alphaModFix amt="0"/>
              </a:blip>
              <a:stretch>
                <a:fillRect l="-52642" r="-52642"/>
              </a:stretch>
            </a:blipFill>
          </p:spPr>
          <p:txBody>
            <a:bodyPr/>
            <a:lstStyle/>
            <a:p>
              <a:endParaRPr lang="en-US"/>
            </a:p>
          </p:txBody>
        </p:sp>
        <p:sp>
          <p:nvSpPr>
            <p:cNvPr id="34" name="TextBox 34"/>
            <p:cNvSpPr txBox="1"/>
            <p:nvPr/>
          </p:nvSpPr>
          <p:spPr>
            <a:xfrm>
              <a:off x="0" y="-47625"/>
              <a:ext cx="914400" cy="779145"/>
            </a:xfrm>
            <a:prstGeom prst="rect">
              <a:avLst/>
            </a:prstGeom>
          </p:spPr>
          <p:txBody>
            <a:bodyPr lIns="0" tIns="0" rIns="0" bIns="0" rtlCol="0" anchor="ctr"/>
            <a:lstStyle/>
            <a:p>
              <a:pPr algn="l">
                <a:lnSpc>
                  <a:spcPts val="2340"/>
                </a:lnSpc>
              </a:pPr>
              <a:r>
                <a:rPr lang="en-US" sz="1950" b="1">
                  <a:solidFill>
                    <a:srgbClr val="93A9CF"/>
                  </a:solidFill>
                  <a:latin typeface="Calibri (MS) Bold"/>
                  <a:ea typeface="Calibri (MS) Bold"/>
                  <a:cs typeface="Calibri (MS) Bold"/>
                  <a:sym typeface="Calibri (MS) Bold"/>
                </a:rPr>
                <a:t>3</a:t>
              </a:r>
            </a:p>
          </p:txBody>
        </p:sp>
      </p:grpSp>
      <p:grpSp>
        <p:nvGrpSpPr>
          <p:cNvPr id="35" name="Group 35"/>
          <p:cNvGrpSpPr/>
          <p:nvPr/>
        </p:nvGrpSpPr>
        <p:grpSpPr>
          <a:xfrm>
            <a:off x="9487281" y="4111782"/>
            <a:ext cx="3360420" cy="685800"/>
            <a:chOff x="0" y="0"/>
            <a:chExt cx="4480560" cy="914400"/>
          </a:xfrm>
        </p:grpSpPr>
        <p:sp>
          <p:nvSpPr>
            <p:cNvPr id="36" name="Freeform 36"/>
            <p:cNvSpPr/>
            <p:nvPr/>
          </p:nvSpPr>
          <p:spPr>
            <a:xfrm>
              <a:off x="0" y="0"/>
              <a:ext cx="4480560" cy="914400"/>
            </a:xfrm>
            <a:custGeom>
              <a:avLst/>
              <a:gdLst/>
              <a:ahLst/>
              <a:cxnLst/>
              <a:rect l="l" t="t" r="r" b="b"/>
              <a:pathLst>
                <a:path w="4480560" h="914400">
                  <a:moveTo>
                    <a:pt x="0" y="0"/>
                  </a:moveTo>
                  <a:lnTo>
                    <a:pt x="4480560" y="0"/>
                  </a:lnTo>
                  <a:lnTo>
                    <a:pt x="4480560" y="914400"/>
                  </a:lnTo>
                  <a:lnTo>
                    <a:pt x="0" y="914400"/>
                  </a:lnTo>
                  <a:close/>
                </a:path>
              </a:pathLst>
            </a:custGeom>
            <a:blipFill>
              <a:blip r:embed="rId3">
                <a:alphaModFix amt="0"/>
              </a:blip>
              <a:stretch>
                <a:fillRect t="-45476" b="-45476"/>
              </a:stretch>
            </a:blipFill>
          </p:spPr>
          <p:txBody>
            <a:bodyPr/>
            <a:lstStyle/>
            <a:p>
              <a:endParaRPr lang="en-US"/>
            </a:p>
          </p:txBody>
        </p:sp>
        <p:sp>
          <p:nvSpPr>
            <p:cNvPr id="37" name="TextBox 37"/>
            <p:cNvSpPr txBox="1"/>
            <p:nvPr/>
          </p:nvSpPr>
          <p:spPr>
            <a:xfrm>
              <a:off x="0" y="-38100"/>
              <a:ext cx="4480560" cy="952500"/>
            </a:xfrm>
            <a:prstGeom prst="rect">
              <a:avLst/>
            </a:prstGeom>
          </p:spPr>
          <p:txBody>
            <a:bodyPr lIns="0" tIns="0" rIns="0" bIns="0" rtlCol="0" anchor="ctr"/>
            <a:lstStyle/>
            <a:p>
              <a:pPr algn="l">
                <a:lnSpc>
                  <a:spcPts val="2250"/>
                </a:lnSpc>
              </a:pPr>
              <a:r>
                <a:rPr lang="en-US" sz="1950" b="1">
                  <a:solidFill>
                    <a:srgbClr val="1A1A1A"/>
                  </a:solidFill>
                  <a:latin typeface="Calibri (MS) Bold"/>
                  <a:ea typeface="Calibri (MS) Bold"/>
                  <a:cs typeface="Calibri (MS) Bold"/>
                  <a:sym typeface="Calibri (MS) Bold"/>
                </a:rPr>
                <a:t>Board Select</a:t>
              </a:r>
            </a:p>
          </p:txBody>
        </p:sp>
      </p:grpSp>
      <p:grpSp>
        <p:nvGrpSpPr>
          <p:cNvPr id="38" name="Group 38"/>
          <p:cNvGrpSpPr/>
          <p:nvPr/>
        </p:nvGrpSpPr>
        <p:grpSpPr>
          <a:xfrm>
            <a:off x="13053441" y="3974622"/>
            <a:ext cx="384048" cy="548640"/>
            <a:chOff x="0" y="0"/>
            <a:chExt cx="512064" cy="731520"/>
          </a:xfrm>
        </p:grpSpPr>
        <p:sp>
          <p:nvSpPr>
            <p:cNvPr id="39" name="Freeform 39"/>
            <p:cNvSpPr/>
            <p:nvPr/>
          </p:nvSpPr>
          <p:spPr>
            <a:xfrm>
              <a:off x="0" y="0"/>
              <a:ext cx="512064" cy="731520"/>
            </a:xfrm>
            <a:custGeom>
              <a:avLst/>
              <a:gdLst/>
              <a:ahLst/>
              <a:cxnLst/>
              <a:rect l="l" t="t" r="r" b="b"/>
              <a:pathLst>
                <a:path w="512064" h="731520">
                  <a:moveTo>
                    <a:pt x="0" y="0"/>
                  </a:moveTo>
                  <a:lnTo>
                    <a:pt x="512064" y="0"/>
                  </a:lnTo>
                  <a:lnTo>
                    <a:pt x="512064" y="731520"/>
                  </a:lnTo>
                  <a:lnTo>
                    <a:pt x="0" y="731520"/>
                  </a:lnTo>
                  <a:close/>
                </a:path>
              </a:pathLst>
            </a:custGeom>
            <a:blipFill>
              <a:blip r:embed="rId3">
                <a:alphaModFix amt="0"/>
              </a:blip>
              <a:stretch>
                <a:fillRect l="-133290" r="-133290"/>
              </a:stretch>
            </a:blipFill>
          </p:spPr>
          <p:txBody>
            <a:bodyPr/>
            <a:lstStyle/>
            <a:p>
              <a:endParaRPr lang="en-US"/>
            </a:p>
          </p:txBody>
        </p:sp>
        <p:sp>
          <p:nvSpPr>
            <p:cNvPr id="40" name="TextBox 40"/>
            <p:cNvSpPr txBox="1"/>
            <p:nvPr/>
          </p:nvSpPr>
          <p:spPr>
            <a:xfrm>
              <a:off x="0" y="-38100"/>
              <a:ext cx="512064" cy="769620"/>
            </a:xfrm>
            <a:prstGeom prst="rect">
              <a:avLst/>
            </a:prstGeom>
          </p:spPr>
          <p:txBody>
            <a:bodyPr lIns="0" tIns="0" rIns="0" bIns="0" rtlCol="0" anchor="ctr"/>
            <a:lstStyle/>
            <a:p>
              <a:pPr algn="ctr">
                <a:lnSpc>
                  <a:spcPts val="2879"/>
                </a:lnSpc>
              </a:pPr>
              <a:r>
                <a:rPr lang="en-US" sz="2400" b="1">
                  <a:solidFill>
                    <a:srgbClr val="93A9CF"/>
                  </a:solidFill>
                  <a:latin typeface="Calibri (MS) Bold"/>
                  <a:ea typeface="Calibri (MS) Bold"/>
                  <a:cs typeface="Calibri (MS) Bold"/>
                  <a:sym typeface="Calibri (MS) Bold"/>
                </a:rPr>
                <a:t>→</a:t>
              </a:r>
            </a:p>
          </p:txBody>
        </p:sp>
      </p:grpSp>
      <p:grpSp>
        <p:nvGrpSpPr>
          <p:cNvPr id="41" name="Group 41"/>
          <p:cNvGrpSpPr/>
          <p:nvPr/>
        </p:nvGrpSpPr>
        <p:grpSpPr>
          <a:xfrm>
            <a:off x="13427964" y="3581049"/>
            <a:ext cx="3790950" cy="1322070"/>
            <a:chOff x="0" y="0"/>
            <a:chExt cx="5054600" cy="1762760"/>
          </a:xfrm>
        </p:grpSpPr>
        <p:sp>
          <p:nvSpPr>
            <p:cNvPr id="42" name="Freeform 42"/>
            <p:cNvSpPr/>
            <p:nvPr/>
          </p:nvSpPr>
          <p:spPr>
            <a:xfrm>
              <a:off x="0" y="0"/>
              <a:ext cx="5054600" cy="1762760"/>
            </a:xfrm>
            <a:custGeom>
              <a:avLst/>
              <a:gdLst/>
              <a:ahLst/>
              <a:cxnLst/>
              <a:rect l="l" t="t" r="r" b="b"/>
              <a:pathLst>
                <a:path w="5054600" h="1762760">
                  <a:moveTo>
                    <a:pt x="0" y="185547"/>
                  </a:moveTo>
                  <a:cubicBezTo>
                    <a:pt x="0" y="83058"/>
                    <a:pt x="83058" y="0"/>
                    <a:pt x="185547" y="0"/>
                  </a:cubicBezTo>
                  <a:lnTo>
                    <a:pt x="4869053" y="0"/>
                  </a:lnTo>
                  <a:cubicBezTo>
                    <a:pt x="4971542" y="0"/>
                    <a:pt x="5054600" y="83058"/>
                    <a:pt x="5054600" y="185547"/>
                  </a:cubicBezTo>
                  <a:lnTo>
                    <a:pt x="5054600" y="1577213"/>
                  </a:lnTo>
                  <a:cubicBezTo>
                    <a:pt x="5054600" y="1679702"/>
                    <a:pt x="4971542" y="1762760"/>
                    <a:pt x="4869053" y="1762760"/>
                  </a:cubicBezTo>
                  <a:lnTo>
                    <a:pt x="185547" y="1762760"/>
                  </a:lnTo>
                  <a:cubicBezTo>
                    <a:pt x="83058" y="1762760"/>
                    <a:pt x="0" y="1679702"/>
                    <a:pt x="0" y="1577213"/>
                  </a:cubicBezTo>
                  <a:close/>
                </a:path>
              </a:pathLst>
            </a:custGeom>
            <a:solidFill>
              <a:srgbClr val="FAFAF8"/>
            </a:solidFill>
            <a:ln w="19050" cap="sq">
              <a:solidFill>
                <a:srgbClr val="E4E0D6"/>
              </a:solidFill>
              <a:prstDash val="solid"/>
              <a:miter/>
            </a:ln>
          </p:spPr>
          <p:txBody>
            <a:bodyPr/>
            <a:lstStyle/>
            <a:p>
              <a:endParaRPr lang="en-US"/>
            </a:p>
          </p:txBody>
        </p:sp>
      </p:grpSp>
      <p:grpSp>
        <p:nvGrpSpPr>
          <p:cNvPr id="43" name="Group 43"/>
          <p:cNvGrpSpPr/>
          <p:nvPr/>
        </p:nvGrpSpPr>
        <p:grpSpPr>
          <a:xfrm>
            <a:off x="13643229" y="3700302"/>
            <a:ext cx="685800" cy="548640"/>
            <a:chOff x="0" y="0"/>
            <a:chExt cx="914400" cy="731520"/>
          </a:xfrm>
        </p:grpSpPr>
        <p:sp>
          <p:nvSpPr>
            <p:cNvPr id="44" name="Freeform 44"/>
            <p:cNvSpPr/>
            <p:nvPr/>
          </p:nvSpPr>
          <p:spPr>
            <a:xfrm>
              <a:off x="0" y="0"/>
              <a:ext cx="914400" cy="731520"/>
            </a:xfrm>
            <a:custGeom>
              <a:avLst/>
              <a:gdLst/>
              <a:ahLst/>
              <a:cxnLst/>
              <a:rect l="l" t="t" r="r" b="b"/>
              <a:pathLst>
                <a:path w="914400" h="731520">
                  <a:moveTo>
                    <a:pt x="0" y="0"/>
                  </a:moveTo>
                  <a:lnTo>
                    <a:pt x="914400" y="0"/>
                  </a:lnTo>
                  <a:lnTo>
                    <a:pt x="914400" y="731520"/>
                  </a:lnTo>
                  <a:lnTo>
                    <a:pt x="0" y="731520"/>
                  </a:lnTo>
                  <a:close/>
                </a:path>
              </a:pathLst>
            </a:custGeom>
            <a:blipFill>
              <a:blip r:embed="rId3">
                <a:alphaModFix amt="0"/>
              </a:blip>
              <a:stretch>
                <a:fillRect l="-52642" r="-52642"/>
              </a:stretch>
            </a:blipFill>
          </p:spPr>
          <p:txBody>
            <a:bodyPr/>
            <a:lstStyle/>
            <a:p>
              <a:endParaRPr lang="en-US"/>
            </a:p>
          </p:txBody>
        </p:sp>
        <p:sp>
          <p:nvSpPr>
            <p:cNvPr id="45" name="TextBox 45"/>
            <p:cNvSpPr txBox="1"/>
            <p:nvPr/>
          </p:nvSpPr>
          <p:spPr>
            <a:xfrm>
              <a:off x="0" y="-47625"/>
              <a:ext cx="914400" cy="779145"/>
            </a:xfrm>
            <a:prstGeom prst="rect">
              <a:avLst/>
            </a:prstGeom>
          </p:spPr>
          <p:txBody>
            <a:bodyPr lIns="0" tIns="0" rIns="0" bIns="0" rtlCol="0" anchor="ctr"/>
            <a:lstStyle/>
            <a:p>
              <a:pPr algn="l">
                <a:lnSpc>
                  <a:spcPts val="2340"/>
                </a:lnSpc>
              </a:pPr>
              <a:r>
                <a:rPr lang="en-US" sz="1950" b="1">
                  <a:solidFill>
                    <a:srgbClr val="93A9CF"/>
                  </a:solidFill>
                  <a:latin typeface="Calibri (MS) Bold"/>
                  <a:ea typeface="Calibri (MS) Bold"/>
                  <a:cs typeface="Calibri (MS) Bold"/>
                  <a:sym typeface="Calibri (MS) Bold"/>
                </a:rPr>
                <a:t>4</a:t>
              </a:r>
            </a:p>
          </p:txBody>
        </p:sp>
      </p:grpSp>
      <p:grpSp>
        <p:nvGrpSpPr>
          <p:cNvPr id="46" name="Group 46"/>
          <p:cNvGrpSpPr/>
          <p:nvPr/>
        </p:nvGrpSpPr>
        <p:grpSpPr>
          <a:xfrm>
            <a:off x="13643229" y="4111782"/>
            <a:ext cx="3360420" cy="685800"/>
            <a:chOff x="0" y="0"/>
            <a:chExt cx="4480560" cy="914400"/>
          </a:xfrm>
        </p:grpSpPr>
        <p:sp>
          <p:nvSpPr>
            <p:cNvPr id="47" name="Freeform 47"/>
            <p:cNvSpPr/>
            <p:nvPr/>
          </p:nvSpPr>
          <p:spPr>
            <a:xfrm>
              <a:off x="0" y="0"/>
              <a:ext cx="4480560" cy="914400"/>
            </a:xfrm>
            <a:custGeom>
              <a:avLst/>
              <a:gdLst/>
              <a:ahLst/>
              <a:cxnLst/>
              <a:rect l="l" t="t" r="r" b="b"/>
              <a:pathLst>
                <a:path w="4480560" h="914400">
                  <a:moveTo>
                    <a:pt x="0" y="0"/>
                  </a:moveTo>
                  <a:lnTo>
                    <a:pt x="4480560" y="0"/>
                  </a:lnTo>
                  <a:lnTo>
                    <a:pt x="4480560" y="914400"/>
                  </a:lnTo>
                  <a:lnTo>
                    <a:pt x="0" y="914400"/>
                  </a:lnTo>
                  <a:close/>
                </a:path>
              </a:pathLst>
            </a:custGeom>
            <a:blipFill>
              <a:blip r:embed="rId3">
                <a:alphaModFix amt="0"/>
              </a:blip>
              <a:stretch>
                <a:fillRect t="-45476" b="-45476"/>
              </a:stretch>
            </a:blipFill>
          </p:spPr>
          <p:txBody>
            <a:bodyPr/>
            <a:lstStyle/>
            <a:p>
              <a:endParaRPr lang="en-US"/>
            </a:p>
          </p:txBody>
        </p:sp>
        <p:sp>
          <p:nvSpPr>
            <p:cNvPr id="48" name="TextBox 48"/>
            <p:cNvSpPr txBox="1"/>
            <p:nvPr/>
          </p:nvSpPr>
          <p:spPr>
            <a:xfrm>
              <a:off x="0" y="-38100"/>
              <a:ext cx="4480560" cy="952500"/>
            </a:xfrm>
            <a:prstGeom prst="rect">
              <a:avLst/>
            </a:prstGeom>
          </p:spPr>
          <p:txBody>
            <a:bodyPr lIns="0" tIns="0" rIns="0" bIns="0" rtlCol="0" anchor="ctr"/>
            <a:lstStyle/>
            <a:p>
              <a:pPr algn="l">
                <a:lnSpc>
                  <a:spcPts val="2250"/>
                </a:lnSpc>
              </a:pPr>
              <a:r>
                <a:rPr lang="en-US" sz="1950" b="1">
                  <a:solidFill>
                    <a:srgbClr val="1A1A1A"/>
                  </a:solidFill>
                  <a:latin typeface="Calibri (MS) Bold"/>
                  <a:ea typeface="Calibri (MS) Bold"/>
                  <a:cs typeface="Calibri (MS) Bold"/>
                  <a:sym typeface="Calibri (MS) Bold"/>
                </a:rPr>
                <a:t>Post Confirm</a:t>
              </a:r>
            </a:p>
          </p:txBody>
        </p:sp>
      </p:grpSp>
      <p:grpSp>
        <p:nvGrpSpPr>
          <p:cNvPr id="49" name="Group 49"/>
          <p:cNvGrpSpPr/>
          <p:nvPr/>
        </p:nvGrpSpPr>
        <p:grpSpPr>
          <a:xfrm>
            <a:off x="960120" y="5569869"/>
            <a:ext cx="5025390" cy="1322070"/>
            <a:chOff x="0" y="0"/>
            <a:chExt cx="6700520" cy="1762760"/>
          </a:xfrm>
        </p:grpSpPr>
        <p:sp>
          <p:nvSpPr>
            <p:cNvPr id="50" name="Freeform 50"/>
            <p:cNvSpPr/>
            <p:nvPr/>
          </p:nvSpPr>
          <p:spPr>
            <a:xfrm>
              <a:off x="0" y="0"/>
              <a:ext cx="6700520" cy="1762760"/>
            </a:xfrm>
            <a:custGeom>
              <a:avLst/>
              <a:gdLst/>
              <a:ahLst/>
              <a:cxnLst/>
              <a:rect l="l" t="t" r="r" b="b"/>
              <a:pathLst>
                <a:path w="6700520" h="1762760">
                  <a:moveTo>
                    <a:pt x="0" y="185547"/>
                  </a:moveTo>
                  <a:cubicBezTo>
                    <a:pt x="0" y="83058"/>
                    <a:pt x="83058" y="0"/>
                    <a:pt x="185547" y="0"/>
                  </a:cubicBezTo>
                  <a:lnTo>
                    <a:pt x="6514973" y="0"/>
                  </a:lnTo>
                  <a:cubicBezTo>
                    <a:pt x="6617462" y="0"/>
                    <a:pt x="6700520" y="83058"/>
                    <a:pt x="6700520" y="185547"/>
                  </a:cubicBezTo>
                  <a:lnTo>
                    <a:pt x="6700520" y="1577213"/>
                  </a:lnTo>
                  <a:cubicBezTo>
                    <a:pt x="6700520" y="1679702"/>
                    <a:pt x="6617462" y="1762760"/>
                    <a:pt x="6514973" y="1762760"/>
                  </a:cubicBezTo>
                  <a:lnTo>
                    <a:pt x="185547" y="1762760"/>
                  </a:lnTo>
                  <a:cubicBezTo>
                    <a:pt x="83058" y="1762760"/>
                    <a:pt x="0" y="1679702"/>
                    <a:pt x="0" y="1577213"/>
                  </a:cubicBezTo>
                  <a:close/>
                </a:path>
              </a:pathLst>
            </a:custGeom>
            <a:solidFill>
              <a:srgbClr val="FAFAF8"/>
            </a:solidFill>
            <a:ln w="19050" cap="sq">
              <a:solidFill>
                <a:srgbClr val="E4E0D6"/>
              </a:solidFill>
              <a:prstDash val="solid"/>
              <a:miter/>
            </a:ln>
          </p:spPr>
          <p:txBody>
            <a:bodyPr/>
            <a:lstStyle/>
            <a:p>
              <a:endParaRPr lang="en-US"/>
            </a:p>
          </p:txBody>
        </p:sp>
      </p:grpSp>
      <p:grpSp>
        <p:nvGrpSpPr>
          <p:cNvPr id="51" name="Group 51"/>
          <p:cNvGrpSpPr/>
          <p:nvPr/>
        </p:nvGrpSpPr>
        <p:grpSpPr>
          <a:xfrm>
            <a:off x="1175385" y="5689122"/>
            <a:ext cx="685800" cy="548640"/>
            <a:chOff x="0" y="0"/>
            <a:chExt cx="914400" cy="731520"/>
          </a:xfrm>
        </p:grpSpPr>
        <p:sp>
          <p:nvSpPr>
            <p:cNvPr id="52" name="Freeform 52"/>
            <p:cNvSpPr/>
            <p:nvPr/>
          </p:nvSpPr>
          <p:spPr>
            <a:xfrm>
              <a:off x="0" y="0"/>
              <a:ext cx="914400" cy="731520"/>
            </a:xfrm>
            <a:custGeom>
              <a:avLst/>
              <a:gdLst/>
              <a:ahLst/>
              <a:cxnLst/>
              <a:rect l="l" t="t" r="r" b="b"/>
              <a:pathLst>
                <a:path w="914400" h="731520">
                  <a:moveTo>
                    <a:pt x="0" y="0"/>
                  </a:moveTo>
                  <a:lnTo>
                    <a:pt x="914400" y="0"/>
                  </a:lnTo>
                  <a:lnTo>
                    <a:pt x="914400" y="731520"/>
                  </a:lnTo>
                  <a:lnTo>
                    <a:pt x="0" y="731520"/>
                  </a:lnTo>
                  <a:close/>
                </a:path>
              </a:pathLst>
            </a:custGeom>
            <a:blipFill>
              <a:blip r:embed="rId3">
                <a:alphaModFix amt="0"/>
              </a:blip>
              <a:stretch>
                <a:fillRect l="-52642" r="-52642"/>
              </a:stretch>
            </a:blipFill>
          </p:spPr>
          <p:txBody>
            <a:bodyPr/>
            <a:lstStyle/>
            <a:p>
              <a:endParaRPr lang="en-US"/>
            </a:p>
          </p:txBody>
        </p:sp>
        <p:sp>
          <p:nvSpPr>
            <p:cNvPr id="53" name="TextBox 53"/>
            <p:cNvSpPr txBox="1"/>
            <p:nvPr/>
          </p:nvSpPr>
          <p:spPr>
            <a:xfrm>
              <a:off x="0" y="-47625"/>
              <a:ext cx="914400" cy="779145"/>
            </a:xfrm>
            <a:prstGeom prst="rect">
              <a:avLst/>
            </a:prstGeom>
          </p:spPr>
          <p:txBody>
            <a:bodyPr lIns="0" tIns="0" rIns="0" bIns="0" rtlCol="0" anchor="ctr"/>
            <a:lstStyle/>
            <a:p>
              <a:pPr algn="l">
                <a:lnSpc>
                  <a:spcPts val="2340"/>
                </a:lnSpc>
              </a:pPr>
              <a:r>
                <a:rPr lang="en-US" sz="1950" b="1">
                  <a:solidFill>
                    <a:srgbClr val="93A9CF"/>
                  </a:solidFill>
                  <a:latin typeface="Calibri (MS) Bold"/>
                  <a:ea typeface="Calibri (MS) Bold"/>
                  <a:cs typeface="Calibri (MS) Bold"/>
                  <a:sym typeface="Calibri (MS) Bold"/>
                </a:rPr>
                <a:t>5</a:t>
              </a:r>
            </a:p>
          </p:txBody>
        </p:sp>
      </p:grpSp>
      <p:grpSp>
        <p:nvGrpSpPr>
          <p:cNvPr id="54" name="Group 54"/>
          <p:cNvGrpSpPr/>
          <p:nvPr/>
        </p:nvGrpSpPr>
        <p:grpSpPr>
          <a:xfrm>
            <a:off x="1175385" y="6100602"/>
            <a:ext cx="4594860" cy="685800"/>
            <a:chOff x="0" y="0"/>
            <a:chExt cx="6126480" cy="914400"/>
          </a:xfrm>
        </p:grpSpPr>
        <p:sp>
          <p:nvSpPr>
            <p:cNvPr id="55" name="Freeform 55"/>
            <p:cNvSpPr/>
            <p:nvPr/>
          </p:nvSpPr>
          <p:spPr>
            <a:xfrm>
              <a:off x="0" y="0"/>
              <a:ext cx="6126480" cy="914400"/>
            </a:xfrm>
            <a:custGeom>
              <a:avLst/>
              <a:gdLst/>
              <a:ahLst/>
              <a:cxnLst/>
              <a:rect l="l" t="t" r="r" b="b"/>
              <a:pathLst>
                <a:path w="6126480" h="914400">
                  <a:moveTo>
                    <a:pt x="0" y="0"/>
                  </a:moveTo>
                  <a:lnTo>
                    <a:pt x="6126480" y="0"/>
                  </a:lnTo>
                  <a:lnTo>
                    <a:pt x="6126480" y="914400"/>
                  </a:lnTo>
                  <a:lnTo>
                    <a:pt x="0" y="914400"/>
                  </a:lnTo>
                  <a:close/>
                </a:path>
              </a:pathLst>
            </a:custGeom>
            <a:blipFill>
              <a:blip r:embed="rId3">
                <a:alphaModFix amt="0"/>
              </a:blip>
              <a:stretch>
                <a:fillRect t="-80549" b="-80549"/>
              </a:stretch>
            </a:blipFill>
          </p:spPr>
          <p:txBody>
            <a:bodyPr/>
            <a:lstStyle/>
            <a:p>
              <a:endParaRPr lang="en-US"/>
            </a:p>
          </p:txBody>
        </p:sp>
        <p:sp>
          <p:nvSpPr>
            <p:cNvPr id="56" name="TextBox 56"/>
            <p:cNvSpPr txBox="1"/>
            <p:nvPr/>
          </p:nvSpPr>
          <p:spPr>
            <a:xfrm>
              <a:off x="0" y="-38100"/>
              <a:ext cx="6126480" cy="952500"/>
            </a:xfrm>
            <a:prstGeom prst="rect">
              <a:avLst/>
            </a:prstGeom>
          </p:spPr>
          <p:txBody>
            <a:bodyPr lIns="0" tIns="0" rIns="0" bIns="0" rtlCol="0" anchor="ctr"/>
            <a:lstStyle/>
            <a:p>
              <a:pPr algn="l">
                <a:lnSpc>
                  <a:spcPts val="2250"/>
                </a:lnSpc>
              </a:pPr>
              <a:r>
                <a:rPr lang="en-US" sz="1950" b="1">
                  <a:solidFill>
                    <a:srgbClr val="1A1A1A"/>
                  </a:solidFill>
                  <a:latin typeface="Calibri (MS) Bold"/>
                  <a:ea typeface="Calibri (MS) Bold"/>
                  <a:cs typeface="Calibri (MS) Bold"/>
                  <a:sym typeface="Calibri (MS) Bold"/>
                </a:rPr>
                <a:t>Capsule / Board Detail</a:t>
              </a:r>
            </a:p>
          </p:txBody>
        </p:sp>
      </p:grpSp>
      <p:grpSp>
        <p:nvGrpSpPr>
          <p:cNvPr id="57" name="Group 57"/>
          <p:cNvGrpSpPr/>
          <p:nvPr/>
        </p:nvGrpSpPr>
        <p:grpSpPr>
          <a:xfrm>
            <a:off x="5975985" y="5963442"/>
            <a:ext cx="480060" cy="548640"/>
            <a:chOff x="0" y="0"/>
            <a:chExt cx="640080" cy="731520"/>
          </a:xfrm>
        </p:grpSpPr>
        <p:sp>
          <p:nvSpPr>
            <p:cNvPr id="58" name="Freeform 58"/>
            <p:cNvSpPr/>
            <p:nvPr/>
          </p:nvSpPr>
          <p:spPr>
            <a:xfrm>
              <a:off x="0" y="0"/>
              <a:ext cx="640080" cy="731520"/>
            </a:xfrm>
            <a:custGeom>
              <a:avLst/>
              <a:gdLst/>
              <a:ahLst/>
              <a:cxnLst/>
              <a:rect l="l" t="t" r="r" b="b"/>
              <a:pathLst>
                <a:path w="640080" h="731520">
                  <a:moveTo>
                    <a:pt x="0" y="0"/>
                  </a:moveTo>
                  <a:lnTo>
                    <a:pt x="640080" y="0"/>
                  </a:lnTo>
                  <a:lnTo>
                    <a:pt x="640080" y="731520"/>
                  </a:lnTo>
                  <a:lnTo>
                    <a:pt x="0" y="731520"/>
                  </a:lnTo>
                  <a:close/>
                </a:path>
              </a:pathLst>
            </a:custGeom>
            <a:blipFill>
              <a:blip r:embed="rId3">
                <a:alphaModFix amt="0"/>
              </a:blip>
              <a:stretch>
                <a:fillRect l="-96632" r="-96632"/>
              </a:stretch>
            </a:blipFill>
          </p:spPr>
          <p:txBody>
            <a:bodyPr/>
            <a:lstStyle/>
            <a:p>
              <a:endParaRPr lang="en-US"/>
            </a:p>
          </p:txBody>
        </p:sp>
        <p:sp>
          <p:nvSpPr>
            <p:cNvPr id="59" name="TextBox 59"/>
            <p:cNvSpPr txBox="1"/>
            <p:nvPr/>
          </p:nvSpPr>
          <p:spPr>
            <a:xfrm>
              <a:off x="0" y="-38100"/>
              <a:ext cx="640080" cy="769620"/>
            </a:xfrm>
            <a:prstGeom prst="rect">
              <a:avLst/>
            </a:prstGeom>
          </p:spPr>
          <p:txBody>
            <a:bodyPr lIns="0" tIns="0" rIns="0" bIns="0" rtlCol="0" anchor="ctr"/>
            <a:lstStyle/>
            <a:p>
              <a:pPr algn="ctr">
                <a:lnSpc>
                  <a:spcPts val="2879"/>
                </a:lnSpc>
              </a:pPr>
              <a:r>
                <a:rPr lang="en-US" sz="2400" b="1">
                  <a:solidFill>
                    <a:srgbClr val="93A9CF"/>
                  </a:solidFill>
                  <a:latin typeface="Calibri (MS) Bold"/>
                  <a:ea typeface="Calibri (MS) Bold"/>
                  <a:cs typeface="Calibri (MS) Bold"/>
                  <a:sym typeface="Calibri (MS) Bold"/>
                </a:rPr>
                <a:t>→</a:t>
              </a:r>
            </a:p>
          </p:txBody>
        </p:sp>
      </p:grpSp>
      <p:grpSp>
        <p:nvGrpSpPr>
          <p:cNvPr id="60" name="Group 60"/>
          <p:cNvGrpSpPr/>
          <p:nvPr/>
        </p:nvGrpSpPr>
        <p:grpSpPr>
          <a:xfrm>
            <a:off x="6446520" y="5569869"/>
            <a:ext cx="5025390" cy="1322070"/>
            <a:chOff x="0" y="0"/>
            <a:chExt cx="6700520" cy="1762760"/>
          </a:xfrm>
        </p:grpSpPr>
        <p:sp>
          <p:nvSpPr>
            <p:cNvPr id="61" name="Freeform 61"/>
            <p:cNvSpPr/>
            <p:nvPr/>
          </p:nvSpPr>
          <p:spPr>
            <a:xfrm>
              <a:off x="0" y="0"/>
              <a:ext cx="6700520" cy="1762760"/>
            </a:xfrm>
            <a:custGeom>
              <a:avLst/>
              <a:gdLst/>
              <a:ahLst/>
              <a:cxnLst/>
              <a:rect l="l" t="t" r="r" b="b"/>
              <a:pathLst>
                <a:path w="6700520" h="1762760">
                  <a:moveTo>
                    <a:pt x="0" y="185547"/>
                  </a:moveTo>
                  <a:cubicBezTo>
                    <a:pt x="0" y="83058"/>
                    <a:pt x="83058" y="0"/>
                    <a:pt x="185547" y="0"/>
                  </a:cubicBezTo>
                  <a:lnTo>
                    <a:pt x="6514973" y="0"/>
                  </a:lnTo>
                  <a:cubicBezTo>
                    <a:pt x="6617462" y="0"/>
                    <a:pt x="6700520" y="83058"/>
                    <a:pt x="6700520" y="185547"/>
                  </a:cubicBezTo>
                  <a:lnTo>
                    <a:pt x="6700520" y="1577213"/>
                  </a:lnTo>
                  <a:cubicBezTo>
                    <a:pt x="6700520" y="1679702"/>
                    <a:pt x="6617462" y="1762760"/>
                    <a:pt x="6514973" y="1762760"/>
                  </a:cubicBezTo>
                  <a:lnTo>
                    <a:pt x="185547" y="1762760"/>
                  </a:lnTo>
                  <a:cubicBezTo>
                    <a:pt x="83058" y="1762760"/>
                    <a:pt x="0" y="1679702"/>
                    <a:pt x="0" y="1577213"/>
                  </a:cubicBezTo>
                  <a:close/>
                </a:path>
              </a:pathLst>
            </a:custGeom>
            <a:solidFill>
              <a:srgbClr val="FAFAF8"/>
            </a:solidFill>
            <a:ln w="19050" cap="sq">
              <a:solidFill>
                <a:srgbClr val="E4E0D6"/>
              </a:solidFill>
              <a:prstDash val="solid"/>
              <a:miter/>
            </a:ln>
          </p:spPr>
          <p:txBody>
            <a:bodyPr/>
            <a:lstStyle/>
            <a:p>
              <a:endParaRPr lang="en-US"/>
            </a:p>
          </p:txBody>
        </p:sp>
      </p:grpSp>
      <p:grpSp>
        <p:nvGrpSpPr>
          <p:cNvPr id="62" name="Group 62"/>
          <p:cNvGrpSpPr/>
          <p:nvPr/>
        </p:nvGrpSpPr>
        <p:grpSpPr>
          <a:xfrm>
            <a:off x="6661785" y="5689122"/>
            <a:ext cx="685800" cy="548640"/>
            <a:chOff x="0" y="0"/>
            <a:chExt cx="914400" cy="731520"/>
          </a:xfrm>
        </p:grpSpPr>
        <p:sp>
          <p:nvSpPr>
            <p:cNvPr id="63" name="Freeform 63"/>
            <p:cNvSpPr/>
            <p:nvPr/>
          </p:nvSpPr>
          <p:spPr>
            <a:xfrm>
              <a:off x="0" y="0"/>
              <a:ext cx="914400" cy="731520"/>
            </a:xfrm>
            <a:custGeom>
              <a:avLst/>
              <a:gdLst/>
              <a:ahLst/>
              <a:cxnLst/>
              <a:rect l="l" t="t" r="r" b="b"/>
              <a:pathLst>
                <a:path w="914400" h="731520">
                  <a:moveTo>
                    <a:pt x="0" y="0"/>
                  </a:moveTo>
                  <a:lnTo>
                    <a:pt x="914400" y="0"/>
                  </a:lnTo>
                  <a:lnTo>
                    <a:pt x="914400" y="731520"/>
                  </a:lnTo>
                  <a:lnTo>
                    <a:pt x="0" y="731520"/>
                  </a:lnTo>
                  <a:close/>
                </a:path>
              </a:pathLst>
            </a:custGeom>
            <a:blipFill>
              <a:blip r:embed="rId3">
                <a:alphaModFix amt="0"/>
              </a:blip>
              <a:stretch>
                <a:fillRect l="-52642" r="-52642"/>
              </a:stretch>
            </a:blipFill>
          </p:spPr>
          <p:txBody>
            <a:bodyPr/>
            <a:lstStyle/>
            <a:p>
              <a:endParaRPr lang="en-US"/>
            </a:p>
          </p:txBody>
        </p:sp>
        <p:sp>
          <p:nvSpPr>
            <p:cNvPr id="64" name="TextBox 64"/>
            <p:cNvSpPr txBox="1"/>
            <p:nvPr/>
          </p:nvSpPr>
          <p:spPr>
            <a:xfrm>
              <a:off x="0" y="-47625"/>
              <a:ext cx="914400" cy="779145"/>
            </a:xfrm>
            <a:prstGeom prst="rect">
              <a:avLst/>
            </a:prstGeom>
          </p:spPr>
          <p:txBody>
            <a:bodyPr lIns="0" tIns="0" rIns="0" bIns="0" rtlCol="0" anchor="ctr"/>
            <a:lstStyle/>
            <a:p>
              <a:pPr algn="l">
                <a:lnSpc>
                  <a:spcPts val="2340"/>
                </a:lnSpc>
              </a:pPr>
              <a:r>
                <a:rPr lang="en-US" sz="1950" b="1">
                  <a:solidFill>
                    <a:srgbClr val="93A9CF"/>
                  </a:solidFill>
                  <a:latin typeface="Calibri (MS) Bold"/>
                  <a:ea typeface="Calibri (MS) Bold"/>
                  <a:cs typeface="Calibri (MS) Bold"/>
                  <a:sym typeface="Calibri (MS) Bold"/>
                </a:rPr>
                <a:t>6</a:t>
              </a:r>
            </a:p>
          </p:txBody>
        </p:sp>
      </p:grpSp>
      <p:grpSp>
        <p:nvGrpSpPr>
          <p:cNvPr id="65" name="Group 65"/>
          <p:cNvGrpSpPr/>
          <p:nvPr/>
        </p:nvGrpSpPr>
        <p:grpSpPr>
          <a:xfrm>
            <a:off x="6661785" y="6100602"/>
            <a:ext cx="4594860" cy="685800"/>
            <a:chOff x="0" y="0"/>
            <a:chExt cx="6126480" cy="914400"/>
          </a:xfrm>
        </p:grpSpPr>
        <p:sp>
          <p:nvSpPr>
            <p:cNvPr id="66" name="Freeform 66"/>
            <p:cNvSpPr/>
            <p:nvPr/>
          </p:nvSpPr>
          <p:spPr>
            <a:xfrm>
              <a:off x="0" y="0"/>
              <a:ext cx="6126480" cy="914400"/>
            </a:xfrm>
            <a:custGeom>
              <a:avLst/>
              <a:gdLst/>
              <a:ahLst/>
              <a:cxnLst/>
              <a:rect l="l" t="t" r="r" b="b"/>
              <a:pathLst>
                <a:path w="6126480" h="914400">
                  <a:moveTo>
                    <a:pt x="0" y="0"/>
                  </a:moveTo>
                  <a:lnTo>
                    <a:pt x="6126480" y="0"/>
                  </a:lnTo>
                  <a:lnTo>
                    <a:pt x="6126480" y="914400"/>
                  </a:lnTo>
                  <a:lnTo>
                    <a:pt x="0" y="914400"/>
                  </a:lnTo>
                  <a:close/>
                </a:path>
              </a:pathLst>
            </a:custGeom>
            <a:blipFill>
              <a:blip r:embed="rId3">
                <a:alphaModFix amt="0"/>
              </a:blip>
              <a:stretch>
                <a:fillRect t="-80549" b="-80549"/>
              </a:stretch>
            </a:blipFill>
          </p:spPr>
          <p:txBody>
            <a:bodyPr/>
            <a:lstStyle/>
            <a:p>
              <a:endParaRPr lang="en-US"/>
            </a:p>
          </p:txBody>
        </p:sp>
        <p:sp>
          <p:nvSpPr>
            <p:cNvPr id="67" name="TextBox 67"/>
            <p:cNvSpPr txBox="1"/>
            <p:nvPr/>
          </p:nvSpPr>
          <p:spPr>
            <a:xfrm>
              <a:off x="0" y="-38100"/>
              <a:ext cx="6126480" cy="952500"/>
            </a:xfrm>
            <a:prstGeom prst="rect">
              <a:avLst/>
            </a:prstGeom>
          </p:spPr>
          <p:txBody>
            <a:bodyPr lIns="0" tIns="0" rIns="0" bIns="0" rtlCol="0" anchor="ctr"/>
            <a:lstStyle/>
            <a:p>
              <a:pPr algn="l">
                <a:lnSpc>
                  <a:spcPts val="2250"/>
                </a:lnSpc>
              </a:pPr>
              <a:r>
                <a:rPr lang="en-US" sz="1950" b="1">
                  <a:solidFill>
                    <a:srgbClr val="1A1A1A"/>
                  </a:solidFill>
                  <a:latin typeface="Calibri (MS) Bold"/>
                  <a:ea typeface="Calibri (MS) Bold"/>
                  <a:cs typeface="Calibri (MS) Bold"/>
                  <a:sym typeface="Calibri (MS) Bold"/>
                </a:rPr>
                <a:t>Passport &amp; Leaderboard</a:t>
              </a:r>
            </a:p>
          </p:txBody>
        </p:sp>
      </p:grpSp>
      <p:grpSp>
        <p:nvGrpSpPr>
          <p:cNvPr id="68" name="Group 68"/>
          <p:cNvGrpSpPr/>
          <p:nvPr/>
        </p:nvGrpSpPr>
        <p:grpSpPr>
          <a:xfrm>
            <a:off x="11462385" y="5963442"/>
            <a:ext cx="480060" cy="548640"/>
            <a:chOff x="0" y="0"/>
            <a:chExt cx="640080" cy="731520"/>
          </a:xfrm>
        </p:grpSpPr>
        <p:sp>
          <p:nvSpPr>
            <p:cNvPr id="69" name="Freeform 69"/>
            <p:cNvSpPr/>
            <p:nvPr/>
          </p:nvSpPr>
          <p:spPr>
            <a:xfrm>
              <a:off x="0" y="0"/>
              <a:ext cx="640080" cy="731520"/>
            </a:xfrm>
            <a:custGeom>
              <a:avLst/>
              <a:gdLst/>
              <a:ahLst/>
              <a:cxnLst/>
              <a:rect l="l" t="t" r="r" b="b"/>
              <a:pathLst>
                <a:path w="640080" h="731520">
                  <a:moveTo>
                    <a:pt x="0" y="0"/>
                  </a:moveTo>
                  <a:lnTo>
                    <a:pt x="640080" y="0"/>
                  </a:lnTo>
                  <a:lnTo>
                    <a:pt x="640080" y="731520"/>
                  </a:lnTo>
                  <a:lnTo>
                    <a:pt x="0" y="731520"/>
                  </a:lnTo>
                  <a:close/>
                </a:path>
              </a:pathLst>
            </a:custGeom>
            <a:blipFill>
              <a:blip r:embed="rId3">
                <a:alphaModFix amt="0"/>
              </a:blip>
              <a:stretch>
                <a:fillRect l="-96632" r="-96632"/>
              </a:stretch>
            </a:blipFill>
          </p:spPr>
          <p:txBody>
            <a:bodyPr/>
            <a:lstStyle/>
            <a:p>
              <a:endParaRPr lang="en-US"/>
            </a:p>
          </p:txBody>
        </p:sp>
        <p:sp>
          <p:nvSpPr>
            <p:cNvPr id="70" name="TextBox 70"/>
            <p:cNvSpPr txBox="1"/>
            <p:nvPr/>
          </p:nvSpPr>
          <p:spPr>
            <a:xfrm>
              <a:off x="0" y="-38100"/>
              <a:ext cx="640080" cy="769620"/>
            </a:xfrm>
            <a:prstGeom prst="rect">
              <a:avLst/>
            </a:prstGeom>
          </p:spPr>
          <p:txBody>
            <a:bodyPr lIns="0" tIns="0" rIns="0" bIns="0" rtlCol="0" anchor="ctr"/>
            <a:lstStyle/>
            <a:p>
              <a:pPr algn="ctr">
                <a:lnSpc>
                  <a:spcPts val="2879"/>
                </a:lnSpc>
              </a:pPr>
              <a:r>
                <a:rPr lang="en-US" sz="2400" b="1">
                  <a:solidFill>
                    <a:srgbClr val="93A9CF"/>
                  </a:solidFill>
                  <a:latin typeface="Calibri (MS) Bold"/>
                  <a:ea typeface="Calibri (MS) Bold"/>
                  <a:cs typeface="Calibri (MS) Bold"/>
                  <a:sym typeface="Calibri (MS) Bold"/>
                </a:rPr>
                <a:t>→</a:t>
              </a:r>
            </a:p>
          </p:txBody>
        </p:sp>
      </p:grpSp>
      <p:grpSp>
        <p:nvGrpSpPr>
          <p:cNvPr id="71" name="Group 71"/>
          <p:cNvGrpSpPr/>
          <p:nvPr/>
        </p:nvGrpSpPr>
        <p:grpSpPr>
          <a:xfrm>
            <a:off x="11932920" y="5569869"/>
            <a:ext cx="5025390" cy="1322070"/>
            <a:chOff x="0" y="0"/>
            <a:chExt cx="6700520" cy="1762760"/>
          </a:xfrm>
        </p:grpSpPr>
        <p:sp>
          <p:nvSpPr>
            <p:cNvPr id="72" name="Freeform 72"/>
            <p:cNvSpPr/>
            <p:nvPr/>
          </p:nvSpPr>
          <p:spPr>
            <a:xfrm>
              <a:off x="0" y="0"/>
              <a:ext cx="6700520" cy="1762760"/>
            </a:xfrm>
            <a:custGeom>
              <a:avLst/>
              <a:gdLst/>
              <a:ahLst/>
              <a:cxnLst/>
              <a:rect l="l" t="t" r="r" b="b"/>
              <a:pathLst>
                <a:path w="6700520" h="1762760">
                  <a:moveTo>
                    <a:pt x="0" y="185547"/>
                  </a:moveTo>
                  <a:cubicBezTo>
                    <a:pt x="0" y="83058"/>
                    <a:pt x="83058" y="0"/>
                    <a:pt x="185547" y="0"/>
                  </a:cubicBezTo>
                  <a:lnTo>
                    <a:pt x="6514973" y="0"/>
                  </a:lnTo>
                  <a:cubicBezTo>
                    <a:pt x="6617462" y="0"/>
                    <a:pt x="6700520" y="83058"/>
                    <a:pt x="6700520" y="185547"/>
                  </a:cubicBezTo>
                  <a:lnTo>
                    <a:pt x="6700520" y="1577213"/>
                  </a:lnTo>
                  <a:cubicBezTo>
                    <a:pt x="6700520" y="1679702"/>
                    <a:pt x="6617462" y="1762760"/>
                    <a:pt x="6514973" y="1762760"/>
                  </a:cubicBezTo>
                  <a:lnTo>
                    <a:pt x="185547" y="1762760"/>
                  </a:lnTo>
                  <a:cubicBezTo>
                    <a:pt x="83058" y="1762760"/>
                    <a:pt x="0" y="1679702"/>
                    <a:pt x="0" y="1577213"/>
                  </a:cubicBezTo>
                  <a:close/>
                </a:path>
              </a:pathLst>
            </a:custGeom>
            <a:solidFill>
              <a:srgbClr val="FAFAF8"/>
            </a:solidFill>
            <a:ln w="19050" cap="sq">
              <a:solidFill>
                <a:srgbClr val="E4E0D6"/>
              </a:solidFill>
              <a:prstDash val="solid"/>
              <a:miter/>
            </a:ln>
          </p:spPr>
          <p:txBody>
            <a:bodyPr/>
            <a:lstStyle/>
            <a:p>
              <a:endParaRPr lang="en-US"/>
            </a:p>
          </p:txBody>
        </p:sp>
      </p:grpSp>
      <p:grpSp>
        <p:nvGrpSpPr>
          <p:cNvPr id="73" name="Group 73"/>
          <p:cNvGrpSpPr/>
          <p:nvPr/>
        </p:nvGrpSpPr>
        <p:grpSpPr>
          <a:xfrm>
            <a:off x="12148185" y="5689122"/>
            <a:ext cx="685800" cy="548640"/>
            <a:chOff x="0" y="0"/>
            <a:chExt cx="914400" cy="731520"/>
          </a:xfrm>
        </p:grpSpPr>
        <p:sp>
          <p:nvSpPr>
            <p:cNvPr id="74" name="Freeform 74"/>
            <p:cNvSpPr/>
            <p:nvPr/>
          </p:nvSpPr>
          <p:spPr>
            <a:xfrm>
              <a:off x="0" y="0"/>
              <a:ext cx="914400" cy="731520"/>
            </a:xfrm>
            <a:custGeom>
              <a:avLst/>
              <a:gdLst/>
              <a:ahLst/>
              <a:cxnLst/>
              <a:rect l="l" t="t" r="r" b="b"/>
              <a:pathLst>
                <a:path w="914400" h="731520">
                  <a:moveTo>
                    <a:pt x="0" y="0"/>
                  </a:moveTo>
                  <a:lnTo>
                    <a:pt x="914400" y="0"/>
                  </a:lnTo>
                  <a:lnTo>
                    <a:pt x="914400" y="731520"/>
                  </a:lnTo>
                  <a:lnTo>
                    <a:pt x="0" y="731520"/>
                  </a:lnTo>
                  <a:close/>
                </a:path>
              </a:pathLst>
            </a:custGeom>
            <a:blipFill>
              <a:blip r:embed="rId3">
                <a:alphaModFix amt="0"/>
              </a:blip>
              <a:stretch>
                <a:fillRect l="-52642" r="-52642"/>
              </a:stretch>
            </a:blipFill>
          </p:spPr>
          <p:txBody>
            <a:bodyPr/>
            <a:lstStyle/>
            <a:p>
              <a:endParaRPr lang="en-US"/>
            </a:p>
          </p:txBody>
        </p:sp>
        <p:sp>
          <p:nvSpPr>
            <p:cNvPr id="75" name="TextBox 75"/>
            <p:cNvSpPr txBox="1"/>
            <p:nvPr/>
          </p:nvSpPr>
          <p:spPr>
            <a:xfrm>
              <a:off x="0" y="-47625"/>
              <a:ext cx="914400" cy="779145"/>
            </a:xfrm>
            <a:prstGeom prst="rect">
              <a:avLst/>
            </a:prstGeom>
          </p:spPr>
          <p:txBody>
            <a:bodyPr lIns="0" tIns="0" rIns="0" bIns="0" rtlCol="0" anchor="ctr"/>
            <a:lstStyle/>
            <a:p>
              <a:pPr algn="l">
                <a:lnSpc>
                  <a:spcPts val="2340"/>
                </a:lnSpc>
              </a:pPr>
              <a:r>
                <a:rPr lang="en-US" sz="1950" b="1">
                  <a:solidFill>
                    <a:srgbClr val="93A9CF"/>
                  </a:solidFill>
                  <a:latin typeface="Calibri (MS) Bold"/>
                  <a:ea typeface="Calibri (MS) Bold"/>
                  <a:cs typeface="Calibri (MS) Bold"/>
                  <a:sym typeface="Calibri (MS) Bold"/>
                </a:rPr>
                <a:t>7</a:t>
              </a:r>
            </a:p>
          </p:txBody>
        </p:sp>
      </p:grpSp>
      <p:grpSp>
        <p:nvGrpSpPr>
          <p:cNvPr id="76" name="Group 76"/>
          <p:cNvGrpSpPr/>
          <p:nvPr/>
        </p:nvGrpSpPr>
        <p:grpSpPr>
          <a:xfrm>
            <a:off x="12148185" y="6100602"/>
            <a:ext cx="4594860" cy="685800"/>
            <a:chOff x="0" y="0"/>
            <a:chExt cx="6126480" cy="914400"/>
          </a:xfrm>
        </p:grpSpPr>
        <p:sp>
          <p:nvSpPr>
            <p:cNvPr id="77" name="Freeform 77"/>
            <p:cNvSpPr/>
            <p:nvPr/>
          </p:nvSpPr>
          <p:spPr>
            <a:xfrm>
              <a:off x="0" y="0"/>
              <a:ext cx="6126480" cy="914400"/>
            </a:xfrm>
            <a:custGeom>
              <a:avLst/>
              <a:gdLst/>
              <a:ahLst/>
              <a:cxnLst/>
              <a:rect l="l" t="t" r="r" b="b"/>
              <a:pathLst>
                <a:path w="6126480" h="914400">
                  <a:moveTo>
                    <a:pt x="0" y="0"/>
                  </a:moveTo>
                  <a:lnTo>
                    <a:pt x="6126480" y="0"/>
                  </a:lnTo>
                  <a:lnTo>
                    <a:pt x="6126480" y="914400"/>
                  </a:lnTo>
                  <a:lnTo>
                    <a:pt x="0" y="914400"/>
                  </a:lnTo>
                  <a:close/>
                </a:path>
              </a:pathLst>
            </a:custGeom>
            <a:blipFill>
              <a:blip r:embed="rId3">
                <a:alphaModFix amt="0"/>
              </a:blip>
              <a:stretch>
                <a:fillRect t="-80549" b="-80549"/>
              </a:stretch>
            </a:blipFill>
          </p:spPr>
          <p:txBody>
            <a:bodyPr/>
            <a:lstStyle/>
            <a:p>
              <a:endParaRPr lang="en-US"/>
            </a:p>
          </p:txBody>
        </p:sp>
        <p:sp>
          <p:nvSpPr>
            <p:cNvPr id="78" name="TextBox 78"/>
            <p:cNvSpPr txBox="1"/>
            <p:nvPr/>
          </p:nvSpPr>
          <p:spPr>
            <a:xfrm>
              <a:off x="0" y="-38100"/>
              <a:ext cx="6126480" cy="952500"/>
            </a:xfrm>
            <a:prstGeom prst="rect">
              <a:avLst/>
            </a:prstGeom>
          </p:spPr>
          <p:txBody>
            <a:bodyPr lIns="0" tIns="0" rIns="0" bIns="0" rtlCol="0" anchor="ctr"/>
            <a:lstStyle/>
            <a:p>
              <a:pPr algn="l">
                <a:lnSpc>
                  <a:spcPts val="2250"/>
                </a:lnSpc>
              </a:pPr>
              <a:r>
                <a:rPr lang="en-US" sz="1950" b="1">
                  <a:solidFill>
                    <a:srgbClr val="1A1A1A"/>
                  </a:solidFill>
                  <a:latin typeface="Calibri (MS) Bold"/>
                  <a:ea typeface="Calibri (MS) Bold"/>
                  <a:cs typeface="Calibri (MS) Bold"/>
                  <a:sym typeface="Calibri (MS) Bold"/>
                </a:rPr>
                <a:t>Settings / Opt-out</a:t>
              </a:r>
            </a:p>
          </p:txBody>
        </p:sp>
      </p:grpSp>
      <p:grpSp>
        <p:nvGrpSpPr>
          <p:cNvPr id="79" name="Group 79"/>
          <p:cNvGrpSpPr/>
          <p:nvPr/>
        </p:nvGrpSpPr>
        <p:grpSpPr>
          <a:xfrm>
            <a:off x="969645" y="7362474"/>
            <a:ext cx="15087600" cy="548640"/>
            <a:chOff x="0" y="0"/>
            <a:chExt cx="20116800" cy="731520"/>
          </a:xfrm>
        </p:grpSpPr>
        <p:sp>
          <p:nvSpPr>
            <p:cNvPr id="80" name="Freeform 80"/>
            <p:cNvSpPr/>
            <p:nvPr/>
          </p:nvSpPr>
          <p:spPr>
            <a:xfrm>
              <a:off x="0" y="0"/>
              <a:ext cx="20116800" cy="731520"/>
            </a:xfrm>
            <a:custGeom>
              <a:avLst/>
              <a:gdLst/>
              <a:ahLst/>
              <a:cxnLst/>
              <a:rect l="l" t="t" r="r" b="b"/>
              <a:pathLst>
                <a:path w="20116800" h="731520">
                  <a:moveTo>
                    <a:pt x="0" y="0"/>
                  </a:moveTo>
                  <a:lnTo>
                    <a:pt x="20116800" y="0"/>
                  </a:lnTo>
                  <a:lnTo>
                    <a:pt x="20116800" y="731520"/>
                  </a:lnTo>
                  <a:lnTo>
                    <a:pt x="0" y="731520"/>
                  </a:lnTo>
                  <a:close/>
                </a:path>
              </a:pathLst>
            </a:custGeom>
            <a:blipFill>
              <a:blip r:embed="rId3">
                <a:alphaModFix amt="0"/>
              </a:blip>
              <a:stretch>
                <a:fillRect t="-485838" b="-485838"/>
              </a:stretch>
            </a:blipFill>
          </p:spPr>
          <p:txBody>
            <a:bodyPr/>
            <a:lstStyle/>
            <a:p>
              <a:endParaRPr lang="en-US"/>
            </a:p>
          </p:txBody>
        </p:sp>
        <p:sp>
          <p:nvSpPr>
            <p:cNvPr id="81" name="TextBox 81"/>
            <p:cNvSpPr txBox="1"/>
            <p:nvPr/>
          </p:nvSpPr>
          <p:spPr>
            <a:xfrm>
              <a:off x="0" y="-38100"/>
              <a:ext cx="20116800" cy="769620"/>
            </a:xfrm>
            <a:prstGeom prst="rect">
              <a:avLst/>
            </a:prstGeom>
          </p:spPr>
          <p:txBody>
            <a:bodyPr lIns="0" tIns="0" rIns="0" bIns="0" rtlCol="0" anchor="ctr"/>
            <a:lstStyle/>
            <a:p>
              <a:pPr algn="l">
                <a:lnSpc>
                  <a:spcPts val="2250"/>
                </a:lnSpc>
              </a:pPr>
              <a:r>
                <a:rPr lang="en-US" sz="1875" i="1">
                  <a:solidFill>
                    <a:srgbClr val="FFFFFF"/>
                  </a:solidFill>
                  <a:latin typeface="Calibri (MS) Italics"/>
                  <a:ea typeface="Calibri (MS) Italics"/>
                  <a:cs typeface="Calibri (MS) Italics"/>
                  <a:sym typeface="Calibri (MS) Italics"/>
                </a:rPr>
                <a:t>↺  loops back to Today Screen the next day, with a fresh theme</a:t>
              </a:r>
            </a:p>
          </p:txBody>
        </p:sp>
      </p:grpSp>
      <p:grpSp>
        <p:nvGrpSpPr>
          <p:cNvPr id="82" name="Group 82"/>
          <p:cNvGrpSpPr/>
          <p:nvPr/>
        </p:nvGrpSpPr>
        <p:grpSpPr>
          <a:xfrm>
            <a:off x="969645" y="8322594"/>
            <a:ext cx="3566160" cy="480060"/>
            <a:chOff x="0" y="0"/>
            <a:chExt cx="4754880" cy="640080"/>
          </a:xfrm>
        </p:grpSpPr>
        <p:sp>
          <p:nvSpPr>
            <p:cNvPr id="83" name="Freeform 83"/>
            <p:cNvSpPr/>
            <p:nvPr/>
          </p:nvSpPr>
          <p:spPr>
            <a:xfrm>
              <a:off x="0" y="0"/>
              <a:ext cx="4754880" cy="640080"/>
            </a:xfrm>
            <a:custGeom>
              <a:avLst/>
              <a:gdLst/>
              <a:ahLst/>
              <a:cxnLst/>
              <a:rect l="l" t="t" r="r" b="b"/>
              <a:pathLst>
                <a:path w="4754880" h="640080">
                  <a:moveTo>
                    <a:pt x="0" y="0"/>
                  </a:moveTo>
                  <a:lnTo>
                    <a:pt x="4754880" y="0"/>
                  </a:lnTo>
                  <a:lnTo>
                    <a:pt x="4754880" y="640080"/>
                  </a:lnTo>
                  <a:lnTo>
                    <a:pt x="0" y="640080"/>
                  </a:lnTo>
                  <a:close/>
                </a:path>
              </a:pathLst>
            </a:custGeom>
            <a:blipFill>
              <a:blip r:embed="rId3">
                <a:alphaModFix amt="0"/>
              </a:blip>
              <a:stretch>
                <a:fillRect t="-94745" b="-94745"/>
              </a:stretch>
            </a:blipFill>
          </p:spPr>
          <p:txBody>
            <a:bodyPr/>
            <a:lstStyle/>
            <a:p>
              <a:endParaRPr lang="en-US"/>
            </a:p>
          </p:txBody>
        </p:sp>
        <p:sp>
          <p:nvSpPr>
            <p:cNvPr id="84" name="TextBox 84"/>
            <p:cNvSpPr txBox="1"/>
            <p:nvPr/>
          </p:nvSpPr>
          <p:spPr>
            <a:xfrm>
              <a:off x="0" y="-38100"/>
              <a:ext cx="4754880" cy="678180"/>
            </a:xfrm>
            <a:prstGeom prst="rect">
              <a:avLst/>
            </a:prstGeom>
          </p:spPr>
          <p:txBody>
            <a:bodyPr lIns="0" tIns="0" rIns="0" bIns="0" rtlCol="0" anchor="ctr"/>
            <a:lstStyle/>
            <a:p>
              <a:pPr algn="l">
                <a:lnSpc>
                  <a:spcPts val="2250"/>
                </a:lnSpc>
              </a:pPr>
              <a:r>
                <a:rPr lang="en-US" sz="1875" b="1" dirty="0">
                  <a:solidFill>
                    <a:srgbClr val="93A9CF"/>
                  </a:solidFill>
                  <a:latin typeface="Calibri (MS) Bold"/>
                  <a:ea typeface="Calibri (MS) Bold"/>
                  <a:cs typeface="Calibri (MS) Bold"/>
                  <a:sym typeface="Calibri (MS) Bold"/>
                </a:rPr>
                <a:t>First-time vs. Repeat:</a:t>
              </a:r>
            </a:p>
          </p:txBody>
        </p:sp>
      </p:grpSp>
      <p:grpSp>
        <p:nvGrpSpPr>
          <p:cNvPr id="85" name="Group 85"/>
          <p:cNvGrpSpPr/>
          <p:nvPr/>
        </p:nvGrpSpPr>
        <p:grpSpPr>
          <a:xfrm>
            <a:off x="969645" y="8802654"/>
            <a:ext cx="15499080" cy="822960"/>
            <a:chOff x="0" y="0"/>
            <a:chExt cx="20665440" cy="1097280"/>
          </a:xfrm>
        </p:grpSpPr>
        <p:sp>
          <p:nvSpPr>
            <p:cNvPr id="86" name="Freeform 86"/>
            <p:cNvSpPr/>
            <p:nvPr/>
          </p:nvSpPr>
          <p:spPr>
            <a:xfrm>
              <a:off x="0" y="0"/>
              <a:ext cx="20665439" cy="1097280"/>
            </a:xfrm>
            <a:custGeom>
              <a:avLst/>
              <a:gdLst/>
              <a:ahLst/>
              <a:cxnLst/>
              <a:rect l="l" t="t" r="r" b="b"/>
              <a:pathLst>
                <a:path w="20665439" h="1097280">
                  <a:moveTo>
                    <a:pt x="0" y="0"/>
                  </a:moveTo>
                  <a:lnTo>
                    <a:pt x="20665439" y="0"/>
                  </a:lnTo>
                  <a:lnTo>
                    <a:pt x="20665439" y="1097280"/>
                  </a:lnTo>
                  <a:lnTo>
                    <a:pt x="0" y="1097280"/>
                  </a:lnTo>
                  <a:close/>
                </a:path>
              </a:pathLst>
            </a:custGeom>
            <a:blipFill>
              <a:blip r:embed="rId3">
                <a:alphaModFix amt="0"/>
              </a:blip>
              <a:stretch>
                <a:fillRect t="-316968" b="-316968"/>
              </a:stretch>
            </a:blipFill>
          </p:spPr>
          <p:txBody>
            <a:bodyPr/>
            <a:lstStyle/>
            <a:p>
              <a:endParaRPr lang="en-US"/>
            </a:p>
          </p:txBody>
        </p:sp>
        <p:sp>
          <p:nvSpPr>
            <p:cNvPr id="87" name="TextBox 87"/>
            <p:cNvSpPr txBox="1"/>
            <p:nvPr/>
          </p:nvSpPr>
          <p:spPr>
            <a:xfrm>
              <a:off x="0" y="-57150"/>
              <a:ext cx="20665440" cy="1154430"/>
            </a:xfrm>
            <a:prstGeom prst="rect">
              <a:avLst/>
            </a:prstGeom>
          </p:spPr>
          <p:txBody>
            <a:bodyPr lIns="0" tIns="0" rIns="0" bIns="0" rtlCol="0" anchor="ctr"/>
            <a:lstStyle/>
            <a:p>
              <a:pPr algn="l">
                <a:lnSpc>
                  <a:spcPts val="2400"/>
                </a:lnSpc>
              </a:pPr>
              <a:r>
                <a:rPr lang="en-US" sz="1875">
                  <a:solidFill>
                    <a:srgbClr val="FFFFFF"/>
                  </a:solidFill>
                  <a:latin typeface="Calibri (MS)"/>
                  <a:ea typeface="Calibri (MS)"/>
                  <a:cs typeface="Calibri (MS)"/>
                  <a:sym typeface="Calibri (MS)"/>
                </a:rPr>
                <a:t>First-time users see a one-time intro overlay on Today Screen; repeat users land directly on the theme hero — no onboarding friction after day one.</a:t>
              </a:r>
            </a:p>
          </p:txBody>
        </p:sp>
      </p:grpSp>
      <p:grpSp>
        <p:nvGrpSpPr>
          <p:cNvPr id="88" name="Group 88"/>
          <p:cNvGrpSpPr/>
          <p:nvPr/>
        </p:nvGrpSpPr>
        <p:grpSpPr>
          <a:xfrm>
            <a:off x="1028700" y="2427732"/>
            <a:ext cx="15499080" cy="822960"/>
            <a:chOff x="0" y="0"/>
            <a:chExt cx="20665440" cy="1097280"/>
          </a:xfrm>
        </p:grpSpPr>
        <p:sp>
          <p:nvSpPr>
            <p:cNvPr id="89" name="Freeform 89"/>
            <p:cNvSpPr/>
            <p:nvPr/>
          </p:nvSpPr>
          <p:spPr>
            <a:xfrm>
              <a:off x="0" y="0"/>
              <a:ext cx="20665439" cy="1097280"/>
            </a:xfrm>
            <a:custGeom>
              <a:avLst/>
              <a:gdLst/>
              <a:ahLst/>
              <a:cxnLst/>
              <a:rect l="l" t="t" r="r" b="b"/>
              <a:pathLst>
                <a:path w="20665439" h="1097280">
                  <a:moveTo>
                    <a:pt x="0" y="0"/>
                  </a:moveTo>
                  <a:lnTo>
                    <a:pt x="20665439" y="0"/>
                  </a:lnTo>
                  <a:lnTo>
                    <a:pt x="20665439" y="1097280"/>
                  </a:lnTo>
                  <a:lnTo>
                    <a:pt x="0" y="1097280"/>
                  </a:lnTo>
                  <a:close/>
                </a:path>
              </a:pathLst>
            </a:custGeom>
            <a:blipFill>
              <a:blip r:embed="rId3">
                <a:alphaModFix amt="0"/>
              </a:blip>
              <a:stretch>
                <a:fillRect t="-316968" b="-316968"/>
              </a:stretch>
            </a:blipFill>
          </p:spPr>
          <p:txBody>
            <a:bodyPr/>
            <a:lstStyle/>
            <a:p>
              <a:endParaRPr lang="en-US"/>
            </a:p>
          </p:txBody>
        </p:sp>
        <p:sp>
          <p:nvSpPr>
            <p:cNvPr id="90" name="TextBox 90"/>
            <p:cNvSpPr txBox="1"/>
            <p:nvPr/>
          </p:nvSpPr>
          <p:spPr>
            <a:xfrm>
              <a:off x="0" y="-57150"/>
              <a:ext cx="20665440" cy="1154430"/>
            </a:xfrm>
            <a:prstGeom prst="rect">
              <a:avLst/>
            </a:prstGeom>
          </p:spPr>
          <p:txBody>
            <a:bodyPr lIns="0" tIns="0" rIns="0" bIns="0" rtlCol="0" anchor="ctr"/>
            <a:lstStyle/>
            <a:p>
              <a:pPr algn="l">
                <a:lnSpc>
                  <a:spcPts val="2400"/>
                </a:lnSpc>
              </a:pPr>
              <a:r>
                <a:rPr lang="en-US" sz="1875">
                  <a:solidFill>
                    <a:srgbClr val="FFFFFF"/>
                  </a:solidFill>
                  <a:latin typeface="Calibri (MS)"/>
                  <a:ea typeface="Calibri (MS)"/>
                  <a:cs typeface="Calibri (MS)"/>
                  <a:sym typeface="Calibri (MS)"/>
                </a:rPr>
                <a:t>The 7-screen happy path from start to finish. </a:t>
              </a:r>
            </a:p>
          </p:txBody>
        </p:sp>
      </p:grpSp>
      <p:grpSp>
        <p:nvGrpSpPr>
          <p:cNvPr id="91" name="Group 91">
            <a:extLst>
              <a:ext uri="{FF2B5EF4-FFF2-40B4-BE49-F238E27FC236}">
                <a16:creationId xmlns:a16="http://schemas.microsoft.com/office/drawing/2014/main" id="{11385136-8C41-765C-9953-A174E3BBB3FA}"/>
              </a:ext>
            </a:extLst>
          </p:cNvPr>
          <p:cNvGrpSpPr/>
          <p:nvPr/>
        </p:nvGrpSpPr>
        <p:grpSpPr>
          <a:xfrm>
            <a:off x="960120" y="9533266"/>
            <a:ext cx="6970147" cy="577214"/>
            <a:chOff x="0" y="0"/>
            <a:chExt cx="9293530" cy="715068"/>
          </a:xfrm>
        </p:grpSpPr>
        <p:sp>
          <p:nvSpPr>
            <p:cNvPr id="92" name="Freeform 92">
              <a:extLst>
                <a:ext uri="{FF2B5EF4-FFF2-40B4-BE49-F238E27FC236}">
                  <a16:creationId xmlns:a16="http://schemas.microsoft.com/office/drawing/2014/main" id="{AD941CF0-8501-92E6-2F40-DB1BDACC47F3}"/>
                </a:ext>
              </a:extLst>
            </p:cNvPr>
            <p:cNvSpPr/>
            <p:nvPr/>
          </p:nvSpPr>
          <p:spPr>
            <a:xfrm>
              <a:off x="0" y="0"/>
              <a:ext cx="9293530" cy="715068"/>
            </a:xfrm>
            <a:custGeom>
              <a:avLst/>
              <a:gdLst/>
              <a:ahLst/>
              <a:cxnLst/>
              <a:rect l="l" t="t" r="r" b="b"/>
              <a:pathLst>
                <a:path w="9293530" h="715068">
                  <a:moveTo>
                    <a:pt x="0" y="0"/>
                  </a:moveTo>
                  <a:lnTo>
                    <a:pt x="9293530" y="0"/>
                  </a:lnTo>
                  <a:lnTo>
                    <a:pt x="9293530" y="715068"/>
                  </a:lnTo>
                  <a:lnTo>
                    <a:pt x="0" y="715068"/>
                  </a:lnTo>
                  <a:close/>
                </a:path>
              </a:pathLst>
            </a:custGeom>
            <a:blipFill>
              <a:blip r:embed="rId3">
                <a:alphaModFix amt="0"/>
              </a:blip>
              <a:stretch>
                <a:fillRect t="-486391" r="-122363" b="-539842"/>
              </a:stretch>
            </a:blipFill>
          </p:spPr>
          <p:txBody>
            <a:bodyPr/>
            <a:lstStyle/>
            <a:p>
              <a:endParaRPr lang="en-US"/>
            </a:p>
          </p:txBody>
        </p:sp>
        <p:sp>
          <p:nvSpPr>
            <p:cNvPr id="93" name="TextBox 93">
              <a:extLst>
                <a:ext uri="{FF2B5EF4-FFF2-40B4-BE49-F238E27FC236}">
                  <a16:creationId xmlns:a16="http://schemas.microsoft.com/office/drawing/2014/main" id="{386688EF-5896-63DA-6D3F-8F48AFB9BF19}"/>
                </a:ext>
              </a:extLst>
            </p:cNvPr>
            <p:cNvSpPr txBox="1"/>
            <p:nvPr/>
          </p:nvSpPr>
          <p:spPr>
            <a:xfrm>
              <a:off x="0" y="-57150"/>
              <a:ext cx="9293530" cy="772218"/>
            </a:xfrm>
            <a:prstGeom prst="rect">
              <a:avLst/>
            </a:prstGeom>
          </p:spPr>
          <p:txBody>
            <a:bodyPr lIns="0" tIns="0" rIns="0" bIns="0" rtlCol="0" anchor="ctr"/>
            <a:lstStyle/>
            <a:p>
              <a:pPr algn="l">
                <a:lnSpc>
                  <a:spcPts val="2400"/>
                </a:lnSpc>
              </a:pPr>
              <a:r>
                <a:rPr lang="en-US" sz="1875" b="1" dirty="0">
                  <a:solidFill>
                    <a:srgbClr val="FFDE59"/>
                  </a:solidFill>
                  <a:latin typeface="Calibri (MS) Bold"/>
                  <a:ea typeface="Calibri (MS) Bold"/>
                  <a:cs typeface="Calibri (MS) Bold"/>
                  <a:sym typeface="Calibri (MS) Bold"/>
                </a:rPr>
                <a:t>Promo Reel: </a:t>
              </a:r>
              <a:r>
                <a:rPr lang="en-US" sz="1875" u="sng" dirty="0">
                  <a:solidFill>
                    <a:schemeClr val="bg1"/>
                  </a:solidFill>
                  <a:latin typeface="Calibri (MS)"/>
                  <a:ea typeface="Calibri (MS)"/>
                  <a:cs typeface="Calibri (MS)"/>
                  <a:sym typeface="Calibri (MS)"/>
                  <a:hlinkClick r:id="rId4" tooltip="https://youtube.com/shorts/exXoJ6NqmbI">
                    <a:extLst>
                      <a:ext uri="{A12FA001-AC4F-418D-AE19-62706E023703}">
                        <ahyp:hlinkClr xmlns:ahyp="http://schemas.microsoft.com/office/drawing/2018/hyperlinkcolor" val="tx"/>
                      </a:ext>
                    </a:extLst>
                  </a:hlinkClick>
                </a:rPr>
                <a:t>https://youtube.com/shorts/exXoJ6NqmbI</a:t>
              </a:r>
            </a:p>
          </p:txBody>
        </p:sp>
      </p:gr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0A0A0A"/>
        </a:solidFill>
        <a:effectLst/>
      </p:bgPr>
    </p:bg>
    <p:spTree>
      <p:nvGrpSpPr>
        <p:cNvPr id="1" name=""/>
        <p:cNvGrpSpPr/>
        <p:nvPr/>
      </p:nvGrpSpPr>
      <p:grpSpPr>
        <a:xfrm>
          <a:off x="0" y="0"/>
          <a:ext cx="0" cy="0"/>
          <a:chOff x="0" y="0"/>
          <a:chExt cx="0" cy="0"/>
        </a:xfrm>
      </p:grpSpPr>
      <p:grpSp>
        <p:nvGrpSpPr>
          <p:cNvPr id="2" name="Group 2"/>
          <p:cNvGrpSpPr/>
          <p:nvPr/>
        </p:nvGrpSpPr>
        <p:grpSpPr>
          <a:xfrm>
            <a:off x="960120" y="685800"/>
            <a:ext cx="10972800" cy="480060"/>
            <a:chOff x="0" y="0"/>
            <a:chExt cx="14630400" cy="640080"/>
          </a:xfrm>
        </p:grpSpPr>
        <p:sp>
          <p:nvSpPr>
            <p:cNvPr id="3" name="Freeform 3"/>
            <p:cNvSpPr/>
            <p:nvPr/>
          </p:nvSpPr>
          <p:spPr>
            <a:xfrm>
              <a:off x="0" y="0"/>
              <a:ext cx="14630400" cy="640080"/>
            </a:xfrm>
            <a:custGeom>
              <a:avLst/>
              <a:gdLst/>
              <a:ahLst/>
              <a:cxnLst/>
              <a:rect l="l" t="t" r="r" b="b"/>
              <a:pathLst>
                <a:path w="14630400" h="640080">
                  <a:moveTo>
                    <a:pt x="0" y="0"/>
                  </a:moveTo>
                  <a:lnTo>
                    <a:pt x="14630400" y="0"/>
                  </a:lnTo>
                  <a:lnTo>
                    <a:pt x="14630400" y="640080"/>
                  </a:lnTo>
                  <a:lnTo>
                    <a:pt x="0" y="640080"/>
                  </a:lnTo>
                  <a:close/>
                </a:path>
              </a:pathLst>
            </a:custGeom>
            <a:blipFill>
              <a:blip r:embed="rId3">
                <a:alphaModFix amt="0"/>
              </a:blip>
              <a:stretch>
                <a:fillRect t="-395372" b="-395372"/>
              </a:stretch>
            </a:blipFill>
          </p:spPr>
          <p:txBody>
            <a:bodyPr/>
            <a:lstStyle/>
            <a:p>
              <a:endParaRPr lang="en-US"/>
            </a:p>
          </p:txBody>
        </p:sp>
        <p:sp>
          <p:nvSpPr>
            <p:cNvPr id="4" name="TextBox 4"/>
            <p:cNvSpPr txBox="1"/>
            <p:nvPr/>
          </p:nvSpPr>
          <p:spPr>
            <a:xfrm>
              <a:off x="0" y="-19050"/>
              <a:ext cx="14630400" cy="659130"/>
            </a:xfrm>
            <a:prstGeom prst="rect">
              <a:avLst/>
            </a:prstGeom>
          </p:spPr>
          <p:txBody>
            <a:bodyPr lIns="0" tIns="0" rIns="0" bIns="0" rtlCol="0" anchor="ctr"/>
            <a:lstStyle/>
            <a:p>
              <a:pPr algn="l">
                <a:lnSpc>
                  <a:spcPts val="2160"/>
                </a:lnSpc>
              </a:pPr>
              <a:r>
                <a:rPr lang="en-US" sz="1800" b="1" spc="450">
                  <a:solidFill>
                    <a:srgbClr val="93A9CF"/>
                  </a:solidFill>
                  <a:latin typeface="Arial Bold"/>
                  <a:ea typeface="Arial Bold"/>
                  <a:cs typeface="Arial Bold"/>
                  <a:sym typeface="Arial Bold"/>
                </a:rPr>
                <a:t>THE PROTOTYPE</a:t>
              </a:r>
            </a:p>
          </p:txBody>
        </p:sp>
      </p:grpSp>
      <p:grpSp>
        <p:nvGrpSpPr>
          <p:cNvPr id="5" name="Group 5"/>
          <p:cNvGrpSpPr/>
          <p:nvPr/>
        </p:nvGrpSpPr>
        <p:grpSpPr>
          <a:xfrm>
            <a:off x="960120" y="1124712"/>
            <a:ext cx="14401800" cy="1303020"/>
            <a:chOff x="0" y="0"/>
            <a:chExt cx="19202400" cy="1737360"/>
          </a:xfrm>
        </p:grpSpPr>
        <p:sp>
          <p:nvSpPr>
            <p:cNvPr id="6" name="Freeform 6"/>
            <p:cNvSpPr/>
            <p:nvPr/>
          </p:nvSpPr>
          <p:spPr>
            <a:xfrm>
              <a:off x="0" y="0"/>
              <a:ext cx="19202400" cy="1737360"/>
            </a:xfrm>
            <a:custGeom>
              <a:avLst/>
              <a:gdLst/>
              <a:ahLst/>
              <a:cxnLst/>
              <a:rect l="l" t="t" r="r" b="b"/>
              <a:pathLst>
                <a:path w="19202400" h="1737360">
                  <a:moveTo>
                    <a:pt x="0" y="0"/>
                  </a:moveTo>
                  <a:lnTo>
                    <a:pt x="19202400" y="0"/>
                  </a:lnTo>
                  <a:lnTo>
                    <a:pt x="19202400" y="1737360"/>
                  </a:lnTo>
                  <a:lnTo>
                    <a:pt x="0" y="1737360"/>
                  </a:lnTo>
                  <a:close/>
                </a:path>
              </a:pathLst>
            </a:custGeom>
            <a:blipFill>
              <a:blip r:embed="rId3">
                <a:alphaModFix amt="0"/>
              </a:blip>
              <a:stretch>
                <a:fillRect t="-165360" b="-165360"/>
              </a:stretch>
            </a:blipFill>
          </p:spPr>
          <p:txBody>
            <a:bodyPr/>
            <a:lstStyle/>
            <a:p>
              <a:endParaRPr lang="en-US"/>
            </a:p>
          </p:txBody>
        </p:sp>
        <p:sp>
          <p:nvSpPr>
            <p:cNvPr id="7" name="TextBox 7"/>
            <p:cNvSpPr txBox="1"/>
            <p:nvPr/>
          </p:nvSpPr>
          <p:spPr>
            <a:xfrm>
              <a:off x="0" y="28575"/>
              <a:ext cx="19202400" cy="1708785"/>
            </a:xfrm>
            <a:prstGeom prst="rect">
              <a:avLst/>
            </a:prstGeom>
          </p:spPr>
          <p:txBody>
            <a:bodyPr lIns="0" tIns="0" rIns="0" bIns="0" rtlCol="0" anchor="ctr"/>
            <a:lstStyle/>
            <a:p>
              <a:pPr algn="l">
                <a:lnSpc>
                  <a:spcPts val="4800"/>
                </a:lnSpc>
              </a:pPr>
              <a:r>
                <a:rPr lang="en-US" sz="4500" b="1" dirty="0">
                  <a:solidFill>
                    <a:srgbClr val="FFFFFF"/>
                  </a:solidFill>
                  <a:latin typeface="Arial Bold"/>
                  <a:ea typeface="Arial Bold"/>
                  <a:cs typeface="Arial Bold"/>
                  <a:sym typeface="Arial Bold"/>
                </a:rPr>
                <a:t>A Screen-By-Screen Rundown </a:t>
              </a:r>
            </a:p>
          </p:txBody>
        </p:sp>
      </p:grpSp>
      <p:grpSp>
        <p:nvGrpSpPr>
          <p:cNvPr id="8" name="Group 8"/>
          <p:cNvGrpSpPr/>
          <p:nvPr/>
        </p:nvGrpSpPr>
        <p:grpSpPr>
          <a:xfrm>
            <a:off x="960120" y="2427732"/>
            <a:ext cx="16230600" cy="760352"/>
            <a:chOff x="0" y="0"/>
            <a:chExt cx="20299680" cy="950976"/>
          </a:xfrm>
        </p:grpSpPr>
        <p:sp>
          <p:nvSpPr>
            <p:cNvPr id="9" name="Freeform 9"/>
            <p:cNvSpPr/>
            <p:nvPr/>
          </p:nvSpPr>
          <p:spPr>
            <a:xfrm>
              <a:off x="0" y="0"/>
              <a:ext cx="20299680" cy="950976"/>
            </a:xfrm>
            <a:custGeom>
              <a:avLst/>
              <a:gdLst/>
              <a:ahLst/>
              <a:cxnLst/>
              <a:rect l="l" t="t" r="r" b="b"/>
              <a:pathLst>
                <a:path w="20299680" h="950976">
                  <a:moveTo>
                    <a:pt x="0" y="109728"/>
                  </a:moveTo>
                  <a:cubicBezTo>
                    <a:pt x="0" y="49149"/>
                    <a:pt x="49149" y="0"/>
                    <a:pt x="109728" y="0"/>
                  </a:cubicBezTo>
                  <a:lnTo>
                    <a:pt x="20189952" y="0"/>
                  </a:lnTo>
                  <a:cubicBezTo>
                    <a:pt x="20250531" y="0"/>
                    <a:pt x="20299680" y="49149"/>
                    <a:pt x="20299680" y="109728"/>
                  </a:cubicBezTo>
                  <a:lnTo>
                    <a:pt x="20299680" y="841248"/>
                  </a:lnTo>
                  <a:cubicBezTo>
                    <a:pt x="20299680" y="901827"/>
                    <a:pt x="20250531" y="950976"/>
                    <a:pt x="20189952" y="950976"/>
                  </a:cubicBezTo>
                  <a:lnTo>
                    <a:pt x="109728" y="950976"/>
                  </a:lnTo>
                  <a:cubicBezTo>
                    <a:pt x="49149" y="950976"/>
                    <a:pt x="0" y="901827"/>
                    <a:pt x="0" y="841248"/>
                  </a:cubicBezTo>
                  <a:close/>
                </a:path>
              </a:pathLst>
            </a:custGeom>
            <a:solidFill>
              <a:srgbClr val="FFFFFF"/>
            </a:solidFill>
          </p:spPr>
          <p:txBody>
            <a:bodyPr/>
            <a:lstStyle/>
            <a:p>
              <a:endParaRPr lang="en-US"/>
            </a:p>
          </p:txBody>
        </p:sp>
      </p:grpSp>
      <p:grpSp>
        <p:nvGrpSpPr>
          <p:cNvPr id="10" name="Group 10"/>
          <p:cNvGrpSpPr/>
          <p:nvPr/>
        </p:nvGrpSpPr>
        <p:grpSpPr>
          <a:xfrm>
            <a:off x="1325674" y="2427732"/>
            <a:ext cx="3216876" cy="760352"/>
            <a:chOff x="0" y="0"/>
            <a:chExt cx="4023360" cy="950976"/>
          </a:xfrm>
        </p:grpSpPr>
        <p:sp>
          <p:nvSpPr>
            <p:cNvPr id="11" name="Freeform 11"/>
            <p:cNvSpPr/>
            <p:nvPr/>
          </p:nvSpPr>
          <p:spPr>
            <a:xfrm>
              <a:off x="0" y="0"/>
              <a:ext cx="4023360" cy="950976"/>
            </a:xfrm>
            <a:custGeom>
              <a:avLst/>
              <a:gdLst/>
              <a:ahLst/>
              <a:cxnLst/>
              <a:rect l="l" t="t" r="r" b="b"/>
              <a:pathLst>
                <a:path w="4023360" h="950976">
                  <a:moveTo>
                    <a:pt x="0" y="0"/>
                  </a:moveTo>
                  <a:lnTo>
                    <a:pt x="4023360" y="0"/>
                  </a:lnTo>
                  <a:lnTo>
                    <a:pt x="4023360" y="950976"/>
                  </a:lnTo>
                  <a:lnTo>
                    <a:pt x="0" y="950976"/>
                  </a:lnTo>
                  <a:close/>
                </a:path>
              </a:pathLst>
            </a:custGeom>
            <a:blipFill>
              <a:blip r:embed="rId3">
                <a:alphaModFix amt="0"/>
              </a:blip>
              <a:stretch>
                <a:fillRect t="-32436" b="-32436"/>
              </a:stretch>
            </a:blipFill>
          </p:spPr>
          <p:txBody>
            <a:bodyPr/>
            <a:lstStyle/>
            <a:p>
              <a:endParaRPr lang="en-US"/>
            </a:p>
          </p:txBody>
        </p:sp>
        <p:sp>
          <p:nvSpPr>
            <p:cNvPr id="12" name="TextBox 12"/>
            <p:cNvSpPr txBox="1"/>
            <p:nvPr/>
          </p:nvSpPr>
          <p:spPr>
            <a:xfrm>
              <a:off x="0" y="-57150"/>
              <a:ext cx="4023360" cy="1008126"/>
            </a:xfrm>
            <a:prstGeom prst="rect">
              <a:avLst/>
            </a:prstGeom>
          </p:spPr>
          <p:txBody>
            <a:bodyPr lIns="0" tIns="0" rIns="0" bIns="0" rtlCol="0" anchor="ctr"/>
            <a:lstStyle/>
            <a:p>
              <a:pPr algn="l">
                <a:lnSpc>
                  <a:spcPts val="3419"/>
                </a:lnSpc>
              </a:pPr>
              <a:r>
                <a:rPr lang="en-US" sz="2849" b="1">
                  <a:solidFill>
                    <a:srgbClr val="17375E"/>
                  </a:solidFill>
                  <a:latin typeface="Calibri (MS) Bold"/>
                  <a:ea typeface="Calibri (MS) Bold"/>
                  <a:cs typeface="Calibri (MS) Bold"/>
                  <a:sym typeface="Calibri (MS) Bold"/>
                </a:rPr>
                <a:t>Today Screen</a:t>
              </a:r>
            </a:p>
          </p:txBody>
        </p:sp>
      </p:grpSp>
      <p:grpSp>
        <p:nvGrpSpPr>
          <p:cNvPr id="13" name="Group 13"/>
          <p:cNvGrpSpPr/>
          <p:nvPr/>
        </p:nvGrpSpPr>
        <p:grpSpPr>
          <a:xfrm>
            <a:off x="4615661" y="2427732"/>
            <a:ext cx="12282616" cy="760352"/>
            <a:chOff x="0" y="0"/>
            <a:chExt cx="15361920" cy="950976"/>
          </a:xfrm>
        </p:grpSpPr>
        <p:sp>
          <p:nvSpPr>
            <p:cNvPr id="14" name="Freeform 14"/>
            <p:cNvSpPr/>
            <p:nvPr/>
          </p:nvSpPr>
          <p:spPr>
            <a:xfrm>
              <a:off x="0" y="0"/>
              <a:ext cx="15361920" cy="950976"/>
            </a:xfrm>
            <a:custGeom>
              <a:avLst/>
              <a:gdLst/>
              <a:ahLst/>
              <a:cxnLst/>
              <a:rect l="l" t="t" r="r" b="b"/>
              <a:pathLst>
                <a:path w="15361920" h="950976">
                  <a:moveTo>
                    <a:pt x="0" y="0"/>
                  </a:moveTo>
                  <a:lnTo>
                    <a:pt x="15361920" y="0"/>
                  </a:lnTo>
                  <a:lnTo>
                    <a:pt x="15361920" y="950976"/>
                  </a:lnTo>
                  <a:lnTo>
                    <a:pt x="0" y="950976"/>
                  </a:lnTo>
                  <a:close/>
                </a:path>
              </a:pathLst>
            </a:custGeom>
            <a:blipFill>
              <a:blip r:embed="rId3">
                <a:alphaModFix amt="0"/>
              </a:blip>
              <a:stretch>
                <a:fillRect t="-264758" b="-264758"/>
              </a:stretch>
            </a:blipFill>
          </p:spPr>
          <p:txBody>
            <a:bodyPr/>
            <a:lstStyle/>
            <a:p>
              <a:endParaRPr lang="en-US"/>
            </a:p>
          </p:txBody>
        </p:sp>
        <p:sp>
          <p:nvSpPr>
            <p:cNvPr id="15" name="TextBox 15"/>
            <p:cNvSpPr txBox="1"/>
            <p:nvPr/>
          </p:nvSpPr>
          <p:spPr>
            <a:xfrm>
              <a:off x="0" y="-57150"/>
              <a:ext cx="15361920" cy="1008126"/>
            </a:xfrm>
            <a:prstGeom prst="rect">
              <a:avLst/>
            </a:prstGeom>
          </p:spPr>
          <p:txBody>
            <a:bodyPr lIns="0" tIns="0" rIns="0" bIns="0" rtlCol="0" anchor="ctr"/>
            <a:lstStyle/>
            <a:p>
              <a:pPr algn="l">
                <a:lnSpc>
                  <a:spcPts val="3239"/>
                </a:lnSpc>
              </a:pPr>
              <a:r>
                <a:rPr lang="en-US" sz="2699" b="1">
                  <a:solidFill>
                    <a:srgbClr val="93A9CF"/>
                  </a:solidFill>
                  <a:latin typeface="Calibri (MS) Bold"/>
                  <a:ea typeface="Calibri (MS) Bold"/>
                  <a:cs typeface="Calibri (MS) Bold"/>
                  <a:sym typeface="Calibri (MS) Bold"/>
                </a:rPr>
                <a:t>Daily theme + reminder bubble + come-back banner</a:t>
              </a:r>
            </a:p>
          </p:txBody>
        </p:sp>
      </p:grpSp>
      <p:grpSp>
        <p:nvGrpSpPr>
          <p:cNvPr id="16" name="Group 16"/>
          <p:cNvGrpSpPr/>
          <p:nvPr/>
        </p:nvGrpSpPr>
        <p:grpSpPr>
          <a:xfrm>
            <a:off x="960120" y="3363550"/>
            <a:ext cx="16230600" cy="760352"/>
            <a:chOff x="0" y="0"/>
            <a:chExt cx="20299680" cy="950976"/>
          </a:xfrm>
        </p:grpSpPr>
        <p:sp>
          <p:nvSpPr>
            <p:cNvPr id="17" name="Freeform 17"/>
            <p:cNvSpPr/>
            <p:nvPr/>
          </p:nvSpPr>
          <p:spPr>
            <a:xfrm>
              <a:off x="0" y="0"/>
              <a:ext cx="20299680" cy="950976"/>
            </a:xfrm>
            <a:custGeom>
              <a:avLst/>
              <a:gdLst/>
              <a:ahLst/>
              <a:cxnLst/>
              <a:rect l="l" t="t" r="r" b="b"/>
              <a:pathLst>
                <a:path w="20299680" h="950976">
                  <a:moveTo>
                    <a:pt x="0" y="109728"/>
                  </a:moveTo>
                  <a:cubicBezTo>
                    <a:pt x="0" y="49149"/>
                    <a:pt x="49149" y="0"/>
                    <a:pt x="109728" y="0"/>
                  </a:cubicBezTo>
                  <a:lnTo>
                    <a:pt x="20189952" y="0"/>
                  </a:lnTo>
                  <a:cubicBezTo>
                    <a:pt x="20250531" y="0"/>
                    <a:pt x="20299680" y="49149"/>
                    <a:pt x="20299680" y="109728"/>
                  </a:cubicBezTo>
                  <a:lnTo>
                    <a:pt x="20299680" y="841248"/>
                  </a:lnTo>
                  <a:cubicBezTo>
                    <a:pt x="20299680" y="901827"/>
                    <a:pt x="20250531" y="950976"/>
                    <a:pt x="20189952" y="950976"/>
                  </a:cubicBezTo>
                  <a:lnTo>
                    <a:pt x="109728" y="950976"/>
                  </a:lnTo>
                  <a:cubicBezTo>
                    <a:pt x="49149" y="950976"/>
                    <a:pt x="0" y="901827"/>
                    <a:pt x="0" y="841248"/>
                  </a:cubicBezTo>
                  <a:close/>
                </a:path>
              </a:pathLst>
            </a:custGeom>
            <a:solidFill>
              <a:srgbClr val="FFFFFF"/>
            </a:solidFill>
          </p:spPr>
          <p:txBody>
            <a:bodyPr/>
            <a:lstStyle/>
            <a:p>
              <a:endParaRPr lang="en-US"/>
            </a:p>
          </p:txBody>
        </p:sp>
      </p:grpSp>
      <p:grpSp>
        <p:nvGrpSpPr>
          <p:cNvPr id="18" name="Group 18"/>
          <p:cNvGrpSpPr/>
          <p:nvPr/>
        </p:nvGrpSpPr>
        <p:grpSpPr>
          <a:xfrm>
            <a:off x="1325674" y="3363550"/>
            <a:ext cx="3216876" cy="760352"/>
            <a:chOff x="0" y="0"/>
            <a:chExt cx="4023360" cy="950976"/>
          </a:xfrm>
        </p:grpSpPr>
        <p:sp>
          <p:nvSpPr>
            <p:cNvPr id="19" name="Freeform 19"/>
            <p:cNvSpPr/>
            <p:nvPr/>
          </p:nvSpPr>
          <p:spPr>
            <a:xfrm>
              <a:off x="0" y="0"/>
              <a:ext cx="4023360" cy="950976"/>
            </a:xfrm>
            <a:custGeom>
              <a:avLst/>
              <a:gdLst/>
              <a:ahLst/>
              <a:cxnLst/>
              <a:rect l="l" t="t" r="r" b="b"/>
              <a:pathLst>
                <a:path w="4023360" h="950976">
                  <a:moveTo>
                    <a:pt x="0" y="0"/>
                  </a:moveTo>
                  <a:lnTo>
                    <a:pt x="4023360" y="0"/>
                  </a:lnTo>
                  <a:lnTo>
                    <a:pt x="4023360" y="950976"/>
                  </a:lnTo>
                  <a:lnTo>
                    <a:pt x="0" y="950976"/>
                  </a:lnTo>
                  <a:close/>
                </a:path>
              </a:pathLst>
            </a:custGeom>
            <a:blipFill>
              <a:blip r:embed="rId3">
                <a:alphaModFix amt="0"/>
              </a:blip>
              <a:stretch>
                <a:fillRect t="-32436" b="-32436"/>
              </a:stretch>
            </a:blipFill>
          </p:spPr>
          <p:txBody>
            <a:bodyPr/>
            <a:lstStyle/>
            <a:p>
              <a:endParaRPr lang="en-US"/>
            </a:p>
          </p:txBody>
        </p:sp>
        <p:sp>
          <p:nvSpPr>
            <p:cNvPr id="20" name="TextBox 20"/>
            <p:cNvSpPr txBox="1"/>
            <p:nvPr/>
          </p:nvSpPr>
          <p:spPr>
            <a:xfrm>
              <a:off x="0" y="-57150"/>
              <a:ext cx="4023360" cy="1008126"/>
            </a:xfrm>
            <a:prstGeom prst="rect">
              <a:avLst/>
            </a:prstGeom>
          </p:spPr>
          <p:txBody>
            <a:bodyPr lIns="0" tIns="0" rIns="0" bIns="0" rtlCol="0" anchor="ctr"/>
            <a:lstStyle/>
            <a:p>
              <a:pPr algn="l">
                <a:lnSpc>
                  <a:spcPts val="3419"/>
                </a:lnSpc>
              </a:pPr>
              <a:r>
                <a:rPr lang="en-US" sz="2849" b="1">
                  <a:solidFill>
                    <a:srgbClr val="17375E"/>
                  </a:solidFill>
                  <a:latin typeface="Calibri (MS) Bold"/>
                  <a:ea typeface="Calibri (MS) Bold"/>
                  <a:cs typeface="Calibri (MS) Bold"/>
                  <a:sym typeface="Calibri (MS) Bold"/>
                </a:rPr>
                <a:t>Capture Toggle</a:t>
              </a:r>
            </a:p>
          </p:txBody>
        </p:sp>
      </p:grpSp>
      <p:grpSp>
        <p:nvGrpSpPr>
          <p:cNvPr id="21" name="Group 21"/>
          <p:cNvGrpSpPr/>
          <p:nvPr/>
        </p:nvGrpSpPr>
        <p:grpSpPr>
          <a:xfrm>
            <a:off x="4615661" y="3363550"/>
            <a:ext cx="12282616" cy="760352"/>
            <a:chOff x="0" y="0"/>
            <a:chExt cx="15361920" cy="950976"/>
          </a:xfrm>
        </p:grpSpPr>
        <p:sp>
          <p:nvSpPr>
            <p:cNvPr id="22" name="Freeform 22"/>
            <p:cNvSpPr/>
            <p:nvPr/>
          </p:nvSpPr>
          <p:spPr>
            <a:xfrm>
              <a:off x="0" y="0"/>
              <a:ext cx="15361920" cy="950976"/>
            </a:xfrm>
            <a:custGeom>
              <a:avLst/>
              <a:gdLst/>
              <a:ahLst/>
              <a:cxnLst/>
              <a:rect l="l" t="t" r="r" b="b"/>
              <a:pathLst>
                <a:path w="15361920" h="950976">
                  <a:moveTo>
                    <a:pt x="0" y="0"/>
                  </a:moveTo>
                  <a:lnTo>
                    <a:pt x="15361920" y="0"/>
                  </a:lnTo>
                  <a:lnTo>
                    <a:pt x="15361920" y="950976"/>
                  </a:lnTo>
                  <a:lnTo>
                    <a:pt x="0" y="950976"/>
                  </a:lnTo>
                  <a:close/>
                </a:path>
              </a:pathLst>
            </a:custGeom>
            <a:blipFill>
              <a:blip r:embed="rId3">
                <a:alphaModFix amt="0"/>
              </a:blip>
              <a:stretch>
                <a:fillRect t="-264758" b="-264758"/>
              </a:stretch>
            </a:blipFill>
          </p:spPr>
          <p:txBody>
            <a:bodyPr/>
            <a:lstStyle/>
            <a:p>
              <a:endParaRPr lang="en-US"/>
            </a:p>
          </p:txBody>
        </p:sp>
        <p:sp>
          <p:nvSpPr>
            <p:cNvPr id="23" name="TextBox 23"/>
            <p:cNvSpPr txBox="1"/>
            <p:nvPr/>
          </p:nvSpPr>
          <p:spPr>
            <a:xfrm>
              <a:off x="0" y="-57150"/>
              <a:ext cx="15361920" cy="1008126"/>
            </a:xfrm>
            <a:prstGeom prst="rect">
              <a:avLst/>
            </a:prstGeom>
          </p:spPr>
          <p:txBody>
            <a:bodyPr lIns="0" tIns="0" rIns="0" bIns="0" rtlCol="0" anchor="ctr"/>
            <a:lstStyle/>
            <a:p>
              <a:pPr algn="l">
                <a:lnSpc>
                  <a:spcPts val="3239"/>
                </a:lnSpc>
              </a:pPr>
              <a:r>
                <a:rPr lang="en-US" sz="2699" b="1">
                  <a:solidFill>
                    <a:srgbClr val="93A9CF"/>
                  </a:solidFill>
                  <a:latin typeface="Calibri (MS) Bold"/>
                  <a:ea typeface="Calibri (MS) Bold"/>
                  <a:cs typeface="Calibri (MS) Bold"/>
                  <a:sym typeface="Calibri (MS) Bold"/>
                </a:rPr>
                <a:t>Theme Post / Random Post toggle + state demo panel</a:t>
              </a:r>
            </a:p>
          </p:txBody>
        </p:sp>
      </p:grpSp>
      <p:grpSp>
        <p:nvGrpSpPr>
          <p:cNvPr id="24" name="Group 24"/>
          <p:cNvGrpSpPr/>
          <p:nvPr/>
        </p:nvGrpSpPr>
        <p:grpSpPr>
          <a:xfrm>
            <a:off x="960120" y="4299369"/>
            <a:ext cx="16230600" cy="760352"/>
            <a:chOff x="0" y="0"/>
            <a:chExt cx="20299680" cy="950976"/>
          </a:xfrm>
        </p:grpSpPr>
        <p:sp>
          <p:nvSpPr>
            <p:cNvPr id="25" name="Freeform 25"/>
            <p:cNvSpPr/>
            <p:nvPr/>
          </p:nvSpPr>
          <p:spPr>
            <a:xfrm>
              <a:off x="0" y="0"/>
              <a:ext cx="20299680" cy="950976"/>
            </a:xfrm>
            <a:custGeom>
              <a:avLst/>
              <a:gdLst/>
              <a:ahLst/>
              <a:cxnLst/>
              <a:rect l="l" t="t" r="r" b="b"/>
              <a:pathLst>
                <a:path w="20299680" h="950976">
                  <a:moveTo>
                    <a:pt x="0" y="109728"/>
                  </a:moveTo>
                  <a:cubicBezTo>
                    <a:pt x="0" y="49149"/>
                    <a:pt x="49149" y="0"/>
                    <a:pt x="109728" y="0"/>
                  </a:cubicBezTo>
                  <a:lnTo>
                    <a:pt x="20189952" y="0"/>
                  </a:lnTo>
                  <a:cubicBezTo>
                    <a:pt x="20250531" y="0"/>
                    <a:pt x="20299680" y="49149"/>
                    <a:pt x="20299680" y="109728"/>
                  </a:cubicBezTo>
                  <a:lnTo>
                    <a:pt x="20299680" y="841248"/>
                  </a:lnTo>
                  <a:cubicBezTo>
                    <a:pt x="20299680" y="901827"/>
                    <a:pt x="20250531" y="950976"/>
                    <a:pt x="20189952" y="950976"/>
                  </a:cubicBezTo>
                  <a:lnTo>
                    <a:pt x="109728" y="950976"/>
                  </a:lnTo>
                  <a:cubicBezTo>
                    <a:pt x="49149" y="950976"/>
                    <a:pt x="0" y="901827"/>
                    <a:pt x="0" y="841248"/>
                  </a:cubicBezTo>
                  <a:close/>
                </a:path>
              </a:pathLst>
            </a:custGeom>
            <a:solidFill>
              <a:srgbClr val="FFFFFF"/>
            </a:solidFill>
          </p:spPr>
          <p:txBody>
            <a:bodyPr/>
            <a:lstStyle/>
            <a:p>
              <a:endParaRPr lang="en-US"/>
            </a:p>
          </p:txBody>
        </p:sp>
      </p:grpSp>
      <p:grpSp>
        <p:nvGrpSpPr>
          <p:cNvPr id="26" name="Group 26"/>
          <p:cNvGrpSpPr/>
          <p:nvPr/>
        </p:nvGrpSpPr>
        <p:grpSpPr>
          <a:xfrm>
            <a:off x="1325674" y="4299369"/>
            <a:ext cx="3216876" cy="760352"/>
            <a:chOff x="0" y="0"/>
            <a:chExt cx="4023360" cy="950976"/>
          </a:xfrm>
        </p:grpSpPr>
        <p:sp>
          <p:nvSpPr>
            <p:cNvPr id="27" name="Freeform 27"/>
            <p:cNvSpPr/>
            <p:nvPr/>
          </p:nvSpPr>
          <p:spPr>
            <a:xfrm>
              <a:off x="0" y="0"/>
              <a:ext cx="4023360" cy="950976"/>
            </a:xfrm>
            <a:custGeom>
              <a:avLst/>
              <a:gdLst/>
              <a:ahLst/>
              <a:cxnLst/>
              <a:rect l="l" t="t" r="r" b="b"/>
              <a:pathLst>
                <a:path w="4023360" h="950976">
                  <a:moveTo>
                    <a:pt x="0" y="0"/>
                  </a:moveTo>
                  <a:lnTo>
                    <a:pt x="4023360" y="0"/>
                  </a:lnTo>
                  <a:lnTo>
                    <a:pt x="4023360" y="950976"/>
                  </a:lnTo>
                  <a:lnTo>
                    <a:pt x="0" y="950976"/>
                  </a:lnTo>
                  <a:close/>
                </a:path>
              </a:pathLst>
            </a:custGeom>
            <a:blipFill>
              <a:blip r:embed="rId3">
                <a:alphaModFix amt="0"/>
              </a:blip>
              <a:stretch>
                <a:fillRect t="-32436" b="-32436"/>
              </a:stretch>
            </a:blipFill>
          </p:spPr>
          <p:txBody>
            <a:bodyPr/>
            <a:lstStyle/>
            <a:p>
              <a:endParaRPr lang="en-US"/>
            </a:p>
          </p:txBody>
        </p:sp>
        <p:sp>
          <p:nvSpPr>
            <p:cNvPr id="28" name="TextBox 28"/>
            <p:cNvSpPr txBox="1"/>
            <p:nvPr/>
          </p:nvSpPr>
          <p:spPr>
            <a:xfrm>
              <a:off x="0" y="-57150"/>
              <a:ext cx="4023360" cy="1008126"/>
            </a:xfrm>
            <a:prstGeom prst="rect">
              <a:avLst/>
            </a:prstGeom>
          </p:spPr>
          <p:txBody>
            <a:bodyPr lIns="0" tIns="0" rIns="0" bIns="0" rtlCol="0" anchor="ctr"/>
            <a:lstStyle/>
            <a:p>
              <a:pPr algn="l">
                <a:lnSpc>
                  <a:spcPts val="3419"/>
                </a:lnSpc>
              </a:pPr>
              <a:r>
                <a:rPr lang="en-US" sz="2849" b="1">
                  <a:solidFill>
                    <a:srgbClr val="17375E"/>
                  </a:solidFill>
                  <a:latin typeface="Calibri (MS) Bold"/>
                  <a:ea typeface="Calibri (MS) Bold"/>
                  <a:cs typeface="Calibri (MS) Bold"/>
                  <a:sym typeface="Calibri (MS) Bold"/>
                </a:rPr>
                <a:t>Board Select</a:t>
              </a:r>
            </a:p>
          </p:txBody>
        </p:sp>
      </p:grpSp>
      <p:grpSp>
        <p:nvGrpSpPr>
          <p:cNvPr id="29" name="Group 29"/>
          <p:cNvGrpSpPr/>
          <p:nvPr/>
        </p:nvGrpSpPr>
        <p:grpSpPr>
          <a:xfrm>
            <a:off x="4615661" y="4299369"/>
            <a:ext cx="12282616" cy="760352"/>
            <a:chOff x="0" y="0"/>
            <a:chExt cx="15361920" cy="950976"/>
          </a:xfrm>
        </p:grpSpPr>
        <p:sp>
          <p:nvSpPr>
            <p:cNvPr id="30" name="Freeform 30"/>
            <p:cNvSpPr/>
            <p:nvPr/>
          </p:nvSpPr>
          <p:spPr>
            <a:xfrm>
              <a:off x="0" y="0"/>
              <a:ext cx="15361920" cy="950976"/>
            </a:xfrm>
            <a:custGeom>
              <a:avLst/>
              <a:gdLst/>
              <a:ahLst/>
              <a:cxnLst/>
              <a:rect l="l" t="t" r="r" b="b"/>
              <a:pathLst>
                <a:path w="15361920" h="950976">
                  <a:moveTo>
                    <a:pt x="0" y="0"/>
                  </a:moveTo>
                  <a:lnTo>
                    <a:pt x="15361920" y="0"/>
                  </a:lnTo>
                  <a:lnTo>
                    <a:pt x="15361920" y="950976"/>
                  </a:lnTo>
                  <a:lnTo>
                    <a:pt x="0" y="950976"/>
                  </a:lnTo>
                  <a:close/>
                </a:path>
              </a:pathLst>
            </a:custGeom>
            <a:blipFill>
              <a:blip r:embed="rId3">
                <a:alphaModFix amt="0"/>
              </a:blip>
              <a:stretch>
                <a:fillRect t="-264758" b="-264758"/>
              </a:stretch>
            </a:blipFill>
          </p:spPr>
          <p:txBody>
            <a:bodyPr/>
            <a:lstStyle/>
            <a:p>
              <a:endParaRPr lang="en-US"/>
            </a:p>
          </p:txBody>
        </p:sp>
        <p:sp>
          <p:nvSpPr>
            <p:cNvPr id="31" name="TextBox 31"/>
            <p:cNvSpPr txBox="1"/>
            <p:nvPr/>
          </p:nvSpPr>
          <p:spPr>
            <a:xfrm>
              <a:off x="0" y="-57150"/>
              <a:ext cx="15361920" cy="1008126"/>
            </a:xfrm>
            <a:prstGeom prst="rect">
              <a:avLst/>
            </a:prstGeom>
          </p:spPr>
          <p:txBody>
            <a:bodyPr lIns="0" tIns="0" rIns="0" bIns="0" rtlCol="0" anchor="ctr"/>
            <a:lstStyle/>
            <a:p>
              <a:pPr algn="l">
                <a:lnSpc>
                  <a:spcPts val="3239"/>
                </a:lnSpc>
              </a:pPr>
              <a:r>
                <a:rPr lang="en-US" sz="2699" b="1">
                  <a:solidFill>
                    <a:srgbClr val="93A9CF"/>
                  </a:solidFill>
                  <a:latin typeface="Calibri (MS) Bold"/>
                  <a:ea typeface="Calibri (MS) Bold"/>
                  <a:cs typeface="Calibri (MS) Bold"/>
                  <a:sym typeface="Calibri (MS) Bold"/>
                </a:rPr>
                <a:t>Capsule collage, voting, comments, empty state</a:t>
              </a:r>
            </a:p>
          </p:txBody>
        </p:sp>
      </p:grpSp>
      <p:grpSp>
        <p:nvGrpSpPr>
          <p:cNvPr id="32" name="Group 32"/>
          <p:cNvGrpSpPr/>
          <p:nvPr/>
        </p:nvGrpSpPr>
        <p:grpSpPr>
          <a:xfrm>
            <a:off x="960120" y="5235187"/>
            <a:ext cx="16230600" cy="760352"/>
            <a:chOff x="0" y="0"/>
            <a:chExt cx="20299680" cy="950976"/>
          </a:xfrm>
        </p:grpSpPr>
        <p:sp>
          <p:nvSpPr>
            <p:cNvPr id="33" name="Freeform 33"/>
            <p:cNvSpPr/>
            <p:nvPr/>
          </p:nvSpPr>
          <p:spPr>
            <a:xfrm>
              <a:off x="0" y="0"/>
              <a:ext cx="20299680" cy="950976"/>
            </a:xfrm>
            <a:custGeom>
              <a:avLst/>
              <a:gdLst/>
              <a:ahLst/>
              <a:cxnLst/>
              <a:rect l="l" t="t" r="r" b="b"/>
              <a:pathLst>
                <a:path w="20299680" h="950976">
                  <a:moveTo>
                    <a:pt x="0" y="109728"/>
                  </a:moveTo>
                  <a:cubicBezTo>
                    <a:pt x="0" y="49149"/>
                    <a:pt x="49149" y="0"/>
                    <a:pt x="109728" y="0"/>
                  </a:cubicBezTo>
                  <a:lnTo>
                    <a:pt x="20189952" y="0"/>
                  </a:lnTo>
                  <a:cubicBezTo>
                    <a:pt x="20250531" y="0"/>
                    <a:pt x="20299680" y="49149"/>
                    <a:pt x="20299680" y="109728"/>
                  </a:cubicBezTo>
                  <a:lnTo>
                    <a:pt x="20299680" y="841248"/>
                  </a:lnTo>
                  <a:cubicBezTo>
                    <a:pt x="20299680" y="901827"/>
                    <a:pt x="20250531" y="950976"/>
                    <a:pt x="20189952" y="950976"/>
                  </a:cubicBezTo>
                  <a:lnTo>
                    <a:pt x="109728" y="950976"/>
                  </a:lnTo>
                  <a:cubicBezTo>
                    <a:pt x="49149" y="950976"/>
                    <a:pt x="0" y="901827"/>
                    <a:pt x="0" y="841248"/>
                  </a:cubicBezTo>
                  <a:close/>
                </a:path>
              </a:pathLst>
            </a:custGeom>
            <a:solidFill>
              <a:srgbClr val="FFFFFF"/>
            </a:solidFill>
          </p:spPr>
          <p:txBody>
            <a:bodyPr/>
            <a:lstStyle/>
            <a:p>
              <a:endParaRPr lang="en-US"/>
            </a:p>
          </p:txBody>
        </p:sp>
      </p:grpSp>
      <p:grpSp>
        <p:nvGrpSpPr>
          <p:cNvPr id="34" name="Group 34"/>
          <p:cNvGrpSpPr/>
          <p:nvPr/>
        </p:nvGrpSpPr>
        <p:grpSpPr>
          <a:xfrm>
            <a:off x="1325674" y="5235187"/>
            <a:ext cx="3216876" cy="760352"/>
            <a:chOff x="0" y="0"/>
            <a:chExt cx="4023360" cy="950976"/>
          </a:xfrm>
        </p:grpSpPr>
        <p:sp>
          <p:nvSpPr>
            <p:cNvPr id="35" name="Freeform 35"/>
            <p:cNvSpPr/>
            <p:nvPr/>
          </p:nvSpPr>
          <p:spPr>
            <a:xfrm>
              <a:off x="0" y="0"/>
              <a:ext cx="4023360" cy="950976"/>
            </a:xfrm>
            <a:custGeom>
              <a:avLst/>
              <a:gdLst/>
              <a:ahLst/>
              <a:cxnLst/>
              <a:rect l="l" t="t" r="r" b="b"/>
              <a:pathLst>
                <a:path w="4023360" h="950976">
                  <a:moveTo>
                    <a:pt x="0" y="0"/>
                  </a:moveTo>
                  <a:lnTo>
                    <a:pt x="4023360" y="0"/>
                  </a:lnTo>
                  <a:lnTo>
                    <a:pt x="4023360" y="950976"/>
                  </a:lnTo>
                  <a:lnTo>
                    <a:pt x="0" y="950976"/>
                  </a:lnTo>
                  <a:close/>
                </a:path>
              </a:pathLst>
            </a:custGeom>
            <a:blipFill>
              <a:blip r:embed="rId3">
                <a:alphaModFix amt="0"/>
              </a:blip>
              <a:stretch>
                <a:fillRect t="-32436" b="-32436"/>
              </a:stretch>
            </a:blipFill>
          </p:spPr>
          <p:txBody>
            <a:bodyPr/>
            <a:lstStyle/>
            <a:p>
              <a:endParaRPr lang="en-US"/>
            </a:p>
          </p:txBody>
        </p:sp>
        <p:sp>
          <p:nvSpPr>
            <p:cNvPr id="36" name="TextBox 36"/>
            <p:cNvSpPr txBox="1"/>
            <p:nvPr/>
          </p:nvSpPr>
          <p:spPr>
            <a:xfrm>
              <a:off x="0" y="-57150"/>
              <a:ext cx="4023360" cy="1008126"/>
            </a:xfrm>
            <a:prstGeom prst="rect">
              <a:avLst/>
            </a:prstGeom>
          </p:spPr>
          <p:txBody>
            <a:bodyPr lIns="0" tIns="0" rIns="0" bIns="0" rtlCol="0" anchor="ctr"/>
            <a:lstStyle/>
            <a:p>
              <a:pPr algn="l">
                <a:lnSpc>
                  <a:spcPts val="3419"/>
                </a:lnSpc>
              </a:pPr>
              <a:r>
                <a:rPr lang="en-US" sz="2849" b="1">
                  <a:solidFill>
                    <a:srgbClr val="17375E"/>
                  </a:solidFill>
                  <a:latin typeface="Calibri (MS) Bold"/>
                  <a:ea typeface="Calibri (MS) Bold"/>
                  <a:cs typeface="Calibri (MS) Bold"/>
                  <a:sym typeface="Calibri (MS) Bold"/>
                </a:rPr>
                <a:t>Post Confirm</a:t>
              </a:r>
            </a:p>
          </p:txBody>
        </p:sp>
      </p:grpSp>
      <p:grpSp>
        <p:nvGrpSpPr>
          <p:cNvPr id="37" name="Group 37"/>
          <p:cNvGrpSpPr/>
          <p:nvPr/>
        </p:nvGrpSpPr>
        <p:grpSpPr>
          <a:xfrm>
            <a:off x="4615661" y="5235187"/>
            <a:ext cx="12282616" cy="760352"/>
            <a:chOff x="0" y="0"/>
            <a:chExt cx="15361920" cy="950976"/>
          </a:xfrm>
        </p:grpSpPr>
        <p:sp>
          <p:nvSpPr>
            <p:cNvPr id="38" name="Freeform 38"/>
            <p:cNvSpPr/>
            <p:nvPr/>
          </p:nvSpPr>
          <p:spPr>
            <a:xfrm>
              <a:off x="0" y="0"/>
              <a:ext cx="15361920" cy="950976"/>
            </a:xfrm>
            <a:custGeom>
              <a:avLst/>
              <a:gdLst/>
              <a:ahLst/>
              <a:cxnLst/>
              <a:rect l="l" t="t" r="r" b="b"/>
              <a:pathLst>
                <a:path w="15361920" h="950976">
                  <a:moveTo>
                    <a:pt x="0" y="0"/>
                  </a:moveTo>
                  <a:lnTo>
                    <a:pt x="15361920" y="0"/>
                  </a:lnTo>
                  <a:lnTo>
                    <a:pt x="15361920" y="950976"/>
                  </a:lnTo>
                  <a:lnTo>
                    <a:pt x="0" y="950976"/>
                  </a:lnTo>
                  <a:close/>
                </a:path>
              </a:pathLst>
            </a:custGeom>
            <a:blipFill>
              <a:blip r:embed="rId3">
                <a:alphaModFix amt="0"/>
              </a:blip>
              <a:stretch>
                <a:fillRect t="-264758" b="-264758"/>
              </a:stretch>
            </a:blipFill>
          </p:spPr>
          <p:txBody>
            <a:bodyPr/>
            <a:lstStyle/>
            <a:p>
              <a:endParaRPr lang="en-US"/>
            </a:p>
          </p:txBody>
        </p:sp>
        <p:sp>
          <p:nvSpPr>
            <p:cNvPr id="39" name="TextBox 39"/>
            <p:cNvSpPr txBox="1"/>
            <p:nvPr/>
          </p:nvSpPr>
          <p:spPr>
            <a:xfrm>
              <a:off x="0" y="-57150"/>
              <a:ext cx="15361920" cy="1008126"/>
            </a:xfrm>
            <a:prstGeom prst="rect">
              <a:avLst/>
            </a:prstGeom>
          </p:spPr>
          <p:txBody>
            <a:bodyPr lIns="0" tIns="0" rIns="0" bIns="0" rtlCol="0" anchor="ctr"/>
            <a:lstStyle/>
            <a:p>
              <a:pPr algn="l">
                <a:lnSpc>
                  <a:spcPts val="3239"/>
                </a:lnSpc>
              </a:pPr>
              <a:r>
                <a:rPr lang="en-US" sz="2699" b="1">
                  <a:solidFill>
                    <a:srgbClr val="93A9CF"/>
                  </a:solidFill>
                  <a:latin typeface="Calibri (MS) Bold"/>
                  <a:ea typeface="Calibri (MS) Bold"/>
                  <a:cs typeface="Calibri (MS) Bold"/>
                  <a:sym typeface="Calibri (MS) Bold"/>
                </a:rPr>
                <a:t>Confirm to post photo to community board or usual post.</a:t>
              </a:r>
            </a:p>
          </p:txBody>
        </p:sp>
      </p:grpSp>
      <p:grpSp>
        <p:nvGrpSpPr>
          <p:cNvPr id="40" name="Group 40"/>
          <p:cNvGrpSpPr/>
          <p:nvPr/>
        </p:nvGrpSpPr>
        <p:grpSpPr>
          <a:xfrm>
            <a:off x="960120" y="6171006"/>
            <a:ext cx="16230600" cy="760352"/>
            <a:chOff x="0" y="0"/>
            <a:chExt cx="20299680" cy="950976"/>
          </a:xfrm>
        </p:grpSpPr>
        <p:sp>
          <p:nvSpPr>
            <p:cNvPr id="41" name="Freeform 41"/>
            <p:cNvSpPr/>
            <p:nvPr/>
          </p:nvSpPr>
          <p:spPr>
            <a:xfrm>
              <a:off x="0" y="0"/>
              <a:ext cx="20299680" cy="950976"/>
            </a:xfrm>
            <a:custGeom>
              <a:avLst/>
              <a:gdLst/>
              <a:ahLst/>
              <a:cxnLst/>
              <a:rect l="l" t="t" r="r" b="b"/>
              <a:pathLst>
                <a:path w="20299680" h="950976">
                  <a:moveTo>
                    <a:pt x="0" y="109728"/>
                  </a:moveTo>
                  <a:cubicBezTo>
                    <a:pt x="0" y="49149"/>
                    <a:pt x="49149" y="0"/>
                    <a:pt x="109728" y="0"/>
                  </a:cubicBezTo>
                  <a:lnTo>
                    <a:pt x="20189952" y="0"/>
                  </a:lnTo>
                  <a:cubicBezTo>
                    <a:pt x="20250531" y="0"/>
                    <a:pt x="20299680" y="49149"/>
                    <a:pt x="20299680" y="109728"/>
                  </a:cubicBezTo>
                  <a:lnTo>
                    <a:pt x="20299680" y="841248"/>
                  </a:lnTo>
                  <a:cubicBezTo>
                    <a:pt x="20299680" y="901827"/>
                    <a:pt x="20250531" y="950976"/>
                    <a:pt x="20189952" y="950976"/>
                  </a:cubicBezTo>
                  <a:lnTo>
                    <a:pt x="109728" y="950976"/>
                  </a:lnTo>
                  <a:cubicBezTo>
                    <a:pt x="49149" y="950976"/>
                    <a:pt x="0" y="901827"/>
                    <a:pt x="0" y="841248"/>
                  </a:cubicBezTo>
                  <a:close/>
                </a:path>
              </a:pathLst>
            </a:custGeom>
            <a:solidFill>
              <a:srgbClr val="FFFFFF"/>
            </a:solidFill>
          </p:spPr>
          <p:txBody>
            <a:bodyPr/>
            <a:lstStyle/>
            <a:p>
              <a:endParaRPr lang="en-US"/>
            </a:p>
          </p:txBody>
        </p:sp>
      </p:grpSp>
      <p:grpSp>
        <p:nvGrpSpPr>
          <p:cNvPr id="42" name="Group 42"/>
          <p:cNvGrpSpPr/>
          <p:nvPr/>
        </p:nvGrpSpPr>
        <p:grpSpPr>
          <a:xfrm>
            <a:off x="1325674" y="6171006"/>
            <a:ext cx="3216876" cy="760352"/>
            <a:chOff x="0" y="0"/>
            <a:chExt cx="4023360" cy="950976"/>
          </a:xfrm>
        </p:grpSpPr>
        <p:sp>
          <p:nvSpPr>
            <p:cNvPr id="43" name="Freeform 43"/>
            <p:cNvSpPr/>
            <p:nvPr/>
          </p:nvSpPr>
          <p:spPr>
            <a:xfrm>
              <a:off x="0" y="0"/>
              <a:ext cx="4023360" cy="950976"/>
            </a:xfrm>
            <a:custGeom>
              <a:avLst/>
              <a:gdLst/>
              <a:ahLst/>
              <a:cxnLst/>
              <a:rect l="l" t="t" r="r" b="b"/>
              <a:pathLst>
                <a:path w="4023360" h="950976">
                  <a:moveTo>
                    <a:pt x="0" y="0"/>
                  </a:moveTo>
                  <a:lnTo>
                    <a:pt x="4023360" y="0"/>
                  </a:lnTo>
                  <a:lnTo>
                    <a:pt x="4023360" y="950976"/>
                  </a:lnTo>
                  <a:lnTo>
                    <a:pt x="0" y="950976"/>
                  </a:lnTo>
                  <a:close/>
                </a:path>
              </a:pathLst>
            </a:custGeom>
            <a:blipFill>
              <a:blip r:embed="rId3">
                <a:alphaModFix amt="0"/>
              </a:blip>
              <a:stretch>
                <a:fillRect t="-32436" b="-32436"/>
              </a:stretch>
            </a:blipFill>
          </p:spPr>
          <p:txBody>
            <a:bodyPr/>
            <a:lstStyle/>
            <a:p>
              <a:endParaRPr lang="en-US"/>
            </a:p>
          </p:txBody>
        </p:sp>
        <p:sp>
          <p:nvSpPr>
            <p:cNvPr id="44" name="TextBox 44"/>
            <p:cNvSpPr txBox="1"/>
            <p:nvPr/>
          </p:nvSpPr>
          <p:spPr>
            <a:xfrm>
              <a:off x="0" y="-47625"/>
              <a:ext cx="4023360" cy="998601"/>
            </a:xfrm>
            <a:prstGeom prst="rect">
              <a:avLst/>
            </a:prstGeom>
          </p:spPr>
          <p:txBody>
            <a:bodyPr lIns="0" tIns="0" rIns="0" bIns="0" rtlCol="0" anchor="ctr"/>
            <a:lstStyle/>
            <a:p>
              <a:pPr algn="l">
                <a:lnSpc>
                  <a:spcPts val="3059"/>
                </a:lnSpc>
              </a:pPr>
              <a:r>
                <a:rPr lang="en-US" sz="2549" b="1">
                  <a:solidFill>
                    <a:srgbClr val="17375E"/>
                  </a:solidFill>
                  <a:latin typeface="Calibri (MS) Bold"/>
                  <a:ea typeface="Calibri (MS) Bold"/>
                  <a:cs typeface="Calibri (MS) Bold"/>
                  <a:sym typeface="Calibri (MS) Bold"/>
                </a:rPr>
                <a:t>Capsule / Board Details</a:t>
              </a:r>
            </a:p>
          </p:txBody>
        </p:sp>
      </p:grpSp>
      <p:grpSp>
        <p:nvGrpSpPr>
          <p:cNvPr id="45" name="Group 45"/>
          <p:cNvGrpSpPr/>
          <p:nvPr/>
        </p:nvGrpSpPr>
        <p:grpSpPr>
          <a:xfrm>
            <a:off x="4615661" y="6171006"/>
            <a:ext cx="12282616" cy="760352"/>
            <a:chOff x="0" y="0"/>
            <a:chExt cx="15361920" cy="950976"/>
          </a:xfrm>
        </p:grpSpPr>
        <p:sp>
          <p:nvSpPr>
            <p:cNvPr id="46" name="Freeform 46"/>
            <p:cNvSpPr/>
            <p:nvPr/>
          </p:nvSpPr>
          <p:spPr>
            <a:xfrm>
              <a:off x="0" y="0"/>
              <a:ext cx="15361920" cy="950976"/>
            </a:xfrm>
            <a:custGeom>
              <a:avLst/>
              <a:gdLst/>
              <a:ahLst/>
              <a:cxnLst/>
              <a:rect l="l" t="t" r="r" b="b"/>
              <a:pathLst>
                <a:path w="15361920" h="950976">
                  <a:moveTo>
                    <a:pt x="0" y="0"/>
                  </a:moveTo>
                  <a:lnTo>
                    <a:pt x="15361920" y="0"/>
                  </a:lnTo>
                  <a:lnTo>
                    <a:pt x="15361920" y="950976"/>
                  </a:lnTo>
                  <a:lnTo>
                    <a:pt x="0" y="950976"/>
                  </a:lnTo>
                  <a:close/>
                </a:path>
              </a:pathLst>
            </a:custGeom>
            <a:blipFill>
              <a:blip r:embed="rId3">
                <a:alphaModFix amt="0"/>
              </a:blip>
              <a:stretch>
                <a:fillRect t="-264758" b="-264758"/>
              </a:stretch>
            </a:blipFill>
          </p:spPr>
          <p:txBody>
            <a:bodyPr/>
            <a:lstStyle/>
            <a:p>
              <a:endParaRPr lang="en-US"/>
            </a:p>
          </p:txBody>
        </p:sp>
        <p:sp>
          <p:nvSpPr>
            <p:cNvPr id="47" name="TextBox 47"/>
            <p:cNvSpPr txBox="1"/>
            <p:nvPr/>
          </p:nvSpPr>
          <p:spPr>
            <a:xfrm>
              <a:off x="0" y="-57150"/>
              <a:ext cx="15361920" cy="1008126"/>
            </a:xfrm>
            <a:prstGeom prst="rect">
              <a:avLst/>
            </a:prstGeom>
          </p:spPr>
          <p:txBody>
            <a:bodyPr lIns="0" tIns="0" rIns="0" bIns="0" rtlCol="0" anchor="ctr"/>
            <a:lstStyle/>
            <a:p>
              <a:pPr algn="l">
                <a:lnSpc>
                  <a:spcPts val="3239"/>
                </a:lnSpc>
              </a:pPr>
              <a:r>
                <a:rPr lang="en-US" sz="2699" b="1">
                  <a:solidFill>
                    <a:srgbClr val="93A9CF"/>
                  </a:solidFill>
                  <a:latin typeface="Calibri (MS) Bold"/>
                  <a:ea typeface="Calibri (MS) Bold"/>
                  <a:cs typeface="Calibri (MS) Bold"/>
                  <a:sym typeface="Calibri (MS) Bold"/>
                </a:rPr>
                <a:t>Choose to view capsule collection or see board details.</a:t>
              </a:r>
            </a:p>
          </p:txBody>
        </p:sp>
      </p:grpSp>
      <p:grpSp>
        <p:nvGrpSpPr>
          <p:cNvPr id="48" name="Group 48"/>
          <p:cNvGrpSpPr/>
          <p:nvPr/>
        </p:nvGrpSpPr>
        <p:grpSpPr>
          <a:xfrm>
            <a:off x="960120" y="7102808"/>
            <a:ext cx="16230600" cy="760352"/>
            <a:chOff x="0" y="0"/>
            <a:chExt cx="20299680" cy="950976"/>
          </a:xfrm>
        </p:grpSpPr>
        <p:sp>
          <p:nvSpPr>
            <p:cNvPr id="49" name="Freeform 49"/>
            <p:cNvSpPr/>
            <p:nvPr/>
          </p:nvSpPr>
          <p:spPr>
            <a:xfrm>
              <a:off x="0" y="0"/>
              <a:ext cx="20299680" cy="950976"/>
            </a:xfrm>
            <a:custGeom>
              <a:avLst/>
              <a:gdLst/>
              <a:ahLst/>
              <a:cxnLst/>
              <a:rect l="l" t="t" r="r" b="b"/>
              <a:pathLst>
                <a:path w="20299680" h="950976">
                  <a:moveTo>
                    <a:pt x="0" y="109728"/>
                  </a:moveTo>
                  <a:cubicBezTo>
                    <a:pt x="0" y="49149"/>
                    <a:pt x="49149" y="0"/>
                    <a:pt x="109728" y="0"/>
                  </a:cubicBezTo>
                  <a:lnTo>
                    <a:pt x="20189952" y="0"/>
                  </a:lnTo>
                  <a:cubicBezTo>
                    <a:pt x="20250531" y="0"/>
                    <a:pt x="20299680" y="49149"/>
                    <a:pt x="20299680" y="109728"/>
                  </a:cubicBezTo>
                  <a:lnTo>
                    <a:pt x="20299680" y="841248"/>
                  </a:lnTo>
                  <a:cubicBezTo>
                    <a:pt x="20299680" y="901827"/>
                    <a:pt x="20250531" y="950976"/>
                    <a:pt x="20189952" y="950976"/>
                  </a:cubicBezTo>
                  <a:lnTo>
                    <a:pt x="109728" y="950976"/>
                  </a:lnTo>
                  <a:cubicBezTo>
                    <a:pt x="49149" y="950976"/>
                    <a:pt x="0" y="901827"/>
                    <a:pt x="0" y="841248"/>
                  </a:cubicBezTo>
                  <a:close/>
                </a:path>
              </a:pathLst>
            </a:custGeom>
            <a:solidFill>
              <a:srgbClr val="FFFFFF"/>
            </a:solidFill>
          </p:spPr>
          <p:txBody>
            <a:bodyPr/>
            <a:lstStyle/>
            <a:p>
              <a:endParaRPr lang="en-US"/>
            </a:p>
          </p:txBody>
        </p:sp>
      </p:grpSp>
      <p:grpSp>
        <p:nvGrpSpPr>
          <p:cNvPr id="50" name="Group 50"/>
          <p:cNvGrpSpPr/>
          <p:nvPr/>
        </p:nvGrpSpPr>
        <p:grpSpPr>
          <a:xfrm>
            <a:off x="1325674" y="7102808"/>
            <a:ext cx="3216876" cy="760352"/>
            <a:chOff x="0" y="0"/>
            <a:chExt cx="4023360" cy="950976"/>
          </a:xfrm>
        </p:grpSpPr>
        <p:sp>
          <p:nvSpPr>
            <p:cNvPr id="51" name="Freeform 51"/>
            <p:cNvSpPr/>
            <p:nvPr/>
          </p:nvSpPr>
          <p:spPr>
            <a:xfrm>
              <a:off x="0" y="0"/>
              <a:ext cx="4023360" cy="950976"/>
            </a:xfrm>
            <a:custGeom>
              <a:avLst/>
              <a:gdLst/>
              <a:ahLst/>
              <a:cxnLst/>
              <a:rect l="l" t="t" r="r" b="b"/>
              <a:pathLst>
                <a:path w="4023360" h="950976">
                  <a:moveTo>
                    <a:pt x="0" y="0"/>
                  </a:moveTo>
                  <a:lnTo>
                    <a:pt x="4023360" y="0"/>
                  </a:lnTo>
                  <a:lnTo>
                    <a:pt x="4023360" y="950976"/>
                  </a:lnTo>
                  <a:lnTo>
                    <a:pt x="0" y="950976"/>
                  </a:lnTo>
                  <a:close/>
                </a:path>
              </a:pathLst>
            </a:custGeom>
            <a:blipFill>
              <a:blip r:embed="rId3">
                <a:alphaModFix amt="0"/>
              </a:blip>
              <a:stretch>
                <a:fillRect t="-32436" b="-32436"/>
              </a:stretch>
            </a:blipFill>
          </p:spPr>
          <p:txBody>
            <a:bodyPr/>
            <a:lstStyle/>
            <a:p>
              <a:endParaRPr lang="en-US"/>
            </a:p>
          </p:txBody>
        </p:sp>
        <p:sp>
          <p:nvSpPr>
            <p:cNvPr id="52" name="TextBox 52"/>
            <p:cNvSpPr txBox="1"/>
            <p:nvPr/>
          </p:nvSpPr>
          <p:spPr>
            <a:xfrm>
              <a:off x="0" y="-57150"/>
              <a:ext cx="4023360" cy="1008126"/>
            </a:xfrm>
            <a:prstGeom prst="rect">
              <a:avLst/>
            </a:prstGeom>
          </p:spPr>
          <p:txBody>
            <a:bodyPr lIns="0" tIns="0" rIns="0" bIns="0" rtlCol="0" anchor="ctr"/>
            <a:lstStyle/>
            <a:p>
              <a:pPr algn="l">
                <a:lnSpc>
                  <a:spcPts val="3419"/>
                </a:lnSpc>
              </a:pPr>
              <a:r>
                <a:rPr lang="en-US" sz="2849" b="1">
                  <a:solidFill>
                    <a:srgbClr val="17375E"/>
                  </a:solidFill>
                  <a:latin typeface="Calibri (MS) Bold"/>
                  <a:ea typeface="Calibri (MS) Bold"/>
                  <a:cs typeface="Calibri (MS) Bold"/>
                  <a:sym typeface="Calibri (MS) Bold"/>
                </a:rPr>
                <a:t>BeReal Passport</a:t>
              </a:r>
            </a:p>
          </p:txBody>
        </p:sp>
      </p:grpSp>
      <p:grpSp>
        <p:nvGrpSpPr>
          <p:cNvPr id="53" name="Group 53"/>
          <p:cNvGrpSpPr/>
          <p:nvPr/>
        </p:nvGrpSpPr>
        <p:grpSpPr>
          <a:xfrm>
            <a:off x="4615661" y="7102808"/>
            <a:ext cx="12282616" cy="760352"/>
            <a:chOff x="0" y="0"/>
            <a:chExt cx="15361920" cy="950976"/>
          </a:xfrm>
        </p:grpSpPr>
        <p:sp>
          <p:nvSpPr>
            <p:cNvPr id="54" name="Freeform 54"/>
            <p:cNvSpPr/>
            <p:nvPr/>
          </p:nvSpPr>
          <p:spPr>
            <a:xfrm>
              <a:off x="0" y="0"/>
              <a:ext cx="15361920" cy="950976"/>
            </a:xfrm>
            <a:custGeom>
              <a:avLst/>
              <a:gdLst/>
              <a:ahLst/>
              <a:cxnLst/>
              <a:rect l="l" t="t" r="r" b="b"/>
              <a:pathLst>
                <a:path w="15361920" h="950976">
                  <a:moveTo>
                    <a:pt x="0" y="0"/>
                  </a:moveTo>
                  <a:lnTo>
                    <a:pt x="15361920" y="0"/>
                  </a:lnTo>
                  <a:lnTo>
                    <a:pt x="15361920" y="950976"/>
                  </a:lnTo>
                  <a:lnTo>
                    <a:pt x="0" y="950976"/>
                  </a:lnTo>
                  <a:close/>
                </a:path>
              </a:pathLst>
            </a:custGeom>
            <a:blipFill>
              <a:blip r:embed="rId3">
                <a:alphaModFix amt="0"/>
              </a:blip>
              <a:stretch>
                <a:fillRect t="-264758" b="-264758"/>
              </a:stretch>
            </a:blipFill>
          </p:spPr>
          <p:txBody>
            <a:bodyPr/>
            <a:lstStyle/>
            <a:p>
              <a:endParaRPr lang="en-US"/>
            </a:p>
          </p:txBody>
        </p:sp>
        <p:sp>
          <p:nvSpPr>
            <p:cNvPr id="55" name="TextBox 55"/>
            <p:cNvSpPr txBox="1"/>
            <p:nvPr/>
          </p:nvSpPr>
          <p:spPr>
            <a:xfrm>
              <a:off x="0" y="-57150"/>
              <a:ext cx="15361920" cy="1008126"/>
            </a:xfrm>
            <a:prstGeom prst="rect">
              <a:avLst/>
            </a:prstGeom>
          </p:spPr>
          <p:txBody>
            <a:bodyPr lIns="0" tIns="0" rIns="0" bIns="0" rtlCol="0" anchor="ctr"/>
            <a:lstStyle/>
            <a:p>
              <a:pPr algn="l">
                <a:lnSpc>
                  <a:spcPts val="3239"/>
                </a:lnSpc>
              </a:pPr>
              <a:r>
                <a:rPr lang="en-US" sz="2699" b="1">
                  <a:solidFill>
                    <a:srgbClr val="93A9CF"/>
                  </a:solidFill>
                  <a:latin typeface="Calibri (MS) Bold"/>
                  <a:ea typeface="Calibri (MS) Bold"/>
                  <a:cs typeface="Calibri (MS) Bold"/>
                  <a:sym typeface="Calibri (MS) Bold"/>
                </a:rPr>
                <a:t>Stamp collection grid + streak cue</a:t>
              </a:r>
            </a:p>
          </p:txBody>
        </p:sp>
      </p:grpSp>
      <p:grpSp>
        <p:nvGrpSpPr>
          <p:cNvPr id="56" name="Group 56"/>
          <p:cNvGrpSpPr/>
          <p:nvPr/>
        </p:nvGrpSpPr>
        <p:grpSpPr>
          <a:xfrm>
            <a:off x="960120" y="8034610"/>
            <a:ext cx="16230600" cy="760352"/>
            <a:chOff x="0" y="0"/>
            <a:chExt cx="20299680" cy="950976"/>
          </a:xfrm>
        </p:grpSpPr>
        <p:sp>
          <p:nvSpPr>
            <p:cNvPr id="57" name="Freeform 57"/>
            <p:cNvSpPr/>
            <p:nvPr/>
          </p:nvSpPr>
          <p:spPr>
            <a:xfrm>
              <a:off x="0" y="0"/>
              <a:ext cx="20299680" cy="950976"/>
            </a:xfrm>
            <a:custGeom>
              <a:avLst/>
              <a:gdLst/>
              <a:ahLst/>
              <a:cxnLst/>
              <a:rect l="l" t="t" r="r" b="b"/>
              <a:pathLst>
                <a:path w="20299680" h="950976">
                  <a:moveTo>
                    <a:pt x="0" y="109728"/>
                  </a:moveTo>
                  <a:cubicBezTo>
                    <a:pt x="0" y="49149"/>
                    <a:pt x="49149" y="0"/>
                    <a:pt x="109728" y="0"/>
                  </a:cubicBezTo>
                  <a:lnTo>
                    <a:pt x="20189952" y="0"/>
                  </a:lnTo>
                  <a:cubicBezTo>
                    <a:pt x="20250531" y="0"/>
                    <a:pt x="20299680" y="49149"/>
                    <a:pt x="20299680" y="109728"/>
                  </a:cubicBezTo>
                  <a:lnTo>
                    <a:pt x="20299680" y="841248"/>
                  </a:lnTo>
                  <a:cubicBezTo>
                    <a:pt x="20299680" y="901827"/>
                    <a:pt x="20250531" y="950976"/>
                    <a:pt x="20189952" y="950976"/>
                  </a:cubicBezTo>
                  <a:lnTo>
                    <a:pt x="109728" y="950976"/>
                  </a:lnTo>
                  <a:cubicBezTo>
                    <a:pt x="49149" y="950976"/>
                    <a:pt x="0" y="901827"/>
                    <a:pt x="0" y="841248"/>
                  </a:cubicBezTo>
                  <a:close/>
                </a:path>
              </a:pathLst>
            </a:custGeom>
            <a:solidFill>
              <a:srgbClr val="FFFFFF"/>
            </a:solidFill>
          </p:spPr>
          <p:txBody>
            <a:bodyPr/>
            <a:lstStyle/>
            <a:p>
              <a:endParaRPr lang="en-US"/>
            </a:p>
          </p:txBody>
        </p:sp>
      </p:grpSp>
      <p:grpSp>
        <p:nvGrpSpPr>
          <p:cNvPr id="58" name="Group 58"/>
          <p:cNvGrpSpPr/>
          <p:nvPr/>
        </p:nvGrpSpPr>
        <p:grpSpPr>
          <a:xfrm>
            <a:off x="1325674" y="8034610"/>
            <a:ext cx="3216876" cy="760352"/>
            <a:chOff x="0" y="0"/>
            <a:chExt cx="4023360" cy="950976"/>
          </a:xfrm>
        </p:grpSpPr>
        <p:sp>
          <p:nvSpPr>
            <p:cNvPr id="59" name="Freeform 59"/>
            <p:cNvSpPr/>
            <p:nvPr/>
          </p:nvSpPr>
          <p:spPr>
            <a:xfrm>
              <a:off x="0" y="0"/>
              <a:ext cx="4023360" cy="950976"/>
            </a:xfrm>
            <a:custGeom>
              <a:avLst/>
              <a:gdLst/>
              <a:ahLst/>
              <a:cxnLst/>
              <a:rect l="l" t="t" r="r" b="b"/>
              <a:pathLst>
                <a:path w="4023360" h="950976">
                  <a:moveTo>
                    <a:pt x="0" y="0"/>
                  </a:moveTo>
                  <a:lnTo>
                    <a:pt x="4023360" y="0"/>
                  </a:lnTo>
                  <a:lnTo>
                    <a:pt x="4023360" y="950976"/>
                  </a:lnTo>
                  <a:lnTo>
                    <a:pt x="0" y="950976"/>
                  </a:lnTo>
                  <a:close/>
                </a:path>
              </a:pathLst>
            </a:custGeom>
            <a:blipFill>
              <a:blip r:embed="rId3">
                <a:alphaModFix amt="0"/>
              </a:blip>
              <a:stretch>
                <a:fillRect t="-32436" b="-32436"/>
              </a:stretch>
            </a:blipFill>
          </p:spPr>
          <p:txBody>
            <a:bodyPr/>
            <a:lstStyle/>
            <a:p>
              <a:endParaRPr lang="en-US"/>
            </a:p>
          </p:txBody>
        </p:sp>
        <p:sp>
          <p:nvSpPr>
            <p:cNvPr id="60" name="TextBox 60"/>
            <p:cNvSpPr txBox="1"/>
            <p:nvPr/>
          </p:nvSpPr>
          <p:spPr>
            <a:xfrm>
              <a:off x="0" y="-57150"/>
              <a:ext cx="4023360" cy="1008126"/>
            </a:xfrm>
            <a:prstGeom prst="rect">
              <a:avLst/>
            </a:prstGeom>
          </p:spPr>
          <p:txBody>
            <a:bodyPr lIns="0" tIns="0" rIns="0" bIns="0" rtlCol="0" anchor="ctr"/>
            <a:lstStyle/>
            <a:p>
              <a:pPr algn="l">
                <a:lnSpc>
                  <a:spcPts val="3419"/>
                </a:lnSpc>
              </a:pPr>
              <a:r>
                <a:rPr lang="en-US" sz="2849" b="1">
                  <a:solidFill>
                    <a:srgbClr val="17375E"/>
                  </a:solidFill>
                  <a:latin typeface="Calibri (MS) Bold"/>
                  <a:ea typeface="Calibri (MS) Bold"/>
                  <a:cs typeface="Calibri (MS) Bold"/>
                  <a:sym typeface="Calibri (MS) Bold"/>
                </a:rPr>
                <a:t>Leaderboard</a:t>
              </a:r>
            </a:p>
          </p:txBody>
        </p:sp>
      </p:grpSp>
      <p:grpSp>
        <p:nvGrpSpPr>
          <p:cNvPr id="61" name="Group 61"/>
          <p:cNvGrpSpPr/>
          <p:nvPr/>
        </p:nvGrpSpPr>
        <p:grpSpPr>
          <a:xfrm>
            <a:off x="4615661" y="8034610"/>
            <a:ext cx="12282616" cy="760352"/>
            <a:chOff x="0" y="0"/>
            <a:chExt cx="15361920" cy="950976"/>
          </a:xfrm>
        </p:grpSpPr>
        <p:sp>
          <p:nvSpPr>
            <p:cNvPr id="62" name="Freeform 62"/>
            <p:cNvSpPr/>
            <p:nvPr/>
          </p:nvSpPr>
          <p:spPr>
            <a:xfrm>
              <a:off x="0" y="0"/>
              <a:ext cx="15361920" cy="950976"/>
            </a:xfrm>
            <a:custGeom>
              <a:avLst/>
              <a:gdLst/>
              <a:ahLst/>
              <a:cxnLst/>
              <a:rect l="l" t="t" r="r" b="b"/>
              <a:pathLst>
                <a:path w="15361920" h="950976">
                  <a:moveTo>
                    <a:pt x="0" y="0"/>
                  </a:moveTo>
                  <a:lnTo>
                    <a:pt x="15361920" y="0"/>
                  </a:lnTo>
                  <a:lnTo>
                    <a:pt x="15361920" y="950976"/>
                  </a:lnTo>
                  <a:lnTo>
                    <a:pt x="0" y="950976"/>
                  </a:lnTo>
                  <a:close/>
                </a:path>
              </a:pathLst>
            </a:custGeom>
            <a:blipFill>
              <a:blip r:embed="rId3">
                <a:alphaModFix amt="0"/>
              </a:blip>
              <a:stretch>
                <a:fillRect t="-264758" b="-264758"/>
              </a:stretch>
            </a:blipFill>
          </p:spPr>
          <p:txBody>
            <a:bodyPr/>
            <a:lstStyle/>
            <a:p>
              <a:endParaRPr lang="en-US"/>
            </a:p>
          </p:txBody>
        </p:sp>
        <p:sp>
          <p:nvSpPr>
            <p:cNvPr id="63" name="TextBox 63"/>
            <p:cNvSpPr txBox="1"/>
            <p:nvPr/>
          </p:nvSpPr>
          <p:spPr>
            <a:xfrm>
              <a:off x="0" y="-57150"/>
              <a:ext cx="15361920" cy="1008126"/>
            </a:xfrm>
            <a:prstGeom prst="rect">
              <a:avLst/>
            </a:prstGeom>
          </p:spPr>
          <p:txBody>
            <a:bodyPr lIns="0" tIns="0" rIns="0" bIns="0" rtlCol="0" anchor="ctr"/>
            <a:lstStyle/>
            <a:p>
              <a:pPr algn="l">
                <a:lnSpc>
                  <a:spcPts val="3239"/>
                </a:lnSpc>
              </a:pPr>
              <a:r>
                <a:rPr lang="en-US" sz="2699" b="1">
                  <a:solidFill>
                    <a:srgbClr val="93A9CF"/>
                  </a:solidFill>
                  <a:latin typeface="Calibri (MS) Bold"/>
                  <a:ea typeface="Calibri (MS) Bold"/>
                  <a:cs typeface="Calibri (MS) Bold"/>
                  <a:sym typeface="Calibri (MS) Bold"/>
                </a:rPr>
                <a:t>Squad ranking + sponsor banner mockup</a:t>
              </a:r>
            </a:p>
          </p:txBody>
        </p:sp>
      </p:grpSp>
      <p:grpSp>
        <p:nvGrpSpPr>
          <p:cNvPr id="64" name="Group 64"/>
          <p:cNvGrpSpPr/>
          <p:nvPr/>
        </p:nvGrpSpPr>
        <p:grpSpPr>
          <a:xfrm>
            <a:off x="960120" y="8966413"/>
            <a:ext cx="16230600" cy="760352"/>
            <a:chOff x="0" y="0"/>
            <a:chExt cx="20299680" cy="950976"/>
          </a:xfrm>
        </p:grpSpPr>
        <p:sp>
          <p:nvSpPr>
            <p:cNvPr id="65" name="Freeform 65"/>
            <p:cNvSpPr/>
            <p:nvPr/>
          </p:nvSpPr>
          <p:spPr>
            <a:xfrm>
              <a:off x="0" y="0"/>
              <a:ext cx="20299680" cy="950976"/>
            </a:xfrm>
            <a:custGeom>
              <a:avLst/>
              <a:gdLst/>
              <a:ahLst/>
              <a:cxnLst/>
              <a:rect l="l" t="t" r="r" b="b"/>
              <a:pathLst>
                <a:path w="20299680" h="950976">
                  <a:moveTo>
                    <a:pt x="0" y="109728"/>
                  </a:moveTo>
                  <a:cubicBezTo>
                    <a:pt x="0" y="49149"/>
                    <a:pt x="49149" y="0"/>
                    <a:pt x="109728" y="0"/>
                  </a:cubicBezTo>
                  <a:lnTo>
                    <a:pt x="20189952" y="0"/>
                  </a:lnTo>
                  <a:cubicBezTo>
                    <a:pt x="20250531" y="0"/>
                    <a:pt x="20299680" y="49149"/>
                    <a:pt x="20299680" y="109728"/>
                  </a:cubicBezTo>
                  <a:lnTo>
                    <a:pt x="20299680" y="841248"/>
                  </a:lnTo>
                  <a:cubicBezTo>
                    <a:pt x="20299680" y="901827"/>
                    <a:pt x="20250531" y="950976"/>
                    <a:pt x="20189952" y="950976"/>
                  </a:cubicBezTo>
                  <a:lnTo>
                    <a:pt x="109728" y="950976"/>
                  </a:lnTo>
                  <a:cubicBezTo>
                    <a:pt x="49149" y="950976"/>
                    <a:pt x="0" y="901827"/>
                    <a:pt x="0" y="841248"/>
                  </a:cubicBezTo>
                  <a:close/>
                </a:path>
              </a:pathLst>
            </a:custGeom>
            <a:solidFill>
              <a:srgbClr val="FFFFFF"/>
            </a:solidFill>
          </p:spPr>
          <p:txBody>
            <a:bodyPr/>
            <a:lstStyle/>
            <a:p>
              <a:endParaRPr lang="en-US"/>
            </a:p>
          </p:txBody>
        </p:sp>
      </p:grpSp>
      <p:grpSp>
        <p:nvGrpSpPr>
          <p:cNvPr id="66" name="Group 66"/>
          <p:cNvGrpSpPr/>
          <p:nvPr/>
        </p:nvGrpSpPr>
        <p:grpSpPr>
          <a:xfrm>
            <a:off x="1325674" y="8966413"/>
            <a:ext cx="3216876" cy="760352"/>
            <a:chOff x="0" y="0"/>
            <a:chExt cx="4023360" cy="950976"/>
          </a:xfrm>
        </p:grpSpPr>
        <p:sp>
          <p:nvSpPr>
            <p:cNvPr id="67" name="Freeform 67"/>
            <p:cNvSpPr/>
            <p:nvPr/>
          </p:nvSpPr>
          <p:spPr>
            <a:xfrm>
              <a:off x="0" y="0"/>
              <a:ext cx="4023360" cy="950976"/>
            </a:xfrm>
            <a:custGeom>
              <a:avLst/>
              <a:gdLst/>
              <a:ahLst/>
              <a:cxnLst/>
              <a:rect l="l" t="t" r="r" b="b"/>
              <a:pathLst>
                <a:path w="4023360" h="950976">
                  <a:moveTo>
                    <a:pt x="0" y="0"/>
                  </a:moveTo>
                  <a:lnTo>
                    <a:pt x="4023360" y="0"/>
                  </a:lnTo>
                  <a:lnTo>
                    <a:pt x="4023360" y="950976"/>
                  </a:lnTo>
                  <a:lnTo>
                    <a:pt x="0" y="950976"/>
                  </a:lnTo>
                  <a:close/>
                </a:path>
              </a:pathLst>
            </a:custGeom>
            <a:blipFill>
              <a:blip r:embed="rId3">
                <a:alphaModFix amt="0"/>
              </a:blip>
              <a:stretch>
                <a:fillRect t="-32436" b="-32436"/>
              </a:stretch>
            </a:blipFill>
          </p:spPr>
          <p:txBody>
            <a:bodyPr/>
            <a:lstStyle/>
            <a:p>
              <a:endParaRPr lang="en-US"/>
            </a:p>
          </p:txBody>
        </p:sp>
        <p:sp>
          <p:nvSpPr>
            <p:cNvPr id="68" name="TextBox 68"/>
            <p:cNvSpPr txBox="1"/>
            <p:nvPr/>
          </p:nvSpPr>
          <p:spPr>
            <a:xfrm>
              <a:off x="0" y="-57150"/>
              <a:ext cx="4023360" cy="1008126"/>
            </a:xfrm>
            <a:prstGeom prst="rect">
              <a:avLst/>
            </a:prstGeom>
          </p:spPr>
          <p:txBody>
            <a:bodyPr lIns="0" tIns="0" rIns="0" bIns="0" rtlCol="0" anchor="ctr"/>
            <a:lstStyle/>
            <a:p>
              <a:pPr algn="l">
                <a:lnSpc>
                  <a:spcPts val="3419"/>
                </a:lnSpc>
              </a:pPr>
              <a:r>
                <a:rPr lang="en-US" sz="2849" b="1">
                  <a:solidFill>
                    <a:srgbClr val="17375E"/>
                  </a:solidFill>
                  <a:latin typeface="Calibri (MS) Bold"/>
                  <a:ea typeface="Calibri (MS) Bold"/>
                  <a:cs typeface="Calibri (MS) Bold"/>
                  <a:sym typeface="Calibri (MS) Bold"/>
                </a:rPr>
                <a:t>Settings / Opt-out</a:t>
              </a:r>
            </a:p>
          </p:txBody>
        </p:sp>
      </p:grpSp>
      <p:grpSp>
        <p:nvGrpSpPr>
          <p:cNvPr id="69" name="Group 69"/>
          <p:cNvGrpSpPr/>
          <p:nvPr/>
        </p:nvGrpSpPr>
        <p:grpSpPr>
          <a:xfrm>
            <a:off x="4615661" y="8966413"/>
            <a:ext cx="12282616" cy="760352"/>
            <a:chOff x="0" y="0"/>
            <a:chExt cx="15361920" cy="950976"/>
          </a:xfrm>
        </p:grpSpPr>
        <p:sp>
          <p:nvSpPr>
            <p:cNvPr id="70" name="Freeform 70"/>
            <p:cNvSpPr/>
            <p:nvPr/>
          </p:nvSpPr>
          <p:spPr>
            <a:xfrm>
              <a:off x="0" y="0"/>
              <a:ext cx="15361920" cy="950976"/>
            </a:xfrm>
            <a:custGeom>
              <a:avLst/>
              <a:gdLst/>
              <a:ahLst/>
              <a:cxnLst/>
              <a:rect l="l" t="t" r="r" b="b"/>
              <a:pathLst>
                <a:path w="15361920" h="950976">
                  <a:moveTo>
                    <a:pt x="0" y="0"/>
                  </a:moveTo>
                  <a:lnTo>
                    <a:pt x="15361920" y="0"/>
                  </a:lnTo>
                  <a:lnTo>
                    <a:pt x="15361920" y="950976"/>
                  </a:lnTo>
                  <a:lnTo>
                    <a:pt x="0" y="950976"/>
                  </a:lnTo>
                  <a:close/>
                </a:path>
              </a:pathLst>
            </a:custGeom>
            <a:blipFill>
              <a:blip r:embed="rId3">
                <a:alphaModFix amt="0"/>
              </a:blip>
              <a:stretch>
                <a:fillRect t="-264758" b="-264758"/>
              </a:stretch>
            </a:blipFill>
          </p:spPr>
          <p:txBody>
            <a:bodyPr/>
            <a:lstStyle/>
            <a:p>
              <a:endParaRPr lang="en-US"/>
            </a:p>
          </p:txBody>
        </p:sp>
        <p:sp>
          <p:nvSpPr>
            <p:cNvPr id="71" name="TextBox 71"/>
            <p:cNvSpPr txBox="1"/>
            <p:nvPr/>
          </p:nvSpPr>
          <p:spPr>
            <a:xfrm>
              <a:off x="0" y="-57150"/>
              <a:ext cx="15361920" cy="1008126"/>
            </a:xfrm>
            <a:prstGeom prst="rect">
              <a:avLst/>
            </a:prstGeom>
          </p:spPr>
          <p:txBody>
            <a:bodyPr lIns="0" tIns="0" rIns="0" bIns="0" rtlCol="0" anchor="ctr"/>
            <a:lstStyle/>
            <a:p>
              <a:pPr algn="l">
                <a:lnSpc>
                  <a:spcPts val="3239"/>
                </a:lnSpc>
              </a:pPr>
              <a:r>
                <a:rPr lang="en-US" sz="2699" b="1">
                  <a:solidFill>
                    <a:srgbClr val="93A9CF"/>
                  </a:solidFill>
                  <a:latin typeface="Calibri (MS) Bold"/>
                  <a:ea typeface="Calibri (MS) Bold"/>
                  <a:cs typeface="Calibri (MS) Bold"/>
                  <a:sym typeface="Calibri (MS) Bold"/>
                </a:rPr>
                <a:t>Control settings for name and password. User can opt-out of community board.</a:t>
              </a:r>
            </a:p>
          </p:txBody>
        </p:sp>
      </p:gr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0A0A0A"/>
        </a:solidFill>
        <a:effectLst/>
      </p:bgPr>
    </p:bg>
    <p:spTree>
      <p:nvGrpSpPr>
        <p:cNvPr id="1" name=""/>
        <p:cNvGrpSpPr/>
        <p:nvPr/>
      </p:nvGrpSpPr>
      <p:grpSpPr>
        <a:xfrm>
          <a:off x="0" y="0"/>
          <a:ext cx="0" cy="0"/>
          <a:chOff x="0" y="0"/>
          <a:chExt cx="0" cy="0"/>
        </a:xfrm>
      </p:grpSpPr>
      <p:grpSp>
        <p:nvGrpSpPr>
          <p:cNvPr id="2" name="Group 2"/>
          <p:cNvGrpSpPr/>
          <p:nvPr/>
        </p:nvGrpSpPr>
        <p:grpSpPr>
          <a:xfrm>
            <a:off x="960120" y="685800"/>
            <a:ext cx="10972800" cy="480060"/>
            <a:chOff x="0" y="0"/>
            <a:chExt cx="14630400" cy="640080"/>
          </a:xfrm>
        </p:grpSpPr>
        <p:sp>
          <p:nvSpPr>
            <p:cNvPr id="3" name="Freeform 3"/>
            <p:cNvSpPr/>
            <p:nvPr/>
          </p:nvSpPr>
          <p:spPr>
            <a:xfrm>
              <a:off x="0" y="0"/>
              <a:ext cx="14630400" cy="640080"/>
            </a:xfrm>
            <a:custGeom>
              <a:avLst/>
              <a:gdLst/>
              <a:ahLst/>
              <a:cxnLst/>
              <a:rect l="l" t="t" r="r" b="b"/>
              <a:pathLst>
                <a:path w="14630400" h="640080">
                  <a:moveTo>
                    <a:pt x="0" y="0"/>
                  </a:moveTo>
                  <a:lnTo>
                    <a:pt x="14630400" y="0"/>
                  </a:lnTo>
                  <a:lnTo>
                    <a:pt x="14630400" y="640080"/>
                  </a:lnTo>
                  <a:lnTo>
                    <a:pt x="0" y="640080"/>
                  </a:lnTo>
                  <a:close/>
                </a:path>
              </a:pathLst>
            </a:custGeom>
            <a:blipFill>
              <a:blip r:embed="rId3">
                <a:alphaModFix amt="0"/>
              </a:blip>
              <a:stretch>
                <a:fillRect t="-395372" b="-395372"/>
              </a:stretch>
            </a:blipFill>
          </p:spPr>
          <p:txBody>
            <a:bodyPr/>
            <a:lstStyle/>
            <a:p>
              <a:endParaRPr lang="en-US"/>
            </a:p>
          </p:txBody>
        </p:sp>
        <p:sp>
          <p:nvSpPr>
            <p:cNvPr id="4" name="TextBox 4"/>
            <p:cNvSpPr txBox="1"/>
            <p:nvPr/>
          </p:nvSpPr>
          <p:spPr>
            <a:xfrm>
              <a:off x="0" y="-19050"/>
              <a:ext cx="14630400" cy="659130"/>
            </a:xfrm>
            <a:prstGeom prst="rect">
              <a:avLst/>
            </a:prstGeom>
          </p:spPr>
          <p:txBody>
            <a:bodyPr lIns="0" tIns="0" rIns="0" bIns="0" rtlCol="0" anchor="ctr"/>
            <a:lstStyle/>
            <a:p>
              <a:pPr algn="l">
                <a:lnSpc>
                  <a:spcPts val="2160"/>
                </a:lnSpc>
              </a:pPr>
              <a:r>
                <a:rPr lang="en-US" sz="1800" b="1" spc="450">
                  <a:solidFill>
                    <a:srgbClr val="93A9CF"/>
                  </a:solidFill>
                  <a:latin typeface="Arial Bold"/>
                  <a:ea typeface="Arial Bold"/>
                  <a:cs typeface="Arial Bold"/>
                  <a:sym typeface="Arial Bold"/>
                </a:rPr>
                <a:t>EMOTIONAL TONE</a:t>
              </a:r>
            </a:p>
          </p:txBody>
        </p:sp>
      </p:grpSp>
      <p:grpSp>
        <p:nvGrpSpPr>
          <p:cNvPr id="5" name="Group 5"/>
          <p:cNvGrpSpPr/>
          <p:nvPr/>
        </p:nvGrpSpPr>
        <p:grpSpPr>
          <a:xfrm>
            <a:off x="960120" y="1124712"/>
            <a:ext cx="14401800" cy="1303020"/>
            <a:chOff x="0" y="0"/>
            <a:chExt cx="19202400" cy="1737360"/>
          </a:xfrm>
        </p:grpSpPr>
        <p:sp>
          <p:nvSpPr>
            <p:cNvPr id="6" name="Freeform 6"/>
            <p:cNvSpPr/>
            <p:nvPr/>
          </p:nvSpPr>
          <p:spPr>
            <a:xfrm>
              <a:off x="0" y="0"/>
              <a:ext cx="19202400" cy="1737360"/>
            </a:xfrm>
            <a:custGeom>
              <a:avLst/>
              <a:gdLst/>
              <a:ahLst/>
              <a:cxnLst/>
              <a:rect l="l" t="t" r="r" b="b"/>
              <a:pathLst>
                <a:path w="19202400" h="1737360">
                  <a:moveTo>
                    <a:pt x="0" y="0"/>
                  </a:moveTo>
                  <a:lnTo>
                    <a:pt x="19202400" y="0"/>
                  </a:lnTo>
                  <a:lnTo>
                    <a:pt x="19202400" y="1737360"/>
                  </a:lnTo>
                  <a:lnTo>
                    <a:pt x="0" y="1737360"/>
                  </a:lnTo>
                  <a:close/>
                </a:path>
              </a:pathLst>
            </a:custGeom>
            <a:blipFill>
              <a:blip r:embed="rId3">
                <a:alphaModFix amt="0"/>
              </a:blip>
              <a:stretch>
                <a:fillRect t="-165360" b="-165360"/>
              </a:stretch>
            </a:blipFill>
          </p:spPr>
          <p:txBody>
            <a:bodyPr/>
            <a:lstStyle/>
            <a:p>
              <a:endParaRPr lang="en-US"/>
            </a:p>
          </p:txBody>
        </p:sp>
        <p:sp>
          <p:nvSpPr>
            <p:cNvPr id="7" name="TextBox 7"/>
            <p:cNvSpPr txBox="1"/>
            <p:nvPr/>
          </p:nvSpPr>
          <p:spPr>
            <a:xfrm>
              <a:off x="0" y="28575"/>
              <a:ext cx="19202400" cy="1708785"/>
            </a:xfrm>
            <a:prstGeom prst="rect">
              <a:avLst/>
            </a:prstGeom>
          </p:spPr>
          <p:txBody>
            <a:bodyPr lIns="0" tIns="0" rIns="0" bIns="0" rtlCol="0" anchor="ctr"/>
            <a:lstStyle/>
            <a:p>
              <a:pPr algn="l">
                <a:lnSpc>
                  <a:spcPts val="4800"/>
                </a:lnSpc>
              </a:pPr>
              <a:r>
                <a:rPr lang="en-US" sz="4500" b="1" dirty="0">
                  <a:solidFill>
                    <a:srgbClr val="FFFFFF"/>
                  </a:solidFill>
                  <a:latin typeface="Arial Bold"/>
                  <a:ea typeface="Arial Bold"/>
                  <a:cs typeface="Arial Bold"/>
                  <a:sym typeface="Arial Bold"/>
                </a:rPr>
                <a:t>In Small Amounts, Calm, Real, Human. </a:t>
              </a:r>
            </a:p>
          </p:txBody>
        </p:sp>
      </p:grpSp>
      <p:grpSp>
        <p:nvGrpSpPr>
          <p:cNvPr id="8" name="Group 8"/>
          <p:cNvGrpSpPr/>
          <p:nvPr/>
        </p:nvGrpSpPr>
        <p:grpSpPr>
          <a:xfrm>
            <a:off x="822960" y="3154680"/>
            <a:ext cx="16596360" cy="2743200"/>
            <a:chOff x="0" y="0"/>
            <a:chExt cx="22128480" cy="3657600"/>
          </a:xfrm>
        </p:grpSpPr>
        <p:sp>
          <p:nvSpPr>
            <p:cNvPr id="9" name="Freeform 9"/>
            <p:cNvSpPr/>
            <p:nvPr/>
          </p:nvSpPr>
          <p:spPr>
            <a:xfrm>
              <a:off x="0" y="0"/>
              <a:ext cx="22128480" cy="3657600"/>
            </a:xfrm>
            <a:custGeom>
              <a:avLst/>
              <a:gdLst/>
              <a:ahLst/>
              <a:cxnLst/>
              <a:rect l="l" t="t" r="r" b="b"/>
              <a:pathLst>
                <a:path w="22128480" h="3657600">
                  <a:moveTo>
                    <a:pt x="0" y="219456"/>
                  </a:moveTo>
                  <a:cubicBezTo>
                    <a:pt x="0" y="98298"/>
                    <a:pt x="98298" y="0"/>
                    <a:pt x="219456" y="0"/>
                  </a:cubicBezTo>
                  <a:lnTo>
                    <a:pt x="21909024" y="0"/>
                  </a:lnTo>
                  <a:cubicBezTo>
                    <a:pt x="22030182" y="0"/>
                    <a:pt x="22128480" y="98298"/>
                    <a:pt x="22128480" y="219456"/>
                  </a:cubicBezTo>
                  <a:lnTo>
                    <a:pt x="22128480" y="3438144"/>
                  </a:lnTo>
                  <a:cubicBezTo>
                    <a:pt x="22128480" y="3559302"/>
                    <a:pt x="22030182" y="3657600"/>
                    <a:pt x="21909024" y="3657600"/>
                  </a:cubicBezTo>
                  <a:lnTo>
                    <a:pt x="219456" y="3657600"/>
                  </a:lnTo>
                  <a:cubicBezTo>
                    <a:pt x="98298" y="3657600"/>
                    <a:pt x="0" y="3559302"/>
                    <a:pt x="0" y="3438144"/>
                  </a:cubicBezTo>
                  <a:close/>
                </a:path>
              </a:pathLst>
            </a:custGeom>
            <a:solidFill>
              <a:srgbClr val="FFFFFF"/>
            </a:solidFill>
          </p:spPr>
          <p:txBody>
            <a:bodyPr/>
            <a:lstStyle/>
            <a:p>
              <a:endParaRPr lang="en-US"/>
            </a:p>
          </p:txBody>
        </p:sp>
      </p:grpSp>
      <p:grpSp>
        <p:nvGrpSpPr>
          <p:cNvPr id="10" name="Group 10"/>
          <p:cNvGrpSpPr/>
          <p:nvPr/>
        </p:nvGrpSpPr>
        <p:grpSpPr>
          <a:xfrm>
            <a:off x="1371600" y="3634740"/>
            <a:ext cx="15499080" cy="822960"/>
            <a:chOff x="0" y="0"/>
            <a:chExt cx="20665440" cy="1097280"/>
          </a:xfrm>
        </p:grpSpPr>
        <p:sp>
          <p:nvSpPr>
            <p:cNvPr id="11" name="Freeform 11"/>
            <p:cNvSpPr/>
            <p:nvPr/>
          </p:nvSpPr>
          <p:spPr>
            <a:xfrm>
              <a:off x="0" y="0"/>
              <a:ext cx="20665439" cy="1097280"/>
            </a:xfrm>
            <a:custGeom>
              <a:avLst/>
              <a:gdLst/>
              <a:ahLst/>
              <a:cxnLst/>
              <a:rect l="l" t="t" r="r" b="b"/>
              <a:pathLst>
                <a:path w="20665439" h="1097280">
                  <a:moveTo>
                    <a:pt x="0" y="0"/>
                  </a:moveTo>
                  <a:lnTo>
                    <a:pt x="20665439" y="0"/>
                  </a:lnTo>
                  <a:lnTo>
                    <a:pt x="20665439" y="1097280"/>
                  </a:lnTo>
                  <a:lnTo>
                    <a:pt x="0" y="1097280"/>
                  </a:lnTo>
                  <a:close/>
                </a:path>
              </a:pathLst>
            </a:custGeom>
            <a:blipFill>
              <a:blip r:embed="rId3">
                <a:alphaModFix amt="0"/>
              </a:blip>
              <a:stretch>
                <a:fillRect t="-316968" b="-316968"/>
              </a:stretch>
            </a:blipFill>
          </p:spPr>
          <p:txBody>
            <a:bodyPr/>
            <a:lstStyle/>
            <a:p>
              <a:endParaRPr lang="en-US"/>
            </a:p>
          </p:txBody>
        </p:sp>
        <p:sp>
          <p:nvSpPr>
            <p:cNvPr id="12" name="TextBox 12"/>
            <p:cNvSpPr txBox="1"/>
            <p:nvPr/>
          </p:nvSpPr>
          <p:spPr>
            <a:xfrm>
              <a:off x="0" y="-19050"/>
              <a:ext cx="20665440" cy="1116330"/>
            </a:xfrm>
            <a:prstGeom prst="rect">
              <a:avLst/>
            </a:prstGeom>
          </p:spPr>
          <p:txBody>
            <a:bodyPr lIns="0" tIns="0" rIns="0" bIns="0" rtlCol="0" anchor="ctr"/>
            <a:lstStyle/>
            <a:p>
              <a:pPr algn="l">
                <a:lnSpc>
                  <a:spcPts val="3600"/>
                </a:lnSpc>
              </a:pPr>
              <a:r>
                <a:rPr lang="en-US" sz="3000" b="1" i="1">
                  <a:solidFill>
                    <a:srgbClr val="17375E"/>
                  </a:solidFill>
                  <a:latin typeface="Cambria Bold Italics"/>
                  <a:ea typeface="Cambria Bold Italics"/>
                  <a:cs typeface="Cambria Bold Italics"/>
                  <a:sym typeface="Cambria Bold Italics"/>
                </a:rPr>
                <a:t>“No one’s posted to this board yet — be the first!”</a:t>
              </a:r>
            </a:p>
          </p:txBody>
        </p:sp>
      </p:grpSp>
      <p:grpSp>
        <p:nvGrpSpPr>
          <p:cNvPr id="13" name="Group 13"/>
          <p:cNvGrpSpPr/>
          <p:nvPr/>
        </p:nvGrpSpPr>
        <p:grpSpPr>
          <a:xfrm>
            <a:off x="1371600" y="4526280"/>
            <a:ext cx="15499080" cy="1234440"/>
            <a:chOff x="0" y="0"/>
            <a:chExt cx="20665440" cy="1645920"/>
          </a:xfrm>
        </p:grpSpPr>
        <p:sp>
          <p:nvSpPr>
            <p:cNvPr id="14" name="Freeform 14"/>
            <p:cNvSpPr/>
            <p:nvPr/>
          </p:nvSpPr>
          <p:spPr>
            <a:xfrm>
              <a:off x="0" y="0"/>
              <a:ext cx="20665439" cy="1645920"/>
            </a:xfrm>
            <a:custGeom>
              <a:avLst/>
              <a:gdLst/>
              <a:ahLst/>
              <a:cxnLst/>
              <a:rect l="l" t="t" r="r" b="b"/>
              <a:pathLst>
                <a:path w="20665439" h="1645920">
                  <a:moveTo>
                    <a:pt x="0" y="0"/>
                  </a:moveTo>
                  <a:lnTo>
                    <a:pt x="20665439" y="0"/>
                  </a:lnTo>
                  <a:lnTo>
                    <a:pt x="20665439" y="1645920"/>
                  </a:lnTo>
                  <a:lnTo>
                    <a:pt x="0" y="1645920"/>
                  </a:lnTo>
                  <a:close/>
                </a:path>
              </a:pathLst>
            </a:custGeom>
            <a:blipFill>
              <a:blip r:embed="rId3">
                <a:alphaModFix amt="0"/>
              </a:blip>
              <a:stretch>
                <a:fillRect t="-194645" b="-194645"/>
              </a:stretch>
            </a:blipFill>
          </p:spPr>
          <p:txBody>
            <a:bodyPr/>
            <a:lstStyle/>
            <a:p>
              <a:endParaRPr lang="en-US"/>
            </a:p>
          </p:txBody>
        </p:sp>
        <p:sp>
          <p:nvSpPr>
            <p:cNvPr id="15" name="TextBox 15"/>
            <p:cNvSpPr txBox="1"/>
            <p:nvPr/>
          </p:nvSpPr>
          <p:spPr>
            <a:xfrm>
              <a:off x="0" y="-85725"/>
              <a:ext cx="20665440" cy="1731645"/>
            </a:xfrm>
            <a:prstGeom prst="rect">
              <a:avLst/>
            </a:prstGeom>
          </p:spPr>
          <p:txBody>
            <a:bodyPr lIns="0" tIns="0" rIns="0" bIns="0" rtlCol="0" anchor="ctr"/>
            <a:lstStyle/>
            <a:p>
              <a:pPr algn="l">
                <a:lnSpc>
                  <a:spcPts val="2700"/>
                </a:lnSpc>
              </a:pPr>
              <a:r>
                <a:rPr lang="en-US" sz="1950" b="1" dirty="0">
                  <a:solidFill>
                    <a:srgbClr val="93A9CF"/>
                  </a:solidFill>
                  <a:latin typeface="Calibri (MS) Bold"/>
                  <a:ea typeface="Calibri (MS) Bold"/>
                  <a:cs typeface="Calibri (MS) Bold"/>
                  <a:sym typeface="Calibri (MS) Bold"/>
                </a:rPr>
                <a:t>The empty state best captures BeReal’s tone — it would have been easy to leave this as a dead end or a guilt trip. Instead, it stays warm and invitational, the same register BeReal uses everywhere else.</a:t>
              </a:r>
            </a:p>
          </p:txBody>
        </p:sp>
      </p:gr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0A0A0A"/>
        </a:solidFill>
        <a:effectLst/>
      </p:bgPr>
    </p:bg>
    <p:spTree>
      <p:nvGrpSpPr>
        <p:cNvPr id="1" name=""/>
        <p:cNvGrpSpPr/>
        <p:nvPr/>
      </p:nvGrpSpPr>
      <p:grpSpPr>
        <a:xfrm>
          <a:off x="0" y="0"/>
          <a:ext cx="0" cy="0"/>
          <a:chOff x="0" y="0"/>
          <a:chExt cx="0" cy="0"/>
        </a:xfrm>
      </p:grpSpPr>
      <p:grpSp>
        <p:nvGrpSpPr>
          <p:cNvPr id="2" name="Group 2"/>
          <p:cNvGrpSpPr/>
          <p:nvPr/>
        </p:nvGrpSpPr>
        <p:grpSpPr>
          <a:xfrm>
            <a:off x="960120" y="685800"/>
            <a:ext cx="10972800" cy="480060"/>
            <a:chOff x="0" y="0"/>
            <a:chExt cx="14630400" cy="640080"/>
          </a:xfrm>
        </p:grpSpPr>
        <p:sp>
          <p:nvSpPr>
            <p:cNvPr id="3" name="Freeform 3"/>
            <p:cNvSpPr/>
            <p:nvPr/>
          </p:nvSpPr>
          <p:spPr>
            <a:xfrm>
              <a:off x="0" y="0"/>
              <a:ext cx="14630400" cy="640080"/>
            </a:xfrm>
            <a:custGeom>
              <a:avLst/>
              <a:gdLst/>
              <a:ahLst/>
              <a:cxnLst/>
              <a:rect l="l" t="t" r="r" b="b"/>
              <a:pathLst>
                <a:path w="14630400" h="640080">
                  <a:moveTo>
                    <a:pt x="0" y="0"/>
                  </a:moveTo>
                  <a:lnTo>
                    <a:pt x="14630400" y="0"/>
                  </a:lnTo>
                  <a:lnTo>
                    <a:pt x="14630400" y="640080"/>
                  </a:lnTo>
                  <a:lnTo>
                    <a:pt x="0" y="640080"/>
                  </a:lnTo>
                  <a:close/>
                </a:path>
              </a:pathLst>
            </a:custGeom>
            <a:blipFill>
              <a:blip r:embed="rId3">
                <a:alphaModFix amt="0"/>
              </a:blip>
              <a:stretch>
                <a:fillRect t="-395372" b="-395372"/>
              </a:stretch>
            </a:blipFill>
          </p:spPr>
          <p:txBody>
            <a:bodyPr/>
            <a:lstStyle/>
            <a:p>
              <a:endParaRPr lang="en-US"/>
            </a:p>
          </p:txBody>
        </p:sp>
        <p:sp>
          <p:nvSpPr>
            <p:cNvPr id="4" name="TextBox 4"/>
            <p:cNvSpPr txBox="1"/>
            <p:nvPr/>
          </p:nvSpPr>
          <p:spPr>
            <a:xfrm>
              <a:off x="0" y="-19050"/>
              <a:ext cx="14630400" cy="659130"/>
            </a:xfrm>
            <a:prstGeom prst="rect">
              <a:avLst/>
            </a:prstGeom>
          </p:spPr>
          <p:txBody>
            <a:bodyPr lIns="0" tIns="0" rIns="0" bIns="0" rtlCol="0" anchor="ctr"/>
            <a:lstStyle/>
            <a:p>
              <a:pPr algn="l">
                <a:lnSpc>
                  <a:spcPts val="2160"/>
                </a:lnSpc>
              </a:pPr>
              <a:r>
                <a:rPr lang="en-US" sz="1800" b="1" spc="450" dirty="0">
                  <a:solidFill>
                    <a:srgbClr val="93A9CF"/>
                  </a:solidFill>
                  <a:latin typeface="Arial Bold"/>
                  <a:ea typeface="Arial Bold"/>
                  <a:cs typeface="Arial Bold"/>
                  <a:sym typeface="Arial Bold"/>
                </a:rPr>
                <a:t>UI STATES COVERED</a:t>
              </a:r>
            </a:p>
          </p:txBody>
        </p:sp>
      </p:grpSp>
      <p:grpSp>
        <p:nvGrpSpPr>
          <p:cNvPr id="5" name="Group 5"/>
          <p:cNvGrpSpPr/>
          <p:nvPr/>
        </p:nvGrpSpPr>
        <p:grpSpPr>
          <a:xfrm>
            <a:off x="960120" y="1124712"/>
            <a:ext cx="13030200" cy="1303020"/>
            <a:chOff x="0" y="0"/>
            <a:chExt cx="17373600" cy="1737360"/>
          </a:xfrm>
        </p:grpSpPr>
        <p:sp>
          <p:nvSpPr>
            <p:cNvPr id="6" name="Freeform 6"/>
            <p:cNvSpPr/>
            <p:nvPr/>
          </p:nvSpPr>
          <p:spPr>
            <a:xfrm>
              <a:off x="0" y="0"/>
              <a:ext cx="17373600" cy="1737360"/>
            </a:xfrm>
            <a:custGeom>
              <a:avLst/>
              <a:gdLst/>
              <a:ahLst/>
              <a:cxnLst/>
              <a:rect l="l" t="t" r="r" b="b"/>
              <a:pathLst>
                <a:path w="17373600" h="1737360">
                  <a:moveTo>
                    <a:pt x="0" y="0"/>
                  </a:moveTo>
                  <a:lnTo>
                    <a:pt x="17373600" y="0"/>
                  </a:lnTo>
                  <a:lnTo>
                    <a:pt x="17373600" y="1737360"/>
                  </a:lnTo>
                  <a:lnTo>
                    <a:pt x="0" y="1737360"/>
                  </a:lnTo>
                  <a:close/>
                </a:path>
              </a:pathLst>
            </a:custGeom>
            <a:blipFill>
              <a:blip r:embed="rId3">
                <a:alphaModFix amt="0"/>
              </a:blip>
              <a:stretch>
                <a:fillRect t="-144850" b="-144850"/>
              </a:stretch>
            </a:blipFill>
          </p:spPr>
          <p:txBody>
            <a:bodyPr/>
            <a:lstStyle/>
            <a:p>
              <a:endParaRPr lang="en-US"/>
            </a:p>
          </p:txBody>
        </p:sp>
        <p:sp>
          <p:nvSpPr>
            <p:cNvPr id="7" name="TextBox 7"/>
            <p:cNvSpPr txBox="1"/>
            <p:nvPr/>
          </p:nvSpPr>
          <p:spPr>
            <a:xfrm>
              <a:off x="0" y="38100"/>
              <a:ext cx="17373600" cy="1699260"/>
            </a:xfrm>
            <a:prstGeom prst="rect">
              <a:avLst/>
            </a:prstGeom>
          </p:spPr>
          <p:txBody>
            <a:bodyPr lIns="0" tIns="0" rIns="0" bIns="0" rtlCol="0" anchor="ctr"/>
            <a:lstStyle/>
            <a:p>
              <a:pPr algn="l">
                <a:lnSpc>
                  <a:spcPts val="5100"/>
                </a:lnSpc>
              </a:pPr>
              <a:r>
                <a:rPr lang="en-US" sz="4800" b="1" dirty="0">
                  <a:solidFill>
                    <a:srgbClr val="FFFFFF"/>
                  </a:solidFill>
                  <a:latin typeface="Arial Bold"/>
                  <a:ea typeface="Arial Bold"/>
                  <a:cs typeface="Arial Bold"/>
                  <a:sym typeface="Arial Bold"/>
                </a:rPr>
                <a:t>Designed For More Than The Happy Path</a:t>
              </a:r>
            </a:p>
          </p:txBody>
        </p:sp>
      </p:grpSp>
      <p:grpSp>
        <p:nvGrpSpPr>
          <p:cNvPr id="8" name="Group 8"/>
          <p:cNvGrpSpPr/>
          <p:nvPr/>
        </p:nvGrpSpPr>
        <p:grpSpPr>
          <a:xfrm>
            <a:off x="960120" y="3419475"/>
            <a:ext cx="3859530" cy="4545330"/>
            <a:chOff x="0" y="0"/>
            <a:chExt cx="5146040" cy="6060440"/>
          </a:xfrm>
        </p:grpSpPr>
        <p:sp>
          <p:nvSpPr>
            <p:cNvPr id="9" name="Freeform 9"/>
            <p:cNvSpPr/>
            <p:nvPr/>
          </p:nvSpPr>
          <p:spPr>
            <a:xfrm>
              <a:off x="0" y="0"/>
              <a:ext cx="5146040" cy="6060440"/>
            </a:xfrm>
            <a:custGeom>
              <a:avLst/>
              <a:gdLst/>
              <a:ahLst/>
              <a:cxnLst/>
              <a:rect l="l" t="t" r="r" b="b"/>
              <a:pathLst>
                <a:path w="5146040" h="6060440">
                  <a:moveTo>
                    <a:pt x="0" y="220599"/>
                  </a:moveTo>
                  <a:cubicBezTo>
                    <a:pt x="0" y="98806"/>
                    <a:pt x="98806" y="0"/>
                    <a:pt x="220599" y="0"/>
                  </a:cubicBezTo>
                  <a:lnTo>
                    <a:pt x="4925441" y="0"/>
                  </a:lnTo>
                  <a:cubicBezTo>
                    <a:pt x="5047234" y="0"/>
                    <a:pt x="5146040" y="98806"/>
                    <a:pt x="5146040" y="220599"/>
                  </a:cubicBezTo>
                  <a:lnTo>
                    <a:pt x="5146040" y="5839841"/>
                  </a:lnTo>
                  <a:cubicBezTo>
                    <a:pt x="5146040" y="5961634"/>
                    <a:pt x="5047234" y="6060440"/>
                    <a:pt x="4925441" y="6060440"/>
                  </a:cubicBezTo>
                  <a:lnTo>
                    <a:pt x="220599" y="6060440"/>
                  </a:lnTo>
                  <a:cubicBezTo>
                    <a:pt x="98806" y="6060440"/>
                    <a:pt x="0" y="5961634"/>
                    <a:pt x="0" y="5839841"/>
                  </a:cubicBezTo>
                  <a:close/>
                </a:path>
              </a:pathLst>
            </a:custGeom>
            <a:solidFill>
              <a:srgbClr val="FFFFFF"/>
            </a:solidFill>
            <a:ln w="19050" cap="sq">
              <a:solidFill>
                <a:srgbClr val="93A9CF"/>
              </a:solidFill>
              <a:prstDash val="solid"/>
              <a:miter/>
            </a:ln>
          </p:spPr>
          <p:txBody>
            <a:bodyPr/>
            <a:lstStyle/>
            <a:p>
              <a:endParaRPr lang="en-US"/>
            </a:p>
          </p:txBody>
        </p:sp>
      </p:grpSp>
      <p:grpSp>
        <p:nvGrpSpPr>
          <p:cNvPr id="10" name="Group 10"/>
          <p:cNvGrpSpPr/>
          <p:nvPr/>
        </p:nvGrpSpPr>
        <p:grpSpPr>
          <a:xfrm>
            <a:off x="1243965" y="3771900"/>
            <a:ext cx="3291840" cy="822960"/>
            <a:chOff x="0" y="0"/>
            <a:chExt cx="4389120" cy="1097280"/>
          </a:xfrm>
        </p:grpSpPr>
        <p:sp>
          <p:nvSpPr>
            <p:cNvPr id="11" name="Freeform 11"/>
            <p:cNvSpPr/>
            <p:nvPr/>
          </p:nvSpPr>
          <p:spPr>
            <a:xfrm>
              <a:off x="0" y="0"/>
              <a:ext cx="4389120" cy="1097280"/>
            </a:xfrm>
            <a:custGeom>
              <a:avLst/>
              <a:gdLst/>
              <a:ahLst/>
              <a:cxnLst/>
              <a:rect l="l" t="t" r="r" b="b"/>
              <a:pathLst>
                <a:path w="4389120" h="1097280">
                  <a:moveTo>
                    <a:pt x="0" y="0"/>
                  </a:moveTo>
                  <a:lnTo>
                    <a:pt x="4389120" y="0"/>
                  </a:lnTo>
                  <a:lnTo>
                    <a:pt x="4389120" y="1097280"/>
                  </a:lnTo>
                  <a:lnTo>
                    <a:pt x="0" y="1097280"/>
                  </a:lnTo>
                  <a:close/>
                </a:path>
              </a:pathLst>
            </a:custGeom>
            <a:blipFill>
              <a:blip r:embed="rId3">
                <a:alphaModFix amt="0"/>
              </a:blip>
              <a:stretch>
                <a:fillRect t="-27940" b="-27940"/>
              </a:stretch>
            </a:blipFill>
          </p:spPr>
          <p:txBody>
            <a:bodyPr/>
            <a:lstStyle/>
            <a:p>
              <a:endParaRPr lang="en-US"/>
            </a:p>
          </p:txBody>
        </p:sp>
        <p:sp>
          <p:nvSpPr>
            <p:cNvPr id="12" name="TextBox 12"/>
            <p:cNvSpPr txBox="1"/>
            <p:nvPr/>
          </p:nvSpPr>
          <p:spPr>
            <a:xfrm>
              <a:off x="0" y="-76200"/>
              <a:ext cx="4389120" cy="1173480"/>
            </a:xfrm>
            <a:prstGeom prst="rect">
              <a:avLst/>
            </a:prstGeom>
          </p:spPr>
          <p:txBody>
            <a:bodyPr lIns="0" tIns="0" rIns="0" bIns="0" rtlCol="0" anchor="ctr"/>
            <a:lstStyle/>
            <a:p>
              <a:pPr algn="l">
                <a:lnSpc>
                  <a:spcPts val="4680"/>
                </a:lnSpc>
              </a:pPr>
              <a:r>
                <a:rPr lang="en-US" sz="3900">
                  <a:solidFill>
                    <a:srgbClr val="000000"/>
                  </a:solidFill>
                  <a:latin typeface="Calibri (MS)"/>
                  <a:ea typeface="Calibri (MS)"/>
                  <a:cs typeface="Calibri (MS)"/>
                  <a:sym typeface="Calibri (MS)"/>
                </a:rPr>
                <a:t>🌱</a:t>
              </a:r>
            </a:p>
          </p:txBody>
        </p:sp>
      </p:grpSp>
      <p:grpSp>
        <p:nvGrpSpPr>
          <p:cNvPr id="13" name="Group 13"/>
          <p:cNvGrpSpPr/>
          <p:nvPr/>
        </p:nvGrpSpPr>
        <p:grpSpPr>
          <a:xfrm>
            <a:off x="1243965" y="4732020"/>
            <a:ext cx="3291840" cy="548640"/>
            <a:chOff x="0" y="0"/>
            <a:chExt cx="4389120" cy="731520"/>
          </a:xfrm>
        </p:grpSpPr>
        <p:sp>
          <p:nvSpPr>
            <p:cNvPr id="14" name="Freeform 14"/>
            <p:cNvSpPr/>
            <p:nvPr/>
          </p:nvSpPr>
          <p:spPr>
            <a:xfrm>
              <a:off x="0" y="0"/>
              <a:ext cx="4389120" cy="731520"/>
            </a:xfrm>
            <a:custGeom>
              <a:avLst/>
              <a:gdLst/>
              <a:ahLst/>
              <a:cxnLst/>
              <a:rect l="l" t="t" r="r" b="b"/>
              <a:pathLst>
                <a:path w="4389120" h="731520">
                  <a:moveTo>
                    <a:pt x="0" y="0"/>
                  </a:moveTo>
                  <a:lnTo>
                    <a:pt x="4389120" y="0"/>
                  </a:lnTo>
                  <a:lnTo>
                    <a:pt x="4389120" y="731520"/>
                  </a:lnTo>
                  <a:lnTo>
                    <a:pt x="0" y="731520"/>
                  </a:lnTo>
                  <a:close/>
                </a:path>
              </a:pathLst>
            </a:custGeom>
            <a:blipFill>
              <a:blip r:embed="rId3">
                <a:alphaModFix amt="0"/>
              </a:blip>
              <a:stretch>
                <a:fillRect t="-66910" b="-66910"/>
              </a:stretch>
            </a:blipFill>
          </p:spPr>
          <p:txBody>
            <a:bodyPr/>
            <a:lstStyle/>
            <a:p>
              <a:endParaRPr lang="en-US"/>
            </a:p>
          </p:txBody>
        </p:sp>
        <p:sp>
          <p:nvSpPr>
            <p:cNvPr id="15" name="TextBox 15"/>
            <p:cNvSpPr txBox="1"/>
            <p:nvPr/>
          </p:nvSpPr>
          <p:spPr>
            <a:xfrm>
              <a:off x="0" y="-38100"/>
              <a:ext cx="4389120" cy="769620"/>
            </a:xfrm>
            <a:prstGeom prst="rect">
              <a:avLst/>
            </a:prstGeom>
          </p:spPr>
          <p:txBody>
            <a:bodyPr lIns="0" tIns="0" rIns="0" bIns="0" rtlCol="0" anchor="ctr"/>
            <a:lstStyle/>
            <a:p>
              <a:pPr algn="l">
                <a:lnSpc>
                  <a:spcPts val="2879"/>
                </a:lnSpc>
              </a:pPr>
              <a:r>
                <a:rPr lang="en-US" sz="2400" b="1">
                  <a:solidFill>
                    <a:srgbClr val="17375E"/>
                  </a:solidFill>
                  <a:latin typeface="Calibri (MS) Bold"/>
                  <a:ea typeface="Calibri (MS) Bold"/>
                  <a:cs typeface="Calibri (MS) Bold"/>
                  <a:sym typeface="Calibri (MS) Bold"/>
                </a:rPr>
                <a:t>Empty</a:t>
              </a:r>
            </a:p>
          </p:txBody>
        </p:sp>
      </p:grpSp>
      <p:grpSp>
        <p:nvGrpSpPr>
          <p:cNvPr id="16" name="Group 16"/>
          <p:cNvGrpSpPr/>
          <p:nvPr/>
        </p:nvGrpSpPr>
        <p:grpSpPr>
          <a:xfrm>
            <a:off x="1243965" y="5280660"/>
            <a:ext cx="3291840" cy="548640"/>
            <a:chOff x="0" y="0"/>
            <a:chExt cx="4389120" cy="731520"/>
          </a:xfrm>
        </p:grpSpPr>
        <p:sp>
          <p:nvSpPr>
            <p:cNvPr id="17" name="Freeform 17"/>
            <p:cNvSpPr/>
            <p:nvPr/>
          </p:nvSpPr>
          <p:spPr>
            <a:xfrm>
              <a:off x="0" y="0"/>
              <a:ext cx="4389120" cy="731520"/>
            </a:xfrm>
            <a:custGeom>
              <a:avLst/>
              <a:gdLst/>
              <a:ahLst/>
              <a:cxnLst/>
              <a:rect l="l" t="t" r="r" b="b"/>
              <a:pathLst>
                <a:path w="4389120" h="731520">
                  <a:moveTo>
                    <a:pt x="0" y="0"/>
                  </a:moveTo>
                  <a:lnTo>
                    <a:pt x="4389120" y="0"/>
                  </a:lnTo>
                  <a:lnTo>
                    <a:pt x="4389120" y="731520"/>
                  </a:lnTo>
                  <a:lnTo>
                    <a:pt x="0" y="731520"/>
                  </a:lnTo>
                  <a:close/>
                </a:path>
              </a:pathLst>
            </a:custGeom>
            <a:blipFill>
              <a:blip r:embed="rId3">
                <a:alphaModFix amt="0"/>
              </a:blip>
              <a:stretch>
                <a:fillRect t="-66910" b="-66910"/>
              </a:stretch>
            </a:blipFill>
          </p:spPr>
          <p:txBody>
            <a:bodyPr/>
            <a:lstStyle/>
            <a:p>
              <a:endParaRPr lang="en-US"/>
            </a:p>
          </p:txBody>
        </p:sp>
        <p:sp>
          <p:nvSpPr>
            <p:cNvPr id="18" name="TextBox 18"/>
            <p:cNvSpPr txBox="1"/>
            <p:nvPr/>
          </p:nvSpPr>
          <p:spPr>
            <a:xfrm>
              <a:off x="0" y="-19050"/>
              <a:ext cx="4389120" cy="750570"/>
            </a:xfrm>
            <a:prstGeom prst="rect">
              <a:avLst/>
            </a:prstGeom>
          </p:spPr>
          <p:txBody>
            <a:bodyPr lIns="0" tIns="0" rIns="0" bIns="0" rtlCol="0" anchor="ctr"/>
            <a:lstStyle/>
            <a:p>
              <a:pPr algn="l">
                <a:lnSpc>
                  <a:spcPts val="1889"/>
                </a:lnSpc>
              </a:pPr>
              <a:r>
                <a:rPr lang="en-US" sz="1575" b="1">
                  <a:solidFill>
                    <a:srgbClr val="93A9CF"/>
                  </a:solidFill>
                  <a:latin typeface="Calibri (MS) Bold"/>
                  <a:ea typeface="Calibri (MS) Bold"/>
                  <a:cs typeface="Calibri (MS) Bold"/>
                  <a:sym typeface="Calibri (MS) Bold"/>
                </a:rPr>
                <a:t>Board Selection / Capsule</a:t>
              </a:r>
            </a:p>
          </p:txBody>
        </p:sp>
      </p:grpSp>
      <p:grpSp>
        <p:nvGrpSpPr>
          <p:cNvPr id="19" name="Group 19"/>
          <p:cNvGrpSpPr/>
          <p:nvPr/>
        </p:nvGrpSpPr>
        <p:grpSpPr>
          <a:xfrm>
            <a:off x="1243965" y="5897880"/>
            <a:ext cx="3291840" cy="1783080"/>
            <a:chOff x="0" y="0"/>
            <a:chExt cx="4389120" cy="2377440"/>
          </a:xfrm>
        </p:grpSpPr>
        <p:sp>
          <p:nvSpPr>
            <p:cNvPr id="20" name="Freeform 20"/>
            <p:cNvSpPr/>
            <p:nvPr/>
          </p:nvSpPr>
          <p:spPr>
            <a:xfrm>
              <a:off x="0" y="0"/>
              <a:ext cx="4389120" cy="2377440"/>
            </a:xfrm>
            <a:custGeom>
              <a:avLst/>
              <a:gdLst/>
              <a:ahLst/>
              <a:cxnLst/>
              <a:rect l="l" t="t" r="r" b="b"/>
              <a:pathLst>
                <a:path w="4389120" h="2377440">
                  <a:moveTo>
                    <a:pt x="0" y="0"/>
                  </a:moveTo>
                  <a:lnTo>
                    <a:pt x="4389120" y="0"/>
                  </a:lnTo>
                  <a:lnTo>
                    <a:pt x="4389120" y="2377440"/>
                  </a:lnTo>
                  <a:lnTo>
                    <a:pt x="0" y="2377440"/>
                  </a:lnTo>
                  <a:close/>
                </a:path>
              </a:pathLst>
            </a:custGeom>
            <a:blipFill>
              <a:blip r:embed="rId3">
                <a:alphaModFix amt="0"/>
              </a:blip>
              <a:stretch>
                <a:fillRect l="-19497" r="-19497"/>
              </a:stretch>
            </a:blipFill>
          </p:spPr>
          <p:txBody>
            <a:bodyPr/>
            <a:lstStyle/>
            <a:p>
              <a:endParaRPr lang="en-US"/>
            </a:p>
          </p:txBody>
        </p:sp>
        <p:sp>
          <p:nvSpPr>
            <p:cNvPr id="21" name="TextBox 21"/>
            <p:cNvSpPr txBox="1"/>
            <p:nvPr/>
          </p:nvSpPr>
          <p:spPr>
            <a:xfrm>
              <a:off x="0" y="-57150"/>
              <a:ext cx="4389120" cy="2434590"/>
            </a:xfrm>
            <a:prstGeom prst="rect">
              <a:avLst/>
            </a:prstGeom>
          </p:spPr>
          <p:txBody>
            <a:bodyPr lIns="0" tIns="0" rIns="0" bIns="0" rtlCol="0" anchor="ctr"/>
            <a:lstStyle/>
            <a:p>
              <a:pPr algn="l">
                <a:lnSpc>
                  <a:spcPts val="2250"/>
                </a:lnSpc>
              </a:pPr>
              <a:r>
                <a:rPr lang="en-US" sz="1725" b="1" i="1">
                  <a:solidFill>
                    <a:srgbClr val="93A9CF"/>
                  </a:solidFill>
                  <a:latin typeface="Calibri (MS) Bold Italics"/>
                  <a:ea typeface="Calibri (MS) Bold Italics"/>
                  <a:cs typeface="Calibri (MS) Bold Italics"/>
                  <a:sym typeface="Calibri (MS) Bold Italics"/>
                </a:rPr>
                <a:t>“No one’s posted to this board yet — be the first!”</a:t>
              </a:r>
            </a:p>
          </p:txBody>
        </p:sp>
      </p:grpSp>
      <p:grpSp>
        <p:nvGrpSpPr>
          <p:cNvPr id="22" name="Group 22"/>
          <p:cNvGrpSpPr/>
          <p:nvPr/>
        </p:nvGrpSpPr>
        <p:grpSpPr>
          <a:xfrm>
            <a:off x="5212080" y="3419475"/>
            <a:ext cx="3859530" cy="4545330"/>
            <a:chOff x="0" y="0"/>
            <a:chExt cx="5146040" cy="6060440"/>
          </a:xfrm>
        </p:grpSpPr>
        <p:sp>
          <p:nvSpPr>
            <p:cNvPr id="23" name="Freeform 23"/>
            <p:cNvSpPr/>
            <p:nvPr/>
          </p:nvSpPr>
          <p:spPr>
            <a:xfrm>
              <a:off x="0" y="0"/>
              <a:ext cx="5146040" cy="6060440"/>
            </a:xfrm>
            <a:custGeom>
              <a:avLst/>
              <a:gdLst/>
              <a:ahLst/>
              <a:cxnLst/>
              <a:rect l="l" t="t" r="r" b="b"/>
              <a:pathLst>
                <a:path w="5146040" h="6060440">
                  <a:moveTo>
                    <a:pt x="0" y="220599"/>
                  </a:moveTo>
                  <a:cubicBezTo>
                    <a:pt x="0" y="98806"/>
                    <a:pt x="98806" y="0"/>
                    <a:pt x="220599" y="0"/>
                  </a:cubicBezTo>
                  <a:lnTo>
                    <a:pt x="4925441" y="0"/>
                  </a:lnTo>
                  <a:cubicBezTo>
                    <a:pt x="5047234" y="0"/>
                    <a:pt x="5146040" y="98806"/>
                    <a:pt x="5146040" y="220599"/>
                  </a:cubicBezTo>
                  <a:lnTo>
                    <a:pt x="5146040" y="5839841"/>
                  </a:lnTo>
                  <a:cubicBezTo>
                    <a:pt x="5146040" y="5961634"/>
                    <a:pt x="5047234" y="6060440"/>
                    <a:pt x="4925441" y="6060440"/>
                  </a:cubicBezTo>
                  <a:lnTo>
                    <a:pt x="220599" y="6060440"/>
                  </a:lnTo>
                  <a:cubicBezTo>
                    <a:pt x="98806" y="6060440"/>
                    <a:pt x="0" y="5961634"/>
                    <a:pt x="0" y="5839841"/>
                  </a:cubicBezTo>
                  <a:close/>
                </a:path>
              </a:pathLst>
            </a:custGeom>
            <a:solidFill>
              <a:srgbClr val="FFFFFF"/>
            </a:solidFill>
            <a:ln w="19050" cap="sq">
              <a:solidFill>
                <a:srgbClr val="93A9CF"/>
              </a:solidFill>
              <a:prstDash val="solid"/>
              <a:miter/>
            </a:ln>
          </p:spPr>
          <p:txBody>
            <a:bodyPr/>
            <a:lstStyle/>
            <a:p>
              <a:endParaRPr lang="en-US"/>
            </a:p>
          </p:txBody>
        </p:sp>
      </p:grpSp>
      <p:grpSp>
        <p:nvGrpSpPr>
          <p:cNvPr id="24" name="Group 24"/>
          <p:cNvGrpSpPr/>
          <p:nvPr/>
        </p:nvGrpSpPr>
        <p:grpSpPr>
          <a:xfrm>
            <a:off x="5495925" y="3771900"/>
            <a:ext cx="3291840" cy="822960"/>
            <a:chOff x="0" y="0"/>
            <a:chExt cx="4389120" cy="1097280"/>
          </a:xfrm>
        </p:grpSpPr>
        <p:sp>
          <p:nvSpPr>
            <p:cNvPr id="25" name="Freeform 25"/>
            <p:cNvSpPr/>
            <p:nvPr/>
          </p:nvSpPr>
          <p:spPr>
            <a:xfrm>
              <a:off x="0" y="0"/>
              <a:ext cx="4389120" cy="1097280"/>
            </a:xfrm>
            <a:custGeom>
              <a:avLst/>
              <a:gdLst/>
              <a:ahLst/>
              <a:cxnLst/>
              <a:rect l="l" t="t" r="r" b="b"/>
              <a:pathLst>
                <a:path w="4389120" h="1097280">
                  <a:moveTo>
                    <a:pt x="0" y="0"/>
                  </a:moveTo>
                  <a:lnTo>
                    <a:pt x="4389120" y="0"/>
                  </a:lnTo>
                  <a:lnTo>
                    <a:pt x="4389120" y="1097280"/>
                  </a:lnTo>
                  <a:lnTo>
                    <a:pt x="0" y="1097280"/>
                  </a:lnTo>
                  <a:close/>
                </a:path>
              </a:pathLst>
            </a:custGeom>
            <a:blipFill>
              <a:blip r:embed="rId3">
                <a:alphaModFix amt="0"/>
              </a:blip>
              <a:stretch>
                <a:fillRect t="-27940" b="-27940"/>
              </a:stretch>
            </a:blipFill>
          </p:spPr>
          <p:txBody>
            <a:bodyPr/>
            <a:lstStyle/>
            <a:p>
              <a:endParaRPr lang="en-US"/>
            </a:p>
          </p:txBody>
        </p:sp>
        <p:sp>
          <p:nvSpPr>
            <p:cNvPr id="26" name="TextBox 26"/>
            <p:cNvSpPr txBox="1"/>
            <p:nvPr/>
          </p:nvSpPr>
          <p:spPr>
            <a:xfrm>
              <a:off x="0" y="-76200"/>
              <a:ext cx="4389120" cy="1173480"/>
            </a:xfrm>
            <a:prstGeom prst="rect">
              <a:avLst/>
            </a:prstGeom>
          </p:spPr>
          <p:txBody>
            <a:bodyPr lIns="0" tIns="0" rIns="0" bIns="0" rtlCol="0" anchor="ctr"/>
            <a:lstStyle/>
            <a:p>
              <a:pPr algn="l">
                <a:lnSpc>
                  <a:spcPts val="4680"/>
                </a:lnSpc>
              </a:pPr>
              <a:r>
                <a:rPr lang="en-US" sz="3900">
                  <a:solidFill>
                    <a:srgbClr val="000000"/>
                  </a:solidFill>
                  <a:latin typeface="Calibri (MS)"/>
                  <a:ea typeface="Calibri (MS)"/>
                  <a:cs typeface="Calibri (MS)"/>
                  <a:sym typeface="Calibri (MS)"/>
                </a:rPr>
                <a:t>⏳</a:t>
              </a:r>
            </a:p>
          </p:txBody>
        </p:sp>
      </p:grpSp>
      <p:grpSp>
        <p:nvGrpSpPr>
          <p:cNvPr id="27" name="Group 27"/>
          <p:cNvGrpSpPr/>
          <p:nvPr/>
        </p:nvGrpSpPr>
        <p:grpSpPr>
          <a:xfrm>
            <a:off x="5495925" y="4732020"/>
            <a:ext cx="3291840" cy="548640"/>
            <a:chOff x="0" y="0"/>
            <a:chExt cx="4389120" cy="731520"/>
          </a:xfrm>
        </p:grpSpPr>
        <p:sp>
          <p:nvSpPr>
            <p:cNvPr id="28" name="Freeform 28"/>
            <p:cNvSpPr/>
            <p:nvPr/>
          </p:nvSpPr>
          <p:spPr>
            <a:xfrm>
              <a:off x="0" y="0"/>
              <a:ext cx="4389120" cy="731520"/>
            </a:xfrm>
            <a:custGeom>
              <a:avLst/>
              <a:gdLst/>
              <a:ahLst/>
              <a:cxnLst/>
              <a:rect l="l" t="t" r="r" b="b"/>
              <a:pathLst>
                <a:path w="4389120" h="731520">
                  <a:moveTo>
                    <a:pt x="0" y="0"/>
                  </a:moveTo>
                  <a:lnTo>
                    <a:pt x="4389120" y="0"/>
                  </a:lnTo>
                  <a:lnTo>
                    <a:pt x="4389120" y="731520"/>
                  </a:lnTo>
                  <a:lnTo>
                    <a:pt x="0" y="731520"/>
                  </a:lnTo>
                  <a:close/>
                </a:path>
              </a:pathLst>
            </a:custGeom>
            <a:blipFill>
              <a:blip r:embed="rId3">
                <a:alphaModFix amt="0"/>
              </a:blip>
              <a:stretch>
                <a:fillRect t="-66910" b="-66910"/>
              </a:stretch>
            </a:blipFill>
          </p:spPr>
          <p:txBody>
            <a:bodyPr/>
            <a:lstStyle/>
            <a:p>
              <a:endParaRPr lang="en-US"/>
            </a:p>
          </p:txBody>
        </p:sp>
        <p:sp>
          <p:nvSpPr>
            <p:cNvPr id="29" name="TextBox 29"/>
            <p:cNvSpPr txBox="1"/>
            <p:nvPr/>
          </p:nvSpPr>
          <p:spPr>
            <a:xfrm>
              <a:off x="0" y="-38100"/>
              <a:ext cx="4389120" cy="769620"/>
            </a:xfrm>
            <a:prstGeom prst="rect">
              <a:avLst/>
            </a:prstGeom>
          </p:spPr>
          <p:txBody>
            <a:bodyPr lIns="0" tIns="0" rIns="0" bIns="0" rtlCol="0" anchor="ctr"/>
            <a:lstStyle/>
            <a:p>
              <a:pPr algn="l">
                <a:lnSpc>
                  <a:spcPts val="2879"/>
                </a:lnSpc>
              </a:pPr>
              <a:r>
                <a:rPr lang="en-US" sz="2400" b="1">
                  <a:solidFill>
                    <a:srgbClr val="17375E"/>
                  </a:solidFill>
                  <a:latin typeface="Calibri (MS) Bold"/>
                  <a:ea typeface="Calibri (MS) Bold"/>
                  <a:cs typeface="Calibri (MS) Bold"/>
                  <a:sym typeface="Calibri (MS) Bold"/>
                </a:rPr>
                <a:t>Loading</a:t>
              </a:r>
            </a:p>
          </p:txBody>
        </p:sp>
      </p:grpSp>
      <p:grpSp>
        <p:nvGrpSpPr>
          <p:cNvPr id="30" name="Group 30"/>
          <p:cNvGrpSpPr/>
          <p:nvPr/>
        </p:nvGrpSpPr>
        <p:grpSpPr>
          <a:xfrm>
            <a:off x="5495925" y="5280660"/>
            <a:ext cx="3291840" cy="548640"/>
            <a:chOff x="0" y="0"/>
            <a:chExt cx="4389120" cy="731520"/>
          </a:xfrm>
        </p:grpSpPr>
        <p:sp>
          <p:nvSpPr>
            <p:cNvPr id="31" name="Freeform 31"/>
            <p:cNvSpPr/>
            <p:nvPr/>
          </p:nvSpPr>
          <p:spPr>
            <a:xfrm>
              <a:off x="0" y="0"/>
              <a:ext cx="4389120" cy="731520"/>
            </a:xfrm>
            <a:custGeom>
              <a:avLst/>
              <a:gdLst/>
              <a:ahLst/>
              <a:cxnLst/>
              <a:rect l="l" t="t" r="r" b="b"/>
              <a:pathLst>
                <a:path w="4389120" h="731520">
                  <a:moveTo>
                    <a:pt x="0" y="0"/>
                  </a:moveTo>
                  <a:lnTo>
                    <a:pt x="4389120" y="0"/>
                  </a:lnTo>
                  <a:lnTo>
                    <a:pt x="4389120" y="731520"/>
                  </a:lnTo>
                  <a:lnTo>
                    <a:pt x="0" y="731520"/>
                  </a:lnTo>
                  <a:close/>
                </a:path>
              </a:pathLst>
            </a:custGeom>
            <a:blipFill>
              <a:blip r:embed="rId3">
                <a:alphaModFix amt="0"/>
              </a:blip>
              <a:stretch>
                <a:fillRect t="-66910" b="-66910"/>
              </a:stretch>
            </a:blipFill>
          </p:spPr>
          <p:txBody>
            <a:bodyPr/>
            <a:lstStyle/>
            <a:p>
              <a:endParaRPr lang="en-US"/>
            </a:p>
          </p:txBody>
        </p:sp>
        <p:sp>
          <p:nvSpPr>
            <p:cNvPr id="32" name="TextBox 32"/>
            <p:cNvSpPr txBox="1"/>
            <p:nvPr/>
          </p:nvSpPr>
          <p:spPr>
            <a:xfrm>
              <a:off x="0" y="-19050"/>
              <a:ext cx="4389120" cy="750570"/>
            </a:xfrm>
            <a:prstGeom prst="rect">
              <a:avLst/>
            </a:prstGeom>
          </p:spPr>
          <p:txBody>
            <a:bodyPr lIns="0" tIns="0" rIns="0" bIns="0" rtlCol="0" anchor="ctr"/>
            <a:lstStyle/>
            <a:p>
              <a:pPr algn="l">
                <a:lnSpc>
                  <a:spcPts val="1889"/>
                </a:lnSpc>
              </a:pPr>
              <a:r>
                <a:rPr lang="en-US" sz="1575" b="1">
                  <a:solidFill>
                    <a:srgbClr val="93A9CF"/>
                  </a:solidFill>
                  <a:latin typeface="Calibri (MS) Bold"/>
                  <a:ea typeface="Calibri (MS) Bold"/>
                  <a:cs typeface="Calibri (MS) Bold"/>
                  <a:sym typeface="Calibri (MS) Bold"/>
                </a:rPr>
                <a:t>Post Confirmation</a:t>
              </a:r>
            </a:p>
          </p:txBody>
        </p:sp>
      </p:grpSp>
      <p:grpSp>
        <p:nvGrpSpPr>
          <p:cNvPr id="33" name="Group 33"/>
          <p:cNvGrpSpPr/>
          <p:nvPr/>
        </p:nvGrpSpPr>
        <p:grpSpPr>
          <a:xfrm>
            <a:off x="5495925" y="5897880"/>
            <a:ext cx="3291840" cy="1783080"/>
            <a:chOff x="0" y="0"/>
            <a:chExt cx="4389120" cy="2377440"/>
          </a:xfrm>
        </p:grpSpPr>
        <p:sp>
          <p:nvSpPr>
            <p:cNvPr id="34" name="Freeform 34"/>
            <p:cNvSpPr/>
            <p:nvPr/>
          </p:nvSpPr>
          <p:spPr>
            <a:xfrm>
              <a:off x="0" y="0"/>
              <a:ext cx="4389120" cy="2377440"/>
            </a:xfrm>
            <a:custGeom>
              <a:avLst/>
              <a:gdLst/>
              <a:ahLst/>
              <a:cxnLst/>
              <a:rect l="l" t="t" r="r" b="b"/>
              <a:pathLst>
                <a:path w="4389120" h="2377440">
                  <a:moveTo>
                    <a:pt x="0" y="0"/>
                  </a:moveTo>
                  <a:lnTo>
                    <a:pt x="4389120" y="0"/>
                  </a:lnTo>
                  <a:lnTo>
                    <a:pt x="4389120" y="2377440"/>
                  </a:lnTo>
                  <a:lnTo>
                    <a:pt x="0" y="2377440"/>
                  </a:lnTo>
                  <a:close/>
                </a:path>
              </a:pathLst>
            </a:custGeom>
            <a:blipFill>
              <a:blip r:embed="rId3">
                <a:alphaModFix amt="0"/>
              </a:blip>
              <a:stretch>
                <a:fillRect l="-19497" r="-19497"/>
              </a:stretch>
            </a:blipFill>
          </p:spPr>
          <p:txBody>
            <a:bodyPr/>
            <a:lstStyle/>
            <a:p>
              <a:endParaRPr lang="en-US"/>
            </a:p>
          </p:txBody>
        </p:sp>
        <p:sp>
          <p:nvSpPr>
            <p:cNvPr id="35" name="TextBox 35"/>
            <p:cNvSpPr txBox="1"/>
            <p:nvPr/>
          </p:nvSpPr>
          <p:spPr>
            <a:xfrm>
              <a:off x="0" y="-57150"/>
              <a:ext cx="4389120" cy="2434590"/>
            </a:xfrm>
            <a:prstGeom prst="rect">
              <a:avLst/>
            </a:prstGeom>
          </p:spPr>
          <p:txBody>
            <a:bodyPr lIns="0" tIns="0" rIns="0" bIns="0" rtlCol="0" anchor="ctr"/>
            <a:lstStyle/>
            <a:p>
              <a:pPr algn="l">
                <a:lnSpc>
                  <a:spcPts val="2250"/>
                </a:lnSpc>
              </a:pPr>
              <a:r>
                <a:rPr lang="en-US" sz="1725" b="1" i="1">
                  <a:solidFill>
                    <a:srgbClr val="93A9CF"/>
                  </a:solidFill>
                  <a:latin typeface="Calibri (MS) Bold Italics"/>
                  <a:ea typeface="Calibri (MS) Bold Italics"/>
                  <a:cs typeface="Calibri (MS) Bold Italics"/>
                  <a:sym typeface="Calibri (MS) Bold Italics"/>
                </a:rPr>
                <a:t>“Stamping your passport…”</a:t>
              </a:r>
            </a:p>
          </p:txBody>
        </p:sp>
      </p:grpSp>
      <p:grpSp>
        <p:nvGrpSpPr>
          <p:cNvPr id="36" name="Group 36"/>
          <p:cNvGrpSpPr/>
          <p:nvPr/>
        </p:nvGrpSpPr>
        <p:grpSpPr>
          <a:xfrm>
            <a:off x="9464040" y="3419475"/>
            <a:ext cx="3859530" cy="4545330"/>
            <a:chOff x="0" y="0"/>
            <a:chExt cx="5146040" cy="6060440"/>
          </a:xfrm>
        </p:grpSpPr>
        <p:sp>
          <p:nvSpPr>
            <p:cNvPr id="37" name="Freeform 37"/>
            <p:cNvSpPr/>
            <p:nvPr/>
          </p:nvSpPr>
          <p:spPr>
            <a:xfrm>
              <a:off x="0" y="0"/>
              <a:ext cx="5146040" cy="6060440"/>
            </a:xfrm>
            <a:custGeom>
              <a:avLst/>
              <a:gdLst/>
              <a:ahLst/>
              <a:cxnLst/>
              <a:rect l="l" t="t" r="r" b="b"/>
              <a:pathLst>
                <a:path w="5146040" h="6060440">
                  <a:moveTo>
                    <a:pt x="0" y="220599"/>
                  </a:moveTo>
                  <a:cubicBezTo>
                    <a:pt x="0" y="98806"/>
                    <a:pt x="98806" y="0"/>
                    <a:pt x="220599" y="0"/>
                  </a:cubicBezTo>
                  <a:lnTo>
                    <a:pt x="4925441" y="0"/>
                  </a:lnTo>
                  <a:cubicBezTo>
                    <a:pt x="5047234" y="0"/>
                    <a:pt x="5146040" y="98806"/>
                    <a:pt x="5146040" y="220599"/>
                  </a:cubicBezTo>
                  <a:lnTo>
                    <a:pt x="5146040" y="5839841"/>
                  </a:lnTo>
                  <a:cubicBezTo>
                    <a:pt x="5146040" y="5961634"/>
                    <a:pt x="5047234" y="6060440"/>
                    <a:pt x="4925441" y="6060440"/>
                  </a:cubicBezTo>
                  <a:lnTo>
                    <a:pt x="220599" y="6060440"/>
                  </a:lnTo>
                  <a:cubicBezTo>
                    <a:pt x="98806" y="6060440"/>
                    <a:pt x="0" y="5961634"/>
                    <a:pt x="0" y="5839841"/>
                  </a:cubicBezTo>
                  <a:close/>
                </a:path>
              </a:pathLst>
            </a:custGeom>
            <a:solidFill>
              <a:srgbClr val="FFFFFF"/>
            </a:solidFill>
            <a:ln w="19050" cap="sq">
              <a:solidFill>
                <a:srgbClr val="93A9CF"/>
              </a:solidFill>
              <a:prstDash val="solid"/>
              <a:miter/>
            </a:ln>
          </p:spPr>
          <p:txBody>
            <a:bodyPr/>
            <a:lstStyle/>
            <a:p>
              <a:endParaRPr lang="en-US"/>
            </a:p>
          </p:txBody>
        </p:sp>
      </p:grpSp>
      <p:grpSp>
        <p:nvGrpSpPr>
          <p:cNvPr id="38" name="Group 38"/>
          <p:cNvGrpSpPr/>
          <p:nvPr/>
        </p:nvGrpSpPr>
        <p:grpSpPr>
          <a:xfrm>
            <a:off x="9747885" y="3771900"/>
            <a:ext cx="3291840" cy="822960"/>
            <a:chOff x="0" y="0"/>
            <a:chExt cx="4389120" cy="1097280"/>
          </a:xfrm>
        </p:grpSpPr>
        <p:sp>
          <p:nvSpPr>
            <p:cNvPr id="39" name="Freeform 39"/>
            <p:cNvSpPr/>
            <p:nvPr/>
          </p:nvSpPr>
          <p:spPr>
            <a:xfrm>
              <a:off x="0" y="0"/>
              <a:ext cx="4389120" cy="1097280"/>
            </a:xfrm>
            <a:custGeom>
              <a:avLst/>
              <a:gdLst/>
              <a:ahLst/>
              <a:cxnLst/>
              <a:rect l="l" t="t" r="r" b="b"/>
              <a:pathLst>
                <a:path w="4389120" h="1097280">
                  <a:moveTo>
                    <a:pt x="0" y="0"/>
                  </a:moveTo>
                  <a:lnTo>
                    <a:pt x="4389120" y="0"/>
                  </a:lnTo>
                  <a:lnTo>
                    <a:pt x="4389120" y="1097280"/>
                  </a:lnTo>
                  <a:lnTo>
                    <a:pt x="0" y="1097280"/>
                  </a:lnTo>
                  <a:close/>
                </a:path>
              </a:pathLst>
            </a:custGeom>
            <a:blipFill>
              <a:blip r:embed="rId3">
                <a:alphaModFix amt="0"/>
              </a:blip>
              <a:stretch>
                <a:fillRect t="-27940" b="-27940"/>
              </a:stretch>
            </a:blipFill>
          </p:spPr>
          <p:txBody>
            <a:bodyPr/>
            <a:lstStyle/>
            <a:p>
              <a:endParaRPr lang="en-US"/>
            </a:p>
          </p:txBody>
        </p:sp>
        <p:sp>
          <p:nvSpPr>
            <p:cNvPr id="40" name="TextBox 40"/>
            <p:cNvSpPr txBox="1"/>
            <p:nvPr/>
          </p:nvSpPr>
          <p:spPr>
            <a:xfrm>
              <a:off x="0" y="-76200"/>
              <a:ext cx="4389120" cy="1173480"/>
            </a:xfrm>
            <a:prstGeom prst="rect">
              <a:avLst/>
            </a:prstGeom>
          </p:spPr>
          <p:txBody>
            <a:bodyPr lIns="0" tIns="0" rIns="0" bIns="0" rtlCol="0" anchor="ctr"/>
            <a:lstStyle/>
            <a:p>
              <a:pPr algn="l">
                <a:lnSpc>
                  <a:spcPts val="4680"/>
                </a:lnSpc>
              </a:pPr>
              <a:r>
                <a:rPr lang="en-US" sz="3900">
                  <a:solidFill>
                    <a:srgbClr val="000000"/>
                  </a:solidFill>
                  <a:latin typeface="Calibri (MS)"/>
                  <a:ea typeface="Calibri (MS)"/>
                  <a:cs typeface="Calibri (MS)"/>
                  <a:sym typeface="Calibri (MS)"/>
                </a:rPr>
                <a:t>🎉</a:t>
              </a:r>
            </a:p>
          </p:txBody>
        </p:sp>
      </p:grpSp>
      <p:grpSp>
        <p:nvGrpSpPr>
          <p:cNvPr id="41" name="Group 41"/>
          <p:cNvGrpSpPr/>
          <p:nvPr/>
        </p:nvGrpSpPr>
        <p:grpSpPr>
          <a:xfrm>
            <a:off x="9747885" y="4732020"/>
            <a:ext cx="3291840" cy="548640"/>
            <a:chOff x="0" y="0"/>
            <a:chExt cx="4389120" cy="731520"/>
          </a:xfrm>
        </p:grpSpPr>
        <p:sp>
          <p:nvSpPr>
            <p:cNvPr id="42" name="Freeform 42"/>
            <p:cNvSpPr/>
            <p:nvPr/>
          </p:nvSpPr>
          <p:spPr>
            <a:xfrm>
              <a:off x="0" y="0"/>
              <a:ext cx="4389120" cy="731520"/>
            </a:xfrm>
            <a:custGeom>
              <a:avLst/>
              <a:gdLst/>
              <a:ahLst/>
              <a:cxnLst/>
              <a:rect l="l" t="t" r="r" b="b"/>
              <a:pathLst>
                <a:path w="4389120" h="731520">
                  <a:moveTo>
                    <a:pt x="0" y="0"/>
                  </a:moveTo>
                  <a:lnTo>
                    <a:pt x="4389120" y="0"/>
                  </a:lnTo>
                  <a:lnTo>
                    <a:pt x="4389120" y="731520"/>
                  </a:lnTo>
                  <a:lnTo>
                    <a:pt x="0" y="731520"/>
                  </a:lnTo>
                  <a:close/>
                </a:path>
              </a:pathLst>
            </a:custGeom>
            <a:blipFill>
              <a:blip r:embed="rId3">
                <a:alphaModFix amt="0"/>
              </a:blip>
              <a:stretch>
                <a:fillRect t="-66910" b="-66910"/>
              </a:stretch>
            </a:blipFill>
          </p:spPr>
          <p:txBody>
            <a:bodyPr/>
            <a:lstStyle/>
            <a:p>
              <a:endParaRPr lang="en-US"/>
            </a:p>
          </p:txBody>
        </p:sp>
        <p:sp>
          <p:nvSpPr>
            <p:cNvPr id="43" name="TextBox 43"/>
            <p:cNvSpPr txBox="1"/>
            <p:nvPr/>
          </p:nvSpPr>
          <p:spPr>
            <a:xfrm>
              <a:off x="0" y="-38100"/>
              <a:ext cx="4389120" cy="769620"/>
            </a:xfrm>
            <a:prstGeom prst="rect">
              <a:avLst/>
            </a:prstGeom>
          </p:spPr>
          <p:txBody>
            <a:bodyPr lIns="0" tIns="0" rIns="0" bIns="0" rtlCol="0" anchor="ctr"/>
            <a:lstStyle/>
            <a:p>
              <a:pPr algn="l">
                <a:lnSpc>
                  <a:spcPts val="2879"/>
                </a:lnSpc>
              </a:pPr>
              <a:r>
                <a:rPr lang="en-US" sz="2400" b="1">
                  <a:solidFill>
                    <a:srgbClr val="17375E"/>
                  </a:solidFill>
                  <a:latin typeface="Calibri (MS) Bold"/>
                  <a:ea typeface="Calibri (MS) Bold"/>
                  <a:cs typeface="Calibri (MS) Bold"/>
                  <a:sym typeface="Calibri (MS) Bold"/>
                </a:rPr>
                <a:t>Success</a:t>
              </a:r>
            </a:p>
          </p:txBody>
        </p:sp>
      </p:grpSp>
      <p:grpSp>
        <p:nvGrpSpPr>
          <p:cNvPr id="44" name="Group 44"/>
          <p:cNvGrpSpPr/>
          <p:nvPr/>
        </p:nvGrpSpPr>
        <p:grpSpPr>
          <a:xfrm>
            <a:off x="9747885" y="5280660"/>
            <a:ext cx="3291840" cy="548640"/>
            <a:chOff x="0" y="0"/>
            <a:chExt cx="4389120" cy="731520"/>
          </a:xfrm>
        </p:grpSpPr>
        <p:sp>
          <p:nvSpPr>
            <p:cNvPr id="45" name="Freeform 45"/>
            <p:cNvSpPr/>
            <p:nvPr/>
          </p:nvSpPr>
          <p:spPr>
            <a:xfrm>
              <a:off x="0" y="0"/>
              <a:ext cx="4389120" cy="731520"/>
            </a:xfrm>
            <a:custGeom>
              <a:avLst/>
              <a:gdLst/>
              <a:ahLst/>
              <a:cxnLst/>
              <a:rect l="l" t="t" r="r" b="b"/>
              <a:pathLst>
                <a:path w="4389120" h="731520">
                  <a:moveTo>
                    <a:pt x="0" y="0"/>
                  </a:moveTo>
                  <a:lnTo>
                    <a:pt x="4389120" y="0"/>
                  </a:lnTo>
                  <a:lnTo>
                    <a:pt x="4389120" y="731520"/>
                  </a:lnTo>
                  <a:lnTo>
                    <a:pt x="0" y="731520"/>
                  </a:lnTo>
                  <a:close/>
                </a:path>
              </a:pathLst>
            </a:custGeom>
            <a:blipFill>
              <a:blip r:embed="rId3">
                <a:alphaModFix amt="0"/>
              </a:blip>
              <a:stretch>
                <a:fillRect t="-66910" b="-66910"/>
              </a:stretch>
            </a:blipFill>
          </p:spPr>
          <p:txBody>
            <a:bodyPr/>
            <a:lstStyle/>
            <a:p>
              <a:endParaRPr lang="en-US"/>
            </a:p>
          </p:txBody>
        </p:sp>
        <p:sp>
          <p:nvSpPr>
            <p:cNvPr id="46" name="TextBox 46"/>
            <p:cNvSpPr txBox="1"/>
            <p:nvPr/>
          </p:nvSpPr>
          <p:spPr>
            <a:xfrm>
              <a:off x="0" y="-19050"/>
              <a:ext cx="4389120" cy="750570"/>
            </a:xfrm>
            <a:prstGeom prst="rect">
              <a:avLst/>
            </a:prstGeom>
          </p:spPr>
          <p:txBody>
            <a:bodyPr lIns="0" tIns="0" rIns="0" bIns="0" rtlCol="0" anchor="ctr"/>
            <a:lstStyle/>
            <a:p>
              <a:pPr algn="l">
                <a:lnSpc>
                  <a:spcPts val="1889"/>
                </a:lnSpc>
              </a:pPr>
              <a:r>
                <a:rPr lang="en-US" sz="1575" b="1">
                  <a:solidFill>
                    <a:srgbClr val="93A9CF"/>
                  </a:solidFill>
                  <a:latin typeface="Calibri (MS) Bold"/>
                  <a:ea typeface="Calibri (MS) Bold"/>
                  <a:cs typeface="Calibri (MS) Bold"/>
                  <a:sym typeface="Calibri (MS) Bold"/>
                </a:rPr>
                <a:t>Post Confirmation</a:t>
              </a:r>
            </a:p>
          </p:txBody>
        </p:sp>
      </p:grpSp>
      <p:grpSp>
        <p:nvGrpSpPr>
          <p:cNvPr id="47" name="Group 47"/>
          <p:cNvGrpSpPr/>
          <p:nvPr/>
        </p:nvGrpSpPr>
        <p:grpSpPr>
          <a:xfrm>
            <a:off x="9747885" y="5897880"/>
            <a:ext cx="3291840" cy="1783080"/>
            <a:chOff x="0" y="0"/>
            <a:chExt cx="4389120" cy="2377440"/>
          </a:xfrm>
        </p:grpSpPr>
        <p:sp>
          <p:nvSpPr>
            <p:cNvPr id="48" name="Freeform 48"/>
            <p:cNvSpPr/>
            <p:nvPr/>
          </p:nvSpPr>
          <p:spPr>
            <a:xfrm>
              <a:off x="0" y="0"/>
              <a:ext cx="4389120" cy="2377440"/>
            </a:xfrm>
            <a:custGeom>
              <a:avLst/>
              <a:gdLst/>
              <a:ahLst/>
              <a:cxnLst/>
              <a:rect l="l" t="t" r="r" b="b"/>
              <a:pathLst>
                <a:path w="4389120" h="2377440">
                  <a:moveTo>
                    <a:pt x="0" y="0"/>
                  </a:moveTo>
                  <a:lnTo>
                    <a:pt x="4389120" y="0"/>
                  </a:lnTo>
                  <a:lnTo>
                    <a:pt x="4389120" y="2377440"/>
                  </a:lnTo>
                  <a:lnTo>
                    <a:pt x="0" y="2377440"/>
                  </a:lnTo>
                  <a:close/>
                </a:path>
              </a:pathLst>
            </a:custGeom>
            <a:blipFill>
              <a:blip r:embed="rId3">
                <a:alphaModFix amt="0"/>
              </a:blip>
              <a:stretch>
                <a:fillRect l="-19497" r="-19497"/>
              </a:stretch>
            </a:blipFill>
          </p:spPr>
          <p:txBody>
            <a:bodyPr/>
            <a:lstStyle/>
            <a:p>
              <a:endParaRPr lang="en-US"/>
            </a:p>
          </p:txBody>
        </p:sp>
        <p:sp>
          <p:nvSpPr>
            <p:cNvPr id="49" name="TextBox 49"/>
            <p:cNvSpPr txBox="1"/>
            <p:nvPr/>
          </p:nvSpPr>
          <p:spPr>
            <a:xfrm>
              <a:off x="0" y="-57150"/>
              <a:ext cx="4389120" cy="2434590"/>
            </a:xfrm>
            <a:prstGeom prst="rect">
              <a:avLst/>
            </a:prstGeom>
          </p:spPr>
          <p:txBody>
            <a:bodyPr lIns="0" tIns="0" rIns="0" bIns="0" rtlCol="0" anchor="ctr"/>
            <a:lstStyle/>
            <a:p>
              <a:pPr algn="l">
                <a:lnSpc>
                  <a:spcPts val="2250"/>
                </a:lnSpc>
              </a:pPr>
              <a:r>
                <a:rPr lang="en-US" sz="1725" b="1" i="1">
                  <a:solidFill>
                    <a:srgbClr val="93A9CF"/>
                  </a:solidFill>
                  <a:latin typeface="Calibri (MS) Bold Italics"/>
                  <a:ea typeface="Calibri (MS) Bold Italics"/>
                  <a:cs typeface="Calibri (MS) Bold Italics"/>
                  <a:sym typeface="Calibri (MS) Bold Italics"/>
                </a:rPr>
                <a:t>“Stamp earned! Added to Coffee Shop 🎉”</a:t>
              </a:r>
            </a:p>
          </p:txBody>
        </p:sp>
      </p:grpSp>
      <p:grpSp>
        <p:nvGrpSpPr>
          <p:cNvPr id="50" name="Group 50"/>
          <p:cNvGrpSpPr/>
          <p:nvPr/>
        </p:nvGrpSpPr>
        <p:grpSpPr>
          <a:xfrm>
            <a:off x="13716000" y="3419475"/>
            <a:ext cx="3859530" cy="4545330"/>
            <a:chOff x="0" y="0"/>
            <a:chExt cx="5146040" cy="6060440"/>
          </a:xfrm>
        </p:grpSpPr>
        <p:sp>
          <p:nvSpPr>
            <p:cNvPr id="51" name="Freeform 51"/>
            <p:cNvSpPr/>
            <p:nvPr/>
          </p:nvSpPr>
          <p:spPr>
            <a:xfrm>
              <a:off x="0" y="0"/>
              <a:ext cx="5146040" cy="6060440"/>
            </a:xfrm>
            <a:custGeom>
              <a:avLst/>
              <a:gdLst/>
              <a:ahLst/>
              <a:cxnLst/>
              <a:rect l="l" t="t" r="r" b="b"/>
              <a:pathLst>
                <a:path w="5146040" h="6060440">
                  <a:moveTo>
                    <a:pt x="0" y="220599"/>
                  </a:moveTo>
                  <a:cubicBezTo>
                    <a:pt x="0" y="98806"/>
                    <a:pt x="98806" y="0"/>
                    <a:pt x="220599" y="0"/>
                  </a:cubicBezTo>
                  <a:lnTo>
                    <a:pt x="4925441" y="0"/>
                  </a:lnTo>
                  <a:cubicBezTo>
                    <a:pt x="5047234" y="0"/>
                    <a:pt x="5146040" y="98806"/>
                    <a:pt x="5146040" y="220599"/>
                  </a:cubicBezTo>
                  <a:lnTo>
                    <a:pt x="5146040" y="5839841"/>
                  </a:lnTo>
                  <a:cubicBezTo>
                    <a:pt x="5146040" y="5961634"/>
                    <a:pt x="5047234" y="6060440"/>
                    <a:pt x="4925441" y="6060440"/>
                  </a:cubicBezTo>
                  <a:lnTo>
                    <a:pt x="220599" y="6060440"/>
                  </a:lnTo>
                  <a:cubicBezTo>
                    <a:pt x="98806" y="6060440"/>
                    <a:pt x="0" y="5961634"/>
                    <a:pt x="0" y="5839841"/>
                  </a:cubicBezTo>
                  <a:close/>
                </a:path>
              </a:pathLst>
            </a:custGeom>
            <a:solidFill>
              <a:srgbClr val="FFFFFF"/>
            </a:solidFill>
            <a:ln w="19050" cap="sq">
              <a:solidFill>
                <a:srgbClr val="93A9CF"/>
              </a:solidFill>
              <a:prstDash val="solid"/>
              <a:miter/>
            </a:ln>
          </p:spPr>
          <p:txBody>
            <a:bodyPr/>
            <a:lstStyle/>
            <a:p>
              <a:endParaRPr lang="en-US"/>
            </a:p>
          </p:txBody>
        </p:sp>
      </p:grpSp>
      <p:grpSp>
        <p:nvGrpSpPr>
          <p:cNvPr id="52" name="Group 52"/>
          <p:cNvGrpSpPr/>
          <p:nvPr/>
        </p:nvGrpSpPr>
        <p:grpSpPr>
          <a:xfrm>
            <a:off x="13999845" y="3771900"/>
            <a:ext cx="3291840" cy="822960"/>
            <a:chOff x="0" y="0"/>
            <a:chExt cx="4389120" cy="1097280"/>
          </a:xfrm>
        </p:grpSpPr>
        <p:sp>
          <p:nvSpPr>
            <p:cNvPr id="53" name="Freeform 53"/>
            <p:cNvSpPr/>
            <p:nvPr/>
          </p:nvSpPr>
          <p:spPr>
            <a:xfrm>
              <a:off x="0" y="0"/>
              <a:ext cx="4389120" cy="1097280"/>
            </a:xfrm>
            <a:custGeom>
              <a:avLst/>
              <a:gdLst/>
              <a:ahLst/>
              <a:cxnLst/>
              <a:rect l="l" t="t" r="r" b="b"/>
              <a:pathLst>
                <a:path w="4389120" h="1097280">
                  <a:moveTo>
                    <a:pt x="0" y="0"/>
                  </a:moveTo>
                  <a:lnTo>
                    <a:pt x="4389120" y="0"/>
                  </a:lnTo>
                  <a:lnTo>
                    <a:pt x="4389120" y="1097280"/>
                  </a:lnTo>
                  <a:lnTo>
                    <a:pt x="0" y="1097280"/>
                  </a:lnTo>
                  <a:close/>
                </a:path>
              </a:pathLst>
            </a:custGeom>
            <a:blipFill>
              <a:blip r:embed="rId3">
                <a:alphaModFix amt="0"/>
              </a:blip>
              <a:stretch>
                <a:fillRect t="-27940" b="-27940"/>
              </a:stretch>
            </a:blipFill>
          </p:spPr>
          <p:txBody>
            <a:bodyPr/>
            <a:lstStyle/>
            <a:p>
              <a:endParaRPr lang="en-US"/>
            </a:p>
          </p:txBody>
        </p:sp>
        <p:sp>
          <p:nvSpPr>
            <p:cNvPr id="54" name="TextBox 54"/>
            <p:cNvSpPr txBox="1"/>
            <p:nvPr/>
          </p:nvSpPr>
          <p:spPr>
            <a:xfrm>
              <a:off x="0" y="-76200"/>
              <a:ext cx="4389120" cy="1173480"/>
            </a:xfrm>
            <a:prstGeom prst="rect">
              <a:avLst/>
            </a:prstGeom>
          </p:spPr>
          <p:txBody>
            <a:bodyPr lIns="0" tIns="0" rIns="0" bIns="0" rtlCol="0" anchor="ctr"/>
            <a:lstStyle/>
            <a:p>
              <a:pPr algn="l">
                <a:lnSpc>
                  <a:spcPts val="4680"/>
                </a:lnSpc>
              </a:pPr>
              <a:r>
                <a:rPr lang="en-US" sz="3900">
                  <a:solidFill>
                    <a:srgbClr val="000000"/>
                  </a:solidFill>
                  <a:latin typeface="Calibri (MS)"/>
                  <a:ea typeface="Calibri (MS)"/>
                  <a:cs typeface="Calibri (MS)"/>
                  <a:sym typeface="Calibri (MS)"/>
                </a:rPr>
                <a:t>⚠️</a:t>
              </a:r>
            </a:p>
          </p:txBody>
        </p:sp>
      </p:grpSp>
      <p:grpSp>
        <p:nvGrpSpPr>
          <p:cNvPr id="55" name="Group 55"/>
          <p:cNvGrpSpPr/>
          <p:nvPr/>
        </p:nvGrpSpPr>
        <p:grpSpPr>
          <a:xfrm>
            <a:off x="13999845" y="4732020"/>
            <a:ext cx="3291840" cy="548640"/>
            <a:chOff x="0" y="0"/>
            <a:chExt cx="4389120" cy="731520"/>
          </a:xfrm>
        </p:grpSpPr>
        <p:sp>
          <p:nvSpPr>
            <p:cNvPr id="56" name="Freeform 56"/>
            <p:cNvSpPr/>
            <p:nvPr/>
          </p:nvSpPr>
          <p:spPr>
            <a:xfrm>
              <a:off x="0" y="0"/>
              <a:ext cx="4389120" cy="731520"/>
            </a:xfrm>
            <a:custGeom>
              <a:avLst/>
              <a:gdLst/>
              <a:ahLst/>
              <a:cxnLst/>
              <a:rect l="l" t="t" r="r" b="b"/>
              <a:pathLst>
                <a:path w="4389120" h="731520">
                  <a:moveTo>
                    <a:pt x="0" y="0"/>
                  </a:moveTo>
                  <a:lnTo>
                    <a:pt x="4389120" y="0"/>
                  </a:lnTo>
                  <a:lnTo>
                    <a:pt x="4389120" y="731520"/>
                  </a:lnTo>
                  <a:lnTo>
                    <a:pt x="0" y="731520"/>
                  </a:lnTo>
                  <a:close/>
                </a:path>
              </a:pathLst>
            </a:custGeom>
            <a:blipFill>
              <a:blip r:embed="rId3">
                <a:alphaModFix amt="0"/>
              </a:blip>
              <a:stretch>
                <a:fillRect t="-66910" b="-66910"/>
              </a:stretch>
            </a:blipFill>
          </p:spPr>
          <p:txBody>
            <a:bodyPr/>
            <a:lstStyle/>
            <a:p>
              <a:endParaRPr lang="en-US"/>
            </a:p>
          </p:txBody>
        </p:sp>
        <p:sp>
          <p:nvSpPr>
            <p:cNvPr id="57" name="TextBox 57"/>
            <p:cNvSpPr txBox="1"/>
            <p:nvPr/>
          </p:nvSpPr>
          <p:spPr>
            <a:xfrm>
              <a:off x="0" y="-38100"/>
              <a:ext cx="4389120" cy="769620"/>
            </a:xfrm>
            <a:prstGeom prst="rect">
              <a:avLst/>
            </a:prstGeom>
          </p:spPr>
          <p:txBody>
            <a:bodyPr lIns="0" tIns="0" rIns="0" bIns="0" rtlCol="0" anchor="ctr"/>
            <a:lstStyle/>
            <a:p>
              <a:pPr algn="l">
                <a:lnSpc>
                  <a:spcPts val="2879"/>
                </a:lnSpc>
              </a:pPr>
              <a:r>
                <a:rPr lang="en-US" sz="2400" b="1">
                  <a:solidFill>
                    <a:srgbClr val="17375E"/>
                  </a:solidFill>
                  <a:latin typeface="Calibri (MS) Bold"/>
                  <a:ea typeface="Calibri (MS) Bold"/>
                  <a:cs typeface="Calibri (MS) Bold"/>
                  <a:sym typeface="Calibri (MS) Bold"/>
                </a:rPr>
                <a:t>Error</a:t>
              </a:r>
            </a:p>
          </p:txBody>
        </p:sp>
      </p:grpSp>
      <p:grpSp>
        <p:nvGrpSpPr>
          <p:cNvPr id="58" name="Group 58"/>
          <p:cNvGrpSpPr/>
          <p:nvPr/>
        </p:nvGrpSpPr>
        <p:grpSpPr>
          <a:xfrm>
            <a:off x="13999845" y="5280660"/>
            <a:ext cx="3291840" cy="548640"/>
            <a:chOff x="0" y="0"/>
            <a:chExt cx="4389120" cy="731520"/>
          </a:xfrm>
        </p:grpSpPr>
        <p:sp>
          <p:nvSpPr>
            <p:cNvPr id="59" name="Freeform 59"/>
            <p:cNvSpPr/>
            <p:nvPr/>
          </p:nvSpPr>
          <p:spPr>
            <a:xfrm>
              <a:off x="0" y="0"/>
              <a:ext cx="4389120" cy="731520"/>
            </a:xfrm>
            <a:custGeom>
              <a:avLst/>
              <a:gdLst/>
              <a:ahLst/>
              <a:cxnLst/>
              <a:rect l="l" t="t" r="r" b="b"/>
              <a:pathLst>
                <a:path w="4389120" h="731520">
                  <a:moveTo>
                    <a:pt x="0" y="0"/>
                  </a:moveTo>
                  <a:lnTo>
                    <a:pt x="4389120" y="0"/>
                  </a:lnTo>
                  <a:lnTo>
                    <a:pt x="4389120" y="731520"/>
                  </a:lnTo>
                  <a:lnTo>
                    <a:pt x="0" y="731520"/>
                  </a:lnTo>
                  <a:close/>
                </a:path>
              </a:pathLst>
            </a:custGeom>
            <a:blipFill>
              <a:blip r:embed="rId3">
                <a:alphaModFix amt="0"/>
              </a:blip>
              <a:stretch>
                <a:fillRect t="-66910" b="-66910"/>
              </a:stretch>
            </a:blipFill>
          </p:spPr>
          <p:txBody>
            <a:bodyPr/>
            <a:lstStyle/>
            <a:p>
              <a:endParaRPr lang="en-US"/>
            </a:p>
          </p:txBody>
        </p:sp>
        <p:sp>
          <p:nvSpPr>
            <p:cNvPr id="60" name="TextBox 60"/>
            <p:cNvSpPr txBox="1"/>
            <p:nvPr/>
          </p:nvSpPr>
          <p:spPr>
            <a:xfrm>
              <a:off x="0" y="-19050"/>
              <a:ext cx="4389120" cy="750570"/>
            </a:xfrm>
            <a:prstGeom prst="rect">
              <a:avLst/>
            </a:prstGeom>
          </p:spPr>
          <p:txBody>
            <a:bodyPr lIns="0" tIns="0" rIns="0" bIns="0" rtlCol="0" anchor="ctr"/>
            <a:lstStyle/>
            <a:p>
              <a:pPr algn="l">
                <a:lnSpc>
                  <a:spcPts val="1889"/>
                </a:lnSpc>
              </a:pPr>
              <a:r>
                <a:rPr lang="en-US" sz="1575" b="1">
                  <a:solidFill>
                    <a:srgbClr val="93A9CF"/>
                  </a:solidFill>
                  <a:latin typeface="Calibri (MS) Bold"/>
                  <a:ea typeface="Calibri (MS) Bold"/>
                  <a:cs typeface="Calibri (MS) Bold"/>
                  <a:sym typeface="Calibri (MS) Bold"/>
                </a:rPr>
                <a:t>Post Confirmation</a:t>
              </a:r>
            </a:p>
          </p:txBody>
        </p:sp>
      </p:grpSp>
      <p:grpSp>
        <p:nvGrpSpPr>
          <p:cNvPr id="61" name="Group 61"/>
          <p:cNvGrpSpPr/>
          <p:nvPr/>
        </p:nvGrpSpPr>
        <p:grpSpPr>
          <a:xfrm>
            <a:off x="13999845" y="5897880"/>
            <a:ext cx="3291840" cy="1783080"/>
            <a:chOff x="0" y="0"/>
            <a:chExt cx="4389120" cy="2377440"/>
          </a:xfrm>
        </p:grpSpPr>
        <p:sp>
          <p:nvSpPr>
            <p:cNvPr id="62" name="Freeform 62"/>
            <p:cNvSpPr/>
            <p:nvPr/>
          </p:nvSpPr>
          <p:spPr>
            <a:xfrm>
              <a:off x="0" y="0"/>
              <a:ext cx="4389120" cy="2377440"/>
            </a:xfrm>
            <a:custGeom>
              <a:avLst/>
              <a:gdLst/>
              <a:ahLst/>
              <a:cxnLst/>
              <a:rect l="l" t="t" r="r" b="b"/>
              <a:pathLst>
                <a:path w="4389120" h="2377440">
                  <a:moveTo>
                    <a:pt x="0" y="0"/>
                  </a:moveTo>
                  <a:lnTo>
                    <a:pt x="4389120" y="0"/>
                  </a:lnTo>
                  <a:lnTo>
                    <a:pt x="4389120" y="2377440"/>
                  </a:lnTo>
                  <a:lnTo>
                    <a:pt x="0" y="2377440"/>
                  </a:lnTo>
                  <a:close/>
                </a:path>
              </a:pathLst>
            </a:custGeom>
            <a:blipFill>
              <a:blip r:embed="rId3">
                <a:alphaModFix amt="0"/>
              </a:blip>
              <a:stretch>
                <a:fillRect l="-19497" r="-19497"/>
              </a:stretch>
            </a:blipFill>
          </p:spPr>
          <p:txBody>
            <a:bodyPr/>
            <a:lstStyle/>
            <a:p>
              <a:endParaRPr lang="en-US"/>
            </a:p>
          </p:txBody>
        </p:sp>
        <p:sp>
          <p:nvSpPr>
            <p:cNvPr id="63" name="TextBox 63"/>
            <p:cNvSpPr txBox="1"/>
            <p:nvPr/>
          </p:nvSpPr>
          <p:spPr>
            <a:xfrm>
              <a:off x="0" y="-57150"/>
              <a:ext cx="4389120" cy="2434590"/>
            </a:xfrm>
            <a:prstGeom prst="rect">
              <a:avLst/>
            </a:prstGeom>
          </p:spPr>
          <p:txBody>
            <a:bodyPr lIns="0" tIns="0" rIns="0" bIns="0" rtlCol="0" anchor="ctr"/>
            <a:lstStyle/>
            <a:p>
              <a:pPr algn="l">
                <a:lnSpc>
                  <a:spcPts val="2250"/>
                </a:lnSpc>
              </a:pPr>
              <a:r>
                <a:rPr lang="en-US" sz="1725" b="1" i="1">
                  <a:solidFill>
                    <a:srgbClr val="93A9CF"/>
                  </a:solidFill>
                  <a:latin typeface="Calibri (MS) Bold Italics"/>
                  <a:ea typeface="Calibri (MS) Bold Italics"/>
                  <a:cs typeface="Calibri (MS) Bold Italics"/>
                  <a:sym typeface="Calibri (MS) Bold Italics"/>
                </a:rPr>
                <a:t>“That didn’t go through — let’s try again.”</a:t>
              </a:r>
            </a:p>
          </p:txBody>
        </p:sp>
      </p:grpSp>
      <p:grpSp>
        <p:nvGrpSpPr>
          <p:cNvPr id="64" name="Group 64"/>
          <p:cNvGrpSpPr/>
          <p:nvPr/>
        </p:nvGrpSpPr>
        <p:grpSpPr>
          <a:xfrm>
            <a:off x="960120" y="2427732"/>
            <a:ext cx="15499080" cy="822960"/>
            <a:chOff x="0" y="0"/>
            <a:chExt cx="20665440" cy="1097280"/>
          </a:xfrm>
        </p:grpSpPr>
        <p:sp>
          <p:nvSpPr>
            <p:cNvPr id="65" name="Freeform 65"/>
            <p:cNvSpPr/>
            <p:nvPr/>
          </p:nvSpPr>
          <p:spPr>
            <a:xfrm>
              <a:off x="0" y="0"/>
              <a:ext cx="20665439" cy="1097280"/>
            </a:xfrm>
            <a:custGeom>
              <a:avLst/>
              <a:gdLst/>
              <a:ahLst/>
              <a:cxnLst/>
              <a:rect l="l" t="t" r="r" b="b"/>
              <a:pathLst>
                <a:path w="20665439" h="1097280">
                  <a:moveTo>
                    <a:pt x="0" y="0"/>
                  </a:moveTo>
                  <a:lnTo>
                    <a:pt x="20665439" y="0"/>
                  </a:lnTo>
                  <a:lnTo>
                    <a:pt x="20665439" y="1097280"/>
                  </a:lnTo>
                  <a:lnTo>
                    <a:pt x="0" y="1097280"/>
                  </a:lnTo>
                  <a:close/>
                </a:path>
              </a:pathLst>
            </a:custGeom>
            <a:blipFill>
              <a:blip r:embed="rId3">
                <a:alphaModFix amt="0"/>
              </a:blip>
              <a:stretch>
                <a:fillRect t="-316968" b="-316968"/>
              </a:stretch>
            </a:blipFill>
          </p:spPr>
          <p:txBody>
            <a:bodyPr/>
            <a:lstStyle/>
            <a:p>
              <a:endParaRPr lang="en-US"/>
            </a:p>
          </p:txBody>
        </p:sp>
        <p:sp>
          <p:nvSpPr>
            <p:cNvPr id="66" name="TextBox 66"/>
            <p:cNvSpPr txBox="1"/>
            <p:nvPr/>
          </p:nvSpPr>
          <p:spPr>
            <a:xfrm>
              <a:off x="0" y="-57150"/>
              <a:ext cx="20665440" cy="1154430"/>
            </a:xfrm>
            <a:prstGeom prst="rect">
              <a:avLst/>
            </a:prstGeom>
          </p:spPr>
          <p:txBody>
            <a:bodyPr lIns="0" tIns="0" rIns="0" bIns="0" rtlCol="0" anchor="ctr"/>
            <a:lstStyle/>
            <a:p>
              <a:pPr algn="l">
                <a:lnSpc>
                  <a:spcPts val="2400"/>
                </a:lnSpc>
              </a:pPr>
              <a:r>
                <a:rPr lang="en-US" sz="1875">
                  <a:solidFill>
                    <a:srgbClr val="FFFFFF"/>
                  </a:solidFill>
                  <a:latin typeface="Calibri (MS)"/>
                  <a:ea typeface="Calibri (MS)"/>
                  <a:cs typeface="Calibri (MS)"/>
                  <a:sym typeface="Calibri (MS)"/>
                </a:rPr>
                <a:t>What happens when things are empty, loading , or go wrong.</a:t>
              </a:r>
            </a:p>
          </p:txBody>
        </p:sp>
      </p:gr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0A0A0A"/>
        </a:solidFill>
        <a:effectLst/>
      </p:bgPr>
    </p:bg>
    <p:spTree>
      <p:nvGrpSpPr>
        <p:cNvPr id="1" name=""/>
        <p:cNvGrpSpPr/>
        <p:nvPr/>
      </p:nvGrpSpPr>
      <p:grpSpPr>
        <a:xfrm>
          <a:off x="0" y="0"/>
          <a:ext cx="0" cy="0"/>
          <a:chOff x="0" y="0"/>
          <a:chExt cx="0" cy="0"/>
        </a:xfrm>
      </p:grpSpPr>
      <p:grpSp>
        <p:nvGrpSpPr>
          <p:cNvPr id="2" name="Group 2"/>
          <p:cNvGrpSpPr/>
          <p:nvPr/>
        </p:nvGrpSpPr>
        <p:grpSpPr>
          <a:xfrm>
            <a:off x="960120" y="685800"/>
            <a:ext cx="10972800" cy="480060"/>
            <a:chOff x="0" y="0"/>
            <a:chExt cx="14630400" cy="640080"/>
          </a:xfrm>
        </p:grpSpPr>
        <p:sp>
          <p:nvSpPr>
            <p:cNvPr id="3" name="Freeform 3"/>
            <p:cNvSpPr/>
            <p:nvPr/>
          </p:nvSpPr>
          <p:spPr>
            <a:xfrm>
              <a:off x="0" y="0"/>
              <a:ext cx="14630400" cy="640080"/>
            </a:xfrm>
            <a:custGeom>
              <a:avLst/>
              <a:gdLst/>
              <a:ahLst/>
              <a:cxnLst/>
              <a:rect l="l" t="t" r="r" b="b"/>
              <a:pathLst>
                <a:path w="14630400" h="640080">
                  <a:moveTo>
                    <a:pt x="0" y="0"/>
                  </a:moveTo>
                  <a:lnTo>
                    <a:pt x="14630400" y="0"/>
                  </a:lnTo>
                  <a:lnTo>
                    <a:pt x="14630400" y="640080"/>
                  </a:lnTo>
                  <a:lnTo>
                    <a:pt x="0" y="640080"/>
                  </a:lnTo>
                  <a:close/>
                </a:path>
              </a:pathLst>
            </a:custGeom>
            <a:blipFill>
              <a:blip r:embed="rId3">
                <a:alphaModFix amt="0"/>
              </a:blip>
              <a:stretch>
                <a:fillRect t="-395372" b="-395372"/>
              </a:stretch>
            </a:blipFill>
          </p:spPr>
          <p:txBody>
            <a:bodyPr/>
            <a:lstStyle/>
            <a:p>
              <a:endParaRPr lang="en-US"/>
            </a:p>
          </p:txBody>
        </p:sp>
        <p:sp>
          <p:nvSpPr>
            <p:cNvPr id="4" name="TextBox 4"/>
            <p:cNvSpPr txBox="1"/>
            <p:nvPr/>
          </p:nvSpPr>
          <p:spPr>
            <a:xfrm>
              <a:off x="0" y="-19050"/>
              <a:ext cx="14630400" cy="659130"/>
            </a:xfrm>
            <a:prstGeom prst="rect">
              <a:avLst/>
            </a:prstGeom>
          </p:spPr>
          <p:txBody>
            <a:bodyPr lIns="0" tIns="0" rIns="0" bIns="0" rtlCol="0" anchor="ctr"/>
            <a:lstStyle/>
            <a:p>
              <a:pPr algn="l">
                <a:lnSpc>
                  <a:spcPts val="2160"/>
                </a:lnSpc>
              </a:pPr>
              <a:r>
                <a:rPr lang="en-US" sz="1800" b="1" spc="450">
                  <a:solidFill>
                    <a:srgbClr val="93A9CF"/>
                  </a:solidFill>
                  <a:latin typeface="Arial Bold"/>
                  <a:ea typeface="Arial Bold"/>
                  <a:cs typeface="Arial Bold"/>
                  <a:sym typeface="Arial Bold"/>
                </a:rPr>
                <a:t>MAU-ORIENTED HOOKS </a:t>
              </a:r>
            </a:p>
          </p:txBody>
        </p:sp>
      </p:grpSp>
      <p:grpSp>
        <p:nvGrpSpPr>
          <p:cNvPr id="5" name="Group 5"/>
          <p:cNvGrpSpPr/>
          <p:nvPr/>
        </p:nvGrpSpPr>
        <p:grpSpPr>
          <a:xfrm>
            <a:off x="960120" y="1294525"/>
            <a:ext cx="13213080" cy="1303020"/>
            <a:chOff x="0" y="0"/>
            <a:chExt cx="15873298" cy="1737360"/>
          </a:xfrm>
        </p:grpSpPr>
        <p:sp>
          <p:nvSpPr>
            <p:cNvPr id="6" name="Freeform 6"/>
            <p:cNvSpPr/>
            <p:nvPr/>
          </p:nvSpPr>
          <p:spPr>
            <a:xfrm>
              <a:off x="0" y="0"/>
              <a:ext cx="15873298" cy="1737360"/>
            </a:xfrm>
            <a:custGeom>
              <a:avLst/>
              <a:gdLst/>
              <a:ahLst/>
              <a:cxnLst/>
              <a:rect l="l" t="t" r="r" b="b"/>
              <a:pathLst>
                <a:path w="15873298" h="1737360">
                  <a:moveTo>
                    <a:pt x="0" y="0"/>
                  </a:moveTo>
                  <a:lnTo>
                    <a:pt x="15873298" y="0"/>
                  </a:lnTo>
                  <a:lnTo>
                    <a:pt x="15873298" y="1737360"/>
                  </a:lnTo>
                  <a:lnTo>
                    <a:pt x="0" y="1737360"/>
                  </a:lnTo>
                  <a:close/>
                </a:path>
              </a:pathLst>
            </a:custGeom>
            <a:blipFill>
              <a:blip r:embed="rId3">
                <a:alphaModFix amt="0"/>
              </a:blip>
              <a:stretch>
                <a:fillRect t="-114084" r="7830" b="-114084"/>
              </a:stretch>
            </a:blipFill>
          </p:spPr>
          <p:txBody>
            <a:bodyPr/>
            <a:lstStyle/>
            <a:p>
              <a:endParaRPr lang="en-US"/>
            </a:p>
          </p:txBody>
        </p:sp>
        <p:sp>
          <p:nvSpPr>
            <p:cNvPr id="7" name="TextBox 7"/>
            <p:cNvSpPr txBox="1"/>
            <p:nvPr/>
          </p:nvSpPr>
          <p:spPr>
            <a:xfrm>
              <a:off x="0" y="38100"/>
              <a:ext cx="15873298" cy="1699260"/>
            </a:xfrm>
            <a:prstGeom prst="rect">
              <a:avLst/>
            </a:prstGeom>
          </p:spPr>
          <p:txBody>
            <a:bodyPr lIns="0" tIns="0" rIns="0" bIns="0" rtlCol="0" anchor="ctr"/>
            <a:lstStyle/>
            <a:p>
              <a:pPr algn="l">
                <a:lnSpc>
                  <a:spcPts val="5100"/>
                </a:lnSpc>
              </a:pPr>
              <a:r>
                <a:rPr lang="en-US" sz="4800" b="1" dirty="0">
                  <a:solidFill>
                    <a:srgbClr val="FFFFFF"/>
                  </a:solidFill>
                  <a:latin typeface="Arial Bold"/>
                  <a:ea typeface="Arial Bold"/>
                  <a:cs typeface="Arial Bold"/>
                  <a:sym typeface="Arial Bold"/>
                </a:rPr>
                <a:t>Invite People Back, Never Pressure Them</a:t>
              </a:r>
            </a:p>
          </p:txBody>
        </p:sp>
      </p:grpSp>
      <p:grpSp>
        <p:nvGrpSpPr>
          <p:cNvPr id="8" name="Group 8"/>
          <p:cNvGrpSpPr/>
          <p:nvPr/>
        </p:nvGrpSpPr>
        <p:grpSpPr>
          <a:xfrm>
            <a:off x="10370979" y="9121140"/>
            <a:ext cx="6869240" cy="548640"/>
            <a:chOff x="0" y="0"/>
            <a:chExt cx="9158987" cy="731520"/>
          </a:xfrm>
        </p:grpSpPr>
        <p:sp>
          <p:nvSpPr>
            <p:cNvPr id="9" name="Freeform 9"/>
            <p:cNvSpPr/>
            <p:nvPr/>
          </p:nvSpPr>
          <p:spPr>
            <a:xfrm>
              <a:off x="0" y="0"/>
              <a:ext cx="9158987" cy="731520"/>
            </a:xfrm>
            <a:custGeom>
              <a:avLst/>
              <a:gdLst/>
              <a:ahLst/>
              <a:cxnLst/>
              <a:rect l="l" t="t" r="r" b="b"/>
              <a:pathLst>
                <a:path w="9158987" h="731520">
                  <a:moveTo>
                    <a:pt x="0" y="0"/>
                  </a:moveTo>
                  <a:lnTo>
                    <a:pt x="9158987" y="0"/>
                  </a:lnTo>
                  <a:lnTo>
                    <a:pt x="9158987" y="731520"/>
                  </a:lnTo>
                  <a:lnTo>
                    <a:pt x="0" y="731520"/>
                  </a:lnTo>
                  <a:close/>
                </a:path>
              </a:pathLst>
            </a:custGeom>
            <a:blipFill>
              <a:blip r:embed="rId3">
                <a:alphaModFix amt="0"/>
              </a:blip>
              <a:stretch>
                <a:fillRect t="-193562" r="163" b="-193562"/>
              </a:stretch>
            </a:blipFill>
          </p:spPr>
          <p:txBody>
            <a:bodyPr/>
            <a:lstStyle/>
            <a:p>
              <a:endParaRPr lang="en-US"/>
            </a:p>
          </p:txBody>
        </p:sp>
        <p:sp>
          <p:nvSpPr>
            <p:cNvPr id="10" name="TextBox 10"/>
            <p:cNvSpPr txBox="1"/>
            <p:nvPr/>
          </p:nvSpPr>
          <p:spPr>
            <a:xfrm>
              <a:off x="0" y="-19050"/>
              <a:ext cx="9158987" cy="750570"/>
            </a:xfrm>
            <a:prstGeom prst="rect">
              <a:avLst/>
            </a:prstGeom>
          </p:spPr>
          <p:txBody>
            <a:bodyPr lIns="0" tIns="0" rIns="0" bIns="0" rtlCol="0" anchor="ctr"/>
            <a:lstStyle/>
            <a:p>
              <a:pPr algn="l">
                <a:lnSpc>
                  <a:spcPts val="1620"/>
                </a:lnSpc>
              </a:pPr>
              <a:r>
                <a:rPr lang="en-US" sz="1350" b="1" spc="149">
                  <a:solidFill>
                    <a:srgbClr val="FFFFFF"/>
                  </a:solidFill>
                  <a:latin typeface="Arial Bold"/>
                  <a:ea typeface="Arial Bold"/>
                  <a:cs typeface="Arial Bold"/>
                  <a:sym typeface="Arial Bold"/>
                </a:rPr>
                <a:t>BACK CAMERA — FULL FRAME          FRONT CAMERA — OVERLAY</a:t>
              </a:r>
            </a:p>
          </p:txBody>
        </p:sp>
      </p:grpSp>
      <p:grpSp>
        <p:nvGrpSpPr>
          <p:cNvPr id="11" name="Group 11"/>
          <p:cNvGrpSpPr/>
          <p:nvPr/>
        </p:nvGrpSpPr>
        <p:grpSpPr>
          <a:xfrm>
            <a:off x="960120" y="3145155"/>
            <a:ext cx="5171011" cy="4819650"/>
            <a:chOff x="0" y="0"/>
            <a:chExt cx="6894682" cy="6426200"/>
          </a:xfrm>
        </p:grpSpPr>
        <p:sp>
          <p:nvSpPr>
            <p:cNvPr id="12" name="Freeform 12"/>
            <p:cNvSpPr/>
            <p:nvPr/>
          </p:nvSpPr>
          <p:spPr>
            <a:xfrm>
              <a:off x="0" y="0"/>
              <a:ext cx="6894681" cy="6426200"/>
            </a:xfrm>
            <a:custGeom>
              <a:avLst/>
              <a:gdLst/>
              <a:ahLst/>
              <a:cxnLst/>
              <a:rect l="l" t="t" r="r" b="b"/>
              <a:pathLst>
                <a:path w="6894681" h="6426200">
                  <a:moveTo>
                    <a:pt x="0" y="220345"/>
                  </a:moveTo>
                  <a:cubicBezTo>
                    <a:pt x="0" y="98679"/>
                    <a:pt x="98841" y="0"/>
                    <a:pt x="220706" y="0"/>
                  </a:cubicBezTo>
                  <a:lnTo>
                    <a:pt x="6673975" y="0"/>
                  </a:lnTo>
                  <a:cubicBezTo>
                    <a:pt x="6795841" y="0"/>
                    <a:pt x="6894681" y="98679"/>
                    <a:pt x="6894681" y="220345"/>
                  </a:cubicBezTo>
                  <a:lnTo>
                    <a:pt x="6894681" y="6205855"/>
                  </a:lnTo>
                  <a:cubicBezTo>
                    <a:pt x="6894681" y="6327521"/>
                    <a:pt x="6795841" y="6426200"/>
                    <a:pt x="6673976" y="6426200"/>
                  </a:cubicBezTo>
                  <a:lnTo>
                    <a:pt x="220706" y="6426200"/>
                  </a:lnTo>
                  <a:cubicBezTo>
                    <a:pt x="98841" y="6426200"/>
                    <a:pt x="0" y="6327521"/>
                    <a:pt x="0" y="6205855"/>
                  </a:cubicBezTo>
                  <a:close/>
                </a:path>
              </a:pathLst>
            </a:custGeom>
            <a:solidFill>
              <a:srgbClr val="FAFAF8"/>
            </a:solidFill>
            <a:ln w="19050" cap="sq">
              <a:solidFill>
                <a:srgbClr val="E4E0D6"/>
              </a:solidFill>
              <a:prstDash val="solid"/>
              <a:miter/>
            </a:ln>
          </p:spPr>
          <p:txBody>
            <a:bodyPr/>
            <a:lstStyle/>
            <a:p>
              <a:endParaRPr lang="en-US"/>
            </a:p>
          </p:txBody>
        </p:sp>
      </p:grpSp>
      <p:grpSp>
        <p:nvGrpSpPr>
          <p:cNvPr id="13" name="Group 13"/>
          <p:cNvGrpSpPr/>
          <p:nvPr/>
        </p:nvGrpSpPr>
        <p:grpSpPr>
          <a:xfrm>
            <a:off x="1381815" y="3566160"/>
            <a:ext cx="961694" cy="960120"/>
            <a:chOff x="0" y="0"/>
            <a:chExt cx="1282258" cy="1280160"/>
          </a:xfrm>
        </p:grpSpPr>
        <p:sp>
          <p:nvSpPr>
            <p:cNvPr id="14" name="Freeform 14"/>
            <p:cNvSpPr/>
            <p:nvPr/>
          </p:nvSpPr>
          <p:spPr>
            <a:xfrm>
              <a:off x="0" y="0"/>
              <a:ext cx="1282258" cy="1280160"/>
            </a:xfrm>
            <a:custGeom>
              <a:avLst/>
              <a:gdLst/>
              <a:ahLst/>
              <a:cxnLst/>
              <a:rect l="l" t="t" r="r" b="b"/>
              <a:pathLst>
                <a:path w="1282258" h="1280160">
                  <a:moveTo>
                    <a:pt x="0" y="640080"/>
                  </a:moveTo>
                  <a:cubicBezTo>
                    <a:pt x="0" y="286512"/>
                    <a:pt x="286982" y="0"/>
                    <a:pt x="641129" y="0"/>
                  </a:cubicBezTo>
                  <a:cubicBezTo>
                    <a:pt x="995277" y="0"/>
                    <a:pt x="1282258" y="286512"/>
                    <a:pt x="1282258" y="640080"/>
                  </a:cubicBezTo>
                  <a:cubicBezTo>
                    <a:pt x="1282258" y="993648"/>
                    <a:pt x="995277" y="1280160"/>
                    <a:pt x="641129" y="1280160"/>
                  </a:cubicBezTo>
                  <a:cubicBezTo>
                    <a:pt x="286982" y="1280160"/>
                    <a:pt x="0" y="993648"/>
                    <a:pt x="0" y="640080"/>
                  </a:cubicBezTo>
                  <a:close/>
                </a:path>
              </a:pathLst>
            </a:custGeom>
            <a:solidFill>
              <a:srgbClr val="1A1A1A"/>
            </a:solidFill>
          </p:spPr>
          <p:txBody>
            <a:bodyPr/>
            <a:lstStyle/>
            <a:p>
              <a:endParaRPr lang="en-US"/>
            </a:p>
          </p:txBody>
        </p:sp>
      </p:grpSp>
      <p:grpSp>
        <p:nvGrpSpPr>
          <p:cNvPr id="15" name="Group 15"/>
          <p:cNvGrpSpPr/>
          <p:nvPr/>
        </p:nvGrpSpPr>
        <p:grpSpPr>
          <a:xfrm>
            <a:off x="1381815" y="3566160"/>
            <a:ext cx="961694" cy="960120"/>
            <a:chOff x="0" y="0"/>
            <a:chExt cx="1282258" cy="1280160"/>
          </a:xfrm>
        </p:grpSpPr>
        <p:sp>
          <p:nvSpPr>
            <p:cNvPr id="16" name="Freeform 16"/>
            <p:cNvSpPr/>
            <p:nvPr/>
          </p:nvSpPr>
          <p:spPr>
            <a:xfrm>
              <a:off x="0" y="0"/>
              <a:ext cx="1282258" cy="1280160"/>
            </a:xfrm>
            <a:custGeom>
              <a:avLst/>
              <a:gdLst/>
              <a:ahLst/>
              <a:cxnLst/>
              <a:rect l="l" t="t" r="r" b="b"/>
              <a:pathLst>
                <a:path w="1282258" h="1280160">
                  <a:moveTo>
                    <a:pt x="0" y="0"/>
                  </a:moveTo>
                  <a:lnTo>
                    <a:pt x="1282258" y="0"/>
                  </a:lnTo>
                  <a:lnTo>
                    <a:pt x="1282258" y="1280160"/>
                  </a:lnTo>
                  <a:lnTo>
                    <a:pt x="0" y="1280160"/>
                  </a:lnTo>
                  <a:close/>
                </a:path>
              </a:pathLst>
            </a:custGeom>
            <a:blipFill>
              <a:blip r:embed="rId3">
                <a:alphaModFix amt="0"/>
              </a:blip>
              <a:stretch>
                <a:fillRect l="-78175" r="-78011"/>
              </a:stretch>
            </a:blipFill>
          </p:spPr>
          <p:txBody>
            <a:bodyPr/>
            <a:lstStyle/>
            <a:p>
              <a:endParaRPr lang="en-US"/>
            </a:p>
          </p:txBody>
        </p:sp>
        <p:sp>
          <p:nvSpPr>
            <p:cNvPr id="17" name="TextBox 17"/>
            <p:cNvSpPr txBox="1"/>
            <p:nvPr/>
          </p:nvSpPr>
          <p:spPr>
            <a:xfrm>
              <a:off x="0" y="-66675"/>
              <a:ext cx="1282258" cy="1346835"/>
            </a:xfrm>
            <a:prstGeom prst="rect">
              <a:avLst/>
            </a:prstGeom>
          </p:spPr>
          <p:txBody>
            <a:bodyPr lIns="0" tIns="0" rIns="0" bIns="0" rtlCol="0" anchor="ctr"/>
            <a:lstStyle/>
            <a:p>
              <a:pPr algn="ctr">
                <a:lnSpc>
                  <a:spcPts val="4320"/>
                </a:lnSpc>
              </a:pPr>
              <a:r>
                <a:rPr lang="en-US" sz="3600">
                  <a:solidFill>
                    <a:srgbClr val="000000"/>
                  </a:solidFill>
                  <a:latin typeface="Calibri (MS)"/>
                  <a:ea typeface="Calibri (MS)"/>
                  <a:cs typeface="Calibri (MS)"/>
                  <a:sym typeface="Calibri (MS)"/>
                </a:rPr>
                <a:t>👀</a:t>
              </a:r>
            </a:p>
          </p:txBody>
        </p:sp>
      </p:grpSp>
      <p:grpSp>
        <p:nvGrpSpPr>
          <p:cNvPr id="18" name="Group 18"/>
          <p:cNvGrpSpPr/>
          <p:nvPr/>
        </p:nvGrpSpPr>
        <p:grpSpPr>
          <a:xfrm>
            <a:off x="1381815" y="4800600"/>
            <a:ext cx="4327621" cy="548640"/>
            <a:chOff x="0" y="0"/>
            <a:chExt cx="5770162" cy="731520"/>
          </a:xfrm>
        </p:grpSpPr>
        <p:sp>
          <p:nvSpPr>
            <p:cNvPr id="19" name="Freeform 19"/>
            <p:cNvSpPr/>
            <p:nvPr/>
          </p:nvSpPr>
          <p:spPr>
            <a:xfrm>
              <a:off x="0" y="0"/>
              <a:ext cx="5770162" cy="731520"/>
            </a:xfrm>
            <a:custGeom>
              <a:avLst/>
              <a:gdLst/>
              <a:ahLst/>
              <a:cxnLst/>
              <a:rect l="l" t="t" r="r" b="b"/>
              <a:pathLst>
                <a:path w="5770162" h="731520">
                  <a:moveTo>
                    <a:pt x="0" y="0"/>
                  </a:moveTo>
                  <a:lnTo>
                    <a:pt x="5770162" y="0"/>
                  </a:lnTo>
                  <a:lnTo>
                    <a:pt x="5770162" y="731520"/>
                  </a:lnTo>
                  <a:lnTo>
                    <a:pt x="0" y="731520"/>
                  </a:lnTo>
                  <a:close/>
                </a:path>
              </a:pathLst>
            </a:custGeom>
            <a:blipFill>
              <a:blip r:embed="rId3">
                <a:alphaModFix amt="0"/>
              </a:blip>
              <a:stretch>
                <a:fillRect t="-103444" r="163" b="-103444"/>
              </a:stretch>
            </a:blipFill>
          </p:spPr>
          <p:txBody>
            <a:bodyPr/>
            <a:lstStyle/>
            <a:p>
              <a:endParaRPr lang="en-US"/>
            </a:p>
          </p:txBody>
        </p:sp>
        <p:sp>
          <p:nvSpPr>
            <p:cNvPr id="20" name="TextBox 20"/>
            <p:cNvSpPr txBox="1"/>
            <p:nvPr/>
          </p:nvSpPr>
          <p:spPr>
            <a:xfrm>
              <a:off x="0" y="-57150"/>
              <a:ext cx="5770162" cy="788670"/>
            </a:xfrm>
            <a:prstGeom prst="rect">
              <a:avLst/>
            </a:prstGeom>
          </p:spPr>
          <p:txBody>
            <a:bodyPr lIns="0" tIns="0" rIns="0" bIns="0" rtlCol="0" anchor="ctr"/>
            <a:lstStyle/>
            <a:p>
              <a:pPr algn="l">
                <a:lnSpc>
                  <a:spcPts val="2700"/>
                </a:lnSpc>
              </a:pPr>
              <a:r>
                <a:rPr lang="en-US" sz="2250" b="1" dirty="0">
                  <a:solidFill>
                    <a:srgbClr val="1A1A1A"/>
                  </a:solidFill>
                  <a:latin typeface="Calibri (MS) Bold"/>
                  <a:ea typeface="Calibri (MS) Bold"/>
                  <a:cs typeface="Calibri (MS) Bold"/>
                  <a:sym typeface="Calibri (MS) Bold"/>
                </a:rPr>
                <a:t>Reminder Bubble</a:t>
              </a:r>
            </a:p>
          </p:txBody>
        </p:sp>
      </p:grpSp>
      <p:grpSp>
        <p:nvGrpSpPr>
          <p:cNvPr id="21" name="Group 21"/>
          <p:cNvGrpSpPr/>
          <p:nvPr/>
        </p:nvGrpSpPr>
        <p:grpSpPr>
          <a:xfrm>
            <a:off x="1381815" y="5417820"/>
            <a:ext cx="4327621" cy="960120"/>
            <a:chOff x="0" y="0"/>
            <a:chExt cx="5770162" cy="1280160"/>
          </a:xfrm>
        </p:grpSpPr>
        <p:sp>
          <p:nvSpPr>
            <p:cNvPr id="22" name="Freeform 22"/>
            <p:cNvSpPr/>
            <p:nvPr/>
          </p:nvSpPr>
          <p:spPr>
            <a:xfrm>
              <a:off x="0" y="0"/>
              <a:ext cx="5770162" cy="1280160"/>
            </a:xfrm>
            <a:custGeom>
              <a:avLst/>
              <a:gdLst/>
              <a:ahLst/>
              <a:cxnLst/>
              <a:rect l="l" t="t" r="r" b="b"/>
              <a:pathLst>
                <a:path w="5770162" h="1280160">
                  <a:moveTo>
                    <a:pt x="0" y="0"/>
                  </a:moveTo>
                  <a:lnTo>
                    <a:pt x="5770162" y="0"/>
                  </a:lnTo>
                  <a:lnTo>
                    <a:pt x="5770162" y="1280160"/>
                  </a:lnTo>
                  <a:lnTo>
                    <a:pt x="0" y="1280160"/>
                  </a:lnTo>
                  <a:close/>
                </a:path>
              </a:pathLst>
            </a:custGeom>
            <a:blipFill>
              <a:blip r:embed="rId3">
                <a:alphaModFix amt="0"/>
              </a:blip>
              <a:stretch>
                <a:fillRect t="-37682" r="163" b="-37682"/>
              </a:stretch>
            </a:blipFill>
          </p:spPr>
          <p:txBody>
            <a:bodyPr/>
            <a:lstStyle/>
            <a:p>
              <a:endParaRPr lang="en-US"/>
            </a:p>
          </p:txBody>
        </p:sp>
        <p:sp>
          <p:nvSpPr>
            <p:cNvPr id="23" name="TextBox 23"/>
            <p:cNvSpPr txBox="1"/>
            <p:nvPr/>
          </p:nvSpPr>
          <p:spPr>
            <a:xfrm>
              <a:off x="0" y="-47625"/>
              <a:ext cx="5770162" cy="1327785"/>
            </a:xfrm>
            <a:prstGeom prst="rect">
              <a:avLst/>
            </a:prstGeom>
          </p:spPr>
          <p:txBody>
            <a:bodyPr lIns="0" tIns="0" rIns="0" bIns="0" rtlCol="0" anchor="ctr"/>
            <a:lstStyle/>
            <a:p>
              <a:pPr algn="l">
                <a:lnSpc>
                  <a:spcPts val="2250"/>
                </a:lnSpc>
              </a:pPr>
              <a:r>
                <a:rPr lang="en-US" sz="1800" b="1" i="1">
                  <a:solidFill>
                    <a:srgbClr val="93A9CF"/>
                  </a:solidFill>
                  <a:latin typeface="Calibri (MS) Bold Italics"/>
                  <a:ea typeface="Calibri (MS) Bold Italics"/>
                  <a:cs typeface="Calibri (MS) Bold Italics"/>
                  <a:sym typeface="Calibri (MS) Bold Italics"/>
                </a:rPr>
                <a:t>“3 friends already posted to Coffee Shop today”</a:t>
              </a:r>
            </a:p>
          </p:txBody>
        </p:sp>
      </p:grpSp>
      <p:grpSp>
        <p:nvGrpSpPr>
          <p:cNvPr id="24" name="Group 24"/>
          <p:cNvGrpSpPr/>
          <p:nvPr/>
        </p:nvGrpSpPr>
        <p:grpSpPr>
          <a:xfrm>
            <a:off x="1381815" y="6446520"/>
            <a:ext cx="4327621" cy="1234440"/>
            <a:chOff x="0" y="0"/>
            <a:chExt cx="5770162" cy="1645920"/>
          </a:xfrm>
        </p:grpSpPr>
        <p:sp>
          <p:nvSpPr>
            <p:cNvPr id="25" name="Freeform 25"/>
            <p:cNvSpPr/>
            <p:nvPr/>
          </p:nvSpPr>
          <p:spPr>
            <a:xfrm>
              <a:off x="0" y="0"/>
              <a:ext cx="5770162" cy="1645920"/>
            </a:xfrm>
            <a:custGeom>
              <a:avLst/>
              <a:gdLst/>
              <a:ahLst/>
              <a:cxnLst/>
              <a:rect l="l" t="t" r="r" b="b"/>
              <a:pathLst>
                <a:path w="5770162" h="1645920">
                  <a:moveTo>
                    <a:pt x="0" y="0"/>
                  </a:moveTo>
                  <a:lnTo>
                    <a:pt x="5770162" y="0"/>
                  </a:lnTo>
                  <a:lnTo>
                    <a:pt x="5770162" y="1645920"/>
                  </a:lnTo>
                  <a:lnTo>
                    <a:pt x="0" y="1645920"/>
                  </a:lnTo>
                  <a:close/>
                </a:path>
              </a:pathLst>
            </a:custGeom>
            <a:blipFill>
              <a:blip r:embed="rId3">
                <a:alphaModFix amt="0"/>
              </a:blip>
              <a:stretch>
                <a:fillRect t="-18197" r="163" b="-18197"/>
              </a:stretch>
            </a:blipFill>
          </p:spPr>
          <p:txBody>
            <a:bodyPr/>
            <a:lstStyle/>
            <a:p>
              <a:endParaRPr lang="en-US"/>
            </a:p>
          </p:txBody>
        </p:sp>
        <p:sp>
          <p:nvSpPr>
            <p:cNvPr id="26" name="TextBox 26"/>
            <p:cNvSpPr txBox="1"/>
            <p:nvPr/>
          </p:nvSpPr>
          <p:spPr>
            <a:xfrm>
              <a:off x="0" y="-57150"/>
              <a:ext cx="5770162" cy="1703070"/>
            </a:xfrm>
            <a:prstGeom prst="rect">
              <a:avLst/>
            </a:prstGeom>
          </p:spPr>
          <p:txBody>
            <a:bodyPr lIns="0" tIns="0" rIns="0" bIns="0" rtlCol="0" anchor="ctr"/>
            <a:lstStyle/>
            <a:p>
              <a:pPr algn="l">
                <a:lnSpc>
                  <a:spcPts val="2250"/>
                </a:lnSpc>
              </a:pPr>
              <a:r>
                <a:rPr lang="en-US" sz="1725">
                  <a:solidFill>
                    <a:srgbClr val="5B5B5B"/>
                  </a:solidFill>
                  <a:latin typeface="Calibri (MS)"/>
                  <a:ea typeface="Calibri (MS)"/>
                  <a:cs typeface="Calibri (MS)"/>
                  <a:sym typeface="Calibri (MS)"/>
                </a:rPr>
                <a:t>Social curiosity, not an alert</a:t>
              </a:r>
            </a:p>
          </p:txBody>
        </p:sp>
      </p:grpSp>
      <p:grpSp>
        <p:nvGrpSpPr>
          <p:cNvPr id="27" name="Group 27"/>
          <p:cNvGrpSpPr/>
          <p:nvPr/>
        </p:nvGrpSpPr>
        <p:grpSpPr>
          <a:xfrm>
            <a:off x="6524204" y="3145155"/>
            <a:ext cx="5171011" cy="4819650"/>
            <a:chOff x="0" y="0"/>
            <a:chExt cx="6894682" cy="6426200"/>
          </a:xfrm>
        </p:grpSpPr>
        <p:sp>
          <p:nvSpPr>
            <p:cNvPr id="28" name="Freeform 28"/>
            <p:cNvSpPr/>
            <p:nvPr/>
          </p:nvSpPr>
          <p:spPr>
            <a:xfrm>
              <a:off x="0" y="0"/>
              <a:ext cx="6894681" cy="6426200"/>
            </a:xfrm>
            <a:custGeom>
              <a:avLst/>
              <a:gdLst/>
              <a:ahLst/>
              <a:cxnLst/>
              <a:rect l="l" t="t" r="r" b="b"/>
              <a:pathLst>
                <a:path w="6894681" h="6426200">
                  <a:moveTo>
                    <a:pt x="0" y="220345"/>
                  </a:moveTo>
                  <a:cubicBezTo>
                    <a:pt x="0" y="98679"/>
                    <a:pt x="98841" y="0"/>
                    <a:pt x="220706" y="0"/>
                  </a:cubicBezTo>
                  <a:lnTo>
                    <a:pt x="6673975" y="0"/>
                  </a:lnTo>
                  <a:cubicBezTo>
                    <a:pt x="6795841" y="0"/>
                    <a:pt x="6894681" y="98679"/>
                    <a:pt x="6894681" y="220345"/>
                  </a:cubicBezTo>
                  <a:lnTo>
                    <a:pt x="6894681" y="6205855"/>
                  </a:lnTo>
                  <a:cubicBezTo>
                    <a:pt x="6894681" y="6327521"/>
                    <a:pt x="6795841" y="6426200"/>
                    <a:pt x="6673976" y="6426200"/>
                  </a:cubicBezTo>
                  <a:lnTo>
                    <a:pt x="220706" y="6426200"/>
                  </a:lnTo>
                  <a:cubicBezTo>
                    <a:pt x="98841" y="6426200"/>
                    <a:pt x="0" y="6327521"/>
                    <a:pt x="0" y="6205855"/>
                  </a:cubicBezTo>
                  <a:close/>
                </a:path>
              </a:pathLst>
            </a:custGeom>
            <a:solidFill>
              <a:srgbClr val="FAFAF8"/>
            </a:solidFill>
            <a:ln w="19050" cap="sq">
              <a:solidFill>
                <a:srgbClr val="E4E0D6"/>
              </a:solidFill>
              <a:prstDash val="solid"/>
              <a:miter/>
            </a:ln>
          </p:spPr>
          <p:txBody>
            <a:bodyPr/>
            <a:lstStyle/>
            <a:p>
              <a:endParaRPr lang="en-US"/>
            </a:p>
          </p:txBody>
        </p:sp>
      </p:grpSp>
      <p:grpSp>
        <p:nvGrpSpPr>
          <p:cNvPr id="29" name="Group 29"/>
          <p:cNvGrpSpPr/>
          <p:nvPr/>
        </p:nvGrpSpPr>
        <p:grpSpPr>
          <a:xfrm>
            <a:off x="6945899" y="3566160"/>
            <a:ext cx="961694" cy="960120"/>
            <a:chOff x="0" y="0"/>
            <a:chExt cx="1282258" cy="1280160"/>
          </a:xfrm>
        </p:grpSpPr>
        <p:sp>
          <p:nvSpPr>
            <p:cNvPr id="30" name="Freeform 30"/>
            <p:cNvSpPr/>
            <p:nvPr/>
          </p:nvSpPr>
          <p:spPr>
            <a:xfrm>
              <a:off x="0" y="0"/>
              <a:ext cx="1282258" cy="1280160"/>
            </a:xfrm>
            <a:custGeom>
              <a:avLst/>
              <a:gdLst/>
              <a:ahLst/>
              <a:cxnLst/>
              <a:rect l="l" t="t" r="r" b="b"/>
              <a:pathLst>
                <a:path w="1282258" h="1280160">
                  <a:moveTo>
                    <a:pt x="0" y="640080"/>
                  </a:moveTo>
                  <a:cubicBezTo>
                    <a:pt x="0" y="286512"/>
                    <a:pt x="286982" y="0"/>
                    <a:pt x="641129" y="0"/>
                  </a:cubicBezTo>
                  <a:cubicBezTo>
                    <a:pt x="995277" y="0"/>
                    <a:pt x="1282258" y="286512"/>
                    <a:pt x="1282258" y="640080"/>
                  </a:cubicBezTo>
                  <a:cubicBezTo>
                    <a:pt x="1282258" y="993648"/>
                    <a:pt x="995277" y="1280160"/>
                    <a:pt x="641129" y="1280160"/>
                  </a:cubicBezTo>
                  <a:cubicBezTo>
                    <a:pt x="286982" y="1280160"/>
                    <a:pt x="0" y="993648"/>
                    <a:pt x="0" y="640080"/>
                  </a:cubicBezTo>
                  <a:close/>
                </a:path>
              </a:pathLst>
            </a:custGeom>
            <a:solidFill>
              <a:srgbClr val="1A1A1A"/>
            </a:solidFill>
          </p:spPr>
          <p:txBody>
            <a:bodyPr/>
            <a:lstStyle/>
            <a:p>
              <a:endParaRPr lang="en-US"/>
            </a:p>
          </p:txBody>
        </p:sp>
      </p:grpSp>
      <p:grpSp>
        <p:nvGrpSpPr>
          <p:cNvPr id="31" name="Group 31"/>
          <p:cNvGrpSpPr/>
          <p:nvPr/>
        </p:nvGrpSpPr>
        <p:grpSpPr>
          <a:xfrm>
            <a:off x="6945899" y="3566160"/>
            <a:ext cx="961694" cy="960120"/>
            <a:chOff x="0" y="0"/>
            <a:chExt cx="1282258" cy="1280160"/>
          </a:xfrm>
        </p:grpSpPr>
        <p:sp>
          <p:nvSpPr>
            <p:cNvPr id="32" name="Freeform 32"/>
            <p:cNvSpPr/>
            <p:nvPr/>
          </p:nvSpPr>
          <p:spPr>
            <a:xfrm>
              <a:off x="0" y="0"/>
              <a:ext cx="1282258" cy="1280160"/>
            </a:xfrm>
            <a:custGeom>
              <a:avLst/>
              <a:gdLst/>
              <a:ahLst/>
              <a:cxnLst/>
              <a:rect l="l" t="t" r="r" b="b"/>
              <a:pathLst>
                <a:path w="1282258" h="1280160">
                  <a:moveTo>
                    <a:pt x="0" y="0"/>
                  </a:moveTo>
                  <a:lnTo>
                    <a:pt x="1282258" y="0"/>
                  </a:lnTo>
                  <a:lnTo>
                    <a:pt x="1282258" y="1280160"/>
                  </a:lnTo>
                  <a:lnTo>
                    <a:pt x="0" y="1280160"/>
                  </a:lnTo>
                  <a:close/>
                </a:path>
              </a:pathLst>
            </a:custGeom>
            <a:blipFill>
              <a:blip r:embed="rId3">
                <a:alphaModFix amt="0"/>
              </a:blip>
              <a:stretch>
                <a:fillRect l="-78175" r="-78011"/>
              </a:stretch>
            </a:blipFill>
          </p:spPr>
          <p:txBody>
            <a:bodyPr/>
            <a:lstStyle/>
            <a:p>
              <a:endParaRPr lang="en-US"/>
            </a:p>
          </p:txBody>
        </p:sp>
        <p:sp>
          <p:nvSpPr>
            <p:cNvPr id="33" name="TextBox 33"/>
            <p:cNvSpPr txBox="1"/>
            <p:nvPr/>
          </p:nvSpPr>
          <p:spPr>
            <a:xfrm>
              <a:off x="0" y="-66675"/>
              <a:ext cx="1282258" cy="1346835"/>
            </a:xfrm>
            <a:prstGeom prst="rect">
              <a:avLst/>
            </a:prstGeom>
          </p:spPr>
          <p:txBody>
            <a:bodyPr lIns="0" tIns="0" rIns="0" bIns="0" rtlCol="0" anchor="ctr"/>
            <a:lstStyle/>
            <a:p>
              <a:pPr algn="ctr">
                <a:lnSpc>
                  <a:spcPts val="4320"/>
                </a:lnSpc>
              </a:pPr>
              <a:r>
                <a:rPr lang="en-US" sz="3600">
                  <a:solidFill>
                    <a:srgbClr val="000000"/>
                  </a:solidFill>
                  <a:latin typeface="Calibri (MS)"/>
                  <a:ea typeface="Calibri (MS)"/>
                  <a:cs typeface="Calibri (MS)"/>
                  <a:sym typeface="Calibri (MS)"/>
                </a:rPr>
                <a:t>🔆</a:t>
              </a:r>
            </a:p>
          </p:txBody>
        </p:sp>
      </p:grpSp>
      <p:grpSp>
        <p:nvGrpSpPr>
          <p:cNvPr id="34" name="Group 34"/>
          <p:cNvGrpSpPr/>
          <p:nvPr/>
        </p:nvGrpSpPr>
        <p:grpSpPr>
          <a:xfrm>
            <a:off x="6945899" y="4800600"/>
            <a:ext cx="4327621" cy="548640"/>
            <a:chOff x="0" y="0"/>
            <a:chExt cx="5770162" cy="731520"/>
          </a:xfrm>
        </p:grpSpPr>
        <p:sp>
          <p:nvSpPr>
            <p:cNvPr id="35" name="Freeform 35"/>
            <p:cNvSpPr/>
            <p:nvPr/>
          </p:nvSpPr>
          <p:spPr>
            <a:xfrm>
              <a:off x="0" y="0"/>
              <a:ext cx="5770162" cy="731520"/>
            </a:xfrm>
            <a:custGeom>
              <a:avLst/>
              <a:gdLst/>
              <a:ahLst/>
              <a:cxnLst/>
              <a:rect l="l" t="t" r="r" b="b"/>
              <a:pathLst>
                <a:path w="5770162" h="731520">
                  <a:moveTo>
                    <a:pt x="0" y="0"/>
                  </a:moveTo>
                  <a:lnTo>
                    <a:pt x="5770162" y="0"/>
                  </a:lnTo>
                  <a:lnTo>
                    <a:pt x="5770162" y="731520"/>
                  </a:lnTo>
                  <a:lnTo>
                    <a:pt x="0" y="731520"/>
                  </a:lnTo>
                  <a:close/>
                </a:path>
              </a:pathLst>
            </a:custGeom>
            <a:blipFill>
              <a:blip r:embed="rId3">
                <a:alphaModFix amt="0"/>
              </a:blip>
              <a:stretch>
                <a:fillRect t="-103444" r="163" b="-103444"/>
              </a:stretch>
            </a:blipFill>
          </p:spPr>
          <p:txBody>
            <a:bodyPr/>
            <a:lstStyle/>
            <a:p>
              <a:endParaRPr lang="en-US"/>
            </a:p>
          </p:txBody>
        </p:sp>
        <p:sp>
          <p:nvSpPr>
            <p:cNvPr id="36" name="TextBox 36"/>
            <p:cNvSpPr txBox="1"/>
            <p:nvPr/>
          </p:nvSpPr>
          <p:spPr>
            <a:xfrm>
              <a:off x="0" y="-57150"/>
              <a:ext cx="5770162" cy="788670"/>
            </a:xfrm>
            <a:prstGeom prst="rect">
              <a:avLst/>
            </a:prstGeom>
          </p:spPr>
          <p:txBody>
            <a:bodyPr lIns="0" tIns="0" rIns="0" bIns="0" rtlCol="0" anchor="ctr"/>
            <a:lstStyle/>
            <a:p>
              <a:pPr algn="l">
                <a:lnSpc>
                  <a:spcPts val="2700"/>
                </a:lnSpc>
              </a:pPr>
              <a:r>
                <a:rPr lang="en-US" sz="2250" b="1" dirty="0">
                  <a:solidFill>
                    <a:srgbClr val="1A1A1A"/>
                  </a:solidFill>
                  <a:latin typeface="Calibri (MS) Bold"/>
                  <a:ea typeface="Calibri (MS) Bold"/>
                  <a:cs typeface="Calibri (MS) Bold"/>
                  <a:sym typeface="Calibri (MS) Bold"/>
                </a:rPr>
                <a:t>Soft Streak Cue</a:t>
              </a:r>
            </a:p>
          </p:txBody>
        </p:sp>
      </p:grpSp>
      <p:grpSp>
        <p:nvGrpSpPr>
          <p:cNvPr id="37" name="Group 37"/>
          <p:cNvGrpSpPr/>
          <p:nvPr/>
        </p:nvGrpSpPr>
        <p:grpSpPr>
          <a:xfrm>
            <a:off x="6945899" y="5417820"/>
            <a:ext cx="4327621" cy="960120"/>
            <a:chOff x="0" y="0"/>
            <a:chExt cx="5770162" cy="1280160"/>
          </a:xfrm>
        </p:grpSpPr>
        <p:sp>
          <p:nvSpPr>
            <p:cNvPr id="38" name="Freeform 38"/>
            <p:cNvSpPr/>
            <p:nvPr/>
          </p:nvSpPr>
          <p:spPr>
            <a:xfrm>
              <a:off x="0" y="0"/>
              <a:ext cx="5770162" cy="1280160"/>
            </a:xfrm>
            <a:custGeom>
              <a:avLst/>
              <a:gdLst/>
              <a:ahLst/>
              <a:cxnLst/>
              <a:rect l="l" t="t" r="r" b="b"/>
              <a:pathLst>
                <a:path w="5770162" h="1280160">
                  <a:moveTo>
                    <a:pt x="0" y="0"/>
                  </a:moveTo>
                  <a:lnTo>
                    <a:pt x="5770162" y="0"/>
                  </a:lnTo>
                  <a:lnTo>
                    <a:pt x="5770162" y="1280160"/>
                  </a:lnTo>
                  <a:lnTo>
                    <a:pt x="0" y="1280160"/>
                  </a:lnTo>
                  <a:close/>
                </a:path>
              </a:pathLst>
            </a:custGeom>
            <a:blipFill>
              <a:blip r:embed="rId3">
                <a:alphaModFix amt="0"/>
              </a:blip>
              <a:stretch>
                <a:fillRect t="-37682" r="163" b="-37682"/>
              </a:stretch>
            </a:blipFill>
          </p:spPr>
          <p:txBody>
            <a:bodyPr/>
            <a:lstStyle/>
            <a:p>
              <a:endParaRPr lang="en-US"/>
            </a:p>
          </p:txBody>
        </p:sp>
        <p:sp>
          <p:nvSpPr>
            <p:cNvPr id="39" name="TextBox 39"/>
            <p:cNvSpPr txBox="1"/>
            <p:nvPr/>
          </p:nvSpPr>
          <p:spPr>
            <a:xfrm>
              <a:off x="0" y="-47625"/>
              <a:ext cx="5770162" cy="1327785"/>
            </a:xfrm>
            <a:prstGeom prst="rect">
              <a:avLst/>
            </a:prstGeom>
          </p:spPr>
          <p:txBody>
            <a:bodyPr lIns="0" tIns="0" rIns="0" bIns="0" rtlCol="0" anchor="ctr"/>
            <a:lstStyle/>
            <a:p>
              <a:pPr algn="l">
                <a:lnSpc>
                  <a:spcPts val="2250"/>
                </a:lnSpc>
              </a:pPr>
              <a:r>
                <a:rPr lang="en-US" sz="1800" b="1" i="1">
                  <a:solidFill>
                    <a:srgbClr val="93A9CF"/>
                  </a:solidFill>
                  <a:latin typeface="Calibri (MS) Bold Italics"/>
                  <a:ea typeface="Calibri (MS) Bold Italics"/>
                  <a:cs typeface="Calibri (MS) Bold Italics"/>
                  <a:sym typeface="Calibri (MS) Bold Italics"/>
                </a:rPr>
                <a:t>“You’ve been real 3 days in a row”</a:t>
              </a:r>
            </a:p>
          </p:txBody>
        </p:sp>
      </p:grpSp>
      <p:grpSp>
        <p:nvGrpSpPr>
          <p:cNvPr id="40" name="Group 40"/>
          <p:cNvGrpSpPr/>
          <p:nvPr/>
        </p:nvGrpSpPr>
        <p:grpSpPr>
          <a:xfrm>
            <a:off x="6945899" y="6446520"/>
            <a:ext cx="4327621" cy="1234440"/>
            <a:chOff x="0" y="0"/>
            <a:chExt cx="5770162" cy="1645920"/>
          </a:xfrm>
        </p:grpSpPr>
        <p:sp>
          <p:nvSpPr>
            <p:cNvPr id="41" name="Freeform 41"/>
            <p:cNvSpPr/>
            <p:nvPr/>
          </p:nvSpPr>
          <p:spPr>
            <a:xfrm>
              <a:off x="0" y="0"/>
              <a:ext cx="5770162" cy="1645920"/>
            </a:xfrm>
            <a:custGeom>
              <a:avLst/>
              <a:gdLst/>
              <a:ahLst/>
              <a:cxnLst/>
              <a:rect l="l" t="t" r="r" b="b"/>
              <a:pathLst>
                <a:path w="5770162" h="1645920">
                  <a:moveTo>
                    <a:pt x="0" y="0"/>
                  </a:moveTo>
                  <a:lnTo>
                    <a:pt x="5770162" y="0"/>
                  </a:lnTo>
                  <a:lnTo>
                    <a:pt x="5770162" y="1645920"/>
                  </a:lnTo>
                  <a:lnTo>
                    <a:pt x="0" y="1645920"/>
                  </a:lnTo>
                  <a:close/>
                </a:path>
              </a:pathLst>
            </a:custGeom>
            <a:blipFill>
              <a:blip r:embed="rId3">
                <a:alphaModFix amt="0"/>
              </a:blip>
              <a:stretch>
                <a:fillRect t="-18197" r="163" b="-18197"/>
              </a:stretch>
            </a:blipFill>
          </p:spPr>
          <p:txBody>
            <a:bodyPr/>
            <a:lstStyle/>
            <a:p>
              <a:endParaRPr lang="en-US"/>
            </a:p>
          </p:txBody>
        </p:sp>
        <p:sp>
          <p:nvSpPr>
            <p:cNvPr id="42" name="TextBox 42"/>
            <p:cNvSpPr txBox="1"/>
            <p:nvPr/>
          </p:nvSpPr>
          <p:spPr>
            <a:xfrm>
              <a:off x="0" y="-57150"/>
              <a:ext cx="5770162" cy="1703070"/>
            </a:xfrm>
            <a:prstGeom prst="rect">
              <a:avLst/>
            </a:prstGeom>
          </p:spPr>
          <p:txBody>
            <a:bodyPr lIns="0" tIns="0" rIns="0" bIns="0" rtlCol="0" anchor="ctr"/>
            <a:lstStyle/>
            <a:p>
              <a:pPr algn="l">
                <a:lnSpc>
                  <a:spcPts val="2250"/>
                </a:lnSpc>
              </a:pPr>
              <a:r>
                <a:rPr lang="en-US" sz="1725">
                  <a:solidFill>
                    <a:srgbClr val="5B5B5B"/>
                  </a:solidFill>
                  <a:latin typeface="Calibri (MS)"/>
                  <a:ea typeface="Calibri (MS)"/>
                  <a:cs typeface="Calibri (MS)"/>
                  <a:sym typeface="Calibri (MS)"/>
                </a:rPr>
                <a:t>No loss framing, no streak-breaking guilt</a:t>
              </a:r>
            </a:p>
          </p:txBody>
        </p:sp>
      </p:grpSp>
      <p:grpSp>
        <p:nvGrpSpPr>
          <p:cNvPr id="43" name="Group 43"/>
          <p:cNvGrpSpPr/>
          <p:nvPr/>
        </p:nvGrpSpPr>
        <p:grpSpPr>
          <a:xfrm>
            <a:off x="12088289" y="3145155"/>
            <a:ext cx="5171011" cy="4819650"/>
            <a:chOff x="0" y="0"/>
            <a:chExt cx="6894682" cy="6426200"/>
          </a:xfrm>
        </p:grpSpPr>
        <p:sp>
          <p:nvSpPr>
            <p:cNvPr id="44" name="Freeform 44"/>
            <p:cNvSpPr/>
            <p:nvPr/>
          </p:nvSpPr>
          <p:spPr>
            <a:xfrm>
              <a:off x="0" y="0"/>
              <a:ext cx="6894681" cy="6426200"/>
            </a:xfrm>
            <a:custGeom>
              <a:avLst/>
              <a:gdLst/>
              <a:ahLst/>
              <a:cxnLst/>
              <a:rect l="l" t="t" r="r" b="b"/>
              <a:pathLst>
                <a:path w="6894681" h="6426200">
                  <a:moveTo>
                    <a:pt x="0" y="220345"/>
                  </a:moveTo>
                  <a:cubicBezTo>
                    <a:pt x="0" y="98679"/>
                    <a:pt x="98841" y="0"/>
                    <a:pt x="220706" y="0"/>
                  </a:cubicBezTo>
                  <a:lnTo>
                    <a:pt x="6673975" y="0"/>
                  </a:lnTo>
                  <a:cubicBezTo>
                    <a:pt x="6795841" y="0"/>
                    <a:pt x="6894681" y="98679"/>
                    <a:pt x="6894681" y="220345"/>
                  </a:cubicBezTo>
                  <a:lnTo>
                    <a:pt x="6894681" y="6205855"/>
                  </a:lnTo>
                  <a:cubicBezTo>
                    <a:pt x="6894681" y="6327521"/>
                    <a:pt x="6795841" y="6426200"/>
                    <a:pt x="6673976" y="6426200"/>
                  </a:cubicBezTo>
                  <a:lnTo>
                    <a:pt x="220706" y="6426200"/>
                  </a:lnTo>
                  <a:cubicBezTo>
                    <a:pt x="98841" y="6426200"/>
                    <a:pt x="0" y="6327521"/>
                    <a:pt x="0" y="6205855"/>
                  </a:cubicBezTo>
                  <a:close/>
                </a:path>
              </a:pathLst>
            </a:custGeom>
            <a:solidFill>
              <a:srgbClr val="FAFAF8"/>
            </a:solidFill>
            <a:ln w="19050" cap="sq">
              <a:solidFill>
                <a:srgbClr val="E4E0D6"/>
              </a:solidFill>
              <a:prstDash val="solid"/>
              <a:miter/>
            </a:ln>
          </p:spPr>
          <p:txBody>
            <a:bodyPr/>
            <a:lstStyle/>
            <a:p>
              <a:endParaRPr lang="en-US"/>
            </a:p>
          </p:txBody>
        </p:sp>
      </p:grpSp>
      <p:grpSp>
        <p:nvGrpSpPr>
          <p:cNvPr id="45" name="Group 45"/>
          <p:cNvGrpSpPr/>
          <p:nvPr/>
        </p:nvGrpSpPr>
        <p:grpSpPr>
          <a:xfrm>
            <a:off x="12509984" y="3566160"/>
            <a:ext cx="961694" cy="960120"/>
            <a:chOff x="0" y="0"/>
            <a:chExt cx="1282258" cy="1280160"/>
          </a:xfrm>
        </p:grpSpPr>
        <p:sp>
          <p:nvSpPr>
            <p:cNvPr id="46" name="Freeform 46"/>
            <p:cNvSpPr/>
            <p:nvPr/>
          </p:nvSpPr>
          <p:spPr>
            <a:xfrm>
              <a:off x="0" y="0"/>
              <a:ext cx="1282258" cy="1280160"/>
            </a:xfrm>
            <a:custGeom>
              <a:avLst/>
              <a:gdLst/>
              <a:ahLst/>
              <a:cxnLst/>
              <a:rect l="l" t="t" r="r" b="b"/>
              <a:pathLst>
                <a:path w="1282258" h="1280160">
                  <a:moveTo>
                    <a:pt x="0" y="640080"/>
                  </a:moveTo>
                  <a:cubicBezTo>
                    <a:pt x="0" y="286512"/>
                    <a:pt x="286982" y="0"/>
                    <a:pt x="641129" y="0"/>
                  </a:cubicBezTo>
                  <a:cubicBezTo>
                    <a:pt x="995277" y="0"/>
                    <a:pt x="1282258" y="286512"/>
                    <a:pt x="1282258" y="640080"/>
                  </a:cubicBezTo>
                  <a:cubicBezTo>
                    <a:pt x="1282258" y="993648"/>
                    <a:pt x="995277" y="1280160"/>
                    <a:pt x="641129" y="1280160"/>
                  </a:cubicBezTo>
                  <a:cubicBezTo>
                    <a:pt x="286982" y="1280160"/>
                    <a:pt x="0" y="993648"/>
                    <a:pt x="0" y="640080"/>
                  </a:cubicBezTo>
                  <a:close/>
                </a:path>
              </a:pathLst>
            </a:custGeom>
            <a:solidFill>
              <a:srgbClr val="1A1A1A"/>
            </a:solidFill>
          </p:spPr>
          <p:txBody>
            <a:bodyPr/>
            <a:lstStyle/>
            <a:p>
              <a:endParaRPr lang="en-US"/>
            </a:p>
          </p:txBody>
        </p:sp>
      </p:grpSp>
      <p:grpSp>
        <p:nvGrpSpPr>
          <p:cNvPr id="47" name="Group 47"/>
          <p:cNvGrpSpPr/>
          <p:nvPr/>
        </p:nvGrpSpPr>
        <p:grpSpPr>
          <a:xfrm>
            <a:off x="12509984" y="3566160"/>
            <a:ext cx="961694" cy="960120"/>
            <a:chOff x="0" y="0"/>
            <a:chExt cx="1282258" cy="1280160"/>
          </a:xfrm>
        </p:grpSpPr>
        <p:sp>
          <p:nvSpPr>
            <p:cNvPr id="48" name="Freeform 48"/>
            <p:cNvSpPr/>
            <p:nvPr/>
          </p:nvSpPr>
          <p:spPr>
            <a:xfrm>
              <a:off x="0" y="0"/>
              <a:ext cx="1282258" cy="1280160"/>
            </a:xfrm>
            <a:custGeom>
              <a:avLst/>
              <a:gdLst/>
              <a:ahLst/>
              <a:cxnLst/>
              <a:rect l="l" t="t" r="r" b="b"/>
              <a:pathLst>
                <a:path w="1282258" h="1280160">
                  <a:moveTo>
                    <a:pt x="0" y="0"/>
                  </a:moveTo>
                  <a:lnTo>
                    <a:pt x="1282258" y="0"/>
                  </a:lnTo>
                  <a:lnTo>
                    <a:pt x="1282258" y="1280160"/>
                  </a:lnTo>
                  <a:lnTo>
                    <a:pt x="0" y="1280160"/>
                  </a:lnTo>
                  <a:close/>
                </a:path>
              </a:pathLst>
            </a:custGeom>
            <a:blipFill>
              <a:blip r:embed="rId3">
                <a:alphaModFix amt="0"/>
              </a:blip>
              <a:stretch>
                <a:fillRect l="-78175" r="-78011"/>
              </a:stretch>
            </a:blipFill>
          </p:spPr>
          <p:txBody>
            <a:bodyPr/>
            <a:lstStyle/>
            <a:p>
              <a:endParaRPr lang="en-US"/>
            </a:p>
          </p:txBody>
        </p:sp>
        <p:sp>
          <p:nvSpPr>
            <p:cNvPr id="49" name="TextBox 49"/>
            <p:cNvSpPr txBox="1"/>
            <p:nvPr/>
          </p:nvSpPr>
          <p:spPr>
            <a:xfrm>
              <a:off x="0" y="-66675"/>
              <a:ext cx="1282258" cy="1346835"/>
            </a:xfrm>
            <a:prstGeom prst="rect">
              <a:avLst/>
            </a:prstGeom>
          </p:spPr>
          <p:txBody>
            <a:bodyPr lIns="0" tIns="0" rIns="0" bIns="0" rtlCol="0" anchor="ctr"/>
            <a:lstStyle/>
            <a:p>
              <a:pPr algn="ctr">
                <a:lnSpc>
                  <a:spcPts val="4320"/>
                </a:lnSpc>
              </a:pPr>
              <a:r>
                <a:rPr lang="en-US" sz="3600">
                  <a:solidFill>
                    <a:srgbClr val="000000"/>
                  </a:solidFill>
                  <a:latin typeface="Calibri (MS)"/>
                  <a:ea typeface="Calibri (MS)"/>
                  <a:cs typeface="Calibri (MS)"/>
                  <a:sym typeface="Calibri (MS)"/>
                </a:rPr>
                <a:t>⏰</a:t>
              </a:r>
            </a:p>
          </p:txBody>
        </p:sp>
      </p:grpSp>
      <p:grpSp>
        <p:nvGrpSpPr>
          <p:cNvPr id="50" name="Group 50"/>
          <p:cNvGrpSpPr/>
          <p:nvPr/>
        </p:nvGrpSpPr>
        <p:grpSpPr>
          <a:xfrm>
            <a:off x="12509984" y="4800600"/>
            <a:ext cx="4327621" cy="548640"/>
            <a:chOff x="0" y="0"/>
            <a:chExt cx="5770162" cy="731520"/>
          </a:xfrm>
        </p:grpSpPr>
        <p:sp>
          <p:nvSpPr>
            <p:cNvPr id="51" name="Freeform 51"/>
            <p:cNvSpPr/>
            <p:nvPr/>
          </p:nvSpPr>
          <p:spPr>
            <a:xfrm>
              <a:off x="0" y="0"/>
              <a:ext cx="5770162" cy="731520"/>
            </a:xfrm>
            <a:custGeom>
              <a:avLst/>
              <a:gdLst/>
              <a:ahLst/>
              <a:cxnLst/>
              <a:rect l="l" t="t" r="r" b="b"/>
              <a:pathLst>
                <a:path w="5770162" h="731520">
                  <a:moveTo>
                    <a:pt x="0" y="0"/>
                  </a:moveTo>
                  <a:lnTo>
                    <a:pt x="5770162" y="0"/>
                  </a:lnTo>
                  <a:lnTo>
                    <a:pt x="5770162" y="731520"/>
                  </a:lnTo>
                  <a:lnTo>
                    <a:pt x="0" y="731520"/>
                  </a:lnTo>
                  <a:close/>
                </a:path>
              </a:pathLst>
            </a:custGeom>
            <a:blipFill>
              <a:blip r:embed="rId3">
                <a:alphaModFix amt="0"/>
              </a:blip>
              <a:stretch>
                <a:fillRect t="-103444" r="163" b="-103444"/>
              </a:stretch>
            </a:blipFill>
          </p:spPr>
          <p:txBody>
            <a:bodyPr/>
            <a:lstStyle/>
            <a:p>
              <a:endParaRPr lang="en-US"/>
            </a:p>
          </p:txBody>
        </p:sp>
        <p:sp>
          <p:nvSpPr>
            <p:cNvPr id="52" name="TextBox 52"/>
            <p:cNvSpPr txBox="1"/>
            <p:nvPr/>
          </p:nvSpPr>
          <p:spPr>
            <a:xfrm>
              <a:off x="0" y="-57150"/>
              <a:ext cx="5770162" cy="788670"/>
            </a:xfrm>
            <a:prstGeom prst="rect">
              <a:avLst/>
            </a:prstGeom>
          </p:spPr>
          <p:txBody>
            <a:bodyPr lIns="0" tIns="0" rIns="0" bIns="0" rtlCol="0" anchor="ctr"/>
            <a:lstStyle/>
            <a:p>
              <a:pPr algn="l">
                <a:lnSpc>
                  <a:spcPts val="2700"/>
                </a:lnSpc>
              </a:pPr>
              <a:r>
                <a:rPr lang="en-US" sz="2250" b="1" dirty="0">
                  <a:solidFill>
                    <a:srgbClr val="1A1A1A"/>
                  </a:solidFill>
                  <a:latin typeface="Calibri (MS) Bold"/>
                  <a:ea typeface="Calibri (MS) Bold"/>
                  <a:cs typeface="Calibri (MS) Bold"/>
                  <a:sym typeface="Calibri (MS) Bold"/>
                </a:rPr>
                <a:t>Come-back Banner</a:t>
              </a:r>
            </a:p>
          </p:txBody>
        </p:sp>
      </p:grpSp>
      <p:grpSp>
        <p:nvGrpSpPr>
          <p:cNvPr id="53" name="Group 53"/>
          <p:cNvGrpSpPr/>
          <p:nvPr/>
        </p:nvGrpSpPr>
        <p:grpSpPr>
          <a:xfrm>
            <a:off x="12509984" y="5417820"/>
            <a:ext cx="4327621" cy="960120"/>
            <a:chOff x="0" y="0"/>
            <a:chExt cx="5770162" cy="1280160"/>
          </a:xfrm>
        </p:grpSpPr>
        <p:sp>
          <p:nvSpPr>
            <p:cNvPr id="54" name="Freeform 54"/>
            <p:cNvSpPr/>
            <p:nvPr/>
          </p:nvSpPr>
          <p:spPr>
            <a:xfrm>
              <a:off x="0" y="0"/>
              <a:ext cx="5770162" cy="1280160"/>
            </a:xfrm>
            <a:custGeom>
              <a:avLst/>
              <a:gdLst/>
              <a:ahLst/>
              <a:cxnLst/>
              <a:rect l="l" t="t" r="r" b="b"/>
              <a:pathLst>
                <a:path w="5770162" h="1280160">
                  <a:moveTo>
                    <a:pt x="0" y="0"/>
                  </a:moveTo>
                  <a:lnTo>
                    <a:pt x="5770162" y="0"/>
                  </a:lnTo>
                  <a:lnTo>
                    <a:pt x="5770162" y="1280160"/>
                  </a:lnTo>
                  <a:lnTo>
                    <a:pt x="0" y="1280160"/>
                  </a:lnTo>
                  <a:close/>
                </a:path>
              </a:pathLst>
            </a:custGeom>
            <a:blipFill>
              <a:blip r:embed="rId3">
                <a:alphaModFix amt="0"/>
              </a:blip>
              <a:stretch>
                <a:fillRect t="-37682" r="163" b="-37682"/>
              </a:stretch>
            </a:blipFill>
          </p:spPr>
          <p:txBody>
            <a:bodyPr/>
            <a:lstStyle/>
            <a:p>
              <a:endParaRPr lang="en-US"/>
            </a:p>
          </p:txBody>
        </p:sp>
        <p:sp>
          <p:nvSpPr>
            <p:cNvPr id="55" name="TextBox 55"/>
            <p:cNvSpPr txBox="1"/>
            <p:nvPr/>
          </p:nvSpPr>
          <p:spPr>
            <a:xfrm>
              <a:off x="0" y="-47625"/>
              <a:ext cx="5770162" cy="1327785"/>
            </a:xfrm>
            <a:prstGeom prst="rect">
              <a:avLst/>
            </a:prstGeom>
          </p:spPr>
          <p:txBody>
            <a:bodyPr lIns="0" tIns="0" rIns="0" bIns="0" rtlCol="0" anchor="ctr"/>
            <a:lstStyle/>
            <a:p>
              <a:pPr algn="l">
                <a:lnSpc>
                  <a:spcPts val="2250"/>
                </a:lnSpc>
              </a:pPr>
              <a:r>
                <a:rPr lang="en-US" sz="1800" b="1" i="1">
                  <a:solidFill>
                    <a:srgbClr val="93A9CF"/>
                  </a:solidFill>
                  <a:latin typeface="Calibri (MS) Bold Italics"/>
                  <a:ea typeface="Calibri (MS) Bold Italics"/>
                  <a:cs typeface="Calibri (MS) Bold Italics"/>
                  <a:sym typeface="Calibri (MS) Bold Italics"/>
                </a:rPr>
                <a:t>“Come back tomorrow for a new theme”</a:t>
              </a:r>
            </a:p>
          </p:txBody>
        </p:sp>
      </p:grpSp>
      <p:grpSp>
        <p:nvGrpSpPr>
          <p:cNvPr id="56" name="Group 56"/>
          <p:cNvGrpSpPr/>
          <p:nvPr/>
        </p:nvGrpSpPr>
        <p:grpSpPr>
          <a:xfrm>
            <a:off x="12509984" y="6446520"/>
            <a:ext cx="4327621" cy="1234440"/>
            <a:chOff x="0" y="0"/>
            <a:chExt cx="5770162" cy="1645920"/>
          </a:xfrm>
        </p:grpSpPr>
        <p:sp>
          <p:nvSpPr>
            <p:cNvPr id="57" name="Freeform 57"/>
            <p:cNvSpPr/>
            <p:nvPr/>
          </p:nvSpPr>
          <p:spPr>
            <a:xfrm>
              <a:off x="0" y="0"/>
              <a:ext cx="5770162" cy="1645920"/>
            </a:xfrm>
            <a:custGeom>
              <a:avLst/>
              <a:gdLst/>
              <a:ahLst/>
              <a:cxnLst/>
              <a:rect l="l" t="t" r="r" b="b"/>
              <a:pathLst>
                <a:path w="5770162" h="1645920">
                  <a:moveTo>
                    <a:pt x="0" y="0"/>
                  </a:moveTo>
                  <a:lnTo>
                    <a:pt x="5770162" y="0"/>
                  </a:lnTo>
                  <a:lnTo>
                    <a:pt x="5770162" y="1645920"/>
                  </a:lnTo>
                  <a:lnTo>
                    <a:pt x="0" y="1645920"/>
                  </a:lnTo>
                  <a:close/>
                </a:path>
              </a:pathLst>
            </a:custGeom>
            <a:blipFill>
              <a:blip r:embed="rId3">
                <a:alphaModFix amt="0"/>
              </a:blip>
              <a:stretch>
                <a:fillRect t="-18197" r="163" b="-18197"/>
              </a:stretch>
            </a:blipFill>
          </p:spPr>
          <p:txBody>
            <a:bodyPr/>
            <a:lstStyle/>
            <a:p>
              <a:endParaRPr lang="en-US"/>
            </a:p>
          </p:txBody>
        </p:sp>
        <p:sp>
          <p:nvSpPr>
            <p:cNvPr id="58" name="TextBox 58"/>
            <p:cNvSpPr txBox="1"/>
            <p:nvPr/>
          </p:nvSpPr>
          <p:spPr>
            <a:xfrm>
              <a:off x="0" y="-57150"/>
              <a:ext cx="5770162" cy="1703070"/>
            </a:xfrm>
            <a:prstGeom prst="rect">
              <a:avLst/>
            </a:prstGeom>
          </p:spPr>
          <p:txBody>
            <a:bodyPr lIns="0" tIns="0" rIns="0" bIns="0" rtlCol="0" anchor="ctr"/>
            <a:lstStyle/>
            <a:p>
              <a:pPr algn="l">
                <a:lnSpc>
                  <a:spcPts val="2250"/>
                </a:lnSpc>
              </a:pPr>
              <a:r>
                <a:rPr lang="en-US" sz="1725">
                  <a:solidFill>
                    <a:srgbClr val="5B5B5B"/>
                  </a:solidFill>
                  <a:latin typeface="Calibri (MS)"/>
                  <a:ea typeface="Calibri (MS)"/>
                  <a:cs typeface="Calibri (MS)"/>
                  <a:sym typeface="Calibri (MS)"/>
                </a:rPr>
                <a:t>Sets up tomorrow’s open without pushing it</a:t>
              </a:r>
            </a:p>
          </p:txBody>
        </p:sp>
      </p:gr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0A0A0A"/>
        </a:solidFill>
        <a:effectLst/>
      </p:bgPr>
    </p:bg>
    <p:spTree>
      <p:nvGrpSpPr>
        <p:cNvPr id="1" name=""/>
        <p:cNvGrpSpPr/>
        <p:nvPr/>
      </p:nvGrpSpPr>
      <p:grpSpPr>
        <a:xfrm>
          <a:off x="0" y="0"/>
          <a:ext cx="0" cy="0"/>
          <a:chOff x="0" y="0"/>
          <a:chExt cx="0" cy="0"/>
        </a:xfrm>
      </p:grpSpPr>
      <p:grpSp>
        <p:nvGrpSpPr>
          <p:cNvPr id="2" name="Group 2"/>
          <p:cNvGrpSpPr/>
          <p:nvPr/>
        </p:nvGrpSpPr>
        <p:grpSpPr>
          <a:xfrm>
            <a:off x="960120" y="734066"/>
            <a:ext cx="10972800" cy="480060"/>
            <a:chOff x="0" y="0"/>
            <a:chExt cx="14630400" cy="640080"/>
          </a:xfrm>
        </p:grpSpPr>
        <p:sp>
          <p:nvSpPr>
            <p:cNvPr id="3" name="Freeform 3"/>
            <p:cNvSpPr/>
            <p:nvPr/>
          </p:nvSpPr>
          <p:spPr>
            <a:xfrm>
              <a:off x="0" y="0"/>
              <a:ext cx="14630400" cy="640080"/>
            </a:xfrm>
            <a:custGeom>
              <a:avLst/>
              <a:gdLst/>
              <a:ahLst/>
              <a:cxnLst/>
              <a:rect l="l" t="t" r="r" b="b"/>
              <a:pathLst>
                <a:path w="14630400" h="640080">
                  <a:moveTo>
                    <a:pt x="0" y="0"/>
                  </a:moveTo>
                  <a:lnTo>
                    <a:pt x="14630400" y="0"/>
                  </a:lnTo>
                  <a:lnTo>
                    <a:pt x="14630400" y="640080"/>
                  </a:lnTo>
                  <a:lnTo>
                    <a:pt x="0" y="640080"/>
                  </a:lnTo>
                  <a:close/>
                </a:path>
              </a:pathLst>
            </a:custGeom>
            <a:blipFill>
              <a:blip r:embed="rId3">
                <a:alphaModFix amt="0"/>
              </a:blip>
              <a:stretch>
                <a:fillRect t="-395372" b="-395372"/>
              </a:stretch>
            </a:blipFill>
          </p:spPr>
          <p:txBody>
            <a:bodyPr/>
            <a:lstStyle/>
            <a:p>
              <a:endParaRPr lang="en-US"/>
            </a:p>
          </p:txBody>
        </p:sp>
        <p:sp>
          <p:nvSpPr>
            <p:cNvPr id="4" name="TextBox 4"/>
            <p:cNvSpPr txBox="1"/>
            <p:nvPr/>
          </p:nvSpPr>
          <p:spPr>
            <a:xfrm>
              <a:off x="0" y="-19050"/>
              <a:ext cx="14630400" cy="659130"/>
            </a:xfrm>
            <a:prstGeom prst="rect">
              <a:avLst/>
            </a:prstGeom>
          </p:spPr>
          <p:txBody>
            <a:bodyPr lIns="0" tIns="0" rIns="0" bIns="0" rtlCol="0" anchor="ctr"/>
            <a:lstStyle/>
            <a:p>
              <a:pPr algn="l">
                <a:lnSpc>
                  <a:spcPts val="2160"/>
                </a:lnSpc>
              </a:pPr>
              <a:r>
                <a:rPr lang="en-US" sz="1800" b="1" spc="450" dirty="0">
                  <a:solidFill>
                    <a:srgbClr val="FFFFFF"/>
                  </a:solidFill>
                  <a:latin typeface="Arial Bold"/>
                  <a:ea typeface="Arial Bold"/>
                  <a:cs typeface="Arial Bold"/>
                  <a:sym typeface="Arial Bold"/>
                </a:rPr>
                <a:t>FEATURE CONCEPT - OCTOBER 2026</a:t>
              </a:r>
            </a:p>
          </p:txBody>
        </p:sp>
      </p:grpSp>
      <p:grpSp>
        <p:nvGrpSpPr>
          <p:cNvPr id="5" name="Group 5"/>
          <p:cNvGrpSpPr/>
          <p:nvPr/>
        </p:nvGrpSpPr>
        <p:grpSpPr>
          <a:xfrm>
            <a:off x="960120" y="1214126"/>
            <a:ext cx="8183880" cy="718073"/>
            <a:chOff x="0" y="0"/>
            <a:chExt cx="10911840" cy="957431"/>
          </a:xfrm>
        </p:grpSpPr>
        <p:sp>
          <p:nvSpPr>
            <p:cNvPr id="6" name="Freeform 6"/>
            <p:cNvSpPr/>
            <p:nvPr/>
          </p:nvSpPr>
          <p:spPr>
            <a:xfrm>
              <a:off x="0" y="0"/>
              <a:ext cx="10911840" cy="957431"/>
            </a:xfrm>
            <a:custGeom>
              <a:avLst/>
              <a:gdLst/>
              <a:ahLst/>
              <a:cxnLst/>
              <a:rect l="l" t="t" r="r" b="b"/>
              <a:pathLst>
                <a:path w="10911840" h="957431">
                  <a:moveTo>
                    <a:pt x="0" y="0"/>
                  </a:moveTo>
                  <a:lnTo>
                    <a:pt x="10911840" y="0"/>
                  </a:lnTo>
                  <a:lnTo>
                    <a:pt x="10911840" y="957431"/>
                  </a:lnTo>
                  <a:lnTo>
                    <a:pt x="0" y="957431"/>
                  </a:lnTo>
                  <a:close/>
                </a:path>
              </a:pathLst>
            </a:custGeom>
            <a:blipFill>
              <a:blip r:embed="rId3">
                <a:alphaModFix amt="0"/>
              </a:blip>
              <a:stretch>
                <a:fillRect t="-300064" r="-75977" b="-381525"/>
              </a:stretch>
            </a:blipFill>
          </p:spPr>
          <p:txBody>
            <a:bodyPr/>
            <a:lstStyle/>
            <a:p>
              <a:endParaRPr lang="en-US"/>
            </a:p>
          </p:txBody>
        </p:sp>
        <p:sp>
          <p:nvSpPr>
            <p:cNvPr id="7" name="TextBox 7"/>
            <p:cNvSpPr txBox="1"/>
            <p:nvPr/>
          </p:nvSpPr>
          <p:spPr>
            <a:xfrm>
              <a:off x="0" y="19050"/>
              <a:ext cx="10911840" cy="938381"/>
            </a:xfrm>
            <a:prstGeom prst="rect">
              <a:avLst/>
            </a:prstGeom>
          </p:spPr>
          <p:txBody>
            <a:bodyPr lIns="0" tIns="0" rIns="0" bIns="0" rtlCol="0" anchor="ctr"/>
            <a:lstStyle/>
            <a:p>
              <a:pPr algn="l">
                <a:lnSpc>
                  <a:spcPts val="3733"/>
                </a:lnSpc>
              </a:pPr>
              <a:r>
                <a:rPr lang="en-US" sz="3500" b="1">
                  <a:solidFill>
                    <a:srgbClr val="FFDE59"/>
                  </a:solidFill>
                  <a:latin typeface="Arial Bold"/>
                  <a:ea typeface="Arial Bold"/>
                  <a:cs typeface="Arial Bold"/>
                  <a:sym typeface="Arial Bold"/>
                </a:rPr>
                <a:t>BeReal.</a:t>
              </a:r>
            </a:p>
          </p:txBody>
        </p:sp>
      </p:grpSp>
      <p:grpSp>
        <p:nvGrpSpPr>
          <p:cNvPr id="8" name="Group 8"/>
          <p:cNvGrpSpPr/>
          <p:nvPr/>
        </p:nvGrpSpPr>
        <p:grpSpPr>
          <a:xfrm>
            <a:off x="960120" y="2114645"/>
            <a:ext cx="10972800" cy="480060"/>
            <a:chOff x="0" y="0"/>
            <a:chExt cx="14630400" cy="640080"/>
          </a:xfrm>
        </p:grpSpPr>
        <p:sp>
          <p:nvSpPr>
            <p:cNvPr id="9" name="Freeform 9"/>
            <p:cNvSpPr/>
            <p:nvPr/>
          </p:nvSpPr>
          <p:spPr>
            <a:xfrm>
              <a:off x="0" y="0"/>
              <a:ext cx="14630400" cy="640080"/>
            </a:xfrm>
            <a:custGeom>
              <a:avLst/>
              <a:gdLst/>
              <a:ahLst/>
              <a:cxnLst/>
              <a:rect l="l" t="t" r="r" b="b"/>
              <a:pathLst>
                <a:path w="14630400" h="640080">
                  <a:moveTo>
                    <a:pt x="0" y="0"/>
                  </a:moveTo>
                  <a:lnTo>
                    <a:pt x="14630400" y="0"/>
                  </a:lnTo>
                  <a:lnTo>
                    <a:pt x="14630400" y="640080"/>
                  </a:lnTo>
                  <a:lnTo>
                    <a:pt x="0" y="640080"/>
                  </a:lnTo>
                  <a:close/>
                </a:path>
              </a:pathLst>
            </a:custGeom>
            <a:blipFill>
              <a:blip r:embed="rId3">
                <a:alphaModFix amt="0"/>
              </a:blip>
              <a:stretch>
                <a:fillRect t="-395372" b="-395372"/>
              </a:stretch>
            </a:blipFill>
          </p:spPr>
          <p:txBody>
            <a:bodyPr/>
            <a:lstStyle/>
            <a:p>
              <a:endParaRPr lang="en-US"/>
            </a:p>
          </p:txBody>
        </p:sp>
        <p:sp>
          <p:nvSpPr>
            <p:cNvPr id="10" name="TextBox 10"/>
            <p:cNvSpPr txBox="1"/>
            <p:nvPr/>
          </p:nvSpPr>
          <p:spPr>
            <a:xfrm>
              <a:off x="0" y="-19050"/>
              <a:ext cx="14630400" cy="659130"/>
            </a:xfrm>
            <a:prstGeom prst="rect">
              <a:avLst/>
            </a:prstGeom>
          </p:spPr>
          <p:txBody>
            <a:bodyPr lIns="0" tIns="0" rIns="0" bIns="0" rtlCol="0" anchor="ctr"/>
            <a:lstStyle/>
            <a:p>
              <a:pPr algn="l">
                <a:lnSpc>
                  <a:spcPts val="2160"/>
                </a:lnSpc>
              </a:pPr>
              <a:r>
                <a:rPr lang="en-US" sz="1800" b="1" spc="450">
                  <a:solidFill>
                    <a:srgbClr val="FFFFFF"/>
                  </a:solidFill>
                  <a:latin typeface="Arial Bold"/>
                  <a:ea typeface="Arial Bold"/>
                  <a:cs typeface="Arial Bold"/>
                  <a:sym typeface="Arial Bold"/>
                </a:rPr>
                <a:t>BEREAL PASSPORT &amp; COMMUNITY BOARDS</a:t>
              </a:r>
            </a:p>
          </p:txBody>
        </p:sp>
      </p:grpSp>
      <p:grpSp>
        <p:nvGrpSpPr>
          <p:cNvPr id="11" name="Group 11"/>
          <p:cNvGrpSpPr/>
          <p:nvPr/>
        </p:nvGrpSpPr>
        <p:grpSpPr>
          <a:xfrm>
            <a:off x="960120" y="3255259"/>
            <a:ext cx="7132320" cy="1640307"/>
            <a:chOff x="0" y="0"/>
            <a:chExt cx="9509760" cy="2187077"/>
          </a:xfrm>
        </p:grpSpPr>
        <p:sp>
          <p:nvSpPr>
            <p:cNvPr id="12" name="Freeform 12"/>
            <p:cNvSpPr/>
            <p:nvPr/>
          </p:nvSpPr>
          <p:spPr>
            <a:xfrm>
              <a:off x="0" y="0"/>
              <a:ext cx="9509760" cy="2187077"/>
            </a:xfrm>
            <a:custGeom>
              <a:avLst/>
              <a:gdLst/>
              <a:ahLst/>
              <a:cxnLst/>
              <a:rect l="l" t="t" r="r" b="b"/>
              <a:pathLst>
                <a:path w="9509760" h="2187077">
                  <a:moveTo>
                    <a:pt x="0" y="0"/>
                  </a:moveTo>
                  <a:lnTo>
                    <a:pt x="9509760" y="0"/>
                  </a:lnTo>
                  <a:lnTo>
                    <a:pt x="9509760" y="2187077"/>
                  </a:lnTo>
                  <a:lnTo>
                    <a:pt x="0" y="2187077"/>
                  </a:lnTo>
                  <a:close/>
                </a:path>
              </a:pathLst>
            </a:custGeom>
            <a:blipFill>
              <a:blip r:embed="rId3">
                <a:alphaModFix amt="0"/>
              </a:blip>
              <a:stretch>
                <a:fillRect t="-131358" r="-101923" b="-110796"/>
              </a:stretch>
            </a:blipFill>
          </p:spPr>
          <p:txBody>
            <a:bodyPr/>
            <a:lstStyle/>
            <a:p>
              <a:endParaRPr lang="en-US"/>
            </a:p>
          </p:txBody>
        </p:sp>
        <p:sp>
          <p:nvSpPr>
            <p:cNvPr id="13" name="TextBox 13"/>
            <p:cNvSpPr txBox="1"/>
            <p:nvPr/>
          </p:nvSpPr>
          <p:spPr>
            <a:xfrm>
              <a:off x="0" y="38100"/>
              <a:ext cx="9509760" cy="2148977"/>
            </a:xfrm>
            <a:prstGeom prst="rect">
              <a:avLst/>
            </a:prstGeom>
          </p:spPr>
          <p:txBody>
            <a:bodyPr lIns="0" tIns="0" rIns="0" bIns="0" rtlCol="0" anchor="ctr"/>
            <a:lstStyle/>
            <a:p>
              <a:pPr algn="l">
                <a:lnSpc>
                  <a:spcPts val="5116"/>
                </a:lnSpc>
              </a:pPr>
              <a:r>
                <a:rPr lang="en-US" sz="4799" b="1" dirty="0">
                  <a:solidFill>
                    <a:srgbClr val="FFFFFF"/>
                  </a:solidFill>
                  <a:latin typeface="Arial Bold"/>
                  <a:ea typeface="Arial Bold"/>
                  <a:cs typeface="Arial Bold"/>
                  <a:sym typeface="Arial Bold"/>
                </a:rPr>
                <a:t>Your daily BeReal,</a:t>
              </a:r>
            </a:p>
            <a:p>
              <a:pPr algn="l">
                <a:lnSpc>
                  <a:spcPts val="5120"/>
                </a:lnSpc>
              </a:pPr>
              <a:r>
                <a:rPr lang="en-US" sz="4799" b="1" dirty="0">
                  <a:solidFill>
                    <a:srgbClr val="FFDE59"/>
                  </a:solidFill>
                  <a:latin typeface="Arial Bold"/>
                  <a:ea typeface="Arial Bold"/>
                  <a:cs typeface="Arial Bold"/>
                  <a:sym typeface="Arial Bold"/>
                </a:rPr>
                <a:t>now stamped.</a:t>
              </a:r>
            </a:p>
          </p:txBody>
        </p:sp>
      </p:grpSp>
      <p:grpSp>
        <p:nvGrpSpPr>
          <p:cNvPr id="14" name="Group 14"/>
          <p:cNvGrpSpPr/>
          <p:nvPr/>
        </p:nvGrpSpPr>
        <p:grpSpPr>
          <a:xfrm>
            <a:off x="1028700" y="5230853"/>
            <a:ext cx="8115300" cy="951704"/>
            <a:chOff x="0" y="0"/>
            <a:chExt cx="10820400" cy="1268938"/>
          </a:xfrm>
        </p:grpSpPr>
        <p:sp>
          <p:nvSpPr>
            <p:cNvPr id="15" name="Freeform 15"/>
            <p:cNvSpPr/>
            <p:nvPr/>
          </p:nvSpPr>
          <p:spPr>
            <a:xfrm>
              <a:off x="0" y="0"/>
              <a:ext cx="10820400" cy="1268938"/>
            </a:xfrm>
            <a:custGeom>
              <a:avLst/>
              <a:gdLst/>
              <a:ahLst/>
              <a:cxnLst/>
              <a:rect l="l" t="t" r="r" b="b"/>
              <a:pathLst>
                <a:path w="10820400" h="1268938">
                  <a:moveTo>
                    <a:pt x="0" y="0"/>
                  </a:moveTo>
                  <a:lnTo>
                    <a:pt x="10820400" y="0"/>
                  </a:lnTo>
                  <a:lnTo>
                    <a:pt x="10820400" y="1268938"/>
                  </a:lnTo>
                  <a:lnTo>
                    <a:pt x="0" y="1268938"/>
                  </a:lnTo>
                  <a:close/>
                </a:path>
              </a:pathLst>
            </a:custGeom>
            <a:blipFill>
              <a:blip r:embed="rId3">
                <a:alphaModFix amt="0"/>
              </a:blip>
              <a:stretch>
                <a:fillRect t="-199434" r="-35211" b="-149876"/>
              </a:stretch>
            </a:blipFill>
          </p:spPr>
          <p:txBody>
            <a:bodyPr/>
            <a:lstStyle/>
            <a:p>
              <a:endParaRPr lang="en-US"/>
            </a:p>
          </p:txBody>
        </p:sp>
        <p:sp>
          <p:nvSpPr>
            <p:cNvPr id="16" name="TextBox 16"/>
            <p:cNvSpPr txBox="1"/>
            <p:nvPr/>
          </p:nvSpPr>
          <p:spPr>
            <a:xfrm>
              <a:off x="0" y="-57150"/>
              <a:ext cx="10820400" cy="1326088"/>
            </a:xfrm>
            <a:prstGeom prst="rect">
              <a:avLst/>
            </a:prstGeom>
          </p:spPr>
          <p:txBody>
            <a:bodyPr lIns="0" tIns="0" rIns="0" bIns="0" rtlCol="0" anchor="ctr"/>
            <a:lstStyle/>
            <a:p>
              <a:pPr algn="l">
                <a:lnSpc>
                  <a:spcPts val="2340"/>
                </a:lnSpc>
              </a:pPr>
              <a:r>
                <a:rPr lang="en-US" sz="1800" spc="59">
                  <a:solidFill>
                    <a:srgbClr val="FFFFFF"/>
                  </a:solidFill>
                  <a:latin typeface="Calibri (MS)"/>
                  <a:ea typeface="Calibri (MS)"/>
                  <a:cs typeface="Calibri (MS)"/>
                  <a:sym typeface="Calibri (MS)"/>
                </a:rPr>
                <a:t>Collect everyday moments with your squad. Create a shared monthly board, unlock playful passport stamps, and save the months as a capsule. No public likes. No filters. Just your people.</a:t>
              </a:r>
            </a:p>
          </p:txBody>
        </p:sp>
      </p:grpSp>
      <p:grpSp>
        <p:nvGrpSpPr>
          <p:cNvPr id="17" name="Group 17"/>
          <p:cNvGrpSpPr/>
          <p:nvPr/>
        </p:nvGrpSpPr>
        <p:grpSpPr>
          <a:xfrm>
            <a:off x="994410" y="7135057"/>
            <a:ext cx="8115300" cy="996431"/>
            <a:chOff x="0" y="0"/>
            <a:chExt cx="10820400" cy="1328574"/>
          </a:xfrm>
        </p:grpSpPr>
        <p:sp>
          <p:nvSpPr>
            <p:cNvPr id="18" name="Freeform 18"/>
            <p:cNvSpPr/>
            <p:nvPr/>
          </p:nvSpPr>
          <p:spPr>
            <a:xfrm>
              <a:off x="0" y="0"/>
              <a:ext cx="10820400" cy="1328574"/>
            </a:xfrm>
            <a:custGeom>
              <a:avLst/>
              <a:gdLst/>
              <a:ahLst/>
              <a:cxnLst/>
              <a:rect l="l" t="t" r="r" b="b"/>
              <a:pathLst>
                <a:path w="10820400" h="1328574">
                  <a:moveTo>
                    <a:pt x="0" y="0"/>
                  </a:moveTo>
                  <a:lnTo>
                    <a:pt x="10820400" y="0"/>
                  </a:lnTo>
                  <a:lnTo>
                    <a:pt x="10820400" y="1328574"/>
                  </a:lnTo>
                  <a:lnTo>
                    <a:pt x="0" y="1328574"/>
                  </a:lnTo>
                  <a:close/>
                </a:path>
              </a:pathLst>
            </a:custGeom>
            <a:blipFill>
              <a:blip r:embed="rId3">
                <a:alphaModFix amt="0"/>
              </a:blip>
              <a:stretch>
                <a:fillRect t="-190482" r="-35211" b="-138660"/>
              </a:stretch>
            </a:blipFill>
          </p:spPr>
          <p:txBody>
            <a:bodyPr/>
            <a:lstStyle/>
            <a:p>
              <a:endParaRPr lang="en-US"/>
            </a:p>
          </p:txBody>
        </p:sp>
        <p:sp>
          <p:nvSpPr>
            <p:cNvPr id="19" name="TextBox 19"/>
            <p:cNvSpPr txBox="1"/>
            <p:nvPr/>
          </p:nvSpPr>
          <p:spPr>
            <a:xfrm>
              <a:off x="0" y="-57150"/>
              <a:ext cx="10820400" cy="1385724"/>
            </a:xfrm>
            <a:prstGeom prst="rect">
              <a:avLst/>
            </a:prstGeom>
          </p:spPr>
          <p:txBody>
            <a:bodyPr lIns="0" tIns="0" rIns="0" bIns="0" rtlCol="0" anchor="ctr"/>
            <a:lstStyle/>
            <a:p>
              <a:pPr algn="l">
                <a:lnSpc>
                  <a:spcPts val="2340"/>
                </a:lnSpc>
              </a:pPr>
              <a:r>
                <a:rPr lang="en-US" sz="1800" b="1" spc="59">
                  <a:solidFill>
                    <a:srgbClr val="FFDE59"/>
                  </a:solidFill>
                  <a:latin typeface="Calibri (MS) Bold"/>
                  <a:ea typeface="Calibri (MS) Bold"/>
                  <a:cs typeface="Calibri (MS) Bold"/>
                  <a:sym typeface="Calibri (MS) Bold"/>
                </a:rPr>
                <a:t>Prototype flow:</a:t>
              </a:r>
              <a:r>
                <a:rPr lang="en-US" sz="1800" b="1" spc="59">
                  <a:solidFill>
                    <a:srgbClr val="FFFFFF"/>
                  </a:solidFill>
                  <a:latin typeface="Calibri (MS) Bold"/>
                  <a:ea typeface="Calibri (MS) Bold"/>
                  <a:cs typeface="Calibri (MS) Bold"/>
                  <a:sym typeface="Calibri (MS) Bold"/>
                </a:rPr>
                <a:t> </a:t>
              </a:r>
              <a:r>
                <a:rPr lang="en-US" sz="1800" spc="59">
                  <a:solidFill>
                    <a:srgbClr val="FFFFFF"/>
                  </a:solidFill>
                  <a:latin typeface="Calibri (MS)"/>
                  <a:ea typeface="Calibri (MS)"/>
                  <a:cs typeface="Calibri (MS)"/>
                  <a:sym typeface="Calibri (MS)"/>
                </a:rPr>
                <a:t>Try to capture button, choose a community board after the photo, react to a board moment, and explore the Octorber Passport and Vault.</a:t>
              </a:r>
            </a:p>
          </p:txBody>
        </p:sp>
      </p:grpSp>
      <p:grpSp>
        <p:nvGrpSpPr>
          <p:cNvPr id="20" name="Group 20"/>
          <p:cNvGrpSpPr/>
          <p:nvPr/>
        </p:nvGrpSpPr>
        <p:grpSpPr>
          <a:xfrm>
            <a:off x="960120" y="8866331"/>
            <a:ext cx="8183880" cy="996431"/>
            <a:chOff x="0" y="0"/>
            <a:chExt cx="10911840" cy="1328574"/>
          </a:xfrm>
        </p:grpSpPr>
        <p:sp>
          <p:nvSpPr>
            <p:cNvPr id="21" name="Freeform 21"/>
            <p:cNvSpPr/>
            <p:nvPr/>
          </p:nvSpPr>
          <p:spPr>
            <a:xfrm>
              <a:off x="0" y="0"/>
              <a:ext cx="10911840" cy="1328574"/>
            </a:xfrm>
            <a:custGeom>
              <a:avLst/>
              <a:gdLst/>
              <a:ahLst/>
              <a:cxnLst/>
              <a:rect l="l" t="t" r="r" b="b"/>
              <a:pathLst>
                <a:path w="10911840" h="1328574">
                  <a:moveTo>
                    <a:pt x="0" y="0"/>
                  </a:moveTo>
                  <a:lnTo>
                    <a:pt x="10911840" y="0"/>
                  </a:lnTo>
                  <a:lnTo>
                    <a:pt x="10911840" y="1328574"/>
                  </a:lnTo>
                  <a:lnTo>
                    <a:pt x="0" y="1328574"/>
                  </a:lnTo>
                  <a:close/>
                </a:path>
              </a:pathLst>
            </a:custGeom>
            <a:blipFill>
              <a:blip r:embed="rId3">
                <a:alphaModFix amt="0"/>
              </a:blip>
              <a:stretch>
                <a:fillRect t="-190482" r="-34078" b="-138660"/>
              </a:stretch>
            </a:blipFill>
          </p:spPr>
          <p:txBody>
            <a:bodyPr/>
            <a:lstStyle/>
            <a:p>
              <a:endParaRPr lang="en-US"/>
            </a:p>
          </p:txBody>
        </p:sp>
        <p:sp>
          <p:nvSpPr>
            <p:cNvPr id="22" name="TextBox 22"/>
            <p:cNvSpPr txBox="1"/>
            <p:nvPr/>
          </p:nvSpPr>
          <p:spPr>
            <a:xfrm>
              <a:off x="0" y="-57150"/>
              <a:ext cx="10911840" cy="1385724"/>
            </a:xfrm>
            <a:prstGeom prst="rect">
              <a:avLst/>
            </a:prstGeom>
          </p:spPr>
          <p:txBody>
            <a:bodyPr lIns="0" tIns="0" rIns="0" bIns="0" rtlCol="0" anchor="ctr"/>
            <a:lstStyle/>
            <a:p>
              <a:pPr algn="l">
                <a:lnSpc>
                  <a:spcPts val="2340"/>
                </a:lnSpc>
              </a:pPr>
              <a:r>
                <a:rPr lang="en-US" sz="1800" spc="59">
                  <a:solidFill>
                    <a:srgbClr val="FFFFFF"/>
                  </a:solidFill>
                  <a:latin typeface="Calibri (MS)"/>
                  <a:ea typeface="Calibri (MS)"/>
                  <a:cs typeface="Calibri (MS)"/>
                  <a:sym typeface="Calibri (MS)"/>
                </a:rPr>
                <a:t>Pitch-black canvas • Candid dual-camera feel  • Tactile pastel stamp ink  •  Private squad reactions  • Monthly collection loop</a:t>
              </a:r>
            </a:p>
          </p:txBody>
        </p:sp>
      </p:grpSp>
      <p:grpSp>
        <p:nvGrpSpPr>
          <p:cNvPr id="23" name="Group 23"/>
          <p:cNvGrpSpPr/>
          <p:nvPr/>
        </p:nvGrpSpPr>
        <p:grpSpPr>
          <a:xfrm>
            <a:off x="960120" y="8500846"/>
            <a:ext cx="7200900" cy="365485"/>
            <a:chOff x="0" y="0"/>
            <a:chExt cx="12326657" cy="625645"/>
          </a:xfrm>
        </p:grpSpPr>
        <p:sp>
          <p:nvSpPr>
            <p:cNvPr id="24" name="Freeform 24"/>
            <p:cNvSpPr/>
            <p:nvPr/>
          </p:nvSpPr>
          <p:spPr>
            <a:xfrm>
              <a:off x="0" y="0"/>
              <a:ext cx="12326657" cy="625645"/>
            </a:xfrm>
            <a:custGeom>
              <a:avLst/>
              <a:gdLst/>
              <a:ahLst/>
              <a:cxnLst/>
              <a:rect l="l" t="t" r="r" b="b"/>
              <a:pathLst>
                <a:path w="12326657" h="625645">
                  <a:moveTo>
                    <a:pt x="0" y="0"/>
                  </a:moveTo>
                  <a:lnTo>
                    <a:pt x="12326657" y="0"/>
                  </a:lnTo>
                  <a:lnTo>
                    <a:pt x="12326657" y="625645"/>
                  </a:lnTo>
                  <a:lnTo>
                    <a:pt x="0" y="625645"/>
                  </a:lnTo>
                  <a:close/>
                </a:path>
              </a:pathLst>
            </a:custGeom>
            <a:blipFill>
              <a:blip r:embed="rId3">
                <a:alphaModFix amt="0"/>
              </a:blip>
              <a:stretch>
                <a:fillRect t="-404494" r="-18689" b="-406801"/>
              </a:stretch>
            </a:blipFill>
          </p:spPr>
          <p:txBody>
            <a:bodyPr/>
            <a:lstStyle/>
            <a:p>
              <a:endParaRPr lang="en-US"/>
            </a:p>
          </p:txBody>
        </p:sp>
        <p:sp>
          <p:nvSpPr>
            <p:cNvPr id="25" name="TextBox 25"/>
            <p:cNvSpPr txBox="1"/>
            <p:nvPr/>
          </p:nvSpPr>
          <p:spPr>
            <a:xfrm>
              <a:off x="0" y="-19050"/>
              <a:ext cx="12326657" cy="644695"/>
            </a:xfrm>
            <a:prstGeom prst="rect">
              <a:avLst/>
            </a:prstGeom>
          </p:spPr>
          <p:txBody>
            <a:bodyPr lIns="0" tIns="0" rIns="0" bIns="0" rtlCol="0" anchor="ctr"/>
            <a:lstStyle/>
            <a:p>
              <a:pPr algn="l">
                <a:lnSpc>
                  <a:spcPts val="2160"/>
                </a:lnSpc>
              </a:pPr>
              <a:r>
                <a:rPr lang="en-US" sz="1800" b="1" spc="450">
                  <a:solidFill>
                    <a:srgbClr val="FFFFFF"/>
                  </a:solidFill>
                  <a:latin typeface="Arial Bold"/>
                  <a:ea typeface="Arial Bold"/>
                  <a:cs typeface="Arial Bold"/>
                  <a:sym typeface="Arial Bold"/>
                </a:rPr>
                <a:t>DESIGN PRINCIPLES</a:t>
              </a:r>
            </a:p>
          </p:txBody>
        </p:sp>
      </p:grpSp>
      <p:grpSp>
        <p:nvGrpSpPr>
          <p:cNvPr id="26" name="Group 26"/>
          <p:cNvGrpSpPr/>
          <p:nvPr/>
        </p:nvGrpSpPr>
        <p:grpSpPr>
          <a:xfrm>
            <a:off x="1028700" y="6363532"/>
            <a:ext cx="1521430" cy="640111"/>
            <a:chOff x="0" y="0"/>
            <a:chExt cx="400706" cy="168589"/>
          </a:xfrm>
        </p:grpSpPr>
        <p:sp>
          <p:nvSpPr>
            <p:cNvPr id="27" name="Freeform 27"/>
            <p:cNvSpPr/>
            <p:nvPr/>
          </p:nvSpPr>
          <p:spPr>
            <a:xfrm>
              <a:off x="0" y="0"/>
              <a:ext cx="400706" cy="168589"/>
            </a:xfrm>
            <a:custGeom>
              <a:avLst/>
              <a:gdLst/>
              <a:ahLst/>
              <a:cxnLst/>
              <a:rect l="l" t="t" r="r" b="b"/>
              <a:pathLst>
                <a:path w="400706" h="168589">
                  <a:moveTo>
                    <a:pt x="84294" y="0"/>
                  </a:moveTo>
                  <a:lnTo>
                    <a:pt x="316411" y="0"/>
                  </a:lnTo>
                  <a:cubicBezTo>
                    <a:pt x="362966" y="0"/>
                    <a:pt x="400706" y="37740"/>
                    <a:pt x="400706" y="84294"/>
                  </a:cubicBezTo>
                  <a:lnTo>
                    <a:pt x="400706" y="84294"/>
                  </a:lnTo>
                  <a:cubicBezTo>
                    <a:pt x="400706" y="130849"/>
                    <a:pt x="362966" y="168589"/>
                    <a:pt x="316411" y="168589"/>
                  </a:cubicBezTo>
                  <a:lnTo>
                    <a:pt x="84294" y="168589"/>
                  </a:lnTo>
                  <a:cubicBezTo>
                    <a:pt x="37740" y="168589"/>
                    <a:pt x="0" y="130849"/>
                    <a:pt x="0" y="84294"/>
                  </a:cubicBezTo>
                  <a:lnTo>
                    <a:pt x="0" y="84294"/>
                  </a:lnTo>
                  <a:cubicBezTo>
                    <a:pt x="0" y="37740"/>
                    <a:pt x="37740" y="0"/>
                    <a:pt x="84294" y="0"/>
                  </a:cubicBezTo>
                  <a:close/>
                </a:path>
              </a:pathLst>
            </a:custGeom>
            <a:solidFill>
              <a:srgbClr val="FFDE59"/>
            </a:solidFill>
          </p:spPr>
          <p:txBody>
            <a:bodyPr/>
            <a:lstStyle/>
            <a:p>
              <a:endParaRPr lang="en-US"/>
            </a:p>
          </p:txBody>
        </p:sp>
        <p:sp>
          <p:nvSpPr>
            <p:cNvPr id="28" name="TextBox 28"/>
            <p:cNvSpPr txBox="1"/>
            <p:nvPr/>
          </p:nvSpPr>
          <p:spPr>
            <a:xfrm>
              <a:off x="0" y="-28575"/>
              <a:ext cx="400706" cy="197164"/>
            </a:xfrm>
            <a:prstGeom prst="rect">
              <a:avLst/>
            </a:prstGeom>
          </p:spPr>
          <p:txBody>
            <a:bodyPr lIns="50800" tIns="50800" rIns="50800" bIns="50800" rtlCol="0" anchor="ctr"/>
            <a:lstStyle/>
            <a:p>
              <a:pPr algn="ctr">
                <a:lnSpc>
                  <a:spcPts val="1260"/>
                </a:lnSpc>
              </a:pPr>
              <a:r>
                <a:rPr lang="en-US" sz="1050" b="1">
                  <a:solidFill>
                    <a:srgbClr val="000000"/>
                  </a:solidFill>
                  <a:latin typeface="Calibri (MS) Bold"/>
                  <a:ea typeface="Calibri (MS) Bold"/>
                  <a:cs typeface="Calibri (MS) Bold"/>
                  <a:sym typeface="Calibri (MS) Bold"/>
                </a:rPr>
                <a:t>01  • Capture First</a:t>
              </a:r>
            </a:p>
          </p:txBody>
        </p:sp>
      </p:grpSp>
      <p:grpSp>
        <p:nvGrpSpPr>
          <p:cNvPr id="29" name="Group 29"/>
          <p:cNvGrpSpPr/>
          <p:nvPr/>
        </p:nvGrpSpPr>
        <p:grpSpPr>
          <a:xfrm>
            <a:off x="3072267" y="6363532"/>
            <a:ext cx="1488303" cy="602940"/>
            <a:chOff x="0" y="0"/>
            <a:chExt cx="391981" cy="158799"/>
          </a:xfrm>
        </p:grpSpPr>
        <p:sp>
          <p:nvSpPr>
            <p:cNvPr id="30" name="Freeform 30"/>
            <p:cNvSpPr/>
            <p:nvPr/>
          </p:nvSpPr>
          <p:spPr>
            <a:xfrm>
              <a:off x="0" y="0"/>
              <a:ext cx="391981" cy="158799"/>
            </a:xfrm>
            <a:custGeom>
              <a:avLst/>
              <a:gdLst/>
              <a:ahLst/>
              <a:cxnLst/>
              <a:rect l="l" t="t" r="r" b="b"/>
              <a:pathLst>
                <a:path w="391981" h="158799">
                  <a:moveTo>
                    <a:pt x="79400" y="0"/>
                  </a:moveTo>
                  <a:lnTo>
                    <a:pt x="312581" y="0"/>
                  </a:lnTo>
                  <a:cubicBezTo>
                    <a:pt x="333639" y="0"/>
                    <a:pt x="353835" y="8365"/>
                    <a:pt x="368725" y="23256"/>
                  </a:cubicBezTo>
                  <a:cubicBezTo>
                    <a:pt x="383616" y="38146"/>
                    <a:pt x="391981" y="58341"/>
                    <a:pt x="391981" y="79400"/>
                  </a:cubicBezTo>
                  <a:lnTo>
                    <a:pt x="391981" y="79400"/>
                  </a:lnTo>
                  <a:cubicBezTo>
                    <a:pt x="391981" y="100458"/>
                    <a:pt x="383616" y="120653"/>
                    <a:pt x="368725" y="135543"/>
                  </a:cubicBezTo>
                  <a:cubicBezTo>
                    <a:pt x="353835" y="150434"/>
                    <a:pt x="333639" y="158799"/>
                    <a:pt x="312581" y="158799"/>
                  </a:cubicBezTo>
                  <a:lnTo>
                    <a:pt x="79400" y="158799"/>
                  </a:lnTo>
                  <a:cubicBezTo>
                    <a:pt x="58341" y="158799"/>
                    <a:pt x="38146" y="150434"/>
                    <a:pt x="23256" y="135543"/>
                  </a:cubicBezTo>
                  <a:cubicBezTo>
                    <a:pt x="8365" y="120653"/>
                    <a:pt x="0" y="100458"/>
                    <a:pt x="0" y="79400"/>
                  </a:cubicBezTo>
                  <a:lnTo>
                    <a:pt x="0" y="79400"/>
                  </a:lnTo>
                  <a:cubicBezTo>
                    <a:pt x="0" y="58341"/>
                    <a:pt x="8365" y="38146"/>
                    <a:pt x="23256" y="23256"/>
                  </a:cubicBezTo>
                  <a:cubicBezTo>
                    <a:pt x="38146" y="8365"/>
                    <a:pt x="58341" y="0"/>
                    <a:pt x="79400" y="0"/>
                  </a:cubicBezTo>
                  <a:close/>
                </a:path>
              </a:pathLst>
            </a:custGeom>
            <a:solidFill>
              <a:srgbClr val="FFDE59"/>
            </a:solidFill>
          </p:spPr>
          <p:txBody>
            <a:bodyPr/>
            <a:lstStyle/>
            <a:p>
              <a:endParaRPr lang="en-US"/>
            </a:p>
          </p:txBody>
        </p:sp>
        <p:sp>
          <p:nvSpPr>
            <p:cNvPr id="31" name="TextBox 31"/>
            <p:cNvSpPr txBox="1"/>
            <p:nvPr/>
          </p:nvSpPr>
          <p:spPr>
            <a:xfrm>
              <a:off x="0" y="-28575"/>
              <a:ext cx="391981" cy="187374"/>
            </a:xfrm>
            <a:prstGeom prst="rect">
              <a:avLst/>
            </a:prstGeom>
          </p:spPr>
          <p:txBody>
            <a:bodyPr lIns="50800" tIns="50800" rIns="50800" bIns="50800" rtlCol="0" anchor="ctr"/>
            <a:lstStyle/>
            <a:p>
              <a:pPr algn="ctr">
                <a:lnSpc>
                  <a:spcPts val="1260"/>
                </a:lnSpc>
              </a:pPr>
              <a:r>
                <a:rPr lang="en-US" sz="1050" b="1">
                  <a:solidFill>
                    <a:srgbClr val="000000"/>
                  </a:solidFill>
                  <a:latin typeface="Calibri (MS) Bold"/>
                  <a:ea typeface="Calibri (MS) Bold"/>
                  <a:cs typeface="Calibri (MS) Bold"/>
                  <a:sym typeface="Calibri (MS) Bold"/>
                </a:rPr>
                <a:t>02  •Pick a Board</a:t>
              </a:r>
            </a:p>
          </p:txBody>
        </p:sp>
      </p:grpSp>
      <p:grpSp>
        <p:nvGrpSpPr>
          <p:cNvPr id="32" name="Group 32"/>
          <p:cNvGrpSpPr/>
          <p:nvPr/>
        </p:nvGrpSpPr>
        <p:grpSpPr>
          <a:xfrm>
            <a:off x="5052060" y="6351142"/>
            <a:ext cx="1488303" cy="615331"/>
            <a:chOff x="0" y="0"/>
            <a:chExt cx="391981" cy="162062"/>
          </a:xfrm>
        </p:grpSpPr>
        <p:sp>
          <p:nvSpPr>
            <p:cNvPr id="33" name="Freeform 33"/>
            <p:cNvSpPr/>
            <p:nvPr/>
          </p:nvSpPr>
          <p:spPr>
            <a:xfrm>
              <a:off x="0" y="0"/>
              <a:ext cx="391981" cy="162062"/>
            </a:xfrm>
            <a:custGeom>
              <a:avLst/>
              <a:gdLst/>
              <a:ahLst/>
              <a:cxnLst/>
              <a:rect l="l" t="t" r="r" b="b"/>
              <a:pathLst>
                <a:path w="391981" h="162062">
                  <a:moveTo>
                    <a:pt x="81031" y="0"/>
                  </a:moveTo>
                  <a:lnTo>
                    <a:pt x="310950" y="0"/>
                  </a:lnTo>
                  <a:cubicBezTo>
                    <a:pt x="332441" y="0"/>
                    <a:pt x="353051" y="8537"/>
                    <a:pt x="368247" y="23733"/>
                  </a:cubicBezTo>
                  <a:cubicBezTo>
                    <a:pt x="383444" y="38930"/>
                    <a:pt x="391981" y="59540"/>
                    <a:pt x="391981" y="81031"/>
                  </a:cubicBezTo>
                  <a:lnTo>
                    <a:pt x="391981" y="81031"/>
                  </a:lnTo>
                  <a:cubicBezTo>
                    <a:pt x="391981" y="125783"/>
                    <a:pt x="355702" y="162062"/>
                    <a:pt x="310950" y="162062"/>
                  </a:cubicBezTo>
                  <a:lnTo>
                    <a:pt x="81031" y="162062"/>
                  </a:lnTo>
                  <a:cubicBezTo>
                    <a:pt x="59540" y="162062"/>
                    <a:pt x="38930" y="153525"/>
                    <a:pt x="23733" y="138329"/>
                  </a:cubicBezTo>
                  <a:cubicBezTo>
                    <a:pt x="8537" y="123133"/>
                    <a:pt x="0" y="102522"/>
                    <a:pt x="0" y="81031"/>
                  </a:cubicBezTo>
                  <a:lnTo>
                    <a:pt x="0" y="81031"/>
                  </a:lnTo>
                  <a:cubicBezTo>
                    <a:pt x="0" y="59540"/>
                    <a:pt x="8537" y="38930"/>
                    <a:pt x="23733" y="23733"/>
                  </a:cubicBezTo>
                  <a:cubicBezTo>
                    <a:pt x="38930" y="8537"/>
                    <a:pt x="59540" y="0"/>
                    <a:pt x="81031" y="0"/>
                  </a:cubicBezTo>
                  <a:close/>
                </a:path>
              </a:pathLst>
            </a:custGeom>
            <a:solidFill>
              <a:srgbClr val="FFDE59"/>
            </a:solidFill>
          </p:spPr>
          <p:txBody>
            <a:bodyPr/>
            <a:lstStyle/>
            <a:p>
              <a:endParaRPr lang="en-US"/>
            </a:p>
          </p:txBody>
        </p:sp>
        <p:sp>
          <p:nvSpPr>
            <p:cNvPr id="34" name="TextBox 34"/>
            <p:cNvSpPr txBox="1"/>
            <p:nvPr/>
          </p:nvSpPr>
          <p:spPr>
            <a:xfrm>
              <a:off x="0" y="-28575"/>
              <a:ext cx="391981" cy="190637"/>
            </a:xfrm>
            <a:prstGeom prst="rect">
              <a:avLst/>
            </a:prstGeom>
          </p:spPr>
          <p:txBody>
            <a:bodyPr lIns="50800" tIns="50800" rIns="50800" bIns="50800" rtlCol="0" anchor="ctr"/>
            <a:lstStyle/>
            <a:p>
              <a:pPr algn="ctr">
                <a:lnSpc>
                  <a:spcPts val="1260"/>
                </a:lnSpc>
              </a:pPr>
              <a:r>
                <a:rPr lang="en-US" sz="1050" b="1">
                  <a:solidFill>
                    <a:srgbClr val="000000"/>
                  </a:solidFill>
                  <a:latin typeface="Calibri (MS) Bold"/>
                  <a:ea typeface="Calibri (MS) Bold"/>
                  <a:cs typeface="Calibri (MS) Bold"/>
                  <a:sym typeface="Calibri (MS) Bold"/>
                </a:rPr>
                <a:t>03  •Collect Stamps</a:t>
              </a:r>
            </a:p>
          </p:txBody>
        </p:sp>
      </p:grpSp>
      <p:grpSp>
        <p:nvGrpSpPr>
          <p:cNvPr id="35" name="Group 35"/>
          <p:cNvGrpSpPr/>
          <p:nvPr/>
        </p:nvGrpSpPr>
        <p:grpSpPr>
          <a:xfrm>
            <a:off x="7064238" y="6351142"/>
            <a:ext cx="1474710" cy="568818"/>
            <a:chOff x="0" y="0"/>
            <a:chExt cx="388401" cy="149812"/>
          </a:xfrm>
        </p:grpSpPr>
        <p:sp>
          <p:nvSpPr>
            <p:cNvPr id="36" name="Freeform 36"/>
            <p:cNvSpPr/>
            <p:nvPr/>
          </p:nvSpPr>
          <p:spPr>
            <a:xfrm>
              <a:off x="0" y="0"/>
              <a:ext cx="388401" cy="149812"/>
            </a:xfrm>
            <a:custGeom>
              <a:avLst/>
              <a:gdLst/>
              <a:ahLst/>
              <a:cxnLst/>
              <a:rect l="l" t="t" r="r" b="b"/>
              <a:pathLst>
                <a:path w="388401" h="149812">
                  <a:moveTo>
                    <a:pt x="74906" y="0"/>
                  </a:moveTo>
                  <a:lnTo>
                    <a:pt x="313495" y="0"/>
                  </a:lnTo>
                  <a:cubicBezTo>
                    <a:pt x="354864" y="0"/>
                    <a:pt x="388401" y="33537"/>
                    <a:pt x="388401" y="74906"/>
                  </a:cubicBezTo>
                  <a:lnTo>
                    <a:pt x="388401" y="74906"/>
                  </a:lnTo>
                  <a:cubicBezTo>
                    <a:pt x="388401" y="94772"/>
                    <a:pt x="380509" y="113825"/>
                    <a:pt x="366462" y="127873"/>
                  </a:cubicBezTo>
                  <a:cubicBezTo>
                    <a:pt x="352414" y="141920"/>
                    <a:pt x="333361" y="149812"/>
                    <a:pt x="313495" y="149812"/>
                  </a:cubicBezTo>
                  <a:lnTo>
                    <a:pt x="74906" y="149812"/>
                  </a:lnTo>
                  <a:cubicBezTo>
                    <a:pt x="33537" y="149812"/>
                    <a:pt x="0" y="116276"/>
                    <a:pt x="0" y="74906"/>
                  </a:cubicBezTo>
                  <a:lnTo>
                    <a:pt x="0" y="74906"/>
                  </a:lnTo>
                  <a:cubicBezTo>
                    <a:pt x="0" y="33537"/>
                    <a:pt x="33537" y="0"/>
                    <a:pt x="74906" y="0"/>
                  </a:cubicBezTo>
                  <a:close/>
                </a:path>
              </a:pathLst>
            </a:custGeom>
            <a:solidFill>
              <a:srgbClr val="FFDE59"/>
            </a:solidFill>
          </p:spPr>
          <p:txBody>
            <a:bodyPr/>
            <a:lstStyle/>
            <a:p>
              <a:endParaRPr lang="en-US"/>
            </a:p>
          </p:txBody>
        </p:sp>
        <p:sp>
          <p:nvSpPr>
            <p:cNvPr id="37" name="TextBox 37"/>
            <p:cNvSpPr txBox="1"/>
            <p:nvPr/>
          </p:nvSpPr>
          <p:spPr>
            <a:xfrm>
              <a:off x="0" y="-28575"/>
              <a:ext cx="388401" cy="178387"/>
            </a:xfrm>
            <a:prstGeom prst="rect">
              <a:avLst/>
            </a:prstGeom>
          </p:spPr>
          <p:txBody>
            <a:bodyPr lIns="50800" tIns="50800" rIns="50800" bIns="50800" rtlCol="0" anchor="ctr"/>
            <a:lstStyle/>
            <a:p>
              <a:pPr algn="ctr">
                <a:lnSpc>
                  <a:spcPts val="1260"/>
                </a:lnSpc>
              </a:pPr>
              <a:r>
                <a:rPr lang="en-US" sz="1050" b="1">
                  <a:solidFill>
                    <a:srgbClr val="000000"/>
                  </a:solidFill>
                  <a:latin typeface="Calibri (MS) Bold"/>
                  <a:ea typeface="Calibri (MS) Bold"/>
                  <a:cs typeface="Calibri (MS) Bold"/>
                  <a:sym typeface="Calibri (MS) Bold"/>
                </a:rPr>
                <a:t>04  •Archive Together</a:t>
              </a:r>
            </a:p>
          </p:txBody>
        </p:sp>
      </p:grpSp>
      <p:grpSp>
        <p:nvGrpSpPr>
          <p:cNvPr id="38" name="Group 38"/>
          <p:cNvGrpSpPr/>
          <p:nvPr/>
        </p:nvGrpSpPr>
        <p:grpSpPr>
          <a:xfrm>
            <a:off x="13076973" y="847874"/>
            <a:ext cx="4182327" cy="8335043"/>
            <a:chOff x="0" y="-79455"/>
            <a:chExt cx="5576435" cy="11113391"/>
          </a:xfrm>
        </p:grpSpPr>
        <p:grpSp>
          <p:nvGrpSpPr>
            <p:cNvPr id="39" name="Group 39"/>
            <p:cNvGrpSpPr>
              <a:grpSpLocks noChangeAspect="1"/>
            </p:cNvGrpSpPr>
            <p:nvPr/>
          </p:nvGrpSpPr>
          <p:grpSpPr>
            <a:xfrm>
              <a:off x="0" y="0"/>
              <a:ext cx="5576435" cy="11033936"/>
              <a:chOff x="0" y="0"/>
              <a:chExt cx="2620010" cy="5184140"/>
            </a:xfrm>
          </p:grpSpPr>
          <p:sp>
            <p:nvSpPr>
              <p:cNvPr id="40" name="Freeform 40"/>
              <p:cNvSpPr/>
              <p:nvPr/>
            </p:nvSpPr>
            <p:spPr>
              <a:xfrm>
                <a:off x="53340" y="25400"/>
                <a:ext cx="2513330" cy="5132070"/>
              </a:xfrm>
              <a:custGeom>
                <a:avLst/>
                <a:gdLst/>
                <a:ahLst/>
                <a:cxnLst/>
                <a:rect l="l" t="t" r="r" b="b"/>
                <a:pathLst>
                  <a:path w="2513330" h="5132070">
                    <a:moveTo>
                      <a:pt x="2159000" y="0"/>
                    </a:moveTo>
                    <a:lnTo>
                      <a:pt x="354330" y="0"/>
                    </a:lnTo>
                    <a:cubicBezTo>
                      <a:pt x="158750" y="0"/>
                      <a:pt x="0" y="158750"/>
                      <a:pt x="0" y="354330"/>
                    </a:cubicBezTo>
                    <a:lnTo>
                      <a:pt x="0" y="4777740"/>
                    </a:lnTo>
                    <a:cubicBezTo>
                      <a:pt x="0" y="4973320"/>
                      <a:pt x="158750" y="5132070"/>
                      <a:pt x="354330" y="5132070"/>
                    </a:cubicBezTo>
                    <a:lnTo>
                      <a:pt x="2159000" y="5132070"/>
                    </a:lnTo>
                    <a:cubicBezTo>
                      <a:pt x="2354580" y="5132070"/>
                      <a:pt x="2513330" y="4973320"/>
                      <a:pt x="2513330" y="4777740"/>
                    </a:cubicBezTo>
                    <a:lnTo>
                      <a:pt x="2513330" y="354330"/>
                    </a:lnTo>
                    <a:cubicBezTo>
                      <a:pt x="2513330" y="158750"/>
                      <a:pt x="2354580" y="0"/>
                      <a:pt x="2159000" y="0"/>
                    </a:cubicBezTo>
                    <a:close/>
                    <a:moveTo>
                      <a:pt x="1558290" y="162560"/>
                    </a:moveTo>
                    <a:cubicBezTo>
                      <a:pt x="1576070" y="162560"/>
                      <a:pt x="1590040" y="176530"/>
                      <a:pt x="1590040" y="194310"/>
                    </a:cubicBezTo>
                    <a:cubicBezTo>
                      <a:pt x="1590040" y="212090"/>
                      <a:pt x="1576070" y="226060"/>
                      <a:pt x="1558290" y="226060"/>
                    </a:cubicBezTo>
                    <a:cubicBezTo>
                      <a:pt x="1540510" y="226060"/>
                      <a:pt x="1526540" y="212090"/>
                      <a:pt x="1526540" y="194310"/>
                    </a:cubicBezTo>
                    <a:cubicBezTo>
                      <a:pt x="1526540" y="176530"/>
                      <a:pt x="1541780" y="162560"/>
                      <a:pt x="1558290" y="162560"/>
                    </a:cubicBezTo>
                    <a:close/>
                    <a:moveTo>
                      <a:pt x="1089660" y="172720"/>
                    </a:moveTo>
                    <a:lnTo>
                      <a:pt x="1394460" y="172720"/>
                    </a:lnTo>
                    <a:cubicBezTo>
                      <a:pt x="1405890" y="172720"/>
                      <a:pt x="1416050" y="181610"/>
                      <a:pt x="1416050" y="194310"/>
                    </a:cubicBezTo>
                    <a:cubicBezTo>
                      <a:pt x="1416050" y="207010"/>
                      <a:pt x="1405890" y="215900"/>
                      <a:pt x="1394460" y="215900"/>
                    </a:cubicBezTo>
                    <a:lnTo>
                      <a:pt x="1089660" y="215900"/>
                    </a:lnTo>
                    <a:cubicBezTo>
                      <a:pt x="1078230" y="215900"/>
                      <a:pt x="1068070" y="207010"/>
                      <a:pt x="1068070" y="194310"/>
                    </a:cubicBezTo>
                    <a:cubicBezTo>
                      <a:pt x="1068070" y="181610"/>
                      <a:pt x="1078230" y="172720"/>
                      <a:pt x="1089660" y="172720"/>
                    </a:cubicBezTo>
                    <a:close/>
                    <a:moveTo>
                      <a:pt x="2383790" y="4798060"/>
                    </a:moveTo>
                    <a:cubicBezTo>
                      <a:pt x="2383790" y="4913630"/>
                      <a:pt x="2289810" y="5007610"/>
                      <a:pt x="2174240" y="5007610"/>
                    </a:cubicBezTo>
                    <a:lnTo>
                      <a:pt x="341630" y="5007610"/>
                    </a:lnTo>
                    <a:cubicBezTo>
                      <a:pt x="226060" y="5007610"/>
                      <a:pt x="132080" y="4913630"/>
                      <a:pt x="132080" y="4798060"/>
                    </a:cubicBezTo>
                    <a:lnTo>
                      <a:pt x="132080" y="340360"/>
                    </a:lnTo>
                    <a:cubicBezTo>
                      <a:pt x="132080" y="224790"/>
                      <a:pt x="226060" y="130810"/>
                      <a:pt x="341630" y="130810"/>
                    </a:cubicBezTo>
                    <a:lnTo>
                      <a:pt x="614680" y="130810"/>
                    </a:lnTo>
                    <a:lnTo>
                      <a:pt x="614680" y="187960"/>
                    </a:lnTo>
                    <a:cubicBezTo>
                      <a:pt x="614680" y="252730"/>
                      <a:pt x="668020" y="306070"/>
                      <a:pt x="732790" y="306070"/>
                    </a:cubicBezTo>
                    <a:lnTo>
                      <a:pt x="1783080" y="306070"/>
                    </a:lnTo>
                    <a:cubicBezTo>
                      <a:pt x="1847850" y="306070"/>
                      <a:pt x="1901190" y="252730"/>
                      <a:pt x="1901190" y="187960"/>
                    </a:cubicBezTo>
                    <a:lnTo>
                      <a:pt x="1901190" y="130810"/>
                    </a:lnTo>
                    <a:lnTo>
                      <a:pt x="2172970" y="130810"/>
                    </a:lnTo>
                    <a:cubicBezTo>
                      <a:pt x="2288540" y="130810"/>
                      <a:pt x="2382520" y="224790"/>
                      <a:pt x="2382520" y="340360"/>
                    </a:cubicBezTo>
                    <a:lnTo>
                      <a:pt x="2382520" y="4798060"/>
                    </a:lnTo>
                    <a:close/>
                  </a:path>
                </a:pathLst>
              </a:custGeom>
              <a:solidFill>
                <a:srgbClr val="000000"/>
              </a:solidFill>
            </p:spPr>
            <p:txBody>
              <a:bodyPr/>
              <a:lstStyle/>
              <a:p>
                <a:endParaRPr lang="en-US"/>
              </a:p>
            </p:txBody>
          </p:sp>
          <p:sp>
            <p:nvSpPr>
              <p:cNvPr id="41" name="Freeform 41"/>
              <p:cNvSpPr/>
              <p:nvPr/>
            </p:nvSpPr>
            <p:spPr>
              <a:xfrm>
                <a:off x="185420" y="156210"/>
                <a:ext cx="2250453" cy="4876800"/>
              </a:xfrm>
              <a:custGeom>
                <a:avLst/>
                <a:gdLst/>
                <a:ahLst/>
                <a:cxnLst/>
                <a:rect l="l" t="t" r="r" b="b"/>
                <a:pathLst>
                  <a:path w="2250453" h="4876800">
                    <a:moveTo>
                      <a:pt x="2040890" y="0"/>
                    </a:moveTo>
                    <a:lnTo>
                      <a:pt x="1769110" y="0"/>
                    </a:lnTo>
                    <a:lnTo>
                      <a:pt x="1769110" y="57150"/>
                    </a:lnTo>
                    <a:cubicBezTo>
                      <a:pt x="1769110" y="121920"/>
                      <a:pt x="1715770" y="175260"/>
                      <a:pt x="1651000" y="175260"/>
                    </a:cubicBezTo>
                    <a:lnTo>
                      <a:pt x="601980" y="175260"/>
                    </a:lnTo>
                    <a:cubicBezTo>
                      <a:pt x="537210" y="175260"/>
                      <a:pt x="483870" y="121920"/>
                      <a:pt x="483870" y="57150"/>
                    </a:cubicBezTo>
                    <a:lnTo>
                      <a:pt x="483870" y="0"/>
                    </a:lnTo>
                    <a:lnTo>
                      <a:pt x="209550" y="0"/>
                    </a:lnTo>
                    <a:cubicBezTo>
                      <a:pt x="93980" y="0"/>
                      <a:pt x="0" y="93980"/>
                      <a:pt x="0" y="209550"/>
                    </a:cubicBezTo>
                    <a:lnTo>
                      <a:pt x="0" y="4667250"/>
                    </a:lnTo>
                    <a:cubicBezTo>
                      <a:pt x="0" y="4782820"/>
                      <a:pt x="93980" y="4876800"/>
                      <a:pt x="209550" y="4876800"/>
                    </a:cubicBezTo>
                    <a:lnTo>
                      <a:pt x="2040890" y="4876800"/>
                    </a:lnTo>
                    <a:cubicBezTo>
                      <a:pt x="2156460" y="4876800"/>
                      <a:pt x="2250440" y="4782820"/>
                      <a:pt x="2250440" y="4667250"/>
                    </a:cubicBezTo>
                    <a:lnTo>
                      <a:pt x="2250440" y="209550"/>
                    </a:lnTo>
                    <a:cubicBezTo>
                      <a:pt x="2251710" y="93980"/>
                      <a:pt x="2157730" y="0"/>
                      <a:pt x="2040890" y="0"/>
                    </a:cubicBezTo>
                    <a:close/>
                  </a:path>
                </a:pathLst>
              </a:custGeom>
              <a:blipFill>
                <a:blip r:embed="rId3"/>
                <a:stretch>
                  <a:fillRect l="-245588" t="-3203" r="-245531" b="-3098"/>
                </a:stretch>
              </a:blipFill>
            </p:spPr>
            <p:txBody>
              <a:bodyPr/>
              <a:lstStyle/>
              <a:p>
                <a:endParaRPr lang="en-US"/>
              </a:p>
            </p:txBody>
          </p:sp>
          <p:sp>
            <p:nvSpPr>
              <p:cNvPr id="42" name="Freeform 42"/>
              <p:cNvSpPr/>
              <p:nvPr/>
            </p:nvSpPr>
            <p:spPr>
              <a:xfrm>
                <a:off x="1121410" y="198120"/>
                <a:ext cx="347980" cy="43180"/>
              </a:xfrm>
              <a:custGeom>
                <a:avLst/>
                <a:gdLst/>
                <a:ahLst/>
                <a:cxnLst/>
                <a:rect l="l" t="t" r="r" b="b"/>
                <a:pathLst>
                  <a:path w="347980" h="43180">
                    <a:moveTo>
                      <a:pt x="326390" y="0"/>
                    </a:moveTo>
                    <a:lnTo>
                      <a:pt x="21590" y="0"/>
                    </a:lnTo>
                    <a:cubicBezTo>
                      <a:pt x="10160" y="0"/>
                      <a:pt x="0" y="8890"/>
                      <a:pt x="0" y="21590"/>
                    </a:cubicBezTo>
                    <a:cubicBezTo>
                      <a:pt x="0" y="34290"/>
                      <a:pt x="10160" y="43180"/>
                      <a:pt x="21590" y="43180"/>
                    </a:cubicBezTo>
                    <a:lnTo>
                      <a:pt x="326390" y="43180"/>
                    </a:lnTo>
                    <a:cubicBezTo>
                      <a:pt x="337820" y="43180"/>
                      <a:pt x="347980" y="34290"/>
                      <a:pt x="347980" y="21590"/>
                    </a:cubicBezTo>
                    <a:cubicBezTo>
                      <a:pt x="347980" y="8890"/>
                      <a:pt x="337820" y="0"/>
                      <a:pt x="326390" y="0"/>
                    </a:cubicBezTo>
                    <a:close/>
                  </a:path>
                </a:pathLst>
              </a:custGeom>
              <a:solidFill>
                <a:srgbClr val="606060"/>
              </a:solidFill>
            </p:spPr>
            <p:txBody>
              <a:bodyPr/>
              <a:lstStyle/>
              <a:p>
                <a:endParaRPr lang="en-US"/>
              </a:p>
            </p:txBody>
          </p:sp>
          <p:sp>
            <p:nvSpPr>
              <p:cNvPr id="43" name="Freeform 43"/>
              <p:cNvSpPr/>
              <p:nvPr/>
            </p:nvSpPr>
            <p:spPr>
              <a:xfrm>
                <a:off x="1579738" y="187960"/>
                <a:ext cx="63785" cy="63501"/>
              </a:xfrm>
              <a:custGeom>
                <a:avLst/>
                <a:gdLst/>
                <a:ahLst/>
                <a:cxnLst/>
                <a:rect l="l" t="t" r="r" b="b"/>
                <a:pathLst>
                  <a:path w="63785" h="63501">
                    <a:moveTo>
                      <a:pt x="31892" y="0"/>
                    </a:moveTo>
                    <a:cubicBezTo>
                      <a:pt x="20515" y="-51"/>
                      <a:pt x="9980" y="5989"/>
                      <a:pt x="4277" y="15834"/>
                    </a:cubicBezTo>
                    <a:cubicBezTo>
                      <a:pt x="-1426" y="25678"/>
                      <a:pt x="-1426" y="37822"/>
                      <a:pt x="4277" y="47666"/>
                    </a:cubicBezTo>
                    <a:cubicBezTo>
                      <a:pt x="9980" y="57511"/>
                      <a:pt x="20515" y="63551"/>
                      <a:pt x="31892" y="63500"/>
                    </a:cubicBezTo>
                    <a:cubicBezTo>
                      <a:pt x="43269" y="63551"/>
                      <a:pt x="53804" y="57511"/>
                      <a:pt x="59507" y="47666"/>
                    </a:cubicBezTo>
                    <a:cubicBezTo>
                      <a:pt x="65210" y="37822"/>
                      <a:pt x="65210" y="25678"/>
                      <a:pt x="59507" y="15834"/>
                    </a:cubicBezTo>
                    <a:cubicBezTo>
                      <a:pt x="53804" y="5989"/>
                      <a:pt x="43269" y="-51"/>
                      <a:pt x="31892" y="0"/>
                    </a:cubicBezTo>
                    <a:close/>
                  </a:path>
                </a:pathLst>
              </a:custGeom>
              <a:solidFill>
                <a:srgbClr val="606060"/>
              </a:solidFill>
            </p:spPr>
            <p:txBody>
              <a:bodyPr/>
              <a:lstStyle/>
              <a:p>
                <a:endParaRPr lang="en-US"/>
              </a:p>
            </p:txBody>
          </p:sp>
          <p:sp>
            <p:nvSpPr>
              <p:cNvPr id="44" name="Freeform 44"/>
              <p:cNvSpPr/>
              <p:nvPr/>
            </p:nvSpPr>
            <p:spPr>
              <a:xfrm>
                <a:off x="0" y="685800"/>
                <a:ext cx="27940" cy="213360"/>
              </a:xfrm>
              <a:custGeom>
                <a:avLst/>
                <a:gdLst/>
                <a:ahLst/>
                <a:cxnLst/>
                <a:rect l="l" t="t" r="r" b="b"/>
                <a:pathLst>
                  <a:path w="27940" h="213360">
                    <a:moveTo>
                      <a:pt x="0" y="26670"/>
                    </a:moveTo>
                    <a:lnTo>
                      <a:pt x="0" y="185420"/>
                    </a:lnTo>
                    <a:cubicBezTo>
                      <a:pt x="0" y="200660"/>
                      <a:pt x="12700" y="213360"/>
                      <a:pt x="27940" y="213360"/>
                    </a:cubicBezTo>
                    <a:lnTo>
                      <a:pt x="27940" y="0"/>
                    </a:lnTo>
                    <a:cubicBezTo>
                      <a:pt x="12700" y="0"/>
                      <a:pt x="0" y="11430"/>
                      <a:pt x="0" y="26670"/>
                    </a:cubicBezTo>
                    <a:close/>
                  </a:path>
                </a:pathLst>
              </a:custGeom>
              <a:solidFill>
                <a:srgbClr val="B8B8B8"/>
              </a:solidFill>
            </p:spPr>
            <p:txBody>
              <a:bodyPr/>
              <a:lstStyle/>
              <a:p>
                <a:endParaRPr lang="en-US"/>
              </a:p>
            </p:txBody>
          </p:sp>
          <p:sp>
            <p:nvSpPr>
              <p:cNvPr id="45" name="Freeform 45"/>
              <p:cNvSpPr/>
              <p:nvPr/>
            </p:nvSpPr>
            <p:spPr>
              <a:xfrm>
                <a:off x="0" y="1057910"/>
                <a:ext cx="27940" cy="384810"/>
              </a:xfrm>
              <a:custGeom>
                <a:avLst/>
                <a:gdLst/>
                <a:ahLst/>
                <a:cxnLst/>
                <a:rect l="l" t="t" r="r" b="b"/>
                <a:pathLst>
                  <a:path w="27940" h="384810">
                    <a:moveTo>
                      <a:pt x="0" y="26670"/>
                    </a:moveTo>
                    <a:lnTo>
                      <a:pt x="0" y="356870"/>
                    </a:lnTo>
                    <a:cubicBezTo>
                      <a:pt x="0" y="372110"/>
                      <a:pt x="12700" y="384810"/>
                      <a:pt x="27940" y="384810"/>
                    </a:cubicBezTo>
                    <a:lnTo>
                      <a:pt x="27940" y="0"/>
                    </a:lnTo>
                    <a:cubicBezTo>
                      <a:pt x="12700" y="0"/>
                      <a:pt x="0" y="11430"/>
                      <a:pt x="0" y="26670"/>
                    </a:cubicBezTo>
                    <a:close/>
                  </a:path>
                </a:pathLst>
              </a:custGeom>
              <a:solidFill>
                <a:srgbClr val="B8B8B8"/>
              </a:solidFill>
            </p:spPr>
            <p:txBody>
              <a:bodyPr/>
              <a:lstStyle/>
              <a:p>
                <a:endParaRPr lang="en-US"/>
              </a:p>
            </p:txBody>
          </p:sp>
          <p:sp>
            <p:nvSpPr>
              <p:cNvPr id="46" name="Freeform 46"/>
              <p:cNvSpPr/>
              <p:nvPr/>
            </p:nvSpPr>
            <p:spPr>
              <a:xfrm>
                <a:off x="0" y="1526540"/>
                <a:ext cx="27940" cy="386080"/>
              </a:xfrm>
              <a:custGeom>
                <a:avLst/>
                <a:gdLst/>
                <a:ahLst/>
                <a:cxnLst/>
                <a:rect l="l" t="t" r="r" b="b"/>
                <a:pathLst>
                  <a:path w="27940" h="386080">
                    <a:moveTo>
                      <a:pt x="0" y="27940"/>
                    </a:moveTo>
                    <a:lnTo>
                      <a:pt x="0" y="358140"/>
                    </a:lnTo>
                    <a:cubicBezTo>
                      <a:pt x="0" y="373380"/>
                      <a:pt x="12700" y="386080"/>
                      <a:pt x="27940" y="386080"/>
                    </a:cubicBezTo>
                    <a:lnTo>
                      <a:pt x="27940" y="0"/>
                    </a:lnTo>
                    <a:cubicBezTo>
                      <a:pt x="12700" y="0"/>
                      <a:pt x="0" y="12700"/>
                      <a:pt x="0" y="27940"/>
                    </a:cubicBezTo>
                    <a:close/>
                  </a:path>
                </a:pathLst>
              </a:custGeom>
              <a:solidFill>
                <a:srgbClr val="B8B8B8"/>
              </a:solidFill>
            </p:spPr>
            <p:txBody>
              <a:bodyPr/>
              <a:lstStyle/>
              <a:p>
                <a:endParaRPr lang="en-US"/>
              </a:p>
            </p:txBody>
          </p:sp>
          <p:sp>
            <p:nvSpPr>
              <p:cNvPr id="47" name="Freeform 47"/>
              <p:cNvSpPr/>
              <p:nvPr/>
            </p:nvSpPr>
            <p:spPr>
              <a:xfrm>
                <a:off x="2592070" y="1184910"/>
                <a:ext cx="27940" cy="618490"/>
              </a:xfrm>
              <a:custGeom>
                <a:avLst/>
                <a:gdLst/>
                <a:ahLst/>
                <a:cxnLst/>
                <a:rect l="l" t="t" r="r" b="b"/>
                <a:pathLst>
                  <a:path w="27940" h="618490">
                    <a:moveTo>
                      <a:pt x="0" y="0"/>
                    </a:moveTo>
                    <a:lnTo>
                      <a:pt x="0" y="618490"/>
                    </a:lnTo>
                    <a:cubicBezTo>
                      <a:pt x="15240" y="618490"/>
                      <a:pt x="27940" y="605790"/>
                      <a:pt x="27940" y="590550"/>
                    </a:cubicBezTo>
                    <a:lnTo>
                      <a:pt x="27940" y="27940"/>
                    </a:lnTo>
                    <a:cubicBezTo>
                      <a:pt x="27940" y="12700"/>
                      <a:pt x="15240" y="0"/>
                      <a:pt x="0" y="0"/>
                    </a:cubicBezTo>
                    <a:close/>
                  </a:path>
                </a:pathLst>
              </a:custGeom>
              <a:solidFill>
                <a:srgbClr val="B8B8B8"/>
              </a:solidFill>
            </p:spPr>
            <p:txBody>
              <a:bodyPr/>
              <a:lstStyle/>
              <a:p>
                <a:endParaRPr lang="en-US"/>
              </a:p>
            </p:txBody>
          </p:sp>
          <p:sp>
            <p:nvSpPr>
              <p:cNvPr id="48" name="Freeform 48"/>
              <p:cNvSpPr/>
              <p:nvPr/>
            </p:nvSpPr>
            <p:spPr>
              <a:xfrm>
                <a:off x="27940" y="0"/>
                <a:ext cx="2564130" cy="5182870"/>
              </a:xfrm>
              <a:custGeom>
                <a:avLst/>
                <a:gdLst/>
                <a:ahLst/>
                <a:cxnLst/>
                <a:rect l="l" t="t" r="r" b="b"/>
                <a:pathLst>
                  <a:path w="2564130" h="5182870">
                    <a:moveTo>
                      <a:pt x="2564130" y="1184910"/>
                    </a:moveTo>
                    <a:lnTo>
                      <a:pt x="2564130" y="379730"/>
                    </a:lnTo>
                    <a:cubicBezTo>
                      <a:pt x="2564130" y="353060"/>
                      <a:pt x="2561590" y="327660"/>
                      <a:pt x="2556510" y="303530"/>
                    </a:cubicBezTo>
                    <a:cubicBezTo>
                      <a:pt x="2553970" y="290830"/>
                      <a:pt x="2551430" y="279400"/>
                      <a:pt x="2547620" y="266700"/>
                    </a:cubicBezTo>
                    <a:cubicBezTo>
                      <a:pt x="2542540" y="248920"/>
                      <a:pt x="2534920" y="231140"/>
                      <a:pt x="2527300" y="214630"/>
                    </a:cubicBezTo>
                    <a:cubicBezTo>
                      <a:pt x="2522220" y="203200"/>
                      <a:pt x="2515870" y="193040"/>
                      <a:pt x="2509520" y="182880"/>
                    </a:cubicBezTo>
                    <a:cubicBezTo>
                      <a:pt x="2503170" y="172720"/>
                      <a:pt x="2496820" y="162560"/>
                      <a:pt x="2489200" y="152400"/>
                    </a:cubicBezTo>
                    <a:cubicBezTo>
                      <a:pt x="2477770" y="137160"/>
                      <a:pt x="2466340" y="124460"/>
                      <a:pt x="2453640" y="110490"/>
                    </a:cubicBezTo>
                    <a:cubicBezTo>
                      <a:pt x="2444750" y="101600"/>
                      <a:pt x="2435860" y="93980"/>
                      <a:pt x="2426970" y="86360"/>
                    </a:cubicBezTo>
                    <a:cubicBezTo>
                      <a:pt x="2360930" y="31750"/>
                      <a:pt x="2277110" y="0"/>
                      <a:pt x="2185670" y="0"/>
                    </a:cubicBezTo>
                    <a:lnTo>
                      <a:pt x="379730" y="0"/>
                    </a:lnTo>
                    <a:cubicBezTo>
                      <a:pt x="288290" y="0"/>
                      <a:pt x="203200" y="33020"/>
                      <a:pt x="138430" y="86360"/>
                    </a:cubicBezTo>
                    <a:cubicBezTo>
                      <a:pt x="129540" y="93980"/>
                      <a:pt x="120650" y="102870"/>
                      <a:pt x="111760" y="110490"/>
                    </a:cubicBezTo>
                    <a:cubicBezTo>
                      <a:pt x="99060" y="123190"/>
                      <a:pt x="86360" y="137160"/>
                      <a:pt x="76200" y="152400"/>
                    </a:cubicBezTo>
                    <a:cubicBezTo>
                      <a:pt x="68580" y="162560"/>
                      <a:pt x="62230" y="172720"/>
                      <a:pt x="55880" y="182880"/>
                    </a:cubicBezTo>
                    <a:cubicBezTo>
                      <a:pt x="49530" y="193040"/>
                      <a:pt x="43180" y="204470"/>
                      <a:pt x="38100" y="214630"/>
                    </a:cubicBezTo>
                    <a:cubicBezTo>
                      <a:pt x="29210" y="232410"/>
                      <a:pt x="22860" y="248920"/>
                      <a:pt x="16510" y="266700"/>
                    </a:cubicBezTo>
                    <a:cubicBezTo>
                      <a:pt x="12700" y="279400"/>
                      <a:pt x="10160" y="290830"/>
                      <a:pt x="7620" y="303530"/>
                    </a:cubicBezTo>
                    <a:cubicBezTo>
                      <a:pt x="2540" y="327660"/>
                      <a:pt x="0" y="354330"/>
                      <a:pt x="0" y="379730"/>
                    </a:cubicBezTo>
                    <a:lnTo>
                      <a:pt x="0" y="4803140"/>
                    </a:lnTo>
                    <a:cubicBezTo>
                      <a:pt x="0" y="5012690"/>
                      <a:pt x="170180" y="5182870"/>
                      <a:pt x="379730" y="5182870"/>
                    </a:cubicBezTo>
                    <a:lnTo>
                      <a:pt x="2184400" y="5182870"/>
                    </a:lnTo>
                    <a:cubicBezTo>
                      <a:pt x="2393950" y="5182870"/>
                      <a:pt x="2564130" y="5012690"/>
                      <a:pt x="2564130" y="4803140"/>
                    </a:cubicBezTo>
                    <a:lnTo>
                      <a:pt x="2564130" y="1184910"/>
                    </a:lnTo>
                    <a:close/>
                    <a:moveTo>
                      <a:pt x="2538730" y="1184910"/>
                    </a:moveTo>
                    <a:lnTo>
                      <a:pt x="2538730" y="4804410"/>
                    </a:lnTo>
                    <a:cubicBezTo>
                      <a:pt x="2538730" y="4999990"/>
                      <a:pt x="2379980" y="5158740"/>
                      <a:pt x="2184400" y="5158740"/>
                    </a:cubicBezTo>
                    <a:lnTo>
                      <a:pt x="379730" y="5158740"/>
                    </a:lnTo>
                    <a:cubicBezTo>
                      <a:pt x="184150" y="5158740"/>
                      <a:pt x="25400" y="4999990"/>
                      <a:pt x="25400" y="4804410"/>
                    </a:cubicBezTo>
                    <a:lnTo>
                      <a:pt x="25400" y="381000"/>
                    </a:lnTo>
                    <a:cubicBezTo>
                      <a:pt x="25400" y="184150"/>
                      <a:pt x="184150" y="25400"/>
                      <a:pt x="379730" y="25400"/>
                    </a:cubicBezTo>
                    <a:lnTo>
                      <a:pt x="2184400" y="25400"/>
                    </a:lnTo>
                    <a:cubicBezTo>
                      <a:pt x="2379980" y="25400"/>
                      <a:pt x="2538730" y="184150"/>
                      <a:pt x="2538730" y="379730"/>
                    </a:cubicBezTo>
                    <a:lnTo>
                      <a:pt x="2538730" y="1184910"/>
                    </a:lnTo>
                    <a:close/>
                  </a:path>
                </a:pathLst>
              </a:custGeom>
              <a:solidFill>
                <a:srgbClr val="E9E9E9"/>
              </a:solidFill>
            </p:spPr>
            <p:txBody>
              <a:bodyPr/>
              <a:lstStyle/>
              <a:p>
                <a:endParaRPr lang="en-US"/>
              </a:p>
            </p:txBody>
          </p:sp>
        </p:grpSp>
        <p:grpSp>
          <p:nvGrpSpPr>
            <p:cNvPr id="49" name="Group 49"/>
            <p:cNvGrpSpPr/>
            <p:nvPr/>
          </p:nvGrpSpPr>
          <p:grpSpPr>
            <a:xfrm>
              <a:off x="132110" y="-79455"/>
              <a:ext cx="5089955" cy="10899776"/>
              <a:chOff x="0" y="-47625"/>
              <a:chExt cx="1005423" cy="2153042"/>
            </a:xfrm>
          </p:grpSpPr>
          <p:sp>
            <p:nvSpPr>
              <p:cNvPr id="50" name="Freeform 50"/>
              <p:cNvSpPr/>
              <p:nvPr/>
            </p:nvSpPr>
            <p:spPr>
              <a:xfrm>
                <a:off x="0" y="0"/>
                <a:ext cx="1005423" cy="2105417"/>
              </a:xfrm>
              <a:custGeom>
                <a:avLst/>
                <a:gdLst/>
                <a:ahLst/>
                <a:cxnLst/>
                <a:rect l="l" t="t" r="r" b="b"/>
                <a:pathLst>
                  <a:path w="1005423" h="2105417">
                    <a:moveTo>
                      <a:pt x="103429" y="0"/>
                    </a:moveTo>
                    <a:lnTo>
                      <a:pt x="901994" y="0"/>
                    </a:lnTo>
                    <a:cubicBezTo>
                      <a:pt x="959116" y="0"/>
                      <a:pt x="1005423" y="46307"/>
                      <a:pt x="1005423" y="103429"/>
                    </a:cubicBezTo>
                    <a:lnTo>
                      <a:pt x="1005423" y="2001988"/>
                    </a:lnTo>
                    <a:cubicBezTo>
                      <a:pt x="1005423" y="2059110"/>
                      <a:pt x="959116" y="2105417"/>
                      <a:pt x="901994" y="2105417"/>
                    </a:cubicBezTo>
                    <a:lnTo>
                      <a:pt x="103429" y="2105417"/>
                    </a:lnTo>
                    <a:cubicBezTo>
                      <a:pt x="46307" y="2105417"/>
                      <a:pt x="0" y="2059110"/>
                      <a:pt x="0" y="2001988"/>
                    </a:cubicBezTo>
                    <a:lnTo>
                      <a:pt x="0" y="103429"/>
                    </a:lnTo>
                    <a:cubicBezTo>
                      <a:pt x="0" y="46307"/>
                      <a:pt x="46307" y="0"/>
                      <a:pt x="103429" y="0"/>
                    </a:cubicBezTo>
                    <a:close/>
                  </a:path>
                </a:pathLst>
              </a:custGeom>
              <a:solidFill>
                <a:srgbClr val="141414"/>
              </a:solidFill>
            </p:spPr>
            <p:txBody>
              <a:bodyPr/>
              <a:lstStyle/>
              <a:p>
                <a:endParaRPr lang="en-US" dirty="0"/>
              </a:p>
            </p:txBody>
          </p:sp>
          <p:sp>
            <p:nvSpPr>
              <p:cNvPr id="51" name="TextBox 51"/>
              <p:cNvSpPr txBox="1"/>
              <p:nvPr/>
            </p:nvSpPr>
            <p:spPr>
              <a:xfrm>
                <a:off x="0" y="-47625"/>
                <a:ext cx="1005423" cy="2153042"/>
              </a:xfrm>
              <a:prstGeom prst="rect">
                <a:avLst/>
              </a:prstGeom>
            </p:spPr>
            <p:txBody>
              <a:bodyPr lIns="50800" tIns="50800" rIns="50800" bIns="50800" rtlCol="0" anchor="ctr"/>
              <a:lstStyle/>
              <a:p>
                <a:pPr algn="ctr">
                  <a:lnSpc>
                    <a:spcPts val="2340"/>
                  </a:lnSpc>
                </a:pPr>
                <a:endParaRPr/>
              </a:p>
            </p:txBody>
          </p:sp>
        </p:grpSp>
        <p:sp>
          <p:nvSpPr>
            <p:cNvPr id="54" name="Freeform 54"/>
            <p:cNvSpPr/>
            <p:nvPr/>
          </p:nvSpPr>
          <p:spPr>
            <a:xfrm>
              <a:off x="345184" y="605946"/>
              <a:ext cx="942673" cy="942673"/>
            </a:xfrm>
            <a:custGeom>
              <a:avLst/>
              <a:gdLst/>
              <a:ahLst/>
              <a:cxnLst/>
              <a:rect l="l" t="t" r="r" b="b"/>
              <a:pathLst>
                <a:path w="942673" h="942673">
                  <a:moveTo>
                    <a:pt x="0" y="0"/>
                  </a:moveTo>
                  <a:lnTo>
                    <a:pt x="942673" y="0"/>
                  </a:lnTo>
                  <a:lnTo>
                    <a:pt x="942673" y="942673"/>
                  </a:lnTo>
                  <a:lnTo>
                    <a:pt x="0" y="942673"/>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n-US"/>
            </a:p>
          </p:txBody>
        </p:sp>
        <p:sp>
          <p:nvSpPr>
            <p:cNvPr id="55" name="Freeform 55"/>
            <p:cNvSpPr/>
            <p:nvPr/>
          </p:nvSpPr>
          <p:spPr>
            <a:xfrm>
              <a:off x="607468" y="812658"/>
              <a:ext cx="418106" cy="529248"/>
            </a:xfrm>
            <a:custGeom>
              <a:avLst/>
              <a:gdLst/>
              <a:ahLst/>
              <a:cxnLst/>
              <a:rect l="l" t="t" r="r" b="b"/>
              <a:pathLst>
                <a:path w="418106" h="529248">
                  <a:moveTo>
                    <a:pt x="0" y="0"/>
                  </a:moveTo>
                  <a:lnTo>
                    <a:pt x="418106" y="0"/>
                  </a:lnTo>
                  <a:lnTo>
                    <a:pt x="418106" y="529248"/>
                  </a:lnTo>
                  <a:lnTo>
                    <a:pt x="0" y="529248"/>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en-US"/>
            </a:p>
          </p:txBody>
        </p:sp>
        <p:sp>
          <p:nvSpPr>
            <p:cNvPr id="56" name="Freeform 56"/>
            <p:cNvSpPr/>
            <p:nvPr/>
          </p:nvSpPr>
          <p:spPr>
            <a:xfrm>
              <a:off x="4020713" y="605946"/>
              <a:ext cx="942673" cy="942673"/>
            </a:xfrm>
            <a:custGeom>
              <a:avLst/>
              <a:gdLst/>
              <a:ahLst/>
              <a:cxnLst/>
              <a:rect l="l" t="t" r="r" b="b"/>
              <a:pathLst>
                <a:path w="942673" h="942673">
                  <a:moveTo>
                    <a:pt x="0" y="0"/>
                  </a:moveTo>
                  <a:lnTo>
                    <a:pt x="942672" y="0"/>
                  </a:lnTo>
                  <a:lnTo>
                    <a:pt x="942672" y="942673"/>
                  </a:lnTo>
                  <a:lnTo>
                    <a:pt x="0" y="942673"/>
                  </a:lnTo>
                  <a:lnTo>
                    <a:pt x="0" y="0"/>
                  </a:lnTo>
                  <a:close/>
                </a:path>
              </a:pathLst>
            </a:custGeom>
            <a:blipFill>
              <a:blip>
                <a:extLst>
                  <a:ext uri="{96DAC541-7B7A-43D3-8B79-37D633B846F1}">
                    <asvg:svgBlip xmlns:asvg="http://schemas.microsoft.com/office/drawing/2016/SVG/main" r:embed="rId6"/>
                  </a:ext>
                </a:extLst>
              </a:blip>
              <a:stretch>
                <a:fillRect/>
              </a:stretch>
            </a:blipFill>
          </p:spPr>
          <p:txBody>
            <a:bodyPr/>
            <a:lstStyle/>
            <a:p>
              <a:endParaRPr lang="en-US"/>
            </a:p>
          </p:txBody>
        </p:sp>
        <p:sp>
          <p:nvSpPr>
            <p:cNvPr id="57" name="Freeform 57"/>
            <p:cNvSpPr/>
            <p:nvPr/>
          </p:nvSpPr>
          <p:spPr>
            <a:xfrm>
              <a:off x="4252646" y="795632"/>
              <a:ext cx="478806" cy="563301"/>
            </a:xfrm>
            <a:custGeom>
              <a:avLst/>
              <a:gdLst/>
              <a:ahLst/>
              <a:cxnLst/>
              <a:rect l="l" t="t" r="r" b="b"/>
              <a:pathLst>
                <a:path w="478806" h="563301">
                  <a:moveTo>
                    <a:pt x="0" y="0"/>
                  </a:moveTo>
                  <a:lnTo>
                    <a:pt x="478806" y="0"/>
                  </a:lnTo>
                  <a:lnTo>
                    <a:pt x="478806" y="563301"/>
                  </a:lnTo>
                  <a:lnTo>
                    <a:pt x="0" y="563301"/>
                  </a:lnTo>
                  <a:lnTo>
                    <a:pt x="0" y="0"/>
                  </a:lnTo>
                  <a:close/>
                </a:path>
              </a:pathLst>
            </a:custGeom>
            <a:blipFill>
              <a:blip>
                <a:extLst>
                  <a:ext uri="{96DAC541-7B7A-43D3-8B79-37D633B846F1}">
                    <asvg:svgBlip xmlns:asvg="http://schemas.microsoft.com/office/drawing/2016/SVG/main" r:embed="rId7"/>
                  </a:ext>
                </a:extLst>
              </a:blip>
              <a:stretch>
                <a:fillRect/>
              </a:stretch>
            </a:blipFill>
          </p:spPr>
          <p:txBody>
            <a:bodyPr/>
            <a:lstStyle/>
            <a:p>
              <a:endParaRPr lang="en-US"/>
            </a:p>
          </p:txBody>
        </p:sp>
        <p:grpSp>
          <p:nvGrpSpPr>
            <p:cNvPr id="58" name="Group 58"/>
            <p:cNvGrpSpPr/>
            <p:nvPr/>
          </p:nvGrpSpPr>
          <p:grpSpPr>
            <a:xfrm>
              <a:off x="841859" y="1872119"/>
              <a:ext cx="1578858" cy="458279"/>
              <a:chOff x="0" y="0"/>
              <a:chExt cx="1892503" cy="549318"/>
            </a:xfrm>
          </p:grpSpPr>
          <p:sp>
            <p:nvSpPr>
              <p:cNvPr id="59" name="Freeform 59"/>
              <p:cNvSpPr/>
              <p:nvPr/>
            </p:nvSpPr>
            <p:spPr>
              <a:xfrm>
                <a:off x="0" y="0"/>
                <a:ext cx="1892503" cy="549318"/>
              </a:xfrm>
              <a:custGeom>
                <a:avLst/>
                <a:gdLst/>
                <a:ahLst/>
                <a:cxnLst/>
                <a:rect l="l" t="t" r="r" b="b"/>
                <a:pathLst>
                  <a:path w="1892503" h="549318">
                    <a:moveTo>
                      <a:pt x="0" y="0"/>
                    </a:moveTo>
                    <a:lnTo>
                      <a:pt x="1892503" y="0"/>
                    </a:lnTo>
                    <a:lnTo>
                      <a:pt x="1892503" y="549318"/>
                    </a:lnTo>
                    <a:lnTo>
                      <a:pt x="0" y="549318"/>
                    </a:lnTo>
                    <a:close/>
                  </a:path>
                </a:pathLst>
              </a:custGeom>
              <a:blipFill>
                <a:blip r:embed="rId3">
                  <a:alphaModFix amt="0"/>
                </a:blip>
                <a:stretch>
                  <a:fillRect t="-522997" r="-914656" b="-739273"/>
                </a:stretch>
              </a:blipFill>
            </p:spPr>
            <p:txBody>
              <a:bodyPr/>
              <a:lstStyle/>
              <a:p>
                <a:endParaRPr lang="en-US"/>
              </a:p>
            </p:txBody>
          </p:sp>
          <p:sp>
            <p:nvSpPr>
              <p:cNvPr id="60" name="TextBox 60"/>
              <p:cNvSpPr txBox="1"/>
              <p:nvPr/>
            </p:nvSpPr>
            <p:spPr>
              <a:xfrm>
                <a:off x="0" y="0"/>
                <a:ext cx="1892503" cy="549318"/>
              </a:xfrm>
              <a:prstGeom prst="rect">
                <a:avLst/>
              </a:prstGeom>
            </p:spPr>
            <p:txBody>
              <a:bodyPr lIns="0" tIns="0" rIns="0" bIns="0" rtlCol="0" anchor="ctr"/>
              <a:lstStyle/>
              <a:p>
                <a:pPr algn="l">
                  <a:lnSpc>
                    <a:spcPts val="1280"/>
                  </a:lnSpc>
                </a:pPr>
                <a:r>
                  <a:rPr lang="en-US" sz="1200" b="1">
                    <a:solidFill>
                      <a:srgbClr val="FFFFFF"/>
                    </a:solidFill>
                    <a:latin typeface="Arial Bold"/>
                    <a:ea typeface="Arial Bold"/>
                    <a:cs typeface="Arial Bold"/>
                    <a:sym typeface="Arial Bold"/>
                  </a:rPr>
                  <a:t>My Friends</a:t>
                </a:r>
              </a:p>
            </p:txBody>
          </p:sp>
        </p:grpSp>
        <p:grpSp>
          <p:nvGrpSpPr>
            <p:cNvPr id="61" name="Group 61"/>
            <p:cNvGrpSpPr/>
            <p:nvPr/>
          </p:nvGrpSpPr>
          <p:grpSpPr>
            <a:xfrm>
              <a:off x="2913191" y="1948109"/>
              <a:ext cx="2318060" cy="382289"/>
              <a:chOff x="0" y="0"/>
              <a:chExt cx="2778550" cy="458232"/>
            </a:xfrm>
          </p:grpSpPr>
          <p:sp>
            <p:nvSpPr>
              <p:cNvPr id="62" name="Freeform 62"/>
              <p:cNvSpPr/>
              <p:nvPr/>
            </p:nvSpPr>
            <p:spPr>
              <a:xfrm>
                <a:off x="0" y="0"/>
                <a:ext cx="2778550" cy="458232"/>
              </a:xfrm>
              <a:custGeom>
                <a:avLst/>
                <a:gdLst/>
                <a:ahLst/>
                <a:cxnLst/>
                <a:rect l="l" t="t" r="r" b="b"/>
                <a:pathLst>
                  <a:path w="2778550" h="458232">
                    <a:moveTo>
                      <a:pt x="0" y="0"/>
                    </a:moveTo>
                    <a:lnTo>
                      <a:pt x="2778550" y="0"/>
                    </a:lnTo>
                    <a:lnTo>
                      <a:pt x="2778550" y="458232"/>
                    </a:lnTo>
                    <a:lnTo>
                      <a:pt x="0" y="458232"/>
                    </a:lnTo>
                    <a:close/>
                  </a:path>
                </a:pathLst>
              </a:custGeom>
              <a:blipFill>
                <a:blip r:embed="rId3">
                  <a:alphaModFix amt="0"/>
                </a:blip>
                <a:stretch>
                  <a:fillRect t="-626957" r="-591094" b="-906101"/>
                </a:stretch>
              </a:blipFill>
            </p:spPr>
            <p:txBody>
              <a:bodyPr/>
              <a:lstStyle/>
              <a:p>
                <a:endParaRPr lang="en-US"/>
              </a:p>
            </p:txBody>
          </p:sp>
          <p:sp>
            <p:nvSpPr>
              <p:cNvPr id="63" name="TextBox 63"/>
              <p:cNvSpPr txBox="1"/>
              <p:nvPr/>
            </p:nvSpPr>
            <p:spPr>
              <a:xfrm>
                <a:off x="0" y="0"/>
                <a:ext cx="2778550" cy="458232"/>
              </a:xfrm>
              <a:prstGeom prst="rect">
                <a:avLst/>
              </a:prstGeom>
            </p:spPr>
            <p:txBody>
              <a:bodyPr lIns="0" tIns="0" rIns="0" bIns="0" rtlCol="0" anchor="ctr"/>
              <a:lstStyle/>
              <a:p>
                <a:pPr algn="l">
                  <a:lnSpc>
                    <a:spcPts val="1280"/>
                  </a:lnSpc>
                </a:pPr>
                <a:r>
                  <a:rPr lang="en-US" sz="1200" b="1">
                    <a:solidFill>
                      <a:srgbClr val="FFFFFF"/>
                    </a:solidFill>
                    <a:latin typeface="Arial Bold"/>
                    <a:ea typeface="Arial Bold"/>
                    <a:cs typeface="Arial Bold"/>
                    <a:sym typeface="Arial Bold"/>
                  </a:rPr>
                  <a:t>Friends of Friends</a:t>
                </a:r>
              </a:p>
            </p:txBody>
          </p:sp>
        </p:grpSp>
        <p:grpSp>
          <p:nvGrpSpPr>
            <p:cNvPr id="64" name="Group 64"/>
            <p:cNvGrpSpPr/>
            <p:nvPr/>
          </p:nvGrpSpPr>
          <p:grpSpPr>
            <a:xfrm>
              <a:off x="377249" y="9549613"/>
              <a:ext cx="4854002" cy="1062208"/>
              <a:chOff x="0" y="0"/>
              <a:chExt cx="958815" cy="209819"/>
            </a:xfrm>
          </p:grpSpPr>
          <p:sp>
            <p:nvSpPr>
              <p:cNvPr id="65" name="Freeform 65"/>
              <p:cNvSpPr/>
              <p:nvPr/>
            </p:nvSpPr>
            <p:spPr>
              <a:xfrm>
                <a:off x="0" y="0"/>
                <a:ext cx="958815" cy="209819"/>
              </a:xfrm>
              <a:custGeom>
                <a:avLst/>
                <a:gdLst/>
                <a:ahLst/>
                <a:cxnLst/>
                <a:rect l="l" t="t" r="r" b="b"/>
                <a:pathLst>
                  <a:path w="958815" h="209819">
                    <a:moveTo>
                      <a:pt x="104909" y="0"/>
                    </a:moveTo>
                    <a:lnTo>
                      <a:pt x="853906" y="0"/>
                    </a:lnTo>
                    <a:cubicBezTo>
                      <a:pt x="881730" y="0"/>
                      <a:pt x="908414" y="11053"/>
                      <a:pt x="928088" y="30727"/>
                    </a:cubicBezTo>
                    <a:cubicBezTo>
                      <a:pt x="947762" y="50402"/>
                      <a:pt x="958815" y="77086"/>
                      <a:pt x="958815" y="104909"/>
                    </a:cubicBezTo>
                    <a:lnTo>
                      <a:pt x="958815" y="104909"/>
                    </a:lnTo>
                    <a:cubicBezTo>
                      <a:pt x="958815" y="132733"/>
                      <a:pt x="947762" y="159417"/>
                      <a:pt x="928088" y="179092"/>
                    </a:cubicBezTo>
                    <a:cubicBezTo>
                      <a:pt x="908414" y="198766"/>
                      <a:pt x="881730" y="209819"/>
                      <a:pt x="853906" y="209819"/>
                    </a:cubicBezTo>
                    <a:lnTo>
                      <a:pt x="104909" y="209819"/>
                    </a:lnTo>
                    <a:cubicBezTo>
                      <a:pt x="77086" y="209819"/>
                      <a:pt x="50402" y="198766"/>
                      <a:pt x="30727" y="179092"/>
                    </a:cubicBezTo>
                    <a:cubicBezTo>
                      <a:pt x="11053" y="159417"/>
                      <a:pt x="0" y="132733"/>
                      <a:pt x="0" y="104909"/>
                    </a:cubicBezTo>
                    <a:lnTo>
                      <a:pt x="0" y="104909"/>
                    </a:lnTo>
                    <a:cubicBezTo>
                      <a:pt x="0" y="77086"/>
                      <a:pt x="11053" y="50402"/>
                      <a:pt x="30727" y="30727"/>
                    </a:cubicBezTo>
                    <a:cubicBezTo>
                      <a:pt x="50402" y="11053"/>
                      <a:pt x="77086" y="0"/>
                      <a:pt x="104909" y="0"/>
                    </a:cubicBezTo>
                    <a:close/>
                  </a:path>
                </a:pathLst>
              </a:custGeom>
              <a:solidFill>
                <a:srgbClr val="2B2B2B"/>
              </a:solidFill>
            </p:spPr>
            <p:txBody>
              <a:bodyPr/>
              <a:lstStyle/>
              <a:p>
                <a:endParaRPr lang="en-US"/>
              </a:p>
            </p:txBody>
          </p:sp>
          <p:sp>
            <p:nvSpPr>
              <p:cNvPr id="66" name="TextBox 66"/>
              <p:cNvSpPr txBox="1"/>
              <p:nvPr/>
            </p:nvSpPr>
            <p:spPr>
              <a:xfrm>
                <a:off x="0" y="-47625"/>
                <a:ext cx="958815" cy="257444"/>
              </a:xfrm>
              <a:prstGeom prst="rect">
                <a:avLst/>
              </a:prstGeom>
            </p:spPr>
            <p:txBody>
              <a:bodyPr lIns="50800" tIns="50800" rIns="50800" bIns="50800" rtlCol="0" anchor="ctr"/>
              <a:lstStyle/>
              <a:p>
                <a:pPr algn="ctr">
                  <a:lnSpc>
                    <a:spcPts val="2340"/>
                  </a:lnSpc>
                </a:pPr>
                <a:endParaRPr/>
              </a:p>
            </p:txBody>
          </p:sp>
        </p:grpSp>
        <p:grpSp>
          <p:nvGrpSpPr>
            <p:cNvPr id="69" name="Group 69"/>
            <p:cNvGrpSpPr/>
            <p:nvPr/>
          </p:nvGrpSpPr>
          <p:grpSpPr>
            <a:xfrm>
              <a:off x="1998789" y="605946"/>
              <a:ext cx="1578858" cy="957431"/>
              <a:chOff x="0" y="0"/>
              <a:chExt cx="1578858" cy="957431"/>
            </a:xfrm>
          </p:grpSpPr>
          <p:sp>
            <p:nvSpPr>
              <p:cNvPr id="70" name="Freeform 70"/>
              <p:cNvSpPr/>
              <p:nvPr/>
            </p:nvSpPr>
            <p:spPr>
              <a:xfrm>
                <a:off x="0" y="0"/>
                <a:ext cx="1578858" cy="957431"/>
              </a:xfrm>
              <a:custGeom>
                <a:avLst/>
                <a:gdLst/>
                <a:ahLst/>
                <a:cxnLst/>
                <a:rect l="l" t="t" r="r" b="b"/>
                <a:pathLst>
                  <a:path w="1578858" h="957431">
                    <a:moveTo>
                      <a:pt x="0" y="0"/>
                    </a:moveTo>
                    <a:lnTo>
                      <a:pt x="1578858" y="0"/>
                    </a:lnTo>
                    <a:lnTo>
                      <a:pt x="1578858" y="957431"/>
                    </a:lnTo>
                    <a:lnTo>
                      <a:pt x="0" y="957431"/>
                    </a:lnTo>
                    <a:close/>
                  </a:path>
                </a:pathLst>
              </a:custGeom>
              <a:blipFill>
                <a:blip r:embed="rId3">
                  <a:alphaModFix amt="0"/>
                </a:blip>
                <a:stretch>
                  <a:fillRect t="-300064" r="-1116220" b="-381525"/>
                </a:stretch>
              </a:blipFill>
            </p:spPr>
            <p:txBody>
              <a:bodyPr/>
              <a:lstStyle/>
              <a:p>
                <a:endParaRPr lang="en-US"/>
              </a:p>
            </p:txBody>
          </p:sp>
          <p:sp>
            <p:nvSpPr>
              <p:cNvPr id="71" name="TextBox 71"/>
              <p:cNvSpPr txBox="1"/>
              <p:nvPr/>
            </p:nvSpPr>
            <p:spPr>
              <a:xfrm>
                <a:off x="0" y="19050"/>
                <a:ext cx="1578858" cy="938381"/>
              </a:xfrm>
              <a:prstGeom prst="rect">
                <a:avLst/>
              </a:prstGeom>
            </p:spPr>
            <p:txBody>
              <a:bodyPr lIns="0" tIns="0" rIns="0" bIns="0" rtlCol="0" anchor="ctr"/>
              <a:lstStyle/>
              <a:p>
                <a:pPr algn="l">
                  <a:lnSpc>
                    <a:spcPts val="2240"/>
                  </a:lnSpc>
                </a:pPr>
                <a:r>
                  <a:rPr lang="en-US" sz="2100" b="1">
                    <a:solidFill>
                      <a:srgbClr val="FFFFFF"/>
                    </a:solidFill>
                    <a:latin typeface="Arial Bold"/>
                    <a:ea typeface="Arial Bold"/>
                    <a:cs typeface="Arial Bold"/>
                    <a:sym typeface="Arial Bold"/>
                  </a:rPr>
                  <a:t>BeReal.</a:t>
                </a:r>
              </a:p>
            </p:txBody>
          </p:sp>
        </p:grpSp>
        <p:sp>
          <p:nvSpPr>
            <p:cNvPr id="72" name="Freeform 72"/>
            <p:cNvSpPr/>
            <p:nvPr/>
          </p:nvSpPr>
          <p:spPr>
            <a:xfrm>
              <a:off x="713612" y="9888564"/>
              <a:ext cx="256494" cy="238539"/>
            </a:xfrm>
            <a:custGeom>
              <a:avLst/>
              <a:gdLst/>
              <a:ahLst/>
              <a:cxnLst/>
              <a:rect l="l" t="t" r="r" b="b"/>
              <a:pathLst>
                <a:path w="256494" h="238539">
                  <a:moveTo>
                    <a:pt x="0" y="0"/>
                  </a:moveTo>
                  <a:lnTo>
                    <a:pt x="256494" y="0"/>
                  </a:lnTo>
                  <a:lnTo>
                    <a:pt x="256494" y="238539"/>
                  </a:lnTo>
                  <a:lnTo>
                    <a:pt x="0" y="238539"/>
                  </a:lnTo>
                  <a:lnTo>
                    <a:pt x="0" y="0"/>
                  </a:lnTo>
                  <a:close/>
                </a:path>
              </a:pathLst>
            </a:custGeom>
            <a:blipFill>
              <a:blip>
                <a:extLst>
                  <a:ext uri="{96DAC541-7B7A-43D3-8B79-37D633B846F1}">
                    <asvg:svgBlip xmlns:asvg="http://schemas.microsoft.com/office/drawing/2016/SVG/main" r:embed="rId8"/>
                  </a:ext>
                </a:extLst>
              </a:blip>
              <a:stretch>
                <a:fillRect/>
              </a:stretch>
            </a:blipFill>
          </p:spPr>
          <p:txBody>
            <a:bodyPr/>
            <a:lstStyle/>
            <a:p>
              <a:endParaRPr lang="en-US"/>
            </a:p>
          </p:txBody>
        </p:sp>
        <p:sp>
          <p:nvSpPr>
            <p:cNvPr id="73" name="Freeform 73"/>
            <p:cNvSpPr/>
            <p:nvPr/>
          </p:nvSpPr>
          <p:spPr>
            <a:xfrm>
              <a:off x="1734675" y="9888564"/>
              <a:ext cx="265043" cy="238539"/>
            </a:xfrm>
            <a:custGeom>
              <a:avLst/>
              <a:gdLst/>
              <a:ahLst/>
              <a:cxnLst/>
              <a:rect l="l" t="t" r="r" b="b"/>
              <a:pathLst>
                <a:path w="265043" h="238539">
                  <a:moveTo>
                    <a:pt x="0" y="0"/>
                  </a:moveTo>
                  <a:lnTo>
                    <a:pt x="265043" y="0"/>
                  </a:lnTo>
                  <a:lnTo>
                    <a:pt x="265043" y="238539"/>
                  </a:lnTo>
                  <a:lnTo>
                    <a:pt x="0" y="238539"/>
                  </a:lnTo>
                  <a:lnTo>
                    <a:pt x="0" y="0"/>
                  </a:lnTo>
                  <a:close/>
                </a:path>
              </a:pathLst>
            </a:custGeom>
            <a:blipFill>
              <a:blip>
                <a:extLst>
                  <a:ext uri="{96DAC541-7B7A-43D3-8B79-37D633B846F1}">
                    <asvg:svgBlip xmlns:asvg="http://schemas.microsoft.com/office/drawing/2016/SVG/main" r:embed="rId9"/>
                  </a:ext>
                </a:extLst>
              </a:blip>
              <a:stretch>
                <a:fillRect/>
              </a:stretch>
            </a:blipFill>
          </p:spPr>
          <p:txBody>
            <a:bodyPr/>
            <a:lstStyle/>
            <a:p>
              <a:endParaRPr lang="en-US"/>
            </a:p>
          </p:txBody>
        </p:sp>
        <p:sp>
          <p:nvSpPr>
            <p:cNvPr id="74" name="Freeform 74"/>
            <p:cNvSpPr/>
            <p:nvPr/>
          </p:nvSpPr>
          <p:spPr>
            <a:xfrm>
              <a:off x="3577647" y="9765887"/>
              <a:ext cx="371258" cy="373124"/>
            </a:xfrm>
            <a:custGeom>
              <a:avLst/>
              <a:gdLst/>
              <a:ahLst/>
              <a:cxnLst/>
              <a:rect l="l" t="t" r="r" b="b"/>
              <a:pathLst>
                <a:path w="371258" h="373124">
                  <a:moveTo>
                    <a:pt x="0" y="0"/>
                  </a:moveTo>
                  <a:lnTo>
                    <a:pt x="371258" y="0"/>
                  </a:lnTo>
                  <a:lnTo>
                    <a:pt x="371258" y="373124"/>
                  </a:lnTo>
                  <a:lnTo>
                    <a:pt x="0" y="373124"/>
                  </a:lnTo>
                  <a:lnTo>
                    <a:pt x="0" y="0"/>
                  </a:lnTo>
                  <a:close/>
                </a:path>
              </a:pathLst>
            </a:custGeom>
            <a:blipFill>
              <a:blip>
                <a:extLst>
                  <a:ext uri="{96DAC541-7B7A-43D3-8B79-37D633B846F1}">
                    <asvg:svgBlip xmlns:asvg="http://schemas.microsoft.com/office/drawing/2016/SVG/main" r:embed="rId10"/>
                  </a:ext>
                </a:extLst>
              </a:blip>
              <a:stretch>
                <a:fillRect/>
              </a:stretch>
            </a:blipFill>
          </p:spPr>
          <p:txBody>
            <a:bodyPr/>
            <a:lstStyle/>
            <a:p>
              <a:endParaRPr lang="en-US"/>
            </a:p>
          </p:txBody>
        </p:sp>
        <p:grpSp>
          <p:nvGrpSpPr>
            <p:cNvPr id="75" name="Group 75"/>
            <p:cNvGrpSpPr/>
            <p:nvPr/>
          </p:nvGrpSpPr>
          <p:grpSpPr>
            <a:xfrm>
              <a:off x="4535455" y="9735621"/>
              <a:ext cx="433657" cy="433657"/>
              <a:chOff x="0" y="0"/>
              <a:chExt cx="812800" cy="812800"/>
            </a:xfrm>
          </p:grpSpPr>
          <p:sp>
            <p:nvSpPr>
              <p:cNvPr id="76" name="Freeform 7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a:blip r:embed="rId11"/>
                <a:stretch>
                  <a:fillRect l="-155679" t="-15600" b="-54426"/>
                </a:stretch>
              </a:blipFill>
              <a:ln w="38100" cap="sq">
                <a:solidFill>
                  <a:srgbClr val="000000"/>
                </a:solidFill>
                <a:prstDash val="solid"/>
                <a:miter/>
              </a:ln>
            </p:spPr>
            <p:txBody>
              <a:bodyPr/>
              <a:lstStyle/>
              <a:p>
                <a:endParaRPr lang="en-US"/>
              </a:p>
            </p:txBody>
          </p:sp>
        </p:grpSp>
        <p:sp>
          <p:nvSpPr>
            <p:cNvPr id="77" name="Freeform 77"/>
            <p:cNvSpPr/>
            <p:nvPr/>
          </p:nvSpPr>
          <p:spPr>
            <a:xfrm>
              <a:off x="2464456" y="9747998"/>
              <a:ext cx="620166" cy="620166"/>
            </a:xfrm>
            <a:custGeom>
              <a:avLst/>
              <a:gdLst/>
              <a:ahLst/>
              <a:cxnLst/>
              <a:rect l="l" t="t" r="r" b="b"/>
              <a:pathLst>
                <a:path w="620166" h="620166">
                  <a:moveTo>
                    <a:pt x="0" y="0"/>
                  </a:moveTo>
                  <a:lnTo>
                    <a:pt x="620166" y="0"/>
                  </a:lnTo>
                  <a:lnTo>
                    <a:pt x="620166" y="620167"/>
                  </a:lnTo>
                  <a:lnTo>
                    <a:pt x="0" y="620167"/>
                  </a:lnTo>
                  <a:lnTo>
                    <a:pt x="0" y="0"/>
                  </a:lnTo>
                  <a:close/>
                </a:path>
              </a:pathLst>
            </a:custGeom>
            <a:blipFill>
              <a:blip>
                <a:extLst>
                  <a:ext uri="{96DAC541-7B7A-43D3-8B79-37D633B846F1}">
                    <asvg:svgBlip xmlns:asvg="http://schemas.microsoft.com/office/drawing/2016/SVG/main" r:embed="rId12"/>
                  </a:ext>
                </a:extLst>
              </a:blip>
              <a:stretch>
                <a:fillRect/>
              </a:stretch>
            </a:blipFill>
          </p:spPr>
          <p:txBody>
            <a:bodyPr/>
            <a:lstStyle/>
            <a:p>
              <a:endParaRPr lang="en-US"/>
            </a:p>
          </p:txBody>
        </p:sp>
        <p:sp>
          <p:nvSpPr>
            <p:cNvPr id="78" name="Freeform 78"/>
            <p:cNvSpPr/>
            <p:nvPr/>
          </p:nvSpPr>
          <p:spPr>
            <a:xfrm>
              <a:off x="2567835" y="9889618"/>
              <a:ext cx="413408" cy="336928"/>
            </a:xfrm>
            <a:custGeom>
              <a:avLst/>
              <a:gdLst/>
              <a:ahLst/>
              <a:cxnLst/>
              <a:rect l="l" t="t" r="r" b="b"/>
              <a:pathLst>
                <a:path w="413408" h="336928">
                  <a:moveTo>
                    <a:pt x="0" y="0"/>
                  </a:moveTo>
                  <a:lnTo>
                    <a:pt x="413408" y="0"/>
                  </a:lnTo>
                  <a:lnTo>
                    <a:pt x="413408" y="336927"/>
                  </a:lnTo>
                  <a:lnTo>
                    <a:pt x="0" y="336927"/>
                  </a:lnTo>
                  <a:lnTo>
                    <a:pt x="0" y="0"/>
                  </a:lnTo>
                  <a:close/>
                </a:path>
              </a:pathLst>
            </a:custGeom>
            <a:blipFill>
              <a:blip>
                <a:extLst>
                  <a:ext uri="{96DAC541-7B7A-43D3-8B79-37D633B846F1}">
                    <asvg:svgBlip xmlns:asvg="http://schemas.microsoft.com/office/drawing/2016/SVG/main" r:embed="rId13"/>
                  </a:ext>
                </a:extLst>
              </a:blip>
              <a:stretch>
                <a:fillRect/>
              </a:stretch>
            </a:blipFill>
          </p:spPr>
          <p:txBody>
            <a:bodyPr/>
            <a:lstStyle/>
            <a:p>
              <a:endParaRPr lang="en-US"/>
            </a:p>
          </p:txBody>
        </p:sp>
        <p:sp>
          <p:nvSpPr>
            <p:cNvPr id="79" name="TextBox 79"/>
            <p:cNvSpPr txBox="1"/>
            <p:nvPr/>
          </p:nvSpPr>
          <p:spPr>
            <a:xfrm>
              <a:off x="455305" y="10265151"/>
              <a:ext cx="773108" cy="186978"/>
            </a:xfrm>
            <a:prstGeom prst="rect">
              <a:avLst/>
            </a:prstGeom>
          </p:spPr>
          <p:txBody>
            <a:bodyPr lIns="0" tIns="0" rIns="0" bIns="0" rtlCol="0" anchor="t">
              <a:spAutoFit/>
            </a:bodyPr>
            <a:lstStyle/>
            <a:p>
              <a:pPr algn="ctr">
                <a:lnSpc>
                  <a:spcPts val="1020"/>
                </a:lnSpc>
                <a:spcBef>
                  <a:spcPct val="0"/>
                </a:spcBef>
              </a:pPr>
              <a:r>
                <a:rPr lang="en-US" sz="850" b="1">
                  <a:solidFill>
                    <a:srgbClr val="FFFFFF"/>
                  </a:solidFill>
                  <a:latin typeface="Calibri (MS) Bold"/>
                  <a:ea typeface="Calibri (MS) Bold"/>
                  <a:cs typeface="Calibri (MS) Bold"/>
                  <a:sym typeface="Calibri (MS) Bold"/>
                </a:rPr>
                <a:t>Home</a:t>
              </a:r>
            </a:p>
          </p:txBody>
        </p:sp>
        <p:sp>
          <p:nvSpPr>
            <p:cNvPr id="80" name="TextBox 80"/>
            <p:cNvSpPr txBox="1"/>
            <p:nvPr/>
          </p:nvSpPr>
          <p:spPr>
            <a:xfrm>
              <a:off x="1480643" y="10265151"/>
              <a:ext cx="773108" cy="186978"/>
            </a:xfrm>
            <a:prstGeom prst="rect">
              <a:avLst/>
            </a:prstGeom>
          </p:spPr>
          <p:txBody>
            <a:bodyPr lIns="0" tIns="0" rIns="0" bIns="0" rtlCol="0" anchor="t">
              <a:spAutoFit/>
            </a:bodyPr>
            <a:lstStyle/>
            <a:p>
              <a:pPr algn="ctr">
                <a:lnSpc>
                  <a:spcPts val="1020"/>
                </a:lnSpc>
                <a:spcBef>
                  <a:spcPct val="0"/>
                </a:spcBef>
              </a:pPr>
              <a:r>
                <a:rPr lang="en-US" sz="850" b="1">
                  <a:solidFill>
                    <a:srgbClr val="FFFFFF"/>
                  </a:solidFill>
                  <a:latin typeface="Calibri (MS) Bold"/>
                  <a:ea typeface="Calibri (MS) Bold"/>
                  <a:cs typeface="Calibri (MS) Bold"/>
                  <a:sym typeface="Calibri (MS) Bold"/>
                </a:rPr>
                <a:t>Chat</a:t>
              </a:r>
            </a:p>
          </p:txBody>
        </p:sp>
        <p:sp>
          <p:nvSpPr>
            <p:cNvPr id="81" name="TextBox 81"/>
            <p:cNvSpPr txBox="1"/>
            <p:nvPr/>
          </p:nvSpPr>
          <p:spPr>
            <a:xfrm>
              <a:off x="3376722" y="10265151"/>
              <a:ext cx="773108" cy="186978"/>
            </a:xfrm>
            <a:prstGeom prst="rect">
              <a:avLst/>
            </a:prstGeom>
          </p:spPr>
          <p:txBody>
            <a:bodyPr lIns="0" tIns="0" rIns="0" bIns="0" rtlCol="0" anchor="t">
              <a:spAutoFit/>
            </a:bodyPr>
            <a:lstStyle/>
            <a:p>
              <a:pPr algn="ctr">
                <a:lnSpc>
                  <a:spcPts val="1020"/>
                </a:lnSpc>
                <a:spcBef>
                  <a:spcPct val="0"/>
                </a:spcBef>
              </a:pPr>
              <a:r>
                <a:rPr lang="en-US" sz="850" b="1">
                  <a:solidFill>
                    <a:srgbClr val="FFFFFF"/>
                  </a:solidFill>
                  <a:latin typeface="Calibri (MS) Bold"/>
                  <a:ea typeface="Calibri (MS) Bold"/>
                  <a:cs typeface="Calibri (MS) Bold"/>
                  <a:sym typeface="Calibri (MS) Bold"/>
                </a:rPr>
                <a:t>Memories</a:t>
              </a:r>
            </a:p>
          </p:txBody>
        </p:sp>
        <p:sp>
          <p:nvSpPr>
            <p:cNvPr id="82" name="TextBox 82"/>
            <p:cNvSpPr txBox="1"/>
            <p:nvPr/>
          </p:nvSpPr>
          <p:spPr>
            <a:xfrm>
              <a:off x="4365730" y="10265151"/>
              <a:ext cx="773108" cy="186978"/>
            </a:xfrm>
            <a:prstGeom prst="rect">
              <a:avLst/>
            </a:prstGeom>
          </p:spPr>
          <p:txBody>
            <a:bodyPr lIns="0" tIns="0" rIns="0" bIns="0" rtlCol="0" anchor="t">
              <a:spAutoFit/>
            </a:bodyPr>
            <a:lstStyle/>
            <a:p>
              <a:pPr algn="ctr">
                <a:lnSpc>
                  <a:spcPts val="1020"/>
                </a:lnSpc>
                <a:spcBef>
                  <a:spcPct val="0"/>
                </a:spcBef>
              </a:pPr>
              <a:r>
                <a:rPr lang="en-US" sz="850" b="1">
                  <a:solidFill>
                    <a:srgbClr val="FFFFFF"/>
                  </a:solidFill>
                  <a:latin typeface="Calibri (MS) Bold"/>
                  <a:ea typeface="Calibri (MS) Bold"/>
                  <a:cs typeface="Calibri (MS) Bold"/>
                  <a:sym typeface="Calibri (MS) Bold"/>
                </a:rPr>
                <a:t>Profile</a:t>
              </a:r>
            </a:p>
          </p:txBody>
        </p:sp>
        <p:grpSp>
          <p:nvGrpSpPr>
            <p:cNvPr id="95" name="Group 95"/>
            <p:cNvGrpSpPr/>
            <p:nvPr/>
          </p:nvGrpSpPr>
          <p:grpSpPr>
            <a:xfrm>
              <a:off x="583567" y="2479427"/>
              <a:ext cx="1382216" cy="533744"/>
              <a:chOff x="0" y="0"/>
              <a:chExt cx="313847" cy="121192"/>
            </a:xfrm>
          </p:grpSpPr>
          <p:sp>
            <p:nvSpPr>
              <p:cNvPr id="96" name="Freeform 96"/>
              <p:cNvSpPr/>
              <p:nvPr/>
            </p:nvSpPr>
            <p:spPr>
              <a:xfrm>
                <a:off x="0" y="0"/>
                <a:ext cx="313847" cy="121192"/>
              </a:xfrm>
              <a:custGeom>
                <a:avLst/>
                <a:gdLst/>
                <a:ahLst/>
                <a:cxnLst/>
                <a:rect l="l" t="t" r="r" b="b"/>
                <a:pathLst>
                  <a:path w="313847" h="121192">
                    <a:moveTo>
                      <a:pt x="60596" y="0"/>
                    </a:moveTo>
                    <a:lnTo>
                      <a:pt x="253251" y="0"/>
                    </a:lnTo>
                    <a:cubicBezTo>
                      <a:pt x="286717" y="0"/>
                      <a:pt x="313847" y="27130"/>
                      <a:pt x="313847" y="60596"/>
                    </a:cubicBezTo>
                    <a:lnTo>
                      <a:pt x="313847" y="60596"/>
                    </a:lnTo>
                    <a:cubicBezTo>
                      <a:pt x="313847" y="76667"/>
                      <a:pt x="307463" y="92080"/>
                      <a:pt x="296099" y="103444"/>
                    </a:cubicBezTo>
                    <a:cubicBezTo>
                      <a:pt x="284735" y="114808"/>
                      <a:pt x="269322" y="121192"/>
                      <a:pt x="253251" y="121192"/>
                    </a:cubicBezTo>
                    <a:lnTo>
                      <a:pt x="60596" y="121192"/>
                    </a:lnTo>
                    <a:cubicBezTo>
                      <a:pt x="44525" y="121192"/>
                      <a:pt x="29112" y="114808"/>
                      <a:pt x="17748" y="103444"/>
                    </a:cubicBezTo>
                    <a:cubicBezTo>
                      <a:pt x="6384" y="92080"/>
                      <a:pt x="0" y="76667"/>
                      <a:pt x="0" y="60596"/>
                    </a:cubicBezTo>
                    <a:lnTo>
                      <a:pt x="0" y="60596"/>
                    </a:lnTo>
                    <a:cubicBezTo>
                      <a:pt x="0" y="44525"/>
                      <a:pt x="6384" y="29112"/>
                      <a:pt x="17748" y="17748"/>
                    </a:cubicBezTo>
                    <a:cubicBezTo>
                      <a:pt x="29112" y="6384"/>
                      <a:pt x="44525" y="0"/>
                      <a:pt x="60596" y="0"/>
                    </a:cubicBezTo>
                    <a:close/>
                  </a:path>
                </a:pathLst>
              </a:custGeom>
              <a:solidFill>
                <a:srgbClr val="363535"/>
              </a:solidFill>
            </p:spPr>
            <p:txBody>
              <a:bodyPr/>
              <a:lstStyle/>
              <a:p>
                <a:endParaRPr lang="en-US"/>
              </a:p>
            </p:txBody>
          </p:sp>
          <p:sp>
            <p:nvSpPr>
              <p:cNvPr id="97" name="TextBox 97"/>
              <p:cNvSpPr txBox="1"/>
              <p:nvPr/>
            </p:nvSpPr>
            <p:spPr>
              <a:xfrm>
                <a:off x="0" y="-47625"/>
                <a:ext cx="313847" cy="168817"/>
              </a:xfrm>
              <a:prstGeom prst="rect">
                <a:avLst/>
              </a:prstGeom>
            </p:spPr>
            <p:txBody>
              <a:bodyPr lIns="50800" tIns="50800" rIns="50800" bIns="50800" rtlCol="0" anchor="ctr"/>
              <a:lstStyle/>
              <a:p>
                <a:pPr algn="ctr">
                  <a:lnSpc>
                    <a:spcPts val="2340"/>
                  </a:lnSpc>
                </a:pPr>
                <a:endParaRPr/>
              </a:p>
            </p:txBody>
          </p:sp>
        </p:grpSp>
        <p:grpSp>
          <p:nvGrpSpPr>
            <p:cNvPr id="98" name="Group 98"/>
            <p:cNvGrpSpPr/>
            <p:nvPr/>
          </p:nvGrpSpPr>
          <p:grpSpPr>
            <a:xfrm>
              <a:off x="871022" y="2472874"/>
              <a:ext cx="890762" cy="546849"/>
              <a:chOff x="0" y="0"/>
              <a:chExt cx="1559557" cy="957431"/>
            </a:xfrm>
          </p:grpSpPr>
          <p:sp>
            <p:nvSpPr>
              <p:cNvPr id="99" name="Freeform 99"/>
              <p:cNvSpPr/>
              <p:nvPr/>
            </p:nvSpPr>
            <p:spPr>
              <a:xfrm>
                <a:off x="0" y="0"/>
                <a:ext cx="1559557" cy="957431"/>
              </a:xfrm>
              <a:custGeom>
                <a:avLst/>
                <a:gdLst/>
                <a:ahLst/>
                <a:cxnLst/>
                <a:rect l="l" t="t" r="r" b="b"/>
                <a:pathLst>
                  <a:path w="1559557" h="957431">
                    <a:moveTo>
                      <a:pt x="0" y="0"/>
                    </a:moveTo>
                    <a:lnTo>
                      <a:pt x="1559557" y="0"/>
                    </a:lnTo>
                    <a:lnTo>
                      <a:pt x="1559557" y="957431"/>
                    </a:lnTo>
                    <a:lnTo>
                      <a:pt x="0" y="957431"/>
                    </a:lnTo>
                    <a:close/>
                  </a:path>
                </a:pathLst>
              </a:custGeom>
              <a:blipFill>
                <a:blip r:embed="rId3">
                  <a:alphaModFix amt="0"/>
                </a:blip>
                <a:stretch>
                  <a:fillRect t="-300064" r="-1131272" b="-381525"/>
                </a:stretch>
              </a:blipFill>
            </p:spPr>
            <p:txBody>
              <a:bodyPr/>
              <a:lstStyle/>
              <a:p>
                <a:endParaRPr lang="en-US"/>
              </a:p>
            </p:txBody>
          </p:sp>
          <p:sp>
            <p:nvSpPr>
              <p:cNvPr id="100" name="TextBox 100"/>
              <p:cNvSpPr txBox="1"/>
              <p:nvPr/>
            </p:nvSpPr>
            <p:spPr>
              <a:xfrm>
                <a:off x="0" y="0"/>
                <a:ext cx="1559557" cy="957431"/>
              </a:xfrm>
              <a:prstGeom prst="rect">
                <a:avLst/>
              </a:prstGeom>
            </p:spPr>
            <p:txBody>
              <a:bodyPr lIns="0" tIns="0" rIns="0" bIns="0" rtlCol="0" anchor="ctr"/>
              <a:lstStyle/>
              <a:p>
                <a:pPr algn="ctr">
                  <a:lnSpc>
                    <a:spcPts val="1280"/>
                  </a:lnSpc>
                </a:pPr>
                <a:r>
                  <a:rPr lang="en-US" sz="1200" b="1">
                    <a:solidFill>
                      <a:srgbClr val="FFFFFF"/>
                    </a:solidFill>
                    <a:latin typeface="Arial Bold"/>
                    <a:ea typeface="Arial Bold"/>
                    <a:cs typeface="Arial Bold"/>
                    <a:sym typeface="Arial Bold"/>
                  </a:rPr>
                  <a:t>Today</a:t>
                </a:r>
              </a:p>
            </p:txBody>
          </p:sp>
        </p:grpSp>
        <p:grpSp>
          <p:nvGrpSpPr>
            <p:cNvPr id="101" name="Group 101"/>
            <p:cNvGrpSpPr/>
            <p:nvPr/>
          </p:nvGrpSpPr>
          <p:grpSpPr>
            <a:xfrm>
              <a:off x="2097110" y="2472874"/>
              <a:ext cx="1382216" cy="533744"/>
              <a:chOff x="0" y="0"/>
              <a:chExt cx="313847" cy="121192"/>
            </a:xfrm>
          </p:grpSpPr>
          <p:sp>
            <p:nvSpPr>
              <p:cNvPr id="102" name="Freeform 102"/>
              <p:cNvSpPr/>
              <p:nvPr/>
            </p:nvSpPr>
            <p:spPr>
              <a:xfrm>
                <a:off x="0" y="0"/>
                <a:ext cx="313847" cy="121192"/>
              </a:xfrm>
              <a:custGeom>
                <a:avLst/>
                <a:gdLst/>
                <a:ahLst/>
                <a:cxnLst/>
                <a:rect l="l" t="t" r="r" b="b"/>
                <a:pathLst>
                  <a:path w="313847" h="121192">
                    <a:moveTo>
                      <a:pt x="60596" y="0"/>
                    </a:moveTo>
                    <a:lnTo>
                      <a:pt x="253251" y="0"/>
                    </a:lnTo>
                    <a:cubicBezTo>
                      <a:pt x="286717" y="0"/>
                      <a:pt x="313847" y="27130"/>
                      <a:pt x="313847" y="60596"/>
                    </a:cubicBezTo>
                    <a:lnTo>
                      <a:pt x="313847" y="60596"/>
                    </a:lnTo>
                    <a:cubicBezTo>
                      <a:pt x="313847" y="76667"/>
                      <a:pt x="307463" y="92080"/>
                      <a:pt x="296099" y="103444"/>
                    </a:cubicBezTo>
                    <a:cubicBezTo>
                      <a:pt x="284735" y="114808"/>
                      <a:pt x="269322" y="121192"/>
                      <a:pt x="253251" y="121192"/>
                    </a:cubicBezTo>
                    <a:lnTo>
                      <a:pt x="60596" y="121192"/>
                    </a:lnTo>
                    <a:cubicBezTo>
                      <a:pt x="44525" y="121192"/>
                      <a:pt x="29112" y="114808"/>
                      <a:pt x="17748" y="103444"/>
                    </a:cubicBezTo>
                    <a:cubicBezTo>
                      <a:pt x="6384" y="92080"/>
                      <a:pt x="0" y="76667"/>
                      <a:pt x="0" y="60596"/>
                    </a:cubicBezTo>
                    <a:lnTo>
                      <a:pt x="0" y="60596"/>
                    </a:lnTo>
                    <a:cubicBezTo>
                      <a:pt x="0" y="44525"/>
                      <a:pt x="6384" y="29112"/>
                      <a:pt x="17748" y="17748"/>
                    </a:cubicBezTo>
                    <a:cubicBezTo>
                      <a:pt x="29112" y="6384"/>
                      <a:pt x="44525" y="0"/>
                      <a:pt x="60596" y="0"/>
                    </a:cubicBezTo>
                    <a:close/>
                  </a:path>
                </a:pathLst>
              </a:custGeom>
              <a:solidFill>
                <a:srgbClr val="FFFFFF"/>
              </a:solidFill>
            </p:spPr>
            <p:txBody>
              <a:bodyPr/>
              <a:lstStyle/>
              <a:p>
                <a:endParaRPr lang="en-US"/>
              </a:p>
            </p:txBody>
          </p:sp>
          <p:sp>
            <p:nvSpPr>
              <p:cNvPr id="103" name="TextBox 103"/>
              <p:cNvSpPr txBox="1"/>
              <p:nvPr/>
            </p:nvSpPr>
            <p:spPr>
              <a:xfrm>
                <a:off x="0" y="-47625"/>
                <a:ext cx="313847" cy="168817"/>
              </a:xfrm>
              <a:prstGeom prst="rect">
                <a:avLst/>
              </a:prstGeom>
            </p:spPr>
            <p:txBody>
              <a:bodyPr lIns="50800" tIns="50800" rIns="50800" bIns="50800" rtlCol="0" anchor="ctr"/>
              <a:lstStyle/>
              <a:p>
                <a:pPr algn="ctr">
                  <a:lnSpc>
                    <a:spcPts val="2340"/>
                  </a:lnSpc>
                </a:pPr>
                <a:endParaRPr/>
              </a:p>
            </p:txBody>
          </p:sp>
        </p:grpSp>
        <p:grpSp>
          <p:nvGrpSpPr>
            <p:cNvPr id="104" name="Group 104"/>
            <p:cNvGrpSpPr/>
            <p:nvPr/>
          </p:nvGrpSpPr>
          <p:grpSpPr>
            <a:xfrm>
              <a:off x="2385620" y="2472874"/>
              <a:ext cx="809349" cy="546849"/>
              <a:chOff x="0" y="0"/>
              <a:chExt cx="1417019" cy="957431"/>
            </a:xfrm>
          </p:grpSpPr>
          <p:sp>
            <p:nvSpPr>
              <p:cNvPr id="105" name="Freeform 105"/>
              <p:cNvSpPr/>
              <p:nvPr/>
            </p:nvSpPr>
            <p:spPr>
              <a:xfrm>
                <a:off x="0" y="0"/>
                <a:ext cx="1417019" cy="957431"/>
              </a:xfrm>
              <a:custGeom>
                <a:avLst/>
                <a:gdLst/>
                <a:ahLst/>
                <a:cxnLst/>
                <a:rect l="l" t="t" r="r" b="b"/>
                <a:pathLst>
                  <a:path w="1417019" h="957431">
                    <a:moveTo>
                      <a:pt x="0" y="0"/>
                    </a:moveTo>
                    <a:lnTo>
                      <a:pt x="1417019" y="0"/>
                    </a:lnTo>
                    <a:lnTo>
                      <a:pt x="1417019" y="957431"/>
                    </a:lnTo>
                    <a:lnTo>
                      <a:pt x="0" y="957431"/>
                    </a:lnTo>
                    <a:close/>
                  </a:path>
                </a:pathLst>
              </a:custGeom>
              <a:blipFill>
                <a:blip r:embed="rId3">
                  <a:alphaModFix amt="0"/>
                </a:blip>
                <a:stretch>
                  <a:fillRect t="-300064" r="-1255126" b="-381525"/>
                </a:stretch>
              </a:blipFill>
            </p:spPr>
            <p:txBody>
              <a:bodyPr/>
              <a:lstStyle/>
              <a:p>
                <a:endParaRPr lang="en-US"/>
              </a:p>
            </p:txBody>
          </p:sp>
          <p:sp>
            <p:nvSpPr>
              <p:cNvPr id="106" name="TextBox 106"/>
              <p:cNvSpPr txBox="1"/>
              <p:nvPr/>
            </p:nvSpPr>
            <p:spPr>
              <a:xfrm>
                <a:off x="0" y="0"/>
                <a:ext cx="1417019" cy="957431"/>
              </a:xfrm>
              <a:prstGeom prst="rect">
                <a:avLst/>
              </a:prstGeom>
            </p:spPr>
            <p:txBody>
              <a:bodyPr lIns="0" tIns="0" rIns="0" bIns="0" rtlCol="0" anchor="ctr"/>
              <a:lstStyle/>
              <a:p>
                <a:pPr algn="ctr">
                  <a:lnSpc>
                    <a:spcPts val="1280"/>
                  </a:lnSpc>
                </a:pPr>
                <a:r>
                  <a:rPr lang="en-US" sz="1200" b="1">
                    <a:solidFill>
                      <a:srgbClr val="000000"/>
                    </a:solidFill>
                    <a:latin typeface="Arial Bold"/>
                    <a:ea typeface="Arial Bold"/>
                    <a:cs typeface="Arial Bold"/>
                    <a:sym typeface="Arial Bold"/>
                  </a:rPr>
                  <a:t>Board</a:t>
                </a:r>
              </a:p>
            </p:txBody>
          </p:sp>
        </p:grpSp>
        <p:grpSp>
          <p:nvGrpSpPr>
            <p:cNvPr id="107" name="Group 107"/>
            <p:cNvGrpSpPr/>
            <p:nvPr/>
          </p:nvGrpSpPr>
          <p:grpSpPr>
            <a:xfrm>
              <a:off x="3610652" y="2466321"/>
              <a:ext cx="1382216" cy="533744"/>
              <a:chOff x="0" y="0"/>
              <a:chExt cx="313847" cy="121192"/>
            </a:xfrm>
          </p:grpSpPr>
          <p:sp>
            <p:nvSpPr>
              <p:cNvPr id="108" name="Freeform 108"/>
              <p:cNvSpPr/>
              <p:nvPr/>
            </p:nvSpPr>
            <p:spPr>
              <a:xfrm>
                <a:off x="0" y="0"/>
                <a:ext cx="313847" cy="121192"/>
              </a:xfrm>
              <a:custGeom>
                <a:avLst/>
                <a:gdLst/>
                <a:ahLst/>
                <a:cxnLst/>
                <a:rect l="l" t="t" r="r" b="b"/>
                <a:pathLst>
                  <a:path w="313847" h="121192">
                    <a:moveTo>
                      <a:pt x="60596" y="0"/>
                    </a:moveTo>
                    <a:lnTo>
                      <a:pt x="253251" y="0"/>
                    </a:lnTo>
                    <a:cubicBezTo>
                      <a:pt x="286717" y="0"/>
                      <a:pt x="313847" y="27130"/>
                      <a:pt x="313847" y="60596"/>
                    </a:cubicBezTo>
                    <a:lnTo>
                      <a:pt x="313847" y="60596"/>
                    </a:lnTo>
                    <a:cubicBezTo>
                      <a:pt x="313847" y="76667"/>
                      <a:pt x="307463" y="92080"/>
                      <a:pt x="296099" y="103444"/>
                    </a:cubicBezTo>
                    <a:cubicBezTo>
                      <a:pt x="284735" y="114808"/>
                      <a:pt x="269322" y="121192"/>
                      <a:pt x="253251" y="121192"/>
                    </a:cubicBezTo>
                    <a:lnTo>
                      <a:pt x="60596" y="121192"/>
                    </a:lnTo>
                    <a:cubicBezTo>
                      <a:pt x="44525" y="121192"/>
                      <a:pt x="29112" y="114808"/>
                      <a:pt x="17748" y="103444"/>
                    </a:cubicBezTo>
                    <a:cubicBezTo>
                      <a:pt x="6384" y="92080"/>
                      <a:pt x="0" y="76667"/>
                      <a:pt x="0" y="60596"/>
                    </a:cubicBezTo>
                    <a:lnTo>
                      <a:pt x="0" y="60596"/>
                    </a:lnTo>
                    <a:cubicBezTo>
                      <a:pt x="0" y="44525"/>
                      <a:pt x="6384" y="29112"/>
                      <a:pt x="17748" y="17748"/>
                    </a:cubicBezTo>
                    <a:cubicBezTo>
                      <a:pt x="29112" y="6384"/>
                      <a:pt x="44525" y="0"/>
                      <a:pt x="60596" y="0"/>
                    </a:cubicBezTo>
                    <a:close/>
                  </a:path>
                </a:pathLst>
              </a:custGeom>
              <a:solidFill>
                <a:srgbClr val="363535"/>
              </a:solidFill>
            </p:spPr>
            <p:txBody>
              <a:bodyPr/>
              <a:lstStyle/>
              <a:p>
                <a:endParaRPr lang="en-US"/>
              </a:p>
            </p:txBody>
          </p:sp>
          <p:sp>
            <p:nvSpPr>
              <p:cNvPr id="109" name="TextBox 109"/>
              <p:cNvSpPr txBox="1"/>
              <p:nvPr/>
            </p:nvSpPr>
            <p:spPr>
              <a:xfrm>
                <a:off x="0" y="-47625"/>
                <a:ext cx="313847" cy="168817"/>
              </a:xfrm>
              <a:prstGeom prst="rect">
                <a:avLst/>
              </a:prstGeom>
            </p:spPr>
            <p:txBody>
              <a:bodyPr lIns="50800" tIns="50800" rIns="50800" bIns="50800" rtlCol="0" anchor="ctr"/>
              <a:lstStyle/>
              <a:p>
                <a:pPr algn="ctr">
                  <a:lnSpc>
                    <a:spcPts val="2340"/>
                  </a:lnSpc>
                </a:pPr>
                <a:endParaRPr/>
              </a:p>
            </p:txBody>
          </p:sp>
        </p:grpSp>
        <p:grpSp>
          <p:nvGrpSpPr>
            <p:cNvPr id="110" name="Group 110"/>
            <p:cNvGrpSpPr/>
            <p:nvPr/>
          </p:nvGrpSpPr>
          <p:grpSpPr>
            <a:xfrm>
              <a:off x="3846006" y="2466321"/>
              <a:ext cx="911509" cy="546849"/>
              <a:chOff x="0" y="0"/>
              <a:chExt cx="1595882" cy="957431"/>
            </a:xfrm>
          </p:grpSpPr>
          <p:sp>
            <p:nvSpPr>
              <p:cNvPr id="111" name="Freeform 111"/>
              <p:cNvSpPr/>
              <p:nvPr/>
            </p:nvSpPr>
            <p:spPr>
              <a:xfrm>
                <a:off x="0" y="0"/>
                <a:ext cx="1595882" cy="957431"/>
              </a:xfrm>
              <a:custGeom>
                <a:avLst/>
                <a:gdLst/>
                <a:ahLst/>
                <a:cxnLst/>
                <a:rect l="l" t="t" r="r" b="b"/>
                <a:pathLst>
                  <a:path w="1595882" h="957431">
                    <a:moveTo>
                      <a:pt x="0" y="0"/>
                    </a:moveTo>
                    <a:lnTo>
                      <a:pt x="1595882" y="0"/>
                    </a:lnTo>
                    <a:lnTo>
                      <a:pt x="1595882" y="957431"/>
                    </a:lnTo>
                    <a:lnTo>
                      <a:pt x="0" y="957431"/>
                    </a:lnTo>
                    <a:close/>
                  </a:path>
                </a:pathLst>
              </a:custGeom>
              <a:blipFill>
                <a:blip r:embed="rId3">
                  <a:alphaModFix amt="0"/>
                </a:blip>
                <a:stretch>
                  <a:fillRect t="-300064" r="-1103247" b="-381525"/>
                </a:stretch>
              </a:blipFill>
            </p:spPr>
            <p:txBody>
              <a:bodyPr/>
              <a:lstStyle/>
              <a:p>
                <a:endParaRPr lang="en-US"/>
              </a:p>
            </p:txBody>
          </p:sp>
          <p:sp>
            <p:nvSpPr>
              <p:cNvPr id="112" name="TextBox 112"/>
              <p:cNvSpPr txBox="1"/>
              <p:nvPr/>
            </p:nvSpPr>
            <p:spPr>
              <a:xfrm>
                <a:off x="0" y="0"/>
                <a:ext cx="1595882" cy="957431"/>
              </a:xfrm>
              <a:prstGeom prst="rect">
                <a:avLst/>
              </a:prstGeom>
            </p:spPr>
            <p:txBody>
              <a:bodyPr lIns="0" tIns="0" rIns="0" bIns="0" rtlCol="0" anchor="ctr"/>
              <a:lstStyle/>
              <a:p>
                <a:pPr algn="ctr">
                  <a:lnSpc>
                    <a:spcPts val="1280"/>
                  </a:lnSpc>
                </a:pPr>
                <a:r>
                  <a:rPr lang="en-US" sz="1200" b="1">
                    <a:solidFill>
                      <a:srgbClr val="FFFFFF"/>
                    </a:solidFill>
                    <a:latin typeface="Arial Bold"/>
                    <a:ea typeface="Arial Bold"/>
                    <a:cs typeface="Arial Bold"/>
                    <a:sym typeface="Arial Bold"/>
                  </a:rPr>
                  <a:t>Passport</a:t>
                </a:r>
              </a:p>
            </p:txBody>
          </p:sp>
        </p:grpSp>
      </p:grpSp>
      <p:pic>
        <p:nvPicPr>
          <p:cNvPr id="114" name="Picture 113">
            <a:extLst>
              <a:ext uri="{FF2B5EF4-FFF2-40B4-BE49-F238E27FC236}">
                <a16:creationId xmlns:a16="http://schemas.microsoft.com/office/drawing/2014/main" id="{13DF43AA-1C47-6C45-83FF-D79C7C152697}"/>
              </a:ext>
            </a:extLst>
          </p:cNvPr>
          <p:cNvPicPr>
            <a:picLocks noChangeAspect="1"/>
          </p:cNvPicPr>
          <p:nvPr/>
        </p:nvPicPr>
        <p:blipFill>
          <a:blip r:embed="rId14">
            <a:extLst>
              <a:ext uri="{28A0092B-C50C-407E-A947-70E740481C1C}">
                <a14:useLocalDpi xmlns:a14="http://schemas.microsoft.com/office/drawing/2010/main" val="0"/>
              </a:ext>
            </a:extLst>
          </a:blip>
          <a:srcRect l="90" t="90" b="1"/>
          <a:stretch>
            <a:fillRect/>
          </a:stretch>
        </p:blipFill>
        <p:spPr>
          <a:xfrm>
            <a:off x="13339174" y="3309063"/>
            <a:ext cx="3657600" cy="4584700"/>
          </a:xfrm>
          <a:prstGeom prst="rect">
            <a:avLst/>
          </a:prstGeom>
        </p:spPr>
      </p:pic>
      <p:sp>
        <p:nvSpPr>
          <p:cNvPr id="53" name="TextBox 52">
            <a:extLst>
              <a:ext uri="{FF2B5EF4-FFF2-40B4-BE49-F238E27FC236}">
                <a16:creationId xmlns:a16="http://schemas.microsoft.com/office/drawing/2014/main" id="{A955C53D-7D88-6D64-9E17-69CA50C8543E}"/>
              </a:ext>
            </a:extLst>
          </p:cNvPr>
          <p:cNvSpPr txBox="1"/>
          <p:nvPr/>
        </p:nvSpPr>
        <p:spPr>
          <a:xfrm>
            <a:off x="12641645" y="9253150"/>
            <a:ext cx="5497590" cy="954107"/>
          </a:xfrm>
          <a:prstGeom prst="rect">
            <a:avLst/>
          </a:prstGeom>
          <a:noFill/>
        </p:spPr>
        <p:txBody>
          <a:bodyPr wrap="square">
            <a:spAutoFit/>
          </a:bodyPr>
          <a:lstStyle/>
          <a:p>
            <a:pPr algn="ctr"/>
            <a:r>
              <a:rPr lang="en-US" sz="1400" b="1" i="0" dirty="0">
                <a:solidFill>
                  <a:srgbClr val="FFDE59"/>
                </a:solidFill>
                <a:effectLst/>
              </a:rPr>
              <a:t>Interactive Prototype:</a:t>
            </a:r>
            <a:r>
              <a:rPr lang="en-US" sz="1400" b="1" i="0" dirty="0">
                <a:solidFill>
                  <a:schemeClr val="bg1"/>
                </a:solidFill>
                <a:effectLst/>
              </a:rPr>
              <a:t> </a:t>
            </a:r>
            <a:r>
              <a:rPr lang="en-US" sz="1400" u="sng" dirty="0">
                <a:solidFill>
                  <a:schemeClr val="bg1"/>
                </a:solidFill>
                <a:hlinkClick r:id="rId15">
                  <a:extLst>
                    <a:ext uri="{A12FA001-AC4F-418D-AE19-62706E023703}">
                      <ahyp:hlinkClr xmlns:ahyp="http://schemas.microsoft.com/office/drawing/2018/hyperlinkcolor" val="tx"/>
                    </a:ext>
                  </a:extLst>
                </a:hlinkClick>
              </a:rPr>
              <a:t>https://claude.ai/artifact/QouixAtcmRQXoxXEiUsXgm</a:t>
            </a:r>
            <a:endParaRPr lang="en-US" sz="1400" dirty="0">
              <a:solidFill>
                <a:schemeClr val="bg1"/>
              </a:solidFill>
            </a:endParaRPr>
          </a:p>
          <a:p>
            <a:pPr indent="0" algn="ctr">
              <a:buNone/>
            </a:pPr>
            <a:r>
              <a:rPr lang="en-US" sz="1400" b="0" i="0" dirty="0">
                <a:solidFill>
                  <a:schemeClr val="bg1"/>
                </a:solidFill>
                <a:effectLst/>
              </a:rPr>
              <a:t> or</a:t>
            </a:r>
          </a:p>
          <a:p>
            <a:pPr indent="0" algn="ctr">
              <a:buNone/>
            </a:pPr>
            <a:r>
              <a:rPr lang="en-US" sz="1400" b="1" u="sng" dirty="0">
                <a:solidFill>
                  <a:schemeClr val="bg1"/>
                </a:solidFill>
                <a:hlinkClick r:id="rId16">
                  <a:extLst>
                    <a:ext uri="{A12FA001-AC4F-418D-AE19-62706E023703}">
                      <ahyp:hlinkClr xmlns:ahyp="http://schemas.microsoft.com/office/drawing/2018/hyperlinkcolor" val="tx"/>
                    </a:ext>
                  </a:extLst>
                </a:hlinkClick>
              </a:rPr>
              <a:t>https://lashawnfofung.github.io/BeReal-RealProcess/</a:t>
            </a:r>
            <a:endParaRPr lang="en-US" sz="1400" b="0" i="0" dirty="0">
              <a:solidFill>
                <a:schemeClr val="bg1"/>
              </a:solidFill>
              <a:effectLst/>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0A0A0A"/>
        </a:solidFill>
        <a:effectLst/>
      </p:bgPr>
    </p:bg>
    <p:spTree>
      <p:nvGrpSpPr>
        <p:cNvPr id="1" name=""/>
        <p:cNvGrpSpPr/>
        <p:nvPr/>
      </p:nvGrpSpPr>
      <p:grpSpPr>
        <a:xfrm>
          <a:off x="0" y="0"/>
          <a:ext cx="0" cy="0"/>
          <a:chOff x="0" y="0"/>
          <a:chExt cx="0" cy="0"/>
        </a:xfrm>
      </p:grpSpPr>
      <p:grpSp>
        <p:nvGrpSpPr>
          <p:cNvPr id="11" name="Group 11"/>
          <p:cNvGrpSpPr/>
          <p:nvPr/>
        </p:nvGrpSpPr>
        <p:grpSpPr>
          <a:xfrm>
            <a:off x="1032388" y="3557952"/>
            <a:ext cx="4296770" cy="1303020"/>
            <a:chOff x="0" y="0"/>
            <a:chExt cx="5729027" cy="1737360"/>
          </a:xfrm>
        </p:grpSpPr>
        <p:sp>
          <p:nvSpPr>
            <p:cNvPr id="12" name="Freeform 12"/>
            <p:cNvSpPr/>
            <p:nvPr/>
          </p:nvSpPr>
          <p:spPr>
            <a:xfrm>
              <a:off x="0" y="0"/>
              <a:ext cx="5729027" cy="1737360"/>
            </a:xfrm>
            <a:custGeom>
              <a:avLst/>
              <a:gdLst/>
              <a:ahLst/>
              <a:cxnLst/>
              <a:rect l="l" t="t" r="r" b="b"/>
              <a:pathLst>
                <a:path w="5729027" h="1737360">
                  <a:moveTo>
                    <a:pt x="0" y="0"/>
                  </a:moveTo>
                  <a:lnTo>
                    <a:pt x="5729027" y="0"/>
                  </a:lnTo>
                  <a:lnTo>
                    <a:pt x="5729027" y="1737360"/>
                  </a:lnTo>
                  <a:lnTo>
                    <a:pt x="0" y="1737360"/>
                  </a:lnTo>
                  <a:close/>
                </a:path>
              </a:pathLst>
            </a:custGeom>
            <a:blipFill>
              <a:blip r:embed="rId3">
                <a:alphaModFix amt="0"/>
              </a:blip>
              <a:stretch>
                <a:fillRect t="-165360" r="-235177" b="-165360"/>
              </a:stretch>
            </a:blipFill>
          </p:spPr>
          <p:txBody>
            <a:bodyPr/>
            <a:lstStyle/>
            <a:p>
              <a:endParaRPr lang="en-US"/>
            </a:p>
          </p:txBody>
        </p:sp>
        <p:sp>
          <p:nvSpPr>
            <p:cNvPr id="13" name="TextBox 13"/>
            <p:cNvSpPr txBox="1"/>
            <p:nvPr/>
          </p:nvSpPr>
          <p:spPr>
            <a:xfrm>
              <a:off x="0" y="38100"/>
              <a:ext cx="5729027" cy="1699260"/>
            </a:xfrm>
            <a:prstGeom prst="rect">
              <a:avLst/>
            </a:prstGeom>
          </p:spPr>
          <p:txBody>
            <a:bodyPr lIns="0" tIns="0" rIns="0" bIns="0" rtlCol="0" anchor="ctr"/>
            <a:lstStyle/>
            <a:p>
              <a:pPr algn="l">
                <a:lnSpc>
                  <a:spcPts val="5120"/>
                </a:lnSpc>
              </a:pPr>
              <a:r>
                <a:rPr lang="en-US" sz="4799" b="1">
                  <a:solidFill>
                    <a:srgbClr val="FFFFFF"/>
                  </a:solidFill>
                  <a:latin typeface="Arial Bold"/>
                  <a:ea typeface="Arial Bold"/>
                  <a:cs typeface="Arial Bold"/>
                  <a:sym typeface="Arial Bold"/>
                </a:rPr>
                <a:t>Today Screen </a:t>
              </a:r>
            </a:p>
          </p:txBody>
        </p:sp>
      </p:grpSp>
      <p:grpSp>
        <p:nvGrpSpPr>
          <p:cNvPr id="14" name="Group 14"/>
          <p:cNvGrpSpPr/>
          <p:nvPr/>
        </p:nvGrpSpPr>
        <p:grpSpPr>
          <a:xfrm>
            <a:off x="904297" y="4889547"/>
            <a:ext cx="4296770" cy="3609179"/>
            <a:chOff x="0" y="0"/>
            <a:chExt cx="5729027" cy="4812238"/>
          </a:xfrm>
        </p:grpSpPr>
        <p:sp>
          <p:nvSpPr>
            <p:cNvPr id="15" name="Freeform 15"/>
            <p:cNvSpPr/>
            <p:nvPr/>
          </p:nvSpPr>
          <p:spPr>
            <a:xfrm>
              <a:off x="0" y="0"/>
              <a:ext cx="5729027" cy="4812238"/>
            </a:xfrm>
            <a:custGeom>
              <a:avLst/>
              <a:gdLst/>
              <a:ahLst/>
              <a:cxnLst/>
              <a:rect l="l" t="t" r="r" b="b"/>
              <a:pathLst>
                <a:path w="5729027" h="4812238">
                  <a:moveTo>
                    <a:pt x="0" y="0"/>
                  </a:moveTo>
                  <a:lnTo>
                    <a:pt x="5729027" y="0"/>
                  </a:lnTo>
                  <a:lnTo>
                    <a:pt x="5729027" y="4812238"/>
                  </a:lnTo>
                  <a:lnTo>
                    <a:pt x="0" y="4812238"/>
                  </a:lnTo>
                  <a:close/>
                </a:path>
              </a:pathLst>
            </a:custGeom>
            <a:blipFill>
              <a:blip r:embed="rId3">
                <a:alphaModFix amt="0"/>
              </a:blip>
              <a:stretch>
                <a:fillRect t="-52588" r="-155373" b="34110"/>
              </a:stretch>
            </a:blipFill>
          </p:spPr>
          <p:txBody>
            <a:bodyPr/>
            <a:lstStyle/>
            <a:p>
              <a:endParaRPr lang="en-US"/>
            </a:p>
          </p:txBody>
        </p:sp>
        <p:sp>
          <p:nvSpPr>
            <p:cNvPr id="16" name="TextBox 16"/>
            <p:cNvSpPr txBox="1"/>
            <p:nvPr/>
          </p:nvSpPr>
          <p:spPr>
            <a:xfrm>
              <a:off x="0" y="-57150"/>
              <a:ext cx="5729027" cy="4869388"/>
            </a:xfrm>
            <a:prstGeom prst="rect">
              <a:avLst/>
            </a:prstGeom>
          </p:spPr>
          <p:txBody>
            <a:bodyPr lIns="0" tIns="0" rIns="0" bIns="0" rtlCol="0" anchor="ctr"/>
            <a:lstStyle/>
            <a:p>
              <a:pPr marL="388620" lvl="1" indent="-194310" algn="l">
                <a:lnSpc>
                  <a:spcPts val="2340"/>
                </a:lnSpc>
                <a:buFont typeface="Arial"/>
                <a:buChar char="•"/>
              </a:pPr>
              <a:r>
                <a:rPr lang="en-US" sz="1800" spc="59" dirty="0">
                  <a:solidFill>
                    <a:srgbClr val="FFFFFF"/>
                  </a:solidFill>
                  <a:latin typeface="Calibri (MS)"/>
                  <a:ea typeface="Calibri (MS)"/>
                  <a:cs typeface="Calibri (MS)"/>
                  <a:sym typeface="Calibri (MS)"/>
                </a:rPr>
                <a:t>User will receive an alert prompt at 12:00 AM their local time.</a:t>
              </a:r>
            </a:p>
            <a:p>
              <a:pPr marL="777240" lvl="2" indent="-259080" algn="l">
                <a:lnSpc>
                  <a:spcPts val="2340"/>
                </a:lnSpc>
                <a:buFont typeface="Arial"/>
                <a:buChar char="⚬"/>
              </a:pPr>
              <a:r>
                <a:rPr lang="en-US" sz="1800" spc="59" dirty="0">
                  <a:solidFill>
                    <a:srgbClr val="FFFFFF"/>
                  </a:solidFill>
                  <a:latin typeface="Calibri (MS)"/>
                  <a:ea typeface="Calibri (MS)"/>
                  <a:cs typeface="Calibri (MS)"/>
                  <a:sym typeface="Calibri (MS)"/>
                </a:rPr>
                <a:t>Specific time to reset for tracking</a:t>
              </a:r>
            </a:p>
            <a:p>
              <a:pPr marL="388620" lvl="1" indent="-194310" algn="l">
                <a:lnSpc>
                  <a:spcPts val="2340"/>
                </a:lnSpc>
                <a:buFont typeface="Arial"/>
                <a:buChar char="•"/>
              </a:pPr>
              <a:r>
                <a:rPr lang="en-US" sz="1800" spc="59" dirty="0">
                  <a:solidFill>
                    <a:srgbClr val="FFFFFF"/>
                  </a:solidFill>
                  <a:latin typeface="Calibri (MS)"/>
                  <a:ea typeface="Calibri (MS)"/>
                  <a:cs typeface="Calibri (MS)"/>
                  <a:sym typeface="Calibri (MS)"/>
                </a:rPr>
                <a:t>User opens app at their convenience</a:t>
              </a:r>
            </a:p>
            <a:p>
              <a:pPr marL="777240" lvl="2" indent="-259080" algn="l">
                <a:lnSpc>
                  <a:spcPts val="2340"/>
                </a:lnSpc>
                <a:buFont typeface="Arial"/>
                <a:buChar char="⚬"/>
              </a:pPr>
              <a:r>
                <a:rPr lang="en-US" sz="1800" spc="59" dirty="0">
                  <a:solidFill>
                    <a:srgbClr val="FFFFFF"/>
                  </a:solidFill>
                  <a:latin typeface="Calibri (MS)"/>
                  <a:ea typeface="Calibri (MS)"/>
                  <a:cs typeface="Calibri (MS)"/>
                  <a:sym typeface="Calibri (MS)"/>
                </a:rPr>
                <a:t>Not dependent of Timed posting</a:t>
              </a:r>
            </a:p>
            <a:p>
              <a:pPr marL="388620" lvl="1" indent="-194310" algn="l">
                <a:lnSpc>
                  <a:spcPts val="2340"/>
                </a:lnSpc>
                <a:buFont typeface="Arial"/>
                <a:buChar char="•"/>
              </a:pPr>
              <a:r>
                <a:rPr lang="en-US" sz="1800" spc="59" dirty="0">
                  <a:solidFill>
                    <a:srgbClr val="FFFFFF"/>
                  </a:solidFill>
                  <a:latin typeface="Calibri (MS)"/>
                  <a:ea typeface="Calibri (MS)"/>
                  <a:cs typeface="Calibri (MS)"/>
                  <a:sym typeface="Calibri (MS)"/>
                </a:rPr>
                <a:t>1 of 3 New Views for feature</a:t>
              </a:r>
            </a:p>
            <a:p>
              <a:pPr marL="388620" lvl="1" indent="-194310" algn="l">
                <a:lnSpc>
                  <a:spcPts val="2340"/>
                </a:lnSpc>
                <a:buFont typeface="Arial"/>
                <a:buChar char="•"/>
              </a:pPr>
              <a:r>
                <a:rPr lang="en-US" sz="1800" spc="59" dirty="0">
                  <a:solidFill>
                    <a:srgbClr val="FFFFFF"/>
                  </a:solidFill>
                  <a:latin typeface="Calibri (MS)"/>
                  <a:ea typeface="Calibri (MS)"/>
                  <a:cs typeface="Calibri (MS)"/>
                  <a:sym typeface="Calibri (MS)"/>
                </a:rPr>
                <a:t>A button for user to opt-in to join Community Boards</a:t>
              </a:r>
            </a:p>
            <a:p>
              <a:pPr marL="777240" lvl="2" indent="-259080" algn="l">
                <a:lnSpc>
                  <a:spcPts val="2340"/>
                </a:lnSpc>
                <a:buFont typeface="Arial"/>
                <a:buChar char="⚬"/>
              </a:pPr>
              <a:r>
                <a:rPr lang="en-US" sz="1800" spc="59" dirty="0">
                  <a:solidFill>
                    <a:srgbClr val="FFFFFF"/>
                  </a:solidFill>
                  <a:latin typeface="Calibri (MS)"/>
                  <a:ea typeface="Calibri (MS)"/>
                  <a:cs typeface="Calibri (MS)"/>
                  <a:sym typeface="Calibri (MS)"/>
                </a:rPr>
                <a:t>Opt-out default if user does not opt-in</a:t>
              </a:r>
            </a:p>
            <a:p>
              <a:pPr algn="l">
                <a:lnSpc>
                  <a:spcPts val="2340"/>
                </a:lnSpc>
              </a:pPr>
              <a:endParaRPr lang="en-US" sz="1800" spc="59" dirty="0">
                <a:solidFill>
                  <a:srgbClr val="FFFFFF"/>
                </a:solidFill>
                <a:latin typeface="Calibri (MS)"/>
                <a:ea typeface="Calibri (MS)"/>
                <a:cs typeface="Calibri (MS)"/>
                <a:sym typeface="Calibri (MS)"/>
              </a:endParaRPr>
            </a:p>
            <a:p>
              <a:pPr algn="l">
                <a:lnSpc>
                  <a:spcPts val="2340"/>
                </a:lnSpc>
              </a:pPr>
              <a:endParaRPr lang="en-US" sz="1800" spc="59" dirty="0">
                <a:solidFill>
                  <a:srgbClr val="FFFFFF"/>
                </a:solidFill>
                <a:latin typeface="Calibri (MS)"/>
                <a:ea typeface="Calibri (MS)"/>
                <a:cs typeface="Calibri (MS)"/>
                <a:sym typeface="Calibri (MS)"/>
              </a:endParaRPr>
            </a:p>
          </p:txBody>
        </p:sp>
      </p:grpSp>
      <p:grpSp>
        <p:nvGrpSpPr>
          <p:cNvPr id="17" name="Group 17"/>
          <p:cNvGrpSpPr/>
          <p:nvPr/>
        </p:nvGrpSpPr>
        <p:grpSpPr>
          <a:xfrm>
            <a:off x="8477601" y="9382719"/>
            <a:ext cx="3532819" cy="601474"/>
            <a:chOff x="0" y="0"/>
            <a:chExt cx="5623571" cy="957431"/>
          </a:xfrm>
        </p:grpSpPr>
        <p:sp>
          <p:nvSpPr>
            <p:cNvPr id="18" name="Freeform 18"/>
            <p:cNvSpPr/>
            <p:nvPr/>
          </p:nvSpPr>
          <p:spPr>
            <a:xfrm>
              <a:off x="0" y="0"/>
              <a:ext cx="5623571" cy="957431"/>
            </a:xfrm>
            <a:custGeom>
              <a:avLst/>
              <a:gdLst/>
              <a:ahLst/>
              <a:cxnLst/>
              <a:rect l="l" t="t" r="r" b="b"/>
              <a:pathLst>
                <a:path w="5623571" h="957431">
                  <a:moveTo>
                    <a:pt x="0" y="0"/>
                  </a:moveTo>
                  <a:lnTo>
                    <a:pt x="5623571" y="0"/>
                  </a:lnTo>
                  <a:lnTo>
                    <a:pt x="5623571" y="957431"/>
                  </a:lnTo>
                  <a:lnTo>
                    <a:pt x="0" y="957431"/>
                  </a:lnTo>
                  <a:close/>
                </a:path>
              </a:pathLst>
            </a:custGeom>
            <a:blipFill>
              <a:blip r:embed="rId3">
                <a:alphaModFix amt="0"/>
              </a:blip>
              <a:stretch>
                <a:fillRect t="-300064" r="-241462" b="-381525"/>
              </a:stretch>
            </a:blipFill>
          </p:spPr>
          <p:txBody>
            <a:bodyPr/>
            <a:lstStyle/>
            <a:p>
              <a:endParaRPr lang="en-US"/>
            </a:p>
          </p:txBody>
        </p:sp>
        <p:sp>
          <p:nvSpPr>
            <p:cNvPr id="19" name="TextBox 19"/>
            <p:cNvSpPr txBox="1"/>
            <p:nvPr/>
          </p:nvSpPr>
          <p:spPr>
            <a:xfrm>
              <a:off x="0" y="0"/>
              <a:ext cx="5623571" cy="957431"/>
            </a:xfrm>
            <a:prstGeom prst="rect">
              <a:avLst/>
            </a:prstGeom>
          </p:spPr>
          <p:txBody>
            <a:bodyPr lIns="0" tIns="0" rIns="0" bIns="0" rtlCol="0" anchor="ctr"/>
            <a:lstStyle/>
            <a:p>
              <a:pPr algn="ctr">
                <a:lnSpc>
                  <a:spcPts val="1920"/>
                </a:lnSpc>
              </a:pPr>
              <a:r>
                <a:rPr lang="en-US" sz="1800" b="1" dirty="0">
                  <a:solidFill>
                    <a:srgbClr val="FFFFFF"/>
                  </a:solidFill>
                  <a:latin typeface="Arial Bold"/>
                  <a:ea typeface="Arial Bold"/>
                  <a:cs typeface="Arial Bold"/>
                  <a:sym typeface="Arial Bold"/>
                </a:rPr>
                <a:t>User Receives Daily Alert</a:t>
              </a:r>
            </a:p>
          </p:txBody>
        </p:sp>
      </p:grpSp>
      <p:grpSp>
        <p:nvGrpSpPr>
          <p:cNvPr id="20" name="Group 20"/>
          <p:cNvGrpSpPr/>
          <p:nvPr/>
        </p:nvGrpSpPr>
        <p:grpSpPr>
          <a:xfrm>
            <a:off x="14036474" y="9382719"/>
            <a:ext cx="3142809" cy="601474"/>
            <a:chOff x="0" y="0"/>
            <a:chExt cx="5002749" cy="957431"/>
          </a:xfrm>
        </p:grpSpPr>
        <p:sp>
          <p:nvSpPr>
            <p:cNvPr id="21" name="Freeform 21"/>
            <p:cNvSpPr/>
            <p:nvPr/>
          </p:nvSpPr>
          <p:spPr>
            <a:xfrm>
              <a:off x="0" y="0"/>
              <a:ext cx="5002749" cy="957431"/>
            </a:xfrm>
            <a:custGeom>
              <a:avLst/>
              <a:gdLst/>
              <a:ahLst/>
              <a:cxnLst/>
              <a:rect l="l" t="t" r="r" b="b"/>
              <a:pathLst>
                <a:path w="5002749" h="957431">
                  <a:moveTo>
                    <a:pt x="0" y="0"/>
                  </a:moveTo>
                  <a:lnTo>
                    <a:pt x="5002749" y="0"/>
                  </a:lnTo>
                  <a:lnTo>
                    <a:pt x="5002749" y="957431"/>
                  </a:lnTo>
                  <a:lnTo>
                    <a:pt x="0" y="957431"/>
                  </a:lnTo>
                  <a:close/>
                </a:path>
              </a:pathLst>
            </a:custGeom>
            <a:blipFill>
              <a:blip r:embed="rId3">
                <a:alphaModFix amt="0"/>
              </a:blip>
              <a:stretch>
                <a:fillRect t="-300064" r="-283836" b="-381525"/>
              </a:stretch>
            </a:blipFill>
          </p:spPr>
          <p:txBody>
            <a:bodyPr/>
            <a:lstStyle/>
            <a:p>
              <a:endParaRPr lang="en-US"/>
            </a:p>
          </p:txBody>
        </p:sp>
        <p:sp>
          <p:nvSpPr>
            <p:cNvPr id="22" name="TextBox 22"/>
            <p:cNvSpPr txBox="1"/>
            <p:nvPr/>
          </p:nvSpPr>
          <p:spPr>
            <a:xfrm>
              <a:off x="0" y="0"/>
              <a:ext cx="5002749" cy="957431"/>
            </a:xfrm>
            <a:prstGeom prst="rect">
              <a:avLst/>
            </a:prstGeom>
          </p:spPr>
          <p:txBody>
            <a:bodyPr lIns="0" tIns="0" rIns="0" bIns="0" rtlCol="0" anchor="ctr"/>
            <a:lstStyle/>
            <a:p>
              <a:pPr algn="ctr">
                <a:lnSpc>
                  <a:spcPts val="1920"/>
                </a:lnSpc>
              </a:pPr>
              <a:r>
                <a:rPr lang="en-US" sz="1800" b="1">
                  <a:solidFill>
                    <a:srgbClr val="FFFFFF"/>
                  </a:solidFill>
                  <a:latin typeface="Arial Bold"/>
                  <a:ea typeface="Arial Bold"/>
                  <a:cs typeface="Arial Bold"/>
                  <a:sym typeface="Arial Bold"/>
                </a:rPr>
                <a:t>User Opens App</a:t>
              </a:r>
            </a:p>
          </p:txBody>
        </p:sp>
      </p:grpSp>
      <p:grpSp>
        <p:nvGrpSpPr>
          <p:cNvPr id="23" name="Group 23"/>
          <p:cNvGrpSpPr/>
          <p:nvPr/>
        </p:nvGrpSpPr>
        <p:grpSpPr>
          <a:xfrm>
            <a:off x="8155325" y="907362"/>
            <a:ext cx="4229420" cy="8333016"/>
            <a:chOff x="0" y="-79455"/>
            <a:chExt cx="5639225" cy="11110688"/>
          </a:xfrm>
        </p:grpSpPr>
        <p:grpSp>
          <p:nvGrpSpPr>
            <p:cNvPr id="24" name="Group 24"/>
            <p:cNvGrpSpPr>
              <a:grpSpLocks noChangeAspect="1"/>
            </p:cNvGrpSpPr>
            <p:nvPr/>
          </p:nvGrpSpPr>
          <p:grpSpPr>
            <a:xfrm>
              <a:off x="0" y="0"/>
              <a:ext cx="5639225" cy="11031233"/>
              <a:chOff x="0" y="0"/>
              <a:chExt cx="2649511" cy="5182870"/>
            </a:xfrm>
          </p:grpSpPr>
          <p:sp>
            <p:nvSpPr>
              <p:cNvPr id="25" name="Freeform 25"/>
              <p:cNvSpPr/>
              <p:nvPr/>
            </p:nvSpPr>
            <p:spPr>
              <a:xfrm>
                <a:off x="53340" y="25400"/>
                <a:ext cx="2596171" cy="5132070"/>
              </a:xfrm>
              <a:custGeom>
                <a:avLst/>
                <a:gdLst/>
                <a:ahLst/>
                <a:cxnLst/>
                <a:rect l="l" t="t" r="r" b="b"/>
                <a:pathLst>
                  <a:path w="2513330" h="5132070">
                    <a:moveTo>
                      <a:pt x="2159000" y="0"/>
                    </a:moveTo>
                    <a:lnTo>
                      <a:pt x="354330" y="0"/>
                    </a:lnTo>
                    <a:cubicBezTo>
                      <a:pt x="158750" y="0"/>
                      <a:pt x="0" y="158750"/>
                      <a:pt x="0" y="354330"/>
                    </a:cubicBezTo>
                    <a:lnTo>
                      <a:pt x="0" y="4777740"/>
                    </a:lnTo>
                    <a:cubicBezTo>
                      <a:pt x="0" y="4973320"/>
                      <a:pt x="158750" y="5132070"/>
                      <a:pt x="354330" y="5132070"/>
                    </a:cubicBezTo>
                    <a:lnTo>
                      <a:pt x="2159000" y="5132070"/>
                    </a:lnTo>
                    <a:cubicBezTo>
                      <a:pt x="2354580" y="5132070"/>
                      <a:pt x="2513330" y="4973320"/>
                      <a:pt x="2513330" y="4777740"/>
                    </a:cubicBezTo>
                    <a:lnTo>
                      <a:pt x="2513330" y="354330"/>
                    </a:lnTo>
                    <a:cubicBezTo>
                      <a:pt x="2513330" y="158750"/>
                      <a:pt x="2354580" y="0"/>
                      <a:pt x="2159000" y="0"/>
                    </a:cubicBezTo>
                    <a:close/>
                    <a:moveTo>
                      <a:pt x="1558290" y="162560"/>
                    </a:moveTo>
                    <a:cubicBezTo>
                      <a:pt x="1576070" y="162560"/>
                      <a:pt x="1590040" y="176530"/>
                      <a:pt x="1590040" y="194310"/>
                    </a:cubicBezTo>
                    <a:cubicBezTo>
                      <a:pt x="1590040" y="212090"/>
                      <a:pt x="1576070" y="226060"/>
                      <a:pt x="1558290" y="226060"/>
                    </a:cubicBezTo>
                    <a:cubicBezTo>
                      <a:pt x="1540510" y="226060"/>
                      <a:pt x="1526540" y="212090"/>
                      <a:pt x="1526540" y="194310"/>
                    </a:cubicBezTo>
                    <a:cubicBezTo>
                      <a:pt x="1526540" y="176530"/>
                      <a:pt x="1541780" y="162560"/>
                      <a:pt x="1558290" y="162560"/>
                    </a:cubicBezTo>
                    <a:close/>
                    <a:moveTo>
                      <a:pt x="1089660" y="172720"/>
                    </a:moveTo>
                    <a:lnTo>
                      <a:pt x="1394460" y="172720"/>
                    </a:lnTo>
                    <a:cubicBezTo>
                      <a:pt x="1405890" y="172720"/>
                      <a:pt x="1416050" y="181610"/>
                      <a:pt x="1416050" y="194310"/>
                    </a:cubicBezTo>
                    <a:cubicBezTo>
                      <a:pt x="1416050" y="207010"/>
                      <a:pt x="1405890" y="215900"/>
                      <a:pt x="1394460" y="215900"/>
                    </a:cubicBezTo>
                    <a:lnTo>
                      <a:pt x="1089660" y="215900"/>
                    </a:lnTo>
                    <a:cubicBezTo>
                      <a:pt x="1078230" y="215900"/>
                      <a:pt x="1068070" y="207010"/>
                      <a:pt x="1068070" y="194310"/>
                    </a:cubicBezTo>
                    <a:cubicBezTo>
                      <a:pt x="1068070" y="181610"/>
                      <a:pt x="1078230" y="172720"/>
                      <a:pt x="1089660" y="172720"/>
                    </a:cubicBezTo>
                    <a:close/>
                    <a:moveTo>
                      <a:pt x="2383790" y="4798060"/>
                    </a:moveTo>
                    <a:cubicBezTo>
                      <a:pt x="2383790" y="4913630"/>
                      <a:pt x="2289810" y="5007610"/>
                      <a:pt x="2174240" y="5007610"/>
                    </a:cubicBezTo>
                    <a:lnTo>
                      <a:pt x="341630" y="5007610"/>
                    </a:lnTo>
                    <a:cubicBezTo>
                      <a:pt x="226060" y="5007610"/>
                      <a:pt x="132080" y="4913630"/>
                      <a:pt x="132080" y="4798060"/>
                    </a:cubicBezTo>
                    <a:lnTo>
                      <a:pt x="132080" y="340360"/>
                    </a:lnTo>
                    <a:cubicBezTo>
                      <a:pt x="132080" y="224790"/>
                      <a:pt x="226060" y="130810"/>
                      <a:pt x="341630" y="130810"/>
                    </a:cubicBezTo>
                    <a:lnTo>
                      <a:pt x="614680" y="130810"/>
                    </a:lnTo>
                    <a:lnTo>
                      <a:pt x="614680" y="187960"/>
                    </a:lnTo>
                    <a:cubicBezTo>
                      <a:pt x="614680" y="252730"/>
                      <a:pt x="668020" y="306070"/>
                      <a:pt x="732790" y="306070"/>
                    </a:cubicBezTo>
                    <a:lnTo>
                      <a:pt x="1783080" y="306070"/>
                    </a:lnTo>
                    <a:cubicBezTo>
                      <a:pt x="1847850" y="306070"/>
                      <a:pt x="1901190" y="252730"/>
                      <a:pt x="1901190" y="187960"/>
                    </a:cubicBezTo>
                    <a:lnTo>
                      <a:pt x="1901190" y="130810"/>
                    </a:lnTo>
                    <a:lnTo>
                      <a:pt x="2172970" y="130810"/>
                    </a:lnTo>
                    <a:cubicBezTo>
                      <a:pt x="2288540" y="130810"/>
                      <a:pt x="2382520" y="224790"/>
                      <a:pt x="2382520" y="340360"/>
                    </a:cubicBezTo>
                    <a:lnTo>
                      <a:pt x="2382520" y="4798060"/>
                    </a:lnTo>
                    <a:close/>
                  </a:path>
                </a:pathLst>
              </a:custGeom>
              <a:solidFill>
                <a:srgbClr val="000000"/>
              </a:solidFill>
            </p:spPr>
            <p:txBody>
              <a:bodyPr/>
              <a:lstStyle/>
              <a:p>
                <a:endParaRPr lang="en-US"/>
              </a:p>
            </p:txBody>
          </p:sp>
          <p:sp>
            <p:nvSpPr>
              <p:cNvPr id="26" name="Freeform 26"/>
              <p:cNvSpPr/>
              <p:nvPr/>
            </p:nvSpPr>
            <p:spPr>
              <a:xfrm>
                <a:off x="185420" y="156210"/>
                <a:ext cx="2250453" cy="4876800"/>
              </a:xfrm>
              <a:custGeom>
                <a:avLst/>
                <a:gdLst/>
                <a:ahLst/>
                <a:cxnLst/>
                <a:rect l="l" t="t" r="r" b="b"/>
                <a:pathLst>
                  <a:path w="2250453" h="4876800">
                    <a:moveTo>
                      <a:pt x="2040890" y="0"/>
                    </a:moveTo>
                    <a:lnTo>
                      <a:pt x="1769110" y="0"/>
                    </a:lnTo>
                    <a:lnTo>
                      <a:pt x="1769110" y="57150"/>
                    </a:lnTo>
                    <a:cubicBezTo>
                      <a:pt x="1769110" y="121920"/>
                      <a:pt x="1715770" y="175260"/>
                      <a:pt x="1651000" y="175260"/>
                    </a:cubicBezTo>
                    <a:lnTo>
                      <a:pt x="601980" y="175260"/>
                    </a:lnTo>
                    <a:cubicBezTo>
                      <a:pt x="537210" y="175260"/>
                      <a:pt x="483870" y="121920"/>
                      <a:pt x="483870" y="57150"/>
                    </a:cubicBezTo>
                    <a:lnTo>
                      <a:pt x="483870" y="0"/>
                    </a:lnTo>
                    <a:lnTo>
                      <a:pt x="209550" y="0"/>
                    </a:lnTo>
                    <a:cubicBezTo>
                      <a:pt x="93980" y="0"/>
                      <a:pt x="0" y="93980"/>
                      <a:pt x="0" y="209550"/>
                    </a:cubicBezTo>
                    <a:lnTo>
                      <a:pt x="0" y="4667250"/>
                    </a:lnTo>
                    <a:cubicBezTo>
                      <a:pt x="0" y="4782820"/>
                      <a:pt x="93980" y="4876800"/>
                      <a:pt x="209550" y="4876800"/>
                    </a:cubicBezTo>
                    <a:lnTo>
                      <a:pt x="2040890" y="4876800"/>
                    </a:lnTo>
                    <a:cubicBezTo>
                      <a:pt x="2156460" y="4876800"/>
                      <a:pt x="2250440" y="4782820"/>
                      <a:pt x="2250440" y="4667250"/>
                    </a:cubicBezTo>
                    <a:lnTo>
                      <a:pt x="2250440" y="209550"/>
                    </a:lnTo>
                    <a:cubicBezTo>
                      <a:pt x="2251710" y="93980"/>
                      <a:pt x="2157730" y="0"/>
                      <a:pt x="2040890" y="0"/>
                    </a:cubicBezTo>
                    <a:close/>
                  </a:path>
                </a:pathLst>
              </a:custGeom>
              <a:blipFill>
                <a:blip r:embed="rId3"/>
                <a:stretch>
                  <a:fillRect l="-245588" t="-3203" r="-245531" b="-3098"/>
                </a:stretch>
              </a:blipFill>
            </p:spPr>
            <p:txBody>
              <a:bodyPr/>
              <a:lstStyle/>
              <a:p>
                <a:endParaRPr lang="en-US"/>
              </a:p>
            </p:txBody>
          </p:sp>
          <p:sp>
            <p:nvSpPr>
              <p:cNvPr id="27" name="Freeform 27"/>
              <p:cNvSpPr/>
              <p:nvPr/>
            </p:nvSpPr>
            <p:spPr>
              <a:xfrm>
                <a:off x="1121410" y="198120"/>
                <a:ext cx="347980" cy="43180"/>
              </a:xfrm>
              <a:custGeom>
                <a:avLst/>
                <a:gdLst/>
                <a:ahLst/>
                <a:cxnLst/>
                <a:rect l="l" t="t" r="r" b="b"/>
                <a:pathLst>
                  <a:path w="347980" h="43180">
                    <a:moveTo>
                      <a:pt x="326390" y="0"/>
                    </a:moveTo>
                    <a:lnTo>
                      <a:pt x="21590" y="0"/>
                    </a:lnTo>
                    <a:cubicBezTo>
                      <a:pt x="10160" y="0"/>
                      <a:pt x="0" y="8890"/>
                      <a:pt x="0" y="21590"/>
                    </a:cubicBezTo>
                    <a:cubicBezTo>
                      <a:pt x="0" y="34290"/>
                      <a:pt x="10160" y="43180"/>
                      <a:pt x="21590" y="43180"/>
                    </a:cubicBezTo>
                    <a:lnTo>
                      <a:pt x="326390" y="43180"/>
                    </a:lnTo>
                    <a:cubicBezTo>
                      <a:pt x="337820" y="43180"/>
                      <a:pt x="347980" y="34290"/>
                      <a:pt x="347980" y="21590"/>
                    </a:cubicBezTo>
                    <a:cubicBezTo>
                      <a:pt x="347980" y="8890"/>
                      <a:pt x="337820" y="0"/>
                      <a:pt x="326390" y="0"/>
                    </a:cubicBezTo>
                    <a:close/>
                  </a:path>
                </a:pathLst>
              </a:custGeom>
              <a:solidFill>
                <a:srgbClr val="606060"/>
              </a:solidFill>
            </p:spPr>
            <p:txBody>
              <a:bodyPr/>
              <a:lstStyle/>
              <a:p>
                <a:endParaRPr lang="en-US"/>
              </a:p>
            </p:txBody>
          </p:sp>
          <p:sp>
            <p:nvSpPr>
              <p:cNvPr id="28" name="Freeform 28"/>
              <p:cNvSpPr/>
              <p:nvPr/>
            </p:nvSpPr>
            <p:spPr>
              <a:xfrm>
                <a:off x="1579738" y="187960"/>
                <a:ext cx="63785" cy="63501"/>
              </a:xfrm>
              <a:custGeom>
                <a:avLst/>
                <a:gdLst/>
                <a:ahLst/>
                <a:cxnLst/>
                <a:rect l="l" t="t" r="r" b="b"/>
                <a:pathLst>
                  <a:path w="63785" h="63501">
                    <a:moveTo>
                      <a:pt x="31892" y="0"/>
                    </a:moveTo>
                    <a:cubicBezTo>
                      <a:pt x="20515" y="-51"/>
                      <a:pt x="9980" y="5989"/>
                      <a:pt x="4277" y="15834"/>
                    </a:cubicBezTo>
                    <a:cubicBezTo>
                      <a:pt x="-1426" y="25678"/>
                      <a:pt x="-1426" y="37822"/>
                      <a:pt x="4277" y="47666"/>
                    </a:cubicBezTo>
                    <a:cubicBezTo>
                      <a:pt x="9980" y="57511"/>
                      <a:pt x="20515" y="63551"/>
                      <a:pt x="31892" y="63500"/>
                    </a:cubicBezTo>
                    <a:cubicBezTo>
                      <a:pt x="43269" y="63551"/>
                      <a:pt x="53804" y="57511"/>
                      <a:pt x="59507" y="47666"/>
                    </a:cubicBezTo>
                    <a:cubicBezTo>
                      <a:pt x="65210" y="37822"/>
                      <a:pt x="65210" y="25678"/>
                      <a:pt x="59507" y="15834"/>
                    </a:cubicBezTo>
                    <a:cubicBezTo>
                      <a:pt x="53804" y="5989"/>
                      <a:pt x="43269" y="-51"/>
                      <a:pt x="31892" y="0"/>
                    </a:cubicBezTo>
                    <a:close/>
                  </a:path>
                </a:pathLst>
              </a:custGeom>
              <a:solidFill>
                <a:srgbClr val="606060"/>
              </a:solidFill>
            </p:spPr>
            <p:txBody>
              <a:bodyPr/>
              <a:lstStyle/>
              <a:p>
                <a:endParaRPr lang="en-US"/>
              </a:p>
            </p:txBody>
          </p:sp>
          <p:sp>
            <p:nvSpPr>
              <p:cNvPr id="29" name="Freeform 29"/>
              <p:cNvSpPr/>
              <p:nvPr/>
            </p:nvSpPr>
            <p:spPr>
              <a:xfrm>
                <a:off x="0" y="685800"/>
                <a:ext cx="27940" cy="213360"/>
              </a:xfrm>
              <a:custGeom>
                <a:avLst/>
                <a:gdLst/>
                <a:ahLst/>
                <a:cxnLst/>
                <a:rect l="l" t="t" r="r" b="b"/>
                <a:pathLst>
                  <a:path w="27940" h="213360">
                    <a:moveTo>
                      <a:pt x="0" y="26670"/>
                    </a:moveTo>
                    <a:lnTo>
                      <a:pt x="0" y="185420"/>
                    </a:lnTo>
                    <a:cubicBezTo>
                      <a:pt x="0" y="200660"/>
                      <a:pt x="12700" y="213360"/>
                      <a:pt x="27940" y="213360"/>
                    </a:cubicBezTo>
                    <a:lnTo>
                      <a:pt x="27940" y="0"/>
                    </a:lnTo>
                    <a:cubicBezTo>
                      <a:pt x="12700" y="0"/>
                      <a:pt x="0" y="11430"/>
                      <a:pt x="0" y="26670"/>
                    </a:cubicBezTo>
                    <a:close/>
                  </a:path>
                </a:pathLst>
              </a:custGeom>
              <a:solidFill>
                <a:srgbClr val="B8B8B8"/>
              </a:solidFill>
            </p:spPr>
            <p:txBody>
              <a:bodyPr/>
              <a:lstStyle/>
              <a:p>
                <a:endParaRPr lang="en-US"/>
              </a:p>
            </p:txBody>
          </p:sp>
          <p:sp>
            <p:nvSpPr>
              <p:cNvPr id="30" name="Freeform 30"/>
              <p:cNvSpPr/>
              <p:nvPr/>
            </p:nvSpPr>
            <p:spPr>
              <a:xfrm>
                <a:off x="0" y="1057910"/>
                <a:ext cx="27940" cy="384810"/>
              </a:xfrm>
              <a:custGeom>
                <a:avLst/>
                <a:gdLst/>
                <a:ahLst/>
                <a:cxnLst/>
                <a:rect l="l" t="t" r="r" b="b"/>
                <a:pathLst>
                  <a:path w="27940" h="384810">
                    <a:moveTo>
                      <a:pt x="0" y="26670"/>
                    </a:moveTo>
                    <a:lnTo>
                      <a:pt x="0" y="356870"/>
                    </a:lnTo>
                    <a:cubicBezTo>
                      <a:pt x="0" y="372110"/>
                      <a:pt x="12700" y="384810"/>
                      <a:pt x="27940" y="384810"/>
                    </a:cubicBezTo>
                    <a:lnTo>
                      <a:pt x="27940" y="0"/>
                    </a:lnTo>
                    <a:cubicBezTo>
                      <a:pt x="12700" y="0"/>
                      <a:pt x="0" y="11430"/>
                      <a:pt x="0" y="26670"/>
                    </a:cubicBezTo>
                    <a:close/>
                  </a:path>
                </a:pathLst>
              </a:custGeom>
              <a:solidFill>
                <a:srgbClr val="B8B8B8"/>
              </a:solidFill>
            </p:spPr>
            <p:txBody>
              <a:bodyPr/>
              <a:lstStyle/>
              <a:p>
                <a:endParaRPr lang="en-US"/>
              </a:p>
            </p:txBody>
          </p:sp>
          <p:sp>
            <p:nvSpPr>
              <p:cNvPr id="31" name="Freeform 31"/>
              <p:cNvSpPr/>
              <p:nvPr/>
            </p:nvSpPr>
            <p:spPr>
              <a:xfrm>
                <a:off x="0" y="1526540"/>
                <a:ext cx="27940" cy="386080"/>
              </a:xfrm>
              <a:custGeom>
                <a:avLst/>
                <a:gdLst/>
                <a:ahLst/>
                <a:cxnLst/>
                <a:rect l="l" t="t" r="r" b="b"/>
                <a:pathLst>
                  <a:path w="27940" h="386080">
                    <a:moveTo>
                      <a:pt x="0" y="27940"/>
                    </a:moveTo>
                    <a:lnTo>
                      <a:pt x="0" y="358140"/>
                    </a:lnTo>
                    <a:cubicBezTo>
                      <a:pt x="0" y="373380"/>
                      <a:pt x="12700" y="386080"/>
                      <a:pt x="27940" y="386080"/>
                    </a:cubicBezTo>
                    <a:lnTo>
                      <a:pt x="27940" y="0"/>
                    </a:lnTo>
                    <a:cubicBezTo>
                      <a:pt x="12700" y="0"/>
                      <a:pt x="0" y="12700"/>
                      <a:pt x="0" y="27940"/>
                    </a:cubicBezTo>
                    <a:close/>
                  </a:path>
                </a:pathLst>
              </a:custGeom>
              <a:solidFill>
                <a:srgbClr val="B8B8B8"/>
              </a:solidFill>
            </p:spPr>
            <p:txBody>
              <a:bodyPr/>
              <a:lstStyle/>
              <a:p>
                <a:endParaRPr lang="en-US"/>
              </a:p>
            </p:txBody>
          </p:sp>
          <p:sp>
            <p:nvSpPr>
              <p:cNvPr id="32" name="Freeform 32"/>
              <p:cNvSpPr/>
              <p:nvPr/>
            </p:nvSpPr>
            <p:spPr>
              <a:xfrm>
                <a:off x="2592070" y="1184910"/>
                <a:ext cx="27940" cy="618490"/>
              </a:xfrm>
              <a:custGeom>
                <a:avLst/>
                <a:gdLst/>
                <a:ahLst/>
                <a:cxnLst/>
                <a:rect l="l" t="t" r="r" b="b"/>
                <a:pathLst>
                  <a:path w="27940" h="618490">
                    <a:moveTo>
                      <a:pt x="0" y="0"/>
                    </a:moveTo>
                    <a:lnTo>
                      <a:pt x="0" y="618490"/>
                    </a:lnTo>
                    <a:cubicBezTo>
                      <a:pt x="15240" y="618490"/>
                      <a:pt x="27940" y="605790"/>
                      <a:pt x="27940" y="590550"/>
                    </a:cubicBezTo>
                    <a:lnTo>
                      <a:pt x="27940" y="27940"/>
                    </a:lnTo>
                    <a:cubicBezTo>
                      <a:pt x="27940" y="12700"/>
                      <a:pt x="15240" y="0"/>
                      <a:pt x="0" y="0"/>
                    </a:cubicBezTo>
                    <a:close/>
                  </a:path>
                </a:pathLst>
              </a:custGeom>
              <a:solidFill>
                <a:srgbClr val="B8B8B8"/>
              </a:solidFill>
            </p:spPr>
            <p:txBody>
              <a:bodyPr/>
              <a:lstStyle/>
              <a:p>
                <a:endParaRPr lang="en-US"/>
              </a:p>
            </p:txBody>
          </p:sp>
          <p:sp>
            <p:nvSpPr>
              <p:cNvPr id="33" name="Freeform 33"/>
              <p:cNvSpPr/>
              <p:nvPr/>
            </p:nvSpPr>
            <p:spPr>
              <a:xfrm>
                <a:off x="27940" y="0"/>
                <a:ext cx="2564130" cy="5182870"/>
              </a:xfrm>
              <a:custGeom>
                <a:avLst/>
                <a:gdLst/>
                <a:ahLst/>
                <a:cxnLst/>
                <a:rect l="l" t="t" r="r" b="b"/>
                <a:pathLst>
                  <a:path w="2564130" h="5182870">
                    <a:moveTo>
                      <a:pt x="2564130" y="1184910"/>
                    </a:moveTo>
                    <a:lnTo>
                      <a:pt x="2564130" y="379730"/>
                    </a:lnTo>
                    <a:cubicBezTo>
                      <a:pt x="2564130" y="353060"/>
                      <a:pt x="2561590" y="327660"/>
                      <a:pt x="2556510" y="303530"/>
                    </a:cubicBezTo>
                    <a:cubicBezTo>
                      <a:pt x="2553970" y="290830"/>
                      <a:pt x="2551430" y="279400"/>
                      <a:pt x="2547620" y="266700"/>
                    </a:cubicBezTo>
                    <a:cubicBezTo>
                      <a:pt x="2542540" y="248920"/>
                      <a:pt x="2534920" y="231140"/>
                      <a:pt x="2527300" y="214630"/>
                    </a:cubicBezTo>
                    <a:cubicBezTo>
                      <a:pt x="2522220" y="203200"/>
                      <a:pt x="2515870" y="193040"/>
                      <a:pt x="2509520" y="182880"/>
                    </a:cubicBezTo>
                    <a:cubicBezTo>
                      <a:pt x="2503170" y="172720"/>
                      <a:pt x="2496820" y="162560"/>
                      <a:pt x="2489200" y="152400"/>
                    </a:cubicBezTo>
                    <a:cubicBezTo>
                      <a:pt x="2477770" y="137160"/>
                      <a:pt x="2466340" y="124460"/>
                      <a:pt x="2453640" y="110490"/>
                    </a:cubicBezTo>
                    <a:cubicBezTo>
                      <a:pt x="2444750" y="101600"/>
                      <a:pt x="2435860" y="93980"/>
                      <a:pt x="2426970" y="86360"/>
                    </a:cubicBezTo>
                    <a:cubicBezTo>
                      <a:pt x="2360930" y="31750"/>
                      <a:pt x="2277110" y="0"/>
                      <a:pt x="2185670" y="0"/>
                    </a:cubicBezTo>
                    <a:lnTo>
                      <a:pt x="379730" y="0"/>
                    </a:lnTo>
                    <a:cubicBezTo>
                      <a:pt x="288290" y="0"/>
                      <a:pt x="203200" y="33020"/>
                      <a:pt x="138430" y="86360"/>
                    </a:cubicBezTo>
                    <a:cubicBezTo>
                      <a:pt x="129540" y="93980"/>
                      <a:pt x="120650" y="102870"/>
                      <a:pt x="111760" y="110490"/>
                    </a:cubicBezTo>
                    <a:cubicBezTo>
                      <a:pt x="99060" y="123190"/>
                      <a:pt x="86360" y="137160"/>
                      <a:pt x="76200" y="152400"/>
                    </a:cubicBezTo>
                    <a:cubicBezTo>
                      <a:pt x="68580" y="162560"/>
                      <a:pt x="62230" y="172720"/>
                      <a:pt x="55880" y="182880"/>
                    </a:cubicBezTo>
                    <a:cubicBezTo>
                      <a:pt x="49530" y="193040"/>
                      <a:pt x="43180" y="204470"/>
                      <a:pt x="38100" y="214630"/>
                    </a:cubicBezTo>
                    <a:cubicBezTo>
                      <a:pt x="29210" y="232410"/>
                      <a:pt x="22860" y="248920"/>
                      <a:pt x="16510" y="266700"/>
                    </a:cubicBezTo>
                    <a:cubicBezTo>
                      <a:pt x="12700" y="279400"/>
                      <a:pt x="10160" y="290830"/>
                      <a:pt x="7620" y="303530"/>
                    </a:cubicBezTo>
                    <a:cubicBezTo>
                      <a:pt x="2540" y="327660"/>
                      <a:pt x="0" y="354330"/>
                      <a:pt x="0" y="379730"/>
                    </a:cubicBezTo>
                    <a:lnTo>
                      <a:pt x="0" y="4803140"/>
                    </a:lnTo>
                    <a:cubicBezTo>
                      <a:pt x="0" y="5012690"/>
                      <a:pt x="170180" y="5182870"/>
                      <a:pt x="379730" y="5182870"/>
                    </a:cubicBezTo>
                    <a:lnTo>
                      <a:pt x="2184400" y="5182870"/>
                    </a:lnTo>
                    <a:cubicBezTo>
                      <a:pt x="2393950" y="5182870"/>
                      <a:pt x="2564130" y="5012690"/>
                      <a:pt x="2564130" y="4803140"/>
                    </a:cubicBezTo>
                    <a:lnTo>
                      <a:pt x="2564130" y="1184910"/>
                    </a:lnTo>
                    <a:close/>
                    <a:moveTo>
                      <a:pt x="2538730" y="1184910"/>
                    </a:moveTo>
                    <a:lnTo>
                      <a:pt x="2538730" y="4804410"/>
                    </a:lnTo>
                    <a:cubicBezTo>
                      <a:pt x="2538730" y="4999990"/>
                      <a:pt x="2379980" y="5158740"/>
                      <a:pt x="2184400" y="5158740"/>
                    </a:cubicBezTo>
                    <a:lnTo>
                      <a:pt x="379730" y="5158740"/>
                    </a:lnTo>
                    <a:cubicBezTo>
                      <a:pt x="184150" y="5158740"/>
                      <a:pt x="25400" y="4999990"/>
                      <a:pt x="25400" y="4804410"/>
                    </a:cubicBezTo>
                    <a:lnTo>
                      <a:pt x="25400" y="381000"/>
                    </a:lnTo>
                    <a:cubicBezTo>
                      <a:pt x="25400" y="184150"/>
                      <a:pt x="184150" y="25400"/>
                      <a:pt x="379730" y="25400"/>
                    </a:cubicBezTo>
                    <a:lnTo>
                      <a:pt x="2184400" y="25400"/>
                    </a:lnTo>
                    <a:cubicBezTo>
                      <a:pt x="2379980" y="25400"/>
                      <a:pt x="2538730" y="184150"/>
                      <a:pt x="2538730" y="379730"/>
                    </a:cubicBezTo>
                    <a:lnTo>
                      <a:pt x="2538730" y="1184910"/>
                    </a:lnTo>
                    <a:close/>
                  </a:path>
                </a:pathLst>
              </a:custGeom>
              <a:solidFill>
                <a:srgbClr val="E9E9E9"/>
              </a:solidFill>
            </p:spPr>
            <p:txBody>
              <a:bodyPr/>
              <a:lstStyle/>
              <a:p>
                <a:endParaRPr lang="en-US"/>
              </a:p>
            </p:txBody>
          </p:sp>
        </p:grpSp>
        <p:grpSp>
          <p:nvGrpSpPr>
            <p:cNvPr id="34" name="Group 34"/>
            <p:cNvGrpSpPr/>
            <p:nvPr/>
          </p:nvGrpSpPr>
          <p:grpSpPr>
            <a:xfrm>
              <a:off x="132110" y="-79455"/>
              <a:ext cx="5324116" cy="10899776"/>
              <a:chOff x="0" y="-47625"/>
              <a:chExt cx="1051677" cy="2153042"/>
            </a:xfrm>
          </p:grpSpPr>
          <p:sp>
            <p:nvSpPr>
              <p:cNvPr id="35" name="Freeform 35"/>
              <p:cNvSpPr/>
              <p:nvPr/>
            </p:nvSpPr>
            <p:spPr>
              <a:xfrm>
                <a:off x="0" y="0"/>
                <a:ext cx="1051677" cy="2105417"/>
              </a:xfrm>
              <a:custGeom>
                <a:avLst/>
                <a:gdLst/>
                <a:ahLst/>
                <a:cxnLst/>
                <a:rect l="l" t="t" r="r" b="b"/>
                <a:pathLst>
                  <a:path w="1005423" h="2105417">
                    <a:moveTo>
                      <a:pt x="103429" y="0"/>
                    </a:moveTo>
                    <a:lnTo>
                      <a:pt x="901994" y="0"/>
                    </a:lnTo>
                    <a:cubicBezTo>
                      <a:pt x="959116" y="0"/>
                      <a:pt x="1005423" y="46307"/>
                      <a:pt x="1005423" y="103429"/>
                    </a:cubicBezTo>
                    <a:lnTo>
                      <a:pt x="1005423" y="2001988"/>
                    </a:lnTo>
                    <a:cubicBezTo>
                      <a:pt x="1005423" y="2059110"/>
                      <a:pt x="959116" y="2105417"/>
                      <a:pt x="901994" y="2105417"/>
                    </a:cubicBezTo>
                    <a:lnTo>
                      <a:pt x="103429" y="2105417"/>
                    </a:lnTo>
                    <a:cubicBezTo>
                      <a:pt x="46307" y="2105417"/>
                      <a:pt x="0" y="2059110"/>
                      <a:pt x="0" y="2001988"/>
                    </a:cubicBezTo>
                    <a:lnTo>
                      <a:pt x="0" y="103429"/>
                    </a:lnTo>
                    <a:cubicBezTo>
                      <a:pt x="0" y="46307"/>
                      <a:pt x="46307" y="0"/>
                      <a:pt x="103429" y="0"/>
                    </a:cubicBezTo>
                    <a:close/>
                  </a:path>
                </a:pathLst>
              </a:custGeom>
              <a:solidFill>
                <a:srgbClr val="141414"/>
              </a:solidFill>
            </p:spPr>
            <p:txBody>
              <a:bodyPr/>
              <a:lstStyle/>
              <a:p>
                <a:endParaRPr lang="en-US"/>
              </a:p>
            </p:txBody>
          </p:sp>
          <p:sp>
            <p:nvSpPr>
              <p:cNvPr id="36" name="TextBox 36"/>
              <p:cNvSpPr txBox="1"/>
              <p:nvPr/>
            </p:nvSpPr>
            <p:spPr>
              <a:xfrm>
                <a:off x="0" y="-47625"/>
                <a:ext cx="1005423" cy="2153042"/>
              </a:xfrm>
              <a:prstGeom prst="rect">
                <a:avLst/>
              </a:prstGeom>
            </p:spPr>
            <p:txBody>
              <a:bodyPr lIns="50800" tIns="50800" rIns="50800" bIns="50800" rtlCol="0" anchor="ctr"/>
              <a:lstStyle/>
              <a:p>
                <a:pPr algn="ctr">
                  <a:lnSpc>
                    <a:spcPts val="2340"/>
                  </a:lnSpc>
                </a:pPr>
                <a:endParaRPr/>
              </a:p>
            </p:txBody>
          </p:sp>
        </p:grpSp>
        <p:sp>
          <p:nvSpPr>
            <p:cNvPr id="37" name="Freeform 37"/>
            <p:cNvSpPr/>
            <p:nvPr/>
          </p:nvSpPr>
          <p:spPr>
            <a:xfrm>
              <a:off x="345184" y="605946"/>
              <a:ext cx="942673" cy="942673"/>
            </a:xfrm>
            <a:custGeom>
              <a:avLst/>
              <a:gdLst/>
              <a:ahLst/>
              <a:cxnLst/>
              <a:rect l="l" t="t" r="r" b="b"/>
              <a:pathLst>
                <a:path w="942673" h="942673">
                  <a:moveTo>
                    <a:pt x="0" y="0"/>
                  </a:moveTo>
                  <a:lnTo>
                    <a:pt x="942673" y="0"/>
                  </a:lnTo>
                  <a:lnTo>
                    <a:pt x="942673" y="942673"/>
                  </a:lnTo>
                  <a:lnTo>
                    <a:pt x="0" y="942673"/>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n-US"/>
            </a:p>
          </p:txBody>
        </p:sp>
        <p:sp>
          <p:nvSpPr>
            <p:cNvPr id="38" name="Freeform 38"/>
            <p:cNvSpPr/>
            <p:nvPr/>
          </p:nvSpPr>
          <p:spPr>
            <a:xfrm>
              <a:off x="607468" y="812658"/>
              <a:ext cx="418106" cy="529248"/>
            </a:xfrm>
            <a:custGeom>
              <a:avLst/>
              <a:gdLst/>
              <a:ahLst/>
              <a:cxnLst/>
              <a:rect l="l" t="t" r="r" b="b"/>
              <a:pathLst>
                <a:path w="418106" h="529248">
                  <a:moveTo>
                    <a:pt x="0" y="0"/>
                  </a:moveTo>
                  <a:lnTo>
                    <a:pt x="418106" y="0"/>
                  </a:lnTo>
                  <a:lnTo>
                    <a:pt x="418106" y="529248"/>
                  </a:lnTo>
                  <a:lnTo>
                    <a:pt x="0" y="529248"/>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en-US"/>
            </a:p>
          </p:txBody>
        </p:sp>
        <p:sp>
          <p:nvSpPr>
            <p:cNvPr id="39" name="Freeform 39"/>
            <p:cNvSpPr/>
            <p:nvPr/>
          </p:nvSpPr>
          <p:spPr>
            <a:xfrm>
              <a:off x="4020713" y="605946"/>
              <a:ext cx="942673" cy="942673"/>
            </a:xfrm>
            <a:custGeom>
              <a:avLst/>
              <a:gdLst/>
              <a:ahLst/>
              <a:cxnLst/>
              <a:rect l="l" t="t" r="r" b="b"/>
              <a:pathLst>
                <a:path w="942673" h="942673">
                  <a:moveTo>
                    <a:pt x="0" y="0"/>
                  </a:moveTo>
                  <a:lnTo>
                    <a:pt x="942672" y="0"/>
                  </a:lnTo>
                  <a:lnTo>
                    <a:pt x="942672" y="942673"/>
                  </a:lnTo>
                  <a:lnTo>
                    <a:pt x="0" y="942673"/>
                  </a:lnTo>
                  <a:lnTo>
                    <a:pt x="0" y="0"/>
                  </a:lnTo>
                  <a:close/>
                </a:path>
              </a:pathLst>
            </a:custGeom>
            <a:blipFill>
              <a:blip>
                <a:extLst>
                  <a:ext uri="{96DAC541-7B7A-43D3-8B79-37D633B846F1}">
                    <asvg:svgBlip xmlns:asvg="http://schemas.microsoft.com/office/drawing/2016/SVG/main" r:embed="rId6"/>
                  </a:ext>
                </a:extLst>
              </a:blip>
              <a:stretch>
                <a:fillRect/>
              </a:stretch>
            </a:blipFill>
          </p:spPr>
          <p:txBody>
            <a:bodyPr/>
            <a:lstStyle/>
            <a:p>
              <a:endParaRPr lang="en-US"/>
            </a:p>
          </p:txBody>
        </p:sp>
        <p:sp>
          <p:nvSpPr>
            <p:cNvPr id="40" name="Freeform 40"/>
            <p:cNvSpPr/>
            <p:nvPr/>
          </p:nvSpPr>
          <p:spPr>
            <a:xfrm>
              <a:off x="4252646" y="795632"/>
              <a:ext cx="478806" cy="563301"/>
            </a:xfrm>
            <a:custGeom>
              <a:avLst/>
              <a:gdLst/>
              <a:ahLst/>
              <a:cxnLst/>
              <a:rect l="l" t="t" r="r" b="b"/>
              <a:pathLst>
                <a:path w="478806" h="563301">
                  <a:moveTo>
                    <a:pt x="0" y="0"/>
                  </a:moveTo>
                  <a:lnTo>
                    <a:pt x="478806" y="0"/>
                  </a:lnTo>
                  <a:lnTo>
                    <a:pt x="478806" y="563301"/>
                  </a:lnTo>
                  <a:lnTo>
                    <a:pt x="0" y="563301"/>
                  </a:lnTo>
                  <a:lnTo>
                    <a:pt x="0" y="0"/>
                  </a:lnTo>
                  <a:close/>
                </a:path>
              </a:pathLst>
            </a:custGeom>
            <a:blipFill>
              <a:blip>
                <a:extLst>
                  <a:ext uri="{96DAC541-7B7A-43D3-8B79-37D633B846F1}">
                    <asvg:svgBlip xmlns:asvg="http://schemas.microsoft.com/office/drawing/2016/SVG/main" r:embed="rId7"/>
                  </a:ext>
                </a:extLst>
              </a:blip>
              <a:stretch>
                <a:fillRect/>
              </a:stretch>
            </a:blipFill>
          </p:spPr>
          <p:txBody>
            <a:bodyPr/>
            <a:lstStyle/>
            <a:p>
              <a:endParaRPr lang="en-US"/>
            </a:p>
          </p:txBody>
        </p:sp>
        <p:grpSp>
          <p:nvGrpSpPr>
            <p:cNvPr id="41" name="Group 41"/>
            <p:cNvGrpSpPr/>
            <p:nvPr/>
          </p:nvGrpSpPr>
          <p:grpSpPr>
            <a:xfrm>
              <a:off x="816521" y="1929613"/>
              <a:ext cx="1578858" cy="798756"/>
              <a:chOff x="0" y="0"/>
              <a:chExt cx="1892503" cy="957431"/>
            </a:xfrm>
          </p:grpSpPr>
          <p:sp>
            <p:nvSpPr>
              <p:cNvPr id="42" name="Freeform 42"/>
              <p:cNvSpPr/>
              <p:nvPr/>
            </p:nvSpPr>
            <p:spPr>
              <a:xfrm>
                <a:off x="0" y="0"/>
                <a:ext cx="1892503" cy="957431"/>
              </a:xfrm>
              <a:custGeom>
                <a:avLst/>
                <a:gdLst/>
                <a:ahLst/>
                <a:cxnLst/>
                <a:rect l="l" t="t" r="r" b="b"/>
                <a:pathLst>
                  <a:path w="1892503" h="957431">
                    <a:moveTo>
                      <a:pt x="0" y="0"/>
                    </a:moveTo>
                    <a:lnTo>
                      <a:pt x="1892503" y="0"/>
                    </a:lnTo>
                    <a:lnTo>
                      <a:pt x="1892503" y="957431"/>
                    </a:lnTo>
                    <a:lnTo>
                      <a:pt x="0" y="957431"/>
                    </a:lnTo>
                    <a:close/>
                  </a:path>
                </a:pathLst>
              </a:custGeom>
              <a:blipFill>
                <a:blip r:embed="rId3">
                  <a:alphaModFix amt="0"/>
                </a:blip>
                <a:stretch>
                  <a:fillRect t="-300064" r="-914656" b="-381525"/>
                </a:stretch>
              </a:blipFill>
            </p:spPr>
            <p:txBody>
              <a:bodyPr/>
              <a:lstStyle/>
              <a:p>
                <a:endParaRPr lang="en-US"/>
              </a:p>
            </p:txBody>
          </p:sp>
          <p:sp>
            <p:nvSpPr>
              <p:cNvPr id="43" name="TextBox 43"/>
              <p:cNvSpPr txBox="1"/>
              <p:nvPr/>
            </p:nvSpPr>
            <p:spPr>
              <a:xfrm>
                <a:off x="0" y="0"/>
                <a:ext cx="1892503" cy="957431"/>
              </a:xfrm>
              <a:prstGeom prst="rect">
                <a:avLst/>
              </a:prstGeom>
            </p:spPr>
            <p:txBody>
              <a:bodyPr lIns="0" tIns="0" rIns="0" bIns="0" rtlCol="0" anchor="ctr"/>
              <a:lstStyle/>
              <a:p>
                <a:pPr algn="l">
                  <a:lnSpc>
                    <a:spcPts val="1280"/>
                  </a:lnSpc>
                </a:pPr>
                <a:r>
                  <a:rPr lang="en-US" sz="1200" b="1">
                    <a:solidFill>
                      <a:srgbClr val="FFFFFF"/>
                    </a:solidFill>
                    <a:latin typeface="Arial Bold"/>
                    <a:ea typeface="Arial Bold"/>
                    <a:cs typeface="Arial Bold"/>
                    <a:sym typeface="Arial Bold"/>
                  </a:rPr>
                  <a:t>My Friends</a:t>
                </a:r>
              </a:p>
            </p:txBody>
          </p:sp>
        </p:grpSp>
        <p:grpSp>
          <p:nvGrpSpPr>
            <p:cNvPr id="44" name="Group 44"/>
            <p:cNvGrpSpPr/>
            <p:nvPr/>
          </p:nvGrpSpPr>
          <p:grpSpPr>
            <a:xfrm>
              <a:off x="2913191" y="1850275"/>
              <a:ext cx="2318060" cy="798756"/>
              <a:chOff x="0" y="0"/>
              <a:chExt cx="2778550" cy="957431"/>
            </a:xfrm>
          </p:grpSpPr>
          <p:sp>
            <p:nvSpPr>
              <p:cNvPr id="45" name="Freeform 45"/>
              <p:cNvSpPr/>
              <p:nvPr/>
            </p:nvSpPr>
            <p:spPr>
              <a:xfrm>
                <a:off x="0" y="0"/>
                <a:ext cx="2778550" cy="957431"/>
              </a:xfrm>
              <a:custGeom>
                <a:avLst/>
                <a:gdLst/>
                <a:ahLst/>
                <a:cxnLst/>
                <a:rect l="l" t="t" r="r" b="b"/>
                <a:pathLst>
                  <a:path w="2778550" h="957431">
                    <a:moveTo>
                      <a:pt x="0" y="0"/>
                    </a:moveTo>
                    <a:lnTo>
                      <a:pt x="2778550" y="0"/>
                    </a:lnTo>
                    <a:lnTo>
                      <a:pt x="2778550" y="957431"/>
                    </a:lnTo>
                    <a:lnTo>
                      <a:pt x="0" y="957431"/>
                    </a:lnTo>
                    <a:close/>
                  </a:path>
                </a:pathLst>
              </a:custGeom>
              <a:blipFill>
                <a:blip r:embed="rId3">
                  <a:alphaModFix amt="0"/>
                </a:blip>
                <a:stretch>
                  <a:fillRect t="-300064" r="-591094" b="-381525"/>
                </a:stretch>
              </a:blipFill>
            </p:spPr>
            <p:txBody>
              <a:bodyPr/>
              <a:lstStyle/>
              <a:p>
                <a:endParaRPr lang="en-US"/>
              </a:p>
            </p:txBody>
          </p:sp>
          <p:sp>
            <p:nvSpPr>
              <p:cNvPr id="46" name="TextBox 46"/>
              <p:cNvSpPr txBox="1"/>
              <p:nvPr/>
            </p:nvSpPr>
            <p:spPr>
              <a:xfrm>
                <a:off x="0" y="0"/>
                <a:ext cx="2778550" cy="957431"/>
              </a:xfrm>
              <a:prstGeom prst="rect">
                <a:avLst/>
              </a:prstGeom>
            </p:spPr>
            <p:txBody>
              <a:bodyPr lIns="0" tIns="0" rIns="0" bIns="0" rtlCol="0" anchor="ctr"/>
              <a:lstStyle/>
              <a:p>
                <a:pPr algn="l">
                  <a:lnSpc>
                    <a:spcPts val="1280"/>
                  </a:lnSpc>
                </a:pPr>
                <a:r>
                  <a:rPr lang="en-US" sz="1200" b="1">
                    <a:solidFill>
                      <a:srgbClr val="FFFFFF"/>
                    </a:solidFill>
                    <a:latin typeface="Arial Bold"/>
                    <a:ea typeface="Arial Bold"/>
                    <a:cs typeface="Arial Bold"/>
                    <a:sym typeface="Arial Bold"/>
                  </a:rPr>
                  <a:t>Friends of Friends</a:t>
                </a:r>
              </a:p>
            </p:txBody>
          </p:sp>
        </p:grpSp>
        <p:grpSp>
          <p:nvGrpSpPr>
            <p:cNvPr id="47" name="Group 47"/>
            <p:cNvGrpSpPr/>
            <p:nvPr/>
          </p:nvGrpSpPr>
          <p:grpSpPr>
            <a:xfrm>
              <a:off x="377249" y="9549613"/>
              <a:ext cx="4854002" cy="1062208"/>
              <a:chOff x="0" y="0"/>
              <a:chExt cx="958815" cy="209819"/>
            </a:xfrm>
          </p:grpSpPr>
          <p:sp>
            <p:nvSpPr>
              <p:cNvPr id="48" name="Freeform 48"/>
              <p:cNvSpPr/>
              <p:nvPr/>
            </p:nvSpPr>
            <p:spPr>
              <a:xfrm>
                <a:off x="0" y="0"/>
                <a:ext cx="958815" cy="209819"/>
              </a:xfrm>
              <a:custGeom>
                <a:avLst/>
                <a:gdLst/>
                <a:ahLst/>
                <a:cxnLst/>
                <a:rect l="l" t="t" r="r" b="b"/>
                <a:pathLst>
                  <a:path w="958815" h="209819">
                    <a:moveTo>
                      <a:pt x="104909" y="0"/>
                    </a:moveTo>
                    <a:lnTo>
                      <a:pt x="853906" y="0"/>
                    </a:lnTo>
                    <a:cubicBezTo>
                      <a:pt x="881730" y="0"/>
                      <a:pt x="908414" y="11053"/>
                      <a:pt x="928088" y="30727"/>
                    </a:cubicBezTo>
                    <a:cubicBezTo>
                      <a:pt x="947762" y="50402"/>
                      <a:pt x="958815" y="77086"/>
                      <a:pt x="958815" y="104909"/>
                    </a:cubicBezTo>
                    <a:lnTo>
                      <a:pt x="958815" y="104909"/>
                    </a:lnTo>
                    <a:cubicBezTo>
                      <a:pt x="958815" y="132733"/>
                      <a:pt x="947762" y="159417"/>
                      <a:pt x="928088" y="179092"/>
                    </a:cubicBezTo>
                    <a:cubicBezTo>
                      <a:pt x="908414" y="198766"/>
                      <a:pt x="881730" y="209819"/>
                      <a:pt x="853906" y="209819"/>
                    </a:cubicBezTo>
                    <a:lnTo>
                      <a:pt x="104909" y="209819"/>
                    </a:lnTo>
                    <a:cubicBezTo>
                      <a:pt x="77086" y="209819"/>
                      <a:pt x="50402" y="198766"/>
                      <a:pt x="30727" y="179092"/>
                    </a:cubicBezTo>
                    <a:cubicBezTo>
                      <a:pt x="11053" y="159417"/>
                      <a:pt x="0" y="132733"/>
                      <a:pt x="0" y="104909"/>
                    </a:cubicBezTo>
                    <a:lnTo>
                      <a:pt x="0" y="104909"/>
                    </a:lnTo>
                    <a:cubicBezTo>
                      <a:pt x="0" y="77086"/>
                      <a:pt x="11053" y="50402"/>
                      <a:pt x="30727" y="30727"/>
                    </a:cubicBezTo>
                    <a:cubicBezTo>
                      <a:pt x="50402" y="11053"/>
                      <a:pt x="77086" y="0"/>
                      <a:pt x="104909" y="0"/>
                    </a:cubicBezTo>
                    <a:close/>
                  </a:path>
                </a:pathLst>
              </a:custGeom>
              <a:solidFill>
                <a:srgbClr val="2B2B2B"/>
              </a:solidFill>
            </p:spPr>
            <p:txBody>
              <a:bodyPr/>
              <a:lstStyle/>
              <a:p>
                <a:endParaRPr lang="en-US"/>
              </a:p>
            </p:txBody>
          </p:sp>
          <p:sp>
            <p:nvSpPr>
              <p:cNvPr id="49" name="TextBox 49"/>
              <p:cNvSpPr txBox="1"/>
              <p:nvPr/>
            </p:nvSpPr>
            <p:spPr>
              <a:xfrm>
                <a:off x="0" y="-47625"/>
                <a:ext cx="958815" cy="257444"/>
              </a:xfrm>
              <a:prstGeom prst="rect">
                <a:avLst/>
              </a:prstGeom>
            </p:spPr>
            <p:txBody>
              <a:bodyPr lIns="50800" tIns="50800" rIns="50800" bIns="50800" rtlCol="0" anchor="ctr"/>
              <a:lstStyle/>
              <a:p>
                <a:pPr algn="ctr">
                  <a:lnSpc>
                    <a:spcPts val="2340"/>
                  </a:lnSpc>
                </a:pPr>
                <a:endParaRPr/>
              </a:p>
            </p:txBody>
          </p:sp>
        </p:grpSp>
        <p:grpSp>
          <p:nvGrpSpPr>
            <p:cNvPr id="50" name="Group 50"/>
            <p:cNvGrpSpPr/>
            <p:nvPr/>
          </p:nvGrpSpPr>
          <p:grpSpPr>
            <a:xfrm>
              <a:off x="1998789" y="605946"/>
              <a:ext cx="1578858" cy="957431"/>
              <a:chOff x="0" y="0"/>
              <a:chExt cx="1578858" cy="957431"/>
            </a:xfrm>
          </p:grpSpPr>
          <p:sp>
            <p:nvSpPr>
              <p:cNvPr id="51" name="Freeform 51"/>
              <p:cNvSpPr/>
              <p:nvPr/>
            </p:nvSpPr>
            <p:spPr>
              <a:xfrm>
                <a:off x="0" y="0"/>
                <a:ext cx="1578858" cy="957431"/>
              </a:xfrm>
              <a:custGeom>
                <a:avLst/>
                <a:gdLst/>
                <a:ahLst/>
                <a:cxnLst/>
                <a:rect l="l" t="t" r="r" b="b"/>
                <a:pathLst>
                  <a:path w="1578858" h="957431">
                    <a:moveTo>
                      <a:pt x="0" y="0"/>
                    </a:moveTo>
                    <a:lnTo>
                      <a:pt x="1578858" y="0"/>
                    </a:lnTo>
                    <a:lnTo>
                      <a:pt x="1578858" y="957431"/>
                    </a:lnTo>
                    <a:lnTo>
                      <a:pt x="0" y="957431"/>
                    </a:lnTo>
                    <a:close/>
                  </a:path>
                </a:pathLst>
              </a:custGeom>
              <a:blipFill>
                <a:blip r:embed="rId3">
                  <a:alphaModFix amt="0"/>
                </a:blip>
                <a:stretch>
                  <a:fillRect t="-300064" r="-1116220" b="-381525"/>
                </a:stretch>
              </a:blipFill>
            </p:spPr>
            <p:txBody>
              <a:bodyPr/>
              <a:lstStyle/>
              <a:p>
                <a:endParaRPr lang="en-US"/>
              </a:p>
            </p:txBody>
          </p:sp>
          <p:sp>
            <p:nvSpPr>
              <p:cNvPr id="52" name="TextBox 52"/>
              <p:cNvSpPr txBox="1"/>
              <p:nvPr/>
            </p:nvSpPr>
            <p:spPr>
              <a:xfrm>
                <a:off x="0" y="19050"/>
                <a:ext cx="1578858" cy="938381"/>
              </a:xfrm>
              <a:prstGeom prst="rect">
                <a:avLst/>
              </a:prstGeom>
            </p:spPr>
            <p:txBody>
              <a:bodyPr lIns="0" tIns="0" rIns="0" bIns="0" rtlCol="0" anchor="ctr"/>
              <a:lstStyle/>
              <a:p>
                <a:pPr algn="l">
                  <a:lnSpc>
                    <a:spcPts val="2240"/>
                  </a:lnSpc>
                </a:pPr>
                <a:r>
                  <a:rPr lang="en-US" sz="2100" b="1">
                    <a:solidFill>
                      <a:srgbClr val="FFFFFF"/>
                    </a:solidFill>
                    <a:latin typeface="Arial Bold"/>
                    <a:ea typeface="Arial Bold"/>
                    <a:cs typeface="Arial Bold"/>
                    <a:sym typeface="Arial Bold"/>
                  </a:rPr>
                  <a:t>BeReal.</a:t>
                </a:r>
              </a:p>
            </p:txBody>
          </p:sp>
        </p:grpSp>
        <p:sp>
          <p:nvSpPr>
            <p:cNvPr id="53" name="Freeform 53"/>
            <p:cNvSpPr/>
            <p:nvPr/>
          </p:nvSpPr>
          <p:spPr>
            <a:xfrm>
              <a:off x="713612" y="9888564"/>
              <a:ext cx="256494" cy="238539"/>
            </a:xfrm>
            <a:custGeom>
              <a:avLst/>
              <a:gdLst/>
              <a:ahLst/>
              <a:cxnLst/>
              <a:rect l="l" t="t" r="r" b="b"/>
              <a:pathLst>
                <a:path w="256494" h="238539">
                  <a:moveTo>
                    <a:pt x="0" y="0"/>
                  </a:moveTo>
                  <a:lnTo>
                    <a:pt x="256494" y="0"/>
                  </a:lnTo>
                  <a:lnTo>
                    <a:pt x="256494" y="238539"/>
                  </a:lnTo>
                  <a:lnTo>
                    <a:pt x="0" y="238539"/>
                  </a:lnTo>
                  <a:lnTo>
                    <a:pt x="0" y="0"/>
                  </a:lnTo>
                  <a:close/>
                </a:path>
              </a:pathLst>
            </a:custGeom>
            <a:blipFill>
              <a:blip>
                <a:extLst>
                  <a:ext uri="{96DAC541-7B7A-43D3-8B79-37D633B846F1}">
                    <asvg:svgBlip xmlns:asvg="http://schemas.microsoft.com/office/drawing/2016/SVG/main" r:embed="rId8"/>
                  </a:ext>
                </a:extLst>
              </a:blip>
              <a:stretch>
                <a:fillRect/>
              </a:stretch>
            </a:blipFill>
          </p:spPr>
          <p:txBody>
            <a:bodyPr/>
            <a:lstStyle/>
            <a:p>
              <a:endParaRPr lang="en-US"/>
            </a:p>
          </p:txBody>
        </p:sp>
        <p:sp>
          <p:nvSpPr>
            <p:cNvPr id="54" name="Freeform 54"/>
            <p:cNvSpPr/>
            <p:nvPr/>
          </p:nvSpPr>
          <p:spPr>
            <a:xfrm>
              <a:off x="1734675" y="9888564"/>
              <a:ext cx="265043" cy="238539"/>
            </a:xfrm>
            <a:custGeom>
              <a:avLst/>
              <a:gdLst/>
              <a:ahLst/>
              <a:cxnLst/>
              <a:rect l="l" t="t" r="r" b="b"/>
              <a:pathLst>
                <a:path w="265043" h="238539">
                  <a:moveTo>
                    <a:pt x="0" y="0"/>
                  </a:moveTo>
                  <a:lnTo>
                    <a:pt x="265043" y="0"/>
                  </a:lnTo>
                  <a:lnTo>
                    <a:pt x="265043" y="238539"/>
                  </a:lnTo>
                  <a:lnTo>
                    <a:pt x="0" y="238539"/>
                  </a:lnTo>
                  <a:lnTo>
                    <a:pt x="0" y="0"/>
                  </a:lnTo>
                  <a:close/>
                </a:path>
              </a:pathLst>
            </a:custGeom>
            <a:blipFill>
              <a:blip>
                <a:extLst>
                  <a:ext uri="{96DAC541-7B7A-43D3-8B79-37D633B846F1}">
                    <asvg:svgBlip xmlns:asvg="http://schemas.microsoft.com/office/drawing/2016/SVG/main" r:embed="rId9"/>
                  </a:ext>
                </a:extLst>
              </a:blip>
              <a:stretch>
                <a:fillRect/>
              </a:stretch>
            </a:blipFill>
          </p:spPr>
          <p:txBody>
            <a:bodyPr/>
            <a:lstStyle/>
            <a:p>
              <a:endParaRPr lang="en-US"/>
            </a:p>
          </p:txBody>
        </p:sp>
        <p:sp>
          <p:nvSpPr>
            <p:cNvPr id="55" name="Freeform 55"/>
            <p:cNvSpPr/>
            <p:nvPr/>
          </p:nvSpPr>
          <p:spPr>
            <a:xfrm>
              <a:off x="3577647" y="9765887"/>
              <a:ext cx="371258" cy="373124"/>
            </a:xfrm>
            <a:custGeom>
              <a:avLst/>
              <a:gdLst/>
              <a:ahLst/>
              <a:cxnLst/>
              <a:rect l="l" t="t" r="r" b="b"/>
              <a:pathLst>
                <a:path w="371258" h="373124">
                  <a:moveTo>
                    <a:pt x="0" y="0"/>
                  </a:moveTo>
                  <a:lnTo>
                    <a:pt x="371258" y="0"/>
                  </a:lnTo>
                  <a:lnTo>
                    <a:pt x="371258" y="373124"/>
                  </a:lnTo>
                  <a:lnTo>
                    <a:pt x="0" y="373124"/>
                  </a:lnTo>
                  <a:lnTo>
                    <a:pt x="0" y="0"/>
                  </a:lnTo>
                  <a:close/>
                </a:path>
              </a:pathLst>
            </a:custGeom>
            <a:blipFill>
              <a:blip>
                <a:extLst>
                  <a:ext uri="{96DAC541-7B7A-43D3-8B79-37D633B846F1}">
                    <asvg:svgBlip xmlns:asvg="http://schemas.microsoft.com/office/drawing/2016/SVG/main" r:embed="rId10"/>
                  </a:ext>
                </a:extLst>
              </a:blip>
              <a:stretch>
                <a:fillRect/>
              </a:stretch>
            </a:blipFill>
          </p:spPr>
          <p:txBody>
            <a:bodyPr/>
            <a:lstStyle/>
            <a:p>
              <a:endParaRPr lang="en-US"/>
            </a:p>
          </p:txBody>
        </p:sp>
        <p:grpSp>
          <p:nvGrpSpPr>
            <p:cNvPr id="56" name="Group 56"/>
            <p:cNvGrpSpPr/>
            <p:nvPr/>
          </p:nvGrpSpPr>
          <p:grpSpPr>
            <a:xfrm>
              <a:off x="4535455" y="9735621"/>
              <a:ext cx="433657" cy="433657"/>
              <a:chOff x="0" y="0"/>
              <a:chExt cx="812800" cy="812800"/>
            </a:xfrm>
          </p:grpSpPr>
          <p:sp>
            <p:nvSpPr>
              <p:cNvPr id="57" name="Freeform 57"/>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a:blip r:embed="rId11"/>
                <a:stretch>
                  <a:fillRect l="-155679" t="-15600" b="-54426"/>
                </a:stretch>
              </a:blipFill>
              <a:ln w="38100" cap="sq">
                <a:solidFill>
                  <a:srgbClr val="000000"/>
                </a:solidFill>
                <a:prstDash val="solid"/>
                <a:miter/>
              </a:ln>
            </p:spPr>
            <p:txBody>
              <a:bodyPr/>
              <a:lstStyle/>
              <a:p>
                <a:endParaRPr lang="en-US"/>
              </a:p>
            </p:txBody>
          </p:sp>
        </p:grpSp>
        <p:sp>
          <p:nvSpPr>
            <p:cNvPr id="58" name="Freeform 58"/>
            <p:cNvSpPr/>
            <p:nvPr/>
          </p:nvSpPr>
          <p:spPr>
            <a:xfrm>
              <a:off x="2464456" y="9747998"/>
              <a:ext cx="620166" cy="620166"/>
            </a:xfrm>
            <a:custGeom>
              <a:avLst/>
              <a:gdLst/>
              <a:ahLst/>
              <a:cxnLst/>
              <a:rect l="l" t="t" r="r" b="b"/>
              <a:pathLst>
                <a:path w="620166" h="620166">
                  <a:moveTo>
                    <a:pt x="0" y="0"/>
                  </a:moveTo>
                  <a:lnTo>
                    <a:pt x="620166" y="0"/>
                  </a:lnTo>
                  <a:lnTo>
                    <a:pt x="620166" y="620167"/>
                  </a:lnTo>
                  <a:lnTo>
                    <a:pt x="0" y="620167"/>
                  </a:lnTo>
                  <a:lnTo>
                    <a:pt x="0" y="0"/>
                  </a:lnTo>
                  <a:close/>
                </a:path>
              </a:pathLst>
            </a:custGeom>
            <a:blipFill>
              <a:blip>
                <a:extLst>
                  <a:ext uri="{96DAC541-7B7A-43D3-8B79-37D633B846F1}">
                    <asvg:svgBlip xmlns:asvg="http://schemas.microsoft.com/office/drawing/2016/SVG/main" r:embed="rId12"/>
                  </a:ext>
                </a:extLst>
              </a:blip>
              <a:stretch>
                <a:fillRect/>
              </a:stretch>
            </a:blipFill>
          </p:spPr>
          <p:txBody>
            <a:bodyPr/>
            <a:lstStyle/>
            <a:p>
              <a:endParaRPr lang="en-US"/>
            </a:p>
          </p:txBody>
        </p:sp>
        <p:sp>
          <p:nvSpPr>
            <p:cNvPr id="59" name="Freeform 59"/>
            <p:cNvSpPr/>
            <p:nvPr/>
          </p:nvSpPr>
          <p:spPr>
            <a:xfrm>
              <a:off x="2567835" y="9889618"/>
              <a:ext cx="413408" cy="336928"/>
            </a:xfrm>
            <a:custGeom>
              <a:avLst/>
              <a:gdLst/>
              <a:ahLst/>
              <a:cxnLst/>
              <a:rect l="l" t="t" r="r" b="b"/>
              <a:pathLst>
                <a:path w="413408" h="336928">
                  <a:moveTo>
                    <a:pt x="0" y="0"/>
                  </a:moveTo>
                  <a:lnTo>
                    <a:pt x="413408" y="0"/>
                  </a:lnTo>
                  <a:lnTo>
                    <a:pt x="413408" y="336927"/>
                  </a:lnTo>
                  <a:lnTo>
                    <a:pt x="0" y="336927"/>
                  </a:lnTo>
                  <a:lnTo>
                    <a:pt x="0" y="0"/>
                  </a:lnTo>
                  <a:close/>
                </a:path>
              </a:pathLst>
            </a:custGeom>
            <a:blipFill>
              <a:blip>
                <a:extLst>
                  <a:ext uri="{96DAC541-7B7A-43D3-8B79-37D633B846F1}">
                    <asvg:svgBlip xmlns:asvg="http://schemas.microsoft.com/office/drawing/2016/SVG/main" r:embed="rId13"/>
                  </a:ext>
                </a:extLst>
              </a:blip>
              <a:stretch>
                <a:fillRect/>
              </a:stretch>
            </a:blipFill>
          </p:spPr>
          <p:txBody>
            <a:bodyPr/>
            <a:lstStyle/>
            <a:p>
              <a:endParaRPr lang="en-US"/>
            </a:p>
          </p:txBody>
        </p:sp>
        <p:sp>
          <p:nvSpPr>
            <p:cNvPr id="60" name="TextBox 60"/>
            <p:cNvSpPr txBox="1"/>
            <p:nvPr/>
          </p:nvSpPr>
          <p:spPr>
            <a:xfrm>
              <a:off x="455305" y="10265151"/>
              <a:ext cx="773108" cy="186978"/>
            </a:xfrm>
            <a:prstGeom prst="rect">
              <a:avLst/>
            </a:prstGeom>
          </p:spPr>
          <p:txBody>
            <a:bodyPr lIns="0" tIns="0" rIns="0" bIns="0" rtlCol="0" anchor="t">
              <a:spAutoFit/>
            </a:bodyPr>
            <a:lstStyle/>
            <a:p>
              <a:pPr algn="ctr">
                <a:lnSpc>
                  <a:spcPts val="1020"/>
                </a:lnSpc>
                <a:spcBef>
                  <a:spcPct val="0"/>
                </a:spcBef>
              </a:pPr>
              <a:r>
                <a:rPr lang="en-US" sz="850" b="1">
                  <a:solidFill>
                    <a:srgbClr val="FFFFFF"/>
                  </a:solidFill>
                  <a:latin typeface="Calibri (MS) Bold"/>
                  <a:ea typeface="Calibri (MS) Bold"/>
                  <a:cs typeface="Calibri (MS) Bold"/>
                  <a:sym typeface="Calibri (MS) Bold"/>
                </a:rPr>
                <a:t>Home</a:t>
              </a:r>
            </a:p>
          </p:txBody>
        </p:sp>
        <p:sp>
          <p:nvSpPr>
            <p:cNvPr id="61" name="TextBox 61"/>
            <p:cNvSpPr txBox="1"/>
            <p:nvPr/>
          </p:nvSpPr>
          <p:spPr>
            <a:xfrm>
              <a:off x="1480643" y="10265151"/>
              <a:ext cx="773108" cy="186978"/>
            </a:xfrm>
            <a:prstGeom prst="rect">
              <a:avLst/>
            </a:prstGeom>
          </p:spPr>
          <p:txBody>
            <a:bodyPr lIns="0" tIns="0" rIns="0" bIns="0" rtlCol="0" anchor="t">
              <a:spAutoFit/>
            </a:bodyPr>
            <a:lstStyle/>
            <a:p>
              <a:pPr algn="ctr">
                <a:lnSpc>
                  <a:spcPts val="1020"/>
                </a:lnSpc>
                <a:spcBef>
                  <a:spcPct val="0"/>
                </a:spcBef>
              </a:pPr>
              <a:r>
                <a:rPr lang="en-US" sz="850" b="1">
                  <a:solidFill>
                    <a:srgbClr val="FFFFFF"/>
                  </a:solidFill>
                  <a:latin typeface="Calibri (MS) Bold"/>
                  <a:ea typeface="Calibri (MS) Bold"/>
                  <a:cs typeface="Calibri (MS) Bold"/>
                  <a:sym typeface="Calibri (MS) Bold"/>
                </a:rPr>
                <a:t>Chat</a:t>
              </a:r>
            </a:p>
          </p:txBody>
        </p:sp>
        <p:sp>
          <p:nvSpPr>
            <p:cNvPr id="62" name="TextBox 62"/>
            <p:cNvSpPr txBox="1"/>
            <p:nvPr/>
          </p:nvSpPr>
          <p:spPr>
            <a:xfrm>
              <a:off x="3376722" y="10265151"/>
              <a:ext cx="773108" cy="186978"/>
            </a:xfrm>
            <a:prstGeom prst="rect">
              <a:avLst/>
            </a:prstGeom>
          </p:spPr>
          <p:txBody>
            <a:bodyPr lIns="0" tIns="0" rIns="0" bIns="0" rtlCol="0" anchor="t">
              <a:spAutoFit/>
            </a:bodyPr>
            <a:lstStyle/>
            <a:p>
              <a:pPr algn="ctr">
                <a:lnSpc>
                  <a:spcPts val="1020"/>
                </a:lnSpc>
                <a:spcBef>
                  <a:spcPct val="0"/>
                </a:spcBef>
              </a:pPr>
              <a:r>
                <a:rPr lang="en-US" sz="850" b="1">
                  <a:solidFill>
                    <a:srgbClr val="FFFFFF"/>
                  </a:solidFill>
                  <a:latin typeface="Calibri (MS) Bold"/>
                  <a:ea typeface="Calibri (MS) Bold"/>
                  <a:cs typeface="Calibri (MS) Bold"/>
                  <a:sym typeface="Calibri (MS) Bold"/>
                </a:rPr>
                <a:t>Memories</a:t>
              </a:r>
            </a:p>
          </p:txBody>
        </p:sp>
        <p:sp>
          <p:nvSpPr>
            <p:cNvPr id="63" name="TextBox 63"/>
            <p:cNvSpPr txBox="1"/>
            <p:nvPr/>
          </p:nvSpPr>
          <p:spPr>
            <a:xfrm>
              <a:off x="4365730" y="10265151"/>
              <a:ext cx="773108" cy="186978"/>
            </a:xfrm>
            <a:prstGeom prst="rect">
              <a:avLst/>
            </a:prstGeom>
          </p:spPr>
          <p:txBody>
            <a:bodyPr lIns="0" tIns="0" rIns="0" bIns="0" rtlCol="0" anchor="t">
              <a:spAutoFit/>
            </a:bodyPr>
            <a:lstStyle/>
            <a:p>
              <a:pPr algn="ctr">
                <a:lnSpc>
                  <a:spcPts val="1020"/>
                </a:lnSpc>
                <a:spcBef>
                  <a:spcPct val="0"/>
                </a:spcBef>
              </a:pPr>
              <a:r>
                <a:rPr lang="en-US" sz="850" b="1">
                  <a:solidFill>
                    <a:srgbClr val="FFFFFF"/>
                  </a:solidFill>
                  <a:latin typeface="Calibri (MS) Bold"/>
                  <a:ea typeface="Calibri (MS) Bold"/>
                  <a:cs typeface="Calibri (MS) Bold"/>
                  <a:sym typeface="Calibri (MS) Bold"/>
                </a:rPr>
                <a:t>Profile</a:t>
              </a:r>
            </a:p>
          </p:txBody>
        </p:sp>
        <p:grpSp>
          <p:nvGrpSpPr>
            <p:cNvPr id="64" name="Group 64"/>
            <p:cNvGrpSpPr/>
            <p:nvPr/>
          </p:nvGrpSpPr>
          <p:grpSpPr>
            <a:xfrm>
              <a:off x="202005" y="1977562"/>
              <a:ext cx="5172426" cy="8688818"/>
              <a:chOff x="0" y="0"/>
              <a:chExt cx="601008" cy="1009594"/>
            </a:xfrm>
          </p:grpSpPr>
          <p:sp>
            <p:nvSpPr>
              <p:cNvPr id="65" name="Freeform 65"/>
              <p:cNvSpPr/>
              <p:nvPr/>
            </p:nvSpPr>
            <p:spPr>
              <a:xfrm>
                <a:off x="0" y="0"/>
                <a:ext cx="601008" cy="1009594"/>
              </a:xfrm>
              <a:custGeom>
                <a:avLst/>
                <a:gdLst/>
                <a:ahLst/>
                <a:cxnLst/>
                <a:rect l="l" t="t" r="r" b="b"/>
                <a:pathLst>
                  <a:path w="601008" h="1009594">
                    <a:moveTo>
                      <a:pt x="45901" y="0"/>
                    </a:moveTo>
                    <a:lnTo>
                      <a:pt x="555107" y="0"/>
                    </a:lnTo>
                    <a:cubicBezTo>
                      <a:pt x="580458" y="0"/>
                      <a:pt x="601008" y="20551"/>
                      <a:pt x="601008" y="45901"/>
                    </a:cubicBezTo>
                    <a:lnTo>
                      <a:pt x="601008" y="963693"/>
                    </a:lnTo>
                    <a:cubicBezTo>
                      <a:pt x="601008" y="989043"/>
                      <a:pt x="580458" y="1009594"/>
                      <a:pt x="555107" y="1009594"/>
                    </a:cubicBezTo>
                    <a:lnTo>
                      <a:pt x="45901" y="1009594"/>
                    </a:lnTo>
                    <a:cubicBezTo>
                      <a:pt x="20551" y="1009594"/>
                      <a:pt x="0" y="989043"/>
                      <a:pt x="0" y="963693"/>
                    </a:cubicBezTo>
                    <a:lnTo>
                      <a:pt x="0" y="45901"/>
                    </a:lnTo>
                    <a:cubicBezTo>
                      <a:pt x="0" y="20551"/>
                      <a:pt x="20551" y="0"/>
                      <a:pt x="45901" y="0"/>
                    </a:cubicBezTo>
                    <a:close/>
                  </a:path>
                </a:pathLst>
              </a:custGeom>
              <a:blipFill>
                <a:blip r:embed="rId14"/>
                <a:stretch>
                  <a:fillRect t="-18696" r="-8276" b="-8940"/>
                </a:stretch>
              </a:blipFill>
            </p:spPr>
            <p:txBody>
              <a:bodyPr/>
              <a:lstStyle/>
              <a:p>
                <a:endParaRPr lang="en-US"/>
              </a:p>
            </p:txBody>
          </p:sp>
        </p:grpSp>
        <p:grpSp>
          <p:nvGrpSpPr>
            <p:cNvPr id="66" name="Group 66"/>
            <p:cNvGrpSpPr/>
            <p:nvPr/>
          </p:nvGrpSpPr>
          <p:grpSpPr>
            <a:xfrm>
              <a:off x="713614" y="4194330"/>
              <a:ext cx="4249774" cy="5185915"/>
              <a:chOff x="-39351" y="-47625"/>
              <a:chExt cx="839462" cy="1024378"/>
            </a:xfrm>
          </p:grpSpPr>
          <p:sp>
            <p:nvSpPr>
              <p:cNvPr id="67" name="Freeform 67"/>
              <p:cNvSpPr/>
              <p:nvPr/>
            </p:nvSpPr>
            <p:spPr>
              <a:xfrm>
                <a:off x="-39351" y="-46739"/>
                <a:ext cx="839462" cy="1023492"/>
              </a:xfrm>
              <a:custGeom>
                <a:avLst/>
                <a:gdLst/>
                <a:ahLst/>
                <a:cxnLst/>
                <a:rect l="l" t="t" r="r" b="b"/>
                <a:pathLst>
                  <a:path w="740895" h="900835">
                    <a:moveTo>
                      <a:pt x="68803" y="0"/>
                    </a:moveTo>
                    <a:lnTo>
                      <a:pt x="672092" y="0"/>
                    </a:lnTo>
                    <a:cubicBezTo>
                      <a:pt x="710091" y="0"/>
                      <a:pt x="740895" y="30804"/>
                      <a:pt x="740895" y="68803"/>
                    </a:cubicBezTo>
                    <a:lnTo>
                      <a:pt x="740895" y="832032"/>
                    </a:lnTo>
                    <a:cubicBezTo>
                      <a:pt x="740895" y="870031"/>
                      <a:pt x="710091" y="900835"/>
                      <a:pt x="672092" y="900835"/>
                    </a:cubicBezTo>
                    <a:lnTo>
                      <a:pt x="68803" y="900835"/>
                    </a:lnTo>
                    <a:cubicBezTo>
                      <a:pt x="30804" y="900835"/>
                      <a:pt x="0" y="870031"/>
                      <a:pt x="0" y="832032"/>
                    </a:cubicBezTo>
                    <a:lnTo>
                      <a:pt x="0" y="68803"/>
                    </a:lnTo>
                    <a:cubicBezTo>
                      <a:pt x="0" y="30804"/>
                      <a:pt x="30804" y="0"/>
                      <a:pt x="68803" y="0"/>
                    </a:cubicBezTo>
                    <a:close/>
                  </a:path>
                </a:pathLst>
              </a:custGeom>
              <a:solidFill>
                <a:srgbClr val="484747"/>
              </a:solidFill>
            </p:spPr>
            <p:txBody>
              <a:bodyPr/>
              <a:lstStyle/>
              <a:p>
                <a:endParaRPr lang="en-US"/>
              </a:p>
            </p:txBody>
          </p:sp>
          <p:sp>
            <p:nvSpPr>
              <p:cNvPr id="68" name="TextBox 68"/>
              <p:cNvSpPr txBox="1"/>
              <p:nvPr/>
            </p:nvSpPr>
            <p:spPr>
              <a:xfrm>
                <a:off x="0" y="-47625"/>
                <a:ext cx="740895" cy="948460"/>
              </a:xfrm>
              <a:prstGeom prst="rect">
                <a:avLst/>
              </a:prstGeom>
            </p:spPr>
            <p:txBody>
              <a:bodyPr lIns="50800" tIns="50800" rIns="50800" bIns="50800" rtlCol="0" anchor="ctr"/>
              <a:lstStyle/>
              <a:p>
                <a:pPr algn="ctr">
                  <a:lnSpc>
                    <a:spcPts val="2340"/>
                  </a:lnSpc>
                </a:pPr>
                <a:r>
                  <a:rPr lang="en-US" sz="1950" b="1" dirty="0">
                    <a:solidFill>
                      <a:srgbClr val="000000"/>
                    </a:solidFill>
                    <a:latin typeface="Calibri (MS) Bold"/>
                    <a:ea typeface="Calibri (MS) Bold"/>
                    <a:cs typeface="Calibri (MS) Bold"/>
                    <a:sym typeface="Calibri (MS) Bold"/>
                  </a:rPr>
                  <a:t>⚠️ </a:t>
                </a:r>
                <a:r>
                  <a:rPr lang="en-US" sz="1950" b="1" dirty="0">
                    <a:solidFill>
                      <a:srgbClr val="FFFFFF"/>
                    </a:solidFill>
                    <a:latin typeface="Calibri (MS) Bold"/>
                    <a:ea typeface="Calibri (MS) Bold"/>
                    <a:cs typeface="Calibri (MS) Bold"/>
                    <a:sym typeface="Calibri (MS) Bold"/>
                  </a:rPr>
                  <a:t>12:00 AM Community Board open!!</a:t>
                </a:r>
              </a:p>
              <a:p>
                <a:pPr algn="ctr">
                  <a:lnSpc>
                    <a:spcPts val="2340"/>
                  </a:lnSpc>
                </a:pPr>
                <a:endParaRPr lang="en-US" sz="1950" b="1" dirty="0">
                  <a:solidFill>
                    <a:srgbClr val="FFFFFF"/>
                  </a:solidFill>
                  <a:latin typeface="Calibri (MS) Bold"/>
                  <a:ea typeface="Calibri (MS) Bold"/>
                  <a:cs typeface="Calibri (MS) Bold"/>
                  <a:sym typeface="Calibri (MS) Bold"/>
                </a:endParaRPr>
              </a:p>
              <a:p>
                <a:pPr algn="ctr">
                  <a:lnSpc>
                    <a:spcPts val="2340"/>
                  </a:lnSpc>
                </a:pPr>
                <a:r>
                  <a:rPr lang="en-US" sz="1950" b="1" dirty="0">
                    <a:solidFill>
                      <a:srgbClr val="FFFFFF"/>
                    </a:solidFill>
                    <a:latin typeface="Calibri (MS) Bold"/>
                    <a:ea typeface="Calibri (MS) Bold"/>
                    <a:cs typeface="Calibri (MS) Bold"/>
                    <a:sym typeface="Calibri (MS) Bold"/>
                  </a:rPr>
                  <a:t>Capture a moment to get your BeReal Passport.</a:t>
                </a:r>
              </a:p>
              <a:p>
                <a:pPr algn="ctr">
                  <a:lnSpc>
                    <a:spcPts val="2340"/>
                  </a:lnSpc>
                </a:pPr>
                <a:endParaRPr lang="en-US" sz="1950" b="1" dirty="0">
                  <a:solidFill>
                    <a:srgbClr val="FFFFFF"/>
                  </a:solidFill>
                  <a:latin typeface="Calibri (MS) Bold"/>
                  <a:ea typeface="Calibri (MS) Bold"/>
                  <a:cs typeface="Calibri (MS) Bold"/>
                  <a:sym typeface="Calibri (MS) Bold"/>
                </a:endParaRPr>
              </a:p>
              <a:p>
                <a:pPr algn="ctr">
                  <a:lnSpc>
                    <a:spcPts val="2340"/>
                  </a:lnSpc>
                </a:pPr>
                <a:r>
                  <a:rPr lang="en-US" sz="1950" b="1" dirty="0">
                    <a:solidFill>
                      <a:srgbClr val="FFFFFF"/>
                    </a:solidFill>
                    <a:latin typeface="Calibri (MS) Bold"/>
                    <a:ea typeface="Calibri (MS) Bold"/>
                    <a:cs typeface="Calibri (MS) Bold"/>
                    <a:sym typeface="Calibri (MS) Bold"/>
                  </a:rPr>
                  <a:t>Take a photo → Choose a Community Board → Real Passport Stamp added and posted to community board.</a:t>
                </a:r>
              </a:p>
            </p:txBody>
          </p:sp>
        </p:grpSp>
      </p:grpSp>
      <p:grpSp>
        <p:nvGrpSpPr>
          <p:cNvPr id="69" name="Group 69"/>
          <p:cNvGrpSpPr/>
          <p:nvPr/>
        </p:nvGrpSpPr>
        <p:grpSpPr>
          <a:xfrm>
            <a:off x="13516715" y="946183"/>
            <a:ext cx="4269525" cy="8333016"/>
            <a:chOff x="0" y="-79455"/>
            <a:chExt cx="5692699" cy="11110688"/>
          </a:xfrm>
        </p:grpSpPr>
        <p:grpSp>
          <p:nvGrpSpPr>
            <p:cNvPr id="70" name="Group 70"/>
            <p:cNvGrpSpPr>
              <a:grpSpLocks noChangeAspect="1"/>
            </p:cNvGrpSpPr>
            <p:nvPr/>
          </p:nvGrpSpPr>
          <p:grpSpPr>
            <a:xfrm>
              <a:off x="0" y="0"/>
              <a:ext cx="5692699" cy="11031233"/>
              <a:chOff x="0" y="0"/>
              <a:chExt cx="2674635" cy="5182870"/>
            </a:xfrm>
          </p:grpSpPr>
          <p:sp>
            <p:nvSpPr>
              <p:cNvPr id="71" name="Freeform 71"/>
              <p:cNvSpPr/>
              <p:nvPr/>
            </p:nvSpPr>
            <p:spPr>
              <a:xfrm>
                <a:off x="53340" y="25400"/>
                <a:ext cx="2513330" cy="5132070"/>
              </a:xfrm>
              <a:custGeom>
                <a:avLst/>
                <a:gdLst/>
                <a:ahLst/>
                <a:cxnLst/>
                <a:rect l="l" t="t" r="r" b="b"/>
                <a:pathLst>
                  <a:path w="2513330" h="5132070">
                    <a:moveTo>
                      <a:pt x="2159000" y="0"/>
                    </a:moveTo>
                    <a:lnTo>
                      <a:pt x="354330" y="0"/>
                    </a:lnTo>
                    <a:cubicBezTo>
                      <a:pt x="158750" y="0"/>
                      <a:pt x="0" y="158750"/>
                      <a:pt x="0" y="354330"/>
                    </a:cubicBezTo>
                    <a:lnTo>
                      <a:pt x="0" y="4777740"/>
                    </a:lnTo>
                    <a:cubicBezTo>
                      <a:pt x="0" y="4973320"/>
                      <a:pt x="158750" y="5132070"/>
                      <a:pt x="354330" y="5132070"/>
                    </a:cubicBezTo>
                    <a:lnTo>
                      <a:pt x="2159000" y="5132070"/>
                    </a:lnTo>
                    <a:cubicBezTo>
                      <a:pt x="2354580" y="5132070"/>
                      <a:pt x="2513330" y="4973320"/>
                      <a:pt x="2513330" y="4777740"/>
                    </a:cubicBezTo>
                    <a:lnTo>
                      <a:pt x="2513330" y="354330"/>
                    </a:lnTo>
                    <a:cubicBezTo>
                      <a:pt x="2513330" y="158750"/>
                      <a:pt x="2354580" y="0"/>
                      <a:pt x="2159000" y="0"/>
                    </a:cubicBezTo>
                    <a:close/>
                    <a:moveTo>
                      <a:pt x="1558290" y="162560"/>
                    </a:moveTo>
                    <a:cubicBezTo>
                      <a:pt x="1576070" y="162560"/>
                      <a:pt x="1590040" y="176530"/>
                      <a:pt x="1590040" y="194310"/>
                    </a:cubicBezTo>
                    <a:cubicBezTo>
                      <a:pt x="1590040" y="212090"/>
                      <a:pt x="1576070" y="226060"/>
                      <a:pt x="1558290" y="226060"/>
                    </a:cubicBezTo>
                    <a:cubicBezTo>
                      <a:pt x="1540510" y="226060"/>
                      <a:pt x="1526540" y="212090"/>
                      <a:pt x="1526540" y="194310"/>
                    </a:cubicBezTo>
                    <a:cubicBezTo>
                      <a:pt x="1526540" y="176530"/>
                      <a:pt x="1541780" y="162560"/>
                      <a:pt x="1558290" y="162560"/>
                    </a:cubicBezTo>
                    <a:close/>
                    <a:moveTo>
                      <a:pt x="1089660" y="172720"/>
                    </a:moveTo>
                    <a:lnTo>
                      <a:pt x="1394460" y="172720"/>
                    </a:lnTo>
                    <a:cubicBezTo>
                      <a:pt x="1405890" y="172720"/>
                      <a:pt x="1416050" y="181610"/>
                      <a:pt x="1416050" y="194310"/>
                    </a:cubicBezTo>
                    <a:cubicBezTo>
                      <a:pt x="1416050" y="207010"/>
                      <a:pt x="1405890" y="215900"/>
                      <a:pt x="1394460" y="215900"/>
                    </a:cubicBezTo>
                    <a:lnTo>
                      <a:pt x="1089660" y="215900"/>
                    </a:lnTo>
                    <a:cubicBezTo>
                      <a:pt x="1078230" y="215900"/>
                      <a:pt x="1068070" y="207010"/>
                      <a:pt x="1068070" y="194310"/>
                    </a:cubicBezTo>
                    <a:cubicBezTo>
                      <a:pt x="1068070" y="181610"/>
                      <a:pt x="1078230" y="172720"/>
                      <a:pt x="1089660" y="172720"/>
                    </a:cubicBezTo>
                    <a:close/>
                    <a:moveTo>
                      <a:pt x="2383790" y="4798060"/>
                    </a:moveTo>
                    <a:cubicBezTo>
                      <a:pt x="2383790" y="4913630"/>
                      <a:pt x="2289810" y="5007610"/>
                      <a:pt x="2174240" y="5007610"/>
                    </a:cubicBezTo>
                    <a:lnTo>
                      <a:pt x="341630" y="5007610"/>
                    </a:lnTo>
                    <a:cubicBezTo>
                      <a:pt x="226060" y="5007610"/>
                      <a:pt x="132080" y="4913630"/>
                      <a:pt x="132080" y="4798060"/>
                    </a:cubicBezTo>
                    <a:lnTo>
                      <a:pt x="132080" y="340360"/>
                    </a:lnTo>
                    <a:cubicBezTo>
                      <a:pt x="132080" y="224790"/>
                      <a:pt x="226060" y="130810"/>
                      <a:pt x="341630" y="130810"/>
                    </a:cubicBezTo>
                    <a:lnTo>
                      <a:pt x="614680" y="130810"/>
                    </a:lnTo>
                    <a:lnTo>
                      <a:pt x="614680" y="187960"/>
                    </a:lnTo>
                    <a:cubicBezTo>
                      <a:pt x="614680" y="252730"/>
                      <a:pt x="668020" y="306070"/>
                      <a:pt x="732790" y="306070"/>
                    </a:cubicBezTo>
                    <a:lnTo>
                      <a:pt x="1783080" y="306070"/>
                    </a:lnTo>
                    <a:cubicBezTo>
                      <a:pt x="1847850" y="306070"/>
                      <a:pt x="1901190" y="252730"/>
                      <a:pt x="1901190" y="187960"/>
                    </a:cubicBezTo>
                    <a:lnTo>
                      <a:pt x="1901190" y="130810"/>
                    </a:lnTo>
                    <a:lnTo>
                      <a:pt x="2172970" y="130810"/>
                    </a:lnTo>
                    <a:cubicBezTo>
                      <a:pt x="2288540" y="130810"/>
                      <a:pt x="2382520" y="224790"/>
                      <a:pt x="2382520" y="340360"/>
                    </a:cubicBezTo>
                    <a:lnTo>
                      <a:pt x="2382520" y="4798060"/>
                    </a:lnTo>
                    <a:close/>
                  </a:path>
                </a:pathLst>
              </a:custGeom>
              <a:solidFill>
                <a:srgbClr val="000000"/>
              </a:solidFill>
            </p:spPr>
            <p:txBody>
              <a:bodyPr/>
              <a:lstStyle/>
              <a:p>
                <a:endParaRPr lang="en-US"/>
              </a:p>
            </p:txBody>
          </p:sp>
          <p:sp>
            <p:nvSpPr>
              <p:cNvPr id="72" name="Freeform 72"/>
              <p:cNvSpPr/>
              <p:nvPr/>
            </p:nvSpPr>
            <p:spPr>
              <a:xfrm>
                <a:off x="185420" y="156210"/>
                <a:ext cx="2250453" cy="4876800"/>
              </a:xfrm>
              <a:custGeom>
                <a:avLst/>
                <a:gdLst/>
                <a:ahLst/>
                <a:cxnLst/>
                <a:rect l="l" t="t" r="r" b="b"/>
                <a:pathLst>
                  <a:path w="2250453" h="4876800">
                    <a:moveTo>
                      <a:pt x="2040890" y="0"/>
                    </a:moveTo>
                    <a:lnTo>
                      <a:pt x="1769110" y="0"/>
                    </a:lnTo>
                    <a:lnTo>
                      <a:pt x="1769110" y="57150"/>
                    </a:lnTo>
                    <a:cubicBezTo>
                      <a:pt x="1769110" y="121920"/>
                      <a:pt x="1715770" y="175260"/>
                      <a:pt x="1651000" y="175260"/>
                    </a:cubicBezTo>
                    <a:lnTo>
                      <a:pt x="601980" y="175260"/>
                    </a:lnTo>
                    <a:cubicBezTo>
                      <a:pt x="537210" y="175260"/>
                      <a:pt x="483870" y="121920"/>
                      <a:pt x="483870" y="57150"/>
                    </a:cubicBezTo>
                    <a:lnTo>
                      <a:pt x="483870" y="0"/>
                    </a:lnTo>
                    <a:lnTo>
                      <a:pt x="209550" y="0"/>
                    </a:lnTo>
                    <a:cubicBezTo>
                      <a:pt x="93980" y="0"/>
                      <a:pt x="0" y="93980"/>
                      <a:pt x="0" y="209550"/>
                    </a:cubicBezTo>
                    <a:lnTo>
                      <a:pt x="0" y="4667250"/>
                    </a:lnTo>
                    <a:cubicBezTo>
                      <a:pt x="0" y="4782820"/>
                      <a:pt x="93980" y="4876800"/>
                      <a:pt x="209550" y="4876800"/>
                    </a:cubicBezTo>
                    <a:lnTo>
                      <a:pt x="2040890" y="4876800"/>
                    </a:lnTo>
                    <a:cubicBezTo>
                      <a:pt x="2156460" y="4876800"/>
                      <a:pt x="2250440" y="4782820"/>
                      <a:pt x="2250440" y="4667250"/>
                    </a:cubicBezTo>
                    <a:lnTo>
                      <a:pt x="2250440" y="209550"/>
                    </a:lnTo>
                    <a:cubicBezTo>
                      <a:pt x="2251710" y="93980"/>
                      <a:pt x="2157730" y="0"/>
                      <a:pt x="2040890" y="0"/>
                    </a:cubicBezTo>
                    <a:close/>
                  </a:path>
                </a:pathLst>
              </a:custGeom>
              <a:blipFill>
                <a:blip r:embed="rId3"/>
                <a:stretch>
                  <a:fillRect l="-245588" t="-3203" r="-245531" b="-3098"/>
                </a:stretch>
              </a:blipFill>
            </p:spPr>
            <p:txBody>
              <a:bodyPr/>
              <a:lstStyle/>
              <a:p>
                <a:endParaRPr lang="en-US"/>
              </a:p>
            </p:txBody>
          </p:sp>
          <p:sp>
            <p:nvSpPr>
              <p:cNvPr id="73" name="Freeform 73"/>
              <p:cNvSpPr/>
              <p:nvPr/>
            </p:nvSpPr>
            <p:spPr>
              <a:xfrm>
                <a:off x="1121410" y="198120"/>
                <a:ext cx="347980" cy="43180"/>
              </a:xfrm>
              <a:custGeom>
                <a:avLst/>
                <a:gdLst/>
                <a:ahLst/>
                <a:cxnLst/>
                <a:rect l="l" t="t" r="r" b="b"/>
                <a:pathLst>
                  <a:path w="347980" h="43180">
                    <a:moveTo>
                      <a:pt x="326390" y="0"/>
                    </a:moveTo>
                    <a:lnTo>
                      <a:pt x="21590" y="0"/>
                    </a:lnTo>
                    <a:cubicBezTo>
                      <a:pt x="10160" y="0"/>
                      <a:pt x="0" y="8890"/>
                      <a:pt x="0" y="21590"/>
                    </a:cubicBezTo>
                    <a:cubicBezTo>
                      <a:pt x="0" y="34290"/>
                      <a:pt x="10160" y="43180"/>
                      <a:pt x="21590" y="43180"/>
                    </a:cubicBezTo>
                    <a:lnTo>
                      <a:pt x="326390" y="43180"/>
                    </a:lnTo>
                    <a:cubicBezTo>
                      <a:pt x="337820" y="43180"/>
                      <a:pt x="347980" y="34290"/>
                      <a:pt x="347980" y="21590"/>
                    </a:cubicBezTo>
                    <a:cubicBezTo>
                      <a:pt x="347980" y="8890"/>
                      <a:pt x="337820" y="0"/>
                      <a:pt x="326390" y="0"/>
                    </a:cubicBezTo>
                    <a:close/>
                  </a:path>
                </a:pathLst>
              </a:custGeom>
              <a:solidFill>
                <a:srgbClr val="606060"/>
              </a:solidFill>
            </p:spPr>
            <p:txBody>
              <a:bodyPr/>
              <a:lstStyle/>
              <a:p>
                <a:endParaRPr lang="en-US"/>
              </a:p>
            </p:txBody>
          </p:sp>
          <p:sp>
            <p:nvSpPr>
              <p:cNvPr id="74" name="Freeform 74"/>
              <p:cNvSpPr/>
              <p:nvPr/>
            </p:nvSpPr>
            <p:spPr>
              <a:xfrm>
                <a:off x="1579738" y="187960"/>
                <a:ext cx="63785" cy="63501"/>
              </a:xfrm>
              <a:custGeom>
                <a:avLst/>
                <a:gdLst/>
                <a:ahLst/>
                <a:cxnLst/>
                <a:rect l="l" t="t" r="r" b="b"/>
                <a:pathLst>
                  <a:path w="63785" h="63501">
                    <a:moveTo>
                      <a:pt x="31892" y="0"/>
                    </a:moveTo>
                    <a:cubicBezTo>
                      <a:pt x="20515" y="-51"/>
                      <a:pt x="9980" y="5989"/>
                      <a:pt x="4277" y="15834"/>
                    </a:cubicBezTo>
                    <a:cubicBezTo>
                      <a:pt x="-1426" y="25678"/>
                      <a:pt x="-1426" y="37822"/>
                      <a:pt x="4277" y="47666"/>
                    </a:cubicBezTo>
                    <a:cubicBezTo>
                      <a:pt x="9980" y="57511"/>
                      <a:pt x="20515" y="63551"/>
                      <a:pt x="31892" y="63500"/>
                    </a:cubicBezTo>
                    <a:cubicBezTo>
                      <a:pt x="43269" y="63551"/>
                      <a:pt x="53804" y="57511"/>
                      <a:pt x="59507" y="47666"/>
                    </a:cubicBezTo>
                    <a:cubicBezTo>
                      <a:pt x="65210" y="37822"/>
                      <a:pt x="65210" y="25678"/>
                      <a:pt x="59507" y="15834"/>
                    </a:cubicBezTo>
                    <a:cubicBezTo>
                      <a:pt x="53804" y="5989"/>
                      <a:pt x="43269" y="-51"/>
                      <a:pt x="31892" y="0"/>
                    </a:cubicBezTo>
                    <a:close/>
                  </a:path>
                </a:pathLst>
              </a:custGeom>
              <a:solidFill>
                <a:srgbClr val="606060"/>
              </a:solidFill>
            </p:spPr>
            <p:txBody>
              <a:bodyPr/>
              <a:lstStyle/>
              <a:p>
                <a:endParaRPr lang="en-US"/>
              </a:p>
            </p:txBody>
          </p:sp>
          <p:sp>
            <p:nvSpPr>
              <p:cNvPr id="75" name="Freeform 75"/>
              <p:cNvSpPr/>
              <p:nvPr/>
            </p:nvSpPr>
            <p:spPr>
              <a:xfrm>
                <a:off x="0" y="685800"/>
                <a:ext cx="27940" cy="213360"/>
              </a:xfrm>
              <a:custGeom>
                <a:avLst/>
                <a:gdLst/>
                <a:ahLst/>
                <a:cxnLst/>
                <a:rect l="l" t="t" r="r" b="b"/>
                <a:pathLst>
                  <a:path w="27940" h="213360">
                    <a:moveTo>
                      <a:pt x="0" y="26670"/>
                    </a:moveTo>
                    <a:lnTo>
                      <a:pt x="0" y="185420"/>
                    </a:lnTo>
                    <a:cubicBezTo>
                      <a:pt x="0" y="200660"/>
                      <a:pt x="12700" y="213360"/>
                      <a:pt x="27940" y="213360"/>
                    </a:cubicBezTo>
                    <a:lnTo>
                      <a:pt x="27940" y="0"/>
                    </a:lnTo>
                    <a:cubicBezTo>
                      <a:pt x="12700" y="0"/>
                      <a:pt x="0" y="11430"/>
                      <a:pt x="0" y="26670"/>
                    </a:cubicBezTo>
                    <a:close/>
                  </a:path>
                </a:pathLst>
              </a:custGeom>
              <a:solidFill>
                <a:srgbClr val="B8B8B8"/>
              </a:solidFill>
            </p:spPr>
            <p:txBody>
              <a:bodyPr/>
              <a:lstStyle/>
              <a:p>
                <a:endParaRPr lang="en-US"/>
              </a:p>
            </p:txBody>
          </p:sp>
          <p:sp>
            <p:nvSpPr>
              <p:cNvPr id="76" name="Freeform 76"/>
              <p:cNvSpPr/>
              <p:nvPr/>
            </p:nvSpPr>
            <p:spPr>
              <a:xfrm>
                <a:off x="0" y="1057910"/>
                <a:ext cx="27940" cy="384810"/>
              </a:xfrm>
              <a:custGeom>
                <a:avLst/>
                <a:gdLst/>
                <a:ahLst/>
                <a:cxnLst/>
                <a:rect l="l" t="t" r="r" b="b"/>
                <a:pathLst>
                  <a:path w="27940" h="384810">
                    <a:moveTo>
                      <a:pt x="0" y="26670"/>
                    </a:moveTo>
                    <a:lnTo>
                      <a:pt x="0" y="356870"/>
                    </a:lnTo>
                    <a:cubicBezTo>
                      <a:pt x="0" y="372110"/>
                      <a:pt x="12700" y="384810"/>
                      <a:pt x="27940" y="384810"/>
                    </a:cubicBezTo>
                    <a:lnTo>
                      <a:pt x="27940" y="0"/>
                    </a:lnTo>
                    <a:cubicBezTo>
                      <a:pt x="12700" y="0"/>
                      <a:pt x="0" y="11430"/>
                      <a:pt x="0" y="26670"/>
                    </a:cubicBezTo>
                    <a:close/>
                  </a:path>
                </a:pathLst>
              </a:custGeom>
              <a:solidFill>
                <a:srgbClr val="B8B8B8"/>
              </a:solidFill>
            </p:spPr>
            <p:txBody>
              <a:bodyPr/>
              <a:lstStyle/>
              <a:p>
                <a:endParaRPr lang="en-US"/>
              </a:p>
            </p:txBody>
          </p:sp>
          <p:sp>
            <p:nvSpPr>
              <p:cNvPr id="77" name="Freeform 77"/>
              <p:cNvSpPr/>
              <p:nvPr/>
            </p:nvSpPr>
            <p:spPr>
              <a:xfrm>
                <a:off x="0" y="1526540"/>
                <a:ext cx="27940" cy="386080"/>
              </a:xfrm>
              <a:custGeom>
                <a:avLst/>
                <a:gdLst/>
                <a:ahLst/>
                <a:cxnLst/>
                <a:rect l="l" t="t" r="r" b="b"/>
                <a:pathLst>
                  <a:path w="27940" h="386080">
                    <a:moveTo>
                      <a:pt x="0" y="27940"/>
                    </a:moveTo>
                    <a:lnTo>
                      <a:pt x="0" y="358140"/>
                    </a:lnTo>
                    <a:cubicBezTo>
                      <a:pt x="0" y="373380"/>
                      <a:pt x="12700" y="386080"/>
                      <a:pt x="27940" y="386080"/>
                    </a:cubicBezTo>
                    <a:lnTo>
                      <a:pt x="27940" y="0"/>
                    </a:lnTo>
                    <a:cubicBezTo>
                      <a:pt x="12700" y="0"/>
                      <a:pt x="0" y="12700"/>
                      <a:pt x="0" y="27940"/>
                    </a:cubicBezTo>
                    <a:close/>
                  </a:path>
                </a:pathLst>
              </a:custGeom>
              <a:solidFill>
                <a:srgbClr val="B8B8B8"/>
              </a:solidFill>
            </p:spPr>
            <p:txBody>
              <a:bodyPr/>
              <a:lstStyle/>
              <a:p>
                <a:endParaRPr lang="en-US"/>
              </a:p>
            </p:txBody>
          </p:sp>
          <p:sp>
            <p:nvSpPr>
              <p:cNvPr id="78" name="Freeform 78"/>
              <p:cNvSpPr/>
              <p:nvPr/>
            </p:nvSpPr>
            <p:spPr>
              <a:xfrm>
                <a:off x="2592070" y="1184910"/>
                <a:ext cx="27940" cy="618490"/>
              </a:xfrm>
              <a:custGeom>
                <a:avLst/>
                <a:gdLst/>
                <a:ahLst/>
                <a:cxnLst/>
                <a:rect l="l" t="t" r="r" b="b"/>
                <a:pathLst>
                  <a:path w="27940" h="618490">
                    <a:moveTo>
                      <a:pt x="0" y="0"/>
                    </a:moveTo>
                    <a:lnTo>
                      <a:pt x="0" y="618490"/>
                    </a:lnTo>
                    <a:cubicBezTo>
                      <a:pt x="15240" y="618490"/>
                      <a:pt x="27940" y="605790"/>
                      <a:pt x="27940" y="590550"/>
                    </a:cubicBezTo>
                    <a:lnTo>
                      <a:pt x="27940" y="27940"/>
                    </a:lnTo>
                    <a:cubicBezTo>
                      <a:pt x="27940" y="12700"/>
                      <a:pt x="15240" y="0"/>
                      <a:pt x="0" y="0"/>
                    </a:cubicBezTo>
                    <a:close/>
                  </a:path>
                </a:pathLst>
              </a:custGeom>
              <a:solidFill>
                <a:srgbClr val="B8B8B8"/>
              </a:solidFill>
            </p:spPr>
            <p:txBody>
              <a:bodyPr/>
              <a:lstStyle/>
              <a:p>
                <a:endParaRPr lang="en-US"/>
              </a:p>
            </p:txBody>
          </p:sp>
          <p:sp>
            <p:nvSpPr>
              <p:cNvPr id="79" name="Freeform 79"/>
              <p:cNvSpPr/>
              <p:nvPr/>
            </p:nvSpPr>
            <p:spPr>
              <a:xfrm>
                <a:off x="27940" y="0"/>
                <a:ext cx="2646695" cy="5182870"/>
              </a:xfrm>
              <a:custGeom>
                <a:avLst/>
                <a:gdLst/>
                <a:ahLst/>
                <a:cxnLst/>
                <a:rect l="l" t="t" r="r" b="b"/>
                <a:pathLst>
                  <a:path w="2564130" h="5182870">
                    <a:moveTo>
                      <a:pt x="2564130" y="1184910"/>
                    </a:moveTo>
                    <a:lnTo>
                      <a:pt x="2564130" y="379730"/>
                    </a:lnTo>
                    <a:cubicBezTo>
                      <a:pt x="2564130" y="353060"/>
                      <a:pt x="2561590" y="327660"/>
                      <a:pt x="2556510" y="303530"/>
                    </a:cubicBezTo>
                    <a:cubicBezTo>
                      <a:pt x="2553970" y="290830"/>
                      <a:pt x="2551430" y="279400"/>
                      <a:pt x="2547620" y="266700"/>
                    </a:cubicBezTo>
                    <a:cubicBezTo>
                      <a:pt x="2542540" y="248920"/>
                      <a:pt x="2534920" y="231140"/>
                      <a:pt x="2527300" y="214630"/>
                    </a:cubicBezTo>
                    <a:cubicBezTo>
                      <a:pt x="2522220" y="203200"/>
                      <a:pt x="2515870" y="193040"/>
                      <a:pt x="2509520" y="182880"/>
                    </a:cubicBezTo>
                    <a:cubicBezTo>
                      <a:pt x="2503170" y="172720"/>
                      <a:pt x="2496820" y="162560"/>
                      <a:pt x="2489200" y="152400"/>
                    </a:cubicBezTo>
                    <a:cubicBezTo>
                      <a:pt x="2477770" y="137160"/>
                      <a:pt x="2466340" y="124460"/>
                      <a:pt x="2453640" y="110490"/>
                    </a:cubicBezTo>
                    <a:cubicBezTo>
                      <a:pt x="2444750" y="101600"/>
                      <a:pt x="2435860" y="93980"/>
                      <a:pt x="2426970" y="86360"/>
                    </a:cubicBezTo>
                    <a:cubicBezTo>
                      <a:pt x="2360930" y="31750"/>
                      <a:pt x="2277110" y="0"/>
                      <a:pt x="2185670" y="0"/>
                    </a:cubicBezTo>
                    <a:lnTo>
                      <a:pt x="379730" y="0"/>
                    </a:lnTo>
                    <a:cubicBezTo>
                      <a:pt x="288290" y="0"/>
                      <a:pt x="203200" y="33020"/>
                      <a:pt x="138430" y="86360"/>
                    </a:cubicBezTo>
                    <a:cubicBezTo>
                      <a:pt x="129540" y="93980"/>
                      <a:pt x="120650" y="102870"/>
                      <a:pt x="111760" y="110490"/>
                    </a:cubicBezTo>
                    <a:cubicBezTo>
                      <a:pt x="99060" y="123190"/>
                      <a:pt x="86360" y="137160"/>
                      <a:pt x="76200" y="152400"/>
                    </a:cubicBezTo>
                    <a:cubicBezTo>
                      <a:pt x="68580" y="162560"/>
                      <a:pt x="62230" y="172720"/>
                      <a:pt x="55880" y="182880"/>
                    </a:cubicBezTo>
                    <a:cubicBezTo>
                      <a:pt x="49530" y="193040"/>
                      <a:pt x="43180" y="204470"/>
                      <a:pt x="38100" y="214630"/>
                    </a:cubicBezTo>
                    <a:cubicBezTo>
                      <a:pt x="29210" y="232410"/>
                      <a:pt x="22860" y="248920"/>
                      <a:pt x="16510" y="266700"/>
                    </a:cubicBezTo>
                    <a:cubicBezTo>
                      <a:pt x="12700" y="279400"/>
                      <a:pt x="10160" y="290830"/>
                      <a:pt x="7620" y="303530"/>
                    </a:cubicBezTo>
                    <a:cubicBezTo>
                      <a:pt x="2540" y="327660"/>
                      <a:pt x="0" y="354330"/>
                      <a:pt x="0" y="379730"/>
                    </a:cubicBezTo>
                    <a:lnTo>
                      <a:pt x="0" y="4803140"/>
                    </a:lnTo>
                    <a:cubicBezTo>
                      <a:pt x="0" y="5012690"/>
                      <a:pt x="170180" y="5182870"/>
                      <a:pt x="379730" y="5182870"/>
                    </a:cubicBezTo>
                    <a:lnTo>
                      <a:pt x="2184400" y="5182870"/>
                    </a:lnTo>
                    <a:cubicBezTo>
                      <a:pt x="2393950" y="5182870"/>
                      <a:pt x="2564130" y="5012690"/>
                      <a:pt x="2564130" y="4803140"/>
                    </a:cubicBezTo>
                    <a:lnTo>
                      <a:pt x="2564130" y="1184910"/>
                    </a:lnTo>
                    <a:close/>
                    <a:moveTo>
                      <a:pt x="2538730" y="1184910"/>
                    </a:moveTo>
                    <a:lnTo>
                      <a:pt x="2538730" y="4804410"/>
                    </a:lnTo>
                    <a:cubicBezTo>
                      <a:pt x="2538730" y="4999990"/>
                      <a:pt x="2379980" y="5158740"/>
                      <a:pt x="2184400" y="5158740"/>
                    </a:cubicBezTo>
                    <a:lnTo>
                      <a:pt x="379730" y="5158740"/>
                    </a:lnTo>
                    <a:cubicBezTo>
                      <a:pt x="184150" y="5158740"/>
                      <a:pt x="25400" y="4999990"/>
                      <a:pt x="25400" y="4804410"/>
                    </a:cubicBezTo>
                    <a:lnTo>
                      <a:pt x="25400" y="381000"/>
                    </a:lnTo>
                    <a:cubicBezTo>
                      <a:pt x="25400" y="184150"/>
                      <a:pt x="184150" y="25400"/>
                      <a:pt x="379730" y="25400"/>
                    </a:cubicBezTo>
                    <a:lnTo>
                      <a:pt x="2184400" y="25400"/>
                    </a:lnTo>
                    <a:cubicBezTo>
                      <a:pt x="2379980" y="25400"/>
                      <a:pt x="2538730" y="184150"/>
                      <a:pt x="2538730" y="379730"/>
                    </a:cubicBezTo>
                    <a:lnTo>
                      <a:pt x="2538730" y="1184910"/>
                    </a:lnTo>
                    <a:close/>
                  </a:path>
                </a:pathLst>
              </a:custGeom>
              <a:solidFill>
                <a:srgbClr val="E9E9E9"/>
              </a:solidFill>
            </p:spPr>
            <p:txBody>
              <a:bodyPr/>
              <a:lstStyle/>
              <a:p>
                <a:endParaRPr lang="en-US"/>
              </a:p>
            </p:txBody>
          </p:sp>
        </p:grpSp>
        <p:grpSp>
          <p:nvGrpSpPr>
            <p:cNvPr id="80" name="Group 80"/>
            <p:cNvGrpSpPr/>
            <p:nvPr/>
          </p:nvGrpSpPr>
          <p:grpSpPr>
            <a:xfrm>
              <a:off x="132110" y="-79455"/>
              <a:ext cx="5389802" cy="10899776"/>
              <a:chOff x="0" y="-47625"/>
              <a:chExt cx="1064652" cy="2153042"/>
            </a:xfrm>
          </p:grpSpPr>
          <p:sp>
            <p:nvSpPr>
              <p:cNvPr id="81" name="Freeform 81"/>
              <p:cNvSpPr/>
              <p:nvPr/>
            </p:nvSpPr>
            <p:spPr>
              <a:xfrm>
                <a:off x="0" y="0"/>
                <a:ext cx="1064652" cy="2105417"/>
              </a:xfrm>
              <a:custGeom>
                <a:avLst/>
                <a:gdLst/>
                <a:ahLst/>
                <a:cxnLst/>
                <a:rect l="l" t="t" r="r" b="b"/>
                <a:pathLst>
                  <a:path w="1005423" h="2105417">
                    <a:moveTo>
                      <a:pt x="103429" y="0"/>
                    </a:moveTo>
                    <a:lnTo>
                      <a:pt x="901994" y="0"/>
                    </a:lnTo>
                    <a:cubicBezTo>
                      <a:pt x="959116" y="0"/>
                      <a:pt x="1005423" y="46307"/>
                      <a:pt x="1005423" y="103429"/>
                    </a:cubicBezTo>
                    <a:lnTo>
                      <a:pt x="1005423" y="2001988"/>
                    </a:lnTo>
                    <a:cubicBezTo>
                      <a:pt x="1005423" y="2059110"/>
                      <a:pt x="959116" y="2105417"/>
                      <a:pt x="901994" y="2105417"/>
                    </a:cubicBezTo>
                    <a:lnTo>
                      <a:pt x="103429" y="2105417"/>
                    </a:lnTo>
                    <a:cubicBezTo>
                      <a:pt x="46307" y="2105417"/>
                      <a:pt x="0" y="2059110"/>
                      <a:pt x="0" y="2001988"/>
                    </a:cubicBezTo>
                    <a:lnTo>
                      <a:pt x="0" y="103429"/>
                    </a:lnTo>
                    <a:cubicBezTo>
                      <a:pt x="0" y="46307"/>
                      <a:pt x="46307" y="0"/>
                      <a:pt x="103429" y="0"/>
                    </a:cubicBezTo>
                    <a:close/>
                  </a:path>
                </a:pathLst>
              </a:custGeom>
              <a:solidFill>
                <a:srgbClr val="141414"/>
              </a:solidFill>
            </p:spPr>
            <p:txBody>
              <a:bodyPr/>
              <a:lstStyle/>
              <a:p>
                <a:endParaRPr lang="en-US"/>
              </a:p>
            </p:txBody>
          </p:sp>
          <p:sp>
            <p:nvSpPr>
              <p:cNvPr id="82" name="TextBox 82"/>
              <p:cNvSpPr txBox="1"/>
              <p:nvPr/>
            </p:nvSpPr>
            <p:spPr>
              <a:xfrm>
                <a:off x="0" y="-47625"/>
                <a:ext cx="1005423" cy="2153042"/>
              </a:xfrm>
              <a:prstGeom prst="rect">
                <a:avLst/>
              </a:prstGeom>
            </p:spPr>
            <p:txBody>
              <a:bodyPr lIns="50800" tIns="50800" rIns="50800" bIns="50800" rtlCol="0" anchor="ctr"/>
              <a:lstStyle/>
              <a:p>
                <a:pPr algn="ctr">
                  <a:lnSpc>
                    <a:spcPts val="2340"/>
                  </a:lnSpc>
                </a:pPr>
                <a:endParaRPr/>
              </a:p>
            </p:txBody>
          </p:sp>
        </p:grpSp>
        <p:sp>
          <p:nvSpPr>
            <p:cNvPr id="83" name="Freeform 83"/>
            <p:cNvSpPr/>
            <p:nvPr/>
          </p:nvSpPr>
          <p:spPr>
            <a:xfrm>
              <a:off x="345184" y="605946"/>
              <a:ext cx="942673" cy="942673"/>
            </a:xfrm>
            <a:custGeom>
              <a:avLst/>
              <a:gdLst/>
              <a:ahLst/>
              <a:cxnLst/>
              <a:rect l="l" t="t" r="r" b="b"/>
              <a:pathLst>
                <a:path w="942673" h="942673">
                  <a:moveTo>
                    <a:pt x="0" y="0"/>
                  </a:moveTo>
                  <a:lnTo>
                    <a:pt x="942673" y="0"/>
                  </a:lnTo>
                  <a:lnTo>
                    <a:pt x="942673" y="942673"/>
                  </a:lnTo>
                  <a:lnTo>
                    <a:pt x="0" y="942673"/>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n-US"/>
            </a:p>
          </p:txBody>
        </p:sp>
        <p:sp>
          <p:nvSpPr>
            <p:cNvPr id="84" name="Freeform 84"/>
            <p:cNvSpPr/>
            <p:nvPr/>
          </p:nvSpPr>
          <p:spPr>
            <a:xfrm>
              <a:off x="607468" y="812658"/>
              <a:ext cx="418106" cy="529248"/>
            </a:xfrm>
            <a:custGeom>
              <a:avLst/>
              <a:gdLst/>
              <a:ahLst/>
              <a:cxnLst/>
              <a:rect l="l" t="t" r="r" b="b"/>
              <a:pathLst>
                <a:path w="418106" h="529248">
                  <a:moveTo>
                    <a:pt x="0" y="0"/>
                  </a:moveTo>
                  <a:lnTo>
                    <a:pt x="418106" y="0"/>
                  </a:lnTo>
                  <a:lnTo>
                    <a:pt x="418106" y="529248"/>
                  </a:lnTo>
                  <a:lnTo>
                    <a:pt x="0" y="529248"/>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en-US"/>
            </a:p>
          </p:txBody>
        </p:sp>
        <p:sp>
          <p:nvSpPr>
            <p:cNvPr id="85" name="Freeform 85"/>
            <p:cNvSpPr/>
            <p:nvPr/>
          </p:nvSpPr>
          <p:spPr>
            <a:xfrm>
              <a:off x="4020713" y="605946"/>
              <a:ext cx="942673" cy="942673"/>
            </a:xfrm>
            <a:custGeom>
              <a:avLst/>
              <a:gdLst/>
              <a:ahLst/>
              <a:cxnLst/>
              <a:rect l="l" t="t" r="r" b="b"/>
              <a:pathLst>
                <a:path w="942673" h="942673">
                  <a:moveTo>
                    <a:pt x="0" y="0"/>
                  </a:moveTo>
                  <a:lnTo>
                    <a:pt x="942672" y="0"/>
                  </a:lnTo>
                  <a:lnTo>
                    <a:pt x="942672" y="942673"/>
                  </a:lnTo>
                  <a:lnTo>
                    <a:pt x="0" y="942673"/>
                  </a:lnTo>
                  <a:lnTo>
                    <a:pt x="0" y="0"/>
                  </a:lnTo>
                  <a:close/>
                </a:path>
              </a:pathLst>
            </a:custGeom>
            <a:blipFill>
              <a:blip>
                <a:extLst>
                  <a:ext uri="{96DAC541-7B7A-43D3-8B79-37D633B846F1}">
                    <asvg:svgBlip xmlns:asvg="http://schemas.microsoft.com/office/drawing/2016/SVG/main" r:embed="rId6"/>
                  </a:ext>
                </a:extLst>
              </a:blip>
              <a:stretch>
                <a:fillRect/>
              </a:stretch>
            </a:blipFill>
          </p:spPr>
          <p:txBody>
            <a:bodyPr/>
            <a:lstStyle/>
            <a:p>
              <a:endParaRPr lang="en-US"/>
            </a:p>
          </p:txBody>
        </p:sp>
        <p:sp>
          <p:nvSpPr>
            <p:cNvPr id="86" name="Freeform 86"/>
            <p:cNvSpPr/>
            <p:nvPr/>
          </p:nvSpPr>
          <p:spPr>
            <a:xfrm>
              <a:off x="4252646" y="795632"/>
              <a:ext cx="478806" cy="563301"/>
            </a:xfrm>
            <a:custGeom>
              <a:avLst/>
              <a:gdLst/>
              <a:ahLst/>
              <a:cxnLst/>
              <a:rect l="l" t="t" r="r" b="b"/>
              <a:pathLst>
                <a:path w="478806" h="563301">
                  <a:moveTo>
                    <a:pt x="0" y="0"/>
                  </a:moveTo>
                  <a:lnTo>
                    <a:pt x="478806" y="0"/>
                  </a:lnTo>
                  <a:lnTo>
                    <a:pt x="478806" y="563301"/>
                  </a:lnTo>
                  <a:lnTo>
                    <a:pt x="0" y="563301"/>
                  </a:lnTo>
                  <a:lnTo>
                    <a:pt x="0" y="0"/>
                  </a:lnTo>
                  <a:close/>
                </a:path>
              </a:pathLst>
            </a:custGeom>
            <a:blipFill>
              <a:blip>
                <a:extLst>
                  <a:ext uri="{96DAC541-7B7A-43D3-8B79-37D633B846F1}">
                    <asvg:svgBlip xmlns:asvg="http://schemas.microsoft.com/office/drawing/2016/SVG/main" r:embed="rId7"/>
                  </a:ext>
                </a:extLst>
              </a:blip>
              <a:stretch>
                <a:fillRect/>
              </a:stretch>
            </a:blipFill>
          </p:spPr>
          <p:txBody>
            <a:bodyPr/>
            <a:lstStyle/>
            <a:p>
              <a:endParaRPr lang="en-US"/>
            </a:p>
          </p:txBody>
        </p:sp>
        <p:grpSp>
          <p:nvGrpSpPr>
            <p:cNvPr id="87" name="Group 87"/>
            <p:cNvGrpSpPr/>
            <p:nvPr/>
          </p:nvGrpSpPr>
          <p:grpSpPr>
            <a:xfrm>
              <a:off x="816521" y="1929613"/>
              <a:ext cx="1578858" cy="798756"/>
              <a:chOff x="0" y="0"/>
              <a:chExt cx="1892503" cy="957431"/>
            </a:xfrm>
          </p:grpSpPr>
          <p:sp>
            <p:nvSpPr>
              <p:cNvPr id="88" name="Freeform 88"/>
              <p:cNvSpPr/>
              <p:nvPr/>
            </p:nvSpPr>
            <p:spPr>
              <a:xfrm>
                <a:off x="0" y="0"/>
                <a:ext cx="1892503" cy="957431"/>
              </a:xfrm>
              <a:custGeom>
                <a:avLst/>
                <a:gdLst/>
                <a:ahLst/>
                <a:cxnLst/>
                <a:rect l="l" t="t" r="r" b="b"/>
                <a:pathLst>
                  <a:path w="1892503" h="957431">
                    <a:moveTo>
                      <a:pt x="0" y="0"/>
                    </a:moveTo>
                    <a:lnTo>
                      <a:pt x="1892503" y="0"/>
                    </a:lnTo>
                    <a:lnTo>
                      <a:pt x="1892503" y="957431"/>
                    </a:lnTo>
                    <a:lnTo>
                      <a:pt x="0" y="957431"/>
                    </a:lnTo>
                    <a:close/>
                  </a:path>
                </a:pathLst>
              </a:custGeom>
              <a:blipFill>
                <a:blip r:embed="rId3">
                  <a:alphaModFix amt="0"/>
                </a:blip>
                <a:stretch>
                  <a:fillRect t="-300064" r="-914656" b="-381525"/>
                </a:stretch>
              </a:blipFill>
            </p:spPr>
            <p:txBody>
              <a:bodyPr/>
              <a:lstStyle/>
              <a:p>
                <a:endParaRPr lang="en-US"/>
              </a:p>
            </p:txBody>
          </p:sp>
          <p:sp>
            <p:nvSpPr>
              <p:cNvPr id="89" name="TextBox 89"/>
              <p:cNvSpPr txBox="1"/>
              <p:nvPr/>
            </p:nvSpPr>
            <p:spPr>
              <a:xfrm>
                <a:off x="0" y="0"/>
                <a:ext cx="1892503" cy="957431"/>
              </a:xfrm>
              <a:prstGeom prst="rect">
                <a:avLst/>
              </a:prstGeom>
            </p:spPr>
            <p:txBody>
              <a:bodyPr lIns="0" tIns="0" rIns="0" bIns="0" rtlCol="0" anchor="ctr"/>
              <a:lstStyle/>
              <a:p>
                <a:pPr algn="l">
                  <a:lnSpc>
                    <a:spcPts val="1280"/>
                  </a:lnSpc>
                </a:pPr>
                <a:r>
                  <a:rPr lang="en-US" sz="1200" b="1">
                    <a:solidFill>
                      <a:srgbClr val="FFFFFF"/>
                    </a:solidFill>
                    <a:latin typeface="Arial Bold"/>
                    <a:ea typeface="Arial Bold"/>
                    <a:cs typeface="Arial Bold"/>
                    <a:sym typeface="Arial Bold"/>
                  </a:rPr>
                  <a:t>My Friends</a:t>
                </a:r>
              </a:p>
            </p:txBody>
          </p:sp>
        </p:grpSp>
        <p:grpSp>
          <p:nvGrpSpPr>
            <p:cNvPr id="90" name="Group 90"/>
            <p:cNvGrpSpPr/>
            <p:nvPr/>
          </p:nvGrpSpPr>
          <p:grpSpPr>
            <a:xfrm>
              <a:off x="2913191" y="1850275"/>
              <a:ext cx="2318060" cy="798756"/>
              <a:chOff x="0" y="0"/>
              <a:chExt cx="2778550" cy="957431"/>
            </a:xfrm>
          </p:grpSpPr>
          <p:sp>
            <p:nvSpPr>
              <p:cNvPr id="91" name="Freeform 91"/>
              <p:cNvSpPr/>
              <p:nvPr/>
            </p:nvSpPr>
            <p:spPr>
              <a:xfrm>
                <a:off x="0" y="0"/>
                <a:ext cx="2778550" cy="957431"/>
              </a:xfrm>
              <a:custGeom>
                <a:avLst/>
                <a:gdLst/>
                <a:ahLst/>
                <a:cxnLst/>
                <a:rect l="l" t="t" r="r" b="b"/>
                <a:pathLst>
                  <a:path w="2778550" h="957431">
                    <a:moveTo>
                      <a:pt x="0" y="0"/>
                    </a:moveTo>
                    <a:lnTo>
                      <a:pt x="2778550" y="0"/>
                    </a:lnTo>
                    <a:lnTo>
                      <a:pt x="2778550" y="957431"/>
                    </a:lnTo>
                    <a:lnTo>
                      <a:pt x="0" y="957431"/>
                    </a:lnTo>
                    <a:close/>
                  </a:path>
                </a:pathLst>
              </a:custGeom>
              <a:blipFill>
                <a:blip r:embed="rId3">
                  <a:alphaModFix amt="0"/>
                </a:blip>
                <a:stretch>
                  <a:fillRect t="-300064" r="-591094" b="-381525"/>
                </a:stretch>
              </a:blipFill>
            </p:spPr>
            <p:txBody>
              <a:bodyPr/>
              <a:lstStyle/>
              <a:p>
                <a:endParaRPr lang="en-US"/>
              </a:p>
            </p:txBody>
          </p:sp>
          <p:sp>
            <p:nvSpPr>
              <p:cNvPr id="92" name="TextBox 92"/>
              <p:cNvSpPr txBox="1"/>
              <p:nvPr/>
            </p:nvSpPr>
            <p:spPr>
              <a:xfrm>
                <a:off x="0" y="0"/>
                <a:ext cx="2778550" cy="957431"/>
              </a:xfrm>
              <a:prstGeom prst="rect">
                <a:avLst/>
              </a:prstGeom>
            </p:spPr>
            <p:txBody>
              <a:bodyPr lIns="0" tIns="0" rIns="0" bIns="0" rtlCol="0" anchor="ctr"/>
              <a:lstStyle/>
              <a:p>
                <a:pPr algn="l">
                  <a:lnSpc>
                    <a:spcPts val="1280"/>
                  </a:lnSpc>
                </a:pPr>
                <a:r>
                  <a:rPr lang="en-US" sz="1200" b="1">
                    <a:solidFill>
                      <a:srgbClr val="FFFFFF"/>
                    </a:solidFill>
                    <a:latin typeface="Arial Bold"/>
                    <a:ea typeface="Arial Bold"/>
                    <a:cs typeface="Arial Bold"/>
                    <a:sym typeface="Arial Bold"/>
                  </a:rPr>
                  <a:t>Friends of Friends</a:t>
                </a:r>
              </a:p>
            </p:txBody>
          </p:sp>
        </p:grpSp>
        <p:grpSp>
          <p:nvGrpSpPr>
            <p:cNvPr id="93" name="Group 93"/>
            <p:cNvGrpSpPr/>
            <p:nvPr/>
          </p:nvGrpSpPr>
          <p:grpSpPr>
            <a:xfrm>
              <a:off x="377249" y="9549613"/>
              <a:ext cx="4854002" cy="1062208"/>
              <a:chOff x="0" y="0"/>
              <a:chExt cx="958815" cy="209819"/>
            </a:xfrm>
          </p:grpSpPr>
          <p:sp>
            <p:nvSpPr>
              <p:cNvPr id="94" name="Freeform 94"/>
              <p:cNvSpPr/>
              <p:nvPr/>
            </p:nvSpPr>
            <p:spPr>
              <a:xfrm>
                <a:off x="0" y="0"/>
                <a:ext cx="958815" cy="209819"/>
              </a:xfrm>
              <a:custGeom>
                <a:avLst/>
                <a:gdLst/>
                <a:ahLst/>
                <a:cxnLst/>
                <a:rect l="l" t="t" r="r" b="b"/>
                <a:pathLst>
                  <a:path w="958815" h="209819">
                    <a:moveTo>
                      <a:pt x="104909" y="0"/>
                    </a:moveTo>
                    <a:lnTo>
                      <a:pt x="853906" y="0"/>
                    </a:lnTo>
                    <a:cubicBezTo>
                      <a:pt x="881730" y="0"/>
                      <a:pt x="908414" y="11053"/>
                      <a:pt x="928088" y="30727"/>
                    </a:cubicBezTo>
                    <a:cubicBezTo>
                      <a:pt x="947762" y="50402"/>
                      <a:pt x="958815" y="77086"/>
                      <a:pt x="958815" y="104909"/>
                    </a:cubicBezTo>
                    <a:lnTo>
                      <a:pt x="958815" y="104909"/>
                    </a:lnTo>
                    <a:cubicBezTo>
                      <a:pt x="958815" y="132733"/>
                      <a:pt x="947762" y="159417"/>
                      <a:pt x="928088" y="179092"/>
                    </a:cubicBezTo>
                    <a:cubicBezTo>
                      <a:pt x="908414" y="198766"/>
                      <a:pt x="881730" y="209819"/>
                      <a:pt x="853906" y="209819"/>
                    </a:cubicBezTo>
                    <a:lnTo>
                      <a:pt x="104909" y="209819"/>
                    </a:lnTo>
                    <a:cubicBezTo>
                      <a:pt x="77086" y="209819"/>
                      <a:pt x="50402" y="198766"/>
                      <a:pt x="30727" y="179092"/>
                    </a:cubicBezTo>
                    <a:cubicBezTo>
                      <a:pt x="11053" y="159417"/>
                      <a:pt x="0" y="132733"/>
                      <a:pt x="0" y="104909"/>
                    </a:cubicBezTo>
                    <a:lnTo>
                      <a:pt x="0" y="104909"/>
                    </a:lnTo>
                    <a:cubicBezTo>
                      <a:pt x="0" y="77086"/>
                      <a:pt x="11053" y="50402"/>
                      <a:pt x="30727" y="30727"/>
                    </a:cubicBezTo>
                    <a:cubicBezTo>
                      <a:pt x="50402" y="11053"/>
                      <a:pt x="77086" y="0"/>
                      <a:pt x="104909" y="0"/>
                    </a:cubicBezTo>
                    <a:close/>
                  </a:path>
                </a:pathLst>
              </a:custGeom>
              <a:solidFill>
                <a:srgbClr val="2B2B2B"/>
              </a:solidFill>
            </p:spPr>
            <p:txBody>
              <a:bodyPr/>
              <a:lstStyle/>
              <a:p>
                <a:endParaRPr lang="en-US"/>
              </a:p>
            </p:txBody>
          </p:sp>
          <p:sp>
            <p:nvSpPr>
              <p:cNvPr id="95" name="TextBox 95"/>
              <p:cNvSpPr txBox="1"/>
              <p:nvPr/>
            </p:nvSpPr>
            <p:spPr>
              <a:xfrm>
                <a:off x="0" y="-47625"/>
                <a:ext cx="958815" cy="257444"/>
              </a:xfrm>
              <a:prstGeom prst="rect">
                <a:avLst/>
              </a:prstGeom>
            </p:spPr>
            <p:txBody>
              <a:bodyPr lIns="50800" tIns="50800" rIns="50800" bIns="50800" rtlCol="0" anchor="ctr"/>
              <a:lstStyle/>
              <a:p>
                <a:pPr algn="ctr">
                  <a:lnSpc>
                    <a:spcPts val="2340"/>
                  </a:lnSpc>
                </a:pPr>
                <a:endParaRPr/>
              </a:p>
            </p:txBody>
          </p:sp>
        </p:grpSp>
        <p:grpSp>
          <p:nvGrpSpPr>
            <p:cNvPr id="96" name="Group 96"/>
            <p:cNvGrpSpPr/>
            <p:nvPr/>
          </p:nvGrpSpPr>
          <p:grpSpPr>
            <a:xfrm>
              <a:off x="1998789" y="605946"/>
              <a:ext cx="1578858" cy="957431"/>
              <a:chOff x="0" y="0"/>
              <a:chExt cx="1578858" cy="957431"/>
            </a:xfrm>
          </p:grpSpPr>
          <p:sp>
            <p:nvSpPr>
              <p:cNvPr id="97" name="Freeform 97"/>
              <p:cNvSpPr/>
              <p:nvPr/>
            </p:nvSpPr>
            <p:spPr>
              <a:xfrm>
                <a:off x="0" y="0"/>
                <a:ext cx="1578858" cy="957431"/>
              </a:xfrm>
              <a:custGeom>
                <a:avLst/>
                <a:gdLst/>
                <a:ahLst/>
                <a:cxnLst/>
                <a:rect l="l" t="t" r="r" b="b"/>
                <a:pathLst>
                  <a:path w="1578858" h="957431">
                    <a:moveTo>
                      <a:pt x="0" y="0"/>
                    </a:moveTo>
                    <a:lnTo>
                      <a:pt x="1578858" y="0"/>
                    </a:lnTo>
                    <a:lnTo>
                      <a:pt x="1578858" y="957431"/>
                    </a:lnTo>
                    <a:lnTo>
                      <a:pt x="0" y="957431"/>
                    </a:lnTo>
                    <a:close/>
                  </a:path>
                </a:pathLst>
              </a:custGeom>
              <a:blipFill>
                <a:blip r:embed="rId3">
                  <a:alphaModFix amt="0"/>
                </a:blip>
                <a:stretch>
                  <a:fillRect t="-300064" r="-1116220" b="-381525"/>
                </a:stretch>
              </a:blipFill>
            </p:spPr>
            <p:txBody>
              <a:bodyPr/>
              <a:lstStyle/>
              <a:p>
                <a:endParaRPr lang="en-US"/>
              </a:p>
            </p:txBody>
          </p:sp>
          <p:sp>
            <p:nvSpPr>
              <p:cNvPr id="98" name="TextBox 98"/>
              <p:cNvSpPr txBox="1"/>
              <p:nvPr/>
            </p:nvSpPr>
            <p:spPr>
              <a:xfrm>
                <a:off x="0" y="19050"/>
                <a:ext cx="1578858" cy="938381"/>
              </a:xfrm>
              <a:prstGeom prst="rect">
                <a:avLst/>
              </a:prstGeom>
            </p:spPr>
            <p:txBody>
              <a:bodyPr lIns="0" tIns="0" rIns="0" bIns="0" rtlCol="0" anchor="ctr"/>
              <a:lstStyle/>
              <a:p>
                <a:pPr algn="l">
                  <a:lnSpc>
                    <a:spcPts val="2240"/>
                  </a:lnSpc>
                </a:pPr>
                <a:r>
                  <a:rPr lang="en-US" sz="2100" b="1">
                    <a:solidFill>
                      <a:srgbClr val="FFFFFF"/>
                    </a:solidFill>
                    <a:latin typeface="Arial Bold"/>
                    <a:ea typeface="Arial Bold"/>
                    <a:cs typeface="Arial Bold"/>
                    <a:sym typeface="Arial Bold"/>
                  </a:rPr>
                  <a:t>BeReal.</a:t>
                </a:r>
              </a:p>
            </p:txBody>
          </p:sp>
        </p:grpSp>
        <p:sp>
          <p:nvSpPr>
            <p:cNvPr id="99" name="Freeform 99"/>
            <p:cNvSpPr/>
            <p:nvPr/>
          </p:nvSpPr>
          <p:spPr>
            <a:xfrm>
              <a:off x="713612" y="9888564"/>
              <a:ext cx="256494" cy="238539"/>
            </a:xfrm>
            <a:custGeom>
              <a:avLst/>
              <a:gdLst/>
              <a:ahLst/>
              <a:cxnLst/>
              <a:rect l="l" t="t" r="r" b="b"/>
              <a:pathLst>
                <a:path w="256494" h="238539">
                  <a:moveTo>
                    <a:pt x="0" y="0"/>
                  </a:moveTo>
                  <a:lnTo>
                    <a:pt x="256494" y="0"/>
                  </a:lnTo>
                  <a:lnTo>
                    <a:pt x="256494" y="238539"/>
                  </a:lnTo>
                  <a:lnTo>
                    <a:pt x="0" y="238539"/>
                  </a:lnTo>
                  <a:lnTo>
                    <a:pt x="0" y="0"/>
                  </a:lnTo>
                  <a:close/>
                </a:path>
              </a:pathLst>
            </a:custGeom>
            <a:blipFill>
              <a:blip>
                <a:extLst>
                  <a:ext uri="{96DAC541-7B7A-43D3-8B79-37D633B846F1}">
                    <asvg:svgBlip xmlns:asvg="http://schemas.microsoft.com/office/drawing/2016/SVG/main" r:embed="rId8"/>
                  </a:ext>
                </a:extLst>
              </a:blip>
              <a:stretch>
                <a:fillRect/>
              </a:stretch>
            </a:blipFill>
          </p:spPr>
          <p:txBody>
            <a:bodyPr/>
            <a:lstStyle/>
            <a:p>
              <a:endParaRPr lang="en-US"/>
            </a:p>
          </p:txBody>
        </p:sp>
        <p:sp>
          <p:nvSpPr>
            <p:cNvPr id="100" name="Freeform 100"/>
            <p:cNvSpPr/>
            <p:nvPr/>
          </p:nvSpPr>
          <p:spPr>
            <a:xfrm>
              <a:off x="1734675" y="9888564"/>
              <a:ext cx="265043" cy="238539"/>
            </a:xfrm>
            <a:custGeom>
              <a:avLst/>
              <a:gdLst/>
              <a:ahLst/>
              <a:cxnLst/>
              <a:rect l="l" t="t" r="r" b="b"/>
              <a:pathLst>
                <a:path w="265043" h="238539">
                  <a:moveTo>
                    <a:pt x="0" y="0"/>
                  </a:moveTo>
                  <a:lnTo>
                    <a:pt x="265043" y="0"/>
                  </a:lnTo>
                  <a:lnTo>
                    <a:pt x="265043" y="238539"/>
                  </a:lnTo>
                  <a:lnTo>
                    <a:pt x="0" y="238539"/>
                  </a:lnTo>
                  <a:lnTo>
                    <a:pt x="0" y="0"/>
                  </a:lnTo>
                  <a:close/>
                </a:path>
              </a:pathLst>
            </a:custGeom>
            <a:blipFill>
              <a:blip>
                <a:extLst>
                  <a:ext uri="{96DAC541-7B7A-43D3-8B79-37D633B846F1}">
                    <asvg:svgBlip xmlns:asvg="http://schemas.microsoft.com/office/drawing/2016/SVG/main" r:embed="rId9"/>
                  </a:ext>
                </a:extLst>
              </a:blip>
              <a:stretch>
                <a:fillRect/>
              </a:stretch>
            </a:blipFill>
          </p:spPr>
          <p:txBody>
            <a:bodyPr/>
            <a:lstStyle/>
            <a:p>
              <a:endParaRPr lang="en-US"/>
            </a:p>
          </p:txBody>
        </p:sp>
        <p:sp>
          <p:nvSpPr>
            <p:cNvPr id="101" name="Freeform 101"/>
            <p:cNvSpPr/>
            <p:nvPr/>
          </p:nvSpPr>
          <p:spPr>
            <a:xfrm>
              <a:off x="3577647" y="9765887"/>
              <a:ext cx="371258" cy="373124"/>
            </a:xfrm>
            <a:custGeom>
              <a:avLst/>
              <a:gdLst/>
              <a:ahLst/>
              <a:cxnLst/>
              <a:rect l="l" t="t" r="r" b="b"/>
              <a:pathLst>
                <a:path w="371258" h="373124">
                  <a:moveTo>
                    <a:pt x="0" y="0"/>
                  </a:moveTo>
                  <a:lnTo>
                    <a:pt x="371258" y="0"/>
                  </a:lnTo>
                  <a:lnTo>
                    <a:pt x="371258" y="373124"/>
                  </a:lnTo>
                  <a:lnTo>
                    <a:pt x="0" y="373124"/>
                  </a:lnTo>
                  <a:lnTo>
                    <a:pt x="0" y="0"/>
                  </a:lnTo>
                  <a:close/>
                </a:path>
              </a:pathLst>
            </a:custGeom>
            <a:blipFill>
              <a:blip>
                <a:extLst>
                  <a:ext uri="{96DAC541-7B7A-43D3-8B79-37D633B846F1}">
                    <asvg:svgBlip xmlns:asvg="http://schemas.microsoft.com/office/drawing/2016/SVG/main" r:embed="rId10"/>
                  </a:ext>
                </a:extLst>
              </a:blip>
              <a:stretch>
                <a:fillRect/>
              </a:stretch>
            </a:blipFill>
          </p:spPr>
          <p:txBody>
            <a:bodyPr/>
            <a:lstStyle/>
            <a:p>
              <a:endParaRPr lang="en-US"/>
            </a:p>
          </p:txBody>
        </p:sp>
        <p:grpSp>
          <p:nvGrpSpPr>
            <p:cNvPr id="102" name="Group 102"/>
            <p:cNvGrpSpPr/>
            <p:nvPr/>
          </p:nvGrpSpPr>
          <p:grpSpPr>
            <a:xfrm>
              <a:off x="4535455" y="9735621"/>
              <a:ext cx="433657" cy="433657"/>
              <a:chOff x="0" y="0"/>
              <a:chExt cx="812800" cy="812800"/>
            </a:xfrm>
          </p:grpSpPr>
          <p:sp>
            <p:nvSpPr>
              <p:cNvPr id="103" name="Freeform 103"/>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a:blip r:embed="rId11"/>
                <a:stretch>
                  <a:fillRect l="-155679" t="-15600" b="-54426"/>
                </a:stretch>
              </a:blipFill>
              <a:ln w="38100" cap="sq">
                <a:solidFill>
                  <a:srgbClr val="000000"/>
                </a:solidFill>
                <a:prstDash val="solid"/>
                <a:miter/>
              </a:ln>
            </p:spPr>
            <p:txBody>
              <a:bodyPr/>
              <a:lstStyle/>
              <a:p>
                <a:endParaRPr lang="en-US"/>
              </a:p>
            </p:txBody>
          </p:sp>
        </p:grpSp>
        <p:sp>
          <p:nvSpPr>
            <p:cNvPr id="104" name="Freeform 104"/>
            <p:cNvSpPr/>
            <p:nvPr/>
          </p:nvSpPr>
          <p:spPr>
            <a:xfrm>
              <a:off x="2464456" y="9747998"/>
              <a:ext cx="620166" cy="620166"/>
            </a:xfrm>
            <a:custGeom>
              <a:avLst/>
              <a:gdLst/>
              <a:ahLst/>
              <a:cxnLst/>
              <a:rect l="l" t="t" r="r" b="b"/>
              <a:pathLst>
                <a:path w="620166" h="620166">
                  <a:moveTo>
                    <a:pt x="0" y="0"/>
                  </a:moveTo>
                  <a:lnTo>
                    <a:pt x="620166" y="0"/>
                  </a:lnTo>
                  <a:lnTo>
                    <a:pt x="620166" y="620167"/>
                  </a:lnTo>
                  <a:lnTo>
                    <a:pt x="0" y="620167"/>
                  </a:lnTo>
                  <a:lnTo>
                    <a:pt x="0" y="0"/>
                  </a:lnTo>
                  <a:close/>
                </a:path>
              </a:pathLst>
            </a:custGeom>
            <a:blipFill>
              <a:blip>
                <a:extLst>
                  <a:ext uri="{96DAC541-7B7A-43D3-8B79-37D633B846F1}">
                    <asvg:svgBlip xmlns:asvg="http://schemas.microsoft.com/office/drawing/2016/SVG/main" r:embed="rId12"/>
                  </a:ext>
                </a:extLst>
              </a:blip>
              <a:stretch>
                <a:fillRect/>
              </a:stretch>
            </a:blipFill>
          </p:spPr>
          <p:txBody>
            <a:bodyPr/>
            <a:lstStyle/>
            <a:p>
              <a:endParaRPr lang="en-US"/>
            </a:p>
          </p:txBody>
        </p:sp>
        <p:sp>
          <p:nvSpPr>
            <p:cNvPr id="105" name="Freeform 105"/>
            <p:cNvSpPr/>
            <p:nvPr/>
          </p:nvSpPr>
          <p:spPr>
            <a:xfrm>
              <a:off x="2567835" y="9889618"/>
              <a:ext cx="413408" cy="336928"/>
            </a:xfrm>
            <a:custGeom>
              <a:avLst/>
              <a:gdLst/>
              <a:ahLst/>
              <a:cxnLst/>
              <a:rect l="l" t="t" r="r" b="b"/>
              <a:pathLst>
                <a:path w="413408" h="336928">
                  <a:moveTo>
                    <a:pt x="0" y="0"/>
                  </a:moveTo>
                  <a:lnTo>
                    <a:pt x="413408" y="0"/>
                  </a:lnTo>
                  <a:lnTo>
                    <a:pt x="413408" y="336927"/>
                  </a:lnTo>
                  <a:lnTo>
                    <a:pt x="0" y="336927"/>
                  </a:lnTo>
                  <a:lnTo>
                    <a:pt x="0" y="0"/>
                  </a:lnTo>
                  <a:close/>
                </a:path>
              </a:pathLst>
            </a:custGeom>
            <a:blipFill>
              <a:blip>
                <a:extLst>
                  <a:ext uri="{96DAC541-7B7A-43D3-8B79-37D633B846F1}">
                    <asvg:svgBlip xmlns:asvg="http://schemas.microsoft.com/office/drawing/2016/SVG/main" r:embed="rId13"/>
                  </a:ext>
                </a:extLst>
              </a:blip>
              <a:stretch>
                <a:fillRect/>
              </a:stretch>
            </a:blipFill>
          </p:spPr>
          <p:txBody>
            <a:bodyPr/>
            <a:lstStyle/>
            <a:p>
              <a:endParaRPr lang="en-US"/>
            </a:p>
          </p:txBody>
        </p:sp>
        <p:sp>
          <p:nvSpPr>
            <p:cNvPr id="106" name="TextBox 106"/>
            <p:cNvSpPr txBox="1"/>
            <p:nvPr/>
          </p:nvSpPr>
          <p:spPr>
            <a:xfrm>
              <a:off x="455305" y="10265151"/>
              <a:ext cx="773108" cy="186978"/>
            </a:xfrm>
            <a:prstGeom prst="rect">
              <a:avLst/>
            </a:prstGeom>
          </p:spPr>
          <p:txBody>
            <a:bodyPr lIns="0" tIns="0" rIns="0" bIns="0" rtlCol="0" anchor="t">
              <a:spAutoFit/>
            </a:bodyPr>
            <a:lstStyle/>
            <a:p>
              <a:pPr algn="ctr">
                <a:lnSpc>
                  <a:spcPts val="1020"/>
                </a:lnSpc>
                <a:spcBef>
                  <a:spcPct val="0"/>
                </a:spcBef>
              </a:pPr>
              <a:r>
                <a:rPr lang="en-US" sz="850" b="1">
                  <a:solidFill>
                    <a:srgbClr val="FFFFFF"/>
                  </a:solidFill>
                  <a:latin typeface="Calibri (MS) Bold"/>
                  <a:ea typeface="Calibri (MS) Bold"/>
                  <a:cs typeface="Calibri (MS) Bold"/>
                  <a:sym typeface="Calibri (MS) Bold"/>
                </a:rPr>
                <a:t>Home</a:t>
              </a:r>
            </a:p>
          </p:txBody>
        </p:sp>
        <p:sp>
          <p:nvSpPr>
            <p:cNvPr id="107" name="TextBox 107"/>
            <p:cNvSpPr txBox="1"/>
            <p:nvPr/>
          </p:nvSpPr>
          <p:spPr>
            <a:xfrm>
              <a:off x="1480643" y="10265151"/>
              <a:ext cx="773108" cy="186978"/>
            </a:xfrm>
            <a:prstGeom prst="rect">
              <a:avLst/>
            </a:prstGeom>
          </p:spPr>
          <p:txBody>
            <a:bodyPr lIns="0" tIns="0" rIns="0" bIns="0" rtlCol="0" anchor="t">
              <a:spAutoFit/>
            </a:bodyPr>
            <a:lstStyle/>
            <a:p>
              <a:pPr algn="ctr">
                <a:lnSpc>
                  <a:spcPts val="1020"/>
                </a:lnSpc>
                <a:spcBef>
                  <a:spcPct val="0"/>
                </a:spcBef>
              </a:pPr>
              <a:r>
                <a:rPr lang="en-US" sz="850" b="1">
                  <a:solidFill>
                    <a:srgbClr val="FFFFFF"/>
                  </a:solidFill>
                  <a:latin typeface="Calibri (MS) Bold"/>
                  <a:ea typeface="Calibri (MS) Bold"/>
                  <a:cs typeface="Calibri (MS) Bold"/>
                  <a:sym typeface="Calibri (MS) Bold"/>
                </a:rPr>
                <a:t>Chat</a:t>
              </a:r>
            </a:p>
          </p:txBody>
        </p:sp>
        <p:sp>
          <p:nvSpPr>
            <p:cNvPr id="108" name="TextBox 108"/>
            <p:cNvSpPr txBox="1"/>
            <p:nvPr/>
          </p:nvSpPr>
          <p:spPr>
            <a:xfrm>
              <a:off x="3376722" y="10265151"/>
              <a:ext cx="773108" cy="186978"/>
            </a:xfrm>
            <a:prstGeom prst="rect">
              <a:avLst/>
            </a:prstGeom>
          </p:spPr>
          <p:txBody>
            <a:bodyPr lIns="0" tIns="0" rIns="0" bIns="0" rtlCol="0" anchor="t">
              <a:spAutoFit/>
            </a:bodyPr>
            <a:lstStyle/>
            <a:p>
              <a:pPr algn="ctr">
                <a:lnSpc>
                  <a:spcPts val="1020"/>
                </a:lnSpc>
                <a:spcBef>
                  <a:spcPct val="0"/>
                </a:spcBef>
              </a:pPr>
              <a:r>
                <a:rPr lang="en-US" sz="850" b="1">
                  <a:solidFill>
                    <a:srgbClr val="FFFFFF"/>
                  </a:solidFill>
                  <a:latin typeface="Calibri (MS) Bold"/>
                  <a:ea typeface="Calibri (MS) Bold"/>
                  <a:cs typeface="Calibri (MS) Bold"/>
                  <a:sym typeface="Calibri (MS) Bold"/>
                </a:rPr>
                <a:t>Memories</a:t>
              </a:r>
            </a:p>
          </p:txBody>
        </p:sp>
        <p:sp>
          <p:nvSpPr>
            <p:cNvPr id="109" name="TextBox 109"/>
            <p:cNvSpPr txBox="1"/>
            <p:nvPr/>
          </p:nvSpPr>
          <p:spPr>
            <a:xfrm>
              <a:off x="4365730" y="10265151"/>
              <a:ext cx="773108" cy="186978"/>
            </a:xfrm>
            <a:prstGeom prst="rect">
              <a:avLst/>
            </a:prstGeom>
          </p:spPr>
          <p:txBody>
            <a:bodyPr lIns="0" tIns="0" rIns="0" bIns="0" rtlCol="0" anchor="t">
              <a:spAutoFit/>
            </a:bodyPr>
            <a:lstStyle/>
            <a:p>
              <a:pPr algn="ctr">
                <a:lnSpc>
                  <a:spcPts val="1020"/>
                </a:lnSpc>
                <a:spcBef>
                  <a:spcPct val="0"/>
                </a:spcBef>
              </a:pPr>
              <a:r>
                <a:rPr lang="en-US" sz="850" b="1">
                  <a:solidFill>
                    <a:srgbClr val="FFFFFF"/>
                  </a:solidFill>
                  <a:latin typeface="Calibri (MS) Bold"/>
                  <a:ea typeface="Calibri (MS) Bold"/>
                  <a:cs typeface="Calibri (MS) Bold"/>
                  <a:sym typeface="Calibri (MS) Bold"/>
                </a:rPr>
                <a:t>Profile</a:t>
              </a:r>
            </a:p>
          </p:txBody>
        </p:sp>
        <p:grpSp>
          <p:nvGrpSpPr>
            <p:cNvPr id="110" name="Group 110"/>
            <p:cNvGrpSpPr/>
            <p:nvPr/>
          </p:nvGrpSpPr>
          <p:grpSpPr>
            <a:xfrm>
              <a:off x="294373" y="2726255"/>
              <a:ext cx="1588850" cy="613535"/>
              <a:chOff x="0" y="0"/>
              <a:chExt cx="313847" cy="121192"/>
            </a:xfrm>
          </p:grpSpPr>
          <p:sp>
            <p:nvSpPr>
              <p:cNvPr id="111" name="Freeform 111"/>
              <p:cNvSpPr/>
              <p:nvPr/>
            </p:nvSpPr>
            <p:spPr>
              <a:xfrm>
                <a:off x="0" y="0"/>
                <a:ext cx="313847" cy="121192"/>
              </a:xfrm>
              <a:custGeom>
                <a:avLst/>
                <a:gdLst/>
                <a:ahLst/>
                <a:cxnLst/>
                <a:rect l="l" t="t" r="r" b="b"/>
                <a:pathLst>
                  <a:path w="313847" h="121192">
                    <a:moveTo>
                      <a:pt x="60596" y="0"/>
                    </a:moveTo>
                    <a:lnTo>
                      <a:pt x="253251" y="0"/>
                    </a:lnTo>
                    <a:cubicBezTo>
                      <a:pt x="286717" y="0"/>
                      <a:pt x="313847" y="27130"/>
                      <a:pt x="313847" y="60596"/>
                    </a:cubicBezTo>
                    <a:lnTo>
                      <a:pt x="313847" y="60596"/>
                    </a:lnTo>
                    <a:cubicBezTo>
                      <a:pt x="313847" y="76667"/>
                      <a:pt x="307463" y="92080"/>
                      <a:pt x="296099" y="103444"/>
                    </a:cubicBezTo>
                    <a:cubicBezTo>
                      <a:pt x="284735" y="114808"/>
                      <a:pt x="269322" y="121192"/>
                      <a:pt x="253251" y="121192"/>
                    </a:cubicBezTo>
                    <a:lnTo>
                      <a:pt x="60596" y="121192"/>
                    </a:lnTo>
                    <a:cubicBezTo>
                      <a:pt x="44525" y="121192"/>
                      <a:pt x="29112" y="114808"/>
                      <a:pt x="17748" y="103444"/>
                    </a:cubicBezTo>
                    <a:cubicBezTo>
                      <a:pt x="6384" y="92080"/>
                      <a:pt x="0" y="76667"/>
                      <a:pt x="0" y="60596"/>
                    </a:cubicBezTo>
                    <a:lnTo>
                      <a:pt x="0" y="60596"/>
                    </a:lnTo>
                    <a:cubicBezTo>
                      <a:pt x="0" y="44525"/>
                      <a:pt x="6384" y="29112"/>
                      <a:pt x="17748" y="17748"/>
                    </a:cubicBezTo>
                    <a:cubicBezTo>
                      <a:pt x="29112" y="6384"/>
                      <a:pt x="44525" y="0"/>
                      <a:pt x="60596" y="0"/>
                    </a:cubicBezTo>
                    <a:close/>
                  </a:path>
                </a:pathLst>
              </a:custGeom>
              <a:solidFill>
                <a:srgbClr val="FFFFFF"/>
              </a:solidFill>
            </p:spPr>
            <p:txBody>
              <a:bodyPr/>
              <a:lstStyle/>
              <a:p>
                <a:endParaRPr lang="en-US"/>
              </a:p>
            </p:txBody>
          </p:sp>
          <p:sp>
            <p:nvSpPr>
              <p:cNvPr id="112" name="TextBox 112"/>
              <p:cNvSpPr txBox="1"/>
              <p:nvPr/>
            </p:nvSpPr>
            <p:spPr>
              <a:xfrm>
                <a:off x="0" y="-47625"/>
                <a:ext cx="313847" cy="168817"/>
              </a:xfrm>
              <a:prstGeom prst="rect">
                <a:avLst/>
              </a:prstGeom>
            </p:spPr>
            <p:txBody>
              <a:bodyPr lIns="50800" tIns="50800" rIns="50800" bIns="50800" rtlCol="0" anchor="ctr"/>
              <a:lstStyle/>
              <a:p>
                <a:pPr algn="ctr">
                  <a:lnSpc>
                    <a:spcPts val="2340"/>
                  </a:lnSpc>
                </a:pPr>
                <a:endParaRPr/>
              </a:p>
            </p:txBody>
          </p:sp>
        </p:grpSp>
        <p:grpSp>
          <p:nvGrpSpPr>
            <p:cNvPr id="113" name="Group 113"/>
            <p:cNvGrpSpPr/>
            <p:nvPr/>
          </p:nvGrpSpPr>
          <p:grpSpPr>
            <a:xfrm>
              <a:off x="624801" y="2718723"/>
              <a:ext cx="1023926" cy="628600"/>
              <a:chOff x="0" y="0"/>
              <a:chExt cx="1559557" cy="957431"/>
            </a:xfrm>
          </p:grpSpPr>
          <p:sp>
            <p:nvSpPr>
              <p:cNvPr id="114" name="Freeform 114"/>
              <p:cNvSpPr/>
              <p:nvPr/>
            </p:nvSpPr>
            <p:spPr>
              <a:xfrm>
                <a:off x="0" y="0"/>
                <a:ext cx="1559557" cy="957431"/>
              </a:xfrm>
              <a:custGeom>
                <a:avLst/>
                <a:gdLst/>
                <a:ahLst/>
                <a:cxnLst/>
                <a:rect l="l" t="t" r="r" b="b"/>
                <a:pathLst>
                  <a:path w="1559557" h="957431">
                    <a:moveTo>
                      <a:pt x="0" y="0"/>
                    </a:moveTo>
                    <a:lnTo>
                      <a:pt x="1559557" y="0"/>
                    </a:lnTo>
                    <a:lnTo>
                      <a:pt x="1559557" y="957431"/>
                    </a:lnTo>
                    <a:lnTo>
                      <a:pt x="0" y="957431"/>
                    </a:lnTo>
                    <a:close/>
                  </a:path>
                </a:pathLst>
              </a:custGeom>
              <a:blipFill>
                <a:blip r:embed="rId3">
                  <a:alphaModFix amt="0"/>
                </a:blip>
                <a:stretch>
                  <a:fillRect t="-300064" r="-1131272" b="-381525"/>
                </a:stretch>
              </a:blipFill>
            </p:spPr>
            <p:txBody>
              <a:bodyPr/>
              <a:lstStyle/>
              <a:p>
                <a:endParaRPr lang="en-US"/>
              </a:p>
            </p:txBody>
          </p:sp>
          <p:sp>
            <p:nvSpPr>
              <p:cNvPr id="115" name="TextBox 115"/>
              <p:cNvSpPr txBox="1"/>
              <p:nvPr/>
            </p:nvSpPr>
            <p:spPr>
              <a:xfrm>
                <a:off x="0" y="0"/>
                <a:ext cx="1559557" cy="957431"/>
              </a:xfrm>
              <a:prstGeom prst="rect">
                <a:avLst/>
              </a:prstGeom>
            </p:spPr>
            <p:txBody>
              <a:bodyPr lIns="0" tIns="0" rIns="0" bIns="0" rtlCol="0" anchor="ctr"/>
              <a:lstStyle/>
              <a:p>
                <a:pPr algn="ctr">
                  <a:lnSpc>
                    <a:spcPts val="1280"/>
                  </a:lnSpc>
                </a:pPr>
                <a:r>
                  <a:rPr lang="en-US" sz="1200" b="1">
                    <a:solidFill>
                      <a:srgbClr val="000000"/>
                    </a:solidFill>
                    <a:latin typeface="Arial Bold"/>
                    <a:ea typeface="Arial Bold"/>
                    <a:cs typeface="Arial Bold"/>
                    <a:sym typeface="Arial Bold"/>
                  </a:rPr>
                  <a:t>Today</a:t>
                </a:r>
              </a:p>
            </p:txBody>
          </p:sp>
        </p:grpSp>
        <p:grpSp>
          <p:nvGrpSpPr>
            <p:cNvPr id="116" name="Group 116"/>
            <p:cNvGrpSpPr/>
            <p:nvPr/>
          </p:nvGrpSpPr>
          <p:grpSpPr>
            <a:xfrm>
              <a:off x="2034182" y="2718723"/>
              <a:ext cx="1588850" cy="613535"/>
              <a:chOff x="0" y="0"/>
              <a:chExt cx="313847" cy="121192"/>
            </a:xfrm>
          </p:grpSpPr>
          <p:sp>
            <p:nvSpPr>
              <p:cNvPr id="117" name="Freeform 117"/>
              <p:cNvSpPr/>
              <p:nvPr/>
            </p:nvSpPr>
            <p:spPr>
              <a:xfrm>
                <a:off x="0" y="0"/>
                <a:ext cx="313847" cy="121192"/>
              </a:xfrm>
              <a:custGeom>
                <a:avLst/>
                <a:gdLst/>
                <a:ahLst/>
                <a:cxnLst/>
                <a:rect l="l" t="t" r="r" b="b"/>
                <a:pathLst>
                  <a:path w="313847" h="121192">
                    <a:moveTo>
                      <a:pt x="60596" y="0"/>
                    </a:moveTo>
                    <a:lnTo>
                      <a:pt x="253251" y="0"/>
                    </a:lnTo>
                    <a:cubicBezTo>
                      <a:pt x="286717" y="0"/>
                      <a:pt x="313847" y="27130"/>
                      <a:pt x="313847" y="60596"/>
                    </a:cubicBezTo>
                    <a:lnTo>
                      <a:pt x="313847" y="60596"/>
                    </a:lnTo>
                    <a:cubicBezTo>
                      <a:pt x="313847" y="76667"/>
                      <a:pt x="307463" y="92080"/>
                      <a:pt x="296099" y="103444"/>
                    </a:cubicBezTo>
                    <a:cubicBezTo>
                      <a:pt x="284735" y="114808"/>
                      <a:pt x="269322" y="121192"/>
                      <a:pt x="253251" y="121192"/>
                    </a:cubicBezTo>
                    <a:lnTo>
                      <a:pt x="60596" y="121192"/>
                    </a:lnTo>
                    <a:cubicBezTo>
                      <a:pt x="44525" y="121192"/>
                      <a:pt x="29112" y="114808"/>
                      <a:pt x="17748" y="103444"/>
                    </a:cubicBezTo>
                    <a:cubicBezTo>
                      <a:pt x="6384" y="92080"/>
                      <a:pt x="0" y="76667"/>
                      <a:pt x="0" y="60596"/>
                    </a:cubicBezTo>
                    <a:lnTo>
                      <a:pt x="0" y="60596"/>
                    </a:lnTo>
                    <a:cubicBezTo>
                      <a:pt x="0" y="44525"/>
                      <a:pt x="6384" y="29112"/>
                      <a:pt x="17748" y="17748"/>
                    </a:cubicBezTo>
                    <a:cubicBezTo>
                      <a:pt x="29112" y="6384"/>
                      <a:pt x="44525" y="0"/>
                      <a:pt x="60596" y="0"/>
                    </a:cubicBezTo>
                    <a:close/>
                  </a:path>
                </a:pathLst>
              </a:custGeom>
              <a:solidFill>
                <a:srgbClr val="363535"/>
              </a:solidFill>
            </p:spPr>
            <p:txBody>
              <a:bodyPr/>
              <a:lstStyle/>
              <a:p>
                <a:endParaRPr lang="en-US"/>
              </a:p>
            </p:txBody>
          </p:sp>
          <p:sp>
            <p:nvSpPr>
              <p:cNvPr id="118" name="TextBox 118"/>
              <p:cNvSpPr txBox="1"/>
              <p:nvPr/>
            </p:nvSpPr>
            <p:spPr>
              <a:xfrm>
                <a:off x="0" y="-47625"/>
                <a:ext cx="313847" cy="168817"/>
              </a:xfrm>
              <a:prstGeom prst="rect">
                <a:avLst/>
              </a:prstGeom>
            </p:spPr>
            <p:txBody>
              <a:bodyPr lIns="50800" tIns="50800" rIns="50800" bIns="50800" rtlCol="0" anchor="ctr"/>
              <a:lstStyle/>
              <a:p>
                <a:pPr algn="ctr">
                  <a:lnSpc>
                    <a:spcPts val="2340"/>
                  </a:lnSpc>
                </a:pPr>
                <a:endParaRPr/>
              </a:p>
            </p:txBody>
          </p:sp>
        </p:grpSp>
        <p:grpSp>
          <p:nvGrpSpPr>
            <p:cNvPr id="119" name="Group 119"/>
            <p:cNvGrpSpPr/>
            <p:nvPr/>
          </p:nvGrpSpPr>
          <p:grpSpPr>
            <a:xfrm>
              <a:off x="2365823" y="2718723"/>
              <a:ext cx="930342" cy="628600"/>
              <a:chOff x="0" y="0"/>
              <a:chExt cx="1417019" cy="957431"/>
            </a:xfrm>
          </p:grpSpPr>
          <p:sp>
            <p:nvSpPr>
              <p:cNvPr id="120" name="Freeform 120"/>
              <p:cNvSpPr/>
              <p:nvPr/>
            </p:nvSpPr>
            <p:spPr>
              <a:xfrm>
                <a:off x="0" y="0"/>
                <a:ext cx="1417019" cy="957431"/>
              </a:xfrm>
              <a:custGeom>
                <a:avLst/>
                <a:gdLst/>
                <a:ahLst/>
                <a:cxnLst/>
                <a:rect l="l" t="t" r="r" b="b"/>
                <a:pathLst>
                  <a:path w="1417019" h="957431">
                    <a:moveTo>
                      <a:pt x="0" y="0"/>
                    </a:moveTo>
                    <a:lnTo>
                      <a:pt x="1417019" y="0"/>
                    </a:lnTo>
                    <a:lnTo>
                      <a:pt x="1417019" y="957431"/>
                    </a:lnTo>
                    <a:lnTo>
                      <a:pt x="0" y="957431"/>
                    </a:lnTo>
                    <a:close/>
                  </a:path>
                </a:pathLst>
              </a:custGeom>
              <a:blipFill>
                <a:blip r:embed="rId3">
                  <a:alphaModFix amt="0"/>
                </a:blip>
                <a:stretch>
                  <a:fillRect t="-300064" r="-1255126" b="-381525"/>
                </a:stretch>
              </a:blipFill>
            </p:spPr>
            <p:txBody>
              <a:bodyPr/>
              <a:lstStyle/>
              <a:p>
                <a:endParaRPr lang="en-US"/>
              </a:p>
            </p:txBody>
          </p:sp>
          <p:sp>
            <p:nvSpPr>
              <p:cNvPr id="121" name="TextBox 121"/>
              <p:cNvSpPr txBox="1"/>
              <p:nvPr/>
            </p:nvSpPr>
            <p:spPr>
              <a:xfrm>
                <a:off x="0" y="0"/>
                <a:ext cx="1417019" cy="957431"/>
              </a:xfrm>
              <a:prstGeom prst="rect">
                <a:avLst/>
              </a:prstGeom>
            </p:spPr>
            <p:txBody>
              <a:bodyPr lIns="0" tIns="0" rIns="0" bIns="0" rtlCol="0" anchor="ctr"/>
              <a:lstStyle/>
              <a:p>
                <a:pPr algn="ctr">
                  <a:lnSpc>
                    <a:spcPts val="1280"/>
                  </a:lnSpc>
                </a:pPr>
                <a:r>
                  <a:rPr lang="en-US" sz="1200" b="1">
                    <a:solidFill>
                      <a:srgbClr val="FFFFFF"/>
                    </a:solidFill>
                    <a:latin typeface="Arial Bold"/>
                    <a:ea typeface="Arial Bold"/>
                    <a:cs typeface="Arial Bold"/>
                    <a:sym typeface="Arial Bold"/>
                  </a:rPr>
                  <a:t>Board</a:t>
                </a:r>
              </a:p>
            </p:txBody>
          </p:sp>
        </p:grpSp>
        <p:grpSp>
          <p:nvGrpSpPr>
            <p:cNvPr id="122" name="Group 122"/>
            <p:cNvGrpSpPr/>
            <p:nvPr/>
          </p:nvGrpSpPr>
          <p:grpSpPr>
            <a:xfrm>
              <a:off x="3773990" y="2711190"/>
              <a:ext cx="1588850" cy="613535"/>
              <a:chOff x="0" y="0"/>
              <a:chExt cx="313847" cy="121192"/>
            </a:xfrm>
          </p:grpSpPr>
          <p:sp>
            <p:nvSpPr>
              <p:cNvPr id="123" name="Freeform 123"/>
              <p:cNvSpPr/>
              <p:nvPr/>
            </p:nvSpPr>
            <p:spPr>
              <a:xfrm>
                <a:off x="0" y="0"/>
                <a:ext cx="313847" cy="121192"/>
              </a:xfrm>
              <a:custGeom>
                <a:avLst/>
                <a:gdLst/>
                <a:ahLst/>
                <a:cxnLst/>
                <a:rect l="l" t="t" r="r" b="b"/>
                <a:pathLst>
                  <a:path w="313847" h="121192">
                    <a:moveTo>
                      <a:pt x="60596" y="0"/>
                    </a:moveTo>
                    <a:lnTo>
                      <a:pt x="253251" y="0"/>
                    </a:lnTo>
                    <a:cubicBezTo>
                      <a:pt x="286717" y="0"/>
                      <a:pt x="313847" y="27130"/>
                      <a:pt x="313847" y="60596"/>
                    </a:cubicBezTo>
                    <a:lnTo>
                      <a:pt x="313847" y="60596"/>
                    </a:lnTo>
                    <a:cubicBezTo>
                      <a:pt x="313847" y="76667"/>
                      <a:pt x="307463" y="92080"/>
                      <a:pt x="296099" y="103444"/>
                    </a:cubicBezTo>
                    <a:cubicBezTo>
                      <a:pt x="284735" y="114808"/>
                      <a:pt x="269322" y="121192"/>
                      <a:pt x="253251" y="121192"/>
                    </a:cubicBezTo>
                    <a:lnTo>
                      <a:pt x="60596" y="121192"/>
                    </a:lnTo>
                    <a:cubicBezTo>
                      <a:pt x="44525" y="121192"/>
                      <a:pt x="29112" y="114808"/>
                      <a:pt x="17748" y="103444"/>
                    </a:cubicBezTo>
                    <a:cubicBezTo>
                      <a:pt x="6384" y="92080"/>
                      <a:pt x="0" y="76667"/>
                      <a:pt x="0" y="60596"/>
                    </a:cubicBezTo>
                    <a:lnTo>
                      <a:pt x="0" y="60596"/>
                    </a:lnTo>
                    <a:cubicBezTo>
                      <a:pt x="0" y="44525"/>
                      <a:pt x="6384" y="29112"/>
                      <a:pt x="17748" y="17748"/>
                    </a:cubicBezTo>
                    <a:cubicBezTo>
                      <a:pt x="29112" y="6384"/>
                      <a:pt x="44525" y="0"/>
                      <a:pt x="60596" y="0"/>
                    </a:cubicBezTo>
                    <a:close/>
                  </a:path>
                </a:pathLst>
              </a:custGeom>
              <a:solidFill>
                <a:srgbClr val="363535"/>
              </a:solidFill>
            </p:spPr>
            <p:txBody>
              <a:bodyPr/>
              <a:lstStyle/>
              <a:p>
                <a:endParaRPr lang="en-US"/>
              </a:p>
            </p:txBody>
          </p:sp>
          <p:sp>
            <p:nvSpPr>
              <p:cNvPr id="124" name="TextBox 124"/>
              <p:cNvSpPr txBox="1"/>
              <p:nvPr/>
            </p:nvSpPr>
            <p:spPr>
              <a:xfrm>
                <a:off x="0" y="-47625"/>
                <a:ext cx="313847" cy="168817"/>
              </a:xfrm>
              <a:prstGeom prst="rect">
                <a:avLst/>
              </a:prstGeom>
            </p:spPr>
            <p:txBody>
              <a:bodyPr lIns="50800" tIns="50800" rIns="50800" bIns="50800" rtlCol="0" anchor="ctr"/>
              <a:lstStyle/>
              <a:p>
                <a:pPr algn="ctr">
                  <a:lnSpc>
                    <a:spcPts val="2340"/>
                  </a:lnSpc>
                </a:pPr>
                <a:endParaRPr/>
              </a:p>
            </p:txBody>
          </p:sp>
        </p:grpSp>
        <p:grpSp>
          <p:nvGrpSpPr>
            <p:cNvPr id="125" name="Group 125"/>
            <p:cNvGrpSpPr/>
            <p:nvPr/>
          </p:nvGrpSpPr>
          <p:grpSpPr>
            <a:xfrm>
              <a:off x="4105632" y="2726255"/>
              <a:ext cx="928093" cy="628600"/>
              <a:chOff x="0" y="0"/>
              <a:chExt cx="1413593" cy="957431"/>
            </a:xfrm>
          </p:grpSpPr>
          <p:sp>
            <p:nvSpPr>
              <p:cNvPr id="126" name="Freeform 126"/>
              <p:cNvSpPr/>
              <p:nvPr/>
            </p:nvSpPr>
            <p:spPr>
              <a:xfrm>
                <a:off x="0" y="0"/>
                <a:ext cx="1413593" cy="957431"/>
              </a:xfrm>
              <a:custGeom>
                <a:avLst/>
                <a:gdLst/>
                <a:ahLst/>
                <a:cxnLst/>
                <a:rect l="l" t="t" r="r" b="b"/>
                <a:pathLst>
                  <a:path w="1413593" h="957431">
                    <a:moveTo>
                      <a:pt x="0" y="0"/>
                    </a:moveTo>
                    <a:lnTo>
                      <a:pt x="1413593" y="0"/>
                    </a:lnTo>
                    <a:lnTo>
                      <a:pt x="1413593" y="957431"/>
                    </a:lnTo>
                    <a:lnTo>
                      <a:pt x="0" y="957431"/>
                    </a:lnTo>
                    <a:close/>
                  </a:path>
                </a:pathLst>
              </a:custGeom>
              <a:blipFill>
                <a:blip r:embed="rId3">
                  <a:alphaModFix amt="0"/>
                </a:blip>
                <a:stretch>
                  <a:fillRect t="-300064" r="-1258411" b="-381525"/>
                </a:stretch>
              </a:blipFill>
            </p:spPr>
            <p:txBody>
              <a:bodyPr/>
              <a:lstStyle/>
              <a:p>
                <a:endParaRPr lang="en-US"/>
              </a:p>
            </p:txBody>
          </p:sp>
          <p:sp>
            <p:nvSpPr>
              <p:cNvPr id="127" name="TextBox 127"/>
              <p:cNvSpPr txBox="1"/>
              <p:nvPr/>
            </p:nvSpPr>
            <p:spPr>
              <a:xfrm>
                <a:off x="0" y="0"/>
                <a:ext cx="1413593" cy="957431"/>
              </a:xfrm>
              <a:prstGeom prst="rect">
                <a:avLst/>
              </a:prstGeom>
            </p:spPr>
            <p:txBody>
              <a:bodyPr lIns="0" tIns="0" rIns="0" bIns="0" rtlCol="0" anchor="ctr"/>
              <a:lstStyle/>
              <a:p>
                <a:pPr algn="ctr">
                  <a:lnSpc>
                    <a:spcPts val="1280"/>
                  </a:lnSpc>
                </a:pPr>
                <a:r>
                  <a:rPr lang="en-US" sz="1200" b="1">
                    <a:solidFill>
                      <a:srgbClr val="FFFFFF"/>
                    </a:solidFill>
                    <a:latin typeface="Arial Bold"/>
                    <a:ea typeface="Arial Bold"/>
                    <a:cs typeface="Arial Bold"/>
                    <a:sym typeface="Arial Bold"/>
                  </a:rPr>
                  <a:t>Passport</a:t>
                </a:r>
              </a:p>
            </p:txBody>
          </p:sp>
        </p:grpSp>
        <p:grpSp>
          <p:nvGrpSpPr>
            <p:cNvPr id="128" name="Group 128"/>
            <p:cNvGrpSpPr/>
            <p:nvPr/>
          </p:nvGrpSpPr>
          <p:grpSpPr>
            <a:xfrm>
              <a:off x="878599" y="5122311"/>
              <a:ext cx="3747314" cy="1977322"/>
              <a:chOff x="0" y="0"/>
              <a:chExt cx="1036850" cy="547108"/>
            </a:xfrm>
          </p:grpSpPr>
          <p:sp>
            <p:nvSpPr>
              <p:cNvPr id="129" name="Freeform 129"/>
              <p:cNvSpPr/>
              <p:nvPr/>
            </p:nvSpPr>
            <p:spPr>
              <a:xfrm>
                <a:off x="0" y="0"/>
                <a:ext cx="1036850" cy="547108"/>
              </a:xfrm>
              <a:custGeom>
                <a:avLst/>
                <a:gdLst/>
                <a:ahLst/>
                <a:cxnLst/>
                <a:rect l="l" t="t" r="r" b="b"/>
                <a:pathLst>
                  <a:path w="1036850" h="547108">
                    <a:moveTo>
                      <a:pt x="63357" y="0"/>
                    </a:moveTo>
                    <a:lnTo>
                      <a:pt x="973493" y="0"/>
                    </a:lnTo>
                    <a:cubicBezTo>
                      <a:pt x="990296" y="0"/>
                      <a:pt x="1006411" y="6675"/>
                      <a:pt x="1018293" y="18557"/>
                    </a:cubicBezTo>
                    <a:cubicBezTo>
                      <a:pt x="1030175" y="30439"/>
                      <a:pt x="1036850" y="46554"/>
                      <a:pt x="1036850" y="63357"/>
                    </a:cubicBezTo>
                    <a:lnTo>
                      <a:pt x="1036850" y="483751"/>
                    </a:lnTo>
                    <a:cubicBezTo>
                      <a:pt x="1036850" y="500555"/>
                      <a:pt x="1030175" y="516670"/>
                      <a:pt x="1018293" y="528551"/>
                    </a:cubicBezTo>
                    <a:cubicBezTo>
                      <a:pt x="1006411" y="540433"/>
                      <a:pt x="990296" y="547108"/>
                      <a:pt x="973493" y="547108"/>
                    </a:cubicBezTo>
                    <a:lnTo>
                      <a:pt x="63357" y="547108"/>
                    </a:lnTo>
                    <a:cubicBezTo>
                      <a:pt x="46554" y="547108"/>
                      <a:pt x="30439" y="540433"/>
                      <a:pt x="18557" y="528551"/>
                    </a:cubicBezTo>
                    <a:cubicBezTo>
                      <a:pt x="6675" y="516670"/>
                      <a:pt x="0" y="500555"/>
                      <a:pt x="0" y="483751"/>
                    </a:cubicBezTo>
                    <a:lnTo>
                      <a:pt x="0" y="63357"/>
                    </a:lnTo>
                    <a:cubicBezTo>
                      <a:pt x="0" y="46554"/>
                      <a:pt x="6675" y="30439"/>
                      <a:pt x="18557" y="18557"/>
                    </a:cubicBezTo>
                    <a:cubicBezTo>
                      <a:pt x="30439" y="6675"/>
                      <a:pt x="46554" y="0"/>
                      <a:pt x="63357" y="0"/>
                    </a:cubicBezTo>
                    <a:close/>
                  </a:path>
                </a:pathLst>
              </a:custGeom>
              <a:blipFill>
                <a:blip r:embed="rId15"/>
                <a:stretch>
                  <a:fillRect t="-168697" r="-8276" b="-137638"/>
                </a:stretch>
              </a:blipFill>
            </p:spPr>
            <p:txBody>
              <a:bodyPr/>
              <a:lstStyle/>
              <a:p>
                <a:endParaRPr lang="en-US"/>
              </a:p>
            </p:txBody>
          </p:sp>
        </p:grpSp>
        <p:sp>
          <p:nvSpPr>
            <p:cNvPr id="130" name="Freeform 130"/>
            <p:cNvSpPr/>
            <p:nvPr/>
          </p:nvSpPr>
          <p:spPr>
            <a:xfrm>
              <a:off x="2503843" y="5468832"/>
              <a:ext cx="518818" cy="352797"/>
            </a:xfrm>
            <a:custGeom>
              <a:avLst/>
              <a:gdLst/>
              <a:ahLst/>
              <a:cxnLst/>
              <a:rect l="l" t="t" r="r" b="b"/>
              <a:pathLst>
                <a:path w="518818" h="352797">
                  <a:moveTo>
                    <a:pt x="0" y="0"/>
                  </a:moveTo>
                  <a:lnTo>
                    <a:pt x="518818" y="0"/>
                  </a:lnTo>
                  <a:lnTo>
                    <a:pt x="518818" y="352797"/>
                  </a:lnTo>
                  <a:lnTo>
                    <a:pt x="0" y="352797"/>
                  </a:lnTo>
                  <a:lnTo>
                    <a:pt x="0" y="0"/>
                  </a:lnTo>
                  <a:close/>
                </a:path>
              </a:pathLst>
            </a:custGeom>
            <a:blipFill>
              <a:blip>
                <a:extLst>
                  <a:ext uri="{96DAC541-7B7A-43D3-8B79-37D633B846F1}">
                    <asvg:svgBlip xmlns:asvg="http://schemas.microsoft.com/office/drawing/2016/SVG/main" r:embed="rId16"/>
                  </a:ext>
                </a:extLst>
              </a:blip>
              <a:stretch>
                <a:fillRect/>
              </a:stretch>
            </a:blipFill>
          </p:spPr>
          <p:txBody>
            <a:bodyPr/>
            <a:lstStyle/>
            <a:p>
              <a:endParaRPr lang="en-US"/>
            </a:p>
          </p:txBody>
        </p:sp>
        <p:sp>
          <p:nvSpPr>
            <p:cNvPr id="131" name="Freeform 131"/>
            <p:cNvSpPr/>
            <p:nvPr/>
          </p:nvSpPr>
          <p:spPr>
            <a:xfrm>
              <a:off x="2633656" y="5515634"/>
              <a:ext cx="259193" cy="259193"/>
            </a:xfrm>
            <a:custGeom>
              <a:avLst/>
              <a:gdLst/>
              <a:ahLst/>
              <a:cxnLst/>
              <a:rect l="l" t="t" r="r" b="b"/>
              <a:pathLst>
                <a:path w="259193" h="259193">
                  <a:moveTo>
                    <a:pt x="0" y="0"/>
                  </a:moveTo>
                  <a:lnTo>
                    <a:pt x="259193" y="0"/>
                  </a:lnTo>
                  <a:lnTo>
                    <a:pt x="259193" y="259193"/>
                  </a:lnTo>
                  <a:lnTo>
                    <a:pt x="0" y="259193"/>
                  </a:lnTo>
                  <a:lnTo>
                    <a:pt x="0" y="0"/>
                  </a:lnTo>
                  <a:close/>
                </a:path>
              </a:pathLst>
            </a:custGeom>
            <a:blipFill>
              <a:blip r:embed="rId17"/>
              <a:stretch>
                <a:fillRect/>
              </a:stretch>
            </a:blipFill>
          </p:spPr>
          <p:txBody>
            <a:bodyPr/>
            <a:lstStyle/>
            <a:p>
              <a:endParaRPr lang="en-US"/>
            </a:p>
          </p:txBody>
        </p:sp>
        <p:grpSp>
          <p:nvGrpSpPr>
            <p:cNvPr id="132" name="Group 132"/>
            <p:cNvGrpSpPr/>
            <p:nvPr/>
          </p:nvGrpSpPr>
          <p:grpSpPr>
            <a:xfrm>
              <a:off x="2079193" y="6296688"/>
              <a:ext cx="1368117" cy="550911"/>
              <a:chOff x="0" y="0"/>
              <a:chExt cx="335694" cy="135177"/>
            </a:xfrm>
          </p:grpSpPr>
          <p:sp>
            <p:nvSpPr>
              <p:cNvPr id="133" name="Freeform 133"/>
              <p:cNvSpPr/>
              <p:nvPr/>
            </p:nvSpPr>
            <p:spPr>
              <a:xfrm>
                <a:off x="0" y="0"/>
                <a:ext cx="335694" cy="135177"/>
              </a:xfrm>
              <a:custGeom>
                <a:avLst/>
                <a:gdLst/>
                <a:ahLst/>
                <a:cxnLst/>
                <a:rect l="l" t="t" r="r" b="b"/>
                <a:pathLst>
                  <a:path w="335694" h="135177">
                    <a:moveTo>
                      <a:pt x="67588" y="0"/>
                    </a:moveTo>
                    <a:lnTo>
                      <a:pt x="268106" y="0"/>
                    </a:lnTo>
                    <a:cubicBezTo>
                      <a:pt x="305434" y="0"/>
                      <a:pt x="335694" y="30260"/>
                      <a:pt x="335694" y="67588"/>
                    </a:cubicBezTo>
                    <a:lnTo>
                      <a:pt x="335694" y="67588"/>
                    </a:lnTo>
                    <a:cubicBezTo>
                      <a:pt x="335694" y="104916"/>
                      <a:pt x="305434" y="135177"/>
                      <a:pt x="268106" y="135177"/>
                    </a:cubicBezTo>
                    <a:lnTo>
                      <a:pt x="67588" y="135177"/>
                    </a:lnTo>
                    <a:cubicBezTo>
                      <a:pt x="30260" y="135177"/>
                      <a:pt x="0" y="104916"/>
                      <a:pt x="0" y="67588"/>
                    </a:cubicBezTo>
                    <a:lnTo>
                      <a:pt x="0" y="67588"/>
                    </a:lnTo>
                    <a:cubicBezTo>
                      <a:pt x="0" y="30260"/>
                      <a:pt x="30260" y="0"/>
                      <a:pt x="67588" y="0"/>
                    </a:cubicBezTo>
                    <a:close/>
                  </a:path>
                </a:pathLst>
              </a:custGeom>
              <a:solidFill>
                <a:srgbClr val="FFFFFF"/>
              </a:solidFill>
            </p:spPr>
            <p:txBody>
              <a:bodyPr/>
              <a:lstStyle/>
              <a:p>
                <a:endParaRPr lang="en-US"/>
              </a:p>
            </p:txBody>
          </p:sp>
          <p:sp>
            <p:nvSpPr>
              <p:cNvPr id="134" name="TextBox 134"/>
              <p:cNvSpPr txBox="1"/>
              <p:nvPr/>
            </p:nvSpPr>
            <p:spPr>
              <a:xfrm>
                <a:off x="0" y="-19050"/>
                <a:ext cx="335694" cy="154227"/>
              </a:xfrm>
              <a:prstGeom prst="rect">
                <a:avLst/>
              </a:prstGeom>
            </p:spPr>
            <p:txBody>
              <a:bodyPr lIns="40896" tIns="40896" rIns="40896" bIns="40896" rtlCol="0" anchor="ctr"/>
              <a:lstStyle/>
              <a:p>
                <a:pPr algn="ctr">
                  <a:lnSpc>
                    <a:spcPts val="1499"/>
                  </a:lnSpc>
                </a:pPr>
                <a:r>
                  <a:rPr lang="en-US" sz="1249" b="1">
                    <a:solidFill>
                      <a:srgbClr val="000000"/>
                    </a:solidFill>
                    <a:latin typeface="Calibri (MS) Bold"/>
                    <a:ea typeface="Calibri (MS) Bold"/>
                    <a:cs typeface="Calibri (MS) Bold"/>
                    <a:sym typeface="Calibri (MS) Bold"/>
                  </a:rPr>
                  <a:t>Post A BeReal.</a:t>
                </a:r>
              </a:p>
            </p:txBody>
          </p:sp>
        </p:grpSp>
        <p:sp>
          <p:nvSpPr>
            <p:cNvPr id="135" name="TextBox 135"/>
            <p:cNvSpPr txBox="1"/>
            <p:nvPr/>
          </p:nvSpPr>
          <p:spPr>
            <a:xfrm>
              <a:off x="1477780" y="6024328"/>
              <a:ext cx="2548951" cy="154238"/>
            </a:xfrm>
            <a:prstGeom prst="rect">
              <a:avLst/>
            </a:prstGeom>
          </p:spPr>
          <p:txBody>
            <a:bodyPr lIns="0" tIns="0" rIns="0" bIns="0" rtlCol="0" anchor="t">
              <a:spAutoFit/>
            </a:bodyPr>
            <a:lstStyle/>
            <a:p>
              <a:pPr algn="ctr">
                <a:lnSpc>
                  <a:spcPts val="821"/>
                </a:lnSpc>
                <a:spcBef>
                  <a:spcPct val="0"/>
                </a:spcBef>
              </a:pPr>
              <a:r>
                <a:rPr lang="en-US" sz="684" b="1">
                  <a:solidFill>
                    <a:srgbClr val="FFFFFF"/>
                  </a:solidFill>
                  <a:latin typeface="Calibri (MS) Bold"/>
                  <a:ea typeface="Calibri (MS) Bold"/>
                  <a:cs typeface="Calibri (MS) Bold"/>
                  <a:sym typeface="Calibri (MS) Bold"/>
                </a:rPr>
                <a:t>To view your friends’ BeReal, share yours with them. </a:t>
              </a:r>
            </a:p>
          </p:txBody>
        </p:sp>
        <p:grpSp>
          <p:nvGrpSpPr>
            <p:cNvPr id="136" name="Group 136"/>
            <p:cNvGrpSpPr/>
            <p:nvPr/>
          </p:nvGrpSpPr>
          <p:grpSpPr>
            <a:xfrm>
              <a:off x="882781" y="7340272"/>
              <a:ext cx="3743132" cy="1975116"/>
              <a:chOff x="0" y="0"/>
              <a:chExt cx="1036850" cy="547108"/>
            </a:xfrm>
          </p:grpSpPr>
          <p:sp>
            <p:nvSpPr>
              <p:cNvPr id="137" name="Freeform 137"/>
              <p:cNvSpPr/>
              <p:nvPr/>
            </p:nvSpPr>
            <p:spPr>
              <a:xfrm>
                <a:off x="0" y="0"/>
                <a:ext cx="1036850" cy="547108"/>
              </a:xfrm>
              <a:custGeom>
                <a:avLst/>
                <a:gdLst/>
                <a:ahLst/>
                <a:cxnLst/>
                <a:rect l="l" t="t" r="r" b="b"/>
                <a:pathLst>
                  <a:path w="1036850" h="547108">
                    <a:moveTo>
                      <a:pt x="63428" y="0"/>
                    </a:moveTo>
                    <a:lnTo>
                      <a:pt x="973422" y="0"/>
                    </a:lnTo>
                    <a:cubicBezTo>
                      <a:pt x="1008452" y="0"/>
                      <a:pt x="1036850" y="28398"/>
                      <a:pt x="1036850" y="63428"/>
                    </a:cubicBezTo>
                    <a:lnTo>
                      <a:pt x="1036850" y="483680"/>
                    </a:lnTo>
                    <a:cubicBezTo>
                      <a:pt x="1036850" y="518711"/>
                      <a:pt x="1008452" y="547108"/>
                      <a:pt x="973422" y="547108"/>
                    </a:cubicBezTo>
                    <a:lnTo>
                      <a:pt x="63428" y="547108"/>
                    </a:lnTo>
                    <a:cubicBezTo>
                      <a:pt x="28398" y="547108"/>
                      <a:pt x="0" y="518711"/>
                      <a:pt x="0" y="483680"/>
                    </a:cubicBezTo>
                    <a:lnTo>
                      <a:pt x="0" y="63428"/>
                    </a:lnTo>
                    <a:cubicBezTo>
                      <a:pt x="0" y="28398"/>
                      <a:pt x="28398" y="0"/>
                      <a:pt x="63428" y="0"/>
                    </a:cubicBezTo>
                    <a:close/>
                  </a:path>
                </a:pathLst>
              </a:custGeom>
              <a:blipFill>
                <a:blip r:embed="rId15"/>
                <a:stretch>
                  <a:fillRect t="-168697" r="-8276" b="-137638"/>
                </a:stretch>
              </a:blipFill>
            </p:spPr>
            <p:txBody>
              <a:bodyPr/>
              <a:lstStyle/>
              <a:p>
                <a:endParaRPr lang="en-US"/>
              </a:p>
            </p:txBody>
          </p:sp>
        </p:grpSp>
        <p:sp>
          <p:nvSpPr>
            <p:cNvPr id="138" name="Freeform 138"/>
            <p:cNvSpPr/>
            <p:nvPr/>
          </p:nvSpPr>
          <p:spPr>
            <a:xfrm>
              <a:off x="2484243" y="7634907"/>
              <a:ext cx="518239" cy="352403"/>
            </a:xfrm>
            <a:custGeom>
              <a:avLst/>
              <a:gdLst/>
              <a:ahLst/>
              <a:cxnLst/>
              <a:rect l="l" t="t" r="r" b="b"/>
              <a:pathLst>
                <a:path w="518239" h="352403">
                  <a:moveTo>
                    <a:pt x="0" y="0"/>
                  </a:moveTo>
                  <a:lnTo>
                    <a:pt x="518239" y="0"/>
                  </a:lnTo>
                  <a:lnTo>
                    <a:pt x="518239" y="352403"/>
                  </a:lnTo>
                  <a:lnTo>
                    <a:pt x="0" y="352403"/>
                  </a:lnTo>
                  <a:lnTo>
                    <a:pt x="0" y="0"/>
                  </a:lnTo>
                  <a:close/>
                </a:path>
              </a:pathLst>
            </a:custGeom>
            <a:blipFill>
              <a:blip>
                <a:extLst>
                  <a:ext uri="{96DAC541-7B7A-43D3-8B79-37D633B846F1}">
                    <asvg:svgBlip xmlns:asvg="http://schemas.microsoft.com/office/drawing/2016/SVG/main" r:embed="rId16"/>
                  </a:ext>
                </a:extLst>
              </a:blip>
              <a:stretch>
                <a:fillRect/>
              </a:stretch>
            </a:blipFill>
          </p:spPr>
          <p:txBody>
            <a:bodyPr/>
            <a:lstStyle/>
            <a:p>
              <a:endParaRPr lang="en-US"/>
            </a:p>
          </p:txBody>
        </p:sp>
        <p:sp>
          <p:nvSpPr>
            <p:cNvPr id="139" name="Freeform 139"/>
            <p:cNvSpPr/>
            <p:nvPr/>
          </p:nvSpPr>
          <p:spPr>
            <a:xfrm>
              <a:off x="2613911" y="7681657"/>
              <a:ext cx="258903" cy="258903"/>
            </a:xfrm>
            <a:custGeom>
              <a:avLst/>
              <a:gdLst/>
              <a:ahLst/>
              <a:cxnLst/>
              <a:rect l="l" t="t" r="r" b="b"/>
              <a:pathLst>
                <a:path w="258903" h="258903">
                  <a:moveTo>
                    <a:pt x="0" y="0"/>
                  </a:moveTo>
                  <a:lnTo>
                    <a:pt x="258903" y="0"/>
                  </a:lnTo>
                  <a:lnTo>
                    <a:pt x="258903" y="258904"/>
                  </a:lnTo>
                  <a:lnTo>
                    <a:pt x="0" y="258904"/>
                  </a:lnTo>
                  <a:lnTo>
                    <a:pt x="0" y="0"/>
                  </a:lnTo>
                  <a:close/>
                </a:path>
              </a:pathLst>
            </a:custGeom>
            <a:blipFill>
              <a:blip r:embed="rId17"/>
              <a:stretch>
                <a:fillRect/>
              </a:stretch>
            </a:blipFill>
          </p:spPr>
          <p:txBody>
            <a:bodyPr/>
            <a:lstStyle/>
            <a:p>
              <a:endParaRPr lang="en-US"/>
            </a:p>
          </p:txBody>
        </p:sp>
        <p:grpSp>
          <p:nvGrpSpPr>
            <p:cNvPr id="140" name="Group 140"/>
            <p:cNvGrpSpPr/>
            <p:nvPr/>
          </p:nvGrpSpPr>
          <p:grpSpPr>
            <a:xfrm>
              <a:off x="2060067" y="8469573"/>
              <a:ext cx="1366591" cy="550296"/>
              <a:chOff x="0" y="0"/>
              <a:chExt cx="335694" cy="135177"/>
            </a:xfrm>
          </p:grpSpPr>
          <p:sp>
            <p:nvSpPr>
              <p:cNvPr id="141" name="Freeform 141"/>
              <p:cNvSpPr/>
              <p:nvPr/>
            </p:nvSpPr>
            <p:spPr>
              <a:xfrm>
                <a:off x="0" y="0"/>
                <a:ext cx="335694" cy="135177"/>
              </a:xfrm>
              <a:custGeom>
                <a:avLst/>
                <a:gdLst/>
                <a:ahLst/>
                <a:cxnLst/>
                <a:rect l="l" t="t" r="r" b="b"/>
                <a:pathLst>
                  <a:path w="335694" h="135177">
                    <a:moveTo>
                      <a:pt x="67588" y="0"/>
                    </a:moveTo>
                    <a:lnTo>
                      <a:pt x="268106" y="0"/>
                    </a:lnTo>
                    <a:cubicBezTo>
                      <a:pt x="305434" y="0"/>
                      <a:pt x="335694" y="30260"/>
                      <a:pt x="335694" y="67588"/>
                    </a:cubicBezTo>
                    <a:lnTo>
                      <a:pt x="335694" y="67588"/>
                    </a:lnTo>
                    <a:cubicBezTo>
                      <a:pt x="335694" y="104916"/>
                      <a:pt x="305434" y="135177"/>
                      <a:pt x="268106" y="135177"/>
                    </a:cubicBezTo>
                    <a:lnTo>
                      <a:pt x="67588" y="135177"/>
                    </a:lnTo>
                    <a:cubicBezTo>
                      <a:pt x="30260" y="135177"/>
                      <a:pt x="0" y="104916"/>
                      <a:pt x="0" y="67588"/>
                    </a:cubicBezTo>
                    <a:lnTo>
                      <a:pt x="0" y="67588"/>
                    </a:lnTo>
                    <a:cubicBezTo>
                      <a:pt x="0" y="30260"/>
                      <a:pt x="30260" y="0"/>
                      <a:pt x="67588" y="0"/>
                    </a:cubicBezTo>
                    <a:close/>
                  </a:path>
                </a:pathLst>
              </a:custGeom>
              <a:solidFill>
                <a:srgbClr val="FFFFFF"/>
              </a:solidFill>
            </p:spPr>
            <p:txBody>
              <a:bodyPr/>
              <a:lstStyle/>
              <a:p>
                <a:endParaRPr lang="en-US"/>
              </a:p>
            </p:txBody>
          </p:sp>
          <p:sp>
            <p:nvSpPr>
              <p:cNvPr id="142" name="TextBox 142"/>
              <p:cNvSpPr txBox="1"/>
              <p:nvPr/>
            </p:nvSpPr>
            <p:spPr>
              <a:xfrm>
                <a:off x="0" y="-28575"/>
                <a:ext cx="335694" cy="163752"/>
              </a:xfrm>
              <a:prstGeom prst="rect">
                <a:avLst/>
              </a:prstGeom>
            </p:spPr>
            <p:txBody>
              <a:bodyPr lIns="40850" tIns="40850" rIns="40850" bIns="40850" rtlCol="0" anchor="ctr"/>
              <a:lstStyle/>
              <a:p>
                <a:pPr algn="ctr">
                  <a:lnSpc>
                    <a:spcPts val="1500"/>
                  </a:lnSpc>
                </a:pPr>
                <a:r>
                  <a:rPr lang="en-US" sz="1250" b="1">
                    <a:solidFill>
                      <a:srgbClr val="000000"/>
                    </a:solidFill>
                    <a:latin typeface="Calibri (MS) Bold"/>
                    <a:ea typeface="Calibri (MS) Bold"/>
                    <a:cs typeface="Calibri (MS) Bold"/>
                    <a:sym typeface="Calibri (MS) Bold"/>
                  </a:rPr>
                  <a:t>Post A BeReal.</a:t>
                </a:r>
              </a:p>
            </p:txBody>
          </p:sp>
        </p:grpSp>
        <p:sp>
          <p:nvSpPr>
            <p:cNvPr id="143" name="TextBox 143"/>
            <p:cNvSpPr txBox="1"/>
            <p:nvPr/>
          </p:nvSpPr>
          <p:spPr>
            <a:xfrm>
              <a:off x="1470309" y="8192936"/>
              <a:ext cx="2546107" cy="154087"/>
            </a:xfrm>
            <a:prstGeom prst="rect">
              <a:avLst/>
            </a:prstGeom>
          </p:spPr>
          <p:txBody>
            <a:bodyPr lIns="0" tIns="0" rIns="0" bIns="0" rtlCol="0" anchor="t">
              <a:spAutoFit/>
            </a:bodyPr>
            <a:lstStyle/>
            <a:p>
              <a:pPr algn="ctr">
                <a:lnSpc>
                  <a:spcPts val="820"/>
                </a:lnSpc>
                <a:spcBef>
                  <a:spcPct val="0"/>
                </a:spcBef>
              </a:pPr>
              <a:r>
                <a:rPr lang="en-US" sz="683" b="1">
                  <a:solidFill>
                    <a:srgbClr val="FFFFFF"/>
                  </a:solidFill>
                  <a:latin typeface="Calibri (MS) Bold"/>
                  <a:ea typeface="Calibri (MS) Bold"/>
                  <a:cs typeface="Calibri (MS) Bold"/>
                  <a:sym typeface="Calibri (MS) Bold"/>
                </a:rPr>
                <a:t>To view your friends’ BeReal, share yours with them. </a:t>
              </a:r>
            </a:p>
          </p:txBody>
        </p:sp>
        <p:sp>
          <p:nvSpPr>
            <p:cNvPr id="144" name="Freeform 144"/>
            <p:cNvSpPr/>
            <p:nvPr/>
          </p:nvSpPr>
          <p:spPr>
            <a:xfrm>
              <a:off x="4357688" y="521525"/>
              <a:ext cx="536449" cy="561726"/>
            </a:xfrm>
            <a:custGeom>
              <a:avLst/>
              <a:gdLst/>
              <a:ahLst/>
              <a:cxnLst/>
              <a:rect l="l" t="t" r="r" b="b"/>
              <a:pathLst>
                <a:path w="536449" h="561726">
                  <a:moveTo>
                    <a:pt x="0" y="0"/>
                  </a:moveTo>
                  <a:lnTo>
                    <a:pt x="536449" y="0"/>
                  </a:lnTo>
                  <a:lnTo>
                    <a:pt x="536449" y="561727"/>
                  </a:lnTo>
                  <a:lnTo>
                    <a:pt x="0" y="561727"/>
                  </a:lnTo>
                  <a:lnTo>
                    <a:pt x="0" y="0"/>
                  </a:lnTo>
                  <a:close/>
                </a:path>
              </a:pathLst>
            </a:custGeom>
            <a:blipFill>
              <a:blip>
                <a:extLst>
                  <a:ext uri="{96DAC541-7B7A-43D3-8B79-37D633B846F1}">
                    <asvg:svgBlip xmlns:asvg="http://schemas.microsoft.com/office/drawing/2016/SVG/main" r:embed="rId18"/>
                  </a:ext>
                </a:extLst>
              </a:blip>
              <a:stretch>
                <a:fillRect/>
              </a:stretch>
            </a:blipFill>
          </p:spPr>
          <p:txBody>
            <a:bodyPr/>
            <a:lstStyle/>
            <a:p>
              <a:endParaRPr lang="en-US"/>
            </a:p>
          </p:txBody>
        </p:sp>
        <p:sp>
          <p:nvSpPr>
            <p:cNvPr id="145" name="Freeform 145"/>
            <p:cNvSpPr/>
            <p:nvPr/>
          </p:nvSpPr>
          <p:spPr>
            <a:xfrm>
              <a:off x="4519488" y="632381"/>
              <a:ext cx="233080" cy="312859"/>
            </a:xfrm>
            <a:custGeom>
              <a:avLst/>
              <a:gdLst/>
              <a:ahLst/>
              <a:cxnLst/>
              <a:rect l="l" t="t" r="r" b="b"/>
              <a:pathLst>
                <a:path w="233080" h="312859">
                  <a:moveTo>
                    <a:pt x="0" y="0"/>
                  </a:moveTo>
                  <a:lnTo>
                    <a:pt x="233080" y="0"/>
                  </a:lnTo>
                  <a:lnTo>
                    <a:pt x="233080" y="312859"/>
                  </a:lnTo>
                  <a:lnTo>
                    <a:pt x="0" y="312859"/>
                  </a:lnTo>
                  <a:lnTo>
                    <a:pt x="0" y="0"/>
                  </a:lnTo>
                  <a:close/>
                </a:path>
              </a:pathLst>
            </a:custGeom>
            <a:blipFill>
              <a:blip>
                <a:extLst>
                  <a:ext uri="{96DAC541-7B7A-43D3-8B79-37D633B846F1}">
                    <asvg:svgBlip xmlns:asvg="http://schemas.microsoft.com/office/drawing/2016/SVG/main" r:embed="rId19"/>
                  </a:ext>
                </a:extLst>
              </a:blip>
              <a:stretch>
                <a:fillRect/>
              </a:stretch>
            </a:blipFill>
          </p:spPr>
          <p:txBody>
            <a:bodyPr/>
            <a:lstStyle/>
            <a:p>
              <a:endParaRPr lang="en-US"/>
            </a:p>
          </p:txBody>
        </p:sp>
        <p:grpSp>
          <p:nvGrpSpPr>
            <p:cNvPr id="146" name="Group 146"/>
            <p:cNvGrpSpPr/>
            <p:nvPr/>
          </p:nvGrpSpPr>
          <p:grpSpPr>
            <a:xfrm>
              <a:off x="878599" y="3655800"/>
              <a:ext cx="3669044" cy="1225211"/>
              <a:chOff x="0" y="0"/>
              <a:chExt cx="724749" cy="242017"/>
            </a:xfrm>
          </p:grpSpPr>
          <p:sp>
            <p:nvSpPr>
              <p:cNvPr id="147" name="Freeform 147"/>
              <p:cNvSpPr/>
              <p:nvPr/>
            </p:nvSpPr>
            <p:spPr>
              <a:xfrm>
                <a:off x="0" y="0"/>
                <a:ext cx="724750" cy="242017"/>
              </a:xfrm>
              <a:custGeom>
                <a:avLst/>
                <a:gdLst/>
                <a:ahLst/>
                <a:cxnLst/>
                <a:rect l="l" t="t" r="r" b="b"/>
                <a:pathLst>
                  <a:path w="724750" h="242017">
                    <a:moveTo>
                      <a:pt x="25321" y="0"/>
                    </a:moveTo>
                    <a:lnTo>
                      <a:pt x="699429" y="0"/>
                    </a:lnTo>
                    <a:cubicBezTo>
                      <a:pt x="706144" y="0"/>
                      <a:pt x="712585" y="2668"/>
                      <a:pt x="717333" y="7416"/>
                    </a:cubicBezTo>
                    <a:cubicBezTo>
                      <a:pt x="722082" y="12165"/>
                      <a:pt x="724750" y="18605"/>
                      <a:pt x="724750" y="25321"/>
                    </a:cubicBezTo>
                    <a:lnTo>
                      <a:pt x="724750" y="216696"/>
                    </a:lnTo>
                    <a:cubicBezTo>
                      <a:pt x="724750" y="230681"/>
                      <a:pt x="713413" y="242017"/>
                      <a:pt x="699429" y="242017"/>
                    </a:cubicBezTo>
                    <a:lnTo>
                      <a:pt x="25321" y="242017"/>
                    </a:lnTo>
                    <a:cubicBezTo>
                      <a:pt x="11336" y="242017"/>
                      <a:pt x="0" y="230681"/>
                      <a:pt x="0" y="216696"/>
                    </a:cubicBezTo>
                    <a:lnTo>
                      <a:pt x="0" y="25321"/>
                    </a:lnTo>
                    <a:cubicBezTo>
                      <a:pt x="0" y="11336"/>
                      <a:pt x="11336" y="0"/>
                      <a:pt x="25321" y="0"/>
                    </a:cubicBezTo>
                    <a:close/>
                  </a:path>
                </a:pathLst>
              </a:custGeom>
              <a:solidFill>
                <a:srgbClr val="FFFFFF"/>
              </a:solidFill>
            </p:spPr>
            <p:txBody>
              <a:bodyPr/>
              <a:lstStyle/>
              <a:p>
                <a:endParaRPr lang="en-US"/>
              </a:p>
            </p:txBody>
          </p:sp>
          <p:sp>
            <p:nvSpPr>
              <p:cNvPr id="148" name="TextBox 148"/>
              <p:cNvSpPr txBox="1"/>
              <p:nvPr/>
            </p:nvSpPr>
            <p:spPr>
              <a:xfrm>
                <a:off x="0" y="-19050"/>
                <a:ext cx="724749" cy="261067"/>
              </a:xfrm>
              <a:prstGeom prst="rect">
                <a:avLst/>
              </a:prstGeom>
            </p:spPr>
            <p:txBody>
              <a:bodyPr lIns="50800" tIns="50800" rIns="50800" bIns="50800" rtlCol="0" anchor="ctr"/>
              <a:lstStyle/>
              <a:p>
                <a:pPr algn="ctr">
                  <a:lnSpc>
                    <a:spcPts val="1860"/>
                  </a:lnSpc>
                </a:pPr>
                <a:r>
                  <a:rPr lang="en-US" sz="1550" b="1">
                    <a:solidFill>
                      <a:srgbClr val="000000"/>
                    </a:solidFill>
                    <a:latin typeface="Calibri (MS) Bold"/>
                    <a:ea typeface="Calibri (MS) Bold"/>
                    <a:cs typeface="Calibri (MS) Bold"/>
                    <a:sym typeface="Calibri (MS) Bold"/>
                  </a:rPr>
                  <a:t>Opt-in to join Community Boards</a:t>
                </a:r>
              </a:p>
            </p:txBody>
          </p:sp>
        </p:grpSp>
      </p:grpSp>
      <p:grpSp>
        <p:nvGrpSpPr>
          <p:cNvPr id="149" name="Group 149"/>
          <p:cNvGrpSpPr/>
          <p:nvPr/>
        </p:nvGrpSpPr>
        <p:grpSpPr>
          <a:xfrm>
            <a:off x="12641324" y="9502353"/>
            <a:ext cx="724412" cy="362206"/>
            <a:chOff x="0" y="0"/>
            <a:chExt cx="812800" cy="406400"/>
          </a:xfrm>
        </p:grpSpPr>
        <p:sp>
          <p:nvSpPr>
            <p:cNvPr id="150" name="Freeform 150"/>
            <p:cNvSpPr/>
            <p:nvPr/>
          </p:nvSpPr>
          <p:spPr>
            <a:xfrm>
              <a:off x="0" y="0"/>
              <a:ext cx="812800" cy="406400"/>
            </a:xfrm>
            <a:custGeom>
              <a:avLst/>
              <a:gdLst/>
              <a:ahLst/>
              <a:cxnLst/>
              <a:rect l="l" t="t" r="r" b="b"/>
              <a:pathLst>
                <a:path w="812800" h="406400">
                  <a:moveTo>
                    <a:pt x="0" y="0"/>
                  </a:moveTo>
                  <a:lnTo>
                    <a:pt x="609600" y="0"/>
                  </a:lnTo>
                  <a:lnTo>
                    <a:pt x="812800" y="203200"/>
                  </a:lnTo>
                  <a:lnTo>
                    <a:pt x="609600" y="406400"/>
                  </a:lnTo>
                  <a:lnTo>
                    <a:pt x="0" y="406400"/>
                  </a:lnTo>
                  <a:lnTo>
                    <a:pt x="203200" y="203200"/>
                  </a:lnTo>
                  <a:lnTo>
                    <a:pt x="0" y="0"/>
                  </a:lnTo>
                  <a:close/>
                </a:path>
              </a:pathLst>
            </a:custGeom>
            <a:solidFill>
              <a:srgbClr val="FFDE59"/>
            </a:solidFill>
          </p:spPr>
          <p:txBody>
            <a:bodyPr/>
            <a:lstStyle/>
            <a:p>
              <a:endParaRPr lang="en-US"/>
            </a:p>
          </p:txBody>
        </p:sp>
        <p:sp>
          <p:nvSpPr>
            <p:cNvPr id="151" name="TextBox 151"/>
            <p:cNvSpPr txBox="1"/>
            <p:nvPr/>
          </p:nvSpPr>
          <p:spPr>
            <a:xfrm>
              <a:off x="177800" y="-47625"/>
              <a:ext cx="558800" cy="454025"/>
            </a:xfrm>
            <a:prstGeom prst="rect">
              <a:avLst/>
            </a:prstGeom>
          </p:spPr>
          <p:txBody>
            <a:bodyPr lIns="50800" tIns="50800" rIns="50800" bIns="50800" rtlCol="0" anchor="ctr"/>
            <a:lstStyle/>
            <a:p>
              <a:pPr algn="ctr">
                <a:lnSpc>
                  <a:spcPts val="2340"/>
                </a:lnSpc>
              </a:pPr>
              <a:endParaRPr/>
            </a:p>
          </p:txBody>
        </p:sp>
      </p:grpSp>
      <p:grpSp>
        <p:nvGrpSpPr>
          <p:cNvPr id="152" name="Group 152"/>
          <p:cNvGrpSpPr/>
          <p:nvPr/>
        </p:nvGrpSpPr>
        <p:grpSpPr>
          <a:xfrm>
            <a:off x="12596049" y="4780887"/>
            <a:ext cx="724412" cy="362206"/>
            <a:chOff x="0" y="0"/>
            <a:chExt cx="812800" cy="406400"/>
          </a:xfrm>
        </p:grpSpPr>
        <p:sp>
          <p:nvSpPr>
            <p:cNvPr id="153" name="Freeform 153"/>
            <p:cNvSpPr/>
            <p:nvPr/>
          </p:nvSpPr>
          <p:spPr>
            <a:xfrm>
              <a:off x="0" y="0"/>
              <a:ext cx="812800" cy="406400"/>
            </a:xfrm>
            <a:custGeom>
              <a:avLst/>
              <a:gdLst/>
              <a:ahLst/>
              <a:cxnLst/>
              <a:rect l="l" t="t" r="r" b="b"/>
              <a:pathLst>
                <a:path w="812800" h="406400">
                  <a:moveTo>
                    <a:pt x="0" y="0"/>
                  </a:moveTo>
                  <a:lnTo>
                    <a:pt x="609600" y="0"/>
                  </a:lnTo>
                  <a:lnTo>
                    <a:pt x="812800" y="203200"/>
                  </a:lnTo>
                  <a:lnTo>
                    <a:pt x="609600" y="406400"/>
                  </a:lnTo>
                  <a:lnTo>
                    <a:pt x="0" y="406400"/>
                  </a:lnTo>
                  <a:lnTo>
                    <a:pt x="203200" y="203200"/>
                  </a:lnTo>
                  <a:lnTo>
                    <a:pt x="0" y="0"/>
                  </a:lnTo>
                  <a:close/>
                </a:path>
              </a:pathLst>
            </a:custGeom>
            <a:solidFill>
              <a:srgbClr val="FFDE59"/>
            </a:solidFill>
          </p:spPr>
          <p:txBody>
            <a:bodyPr/>
            <a:lstStyle/>
            <a:p>
              <a:endParaRPr lang="en-US"/>
            </a:p>
          </p:txBody>
        </p:sp>
        <p:sp>
          <p:nvSpPr>
            <p:cNvPr id="154" name="TextBox 154"/>
            <p:cNvSpPr txBox="1"/>
            <p:nvPr/>
          </p:nvSpPr>
          <p:spPr>
            <a:xfrm>
              <a:off x="177800" y="-47625"/>
              <a:ext cx="558800" cy="454025"/>
            </a:xfrm>
            <a:prstGeom prst="rect">
              <a:avLst/>
            </a:prstGeom>
          </p:spPr>
          <p:txBody>
            <a:bodyPr lIns="50800" tIns="50800" rIns="50800" bIns="50800" rtlCol="0" anchor="ctr"/>
            <a:lstStyle/>
            <a:p>
              <a:pPr algn="ctr">
                <a:lnSpc>
                  <a:spcPts val="2340"/>
                </a:lnSpc>
              </a:pPr>
              <a:endParaRPr/>
            </a:p>
          </p:txBody>
        </p:sp>
      </p:grpSp>
      <p:grpSp>
        <p:nvGrpSpPr>
          <p:cNvPr id="155" name="Group 155"/>
          <p:cNvGrpSpPr/>
          <p:nvPr/>
        </p:nvGrpSpPr>
        <p:grpSpPr>
          <a:xfrm>
            <a:off x="5201067" y="3557952"/>
            <a:ext cx="2514680" cy="1303020"/>
            <a:chOff x="0" y="0"/>
            <a:chExt cx="3352907" cy="1737360"/>
          </a:xfrm>
        </p:grpSpPr>
        <p:sp>
          <p:nvSpPr>
            <p:cNvPr id="156" name="Freeform 156"/>
            <p:cNvSpPr/>
            <p:nvPr/>
          </p:nvSpPr>
          <p:spPr>
            <a:xfrm>
              <a:off x="0" y="0"/>
              <a:ext cx="3352907" cy="1737360"/>
            </a:xfrm>
            <a:custGeom>
              <a:avLst/>
              <a:gdLst/>
              <a:ahLst/>
              <a:cxnLst/>
              <a:rect l="l" t="t" r="r" b="b"/>
              <a:pathLst>
                <a:path w="3352907" h="1737360">
                  <a:moveTo>
                    <a:pt x="0" y="0"/>
                  </a:moveTo>
                  <a:lnTo>
                    <a:pt x="3352907" y="0"/>
                  </a:lnTo>
                  <a:lnTo>
                    <a:pt x="3352907" y="1737360"/>
                  </a:lnTo>
                  <a:lnTo>
                    <a:pt x="0" y="1737360"/>
                  </a:lnTo>
                  <a:close/>
                </a:path>
              </a:pathLst>
            </a:custGeom>
            <a:blipFill>
              <a:blip r:embed="rId3">
                <a:alphaModFix amt="0"/>
              </a:blip>
              <a:stretch>
                <a:fillRect t="-165360" r="-472708" b="-165360"/>
              </a:stretch>
            </a:blipFill>
          </p:spPr>
          <p:txBody>
            <a:bodyPr/>
            <a:lstStyle/>
            <a:p>
              <a:endParaRPr lang="en-US"/>
            </a:p>
          </p:txBody>
        </p:sp>
        <p:sp>
          <p:nvSpPr>
            <p:cNvPr id="157" name="TextBox 157"/>
            <p:cNvSpPr txBox="1"/>
            <p:nvPr/>
          </p:nvSpPr>
          <p:spPr>
            <a:xfrm>
              <a:off x="0" y="9525"/>
              <a:ext cx="3352907" cy="1727835"/>
            </a:xfrm>
            <a:prstGeom prst="rect">
              <a:avLst/>
            </a:prstGeom>
          </p:spPr>
          <p:txBody>
            <a:bodyPr lIns="0" tIns="0" rIns="0" bIns="0" rtlCol="0" anchor="ctr"/>
            <a:lstStyle/>
            <a:p>
              <a:pPr algn="l">
                <a:lnSpc>
                  <a:spcPts val="2453"/>
                </a:lnSpc>
              </a:pPr>
              <a:r>
                <a:rPr lang="en-US" sz="2300" b="1" i="1" dirty="0">
                  <a:solidFill>
                    <a:srgbClr val="FFFFFF"/>
                  </a:solidFill>
                  <a:latin typeface="Arial Bold Italics"/>
                  <a:ea typeface="Arial Bold Italics"/>
                  <a:cs typeface="Arial Bold Italics"/>
                  <a:sym typeface="Arial Bold Italics"/>
                </a:rPr>
                <a:t>(New User) </a:t>
              </a:r>
            </a:p>
          </p:txBody>
        </p:sp>
      </p:grpSp>
      <p:grpSp>
        <p:nvGrpSpPr>
          <p:cNvPr id="158" name="Group 2">
            <a:extLst>
              <a:ext uri="{FF2B5EF4-FFF2-40B4-BE49-F238E27FC236}">
                <a16:creationId xmlns:a16="http://schemas.microsoft.com/office/drawing/2014/main" id="{1B560CDC-9DF5-B310-AED3-06822A610F67}"/>
              </a:ext>
            </a:extLst>
          </p:cNvPr>
          <p:cNvGrpSpPr/>
          <p:nvPr/>
        </p:nvGrpSpPr>
        <p:grpSpPr>
          <a:xfrm>
            <a:off x="960120" y="734066"/>
            <a:ext cx="10972800" cy="480060"/>
            <a:chOff x="0" y="0"/>
            <a:chExt cx="14630400" cy="640080"/>
          </a:xfrm>
        </p:grpSpPr>
        <p:sp>
          <p:nvSpPr>
            <p:cNvPr id="159" name="Freeform 3">
              <a:extLst>
                <a:ext uri="{FF2B5EF4-FFF2-40B4-BE49-F238E27FC236}">
                  <a16:creationId xmlns:a16="http://schemas.microsoft.com/office/drawing/2014/main" id="{D0CF1BCE-38FD-1387-5A58-770C824444AE}"/>
                </a:ext>
              </a:extLst>
            </p:cNvPr>
            <p:cNvSpPr/>
            <p:nvPr/>
          </p:nvSpPr>
          <p:spPr>
            <a:xfrm>
              <a:off x="0" y="0"/>
              <a:ext cx="14630400" cy="640080"/>
            </a:xfrm>
            <a:custGeom>
              <a:avLst/>
              <a:gdLst/>
              <a:ahLst/>
              <a:cxnLst/>
              <a:rect l="l" t="t" r="r" b="b"/>
              <a:pathLst>
                <a:path w="14630400" h="640080">
                  <a:moveTo>
                    <a:pt x="0" y="0"/>
                  </a:moveTo>
                  <a:lnTo>
                    <a:pt x="14630400" y="0"/>
                  </a:lnTo>
                  <a:lnTo>
                    <a:pt x="14630400" y="640080"/>
                  </a:lnTo>
                  <a:lnTo>
                    <a:pt x="0" y="640080"/>
                  </a:lnTo>
                  <a:close/>
                </a:path>
              </a:pathLst>
            </a:custGeom>
            <a:blipFill>
              <a:blip r:embed="rId3">
                <a:alphaModFix amt="0"/>
              </a:blip>
              <a:stretch>
                <a:fillRect t="-395372" b="-395372"/>
              </a:stretch>
            </a:blipFill>
          </p:spPr>
          <p:txBody>
            <a:bodyPr/>
            <a:lstStyle/>
            <a:p>
              <a:endParaRPr lang="en-US"/>
            </a:p>
          </p:txBody>
        </p:sp>
        <p:sp>
          <p:nvSpPr>
            <p:cNvPr id="160" name="TextBox 4">
              <a:extLst>
                <a:ext uri="{FF2B5EF4-FFF2-40B4-BE49-F238E27FC236}">
                  <a16:creationId xmlns:a16="http://schemas.microsoft.com/office/drawing/2014/main" id="{3236EEBB-D662-C0B7-8667-18F89FA425F1}"/>
                </a:ext>
              </a:extLst>
            </p:cNvPr>
            <p:cNvSpPr txBox="1"/>
            <p:nvPr/>
          </p:nvSpPr>
          <p:spPr>
            <a:xfrm>
              <a:off x="0" y="-19050"/>
              <a:ext cx="14630400" cy="659130"/>
            </a:xfrm>
            <a:prstGeom prst="rect">
              <a:avLst/>
            </a:prstGeom>
          </p:spPr>
          <p:txBody>
            <a:bodyPr lIns="0" tIns="0" rIns="0" bIns="0" rtlCol="0" anchor="ctr"/>
            <a:lstStyle/>
            <a:p>
              <a:pPr algn="l">
                <a:lnSpc>
                  <a:spcPts val="2160"/>
                </a:lnSpc>
              </a:pPr>
              <a:r>
                <a:rPr lang="en-US" sz="1800" b="1" spc="450" dirty="0">
                  <a:solidFill>
                    <a:srgbClr val="FFFFFF"/>
                  </a:solidFill>
                  <a:latin typeface="Arial Bold"/>
                  <a:ea typeface="Arial Bold"/>
                  <a:cs typeface="Arial Bold"/>
                  <a:sym typeface="Arial Bold"/>
                </a:rPr>
                <a:t>FEATURE CONCEPT - OCTOBER 2026</a:t>
              </a:r>
            </a:p>
          </p:txBody>
        </p:sp>
      </p:grpSp>
      <p:grpSp>
        <p:nvGrpSpPr>
          <p:cNvPr id="161" name="Group 5">
            <a:extLst>
              <a:ext uri="{FF2B5EF4-FFF2-40B4-BE49-F238E27FC236}">
                <a16:creationId xmlns:a16="http://schemas.microsoft.com/office/drawing/2014/main" id="{E9F9CD19-553B-A7A8-1424-F50028A84A3A}"/>
              </a:ext>
            </a:extLst>
          </p:cNvPr>
          <p:cNvGrpSpPr/>
          <p:nvPr/>
        </p:nvGrpSpPr>
        <p:grpSpPr>
          <a:xfrm>
            <a:off x="960120" y="1214126"/>
            <a:ext cx="8183880" cy="718073"/>
            <a:chOff x="0" y="0"/>
            <a:chExt cx="10911840" cy="957431"/>
          </a:xfrm>
        </p:grpSpPr>
        <p:sp>
          <p:nvSpPr>
            <p:cNvPr id="162" name="Freeform 6">
              <a:extLst>
                <a:ext uri="{FF2B5EF4-FFF2-40B4-BE49-F238E27FC236}">
                  <a16:creationId xmlns:a16="http://schemas.microsoft.com/office/drawing/2014/main" id="{6D31148F-CB41-8530-5C34-D1F1B6BF8ABE}"/>
                </a:ext>
              </a:extLst>
            </p:cNvPr>
            <p:cNvSpPr/>
            <p:nvPr/>
          </p:nvSpPr>
          <p:spPr>
            <a:xfrm>
              <a:off x="0" y="0"/>
              <a:ext cx="10911840" cy="957431"/>
            </a:xfrm>
            <a:custGeom>
              <a:avLst/>
              <a:gdLst/>
              <a:ahLst/>
              <a:cxnLst/>
              <a:rect l="l" t="t" r="r" b="b"/>
              <a:pathLst>
                <a:path w="10911840" h="957431">
                  <a:moveTo>
                    <a:pt x="0" y="0"/>
                  </a:moveTo>
                  <a:lnTo>
                    <a:pt x="10911840" y="0"/>
                  </a:lnTo>
                  <a:lnTo>
                    <a:pt x="10911840" y="957431"/>
                  </a:lnTo>
                  <a:lnTo>
                    <a:pt x="0" y="957431"/>
                  </a:lnTo>
                  <a:close/>
                </a:path>
              </a:pathLst>
            </a:custGeom>
            <a:blipFill>
              <a:blip r:embed="rId3">
                <a:alphaModFix amt="0"/>
              </a:blip>
              <a:stretch>
                <a:fillRect t="-300064" r="-75977" b="-381525"/>
              </a:stretch>
            </a:blipFill>
          </p:spPr>
          <p:txBody>
            <a:bodyPr/>
            <a:lstStyle/>
            <a:p>
              <a:endParaRPr lang="en-US"/>
            </a:p>
          </p:txBody>
        </p:sp>
        <p:sp>
          <p:nvSpPr>
            <p:cNvPr id="163" name="TextBox 7">
              <a:extLst>
                <a:ext uri="{FF2B5EF4-FFF2-40B4-BE49-F238E27FC236}">
                  <a16:creationId xmlns:a16="http://schemas.microsoft.com/office/drawing/2014/main" id="{C3C7948E-CF07-083D-2A61-CCE3DC1E7087}"/>
                </a:ext>
              </a:extLst>
            </p:cNvPr>
            <p:cNvSpPr txBox="1"/>
            <p:nvPr/>
          </p:nvSpPr>
          <p:spPr>
            <a:xfrm>
              <a:off x="0" y="19050"/>
              <a:ext cx="10911840" cy="938381"/>
            </a:xfrm>
            <a:prstGeom prst="rect">
              <a:avLst/>
            </a:prstGeom>
          </p:spPr>
          <p:txBody>
            <a:bodyPr lIns="0" tIns="0" rIns="0" bIns="0" rtlCol="0" anchor="ctr"/>
            <a:lstStyle/>
            <a:p>
              <a:pPr algn="l">
                <a:lnSpc>
                  <a:spcPts val="3733"/>
                </a:lnSpc>
              </a:pPr>
              <a:r>
                <a:rPr lang="en-US" sz="3500" b="1">
                  <a:solidFill>
                    <a:srgbClr val="FFDE59"/>
                  </a:solidFill>
                  <a:latin typeface="Arial Bold"/>
                  <a:ea typeface="Arial Bold"/>
                  <a:cs typeface="Arial Bold"/>
                  <a:sym typeface="Arial Bold"/>
                </a:rPr>
                <a:t>BeReal.</a:t>
              </a:r>
            </a:p>
          </p:txBody>
        </p:sp>
      </p:grpSp>
      <p:grpSp>
        <p:nvGrpSpPr>
          <p:cNvPr id="164" name="Group 8">
            <a:extLst>
              <a:ext uri="{FF2B5EF4-FFF2-40B4-BE49-F238E27FC236}">
                <a16:creationId xmlns:a16="http://schemas.microsoft.com/office/drawing/2014/main" id="{FC2C4603-F815-09D2-3C68-23E1CD65C531}"/>
              </a:ext>
            </a:extLst>
          </p:cNvPr>
          <p:cNvGrpSpPr/>
          <p:nvPr/>
        </p:nvGrpSpPr>
        <p:grpSpPr>
          <a:xfrm>
            <a:off x="960120" y="2114645"/>
            <a:ext cx="10972800" cy="480060"/>
            <a:chOff x="0" y="0"/>
            <a:chExt cx="14630400" cy="640080"/>
          </a:xfrm>
        </p:grpSpPr>
        <p:sp>
          <p:nvSpPr>
            <p:cNvPr id="165" name="Freeform 9">
              <a:extLst>
                <a:ext uri="{FF2B5EF4-FFF2-40B4-BE49-F238E27FC236}">
                  <a16:creationId xmlns:a16="http://schemas.microsoft.com/office/drawing/2014/main" id="{D841DE7D-A52F-5905-6F21-2E9B219F432E}"/>
                </a:ext>
              </a:extLst>
            </p:cNvPr>
            <p:cNvSpPr/>
            <p:nvPr/>
          </p:nvSpPr>
          <p:spPr>
            <a:xfrm>
              <a:off x="0" y="0"/>
              <a:ext cx="14630400" cy="640080"/>
            </a:xfrm>
            <a:custGeom>
              <a:avLst/>
              <a:gdLst/>
              <a:ahLst/>
              <a:cxnLst/>
              <a:rect l="l" t="t" r="r" b="b"/>
              <a:pathLst>
                <a:path w="14630400" h="640080">
                  <a:moveTo>
                    <a:pt x="0" y="0"/>
                  </a:moveTo>
                  <a:lnTo>
                    <a:pt x="14630400" y="0"/>
                  </a:lnTo>
                  <a:lnTo>
                    <a:pt x="14630400" y="640080"/>
                  </a:lnTo>
                  <a:lnTo>
                    <a:pt x="0" y="640080"/>
                  </a:lnTo>
                  <a:close/>
                </a:path>
              </a:pathLst>
            </a:custGeom>
            <a:blipFill>
              <a:blip r:embed="rId3">
                <a:alphaModFix amt="0"/>
              </a:blip>
              <a:stretch>
                <a:fillRect t="-395372" b="-395372"/>
              </a:stretch>
            </a:blipFill>
          </p:spPr>
          <p:txBody>
            <a:bodyPr/>
            <a:lstStyle/>
            <a:p>
              <a:endParaRPr lang="en-US"/>
            </a:p>
          </p:txBody>
        </p:sp>
        <p:sp>
          <p:nvSpPr>
            <p:cNvPr id="166" name="TextBox 10">
              <a:extLst>
                <a:ext uri="{FF2B5EF4-FFF2-40B4-BE49-F238E27FC236}">
                  <a16:creationId xmlns:a16="http://schemas.microsoft.com/office/drawing/2014/main" id="{01F50CAD-54C8-9641-0AEB-E3A76B6A3B46}"/>
                </a:ext>
              </a:extLst>
            </p:cNvPr>
            <p:cNvSpPr txBox="1"/>
            <p:nvPr/>
          </p:nvSpPr>
          <p:spPr>
            <a:xfrm>
              <a:off x="0" y="-19050"/>
              <a:ext cx="14630400" cy="659130"/>
            </a:xfrm>
            <a:prstGeom prst="rect">
              <a:avLst/>
            </a:prstGeom>
          </p:spPr>
          <p:txBody>
            <a:bodyPr lIns="0" tIns="0" rIns="0" bIns="0" rtlCol="0" anchor="ctr"/>
            <a:lstStyle/>
            <a:p>
              <a:pPr algn="l">
                <a:lnSpc>
                  <a:spcPts val="2160"/>
                </a:lnSpc>
              </a:pPr>
              <a:r>
                <a:rPr lang="en-US" sz="1800" b="1" spc="450">
                  <a:solidFill>
                    <a:srgbClr val="FFFFFF"/>
                  </a:solidFill>
                  <a:latin typeface="Arial Bold"/>
                  <a:ea typeface="Arial Bold"/>
                  <a:cs typeface="Arial Bold"/>
                  <a:sym typeface="Arial Bold"/>
                </a:rPr>
                <a:t>BEREAL PASSPORT &amp; COMMUNITY BOARDS</a:t>
              </a:r>
            </a:p>
          </p:txBody>
        </p:sp>
      </p:gr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0A0A0A"/>
        </a:solidFill>
        <a:effectLst/>
      </p:bgPr>
    </p:bg>
    <p:spTree>
      <p:nvGrpSpPr>
        <p:cNvPr id="1" name=""/>
        <p:cNvGrpSpPr/>
        <p:nvPr/>
      </p:nvGrpSpPr>
      <p:grpSpPr>
        <a:xfrm>
          <a:off x="0" y="0"/>
          <a:ext cx="0" cy="0"/>
          <a:chOff x="0" y="0"/>
          <a:chExt cx="0" cy="0"/>
        </a:xfrm>
      </p:grpSpPr>
      <p:grpSp>
        <p:nvGrpSpPr>
          <p:cNvPr id="11" name="Group 11"/>
          <p:cNvGrpSpPr/>
          <p:nvPr/>
        </p:nvGrpSpPr>
        <p:grpSpPr>
          <a:xfrm>
            <a:off x="878351" y="4246905"/>
            <a:ext cx="4023360" cy="2723354"/>
            <a:chOff x="0" y="0"/>
            <a:chExt cx="5364480" cy="3631138"/>
          </a:xfrm>
        </p:grpSpPr>
        <p:sp>
          <p:nvSpPr>
            <p:cNvPr id="12" name="Freeform 12"/>
            <p:cNvSpPr/>
            <p:nvPr/>
          </p:nvSpPr>
          <p:spPr>
            <a:xfrm>
              <a:off x="0" y="0"/>
              <a:ext cx="5364480" cy="3631138"/>
            </a:xfrm>
            <a:custGeom>
              <a:avLst/>
              <a:gdLst/>
              <a:ahLst/>
              <a:cxnLst/>
              <a:rect l="l" t="t" r="r" b="b"/>
              <a:pathLst>
                <a:path w="5364480" h="3631138">
                  <a:moveTo>
                    <a:pt x="0" y="0"/>
                  </a:moveTo>
                  <a:lnTo>
                    <a:pt x="5364480" y="0"/>
                  </a:lnTo>
                  <a:lnTo>
                    <a:pt x="5364480" y="3631138"/>
                  </a:lnTo>
                  <a:lnTo>
                    <a:pt x="0" y="3631138"/>
                  </a:lnTo>
                  <a:close/>
                </a:path>
              </a:pathLst>
            </a:custGeom>
            <a:blipFill>
              <a:blip r:embed="rId3">
                <a:alphaModFix amt="0"/>
              </a:blip>
              <a:stretch>
                <a:fillRect t="-69694" r="-172727" b="12678"/>
              </a:stretch>
            </a:blipFill>
          </p:spPr>
          <p:txBody>
            <a:bodyPr/>
            <a:lstStyle/>
            <a:p>
              <a:endParaRPr lang="en-US"/>
            </a:p>
          </p:txBody>
        </p:sp>
        <p:sp>
          <p:nvSpPr>
            <p:cNvPr id="13" name="TextBox 13"/>
            <p:cNvSpPr txBox="1"/>
            <p:nvPr/>
          </p:nvSpPr>
          <p:spPr>
            <a:xfrm>
              <a:off x="0" y="-57150"/>
              <a:ext cx="5364480" cy="3688288"/>
            </a:xfrm>
            <a:prstGeom prst="rect">
              <a:avLst/>
            </a:prstGeom>
          </p:spPr>
          <p:txBody>
            <a:bodyPr lIns="0" tIns="0" rIns="0" bIns="0" rtlCol="0" anchor="ctr"/>
            <a:lstStyle/>
            <a:p>
              <a:pPr marL="388620" lvl="1" indent="-194310" algn="l">
                <a:lnSpc>
                  <a:spcPts val="2340"/>
                </a:lnSpc>
                <a:buFont typeface="Arial"/>
                <a:buChar char="•"/>
              </a:pPr>
              <a:r>
                <a:rPr lang="en-US" sz="1800" spc="59">
                  <a:solidFill>
                    <a:srgbClr val="FFFFFF"/>
                  </a:solidFill>
                  <a:latin typeface="Calibri (MS)"/>
                  <a:ea typeface="Calibri (MS)"/>
                  <a:cs typeface="Calibri (MS)"/>
                  <a:sym typeface="Calibri (MS)"/>
                </a:rPr>
                <a:t>User takes a photo</a:t>
              </a:r>
            </a:p>
            <a:p>
              <a:pPr marL="388620" lvl="1" indent="-194310" algn="l">
                <a:lnSpc>
                  <a:spcPts val="2340"/>
                </a:lnSpc>
                <a:buFont typeface="Arial"/>
                <a:buChar char="•"/>
              </a:pPr>
              <a:r>
                <a:rPr lang="en-US" sz="1800" spc="59">
                  <a:solidFill>
                    <a:srgbClr val="FFFFFF"/>
                  </a:solidFill>
                  <a:latin typeface="Calibri (MS)"/>
                  <a:ea typeface="Calibri (MS)"/>
                  <a:cs typeface="Calibri (MS)"/>
                  <a:sym typeface="Calibri (MS)"/>
                </a:rPr>
                <a:t>Choose Post Type</a:t>
              </a:r>
            </a:p>
            <a:p>
              <a:pPr marL="777240" lvl="2" indent="-259080" algn="l">
                <a:lnSpc>
                  <a:spcPts val="2340"/>
                </a:lnSpc>
                <a:buFont typeface="Arial"/>
                <a:buChar char="⚬"/>
              </a:pPr>
              <a:r>
                <a:rPr lang="en-US" sz="1800" spc="59">
                  <a:solidFill>
                    <a:srgbClr val="FFFFFF"/>
                  </a:solidFill>
                  <a:latin typeface="Calibri (MS)"/>
                  <a:ea typeface="Calibri (MS)"/>
                  <a:cs typeface="Calibri (MS)"/>
                  <a:sym typeface="Calibri (MS)"/>
                </a:rPr>
                <a:t>SEND</a:t>
              </a:r>
            </a:p>
            <a:p>
              <a:pPr marL="1165860" lvl="3" indent="-291465" algn="l">
                <a:lnSpc>
                  <a:spcPts val="2340"/>
                </a:lnSpc>
                <a:buFont typeface="Arial"/>
                <a:buChar char="￭"/>
              </a:pPr>
              <a:r>
                <a:rPr lang="en-US" sz="1800" spc="59">
                  <a:solidFill>
                    <a:srgbClr val="FFFFFF"/>
                  </a:solidFill>
                  <a:latin typeface="Calibri (MS)"/>
                  <a:ea typeface="Calibri (MS)"/>
                  <a:cs typeface="Calibri (MS)"/>
                  <a:sym typeface="Calibri (MS)"/>
                </a:rPr>
                <a:t>Random Post</a:t>
              </a:r>
            </a:p>
            <a:p>
              <a:pPr marL="1165860" lvl="3" indent="-291465" algn="l">
                <a:lnSpc>
                  <a:spcPts val="2340"/>
                </a:lnSpc>
                <a:buFont typeface="Arial"/>
                <a:buChar char="￭"/>
              </a:pPr>
              <a:r>
                <a:rPr lang="en-US" sz="1800" spc="59">
                  <a:solidFill>
                    <a:srgbClr val="FFFFFF"/>
                  </a:solidFill>
                  <a:latin typeface="Calibri (MS)"/>
                  <a:ea typeface="Calibri (MS)"/>
                  <a:cs typeface="Calibri (MS)"/>
                  <a:sym typeface="Calibri (MS)"/>
                </a:rPr>
                <a:t>No BeReal Passport</a:t>
              </a:r>
            </a:p>
            <a:p>
              <a:pPr marL="777240" lvl="2" indent="-259080" algn="l">
                <a:lnSpc>
                  <a:spcPts val="2340"/>
                </a:lnSpc>
                <a:buFont typeface="Arial"/>
                <a:buChar char="⚬"/>
              </a:pPr>
              <a:r>
                <a:rPr lang="en-US" sz="1800" spc="59">
                  <a:solidFill>
                    <a:srgbClr val="FFFFFF"/>
                  </a:solidFill>
                  <a:latin typeface="Calibri (MS)"/>
                  <a:ea typeface="Calibri (MS)"/>
                  <a:cs typeface="Calibri (MS)"/>
                  <a:sym typeface="Calibri (MS)"/>
                </a:rPr>
                <a:t>COMMUNITY BOARD</a:t>
              </a:r>
            </a:p>
            <a:p>
              <a:pPr marL="1165860" lvl="3" indent="-291465" algn="l">
                <a:lnSpc>
                  <a:spcPts val="2340"/>
                </a:lnSpc>
                <a:buFont typeface="Arial"/>
                <a:buChar char="￭"/>
              </a:pPr>
              <a:r>
                <a:rPr lang="en-US" sz="1800" spc="59">
                  <a:solidFill>
                    <a:srgbClr val="FFFFFF"/>
                  </a:solidFill>
                  <a:latin typeface="Calibri (MS)"/>
                  <a:ea typeface="Calibri (MS)"/>
                  <a:cs typeface="Calibri (MS)"/>
                  <a:sym typeface="Calibri (MS)"/>
                </a:rPr>
                <a:t>Themed Post</a:t>
              </a:r>
            </a:p>
            <a:p>
              <a:pPr marL="1165860" lvl="3" indent="-291465" algn="l">
                <a:lnSpc>
                  <a:spcPts val="2340"/>
                </a:lnSpc>
                <a:buFont typeface="Arial"/>
                <a:buChar char="￭"/>
              </a:pPr>
              <a:r>
                <a:rPr lang="en-US" sz="1800" spc="59">
                  <a:solidFill>
                    <a:srgbClr val="FFFFFF"/>
                  </a:solidFill>
                  <a:latin typeface="Calibri (MS)"/>
                  <a:ea typeface="Calibri (MS)"/>
                  <a:cs typeface="Calibri (MS)"/>
                  <a:sym typeface="Calibri (MS)"/>
                </a:rPr>
                <a:t>Adds BeReal Passport to post</a:t>
              </a:r>
            </a:p>
          </p:txBody>
        </p:sp>
      </p:grpSp>
      <p:grpSp>
        <p:nvGrpSpPr>
          <p:cNvPr id="14" name="Group 14"/>
          <p:cNvGrpSpPr/>
          <p:nvPr/>
        </p:nvGrpSpPr>
        <p:grpSpPr>
          <a:xfrm>
            <a:off x="13313894" y="655074"/>
            <a:ext cx="4516905" cy="8747620"/>
            <a:chOff x="0" y="-83408"/>
            <a:chExt cx="6022540" cy="11663493"/>
          </a:xfrm>
        </p:grpSpPr>
        <p:grpSp>
          <p:nvGrpSpPr>
            <p:cNvPr id="15" name="Group 15"/>
            <p:cNvGrpSpPr>
              <a:grpSpLocks noChangeAspect="1"/>
            </p:cNvGrpSpPr>
            <p:nvPr/>
          </p:nvGrpSpPr>
          <p:grpSpPr>
            <a:xfrm>
              <a:off x="0" y="0"/>
              <a:ext cx="6022540" cy="11580085"/>
              <a:chOff x="0" y="0"/>
              <a:chExt cx="2695493" cy="5182870"/>
            </a:xfrm>
          </p:grpSpPr>
          <p:sp>
            <p:nvSpPr>
              <p:cNvPr id="16" name="Freeform 16"/>
              <p:cNvSpPr/>
              <p:nvPr/>
            </p:nvSpPr>
            <p:spPr>
              <a:xfrm>
                <a:off x="53339" y="25400"/>
                <a:ext cx="2642154" cy="5132070"/>
              </a:xfrm>
              <a:custGeom>
                <a:avLst/>
                <a:gdLst/>
                <a:ahLst/>
                <a:cxnLst/>
                <a:rect l="l" t="t" r="r" b="b"/>
                <a:pathLst>
                  <a:path w="2513330" h="5132070">
                    <a:moveTo>
                      <a:pt x="2159000" y="0"/>
                    </a:moveTo>
                    <a:lnTo>
                      <a:pt x="354330" y="0"/>
                    </a:lnTo>
                    <a:cubicBezTo>
                      <a:pt x="158750" y="0"/>
                      <a:pt x="0" y="158750"/>
                      <a:pt x="0" y="354330"/>
                    </a:cubicBezTo>
                    <a:lnTo>
                      <a:pt x="0" y="4777740"/>
                    </a:lnTo>
                    <a:cubicBezTo>
                      <a:pt x="0" y="4973320"/>
                      <a:pt x="158750" y="5132070"/>
                      <a:pt x="354330" y="5132070"/>
                    </a:cubicBezTo>
                    <a:lnTo>
                      <a:pt x="2159000" y="5132070"/>
                    </a:lnTo>
                    <a:cubicBezTo>
                      <a:pt x="2354580" y="5132070"/>
                      <a:pt x="2513330" y="4973320"/>
                      <a:pt x="2513330" y="4777740"/>
                    </a:cubicBezTo>
                    <a:lnTo>
                      <a:pt x="2513330" y="354330"/>
                    </a:lnTo>
                    <a:cubicBezTo>
                      <a:pt x="2513330" y="158750"/>
                      <a:pt x="2354580" y="0"/>
                      <a:pt x="2159000" y="0"/>
                    </a:cubicBezTo>
                    <a:close/>
                    <a:moveTo>
                      <a:pt x="1558290" y="162560"/>
                    </a:moveTo>
                    <a:cubicBezTo>
                      <a:pt x="1576070" y="162560"/>
                      <a:pt x="1590040" y="176530"/>
                      <a:pt x="1590040" y="194310"/>
                    </a:cubicBezTo>
                    <a:cubicBezTo>
                      <a:pt x="1590040" y="212090"/>
                      <a:pt x="1576070" y="226060"/>
                      <a:pt x="1558290" y="226060"/>
                    </a:cubicBezTo>
                    <a:cubicBezTo>
                      <a:pt x="1540510" y="226060"/>
                      <a:pt x="1526540" y="212090"/>
                      <a:pt x="1526540" y="194310"/>
                    </a:cubicBezTo>
                    <a:cubicBezTo>
                      <a:pt x="1526540" y="176530"/>
                      <a:pt x="1541780" y="162560"/>
                      <a:pt x="1558290" y="162560"/>
                    </a:cubicBezTo>
                    <a:close/>
                    <a:moveTo>
                      <a:pt x="1089660" y="172720"/>
                    </a:moveTo>
                    <a:lnTo>
                      <a:pt x="1394460" y="172720"/>
                    </a:lnTo>
                    <a:cubicBezTo>
                      <a:pt x="1405890" y="172720"/>
                      <a:pt x="1416050" y="181610"/>
                      <a:pt x="1416050" y="194310"/>
                    </a:cubicBezTo>
                    <a:cubicBezTo>
                      <a:pt x="1416050" y="207010"/>
                      <a:pt x="1405890" y="215900"/>
                      <a:pt x="1394460" y="215900"/>
                    </a:cubicBezTo>
                    <a:lnTo>
                      <a:pt x="1089660" y="215900"/>
                    </a:lnTo>
                    <a:cubicBezTo>
                      <a:pt x="1078230" y="215900"/>
                      <a:pt x="1068070" y="207010"/>
                      <a:pt x="1068070" y="194310"/>
                    </a:cubicBezTo>
                    <a:cubicBezTo>
                      <a:pt x="1068070" y="181610"/>
                      <a:pt x="1078230" y="172720"/>
                      <a:pt x="1089660" y="172720"/>
                    </a:cubicBezTo>
                    <a:close/>
                    <a:moveTo>
                      <a:pt x="2383790" y="4798060"/>
                    </a:moveTo>
                    <a:cubicBezTo>
                      <a:pt x="2383790" y="4913630"/>
                      <a:pt x="2289810" y="5007610"/>
                      <a:pt x="2174240" y="5007610"/>
                    </a:cubicBezTo>
                    <a:lnTo>
                      <a:pt x="341630" y="5007610"/>
                    </a:lnTo>
                    <a:cubicBezTo>
                      <a:pt x="226060" y="5007610"/>
                      <a:pt x="132080" y="4913630"/>
                      <a:pt x="132080" y="4798060"/>
                    </a:cubicBezTo>
                    <a:lnTo>
                      <a:pt x="132080" y="340360"/>
                    </a:lnTo>
                    <a:cubicBezTo>
                      <a:pt x="132080" y="224790"/>
                      <a:pt x="226060" y="130810"/>
                      <a:pt x="341630" y="130810"/>
                    </a:cubicBezTo>
                    <a:lnTo>
                      <a:pt x="614680" y="130810"/>
                    </a:lnTo>
                    <a:lnTo>
                      <a:pt x="614680" y="187960"/>
                    </a:lnTo>
                    <a:cubicBezTo>
                      <a:pt x="614680" y="252730"/>
                      <a:pt x="668020" y="306070"/>
                      <a:pt x="732790" y="306070"/>
                    </a:cubicBezTo>
                    <a:lnTo>
                      <a:pt x="1783080" y="306070"/>
                    </a:lnTo>
                    <a:cubicBezTo>
                      <a:pt x="1847850" y="306070"/>
                      <a:pt x="1901190" y="252730"/>
                      <a:pt x="1901190" y="187960"/>
                    </a:cubicBezTo>
                    <a:lnTo>
                      <a:pt x="1901190" y="130810"/>
                    </a:lnTo>
                    <a:lnTo>
                      <a:pt x="2172970" y="130810"/>
                    </a:lnTo>
                    <a:cubicBezTo>
                      <a:pt x="2288540" y="130810"/>
                      <a:pt x="2382520" y="224790"/>
                      <a:pt x="2382520" y="340360"/>
                    </a:cubicBezTo>
                    <a:lnTo>
                      <a:pt x="2382520" y="4798060"/>
                    </a:lnTo>
                    <a:close/>
                  </a:path>
                </a:pathLst>
              </a:custGeom>
              <a:solidFill>
                <a:srgbClr val="000000"/>
              </a:solidFill>
            </p:spPr>
            <p:txBody>
              <a:bodyPr/>
              <a:lstStyle/>
              <a:p>
                <a:endParaRPr lang="en-US"/>
              </a:p>
            </p:txBody>
          </p:sp>
          <p:sp>
            <p:nvSpPr>
              <p:cNvPr id="17" name="Freeform 17"/>
              <p:cNvSpPr/>
              <p:nvPr/>
            </p:nvSpPr>
            <p:spPr>
              <a:xfrm>
                <a:off x="185420" y="156210"/>
                <a:ext cx="2250453" cy="4876800"/>
              </a:xfrm>
              <a:custGeom>
                <a:avLst/>
                <a:gdLst/>
                <a:ahLst/>
                <a:cxnLst/>
                <a:rect l="l" t="t" r="r" b="b"/>
                <a:pathLst>
                  <a:path w="2250453" h="4876800">
                    <a:moveTo>
                      <a:pt x="2040890" y="0"/>
                    </a:moveTo>
                    <a:lnTo>
                      <a:pt x="1769110" y="0"/>
                    </a:lnTo>
                    <a:lnTo>
                      <a:pt x="1769110" y="57150"/>
                    </a:lnTo>
                    <a:cubicBezTo>
                      <a:pt x="1769110" y="121920"/>
                      <a:pt x="1715770" y="175260"/>
                      <a:pt x="1651000" y="175260"/>
                    </a:cubicBezTo>
                    <a:lnTo>
                      <a:pt x="601980" y="175260"/>
                    </a:lnTo>
                    <a:cubicBezTo>
                      <a:pt x="537210" y="175260"/>
                      <a:pt x="483870" y="121920"/>
                      <a:pt x="483870" y="57150"/>
                    </a:cubicBezTo>
                    <a:lnTo>
                      <a:pt x="483870" y="0"/>
                    </a:lnTo>
                    <a:lnTo>
                      <a:pt x="209550" y="0"/>
                    </a:lnTo>
                    <a:cubicBezTo>
                      <a:pt x="93980" y="0"/>
                      <a:pt x="0" y="93980"/>
                      <a:pt x="0" y="209550"/>
                    </a:cubicBezTo>
                    <a:lnTo>
                      <a:pt x="0" y="4667250"/>
                    </a:lnTo>
                    <a:cubicBezTo>
                      <a:pt x="0" y="4782820"/>
                      <a:pt x="93980" y="4876800"/>
                      <a:pt x="209550" y="4876800"/>
                    </a:cubicBezTo>
                    <a:lnTo>
                      <a:pt x="2040890" y="4876800"/>
                    </a:lnTo>
                    <a:cubicBezTo>
                      <a:pt x="2156460" y="4876800"/>
                      <a:pt x="2250440" y="4782820"/>
                      <a:pt x="2250440" y="4667250"/>
                    </a:cubicBezTo>
                    <a:lnTo>
                      <a:pt x="2250440" y="209550"/>
                    </a:lnTo>
                    <a:cubicBezTo>
                      <a:pt x="2251710" y="93980"/>
                      <a:pt x="2157730" y="0"/>
                      <a:pt x="2040890" y="0"/>
                    </a:cubicBezTo>
                    <a:close/>
                  </a:path>
                </a:pathLst>
              </a:custGeom>
              <a:blipFill>
                <a:blip r:embed="rId3"/>
                <a:stretch>
                  <a:fillRect l="-245588" t="-3203" r="-245531" b="-3098"/>
                </a:stretch>
              </a:blipFill>
            </p:spPr>
            <p:txBody>
              <a:bodyPr/>
              <a:lstStyle/>
              <a:p>
                <a:endParaRPr lang="en-US"/>
              </a:p>
            </p:txBody>
          </p:sp>
          <p:sp>
            <p:nvSpPr>
              <p:cNvPr id="18" name="Freeform 18"/>
              <p:cNvSpPr/>
              <p:nvPr/>
            </p:nvSpPr>
            <p:spPr>
              <a:xfrm>
                <a:off x="1121410" y="198120"/>
                <a:ext cx="347980" cy="43180"/>
              </a:xfrm>
              <a:custGeom>
                <a:avLst/>
                <a:gdLst/>
                <a:ahLst/>
                <a:cxnLst/>
                <a:rect l="l" t="t" r="r" b="b"/>
                <a:pathLst>
                  <a:path w="347980" h="43180">
                    <a:moveTo>
                      <a:pt x="326390" y="0"/>
                    </a:moveTo>
                    <a:lnTo>
                      <a:pt x="21590" y="0"/>
                    </a:lnTo>
                    <a:cubicBezTo>
                      <a:pt x="10160" y="0"/>
                      <a:pt x="0" y="8890"/>
                      <a:pt x="0" y="21590"/>
                    </a:cubicBezTo>
                    <a:cubicBezTo>
                      <a:pt x="0" y="34290"/>
                      <a:pt x="10160" y="43180"/>
                      <a:pt x="21590" y="43180"/>
                    </a:cubicBezTo>
                    <a:lnTo>
                      <a:pt x="326390" y="43180"/>
                    </a:lnTo>
                    <a:cubicBezTo>
                      <a:pt x="337820" y="43180"/>
                      <a:pt x="347980" y="34290"/>
                      <a:pt x="347980" y="21590"/>
                    </a:cubicBezTo>
                    <a:cubicBezTo>
                      <a:pt x="347980" y="8890"/>
                      <a:pt x="337820" y="0"/>
                      <a:pt x="326390" y="0"/>
                    </a:cubicBezTo>
                    <a:close/>
                  </a:path>
                </a:pathLst>
              </a:custGeom>
              <a:solidFill>
                <a:srgbClr val="606060"/>
              </a:solidFill>
            </p:spPr>
            <p:txBody>
              <a:bodyPr/>
              <a:lstStyle/>
              <a:p>
                <a:endParaRPr lang="en-US"/>
              </a:p>
            </p:txBody>
          </p:sp>
          <p:sp>
            <p:nvSpPr>
              <p:cNvPr id="19" name="Freeform 19"/>
              <p:cNvSpPr/>
              <p:nvPr/>
            </p:nvSpPr>
            <p:spPr>
              <a:xfrm>
                <a:off x="1579738" y="187960"/>
                <a:ext cx="63785" cy="63501"/>
              </a:xfrm>
              <a:custGeom>
                <a:avLst/>
                <a:gdLst/>
                <a:ahLst/>
                <a:cxnLst/>
                <a:rect l="l" t="t" r="r" b="b"/>
                <a:pathLst>
                  <a:path w="63785" h="63501">
                    <a:moveTo>
                      <a:pt x="31892" y="0"/>
                    </a:moveTo>
                    <a:cubicBezTo>
                      <a:pt x="20515" y="-51"/>
                      <a:pt x="9980" y="5989"/>
                      <a:pt x="4277" y="15834"/>
                    </a:cubicBezTo>
                    <a:cubicBezTo>
                      <a:pt x="-1426" y="25678"/>
                      <a:pt x="-1426" y="37822"/>
                      <a:pt x="4277" y="47666"/>
                    </a:cubicBezTo>
                    <a:cubicBezTo>
                      <a:pt x="9980" y="57511"/>
                      <a:pt x="20515" y="63551"/>
                      <a:pt x="31892" y="63500"/>
                    </a:cubicBezTo>
                    <a:cubicBezTo>
                      <a:pt x="43269" y="63551"/>
                      <a:pt x="53804" y="57511"/>
                      <a:pt x="59507" y="47666"/>
                    </a:cubicBezTo>
                    <a:cubicBezTo>
                      <a:pt x="65210" y="37822"/>
                      <a:pt x="65210" y="25678"/>
                      <a:pt x="59507" y="15834"/>
                    </a:cubicBezTo>
                    <a:cubicBezTo>
                      <a:pt x="53804" y="5989"/>
                      <a:pt x="43269" y="-51"/>
                      <a:pt x="31892" y="0"/>
                    </a:cubicBezTo>
                    <a:close/>
                  </a:path>
                </a:pathLst>
              </a:custGeom>
              <a:solidFill>
                <a:srgbClr val="606060"/>
              </a:solidFill>
            </p:spPr>
            <p:txBody>
              <a:bodyPr/>
              <a:lstStyle/>
              <a:p>
                <a:endParaRPr lang="en-US"/>
              </a:p>
            </p:txBody>
          </p:sp>
          <p:sp>
            <p:nvSpPr>
              <p:cNvPr id="20" name="Freeform 20"/>
              <p:cNvSpPr/>
              <p:nvPr/>
            </p:nvSpPr>
            <p:spPr>
              <a:xfrm>
                <a:off x="0" y="685800"/>
                <a:ext cx="27940" cy="213360"/>
              </a:xfrm>
              <a:custGeom>
                <a:avLst/>
                <a:gdLst/>
                <a:ahLst/>
                <a:cxnLst/>
                <a:rect l="l" t="t" r="r" b="b"/>
                <a:pathLst>
                  <a:path w="27940" h="213360">
                    <a:moveTo>
                      <a:pt x="0" y="26670"/>
                    </a:moveTo>
                    <a:lnTo>
                      <a:pt x="0" y="185420"/>
                    </a:lnTo>
                    <a:cubicBezTo>
                      <a:pt x="0" y="200660"/>
                      <a:pt x="12700" y="213360"/>
                      <a:pt x="27940" y="213360"/>
                    </a:cubicBezTo>
                    <a:lnTo>
                      <a:pt x="27940" y="0"/>
                    </a:lnTo>
                    <a:cubicBezTo>
                      <a:pt x="12700" y="0"/>
                      <a:pt x="0" y="11430"/>
                      <a:pt x="0" y="26670"/>
                    </a:cubicBezTo>
                    <a:close/>
                  </a:path>
                </a:pathLst>
              </a:custGeom>
              <a:solidFill>
                <a:srgbClr val="B8B8B8"/>
              </a:solidFill>
            </p:spPr>
            <p:txBody>
              <a:bodyPr/>
              <a:lstStyle/>
              <a:p>
                <a:endParaRPr lang="en-US"/>
              </a:p>
            </p:txBody>
          </p:sp>
          <p:sp>
            <p:nvSpPr>
              <p:cNvPr id="21" name="Freeform 21"/>
              <p:cNvSpPr/>
              <p:nvPr/>
            </p:nvSpPr>
            <p:spPr>
              <a:xfrm>
                <a:off x="0" y="1057910"/>
                <a:ext cx="27940" cy="384810"/>
              </a:xfrm>
              <a:custGeom>
                <a:avLst/>
                <a:gdLst/>
                <a:ahLst/>
                <a:cxnLst/>
                <a:rect l="l" t="t" r="r" b="b"/>
                <a:pathLst>
                  <a:path w="27940" h="384810">
                    <a:moveTo>
                      <a:pt x="0" y="26670"/>
                    </a:moveTo>
                    <a:lnTo>
                      <a:pt x="0" y="356870"/>
                    </a:lnTo>
                    <a:cubicBezTo>
                      <a:pt x="0" y="372110"/>
                      <a:pt x="12700" y="384810"/>
                      <a:pt x="27940" y="384810"/>
                    </a:cubicBezTo>
                    <a:lnTo>
                      <a:pt x="27940" y="0"/>
                    </a:lnTo>
                    <a:cubicBezTo>
                      <a:pt x="12700" y="0"/>
                      <a:pt x="0" y="11430"/>
                      <a:pt x="0" y="26670"/>
                    </a:cubicBezTo>
                    <a:close/>
                  </a:path>
                </a:pathLst>
              </a:custGeom>
              <a:solidFill>
                <a:srgbClr val="B8B8B8"/>
              </a:solidFill>
            </p:spPr>
            <p:txBody>
              <a:bodyPr/>
              <a:lstStyle/>
              <a:p>
                <a:endParaRPr lang="en-US"/>
              </a:p>
            </p:txBody>
          </p:sp>
          <p:sp>
            <p:nvSpPr>
              <p:cNvPr id="22" name="Freeform 22"/>
              <p:cNvSpPr/>
              <p:nvPr/>
            </p:nvSpPr>
            <p:spPr>
              <a:xfrm>
                <a:off x="0" y="1526540"/>
                <a:ext cx="27940" cy="386080"/>
              </a:xfrm>
              <a:custGeom>
                <a:avLst/>
                <a:gdLst/>
                <a:ahLst/>
                <a:cxnLst/>
                <a:rect l="l" t="t" r="r" b="b"/>
                <a:pathLst>
                  <a:path w="27940" h="386080">
                    <a:moveTo>
                      <a:pt x="0" y="27940"/>
                    </a:moveTo>
                    <a:lnTo>
                      <a:pt x="0" y="358140"/>
                    </a:lnTo>
                    <a:cubicBezTo>
                      <a:pt x="0" y="373380"/>
                      <a:pt x="12700" y="386080"/>
                      <a:pt x="27940" y="386080"/>
                    </a:cubicBezTo>
                    <a:lnTo>
                      <a:pt x="27940" y="0"/>
                    </a:lnTo>
                    <a:cubicBezTo>
                      <a:pt x="12700" y="0"/>
                      <a:pt x="0" y="12700"/>
                      <a:pt x="0" y="27940"/>
                    </a:cubicBezTo>
                    <a:close/>
                  </a:path>
                </a:pathLst>
              </a:custGeom>
              <a:solidFill>
                <a:srgbClr val="B8B8B8"/>
              </a:solidFill>
            </p:spPr>
            <p:txBody>
              <a:bodyPr/>
              <a:lstStyle/>
              <a:p>
                <a:endParaRPr lang="en-US"/>
              </a:p>
            </p:txBody>
          </p:sp>
          <p:sp>
            <p:nvSpPr>
              <p:cNvPr id="23" name="Freeform 23"/>
              <p:cNvSpPr/>
              <p:nvPr/>
            </p:nvSpPr>
            <p:spPr>
              <a:xfrm>
                <a:off x="2592070" y="1184910"/>
                <a:ext cx="27940" cy="618490"/>
              </a:xfrm>
              <a:custGeom>
                <a:avLst/>
                <a:gdLst/>
                <a:ahLst/>
                <a:cxnLst/>
                <a:rect l="l" t="t" r="r" b="b"/>
                <a:pathLst>
                  <a:path w="27940" h="618490">
                    <a:moveTo>
                      <a:pt x="0" y="0"/>
                    </a:moveTo>
                    <a:lnTo>
                      <a:pt x="0" y="618490"/>
                    </a:lnTo>
                    <a:cubicBezTo>
                      <a:pt x="15240" y="618490"/>
                      <a:pt x="27940" y="605790"/>
                      <a:pt x="27940" y="590550"/>
                    </a:cubicBezTo>
                    <a:lnTo>
                      <a:pt x="27940" y="27940"/>
                    </a:lnTo>
                    <a:cubicBezTo>
                      <a:pt x="27940" y="12700"/>
                      <a:pt x="15240" y="0"/>
                      <a:pt x="0" y="0"/>
                    </a:cubicBezTo>
                    <a:close/>
                  </a:path>
                </a:pathLst>
              </a:custGeom>
              <a:solidFill>
                <a:srgbClr val="B8B8B8"/>
              </a:solidFill>
            </p:spPr>
            <p:txBody>
              <a:bodyPr/>
              <a:lstStyle/>
              <a:p>
                <a:endParaRPr lang="en-US"/>
              </a:p>
            </p:txBody>
          </p:sp>
          <p:sp>
            <p:nvSpPr>
              <p:cNvPr id="24" name="Freeform 24"/>
              <p:cNvSpPr/>
              <p:nvPr/>
            </p:nvSpPr>
            <p:spPr>
              <a:xfrm>
                <a:off x="27940" y="0"/>
                <a:ext cx="2622081" cy="5182870"/>
              </a:xfrm>
              <a:custGeom>
                <a:avLst/>
                <a:gdLst/>
                <a:ahLst/>
                <a:cxnLst/>
                <a:rect l="l" t="t" r="r" b="b"/>
                <a:pathLst>
                  <a:path w="2564130" h="5182870">
                    <a:moveTo>
                      <a:pt x="2564130" y="1184910"/>
                    </a:moveTo>
                    <a:lnTo>
                      <a:pt x="2564130" y="379730"/>
                    </a:lnTo>
                    <a:cubicBezTo>
                      <a:pt x="2564130" y="353060"/>
                      <a:pt x="2561590" y="327660"/>
                      <a:pt x="2556510" y="303530"/>
                    </a:cubicBezTo>
                    <a:cubicBezTo>
                      <a:pt x="2553970" y="290830"/>
                      <a:pt x="2551430" y="279400"/>
                      <a:pt x="2547620" y="266700"/>
                    </a:cubicBezTo>
                    <a:cubicBezTo>
                      <a:pt x="2542540" y="248920"/>
                      <a:pt x="2534920" y="231140"/>
                      <a:pt x="2527300" y="214630"/>
                    </a:cubicBezTo>
                    <a:cubicBezTo>
                      <a:pt x="2522220" y="203200"/>
                      <a:pt x="2515870" y="193040"/>
                      <a:pt x="2509520" y="182880"/>
                    </a:cubicBezTo>
                    <a:cubicBezTo>
                      <a:pt x="2503170" y="172720"/>
                      <a:pt x="2496820" y="162560"/>
                      <a:pt x="2489200" y="152400"/>
                    </a:cubicBezTo>
                    <a:cubicBezTo>
                      <a:pt x="2477770" y="137160"/>
                      <a:pt x="2466340" y="124460"/>
                      <a:pt x="2453640" y="110490"/>
                    </a:cubicBezTo>
                    <a:cubicBezTo>
                      <a:pt x="2444750" y="101600"/>
                      <a:pt x="2435860" y="93980"/>
                      <a:pt x="2426970" y="86360"/>
                    </a:cubicBezTo>
                    <a:cubicBezTo>
                      <a:pt x="2360930" y="31750"/>
                      <a:pt x="2277110" y="0"/>
                      <a:pt x="2185670" y="0"/>
                    </a:cubicBezTo>
                    <a:lnTo>
                      <a:pt x="379730" y="0"/>
                    </a:lnTo>
                    <a:cubicBezTo>
                      <a:pt x="288290" y="0"/>
                      <a:pt x="203200" y="33020"/>
                      <a:pt x="138430" y="86360"/>
                    </a:cubicBezTo>
                    <a:cubicBezTo>
                      <a:pt x="129540" y="93980"/>
                      <a:pt x="120650" y="102870"/>
                      <a:pt x="111760" y="110490"/>
                    </a:cubicBezTo>
                    <a:cubicBezTo>
                      <a:pt x="99060" y="123190"/>
                      <a:pt x="86360" y="137160"/>
                      <a:pt x="76200" y="152400"/>
                    </a:cubicBezTo>
                    <a:cubicBezTo>
                      <a:pt x="68580" y="162560"/>
                      <a:pt x="62230" y="172720"/>
                      <a:pt x="55880" y="182880"/>
                    </a:cubicBezTo>
                    <a:cubicBezTo>
                      <a:pt x="49530" y="193040"/>
                      <a:pt x="43180" y="204470"/>
                      <a:pt x="38100" y="214630"/>
                    </a:cubicBezTo>
                    <a:cubicBezTo>
                      <a:pt x="29210" y="232410"/>
                      <a:pt x="22860" y="248920"/>
                      <a:pt x="16510" y="266700"/>
                    </a:cubicBezTo>
                    <a:cubicBezTo>
                      <a:pt x="12700" y="279400"/>
                      <a:pt x="10160" y="290830"/>
                      <a:pt x="7620" y="303530"/>
                    </a:cubicBezTo>
                    <a:cubicBezTo>
                      <a:pt x="2540" y="327660"/>
                      <a:pt x="0" y="354330"/>
                      <a:pt x="0" y="379730"/>
                    </a:cubicBezTo>
                    <a:lnTo>
                      <a:pt x="0" y="4803140"/>
                    </a:lnTo>
                    <a:cubicBezTo>
                      <a:pt x="0" y="5012690"/>
                      <a:pt x="170180" y="5182870"/>
                      <a:pt x="379730" y="5182870"/>
                    </a:cubicBezTo>
                    <a:lnTo>
                      <a:pt x="2184400" y="5182870"/>
                    </a:lnTo>
                    <a:cubicBezTo>
                      <a:pt x="2393950" y="5182870"/>
                      <a:pt x="2564130" y="5012690"/>
                      <a:pt x="2564130" y="4803140"/>
                    </a:cubicBezTo>
                    <a:lnTo>
                      <a:pt x="2564130" y="1184910"/>
                    </a:lnTo>
                    <a:close/>
                    <a:moveTo>
                      <a:pt x="2538730" y="1184910"/>
                    </a:moveTo>
                    <a:lnTo>
                      <a:pt x="2538730" y="4804410"/>
                    </a:lnTo>
                    <a:cubicBezTo>
                      <a:pt x="2538730" y="4999990"/>
                      <a:pt x="2379980" y="5158740"/>
                      <a:pt x="2184400" y="5158740"/>
                    </a:cubicBezTo>
                    <a:lnTo>
                      <a:pt x="379730" y="5158740"/>
                    </a:lnTo>
                    <a:cubicBezTo>
                      <a:pt x="184150" y="5158740"/>
                      <a:pt x="25400" y="4999990"/>
                      <a:pt x="25400" y="4804410"/>
                    </a:cubicBezTo>
                    <a:lnTo>
                      <a:pt x="25400" y="381000"/>
                    </a:lnTo>
                    <a:cubicBezTo>
                      <a:pt x="25400" y="184150"/>
                      <a:pt x="184150" y="25400"/>
                      <a:pt x="379730" y="25400"/>
                    </a:cubicBezTo>
                    <a:lnTo>
                      <a:pt x="2184400" y="25400"/>
                    </a:lnTo>
                    <a:cubicBezTo>
                      <a:pt x="2379980" y="25400"/>
                      <a:pt x="2538730" y="184150"/>
                      <a:pt x="2538730" y="379730"/>
                    </a:cubicBezTo>
                    <a:lnTo>
                      <a:pt x="2538730" y="1184910"/>
                    </a:lnTo>
                    <a:close/>
                  </a:path>
                </a:pathLst>
              </a:custGeom>
              <a:solidFill>
                <a:srgbClr val="E9E9E9"/>
              </a:solidFill>
            </p:spPr>
            <p:txBody>
              <a:bodyPr/>
              <a:lstStyle/>
              <a:p>
                <a:endParaRPr lang="en-US"/>
              </a:p>
            </p:txBody>
          </p:sp>
        </p:grpSp>
        <p:grpSp>
          <p:nvGrpSpPr>
            <p:cNvPr id="25" name="Group 25"/>
            <p:cNvGrpSpPr/>
            <p:nvPr/>
          </p:nvGrpSpPr>
          <p:grpSpPr>
            <a:xfrm>
              <a:off x="138683" y="-83408"/>
              <a:ext cx="5680656" cy="11447743"/>
              <a:chOff x="0" y="-47625"/>
              <a:chExt cx="1068921" cy="2154106"/>
            </a:xfrm>
          </p:grpSpPr>
          <p:sp>
            <p:nvSpPr>
              <p:cNvPr id="26" name="Freeform 26"/>
              <p:cNvSpPr/>
              <p:nvPr/>
            </p:nvSpPr>
            <p:spPr>
              <a:xfrm>
                <a:off x="510" y="16647"/>
                <a:ext cx="1068411" cy="2089834"/>
              </a:xfrm>
              <a:custGeom>
                <a:avLst/>
                <a:gdLst/>
                <a:ahLst/>
                <a:cxnLst/>
                <a:rect l="l" t="t" r="r" b="b"/>
                <a:pathLst>
                  <a:path w="1005423" h="2105417">
                    <a:moveTo>
                      <a:pt x="103429" y="0"/>
                    </a:moveTo>
                    <a:lnTo>
                      <a:pt x="901994" y="0"/>
                    </a:lnTo>
                    <a:cubicBezTo>
                      <a:pt x="959116" y="0"/>
                      <a:pt x="1005423" y="46307"/>
                      <a:pt x="1005423" y="103429"/>
                    </a:cubicBezTo>
                    <a:lnTo>
                      <a:pt x="1005423" y="2001988"/>
                    </a:lnTo>
                    <a:cubicBezTo>
                      <a:pt x="1005423" y="2059110"/>
                      <a:pt x="959116" y="2105417"/>
                      <a:pt x="901994" y="2105417"/>
                    </a:cubicBezTo>
                    <a:lnTo>
                      <a:pt x="103429" y="2105417"/>
                    </a:lnTo>
                    <a:cubicBezTo>
                      <a:pt x="46307" y="2105417"/>
                      <a:pt x="0" y="2059110"/>
                      <a:pt x="0" y="2001988"/>
                    </a:cubicBezTo>
                    <a:lnTo>
                      <a:pt x="0" y="103429"/>
                    </a:lnTo>
                    <a:cubicBezTo>
                      <a:pt x="0" y="46307"/>
                      <a:pt x="46307" y="0"/>
                      <a:pt x="103429" y="0"/>
                    </a:cubicBezTo>
                    <a:close/>
                  </a:path>
                </a:pathLst>
              </a:custGeom>
              <a:solidFill>
                <a:srgbClr val="141414"/>
              </a:solidFill>
            </p:spPr>
            <p:txBody>
              <a:bodyPr/>
              <a:lstStyle/>
              <a:p>
                <a:endParaRPr lang="en-US"/>
              </a:p>
            </p:txBody>
          </p:sp>
          <p:sp>
            <p:nvSpPr>
              <p:cNvPr id="27" name="TextBox 27"/>
              <p:cNvSpPr txBox="1"/>
              <p:nvPr/>
            </p:nvSpPr>
            <p:spPr>
              <a:xfrm>
                <a:off x="0" y="-47625"/>
                <a:ext cx="1005423" cy="2153042"/>
              </a:xfrm>
              <a:prstGeom prst="rect">
                <a:avLst/>
              </a:prstGeom>
            </p:spPr>
            <p:txBody>
              <a:bodyPr lIns="50800" tIns="50800" rIns="50800" bIns="50800" rtlCol="0" anchor="ctr"/>
              <a:lstStyle/>
              <a:p>
                <a:pPr algn="ctr">
                  <a:lnSpc>
                    <a:spcPts val="2339"/>
                  </a:lnSpc>
                </a:pPr>
                <a:endParaRPr/>
              </a:p>
            </p:txBody>
          </p:sp>
        </p:grpSp>
        <p:grpSp>
          <p:nvGrpSpPr>
            <p:cNvPr id="28" name="Group 28"/>
            <p:cNvGrpSpPr/>
            <p:nvPr/>
          </p:nvGrpSpPr>
          <p:grpSpPr>
            <a:xfrm>
              <a:off x="411778" y="3312143"/>
              <a:ext cx="5129170" cy="6418640"/>
              <a:chOff x="102050" y="53688"/>
              <a:chExt cx="10591800" cy="13254572"/>
            </a:xfrm>
          </p:grpSpPr>
          <p:sp>
            <p:nvSpPr>
              <p:cNvPr id="29" name="Freeform 29"/>
              <p:cNvSpPr/>
              <p:nvPr/>
            </p:nvSpPr>
            <p:spPr>
              <a:xfrm>
                <a:off x="102050" y="53688"/>
                <a:ext cx="10591800" cy="13254572"/>
              </a:xfrm>
              <a:custGeom>
                <a:avLst/>
                <a:gdLst/>
                <a:ahLst/>
                <a:cxnLst/>
                <a:rect l="l" t="t" r="r" b="b"/>
                <a:pathLst>
                  <a:path w="10591800" h="13254572">
                    <a:moveTo>
                      <a:pt x="10591800" y="222020"/>
                    </a:moveTo>
                    <a:lnTo>
                      <a:pt x="10591800" y="13032552"/>
                    </a:lnTo>
                    <a:cubicBezTo>
                      <a:pt x="10591800" y="13155219"/>
                      <a:pt x="10478135" y="13254572"/>
                      <a:pt x="10337800" y="13254572"/>
                    </a:cubicBezTo>
                    <a:lnTo>
                      <a:pt x="254000" y="13254572"/>
                    </a:lnTo>
                    <a:cubicBezTo>
                      <a:pt x="113665" y="13254572"/>
                      <a:pt x="0" y="13155219"/>
                      <a:pt x="0" y="13032552"/>
                    </a:cubicBezTo>
                    <a:lnTo>
                      <a:pt x="0" y="222020"/>
                    </a:lnTo>
                    <a:cubicBezTo>
                      <a:pt x="0" y="99354"/>
                      <a:pt x="113665" y="0"/>
                      <a:pt x="254000" y="0"/>
                    </a:cubicBezTo>
                    <a:lnTo>
                      <a:pt x="10337800" y="0"/>
                    </a:lnTo>
                    <a:cubicBezTo>
                      <a:pt x="10478135" y="0"/>
                      <a:pt x="10591800" y="99354"/>
                      <a:pt x="10591800" y="222020"/>
                    </a:cubicBezTo>
                    <a:close/>
                  </a:path>
                </a:pathLst>
              </a:custGeom>
              <a:blipFill>
                <a:blip r:embed="rId4"/>
                <a:stretch>
                  <a:fillRect l="-610" r="-87570"/>
                </a:stretch>
              </a:blipFill>
            </p:spPr>
            <p:txBody>
              <a:bodyPr/>
              <a:lstStyle/>
              <a:p>
                <a:endParaRPr lang="en-US"/>
              </a:p>
            </p:txBody>
          </p:sp>
        </p:grpSp>
        <p:grpSp>
          <p:nvGrpSpPr>
            <p:cNvPr id="31" name="Group 31"/>
            <p:cNvGrpSpPr/>
            <p:nvPr/>
          </p:nvGrpSpPr>
          <p:grpSpPr>
            <a:xfrm>
              <a:off x="527378" y="3519127"/>
              <a:ext cx="1380283" cy="1380283"/>
              <a:chOff x="29101" y="15310"/>
              <a:chExt cx="812800" cy="812800"/>
            </a:xfrm>
          </p:grpSpPr>
          <p:sp>
            <p:nvSpPr>
              <p:cNvPr id="32" name="Freeform 32"/>
              <p:cNvSpPr/>
              <p:nvPr/>
            </p:nvSpPr>
            <p:spPr>
              <a:xfrm>
                <a:off x="29101" y="1531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a:blip r:embed="rId4"/>
                <a:stretch>
                  <a:fillRect l="-155679" t="-15600" b="-54426"/>
                </a:stretch>
              </a:blipFill>
              <a:ln w="38100" cap="sq">
                <a:solidFill>
                  <a:srgbClr val="000000"/>
                </a:solidFill>
                <a:prstDash val="solid"/>
                <a:miter/>
              </a:ln>
            </p:spPr>
            <p:txBody>
              <a:bodyPr/>
              <a:lstStyle/>
              <a:p>
                <a:endParaRPr lang="en-US"/>
              </a:p>
            </p:txBody>
          </p:sp>
        </p:grpSp>
        <p:grpSp>
          <p:nvGrpSpPr>
            <p:cNvPr id="33" name="Group 33"/>
            <p:cNvGrpSpPr/>
            <p:nvPr/>
          </p:nvGrpSpPr>
          <p:grpSpPr>
            <a:xfrm>
              <a:off x="2098237" y="636094"/>
              <a:ext cx="1657413" cy="1005067"/>
              <a:chOff x="0" y="0"/>
              <a:chExt cx="1578858" cy="957431"/>
            </a:xfrm>
          </p:grpSpPr>
          <p:sp>
            <p:nvSpPr>
              <p:cNvPr id="34" name="Freeform 34"/>
              <p:cNvSpPr/>
              <p:nvPr/>
            </p:nvSpPr>
            <p:spPr>
              <a:xfrm>
                <a:off x="0" y="0"/>
                <a:ext cx="1578858" cy="957431"/>
              </a:xfrm>
              <a:custGeom>
                <a:avLst/>
                <a:gdLst/>
                <a:ahLst/>
                <a:cxnLst/>
                <a:rect l="l" t="t" r="r" b="b"/>
                <a:pathLst>
                  <a:path w="1578858" h="957431">
                    <a:moveTo>
                      <a:pt x="0" y="0"/>
                    </a:moveTo>
                    <a:lnTo>
                      <a:pt x="1578858" y="0"/>
                    </a:lnTo>
                    <a:lnTo>
                      <a:pt x="1578858" y="957431"/>
                    </a:lnTo>
                    <a:lnTo>
                      <a:pt x="0" y="957431"/>
                    </a:lnTo>
                    <a:close/>
                  </a:path>
                </a:pathLst>
              </a:custGeom>
              <a:blipFill>
                <a:blip r:embed="rId3">
                  <a:alphaModFix amt="0"/>
                </a:blip>
                <a:stretch>
                  <a:fillRect t="-300064" r="-1116220" b="-381525"/>
                </a:stretch>
              </a:blipFill>
            </p:spPr>
            <p:txBody>
              <a:bodyPr/>
              <a:lstStyle/>
              <a:p>
                <a:endParaRPr lang="en-US"/>
              </a:p>
            </p:txBody>
          </p:sp>
          <p:sp>
            <p:nvSpPr>
              <p:cNvPr id="35" name="TextBox 35"/>
              <p:cNvSpPr txBox="1"/>
              <p:nvPr/>
            </p:nvSpPr>
            <p:spPr>
              <a:xfrm>
                <a:off x="0" y="19050"/>
                <a:ext cx="1578858" cy="938381"/>
              </a:xfrm>
              <a:prstGeom prst="rect">
                <a:avLst/>
              </a:prstGeom>
            </p:spPr>
            <p:txBody>
              <a:bodyPr lIns="0" tIns="0" rIns="0" bIns="0" rtlCol="0" anchor="ctr"/>
              <a:lstStyle/>
              <a:p>
                <a:pPr algn="l">
                  <a:lnSpc>
                    <a:spcPts val="2240"/>
                  </a:lnSpc>
                </a:pPr>
                <a:r>
                  <a:rPr lang="en-US" sz="2100" b="1">
                    <a:solidFill>
                      <a:srgbClr val="FFFFFF"/>
                    </a:solidFill>
                    <a:latin typeface="Arial Bold"/>
                    <a:ea typeface="Arial Bold"/>
                    <a:cs typeface="Arial Bold"/>
                    <a:sym typeface="Arial Bold"/>
                  </a:rPr>
                  <a:t>BeReal.</a:t>
                </a:r>
              </a:p>
            </p:txBody>
          </p:sp>
        </p:grpSp>
        <p:sp>
          <p:nvSpPr>
            <p:cNvPr id="36" name="Freeform 36"/>
            <p:cNvSpPr/>
            <p:nvPr/>
          </p:nvSpPr>
          <p:spPr>
            <a:xfrm rot="5400000">
              <a:off x="1607340" y="10391880"/>
              <a:ext cx="247876" cy="313768"/>
            </a:xfrm>
            <a:custGeom>
              <a:avLst/>
              <a:gdLst/>
              <a:ahLst/>
              <a:cxnLst/>
              <a:rect l="l" t="t" r="r" b="b"/>
              <a:pathLst>
                <a:path w="247876" h="313768">
                  <a:moveTo>
                    <a:pt x="0" y="0"/>
                  </a:moveTo>
                  <a:lnTo>
                    <a:pt x="247876" y="0"/>
                  </a:lnTo>
                  <a:lnTo>
                    <a:pt x="247876" y="313768"/>
                  </a:lnTo>
                  <a:lnTo>
                    <a:pt x="0" y="313768"/>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en-US"/>
            </a:p>
          </p:txBody>
        </p:sp>
        <p:sp>
          <p:nvSpPr>
            <p:cNvPr id="37" name="TextBox 37"/>
            <p:cNvSpPr txBox="1"/>
            <p:nvPr/>
          </p:nvSpPr>
          <p:spPr>
            <a:xfrm>
              <a:off x="823478" y="10352757"/>
              <a:ext cx="713984" cy="349486"/>
            </a:xfrm>
            <a:prstGeom prst="rect">
              <a:avLst/>
            </a:prstGeom>
          </p:spPr>
          <p:txBody>
            <a:bodyPr lIns="0" tIns="0" rIns="0" bIns="0" rtlCol="0" anchor="t">
              <a:spAutoFit/>
            </a:bodyPr>
            <a:lstStyle/>
            <a:p>
              <a:pPr algn="ctr">
                <a:lnSpc>
                  <a:spcPts val="1911"/>
                </a:lnSpc>
                <a:spcBef>
                  <a:spcPct val="0"/>
                </a:spcBef>
              </a:pPr>
              <a:r>
                <a:rPr lang="en-US" sz="1593" b="1">
                  <a:solidFill>
                    <a:srgbClr val="FFFFFF"/>
                  </a:solidFill>
                  <a:latin typeface="Calibri (MS) Bold"/>
                  <a:ea typeface="Calibri (MS) Bold"/>
                  <a:cs typeface="Calibri (MS) Bold"/>
                  <a:sym typeface="Calibri (MS) Bold"/>
                </a:rPr>
                <a:t>SEND </a:t>
              </a:r>
            </a:p>
          </p:txBody>
        </p:sp>
        <p:sp>
          <p:nvSpPr>
            <p:cNvPr id="38" name="Freeform 38"/>
            <p:cNvSpPr/>
            <p:nvPr/>
          </p:nvSpPr>
          <p:spPr>
            <a:xfrm rot="5400000">
              <a:off x="4785581" y="10366119"/>
              <a:ext cx="299601" cy="379242"/>
            </a:xfrm>
            <a:custGeom>
              <a:avLst/>
              <a:gdLst/>
              <a:ahLst/>
              <a:cxnLst/>
              <a:rect l="l" t="t" r="r" b="b"/>
              <a:pathLst>
                <a:path w="299601" h="379242">
                  <a:moveTo>
                    <a:pt x="0" y="0"/>
                  </a:moveTo>
                  <a:lnTo>
                    <a:pt x="299601" y="0"/>
                  </a:lnTo>
                  <a:lnTo>
                    <a:pt x="299601" y="379242"/>
                  </a:lnTo>
                  <a:lnTo>
                    <a:pt x="0" y="379242"/>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en-US"/>
            </a:p>
          </p:txBody>
        </p:sp>
        <p:sp>
          <p:nvSpPr>
            <p:cNvPr id="39" name="TextBox 39"/>
            <p:cNvSpPr txBox="1"/>
            <p:nvPr/>
          </p:nvSpPr>
          <p:spPr>
            <a:xfrm>
              <a:off x="2926944" y="10192301"/>
              <a:ext cx="1662547" cy="670397"/>
            </a:xfrm>
            <a:prstGeom prst="rect">
              <a:avLst/>
            </a:prstGeom>
          </p:spPr>
          <p:txBody>
            <a:bodyPr lIns="0" tIns="0" rIns="0" bIns="0" rtlCol="0" anchor="t">
              <a:spAutoFit/>
            </a:bodyPr>
            <a:lstStyle/>
            <a:p>
              <a:pPr algn="ctr">
                <a:lnSpc>
                  <a:spcPts val="1911"/>
                </a:lnSpc>
              </a:pPr>
              <a:r>
                <a:rPr lang="en-US" sz="1593" b="1">
                  <a:solidFill>
                    <a:srgbClr val="FFFFFF"/>
                  </a:solidFill>
                  <a:latin typeface="Calibri (MS) Bold"/>
                  <a:ea typeface="Calibri (MS) Bold"/>
                  <a:cs typeface="Calibri (MS) Bold"/>
                  <a:sym typeface="Calibri (MS) Bold"/>
                </a:rPr>
                <a:t>COMMUNITY </a:t>
              </a:r>
            </a:p>
            <a:p>
              <a:pPr algn="ctr">
                <a:lnSpc>
                  <a:spcPts val="1911"/>
                </a:lnSpc>
                <a:spcBef>
                  <a:spcPct val="0"/>
                </a:spcBef>
              </a:pPr>
              <a:r>
                <a:rPr lang="en-US" sz="1593" b="1">
                  <a:solidFill>
                    <a:srgbClr val="FFFFFF"/>
                  </a:solidFill>
                  <a:latin typeface="Calibri (MS) Bold"/>
                  <a:ea typeface="Calibri (MS) Bold"/>
                  <a:cs typeface="Calibri (MS) Bold"/>
                  <a:sym typeface="Calibri (MS) Bold"/>
                </a:rPr>
                <a:t>BOARD</a:t>
              </a:r>
            </a:p>
          </p:txBody>
        </p:sp>
        <p:sp>
          <p:nvSpPr>
            <p:cNvPr id="40" name="Freeform 40"/>
            <p:cNvSpPr/>
            <p:nvPr/>
          </p:nvSpPr>
          <p:spPr>
            <a:xfrm>
              <a:off x="584237" y="8721327"/>
              <a:ext cx="565524" cy="565524"/>
            </a:xfrm>
            <a:custGeom>
              <a:avLst/>
              <a:gdLst/>
              <a:ahLst/>
              <a:cxnLst/>
              <a:rect l="l" t="t" r="r" b="b"/>
              <a:pathLst>
                <a:path w="565524" h="565524">
                  <a:moveTo>
                    <a:pt x="0" y="0"/>
                  </a:moveTo>
                  <a:lnTo>
                    <a:pt x="565524" y="0"/>
                  </a:lnTo>
                  <a:lnTo>
                    <a:pt x="565524" y="565525"/>
                  </a:lnTo>
                  <a:lnTo>
                    <a:pt x="0" y="565525"/>
                  </a:lnTo>
                  <a:lnTo>
                    <a:pt x="0" y="0"/>
                  </a:lnTo>
                  <a:close/>
                </a:path>
              </a:pathLst>
            </a:custGeom>
            <a:blipFill>
              <a:blip>
                <a:extLst>
                  <a:ext uri="{96DAC541-7B7A-43D3-8B79-37D633B846F1}">
                    <asvg:svgBlip xmlns:asvg="http://schemas.microsoft.com/office/drawing/2016/SVG/main" r:embed="rId6"/>
                  </a:ext>
                </a:extLst>
              </a:blip>
              <a:stretch>
                <a:fillRect/>
              </a:stretch>
            </a:blipFill>
          </p:spPr>
          <p:txBody>
            <a:bodyPr/>
            <a:lstStyle/>
            <a:p>
              <a:endParaRPr lang="en-US"/>
            </a:p>
          </p:txBody>
        </p:sp>
        <p:sp>
          <p:nvSpPr>
            <p:cNvPr id="41" name="Freeform 41"/>
            <p:cNvSpPr/>
            <p:nvPr/>
          </p:nvSpPr>
          <p:spPr>
            <a:xfrm>
              <a:off x="761981" y="8871156"/>
              <a:ext cx="210035" cy="265868"/>
            </a:xfrm>
            <a:custGeom>
              <a:avLst/>
              <a:gdLst/>
              <a:ahLst/>
              <a:cxnLst/>
              <a:rect l="l" t="t" r="r" b="b"/>
              <a:pathLst>
                <a:path w="210035" h="265868">
                  <a:moveTo>
                    <a:pt x="0" y="0"/>
                  </a:moveTo>
                  <a:lnTo>
                    <a:pt x="210035" y="0"/>
                  </a:lnTo>
                  <a:lnTo>
                    <a:pt x="210035" y="265867"/>
                  </a:lnTo>
                  <a:lnTo>
                    <a:pt x="0" y="265867"/>
                  </a:lnTo>
                  <a:lnTo>
                    <a:pt x="0" y="0"/>
                  </a:lnTo>
                  <a:close/>
                </a:path>
              </a:pathLst>
            </a:custGeom>
            <a:blipFill>
              <a:blip>
                <a:extLst>
                  <a:ext uri="{96DAC541-7B7A-43D3-8B79-37D633B846F1}">
                    <asvg:svgBlip xmlns:asvg="http://schemas.microsoft.com/office/drawing/2016/SVG/main" r:embed="rId7"/>
                  </a:ext>
                </a:extLst>
              </a:blip>
              <a:stretch>
                <a:fillRect/>
              </a:stretch>
            </a:blipFill>
          </p:spPr>
          <p:txBody>
            <a:bodyPr/>
            <a:lstStyle/>
            <a:p>
              <a:endParaRPr lang="en-US"/>
            </a:p>
          </p:txBody>
        </p:sp>
        <p:grpSp>
          <p:nvGrpSpPr>
            <p:cNvPr id="42" name="Group 42"/>
            <p:cNvGrpSpPr/>
            <p:nvPr/>
          </p:nvGrpSpPr>
          <p:grpSpPr>
            <a:xfrm>
              <a:off x="1355820" y="8691402"/>
              <a:ext cx="1752721" cy="625375"/>
              <a:chOff x="0" y="0"/>
              <a:chExt cx="292219" cy="104264"/>
            </a:xfrm>
          </p:grpSpPr>
          <p:sp>
            <p:nvSpPr>
              <p:cNvPr id="43" name="Freeform 43"/>
              <p:cNvSpPr/>
              <p:nvPr/>
            </p:nvSpPr>
            <p:spPr>
              <a:xfrm>
                <a:off x="0" y="0"/>
                <a:ext cx="292219" cy="104264"/>
              </a:xfrm>
              <a:custGeom>
                <a:avLst/>
                <a:gdLst/>
                <a:ahLst/>
                <a:cxnLst/>
                <a:rect l="l" t="t" r="r" b="b"/>
                <a:pathLst>
                  <a:path w="292219" h="104264">
                    <a:moveTo>
                      <a:pt x="52132" y="0"/>
                    </a:moveTo>
                    <a:lnTo>
                      <a:pt x="240086" y="0"/>
                    </a:lnTo>
                    <a:cubicBezTo>
                      <a:pt x="253913" y="0"/>
                      <a:pt x="267173" y="5492"/>
                      <a:pt x="276949" y="15269"/>
                    </a:cubicBezTo>
                    <a:cubicBezTo>
                      <a:pt x="286726" y="25046"/>
                      <a:pt x="292219" y="38306"/>
                      <a:pt x="292219" y="52132"/>
                    </a:cubicBezTo>
                    <a:lnTo>
                      <a:pt x="292219" y="52132"/>
                    </a:lnTo>
                    <a:cubicBezTo>
                      <a:pt x="292219" y="80924"/>
                      <a:pt x="268878" y="104264"/>
                      <a:pt x="240086" y="104264"/>
                    </a:cubicBezTo>
                    <a:lnTo>
                      <a:pt x="52132" y="104264"/>
                    </a:lnTo>
                    <a:cubicBezTo>
                      <a:pt x="38306" y="104264"/>
                      <a:pt x="25046" y="98772"/>
                      <a:pt x="15269" y="88995"/>
                    </a:cubicBezTo>
                    <a:cubicBezTo>
                      <a:pt x="5492" y="79219"/>
                      <a:pt x="0" y="65958"/>
                      <a:pt x="0" y="52132"/>
                    </a:cubicBezTo>
                    <a:lnTo>
                      <a:pt x="0" y="52132"/>
                    </a:lnTo>
                    <a:cubicBezTo>
                      <a:pt x="0" y="38306"/>
                      <a:pt x="5492" y="25046"/>
                      <a:pt x="15269" y="15269"/>
                    </a:cubicBezTo>
                    <a:cubicBezTo>
                      <a:pt x="25046" y="5492"/>
                      <a:pt x="38306" y="0"/>
                      <a:pt x="52132" y="0"/>
                    </a:cubicBezTo>
                    <a:close/>
                  </a:path>
                </a:pathLst>
              </a:custGeom>
              <a:solidFill>
                <a:srgbClr val="232222"/>
              </a:solidFill>
            </p:spPr>
            <p:txBody>
              <a:bodyPr/>
              <a:lstStyle/>
              <a:p>
                <a:endParaRPr lang="en-US"/>
              </a:p>
            </p:txBody>
          </p:sp>
          <p:sp>
            <p:nvSpPr>
              <p:cNvPr id="44" name="TextBox 44"/>
              <p:cNvSpPr txBox="1"/>
              <p:nvPr/>
            </p:nvSpPr>
            <p:spPr>
              <a:xfrm>
                <a:off x="0" y="-47625"/>
                <a:ext cx="292219" cy="151889"/>
              </a:xfrm>
              <a:prstGeom prst="rect">
                <a:avLst/>
              </a:prstGeom>
            </p:spPr>
            <p:txBody>
              <a:bodyPr lIns="57334" tIns="57334" rIns="57334" bIns="57334" rtlCol="0" anchor="ctr"/>
              <a:lstStyle/>
              <a:p>
                <a:pPr algn="ctr">
                  <a:lnSpc>
                    <a:spcPts val="2340"/>
                  </a:lnSpc>
                </a:pPr>
                <a:endParaRPr/>
              </a:p>
            </p:txBody>
          </p:sp>
        </p:grpSp>
        <p:grpSp>
          <p:nvGrpSpPr>
            <p:cNvPr id="45" name="Group 45"/>
            <p:cNvGrpSpPr/>
            <p:nvPr/>
          </p:nvGrpSpPr>
          <p:grpSpPr>
            <a:xfrm>
              <a:off x="1541790" y="8784463"/>
              <a:ext cx="1350177" cy="391902"/>
              <a:chOff x="0" y="0"/>
              <a:chExt cx="1892503" cy="549318"/>
            </a:xfrm>
          </p:grpSpPr>
          <p:sp>
            <p:nvSpPr>
              <p:cNvPr id="46" name="Freeform 46"/>
              <p:cNvSpPr/>
              <p:nvPr/>
            </p:nvSpPr>
            <p:spPr>
              <a:xfrm>
                <a:off x="0" y="0"/>
                <a:ext cx="1892503" cy="549318"/>
              </a:xfrm>
              <a:custGeom>
                <a:avLst/>
                <a:gdLst/>
                <a:ahLst/>
                <a:cxnLst/>
                <a:rect l="l" t="t" r="r" b="b"/>
                <a:pathLst>
                  <a:path w="1892503" h="549318">
                    <a:moveTo>
                      <a:pt x="0" y="0"/>
                    </a:moveTo>
                    <a:lnTo>
                      <a:pt x="1892503" y="0"/>
                    </a:lnTo>
                    <a:lnTo>
                      <a:pt x="1892503" y="549318"/>
                    </a:lnTo>
                    <a:lnTo>
                      <a:pt x="0" y="549318"/>
                    </a:lnTo>
                    <a:close/>
                  </a:path>
                </a:pathLst>
              </a:custGeom>
              <a:blipFill>
                <a:blip r:embed="rId3">
                  <a:alphaModFix amt="0"/>
                </a:blip>
                <a:stretch>
                  <a:fillRect t="-522997" r="-914656" b="-739273"/>
                </a:stretch>
              </a:blipFill>
            </p:spPr>
            <p:txBody>
              <a:bodyPr/>
              <a:lstStyle/>
              <a:p>
                <a:endParaRPr lang="en-US"/>
              </a:p>
            </p:txBody>
          </p:sp>
          <p:sp>
            <p:nvSpPr>
              <p:cNvPr id="47" name="TextBox 47"/>
              <p:cNvSpPr txBox="1"/>
              <p:nvPr/>
            </p:nvSpPr>
            <p:spPr>
              <a:xfrm>
                <a:off x="0" y="0"/>
                <a:ext cx="1892503" cy="549318"/>
              </a:xfrm>
              <a:prstGeom prst="rect">
                <a:avLst/>
              </a:prstGeom>
            </p:spPr>
            <p:txBody>
              <a:bodyPr lIns="0" tIns="0" rIns="0" bIns="0" rtlCol="0" anchor="ctr"/>
              <a:lstStyle/>
              <a:p>
                <a:pPr algn="ctr">
                  <a:lnSpc>
                    <a:spcPts val="1280"/>
                  </a:lnSpc>
                </a:pPr>
                <a:r>
                  <a:rPr lang="en-US" sz="1200" b="1">
                    <a:solidFill>
                      <a:srgbClr val="FFFFFF"/>
                    </a:solidFill>
                    <a:latin typeface="Arial Bold"/>
                    <a:ea typeface="Arial Bold"/>
                    <a:cs typeface="Arial Bold"/>
                    <a:sym typeface="Arial Bold"/>
                  </a:rPr>
                  <a:t>My Friends</a:t>
                </a:r>
              </a:p>
            </p:txBody>
          </p:sp>
        </p:grpSp>
        <p:grpSp>
          <p:nvGrpSpPr>
            <p:cNvPr id="48" name="Group 48"/>
            <p:cNvGrpSpPr/>
            <p:nvPr/>
          </p:nvGrpSpPr>
          <p:grpSpPr>
            <a:xfrm>
              <a:off x="3317830" y="8745662"/>
              <a:ext cx="724288" cy="516856"/>
              <a:chOff x="0" y="0"/>
              <a:chExt cx="146109" cy="104264"/>
            </a:xfrm>
          </p:grpSpPr>
          <p:sp>
            <p:nvSpPr>
              <p:cNvPr id="49" name="Freeform 49"/>
              <p:cNvSpPr/>
              <p:nvPr/>
            </p:nvSpPr>
            <p:spPr>
              <a:xfrm>
                <a:off x="0" y="0"/>
                <a:ext cx="146109" cy="104264"/>
              </a:xfrm>
              <a:custGeom>
                <a:avLst/>
                <a:gdLst/>
                <a:ahLst/>
                <a:cxnLst/>
                <a:rect l="l" t="t" r="r" b="b"/>
                <a:pathLst>
                  <a:path w="146109" h="104264">
                    <a:moveTo>
                      <a:pt x="52132" y="0"/>
                    </a:moveTo>
                    <a:lnTo>
                      <a:pt x="93977" y="0"/>
                    </a:lnTo>
                    <a:cubicBezTo>
                      <a:pt x="107803" y="0"/>
                      <a:pt x="121063" y="5492"/>
                      <a:pt x="130840" y="15269"/>
                    </a:cubicBezTo>
                    <a:cubicBezTo>
                      <a:pt x="140617" y="25046"/>
                      <a:pt x="146109" y="38306"/>
                      <a:pt x="146109" y="52132"/>
                    </a:cubicBezTo>
                    <a:lnTo>
                      <a:pt x="146109" y="52132"/>
                    </a:lnTo>
                    <a:cubicBezTo>
                      <a:pt x="146109" y="65958"/>
                      <a:pt x="140617" y="79219"/>
                      <a:pt x="130840" y="88995"/>
                    </a:cubicBezTo>
                    <a:cubicBezTo>
                      <a:pt x="121063" y="98772"/>
                      <a:pt x="107803" y="104264"/>
                      <a:pt x="93977" y="104264"/>
                    </a:cubicBezTo>
                    <a:lnTo>
                      <a:pt x="52132" y="104264"/>
                    </a:lnTo>
                    <a:cubicBezTo>
                      <a:pt x="38306" y="104264"/>
                      <a:pt x="25046" y="98772"/>
                      <a:pt x="15269" y="88995"/>
                    </a:cubicBezTo>
                    <a:cubicBezTo>
                      <a:pt x="5492" y="79219"/>
                      <a:pt x="0" y="65958"/>
                      <a:pt x="0" y="52132"/>
                    </a:cubicBezTo>
                    <a:lnTo>
                      <a:pt x="0" y="52132"/>
                    </a:lnTo>
                    <a:cubicBezTo>
                      <a:pt x="0" y="38306"/>
                      <a:pt x="5492" y="25046"/>
                      <a:pt x="15269" y="15269"/>
                    </a:cubicBezTo>
                    <a:cubicBezTo>
                      <a:pt x="25046" y="5492"/>
                      <a:pt x="38306" y="0"/>
                      <a:pt x="52132" y="0"/>
                    </a:cubicBezTo>
                    <a:close/>
                  </a:path>
                </a:pathLst>
              </a:custGeom>
              <a:solidFill>
                <a:srgbClr val="232222"/>
              </a:solidFill>
            </p:spPr>
            <p:txBody>
              <a:bodyPr/>
              <a:lstStyle/>
              <a:p>
                <a:endParaRPr lang="en-US"/>
              </a:p>
            </p:txBody>
          </p:sp>
          <p:sp>
            <p:nvSpPr>
              <p:cNvPr id="50" name="TextBox 50"/>
              <p:cNvSpPr txBox="1"/>
              <p:nvPr/>
            </p:nvSpPr>
            <p:spPr>
              <a:xfrm>
                <a:off x="0" y="-47625"/>
                <a:ext cx="146109" cy="151889"/>
              </a:xfrm>
              <a:prstGeom prst="rect">
                <a:avLst/>
              </a:prstGeom>
            </p:spPr>
            <p:txBody>
              <a:bodyPr lIns="63294" tIns="63294" rIns="63294" bIns="63294" rtlCol="0" anchor="ctr"/>
              <a:lstStyle/>
              <a:p>
                <a:pPr algn="ctr">
                  <a:lnSpc>
                    <a:spcPts val="2339"/>
                  </a:lnSpc>
                </a:pPr>
                <a:endParaRPr/>
              </a:p>
            </p:txBody>
          </p:sp>
        </p:grpSp>
        <p:grpSp>
          <p:nvGrpSpPr>
            <p:cNvPr id="51" name="Group 51"/>
            <p:cNvGrpSpPr/>
            <p:nvPr/>
          </p:nvGrpSpPr>
          <p:grpSpPr>
            <a:xfrm>
              <a:off x="3405319" y="8832042"/>
              <a:ext cx="549311" cy="344096"/>
              <a:chOff x="0" y="0"/>
              <a:chExt cx="561318" cy="351617"/>
            </a:xfrm>
          </p:grpSpPr>
          <p:sp>
            <p:nvSpPr>
              <p:cNvPr id="52" name="Freeform 52"/>
              <p:cNvSpPr/>
              <p:nvPr/>
            </p:nvSpPr>
            <p:spPr>
              <a:xfrm>
                <a:off x="0" y="0"/>
                <a:ext cx="561318" cy="351617"/>
              </a:xfrm>
              <a:custGeom>
                <a:avLst/>
                <a:gdLst/>
                <a:ahLst/>
                <a:cxnLst/>
                <a:rect l="l" t="t" r="r" b="b"/>
                <a:pathLst>
                  <a:path w="561318" h="351617">
                    <a:moveTo>
                      <a:pt x="0" y="0"/>
                    </a:moveTo>
                    <a:lnTo>
                      <a:pt x="561318" y="0"/>
                    </a:lnTo>
                    <a:lnTo>
                      <a:pt x="561318" y="351617"/>
                    </a:lnTo>
                    <a:lnTo>
                      <a:pt x="0" y="351617"/>
                    </a:lnTo>
                    <a:close/>
                  </a:path>
                </a:pathLst>
              </a:custGeom>
              <a:blipFill>
                <a:blip r:embed="rId3">
                  <a:alphaModFix amt="0"/>
                </a:blip>
                <a:stretch>
                  <a:fillRect t="-817058" r="-3320951" b="-1211164"/>
                </a:stretch>
              </a:blipFill>
            </p:spPr>
            <p:txBody>
              <a:bodyPr/>
              <a:lstStyle/>
              <a:p>
                <a:endParaRPr lang="en-US"/>
              </a:p>
            </p:txBody>
          </p:sp>
          <p:sp>
            <p:nvSpPr>
              <p:cNvPr id="53" name="TextBox 53"/>
              <p:cNvSpPr txBox="1"/>
              <p:nvPr/>
            </p:nvSpPr>
            <p:spPr>
              <a:xfrm>
                <a:off x="0" y="9525"/>
                <a:ext cx="561318" cy="342092"/>
              </a:xfrm>
              <a:prstGeom prst="rect">
                <a:avLst/>
              </a:prstGeom>
            </p:spPr>
            <p:txBody>
              <a:bodyPr lIns="0" tIns="0" rIns="0" bIns="0" rtlCol="0" anchor="ctr"/>
              <a:lstStyle/>
              <a:p>
                <a:pPr algn="ctr">
                  <a:lnSpc>
                    <a:spcPts val="1066"/>
                  </a:lnSpc>
                </a:pPr>
                <a:r>
                  <a:rPr lang="en-US" sz="1000" b="1">
                    <a:solidFill>
                      <a:srgbClr val="FFFFFF"/>
                    </a:solidFill>
                    <a:latin typeface="Arial Bold"/>
                    <a:ea typeface="Arial Bold"/>
                    <a:cs typeface="Arial Bold"/>
                    <a:sym typeface="Arial Bold"/>
                  </a:rPr>
                  <a:t>ON</a:t>
                </a:r>
              </a:p>
            </p:txBody>
          </p:sp>
        </p:grpSp>
        <p:grpSp>
          <p:nvGrpSpPr>
            <p:cNvPr id="54" name="Group 54"/>
            <p:cNvGrpSpPr/>
            <p:nvPr/>
          </p:nvGrpSpPr>
          <p:grpSpPr>
            <a:xfrm>
              <a:off x="4400715" y="8721327"/>
              <a:ext cx="758388" cy="541190"/>
              <a:chOff x="0" y="0"/>
              <a:chExt cx="146109" cy="104264"/>
            </a:xfrm>
          </p:grpSpPr>
          <p:sp>
            <p:nvSpPr>
              <p:cNvPr id="55" name="Freeform 55"/>
              <p:cNvSpPr/>
              <p:nvPr/>
            </p:nvSpPr>
            <p:spPr>
              <a:xfrm>
                <a:off x="0" y="0"/>
                <a:ext cx="146109" cy="104264"/>
              </a:xfrm>
              <a:custGeom>
                <a:avLst/>
                <a:gdLst/>
                <a:ahLst/>
                <a:cxnLst/>
                <a:rect l="l" t="t" r="r" b="b"/>
                <a:pathLst>
                  <a:path w="146109" h="104264">
                    <a:moveTo>
                      <a:pt x="52132" y="0"/>
                    </a:moveTo>
                    <a:lnTo>
                      <a:pt x="93977" y="0"/>
                    </a:lnTo>
                    <a:cubicBezTo>
                      <a:pt x="107803" y="0"/>
                      <a:pt x="121063" y="5492"/>
                      <a:pt x="130840" y="15269"/>
                    </a:cubicBezTo>
                    <a:cubicBezTo>
                      <a:pt x="140617" y="25046"/>
                      <a:pt x="146109" y="38306"/>
                      <a:pt x="146109" y="52132"/>
                    </a:cubicBezTo>
                    <a:lnTo>
                      <a:pt x="146109" y="52132"/>
                    </a:lnTo>
                    <a:cubicBezTo>
                      <a:pt x="146109" y="65958"/>
                      <a:pt x="140617" y="79219"/>
                      <a:pt x="130840" y="88995"/>
                    </a:cubicBezTo>
                    <a:cubicBezTo>
                      <a:pt x="121063" y="98772"/>
                      <a:pt x="107803" y="104264"/>
                      <a:pt x="93977" y="104264"/>
                    </a:cubicBezTo>
                    <a:lnTo>
                      <a:pt x="52132" y="104264"/>
                    </a:lnTo>
                    <a:cubicBezTo>
                      <a:pt x="38306" y="104264"/>
                      <a:pt x="25046" y="98772"/>
                      <a:pt x="15269" y="88995"/>
                    </a:cubicBezTo>
                    <a:cubicBezTo>
                      <a:pt x="5492" y="79219"/>
                      <a:pt x="0" y="65958"/>
                      <a:pt x="0" y="52132"/>
                    </a:cubicBezTo>
                    <a:lnTo>
                      <a:pt x="0" y="52132"/>
                    </a:lnTo>
                    <a:cubicBezTo>
                      <a:pt x="0" y="38306"/>
                      <a:pt x="5492" y="25046"/>
                      <a:pt x="15269" y="15269"/>
                    </a:cubicBezTo>
                    <a:cubicBezTo>
                      <a:pt x="25046" y="5492"/>
                      <a:pt x="38306" y="0"/>
                      <a:pt x="52132" y="0"/>
                    </a:cubicBezTo>
                    <a:close/>
                  </a:path>
                </a:pathLst>
              </a:custGeom>
              <a:solidFill>
                <a:srgbClr val="232222"/>
              </a:solidFill>
            </p:spPr>
            <p:txBody>
              <a:bodyPr/>
              <a:lstStyle/>
              <a:p>
                <a:endParaRPr lang="en-US"/>
              </a:p>
            </p:txBody>
          </p:sp>
          <p:sp>
            <p:nvSpPr>
              <p:cNvPr id="56" name="TextBox 56"/>
              <p:cNvSpPr txBox="1"/>
              <p:nvPr/>
            </p:nvSpPr>
            <p:spPr>
              <a:xfrm>
                <a:off x="0" y="-47625"/>
                <a:ext cx="146109" cy="151889"/>
              </a:xfrm>
              <a:prstGeom prst="rect">
                <a:avLst/>
              </a:prstGeom>
            </p:spPr>
            <p:txBody>
              <a:bodyPr lIns="66274" tIns="66274" rIns="66274" bIns="66274" rtlCol="0" anchor="ctr"/>
              <a:lstStyle/>
              <a:p>
                <a:pPr algn="ctr">
                  <a:lnSpc>
                    <a:spcPts val="2339"/>
                  </a:lnSpc>
                </a:pPr>
                <a:endParaRPr/>
              </a:p>
            </p:txBody>
          </p:sp>
        </p:grpSp>
        <p:sp>
          <p:nvSpPr>
            <p:cNvPr id="57" name="Freeform 57"/>
            <p:cNvSpPr/>
            <p:nvPr/>
          </p:nvSpPr>
          <p:spPr>
            <a:xfrm>
              <a:off x="4615940" y="8832209"/>
              <a:ext cx="307458" cy="336020"/>
            </a:xfrm>
            <a:custGeom>
              <a:avLst/>
              <a:gdLst/>
              <a:ahLst/>
              <a:cxnLst/>
              <a:rect l="l" t="t" r="r" b="b"/>
              <a:pathLst>
                <a:path w="307458" h="336020">
                  <a:moveTo>
                    <a:pt x="0" y="0"/>
                  </a:moveTo>
                  <a:lnTo>
                    <a:pt x="307459" y="0"/>
                  </a:lnTo>
                  <a:lnTo>
                    <a:pt x="307459" y="336020"/>
                  </a:lnTo>
                  <a:lnTo>
                    <a:pt x="0" y="336020"/>
                  </a:lnTo>
                  <a:lnTo>
                    <a:pt x="0" y="0"/>
                  </a:lnTo>
                  <a:close/>
                </a:path>
              </a:pathLst>
            </a:custGeom>
            <a:blipFill>
              <a:blip>
                <a:extLst>
                  <a:ext uri="{96DAC541-7B7A-43D3-8B79-37D633B846F1}">
                    <asvg:svgBlip xmlns:asvg="http://schemas.microsoft.com/office/drawing/2016/SVG/main" r:embed="rId8"/>
                  </a:ext>
                </a:extLst>
              </a:blip>
              <a:stretch>
                <a:fillRect/>
              </a:stretch>
            </a:blipFill>
          </p:spPr>
          <p:txBody>
            <a:bodyPr/>
            <a:lstStyle/>
            <a:p>
              <a:endParaRPr lang="en-US"/>
            </a:p>
          </p:txBody>
        </p:sp>
        <p:grpSp>
          <p:nvGrpSpPr>
            <p:cNvPr id="58" name="Group 58"/>
            <p:cNvGrpSpPr/>
            <p:nvPr/>
          </p:nvGrpSpPr>
          <p:grpSpPr>
            <a:xfrm>
              <a:off x="385258" y="1409823"/>
              <a:ext cx="876439" cy="876439"/>
              <a:chOff x="0" y="0"/>
              <a:chExt cx="812800" cy="812800"/>
            </a:xfrm>
          </p:grpSpPr>
          <p:sp>
            <p:nvSpPr>
              <p:cNvPr id="59" name="Freeform 59"/>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B2B2B"/>
              </a:solidFill>
            </p:spPr>
            <p:txBody>
              <a:bodyPr/>
              <a:lstStyle/>
              <a:p>
                <a:endParaRPr lang="en-US"/>
              </a:p>
            </p:txBody>
          </p:sp>
          <p:sp>
            <p:nvSpPr>
              <p:cNvPr id="60" name="TextBox 60"/>
              <p:cNvSpPr txBox="1"/>
              <p:nvPr/>
            </p:nvSpPr>
            <p:spPr>
              <a:xfrm>
                <a:off x="76200" y="28575"/>
                <a:ext cx="660400" cy="708025"/>
              </a:xfrm>
              <a:prstGeom prst="rect">
                <a:avLst/>
              </a:prstGeom>
            </p:spPr>
            <p:txBody>
              <a:bodyPr lIns="46112" tIns="46112" rIns="46112" bIns="46112" rtlCol="0" anchor="ctr"/>
              <a:lstStyle/>
              <a:p>
                <a:pPr algn="ctr">
                  <a:lnSpc>
                    <a:spcPts val="2340"/>
                  </a:lnSpc>
                </a:pPr>
                <a:endParaRPr/>
              </a:p>
            </p:txBody>
          </p:sp>
        </p:grpSp>
        <p:sp>
          <p:nvSpPr>
            <p:cNvPr id="61" name="Freeform 61"/>
            <p:cNvSpPr/>
            <p:nvPr/>
          </p:nvSpPr>
          <p:spPr>
            <a:xfrm rot="-10800000">
              <a:off x="559496" y="1714077"/>
              <a:ext cx="527963" cy="277181"/>
            </a:xfrm>
            <a:custGeom>
              <a:avLst/>
              <a:gdLst/>
              <a:ahLst/>
              <a:cxnLst/>
              <a:rect l="l" t="t" r="r" b="b"/>
              <a:pathLst>
                <a:path w="527963" h="277181">
                  <a:moveTo>
                    <a:pt x="0" y="0"/>
                  </a:moveTo>
                  <a:lnTo>
                    <a:pt x="527963" y="0"/>
                  </a:lnTo>
                  <a:lnTo>
                    <a:pt x="527963" y="277180"/>
                  </a:lnTo>
                  <a:lnTo>
                    <a:pt x="0" y="277180"/>
                  </a:lnTo>
                  <a:lnTo>
                    <a:pt x="0" y="0"/>
                  </a:lnTo>
                  <a:close/>
                </a:path>
              </a:pathLst>
            </a:custGeom>
            <a:blipFill>
              <a:blip>
                <a:extLst>
                  <a:ext uri="{96DAC541-7B7A-43D3-8B79-37D633B846F1}">
                    <asvg:svgBlip xmlns:asvg="http://schemas.microsoft.com/office/drawing/2016/SVG/main" r:embed="rId9"/>
                  </a:ext>
                </a:extLst>
              </a:blip>
              <a:stretch>
                <a:fillRect/>
              </a:stretch>
            </a:blipFill>
          </p:spPr>
          <p:txBody>
            <a:bodyPr/>
            <a:lstStyle/>
            <a:p>
              <a:endParaRPr lang="en-US"/>
            </a:p>
          </p:txBody>
        </p:sp>
        <p:sp>
          <p:nvSpPr>
            <p:cNvPr id="62" name="TextBox 62"/>
            <p:cNvSpPr txBox="1"/>
            <p:nvPr/>
          </p:nvSpPr>
          <p:spPr>
            <a:xfrm>
              <a:off x="411360" y="2760216"/>
              <a:ext cx="2033739" cy="273579"/>
            </a:xfrm>
            <a:prstGeom prst="rect">
              <a:avLst/>
            </a:prstGeom>
          </p:spPr>
          <p:txBody>
            <a:bodyPr wrap="square" lIns="0" tIns="0" rIns="0" bIns="0" rtlCol="0" anchor="t">
              <a:spAutoFit/>
            </a:bodyPr>
            <a:lstStyle/>
            <a:p>
              <a:pPr algn="ctr">
                <a:lnSpc>
                  <a:spcPts val="1647"/>
                </a:lnSpc>
                <a:spcBef>
                  <a:spcPct val="0"/>
                </a:spcBef>
              </a:pPr>
              <a:r>
                <a:rPr lang="en-US" sz="1373" dirty="0">
                  <a:solidFill>
                    <a:srgbClr val="FFFFFF"/>
                  </a:solidFill>
                  <a:latin typeface="Calibri (MS)"/>
                  <a:ea typeface="Calibri (MS)"/>
                  <a:cs typeface="Calibri (MS)"/>
                  <a:sym typeface="Calibri (MS)"/>
                </a:rPr>
                <a:t>Add a caption...</a:t>
              </a:r>
            </a:p>
          </p:txBody>
        </p:sp>
      </p:grpSp>
      <p:grpSp>
        <p:nvGrpSpPr>
          <p:cNvPr id="63" name="Group 63"/>
          <p:cNvGrpSpPr/>
          <p:nvPr/>
        </p:nvGrpSpPr>
        <p:grpSpPr>
          <a:xfrm>
            <a:off x="8062988" y="542065"/>
            <a:ext cx="4458581" cy="8777502"/>
            <a:chOff x="0" y="-83693"/>
            <a:chExt cx="5944774" cy="11703335"/>
          </a:xfrm>
        </p:grpSpPr>
        <p:grpSp>
          <p:nvGrpSpPr>
            <p:cNvPr id="64" name="Group 64"/>
            <p:cNvGrpSpPr>
              <a:grpSpLocks noChangeAspect="1"/>
            </p:cNvGrpSpPr>
            <p:nvPr/>
          </p:nvGrpSpPr>
          <p:grpSpPr>
            <a:xfrm>
              <a:off x="0" y="0"/>
              <a:ext cx="5944774" cy="11619642"/>
              <a:chOff x="0" y="0"/>
              <a:chExt cx="2651630" cy="5182870"/>
            </a:xfrm>
          </p:grpSpPr>
          <p:sp>
            <p:nvSpPr>
              <p:cNvPr id="65" name="Freeform 65"/>
              <p:cNvSpPr/>
              <p:nvPr/>
            </p:nvSpPr>
            <p:spPr>
              <a:xfrm>
                <a:off x="53340" y="25400"/>
                <a:ext cx="2513330" cy="5132070"/>
              </a:xfrm>
              <a:custGeom>
                <a:avLst/>
                <a:gdLst/>
                <a:ahLst/>
                <a:cxnLst/>
                <a:rect l="l" t="t" r="r" b="b"/>
                <a:pathLst>
                  <a:path w="2513330" h="5132070">
                    <a:moveTo>
                      <a:pt x="2159000" y="0"/>
                    </a:moveTo>
                    <a:lnTo>
                      <a:pt x="354330" y="0"/>
                    </a:lnTo>
                    <a:cubicBezTo>
                      <a:pt x="158750" y="0"/>
                      <a:pt x="0" y="158750"/>
                      <a:pt x="0" y="354330"/>
                    </a:cubicBezTo>
                    <a:lnTo>
                      <a:pt x="0" y="4777740"/>
                    </a:lnTo>
                    <a:cubicBezTo>
                      <a:pt x="0" y="4973320"/>
                      <a:pt x="158750" y="5132070"/>
                      <a:pt x="354330" y="5132070"/>
                    </a:cubicBezTo>
                    <a:lnTo>
                      <a:pt x="2159000" y="5132070"/>
                    </a:lnTo>
                    <a:cubicBezTo>
                      <a:pt x="2354580" y="5132070"/>
                      <a:pt x="2513330" y="4973320"/>
                      <a:pt x="2513330" y="4777740"/>
                    </a:cubicBezTo>
                    <a:lnTo>
                      <a:pt x="2513330" y="354330"/>
                    </a:lnTo>
                    <a:cubicBezTo>
                      <a:pt x="2513330" y="158750"/>
                      <a:pt x="2354580" y="0"/>
                      <a:pt x="2159000" y="0"/>
                    </a:cubicBezTo>
                    <a:close/>
                    <a:moveTo>
                      <a:pt x="1558290" y="162560"/>
                    </a:moveTo>
                    <a:cubicBezTo>
                      <a:pt x="1576070" y="162560"/>
                      <a:pt x="1590040" y="176530"/>
                      <a:pt x="1590040" y="194310"/>
                    </a:cubicBezTo>
                    <a:cubicBezTo>
                      <a:pt x="1590040" y="212090"/>
                      <a:pt x="1576070" y="226060"/>
                      <a:pt x="1558290" y="226060"/>
                    </a:cubicBezTo>
                    <a:cubicBezTo>
                      <a:pt x="1540510" y="226060"/>
                      <a:pt x="1526540" y="212090"/>
                      <a:pt x="1526540" y="194310"/>
                    </a:cubicBezTo>
                    <a:cubicBezTo>
                      <a:pt x="1526540" y="176530"/>
                      <a:pt x="1541780" y="162560"/>
                      <a:pt x="1558290" y="162560"/>
                    </a:cubicBezTo>
                    <a:close/>
                    <a:moveTo>
                      <a:pt x="1089660" y="172720"/>
                    </a:moveTo>
                    <a:lnTo>
                      <a:pt x="1394460" y="172720"/>
                    </a:lnTo>
                    <a:cubicBezTo>
                      <a:pt x="1405890" y="172720"/>
                      <a:pt x="1416050" y="181610"/>
                      <a:pt x="1416050" y="194310"/>
                    </a:cubicBezTo>
                    <a:cubicBezTo>
                      <a:pt x="1416050" y="207010"/>
                      <a:pt x="1405890" y="215900"/>
                      <a:pt x="1394460" y="215900"/>
                    </a:cubicBezTo>
                    <a:lnTo>
                      <a:pt x="1089660" y="215900"/>
                    </a:lnTo>
                    <a:cubicBezTo>
                      <a:pt x="1078230" y="215900"/>
                      <a:pt x="1068070" y="207010"/>
                      <a:pt x="1068070" y="194310"/>
                    </a:cubicBezTo>
                    <a:cubicBezTo>
                      <a:pt x="1068070" y="181610"/>
                      <a:pt x="1078230" y="172720"/>
                      <a:pt x="1089660" y="172720"/>
                    </a:cubicBezTo>
                    <a:close/>
                    <a:moveTo>
                      <a:pt x="2383790" y="4798060"/>
                    </a:moveTo>
                    <a:cubicBezTo>
                      <a:pt x="2383790" y="4913630"/>
                      <a:pt x="2289810" y="5007610"/>
                      <a:pt x="2174240" y="5007610"/>
                    </a:cubicBezTo>
                    <a:lnTo>
                      <a:pt x="341630" y="5007610"/>
                    </a:lnTo>
                    <a:cubicBezTo>
                      <a:pt x="226060" y="5007610"/>
                      <a:pt x="132080" y="4913630"/>
                      <a:pt x="132080" y="4798060"/>
                    </a:cubicBezTo>
                    <a:lnTo>
                      <a:pt x="132080" y="340360"/>
                    </a:lnTo>
                    <a:cubicBezTo>
                      <a:pt x="132080" y="224790"/>
                      <a:pt x="226060" y="130810"/>
                      <a:pt x="341630" y="130810"/>
                    </a:cubicBezTo>
                    <a:lnTo>
                      <a:pt x="614680" y="130810"/>
                    </a:lnTo>
                    <a:lnTo>
                      <a:pt x="614680" y="187960"/>
                    </a:lnTo>
                    <a:cubicBezTo>
                      <a:pt x="614680" y="252730"/>
                      <a:pt x="668020" y="306070"/>
                      <a:pt x="732790" y="306070"/>
                    </a:cubicBezTo>
                    <a:lnTo>
                      <a:pt x="1783080" y="306070"/>
                    </a:lnTo>
                    <a:cubicBezTo>
                      <a:pt x="1847850" y="306070"/>
                      <a:pt x="1901190" y="252730"/>
                      <a:pt x="1901190" y="187960"/>
                    </a:cubicBezTo>
                    <a:lnTo>
                      <a:pt x="1901190" y="130810"/>
                    </a:lnTo>
                    <a:lnTo>
                      <a:pt x="2172970" y="130810"/>
                    </a:lnTo>
                    <a:cubicBezTo>
                      <a:pt x="2288540" y="130810"/>
                      <a:pt x="2382520" y="224790"/>
                      <a:pt x="2382520" y="340360"/>
                    </a:cubicBezTo>
                    <a:lnTo>
                      <a:pt x="2382520" y="4798060"/>
                    </a:lnTo>
                    <a:close/>
                  </a:path>
                </a:pathLst>
              </a:custGeom>
              <a:solidFill>
                <a:srgbClr val="000000"/>
              </a:solidFill>
            </p:spPr>
            <p:txBody>
              <a:bodyPr/>
              <a:lstStyle/>
              <a:p>
                <a:endParaRPr lang="en-US"/>
              </a:p>
            </p:txBody>
          </p:sp>
          <p:sp>
            <p:nvSpPr>
              <p:cNvPr id="66" name="Freeform 66"/>
              <p:cNvSpPr/>
              <p:nvPr/>
            </p:nvSpPr>
            <p:spPr>
              <a:xfrm>
                <a:off x="185420" y="156210"/>
                <a:ext cx="2250453" cy="4876800"/>
              </a:xfrm>
              <a:custGeom>
                <a:avLst/>
                <a:gdLst/>
                <a:ahLst/>
                <a:cxnLst/>
                <a:rect l="l" t="t" r="r" b="b"/>
                <a:pathLst>
                  <a:path w="2250453" h="4876800">
                    <a:moveTo>
                      <a:pt x="2040890" y="0"/>
                    </a:moveTo>
                    <a:lnTo>
                      <a:pt x="1769110" y="0"/>
                    </a:lnTo>
                    <a:lnTo>
                      <a:pt x="1769110" y="57150"/>
                    </a:lnTo>
                    <a:cubicBezTo>
                      <a:pt x="1769110" y="121920"/>
                      <a:pt x="1715770" y="175260"/>
                      <a:pt x="1651000" y="175260"/>
                    </a:cubicBezTo>
                    <a:lnTo>
                      <a:pt x="601980" y="175260"/>
                    </a:lnTo>
                    <a:cubicBezTo>
                      <a:pt x="537210" y="175260"/>
                      <a:pt x="483870" y="121920"/>
                      <a:pt x="483870" y="57150"/>
                    </a:cubicBezTo>
                    <a:lnTo>
                      <a:pt x="483870" y="0"/>
                    </a:lnTo>
                    <a:lnTo>
                      <a:pt x="209550" y="0"/>
                    </a:lnTo>
                    <a:cubicBezTo>
                      <a:pt x="93980" y="0"/>
                      <a:pt x="0" y="93980"/>
                      <a:pt x="0" y="209550"/>
                    </a:cubicBezTo>
                    <a:lnTo>
                      <a:pt x="0" y="4667250"/>
                    </a:lnTo>
                    <a:cubicBezTo>
                      <a:pt x="0" y="4782820"/>
                      <a:pt x="93980" y="4876800"/>
                      <a:pt x="209550" y="4876800"/>
                    </a:cubicBezTo>
                    <a:lnTo>
                      <a:pt x="2040890" y="4876800"/>
                    </a:lnTo>
                    <a:cubicBezTo>
                      <a:pt x="2156460" y="4876800"/>
                      <a:pt x="2250440" y="4782820"/>
                      <a:pt x="2250440" y="4667250"/>
                    </a:cubicBezTo>
                    <a:lnTo>
                      <a:pt x="2250440" y="209550"/>
                    </a:lnTo>
                    <a:cubicBezTo>
                      <a:pt x="2251710" y="93980"/>
                      <a:pt x="2157730" y="0"/>
                      <a:pt x="2040890" y="0"/>
                    </a:cubicBezTo>
                    <a:close/>
                  </a:path>
                </a:pathLst>
              </a:custGeom>
              <a:blipFill>
                <a:blip r:embed="rId3"/>
                <a:stretch>
                  <a:fillRect l="-245588" t="-3203" r="-245531" b="-3098"/>
                </a:stretch>
              </a:blipFill>
            </p:spPr>
            <p:txBody>
              <a:bodyPr/>
              <a:lstStyle/>
              <a:p>
                <a:endParaRPr lang="en-US"/>
              </a:p>
            </p:txBody>
          </p:sp>
          <p:sp>
            <p:nvSpPr>
              <p:cNvPr id="67" name="Freeform 67"/>
              <p:cNvSpPr/>
              <p:nvPr/>
            </p:nvSpPr>
            <p:spPr>
              <a:xfrm>
                <a:off x="1121410" y="198120"/>
                <a:ext cx="347980" cy="43180"/>
              </a:xfrm>
              <a:custGeom>
                <a:avLst/>
                <a:gdLst/>
                <a:ahLst/>
                <a:cxnLst/>
                <a:rect l="l" t="t" r="r" b="b"/>
                <a:pathLst>
                  <a:path w="347980" h="43180">
                    <a:moveTo>
                      <a:pt x="326390" y="0"/>
                    </a:moveTo>
                    <a:lnTo>
                      <a:pt x="21590" y="0"/>
                    </a:lnTo>
                    <a:cubicBezTo>
                      <a:pt x="10160" y="0"/>
                      <a:pt x="0" y="8890"/>
                      <a:pt x="0" y="21590"/>
                    </a:cubicBezTo>
                    <a:cubicBezTo>
                      <a:pt x="0" y="34290"/>
                      <a:pt x="10160" y="43180"/>
                      <a:pt x="21590" y="43180"/>
                    </a:cubicBezTo>
                    <a:lnTo>
                      <a:pt x="326390" y="43180"/>
                    </a:lnTo>
                    <a:cubicBezTo>
                      <a:pt x="337820" y="43180"/>
                      <a:pt x="347980" y="34290"/>
                      <a:pt x="347980" y="21590"/>
                    </a:cubicBezTo>
                    <a:cubicBezTo>
                      <a:pt x="347980" y="8890"/>
                      <a:pt x="337820" y="0"/>
                      <a:pt x="326390" y="0"/>
                    </a:cubicBezTo>
                    <a:close/>
                  </a:path>
                </a:pathLst>
              </a:custGeom>
              <a:solidFill>
                <a:srgbClr val="606060"/>
              </a:solidFill>
            </p:spPr>
            <p:txBody>
              <a:bodyPr/>
              <a:lstStyle/>
              <a:p>
                <a:endParaRPr lang="en-US"/>
              </a:p>
            </p:txBody>
          </p:sp>
          <p:sp>
            <p:nvSpPr>
              <p:cNvPr id="68" name="Freeform 68"/>
              <p:cNvSpPr/>
              <p:nvPr/>
            </p:nvSpPr>
            <p:spPr>
              <a:xfrm>
                <a:off x="1579738" y="187960"/>
                <a:ext cx="63785" cy="63501"/>
              </a:xfrm>
              <a:custGeom>
                <a:avLst/>
                <a:gdLst/>
                <a:ahLst/>
                <a:cxnLst/>
                <a:rect l="l" t="t" r="r" b="b"/>
                <a:pathLst>
                  <a:path w="63785" h="63501">
                    <a:moveTo>
                      <a:pt x="31892" y="0"/>
                    </a:moveTo>
                    <a:cubicBezTo>
                      <a:pt x="20515" y="-51"/>
                      <a:pt x="9980" y="5989"/>
                      <a:pt x="4277" y="15834"/>
                    </a:cubicBezTo>
                    <a:cubicBezTo>
                      <a:pt x="-1426" y="25678"/>
                      <a:pt x="-1426" y="37822"/>
                      <a:pt x="4277" y="47666"/>
                    </a:cubicBezTo>
                    <a:cubicBezTo>
                      <a:pt x="9980" y="57511"/>
                      <a:pt x="20515" y="63551"/>
                      <a:pt x="31892" y="63500"/>
                    </a:cubicBezTo>
                    <a:cubicBezTo>
                      <a:pt x="43269" y="63551"/>
                      <a:pt x="53804" y="57511"/>
                      <a:pt x="59507" y="47666"/>
                    </a:cubicBezTo>
                    <a:cubicBezTo>
                      <a:pt x="65210" y="37822"/>
                      <a:pt x="65210" y="25678"/>
                      <a:pt x="59507" y="15834"/>
                    </a:cubicBezTo>
                    <a:cubicBezTo>
                      <a:pt x="53804" y="5989"/>
                      <a:pt x="43269" y="-51"/>
                      <a:pt x="31892" y="0"/>
                    </a:cubicBezTo>
                    <a:close/>
                  </a:path>
                </a:pathLst>
              </a:custGeom>
              <a:solidFill>
                <a:srgbClr val="606060"/>
              </a:solidFill>
            </p:spPr>
            <p:txBody>
              <a:bodyPr/>
              <a:lstStyle/>
              <a:p>
                <a:endParaRPr lang="en-US"/>
              </a:p>
            </p:txBody>
          </p:sp>
          <p:sp>
            <p:nvSpPr>
              <p:cNvPr id="69" name="Freeform 69"/>
              <p:cNvSpPr/>
              <p:nvPr/>
            </p:nvSpPr>
            <p:spPr>
              <a:xfrm>
                <a:off x="0" y="685800"/>
                <a:ext cx="27940" cy="213360"/>
              </a:xfrm>
              <a:custGeom>
                <a:avLst/>
                <a:gdLst/>
                <a:ahLst/>
                <a:cxnLst/>
                <a:rect l="l" t="t" r="r" b="b"/>
                <a:pathLst>
                  <a:path w="27940" h="213360">
                    <a:moveTo>
                      <a:pt x="0" y="26670"/>
                    </a:moveTo>
                    <a:lnTo>
                      <a:pt x="0" y="185420"/>
                    </a:lnTo>
                    <a:cubicBezTo>
                      <a:pt x="0" y="200660"/>
                      <a:pt x="12700" y="213360"/>
                      <a:pt x="27940" y="213360"/>
                    </a:cubicBezTo>
                    <a:lnTo>
                      <a:pt x="27940" y="0"/>
                    </a:lnTo>
                    <a:cubicBezTo>
                      <a:pt x="12700" y="0"/>
                      <a:pt x="0" y="11430"/>
                      <a:pt x="0" y="26670"/>
                    </a:cubicBezTo>
                    <a:close/>
                  </a:path>
                </a:pathLst>
              </a:custGeom>
              <a:solidFill>
                <a:srgbClr val="B8B8B8"/>
              </a:solidFill>
            </p:spPr>
            <p:txBody>
              <a:bodyPr/>
              <a:lstStyle/>
              <a:p>
                <a:endParaRPr lang="en-US"/>
              </a:p>
            </p:txBody>
          </p:sp>
          <p:sp>
            <p:nvSpPr>
              <p:cNvPr id="70" name="Freeform 70"/>
              <p:cNvSpPr/>
              <p:nvPr/>
            </p:nvSpPr>
            <p:spPr>
              <a:xfrm>
                <a:off x="0" y="1057910"/>
                <a:ext cx="27940" cy="384810"/>
              </a:xfrm>
              <a:custGeom>
                <a:avLst/>
                <a:gdLst/>
                <a:ahLst/>
                <a:cxnLst/>
                <a:rect l="l" t="t" r="r" b="b"/>
                <a:pathLst>
                  <a:path w="27940" h="384810">
                    <a:moveTo>
                      <a:pt x="0" y="26670"/>
                    </a:moveTo>
                    <a:lnTo>
                      <a:pt x="0" y="356870"/>
                    </a:lnTo>
                    <a:cubicBezTo>
                      <a:pt x="0" y="372110"/>
                      <a:pt x="12700" y="384810"/>
                      <a:pt x="27940" y="384810"/>
                    </a:cubicBezTo>
                    <a:lnTo>
                      <a:pt x="27940" y="0"/>
                    </a:lnTo>
                    <a:cubicBezTo>
                      <a:pt x="12700" y="0"/>
                      <a:pt x="0" y="11430"/>
                      <a:pt x="0" y="26670"/>
                    </a:cubicBezTo>
                    <a:close/>
                  </a:path>
                </a:pathLst>
              </a:custGeom>
              <a:solidFill>
                <a:srgbClr val="B8B8B8"/>
              </a:solidFill>
            </p:spPr>
            <p:txBody>
              <a:bodyPr/>
              <a:lstStyle/>
              <a:p>
                <a:endParaRPr lang="en-US"/>
              </a:p>
            </p:txBody>
          </p:sp>
          <p:sp>
            <p:nvSpPr>
              <p:cNvPr id="71" name="Freeform 71"/>
              <p:cNvSpPr/>
              <p:nvPr/>
            </p:nvSpPr>
            <p:spPr>
              <a:xfrm>
                <a:off x="0" y="1526540"/>
                <a:ext cx="27940" cy="386080"/>
              </a:xfrm>
              <a:custGeom>
                <a:avLst/>
                <a:gdLst/>
                <a:ahLst/>
                <a:cxnLst/>
                <a:rect l="l" t="t" r="r" b="b"/>
                <a:pathLst>
                  <a:path w="27940" h="386080">
                    <a:moveTo>
                      <a:pt x="0" y="27940"/>
                    </a:moveTo>
                    <a:lnTo>
                      <a:pt x="0" y="358140"/>
                    </a:lnTo>
                    <a:cubicBezTo>
                      <a:pt x="0" y="373380"/>
                      <a:pt x="12700" y="386080"/>
                      <a:pt x="27940" y="386080"/>
                    </a:cubicBezTo>
                    <a:lnTo>
                      <a:pt x="27940" y="0"/>
                    </a:lnTo>
                    <a:cubicBezTo>
                      <a:pt x="12700" y="0"/>
                      <a:pt x="0" y="12700"/>
                      <a:pt x="0" y="27940"/>
                    </a:cubicBezTo>
                    <a:close/>
                  </a:path>
                </a:pathLst>
              </a:custGeom>
              <a:solidFill>
                <a:srgbClr val="B8B8B8"/>
              </a:solidFill>
            </p:spPr>
            <p:txBody>
              <a:bodyPr/>
              <a:lstStyle/>
              <a:p>
                <a:endParaRPr lang="en-US"/>
              </a:p>
            </p:txBody>
          </p:sp>
          <p:sp>
            <p:nvSpPr>
              <p:cNvPr id="72" name="Freeform 72"/>
              <p:cNvSpPr/>
              <p:nvPr/>
            </p:nvSpPr>
            <p:spPr>
              <a:xfrm>
                <a:off x="2592070" y="1184910"/>
                <a:ext cx="27940" cy="618490"/>
              </a:xfrm>
              <a:custGeom>
                <a:avLst/>
                <a:gdLst/>
                <a:ahLst/>
                <a:cxnLst/>
                <a:rect l="l" t="t" r="r" b="b"/>
                <a:pathLst>
                  <a:path w="27940" h="618490">
                    <a:moveTo>
                      <a:pt x="0" y="0"/>
                    </a:moveTo>
                    <a:lnTo>
                      <a:pt x="0" y="618490"/>
                    </a:lnTo>
                    <a:cubicBezTo>
                      <a:pt x="15240" y="618490"/>
                      <a:pt x="27940" y="605790"/>
                      <a:pt x="27940" y="590550"/>
                    </a:cubicBezTo>
                    <a:lnTo>
                      <a:pt x="27940" y="27940"/>
                    </a:lnTo>
                    <a:cubicBezTo>
                      <a:pt x="27940" y="12700"/>
                      <a:pt x="15240" y="0"/>
                      <a:pt x="0" y="0"/>
                    </a:cubicBezTo>
                    <a:close/>
                  </a:path>
                </a:pathLst>
              </a:custGeom>
              <a:solidFill>
                <a:srgbClr val="B8B8B8"/>
              </a:solidFill>
            </p:spPr>
            <p:txBody>
              <a:bodyPr/>
              <a:lstStyle/>
              <a:p>
                <a:endParaRPr lang="en-US"/>
              </a:p>
            </p:txBody>
          </p:sp>
          <p:sp>
            <p:nvSpPr>
              <p:cNvPr id="73" name="Freeform 73"/>
              <p:cNvSpPr/>
              <p:nvPr/>
            </p:nvSpPr>
            <p:spPr>
              <a:xfrm>
                <a:off x="27940" y="0"/>
                <a:ext cx="2623690" cy="5182870"/>
              </a:xfrm>
              <a:custGeom>
                <a:avLst/>
                <a:gdLst/>
                <a:ahLst/>
                <a:cxnLst/>
                <a:rect l="l" t="t" r="r" b="b"/>
                <a:pathLst>
                  <a:path w="2564130" h="5182870">
                    <a:moveTo>
                      <a:pt x="2564130" y="1184910"/>
                    </a:moveTo>
                    <a:lnTo>
                      <a:pt x="2564130" y="379730"/>
                    </a:lnTo>
                    <a:cubicBezTo>
                      <a:pt x="2564130" y="353060"/>
                      <a:pt x="2561590" y="327660"/>
                      <a:pt x="2556510" y="303530"/>
                    </a:cubicBezTo>
                    <a:cubicBezTo>
                      <a:pt x="2553970" y="290830"/>
                      <a:pt x="2551430" y="279400"/>
                      <a:pt x="2547620" y="266700"/>
                    </a:cubicBezTo>
                    <a:cubicBezTo>
                      <a:pt x="2542540" y="248920"/>
                      <a:pt x="2534920" y="231140"/>
                      <a:pt x="2527300" y="214630"/>
                    </a:cubicBezTo>
                    <a:cubicBezTo>
                      <a:pt x="2522220" y="203200"/>
                      <a:pt x="2515870" y="193040"/>
                      <a:pt x="2509520" y="182880"/>
                    </a:cubicBezTo>
                    <a:cubicBezTo>
                      <a:pt x="2503170" y="172720"/>
                      <a:pt x="2496820" y="162560"/>
                      <a:pt x="2489200" y="152400"/>
                    </a:cubicBezTo>
                    <a:cubicBezTo>
                      <a:pt x="2477770" y="137160"/>
                      <a:pt x="2466340" y="124460"/>
                      <a:pt x="2453640" y="110490"/>
                    </a:cubicBezTo>
                    <a:cubicBezTo>
                      <a:pt x="2444750" y="101600"/>
                      <a:pt x="2435860" y="93980"/>
                      <a:pt x="2426970" y="86360"/>
                    </a:cubicBezTo>
                    <a:cubicBezTo>
                      <a:pt x="2360930" y="31750"/>
                      <a:pt x="2277110" y="0"/>
                      <a:pt x="2185670" y="0"/>
                    </a:cubicBezTo>
                    <a:lnTo>
                      <a:pt x="379730" y="0"/>
                    </a:lnTo>
                    <a:cubicBezTo>
                      <a:pt x="288290" y="0"/>
                      <a:pt x="203200" y="33020"/>
                      <a:pt x="138430" y="86360"/>
                    </a:cubicBezTo>
                    <a:cubicBezTo>
                      <a:pt x="129540" y="93980"/>
                      <a:pt x="120650" y="102870"/>
                      <a:pt x="111760" y="110490"/>
                    </a:cubicBezTo>
                    <a:cubicBezTo>
                      <a:pt x="99060" y="123190"/>
                      <a:pt x="86360" y="137160"/>
                      <a:pt x="76200" y="152400"/>
                    </a:cubicBezTo>
                    <a:cubicBezTo>
                      <a:pt x="68580" y="162560"/>
                      <a:pt x="62230" y="172720"/>
                      <a:pt x="55880" y="182880"/>
                    </a:cubicBezTo>
                    <a:cubicBezTo>
                      <a:pt x="49530" y="193040"/>
                      <a:pt x="43180" y="204470"/>
                      <a:pt x="38100" y="214630"/>
                    </a:cubicBezTo>
                    <a:cubicBezTo>
                      <a:pt x="29210" y="232410"/>
                      <a:pt x="22860" y="248920"/>
                      <a:pt x="16510" y="266700"/>
                    </a:cubicBezTo>
                    <a:cubicBezTo>
                      <a:pt x="12700" y="279400"/>
                      <a:pt x="10160" y="290830"/>
                      <a:pt x="7620" y="303530"/>
                    </a:cubicBezTo>
                    <a:cubicBezTo>
                      <a:pt x="2540" y="327660"/>
                      <a:pt x="0" y="354330"/>
                      <a:pt x="0" y="379730"/>
                    </a:cubicBezTo>
                    <a:lnTo>
                      <a:pt x="0" y="4803140"/>
                    </a:lnTo>
                    <a:cubicBezTo>
                      <a:pt x="0" y="5012690"/>
                      <a:pt x="170180" y="5182870"/>
                      <a:pt x="379730" y="5182870"/>
                    </a:cubicBezTo>
                    <a:lnTo>
                      <a:pt x="2184400" y="5182870"/>
                    </a:lnTo>
                    <a:cubicBezTo>
                      <a:pt x="2393950" y="5182870"/>
                      <a:pt x="2564130" y="5012690"/>
                      <a:pt x="2564130" y="4803140"/>
                    </a:cubicBezTo>
                    <a:lnTo>
                      <a:pt x="2564130" y="1184910"/>
                    </a:lnTo>
                    <a:close/>
                    <a:moveTo>
                      <a:pt x="2538730" y="1184910"/>
                    </a:moveTo>
                    <a:lnTo>
                      <a:pt x="2538730" y="4804410"/>
                    </a:lnTo>
                    <a:cubicBezTo>
                      <a:pt x="2538730" y="4999990"/>
                      <a:pt x="2379980" y="5158740"/>
                      <a:pt x="2184400" y="5158740"/>
                    </a:cubicBezTo>
                    <a:lnTo>
                      <a:pt x="379730" y="5158740"/>
                    </a:lnTo>
                    <a:cubicBezTo>
                      <a:pt x="184150" y="5158740"/>
                      <a:pt x="25400" y="4999990"/>
                      <a:pt x="25400" y="4804410"/>
                    </a:cubicBezTo>
                    <a:lnTo>
                      <a:pt x="25400" y="381000"/>
                    </a:lnTo>
                    <a:cubicBezTo>
                      <a:pt x="25400" y="184150"/>
                      <a:pt x="184150" y="25400"/>
                      <a:pt x="379730" y="25400"/>
                    </a:cubicBezTo>
                    <a:lnTo>
                      <a:pt x="2184400" y="25400"/>
                    </a:lnTo>
                    <a:cubicBezTo>
                      <a:pt x="2379980" y="25400"/>
                      <a:pt x="2538730" y="184150"/>
                      <a:pt x="2538730" y="379730"/>
                    </a:cubicBezTo>
                    <a:lnTo>
                      <a:pt x="2538730" y="1184910"/>
                    </a:lnTo>
                    <a:close/>
                  </a:path>
                </a:pathLst>
              </a:custGeom>
              <a:solidFill>
                <a:srgbClr val="E9E9E9"/>
              </a:solidFill>
            </p:spPr>
            <p:txBody>
              <a:bodyPr/>
              <a:lstStyle/>
              <a:p>
                <a:endParaRPr lang="en-US"/>
              </a:p>
            </p:txBody>
          </p:sp>
        </p:grpSp>
        <p:grpSp>
          <p:nvGrpSpPr>
            <p:cNvPr id="74" name="Group 74"/>
            <p:cNvGrpSpPr/>
            <p:nvPr/>
          </p:nvGrpSpPr>
          <p:grpSpPr>
            <a:xfrm>
              <a:off x="139157" y="-83693"/>
              <a:ext cx="5718424" cy="11481174"/>
              <a:chOff x="0" y="-47625"/>
              <a:chExt cx="1072365" cy="2153042"/>
            </a:xfrm>
          </p:grpSpPr>
          <p:sp>
            <p:nvSpPr>
              <p:cNvPr id="75" name="Freeform 75"/>
              <p:cNvSpPr/>
              <p:nvPr/>
            </p:nvSpPr>
            <p:spPr>
              <a:xfrm>
                <a:off x="0" y="0"/>
                <a:ext cx="1072365" cy="2105417"/>
              </a:xfrm>
              <a:custGeom>
                <a:avLst/>
                <a:gdLst/>
                <a:ahLst/>
                <a:cxnLst/>
                <a:rect l="l" t="t" r="r" b="b"/>
                <a:pathLst>
                  <a:path w="1038143" h="2105417">
                    <a:moveTo>
                      <a:pt x="100169" y="0"/>
                    </a:moveTo>
                    <a:lnTo>
                      <a:pt x="937973" y="0"/>
                    </a:lnTo>
                    <a:cubicBezTo>
                      <a:pt x="993296" y="0"/>
                      <a:pt x="1038143" y="44847"/>
                      <a:pt x="1038143" y="100169"/>
                    </a:cubicBezTo>
                    <a:lnTo>
                      <a:pt x="1038143" y="2005248"/>
                    </a:lnTo>
                    <a:cubicBezTo>
                      <a:pt x="1038143" y="2060570"/>
                      <a:pt x="993296" y="2105417"/>
                      <a:pt x="937973" y="2105417"/>
                    </a:cubicBezTo>
                    <a:lnTo>
                      <a:pt x="100169" y="2105417"/>
                    </a:lnTo>
                    <a:cubicBezTo>
                      <a:pt x="44847" y="2105417"/>
                      <a:pt x="0" y="2060570"/>
                      <a:pt x="0" y="2005248"/>
                    </a:cubicBezTo>
                    <a:lnTo>
                      <a:pt x="0" y="100169"/>
                    </a:lnTo>
                    <a:cubicBezTo>
                      <a:pt x="0" y="44847"/>
                      <a:pt x="44847" y="0"/>
                      <a:pt x="100169" y="0"/>
                    </a:cubicBezTo>
                    <a:close/>
                  </a:path>
                </a:pathLst>
              </a:custGeom>
              <a:solidFill>
                <a:srgbClr val="141414"/>
              </a:solidFill>
            </p:spPr>
            <p:txBody>
              <a:bodyPr/>
              <a:lstStyle/>
              <a:p>
                <a:endParaRPr lang="en-US"/>
              </a:p>
            </p:txBody>
          </p:sp>
          <p:sp>
            <p:nvSpPr>
              <p:cNvPr id="76" name="TextBox 76"/>
              <p:cNvSpPr txBox="1"/>
              <p:nvPr/>
            </p:nvSpPr>
            <p:spPr>
              <a:xfrm>
                <a:off x="0" y="-47625"/>
                <a:ext cx="1038143" cy="2153042"/>
              </a:xfrm>
              <a:prstGeom prst="rect">
                <a:avLst/>
              </a:prstGeom>
            </p:spPr>
            <p:txBody>
              <a:bodyPr lIns="50800" tIns="50800" rIns="50800" bIns="50800" rtlCol="0" anchor="ctr"/>
              <a:lstStyle/>
              <a:p>
                <a:pPr algn="ctr">
                  <a:lnSpc>
                    <a:spcPts val="2340"/>
                  </a:lnSpc>
                </a:pPr>
                <a:endParaRPr/>
              </a:p>
            </p:txBody>
          </p:sp>
        </p:grpSp>
        <p:grpSp>
          <p:nvGrpSpPr>
            <p:cNvPr id="77" name="Group 77"/>
            <p:cNvGrpSpPr/>
            <p:nvPr/>
          </p:nvGrpSpPr>
          <p:grpSpPr>
            <a:xfrm>
              <a:off x="2105405" y="638267"/>
              <a:ext cx="1663075" cy="1008501"/>
              <a:chOff x="0" y="0"/>
              <a:chExt cx="1578858" cy="957431"/>
            </a:xfrm>
          </p:grpSpPr>
          <p:sp>
            <p:nvSpPr>
              <p:cNvPr id="78" name="Freeform 78"/>
              <p:cNvSpPr/>
              <p:nvPr/>
            </p:nvSpPr>
            <p:spPr>
              <a:xfrm>
                <a:off x="0" y="0"/>
                <a:ext cx="1578858" cy="957431"/>
              </a:xfrm>
              <a:custGeom>
                <a:avLst/>
                <a:gdLst/>
                <a:ahLst/>
                <a:cxnLst/>
                <a:rect l="l" t="t" r="r" b="b"/>
                <a:pathLst>
                  <a:path w="1578858" h="957431">
                    <a:moveTo>
                      <a:pt x="0" y="0"/>
                    </a:moveTo>
                    <a:lnTo>
                      <a:pt x="1578858" y="0"/>
                    </a:lnTo>
                    <a:lnTo>
                      <a:pt x="1578858" y="957431"/>
                    </a:lnTo>
                    <a:lnTo>
                      <a:pt x="0" y="957431"/>
                    </a:lnTo>
                    <a:close/>
                  </a:path>
                </a:pathLst>
              </a:custGeom>
              <a:blipFill>
                <a:blip r:embed="rId3">
                  <a:alphaModFix amt="0"/>
                </a:blip>
                <a:stretch>
                  <a:fillRect t="-300064" r="-1116220" b="-381525"/>
                </a:stretch>
              </a:blipFill>
            </p:spPr>
            <p:txBody>
              <a:bodyPr/>
              <a:lstStyle/>
              <a:p>
                <a:endParaRPr lang="en-US"/>
              </a:p>
            </p:txBody>
          </p:sp>
          <p:sp>
            <p:nvSpPr>
              <p:cNvPr id="79" name="TextBox 79"/>
              <p:cNvSpPr txBox="1"/>
              <p:nvPr/>
            </p:nvSpPr>
            <p:spPr>
              <a:xfrm>
                <a:off x="0" y="19050"/>
                <a:ext cx="1578858" cy="938381"/>
              </a:xfrm>
              <a:prstGeom prst="rect">
                <a:avLst/>
              </a:prstGeom>
            </p:spPr>
            <p:txBody>
              <a:bodyPr lIns="0" tIns="0" rIns="0" bIns="0" rtlCol="0" anchor="ctr"/>
              <a:lstStyle/>
              <a:p>
                <a:pPr algn="l">
                  <a:lnSpc>
                    <a:spcPts val="2240"/>
                  </a:lnSpc>
                </a:pPr>
                <a:r>
                  <a:rPr lang="en-US" sz="2100" b="1">
                    <a:solidFill>
                      <a:srgbClr val="FFFFFF"/>
                    </a:solidFill>
                    <a:latin typeface="Arial Bold"/>
                    <a:ea typeface="Arial Bold"/>
                    <a:cs typeface="Arial Bold"/>
                    <a:sym typeface="Arial Bold"/>
                  </a:rPr>
                  <a:t>BeReal.</a:t>
                </a:r>
              </a:p>
            </p:txBody>
          </p:sp>
        </p:grpSp>
        <p:grpSp>
          <p:nvGrpSpPr>
            <p:cNvPr id="80" name="Group 80"/>
            <p:cNvGrpSpPr/>
            <p:nvPr/>
          </p:nvGrpSpPr>
          <p:grpSpPr>
            <a:xfrm>
              <a:off x="386574" y="1414639"/>
              <a:ext cx="879433" cy="879433"/>
              <a:chOff x="0" y="0"/>
              <a:chExt cx="812800" cy="812800"/>
            </a:xfrm>
          </p:grpSpPr>
          <p:sp>
            <p:nvSpPr>
              <p:cNvPr id="81" name="Freeform 81"/>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B2B2B"/>
              </a:solidFill>
            </p:spPr>
            <p:txBody>
              <a:bodyPr/>
              <a:lstStyle/>
              <a:p>
                <a:endParaRPr lang="en-US"/>
              </a:p>
            </p:txBody>
          </p:sp>
          <p:sp>
            <p:nvSpPr>
              <p:cNvPr id="82" name="TextBox 82"/>
              <p:cNvSpPr txBox="1"/>
              <p:nvPr/>
            </p:nvSpPr>
            <p:spPr>
              <a:xfrm>
                <a:off x="76200" y="28575"/>
                <a:ext cx="660400" cy="708025"/>
              </a:xfrm>
              <a:prstGeom prst="rect">
                <a:avLst/>
              </a:prstGeom>
            </p:spPr>
            <p:txBody>
              <a:bodyPr lIns="46112" tIns="46112" rIns="46112" bIns="46112" rtlCol="0" anchor="ctr"/>
              <a:lstStyle/>
              <a:p>
                <a:pPr algn="ctr">
                  <a:lnSpc>
                    <a:spcPts val="2340"/>
                  </a:lnSpc>
                </a:pPr>
                <a:endParaRPr/>
              </a:p>
            </p:txBody>
          </p:sp>
        </p:grpSp>
        <p:sp>
          <p:nvSpPr>
            <p:cNvPr id="83" name="Freeform 83"/>
            <p:cNvSpPr/>
            <p:nvPr/>
          </p:nvSpPr>
          <p:spPr>
            <a:xfrm rot="-10800000">
              <a:off x="561407" y="1719932"/>
              <a:ext cx="529766" cy="278127"/>
            </a:xfrm>
            <a:custGeom>
              <a:avLst/>
              <a:gdLst/>
              <a:ahLst/>
              <a:cxnLst/>
              <a:rect l="l" t="t" r="r" b="b"/>
              <a:pathLst>
                <a:path w="529766" h="278127">
                  <a:moveTo>
                    <a:pt x="0" y="0"/>
                  </a:moveTo>
                  <a:lnTo>
                    <a:pt x="529767" y="0"/>
                  </a:lnTo>
                  <a:lnTo>
                    <a:pt x="529767" y="278127"/>
                  </a:lnTo>
                  <a:lnTo>
                    <a:pt x="0" y="278127"/>
                  </a:lnTo>
                  <a:lnTo>
                    <a:pt x="0" y="0"/>
                  </a:lnTo>
                  <a:close/>
                </a:path>
              </a:pathLst>
            </a:custGeom>
            <a:blipFill>
              <a:blip>
                <a:extLst>
                  <a:ext uri="{96DAC541-7B7A-43D3-8B79-37D633B846F1}">
                    <asvg:svgBlip xmlns:asvg="http://schemas.microsoft.com/office/drawing/2016/SVG/main" r:embed="rId9"/>
                  </a:ext>
                </a:extLst>
              </a:blip>
              <a:stretch>
                <a:fillRect/>
              </a:stretch>
            </a:blipFill>
          </p:spPr>
          <p:txBody>
            <a:bodyPr/>
            <a:lstStyle/>
            <a:p>
              <a:endParaRPr lang="en-US"/>
            </a:p>
          </p:txBody>
        </p:sp>
        <p:grpSp>
          <p:nvGrpSpPr>
            <p:cNvPr id="84" name="Group 84"/>
            <p:cNvGrpSpPr/>
            <p:nvPr/>
          </p:nvGrpSpPr>
          <p:grpSpPr>
            <a:xfrm>
              <a:off x="303223" y="3230500"/>
              <a:ext cx="5278764" cy="6443521"/>
              <a:chOff x="-126936" y="-17802"/>
              <a:chExt cx="10932106" cy="13344273"/>
            </a:xfrm>
          </p:grpSpPr>
          <p:sp>
            <p:nvSpPr>
              <p:cNvPr id="85" name="Freeform 85"/>
              <p:cNvSpPr/>
              <p:nvPr/>
            </p:nvSpPr>
            <p:spPr>
              <a:xfrm>
                <a:off x="-126936" y="-17802"/>
                <a:ext cx="10932106" cy="13344273"/>
              </a:xfrm>
              <a:custGeom>
                <a:avLst/>
                <a:gdLst/>
                <a:ahLst/>
                <a:cxnLst/>
                <a:rect l="l" t="t" r="r" b="b"/>
                <a:pathLst>
                  <a:path w="10932106" h="13344272">
                    <a:moveTo>
                      <a:pt x="10932106" y="223522"/>
                    </a:moveTo>
                    <a:lnTo>
                      <a:pt x="10932106" y="13120751"/>
                    </a:lnTo>
                    <a:cubicBezTo>
                      <a:pt x="10932106" y="13244247"/>
                      <a:pt x="10814789" y="13344272"/>
                      <a:pt x="10669946" y="13344272"/>
                    </a:cubicBezTo>
                    <a:lnTo>
                      <a:pt x="262161" y="13344272"/>
                    </a:lnTo>
                    <a:cubicBezTo>
                      <a:pt x="117317" y="13344272"/>
                      <a:pt x="0" y="13244247"/>
                      <a:pt x="0" y="13120751"/>
                    </a:cubicBezTo>
                    <a:lnTo>
                      <a:pt x="0" y="223522"/>
                    </a:lnTo>
                    <a:cubicBezTo>
                      <a:pt x="0" y="100026"/>
                      <a:pt x="117317" y="0"/>
                      <a:pt x="262161" y="0"/>
                    </a:cubicBezTo>
                    <a:lnTo>
                      <a:pt x="10669946" y="0"/>
                    </a:lnTo>
                    <a:cubicBezTo>
                      <a:pt x="10814789" y="0"/>
                      <a:pt x="10932106" y="100026"/>
                      <a:pt x="10932106" y="223522"/>
                    </a:cubicBezTo>
                    <a:close/>
                  </a:path>
                </a:pathLst>
              </a:custGeom>
              <a:blipFill>
                <a:blip r:embed="rId4"/>
                <a:stretch>
                  <a:fillRect t="-641" r="-85911" b="-641"/>
                </a:stretch>
              </a:blipFill>
            </p:spPr>
            <p:txBody>
              <a:bodyPr/>
              <a:lstStyle/>
              <a:p>
                <a:endParaRPr lang="en-US"/>
              </a:p>
            </p:txBody>
          </p:sp>
        </p:grpSp>
        <p:sp>
          <p:nvSpPr>
            <p:cNvPr id="86" name="Freeform 86"/>
            <p:cNvSpPr/>
            <p:nvPr/>
          </p:nvSpPr>
          <p:spPr>
            <a:xfrm>
              <a:off x="2719829" y="10592085"/>
              <a:ext cx="568138" cy="568138"/>
            </a:xfrm>
            <a:custGeom>
              <a:avLst/>
              <a:gdLst/>
              <a:ahLst/>
              <a:cxnLst/>
              <a:rect l="l" t="t" r="r" b="b"/>
              <a:pathLst>
                <a:path w="568138" h="568138">
                  <a:moveTo>
                    <a:pt x="0" y="0"/>
                  </a:moveTo>
                  <a:lnTo>
                    <a:pt x="568138" y="0"/>
                  </a:lnTo>
                  <a:lnTo>
                    <a:pt x="568138" y="568138"/>
                  </a:lnTo>
                  <a:lnTo>
                    <a:pt x="0" y="568138"/>
                  </a:lnTo>
                  <a:lnTo>
                    <a:pt x="0" y="0"/>
                  </a:lnTo>
                  <a:close/>
                </a:path>
              </a:pathLst>
            </a:custGeom>
            <a:blipFill>
              <a:blip>
                <a:extLst>
                  <a:ext uri="{96DAC541-7B7A-43D3-8B79-37D633B846F1}">
                    <asvg:svgBlip xmlns:asvg="http://schemas.microsoft.com/office/drawing/2016/SVG/main" r:embed="rId10"/>
                  </a:ext>
                </a:extLst>
              </a:blip>
              <a:stretch>
                <a:fillRect/>
              </a:stretch>
            </a:blipFill>
          </p:spPr>
          <p:txBody>
            <a:bodyPr/>
            <a:lstStyle/>
            <a:p>
              <a:endParaRPr lang="en-US"/>
            </a:p>
          </p:txBody>
        </p:sp>
        <p:sp>
          <p:nvSpPr>
            <p:cNvPr id="87" name="Freeform 87"/>
            <p:cNvSpPr/>
            <p:nvPr/>
          </p:nvSpPr>
          <p:spPr>
            <a:xfrm>
              <a:off x="2549830" y="10422087"/>
              <a:ext cx="908135" cy="908135"/>
            </a:xfrm>
            <a:custGeom>
              <a:avLst/>
              <a:gdLst/>
              <a:ahLst/>
              <a:cxnLst/>
              <a:rect l="l" t="t" r="r" b="b"/>
              <a:pathLst>
                <a:path w="908135" h="908135">
                  <a:moveTo>
                    <a:pt x="0" y="0"/>
                  </a:moveTo>
                  <a:lnTo>
                    <a:pt x="908135" y="0"/>
                  </a:lnTo>
                  <a:lnTo>
                    <a:pt x="908135" y="908135"/>
                  </a:lnTo>
                  <a:lnTo>
                    <a:pt x="0" y="908135"/>
                  </a:lnTo>
                  <a:lnTo>
                    <a:pt x="0" y="0"/>
                  </a:lnTo>
                  <a:close/>
                </a:path>
              </a:pathLst>
            </a:custGeom>
            <a:blipFill>
              <a:blip r:embed="rId11"/>
              <a:stretch>
                <a:fillRect/>
              </a:stretch>
            </a:blipFill>
          </p:spPr>
          <p:txBody>
            <a:bodyPr/>
            <a:lstStyle/>
            <a:p>
              <a:endParaRPr lang="en-US"/>
            </a:p>
          </p:txBody>
        </p:sp>
        <p:grpSp>
          <p:nvGrpSpPr>
            <p:cNvPr id="88" name="Group 88"/>
            <p:cNvGrpSpPr/>
            <p:nvPr/>
          </p:nvGrpSpPr>
          <p:grpSpPr>
            <a:xfrm>
              <a:off x="1779044" y="9865337"/>
              <a:ext cx="770787" cy="374030"/>
              <a:chOff x="0" y="0"/>
              <a:chExt cx="1132013" cy="549318"/>
            </a:xfrm>
          </p:grpSpPr>
          <p:sp>
            <p:nvSpPr>
              <p:cNvPr id="89" name="Freeform 89"/>
              <p:cNvSpPr/>
              <p:nvPr/>
            </p:nvSpPr>
            <p:spPr>
              <a:xfrm>
                <a:off x="0" y="0"/>
                <a:ext cx="1132013" cy="549318"/>
              </a:xfrm>
              <a:custGeom>
                <a:avLst/>
                <a:gdLst/>
                <a:ahLst/>
                <a:cxnLst/>
                <a:rect l="l" t="t" r="r" b="b"/>
                <a:pathLst>
                  <a:path w="1132013" h="549318">
                    <a:moveTo>
                      <a:pt x="0" y="0"/>
                    </a:moveTo>
                    <a:lnTo>
                      <a:pt x="1132013" y="0"/>
                    </a:lnTo>
                    <a:lnTo>
                      <a:pt x="1132013" y="549318"/>
                    </a:lnTo>
                    <a:lnTo>
                      <a:pt x="0" y="549318"/>
                    </a:lnTo>
                    <a:close/>
                  </a:path>
                </a:pathLst>
              </a:custGeom>
              <a:blipFill>
                <a:blip r:embed="rId3">
                  <a:alphaModFix amt="0"/>
                </a:blip>
                <a:stretch>
                  <a:fillRect t="-522997" r="-1596305" b="-739273"/>
                </a:stretch>
              </a:blipFill>
            </p:spPr>
            <p:txBody>
              <a:bodyPr/>
              <a:lstStyle/>
              <a:p>
                <a:endParaRPr lang="en-US"/>
              </a:p>
            </p:txBody>
          </p:sp>
          <p:sp>
            <p:nvSpPr>
              <p:cNvPr id="90" name="TextBox 90"/>
              <p:cNvSpPr txBox="1"/>
              <p:nvPr/>
            </p:nvSpPr>
            <p:spPr>
              <a:xfrm>
                <a:off x="0" y="0"/>
                <a:ext cx="1132013" cy="549318"/>
              </a:xfrm>
              <a:prstGeom prst="rect">
                <a:avLst/>
              </a:prstGeom>
            </p:spPr>
            <p:txBody>
              <a:bodyPr lIns="0" tIns="0" rIns="0" bIns="0" rtlCol="0" anchor="ctr"/>
              <a:lstStyle/>
              <a:p>
                <a:pPr algn="l">
                  <a:lnSpc>
                    <a:spcPts val="1280"/>
                  </a:lnSpc>
                </a:pPr>
                <a:r>
                  <a:rPr lang="en-US" sz="1200" b="1">
                    <a:solidFill>
                      <a:srgbClr val="FFFFFF"/>
                    </a:solidFill>
                    <a:latin typeface="Arial Bold"/>
                    <a:ea typeface="Arial Bold"/>
                    <a:cs typeface="Arial Bold"/>
                    <a:sym typeface="Arial Bold"/>
                  </a:rPr>
                  <a:t>VIDEO</a:t>
                </a:r>
              </a:p>
            </p:txBody>
          </p:sp>
        </p:grpSp>
        <p:grpSp>
          <p:nvGrpSpPr>
            <p:cNvPr id="91" name="Group 91"/>
            <p:cNvGrpSpPr/>
            <p:nvPr/>
          </p:nvGrpSpPr>
          <p:grpSpPr>
            <a:xfrm>
              <a:off x="3336543" y="9865337"/>
              <a:ext cx="867109" cy="374030"/>
              <a:chOff x="0" y="0"/>
              <a:chExt cx="1273477" cy="549318"/>
            </a:xfrm>
          </p:grpSpPr>
          <p:sp>
            <p:nvSpPr>
              <p:cNvPr id="92" name="Freeform 92"/>
              <p:cNvSpPr/>
              <p:nvPr/>
            </p:nvSpPr>
            <p:spPr>
              <a:xfrm>
                <a:off x="0" y="0"/>
                <a:ext cx="1273477" cy="549318"/>
              </a:xfrm>
              <a:custGeom>
                <a:avLst/>
                <a:gdLst/>
                <a:ahLst/>
                <a:cxnLst/>
                <a:rect l="l" t="t" r="r" b="b"/>
                <a:pathLst>
                  <a:path w="1273477" h="549318">
                    <a:moveTo>
                      <a:pt x="0" y="0"/>
                    </a:moveTo>
                    <a:lnTo>
                      <a:pt x="1273477" y="0"/>
                    </a:lnTo>
                    <a:lnTo>
                      <a:pt x="1273477" y="549318"/>
                    </a:lnTo>
                    <a:lnTo>
                      <a:pt x="0" y="549318"/>
                    </a:lnTo>
                    <a:close/>
                  </a:path>
                </a:pathLst>
              </a:custGeom>
              <a:blipFill>
                <a:blip r:embed="rId3">
                  <a:alphaModFix amt="0"/>
                </a:blip>
                <a:stretch>
                  <a:fillRect t="-522997" r="-1407871" b="-739273"/>
                </a:stretch>
              </a:blipFill>
            </p:spPr>
            <p:txBody>
              <a:bodyPr/>
              <a:lstStyle/>
              <a:p>
                <a:endParaRPr lang="en-US"/>
              </a:p>
            </p:txBody>
          </p:sp>
          <p:sp>
            <p:nvSpPr>
              <p:cNvPr id="93" name="TextBox 93"/>
              <p:cNvSpPr txBox="1"/>
              <p:nvPr/>
            </p:nvSpPr>
            <p:spPr>
              <a:xfrm>
                <a:off x="0" y="0"/>
                <a:ext cx="1273477" cy="549318"/>
              </a:xfrm>
              <a:prstGeom prst="rect">
                <a:avLst/>
              </a:prstGeom>
            </p:spPr>
            <p:txBody>
              <a:bodyPr lIns="0" tIns="0" rIns="0" bIns="0" rtlCol="0" anchor="ctr"/>
              <a:lstStyle/>
              <a:p>
                <a:pPr algn="l">
                  <a:lnSpc>
                    <a:spcPts val="1280"/>
                  </a:lnSpc>
                </a:pPr>
                <a:r>
                  <a:rPr lang="en-US" sz="1200" b="1">
                    <a:solidFill>
                      <a:srgbClr val="FFDE59"/>
                    </a:solidFill>
                    <a:latin typeface="Arial Bold"/>
                    <a:ea typeface="Arial Bold"/>
                    <a:cs typeface="Arial Bold"/>
                    <a:sym typeface="Arial Bold"/>
                  </a:rPr>
                  <a:t>PHOTO</a:t>
                </a:r>
              </a:p>
            </p:txBody>
          </p:sp>
        </p:grpSp>
        <p:sp>
          <p:nvSpPr>
            <p:cNvPr id="94" name="Freeform 94"/>
            <p:cNvSpPr/>
            <p:nvPr/>
          </p:nvSpPr>
          <p:spPr>
            <a:xfrm>
              <a:off x="517623" y="9112556"/>
              <a:ext cx="275326" cy="440521"/>
            </a:xfrm>
            <a:custGeom>
              <a:avLst/>
              <a:gdLst/>
              <a:ahLst/>
              <a:cxnLst/>
              <a:rect l="l" t="t" r="r" b="b"/>
              <a:pathLst>
                <a:path w="275326" h="440521">
                  <a:moveTo>
                    <a:pt x="0" y="0"/>
                  </a:moveTo>
                  <a:lnTo>
                    <a:pt x="275326" y="0"/>
                  </a:lnTo>
                  <a:lnTo>
                    <a:pt x="275326" y="440521"/>
                  </a:lnTo>
                  <a:lnTo>
                    <a:pt x="0" y="440521"/>
                  </a:lnTo>
                  <a:lnTo>
                    <a:pt x="0" y="0"/>
                  </a:lnTo>
                  <a:close/>
                </a:path>
              </a:pathLst>
            </a:custGeom>
            <a:blipFill>
              <a:blip>
                <a:extLst>
                  <a:ext uri="{96DAC541-7B7A-43D3-8B79-37D633B846F1}">
                    <asvg:svgBlip xmlns:asvg="http://schemas.microsoft.com/office/drawing/2016/SVG/main" r:embed="rId12"/>
                  </a:ext>
                </a:extLst>
              </a:blip>
              <a:stretch>
                <a:fillRect/>
              </a:stretch>
            </a:blipFill>
          </p:spPr>
          <p:txBody>
            <a:bodyPr/>
            <a:lstStyle/>
            <a:p>
              <a:endParaRPr lang="en-US"/>
            </a:p>
          </p:txBody>
        </p:sp>
        <p:sp>
          <p:nvSpPr>
            <p:cNvPr id="95" name="Freeform 95"/>
            <p:cNvSpPr/>
            <p:nvPr/>
          </p:nvSpPr>
          <p:spPr>
            <a:xfrm>
              <a:off x="4868580" y="8993164"/>
              <a:ext cx="573032" cy="449830"/>
            </a:xfrm>
            <a:custGeom>
              <a:avLst/>
              <a:gdLst/>
              <a:ahLst/>
              <a:cxnLst/>
              <a:rect l="l" t="t" r="r" b="b"/>
              <a:pathLst>
                <a:path w="573032" h="449830">
                  <a:moveTo>
                    <a:pt x="0" y="0"/>
                  </a:moveTo>
                  <a:lnTo>
                    <a:pt x="573032" y="0"/>
                  </a:lnTo>
                  <a:lnTo>
                    <a:pt x="573032" y="449830"/>
                  </a:lnTo>
                  <a:lnTo>
                    <a:pt x="0" y="449830"/>
                  </a:lnTo>
                  <a:lnTo>
                    <a:pt x="0" y="0"/>
                  </a:lnTo>
                  <a:close/>
                </a:path>
              </a:pathLst>
            </a:custGeom>
            <a:blipFill>
              <a:blip>
                <a:extLst>
                  <a:ext uri="{96DAC541-7B7A-43D3-8B79-37D633B846F1}">
                    <asvg:svgBlip xmlns:asvg="http://schemas.microsoft.com/office/drawing/2016/SVG/main" r:embed="rId13"/>
                  </a:ext>
                </a:extLst>
              </a:blip>
              <a:stretch>
                <a:fillRect/>
              </a:stretch>
            </a:blipFill>
          </p:spPr>
          <p:txBody>
            <a:bodyPr/>
            <a:lstStyle/>
            <a:p>
              <a:endParaRPr lang="en-US"/>
            </a:p>
          </p:txBody>
        </p:sp>
      </p:grpSp>
      <p:grpSp>
        <p:nvGrpSpPr>
          <p:cNvPr id="96" name="Group 96"/>
          <p:cNvGrpSpPr/>
          <p:nvPr/>
        </p:nvGrpSpPr>
        <p:grpSpPr>
          <a:xfrm>
            <a:off x="960120" y="2943885"/>
            <a:ext cx="4830896" cy="1303020"/>
            <a:chOff x="0" y="0"/>
            <a:chExt cx="6441195" cy="1737360"/>
          </a:xfrm>
        </p:grpSpPr>
        <p:sp>
          <p:nvSpPr>
            <p:cNvPr id="97" name="Freeform 97"/>
            <p:cNvSpPr/>
            <p:nvPr/>
          </p:nvSpPr>
          <p:spPr>
            <a:xfrm>
              <a:off x="0" y="0"/>
              <a:ext cx="6441195" cy="1737360"/>
            </a:xfrm>
            <a:custGeom>
              <a:avLst/>
              <a:gdLst/>
              <a:ahLst/>
              <a:cxnLst/>
              <a:rect l="l" t="t" r="r" b="b"/>
              <a:pathLst>
                <a:path w="6441195" h="1737360">
                  <a:moveTo>
                    <a:pt x="0" y="0"/>
                  </a:moveTo>
                  <a:lnTo>
                    <a:pt x="6441195" y="0"/>
                  </a:lnTo>
                  <a:lnTo>
                    <a:pt x="6441195" y="1737360"/>
                  </a:lnTo>
                  <a:lnTo>
                    <a:pt x="0" y="1737360"/>
                  </a:lnTo>
                  <a:close/>
                </a:path>
              </a:pathLst>
            </a:custGeom>
            <a:blipFill>
              <a:blip r:embed="rId3">
                <a:alphaModFix amt="0"/>
              </a:blip>
              <a:stretch>
                <a:fillRect t="-165360" r="-198118" b="-165360"/>
              </a:stretch>
            </a:blipFill>
          </p:spPr>
          <p:txBody>
            <a:bodyPr/>
            <a:lstStyle/>
            <a:p>
              <a:endParaRPr lang="en-US"/>
            </a:p>
          </p:txBody>
        </p:sp>
        <p:sp>
          <p:nvSpPr>
            <p:cNvPr id="98" name="TextBox 98"/>
            <p:cNvSpPr txBox="1"/>
            <p:nvPr/>
          </p:nvSpPr>
          <p:spPr>
            <a:xfrm>
              <a:off x="0" y="38100"/>
              <a:ext cx="6441195" cy="1699260"/>
            </a:xfrm>
            <a:prstGeom prst="rect">
              <a:avLst/>
            </a:prstGeom>
          </p:spPr>
          <p:txBody>
            <a:bodyPr lIns="0" tIns="0" rIns="0" bIns="0" rtlCol="0" anchor="ctr"/>
            <a:lstStyle/>
            <a:p>
              <a:pPr algn="l">
                <a:lnSpc>
                  <a:spcPts val="5120"/>
                </a:lnSpc>
              </a:pPr>
              <a:r>
                <a:rPr lang="en-US" sz="4799" b="1" dirty="0">
                  <a:solidFill>
                    <a:srgbClr val="FFFFFF"/>
                  </a:solidFill>
                  <a:latin typeface="Arial Bold"/>
                  <a:ea typeface="Arial Bold"/>
                  <a:cs typeface="Arial Bold"/>
                  <a:sym typeface="Arial Bold"/>
                </a:rPr>
                <a:t>Capture Toggle</a:t>
              </a:r>
            </a:p>
          </p:txBody>
        </p:sp>
      </p:grpSp>
      <p:grpSp>
        <p:nvGrpSpPr>
          <p:cNvPr id="99" name="Group 99"/>
          <p:cNvGrpSpPr/>
          <p:nvPr/>
        </p:nvGrpSpPr>
        <p:grpSpPr>
          <a:xfrm>
            <a:off x="8620365" y="9432722"/>
            <a:ext cx="3532819" cy="601474"/>
            <a:chOff x="0" y="0"/>
            <a:chExt cx="5623571" cy="957431"/>
          </a:xfrm>
        </p:grpSpPr>
        <p:sp>
          <p:nvSpPr>
            <p:cNvPr id="100" name="Freeform 100"/>
            <p:cNvSpPr/>
            <p:nvPr/>
          </p:nvSpPr>
          <p:spPr>
            <a:xfrm>
              <a:off x="0" y="0"/>
              <a:ext cx="5623571" cy="957431"/>
            </a:xfrm>
            <a:custGeom>
              <a:avLst/>
              <a:gdLst/>
              <a:ahLst/>
              <a:cxnLst/>
              <a:rect l="l" t="t" r="r" b="b"/>
              <a:pathLst>
                <a:path w="5623571" h="957431">
                  <a:moveTo>
                    <a:pt x="0" y="0"/>
                  </a:moveTo>
                  <a:lnTo>
                    <a:pt x="5623571" y="0"/>
                  </a:lnTo>
                  <a:lnTo>
                    <a:pt x="5623571" y="957431"/>
                  </a:lnTo>
                  <a:lnTo>
                    <a:pt x="0" y="957431"/>
                  </a:lnTo>
                  <a:close/>
                </a:path>
              </a:pathLst>
            </a:custGeom>
            <a:blipFill>
              <a:blip r:embed="rId3">
                <a:alphaModFix amt="0"/>
              </a:blip>
              <a:stretch>
                <a:fillRect t="-300064" r="-241462" b="-381525"/>
              </a:stretch>
            </a:blipFill>
          </p:spPr>
          <p:txBody>
            <a:bodyPr/>
            <a:lstStyle/>
            <a:p>
              <a:endParaRPr lang="en-US"/>
            </a:p>
          </p:txBody>
        </p:sp>
        <p:sp>
          <p:nvSpPr>
            <p:cNvPr id="101" name="TextBox 101"/>
            <p:cNvSpPr txBox="1"/>
            <p:nvPr/>
          </p:nvSpPr>
          <p:spPr>
            <a:xfrm>
              <a:off x="0" y="0"/>
              <a:ext cx="5623571" cy="957431"/>
            </a:xfrm>
            <a:prstGeom prst="rect">
              <a:avLst/>
            </a:prstGeom>
          </p:spPr>
          <p:txBody>
            <a:bodyPr lIns="0" tIns="0" rIns="0" bIns="0" rtlCol="0" anchor="ctr"/>
            <a:lstStyle/>
            <a:p>
              <a:pPr algn="ctr">
                <a:lnSpc>
                  <a:spcPts val="1920"/>
                </a:lnSpc>
              </a:pPr>
              <a:r>
                <a:rPr lang="en-US" sz="1800" b="1">
                  <a:solidFill>
                    <a:srgbClr val="FFFFFF"/>
                  </a:solidFill>
                  <a:latin typeface="Arial Bold"/>
                  <a:ea typeface="Arial Bold"/>
                  <a:cs typeface="Arial Bold"/>
                  <a:sym typeface="Arial Bold"/>
                </a:rPr>
                <a:t>User Takes Photo</a:t>
              </a:r>
            </a:p>
          </p:txBody>
        </p:sp>
      </p:grpSp>
      <p:grpSp>
        <p:nvGrpSpPr>
          <p:cNvPr id="102" name="Group 102"/>
          <p:cNvGrpSpPr/>
          <p:nvPr/>
        </p:nvGrpSpPr>
        <p:grpSpPr>
          <a:xfrm>
            <a:off x="13523617" y="9405475"/>
            <a:ext cx="3987051" cy="681165"/>
            <a:chOff x="-25599" y="0"/>
            <a:chExt cx="6346620" cy="1084284"/>
          </a:xfrm>
        </p:grpSpPr>
        <p:sp>
          <p:nvSpPr>
            <p:cNvPr id="103" name="Freeform 103"/>
            <p:cNvSpPr/>
            <p:nvPr/>
          </p:nvSpPr>
          <p:spPr>
            <a:xfrm>
              <a:off x="0" y="0"/>
              <a:ext cx="6321021" cy="1044174"/>
            </a:xfrm>
            <a:custGeom>
              <a:avLst/>
              <a:gdLst/>
              <a:ahLst/>
              <a:cxnLst/>
              <a:rect l="l" t="t" r="r" b="b"/>
              <a:pathLst>
                <a:path w="6321021" h="1044174">
                  <a:moveTo>
                    <a:pt x="0" y="0"/>
                  </a:moveTo>
                  <a:lnTo>
                    <a:pt x="6321021" y="0"/>
                  </a:lnTo>
                  <a:lnTo>
                    <a:pt x="6321021" y="1044174"/>
                  </a:lnTo>
                  <a:lnTo>
                    <a:pt x="0" y="1044174"/>
                  </a:lnTo>
                  <a:close/>
                </a:path>
              </a:pathLst>
            </a:custGeom>
            <a:blipFill>
              <a:blip r:embed="rId3">
                <a:alphaModFix amt="0"/>
              </a:blip>
              <a:stretch>
                <a:fillRect t="-275137" r="-203786" b="-341523"/>
              </a:stretch>
            </a:blipFill>
          </p:spPr>
          <p:txBody>
            <a:bodyPr/>
            <a:lstStyle/>
            <a:p>
              <a:endParaRPr lang="en-US"/>
            </a:p>
          </p:txBody>
        </p:sp>
        <p:sp>
          <p:nvSpPr>
            <p:cNvPr id="104" name="TextBox 104"/>
            <p:cNvSpPr txBox="1"/>
            <p:nvPr/>
          </p:nvSpPr>
          <p:spPr>
            <a:xfrm>
              <a:off x="-25599" y="40110"/>
              <a:ext cx="6321021" cy="1044174"/>
            </a:xfrm>
            <a:prstGeom prst="rect">
              <a:avLst/>
            </a:prstGeom>
          </p:spPr>
          <p:txBody>
            <a:bodyPr lIns="0" tIns="0" rIns="0" bIns="0" rtlCol="0" anchor="ctr"/>
            <a:lstStyle/>
            <a:p>
              <a:pPr algn="ctr">
                <a:lnSpc>
                  <a:spcPts val="1920"/>
                </a:lnSpc>
              </a:pPr>
              <a:r>
                <a:rPr lang="en-US" sz="1800" b="1" dirty="0">
                  <a:solidFill>
                    <a:srgbClr val="FFFFFF"/>
                  </a:solidFill>
                  <a:latin typeface="Arial Bold"/>
                  <a:ea typeface="Arial Bold"/>
                  <a:cs typeface="Arial Bold"/>
                  <a:sym typeface="Arial Bold"/>
                </a:rPr>
                <a:t>Add Caption &amp; Choose Post Type</a:t>
              </a:r>
            </a:p>
          </p:txBody>
        </p:sp>
      </p:grpSp>
      <p:grpSp>
        <p:nvGrpSpPr>
          <p:cNvPr id="105" name="Group 105"/>
          <p:cNvGrpSpPr/>
          <p:nvPr/>
        </p:nvGrpSpPr>
        <p:grpSpPr>
          <a:xfrm>
            <a:off x="12589482" y="9552356"/>
            <a:ext cx="724412" cy="362206"/>
            <a:chOff x="0" y="0"/>
            <a:chExt cx="812800" cy="406400"/>
          </a:xfrm>
        </p:grpSpPr>
        <p:sp>
          <p:nvSpPr>
            <p:cNvPr id="106" name="Freeform 106"/>
            <p:cNvSpPr/>
            <p:nvPr/>
          </p:nvSpPr>
          <p:spPr>
            <a:xfrm>
              <a:off x="0" y="0"/>
              <a:ext cx="812800" cy="406400"/>
            </a:xfrm>
            <a:custGeom>
              <a:avLst/>
              <a:gdLst/>
              <a:ahLst/>
              <a:cxnLst/>
              <a:rect l="l" t="t" r="r" b="b"/>
              <a:pathLst>
                <a:path w="812800" h="406400">
                  <a:moveTo>
                    <a:pt x="0" y="0"/>
                  </a:moveTo>
                  <a:lnTo>
                    <a:pt x="609600" y="0"/>
                  </a:lnTo>
                  <a:lnTo>
                    <a:pt x="812800" y="203200"/>
                  </a:lnTo>
                  <a:lnTo>
                    <a:pt x="609600" y="406400"/>
                  </a:lnTo>
                  <a:lnTo>
                    <a:pt x="0" y="406400"/>
                  </a:lnTo>
                  <a:lnTo>
                    <a:pt x="203200" y="203200"/>
                  </a:lnTo>
                  <a:lnTo>
                    <a:pt x="0" y="0"/>
                  </a:lnTo>
                  <a:close/>
                </a:path>
              </a:pathLst>
            </a:custGeom>
            <a:solidFill>
              <a:srgbClr val="FFDE59"/>
            </a:solidFill>
          </p:spPr>
          <p:txBody>
            <a:bodyPr/>
            <a:lstStyle/>
            <a:p>
              <a:endParaRPr lang="en-US"/>
            </a:p>
          </p:txBody>
        </p:sp>
        <p:sp>
          <p:nvSpPr>
            <p:cNvPr id="107" name="TextBox 107"/>
            <p:cNvSpPr txBox="1"/>
            <p:nvPr/>
          </p:nvSpPr>
          <p:spPr>
            <a:xfrm>
              <a:off x="177800" y="-47625"/>
              <a:ext cx="558800" cy="454025"/>
            </a:xfrm>
            <a:prstGeom prst="rect">
              <a:avLst/>
            </a:prstGeom>
          </p:spPr>
          <p:txBody>
            <a:bodyPr lIns="50800" tIns="50800" rIns="50800" bIns="50800" rtlCol="0" anchor="ctr"/>
            <a:lstStyle/>
            <a:p>
              <a:pPr algn="ctr">
                <a:lnSpc>
                  <a:spcPts val="2340"/>
                </a:lnSpc>
              </a:pPr>
              <a:endParaRPr/>
            </a:p>
          </p:txBody>
        </p:sp>
      </p:grpSp>
      <p:grpSp>
        <p:nvGrpSpPr>
          <p:cNvPr id="108" name="Group 108"/>
          <p:cNvGrpSpPr/>
          <p:nvPr/>
        </p:nvGrpSpPr>
        <p:grpSpPr>
          <a:xfrm>
            <a:off x="12589482" y="4540918"/>
            <a:ext cx="724412" cy="362206"/>
            <a:chOff x="0" y="0"/>
            <a:chExt cx="812800" cy="406400"/>
          </a:xfrm>
        </p:grpSpPr>
        <p:sp>
          <p:nvSpPr>
            <p:cNvPr id="109" name="Freeform 109"/>
            <p:cNvSpPr/>
            <p:nvPr/>
          </p:nvSpPr>
          <p:spPr>
            <a:xfrm>
              <a:off x="0" y="0"/>
              <a:ext cx="812800" cy="406400"/>
            </a:xfrm>
            <a:custGeom>
              <a:avLst/>
              <a:gdLst/>
              <a:ahLst/>
              <a:cxnLst/>
              <a:rect l="l" t="t" r="r" b="b"/>
              <a:pathLst>
                <a:path w="812800" h="406400">
                  <a:moveTo>
                    <a:pt x="0" y="0"/>
                  </a:moveTo>
                  <a:lnTo>
                    <a:pt x="609600" y="0"/>
                  </a:lnTo>
                  <a:lnTo>
                    <a:pt x="812800" y="203200"/>
                  </a:lnTo>
                  <a:lnTo>
                    <a:pt x="609600" y="406400"/>
                  </a:lnTo>
                  <a:lnTo>
                    <a:pt x="0" y="406400"/>
                  </a:lnTo>
                  <a:lnTo>
                    <a:pt x="203200" y="203200"/>
                  </a:lnTo>
                  <a:lnTo>
                    <a:pt x="0" y="0"/>
                  </a:lnTo>
                  <a:close/>
                </a:path>
              </a:pathLst>
            </a:custGeom>
            <a:solidFill>
              <a:srgbClr val="FFDE59"/>
            </a:solidFill>
          </p:spPr>
          <p:txBody>
            <a:bodyPr/>
            <a:lstStyle/>
            <a:p>
              <a:endParaRPr lang="en-US"/>
            </a:p>
          </p:txBody>
        </p:sp>
        <p:sp>
          <p:nvSpPr>
            <p:cNvPr id="110" name="TextBox 110"/>
            <p:cNvSpPr txBox="1"/>
            <p:nvPr/>
          </p:nvSpPr>
          <p:spPr>
            <a:xfrm>
              <a:off x="177800" y="-47625"/>
              <a:ext cx="558800" cy="454025"/>
            </a:xfrm>
            <a:prstGeom prst="rect">
              <a:avLst/>
            </a:prstGeom>
          </p:spPr>
          <p:txBody>
            <a:bodyPr lIns="50800" tIns="50800" rIns="50800" bIns="50800" rtlCol="0" anchor="ctr"/>
            <a:lstStyle/>
            <a:p>
              <a:pPr algn="ctr">
                <a:lnSpc>
                  <a:spcPts val="2340"/>
                </a:lnSpc>
              </a:pPr>
              <a:endParaRPr/>
            </a:p>
          </p:txBody>
        </p:sp>
      </p:grpSp>
      <p:grpSp>
        <p:nvGrpSpPr>
          <p:cNvPr id="111" name="Group 2">
            <a:extLst>
              <a:ext uri="{FF2B5EF4-FFF2-40B4-BE49-F238E27FC236}">
                <a16:creationId xmlns:a16="http://schemas.microsoft.com/office/drawing/2014/main" id="{4C3469F2-F42E-DD71-75A9-4E48F3D60B78}"/>
              </a:ext>
            </a:extLst>
          </p:cNvPr>
          <p:cNvGrpSpPr/>
          <p:nvPr/>
        </p:nvGrpSpPr>
        <p:grpSpPr>
          <a:xfrm>
            <a:off x="960120" y="734066"/>
            <a:ext cx="10972800" cy="480060"/>
            <a:chOff x="0" y="0"/>
            <a:chExt cx="14630400" cy="640080"/>
          </a:xfrm>
        </p:grpSpPr>
        <p:sp>
          <p:nvSpPr>
            <p:cNvPr id="112" name="Freeform 3">
              <a:extLst>
                <a:ext uri="{FF2B5EF4-FFF2-40B4-BE49-F238E27FC236}">
                  <a16:creationId xmlns:a16="http://schemas.microsoft.com/office/drawing/2014/main" id="{0397255D-80D5-8CDE-AB36-07D5D2D8129E}"/>
                </a:ext>
              </a:extLst>
            </p:cNvPr>
            <p:cNvSpPr/>
            <p:nvPr/>
          </p:nvSpPr>
          <p:spPr>
            <a:xfrm>
              <a:off x="0" y="0"/>
              <a:ext cx="14630400" cy="640080"/>
            </a:xfrm>
            <a:custGeom>
              <a:avLst/>
              <a:gdLst/>
              <a:ahLst/>
              <a:cxnLst/>
              <a:rect l="l" t="t" r="r" b="b"/>
              <a:pathLst>
                <a:path w="14630400" h="640080">
                  <a:moveTo>
                    <a:pt x="0" y="0"/>
                  </a:moveTo>
                  <a:lnTo>
                    <a:pt x="14630400" y="0"/>
                  </a:lnTo>
                  <a:lnTo>
                    <a:pt x="14630400" y="640080"/>
                  </a:lnTo>
                  <a:lnTo>
                    <a:pt x="0" y="640080"/>
                  </a:lnTo>
                  <a:close/>
                </a:path>
              </a:pathLst>
            </a:custGeom>
            <a:blipFill>
              <a:blip r:embed="rId3">
                <a:alphaModFix amt="0"/>
              </a:blip>
              <a:stretch>
                <a:fillRect t="-395372" b="-395372"/>
              </a:stretch>
            </a:blipFill>
          </p:spPr>
          <p:txBody>
            <a:bodyPr/>
            <a:lstStyle/>
            <a:p>
              <a:endParaRPr lang="en-US"/>
            </a:p>
          </p:txBody>
        </p:sp>
        <p:sp>
          <p:nvSpPr>
            <p:cNvPr id="113" name="TextBox 4">
              <a:extLst>
                <a:ext uri="{FF2B5EF4-FFF2-40B4-BE49-F238E27FC236}">
                  <a16:creationId xmlns:a16="http://schemas.microsoft.com/office/drawing/2014/main" id="{7C461C6F-6E6C-1F4F-C98E-C25CA22C9E25}"/>
                </a:ext>
              </a:extLst>
            </p:cNvPr>
            <p:cNvSpPr txBox="1"/>
            <p:nvPr/>
          </p:nvSpPr>
          <p:spPr>
            <a:xfrm>
              <a:off x="0" y="-19050"/>
              <a:ext cx="14630400" cy="659130"/>
            </a:xfrm>
            <a:prstGeom prst="rect">
              <a:avLst/>
            </a:prstGeom>
          </p:spPr>
          <p:txBody>
            <a:bodyPr lIns="0" tIns="0" rIns="0" bIns="0" rtlCol="0" anchor="ctr"/>
            <a:lstStyle/>
            <a:p>
              <a:pPr algn="l">
                <a:lnSpc>
                  <a:spcPts val="2160"/>
                </a:lnSpc>
              </a:pPr>
              <a:r>
                <a:rPr lang="en-US" sz="1800" b="1" spc="450" dirty="0">
                  <a:solidFill>
                    <a:srgbClr val="FFFFFF"/>
                  </a:solidFill>
                  <a:latin typeface="Arial Bold"/>
                  <a:ea typeface="Arial Bold"/>
                  <a:cs typeface="Arial Bold"/>
                  <a:sym typeface="Arial Bold"/>
                </a:rPr>
                <a:t>FEATURE CONCEPT - OCTOBER 2026</a:t>
              </a:r>
            </a:p>
          </p:txBody>
        </p:sp>
      </p:grpSp>
      <p:grpSp>
        <p:nvGrpSpPr>
          <p:cNvPr id="114" name="Group 5">
            <a:extLst>
              <a:ext uri="{FF2B5EF4-FFF2-40B4-BE49-F238E27FC236}">
                <a16:creationId xmlns:a16="http://schemas.microsoft.com/office/drawing/2014/main" id="{545019D9-8EE6-4C70-7BC6-EE24EFF70ACB}"/>
              </a:ext>
            </a:extLst>
          </p:cNvPr>
          <p:cNvGrpSpPr/>
          <p:nvPr/>
        </p:nvGrpSpPr>
        <p:grpSpPr>
          <a:xfrm>
            <a:off x="960120" y="1214126"/>
            <a:ext cx="8183880" cy="718073"/>
            <a:chOff x="0" y="0"/>
            <a:chExt cx="10911840" cy="957431"/>
          </a:xfrm>
        </p:grpSpPr>
        <p:sp>
          <p:nvSpPr>
            <p:cNvPr id="115" name="Freeform 6">
              <a:extLst>
                <a:ext uri="{FF2B5EF4-FFF2-40B4-BE49-F238E27FC236}">
                  <a16:creationId xmlns:a16="http://schemas.microsoft.com/office/drawing/2014/main" id="{4935F20B-49CF-65ED-7330-BD4648AD3F92}"/>
                </a:ext>
              </a:extLst>
            </p:cNvPr>
            <p:cNvSpPr/>
            <p:nvPr/>
          </p:nvSpPr>
          <p:spPr>
            <a:xfrm>
              <a:off x="0" y="0"/>
              <a:ext cx="10911840" cy="957431"/>
            </a:xfrm>
            <a:custGeom>
              <a:avLst/>
              <a:gdLst/>
              <a:ahLst/>
              <a:cxnLst/>
              <a:rect l="l" t="t" r="r" b="b"/>
              <a:pathLst>
                <a:path w="10911840" h="957431">
                  <a:moveTo>
                    <a:pt x="0" y="0"/>
                  </a:moveTo>
                  <a:lnTo>
                    <a:pt x="10911840" y="0"/>
                  </a:lnTo>
                  <a:lnTo>
                    <a:pt x="10911840" y="957431"/>
                  </a:lnTo>
                  <a:lnTo>
                    <a:pt x="0" y="957431"/>
                  </a:lnTo>
                  <a:close/>
                </a:path>
              </a:pathLst>
            </a:custGeom>
            <a:blipFill>
              <a:blip r:embed="rId3">
                <a:alphaModFix amt="0"/>
              </a:blip>
              <a:stretch>
                <a:fillRect t="-300064" r="-75977" b="-381525"/>
              </a:stretch>
            </a:blipFill>
          </p:spPr>
          <p:txBody>
            <a:bodyPr/>
            <a:lstStyle/>
            <a:p>
              <a:endParaRPr lang="en-US"/>
            </a:p>
          </p:txBody>
        </p:sp>
        <p:sp>
          <p:nvSpPr>
            <p:cNvPr id="116" name="TextBox 7">
              <a:extLst>
                <a:ext uri="{FF2B5EF4-FFF2-40B4-BE49-F238E27FC236}">
                  <a16:creationId xmlns:a16="http://schemas.microsoft.com/office/drawing/2014/main" id="{3F7F295C-9BF7-248A-DA65-9F94B7EF3342}"/>
                </a:ext>
              </a:extLst>
            </p:cNvPr>
            <p:cNvSpPr txBox="1"/>
            <p:nvPr/>
          </p:nvSpPr>
          <p:spPr>
            <a:xfrm>
              <a:off x="0" y="19050"/>
              <a:ext cx="10911840" cy="938381"/>
            </a:xfrm>
            <a:prstGeom prst="rect">
              <a:avLst/>
            </a:prstGeom>
          </p:spPr>
          <p:txBody>
            <a:bodyPr lIns="0" tIns="0" rIns="0" bIns="0" rtlCol="0" anchor="ctr"/>
            <a:lstStyle/>
            <a:p>
              <a:pPr algn="l">
                <a:lnSpc>
                  <a:spcPts val="3733"/>
                </a:lnSpc>
              </a:pPr>
              <a:r>
                <a:rPr lang="en-US" sz="3500" b="1">
                  <a:solidFill>
                    <a:srgbClr val="FFDE59"/>
                  </a:solidFill>
                  <a:latin typeface="Arial Bold"/>
                  <a:ea typeface="Arial Bold"/>
                  <a:cs typeface="Arial Bold"/>
                  <a:sym typeface="Arial Bold"/>
                </a:rPr>
                <a:t>BeReal.</a:t>
              </a:r>
            </a:p>
          </p:txBody>
        </p:sp>
      </p:grpSp>
      <p:grpSp>
        <p:nvGrpSpPr>
          <p:cNvPr id="117" name="Group 8">
            <a:extLst>
              <a:ext uri="{FF2B5EF4-FFF2-40B4-BE49-F238E27FC236}">
                <a16:creationId xmlns:a16="http://schemas.microsoft.com/office/drawing/2014/main" id="{EF26D0B7-5534-397D-A683-BB1456596333}"/>
              </a:ext>
            </a:extLst>
          </p:cNvPr>
          <p:cNvGrpSpPr/>
          <p:nvPr/>
        </p:nvGrpSpPr>
        <p:grpSpPr>
          <a:xfrm>
            <a:off x="960120" y="2114645"/>
            <a:ext cx="10972800" cy="480060"/>
            <a:chOff x="0" y="0"/>
            <a:chExt cx="14630400" cy="640080"/>
          </a:xfrm>
        </p:grpSpPr>
        <p:sp>
          <p:nvSpPr>
            <p:cNvPr id="118" name="Freeform 9">
              <a:extLst>
                <a:ext uri="{FF2B5EF4-FFF2-40B4-BE49-F238E27FC236}">
                  <a16:creationId xmlns:a16="http://schemas.microsoft.com/office/drawing/2014/main" id="{C1B3C82A-A1A1-CEE3-BDA9-16D17FBA051F}"/>
                </a:ext>
              </a:extLst>
            </p:cNvPr>
            <p:cNvSpPr/>
            <p:nvPr/>
          </p:nvSpPr>
          <p:spPr>
            <a:xfrm>
              <a:off x="0" y="0"/>
              <a:ext cx="14630400" cy="640080"/>
            </a:xfrm>
            <a:custGeom>
              <a:avLst/>
              <a:gdLst/>
              <a:ahLst/>
              <a:cxnLst/>
              <a:rect l="l" t="t" r="r" b="b"/>
              <a:pathLst>
                <a:path w="14630400" h="640080">
                  <a:moveTo>
                    <a:pt x="0" y="0"/>
                  </a:moveTo>
                  <a:lnTo>
                    <a:pt x="14630400" y="0"/>
                  </a:lnTo>
                  <a:lnTo>
                    <a:pt x="14630400" y="640080"/>
                  </a:lnTo>
                  <a:lnTo>
                    <a:pt x="0" y="640080"/>
                  </a:lnTo>
                  <a:close/>
                </a:path>
              </a:pathLst>
            </a:custGeom>
            <a:blipFill>
              <a:blip r:embed="rId3">
                <a:alphaModFix amt="0"/>
              </a:blip>
              <a:stretch>
                <a:fillRect t="-395372" b="-395372"/>
              </a:stretch>
            </a:blipFill>
          </p:spPr>
          <p:txBody>
            <a:bodyPr/>
            <a:lstStyle/>
            <a:p>
              <a:endParaRPr lang="en-US"/>
            </a:p>
          </p:txBody>
        </p:sp>
        <p:sp>
          <p:nvSpPr>
            <p:cNvPr id="119" name="TextBox 10">
              <a:extLst>
                <a:ext uri="{FF2B5EF4-FFF2-40B4-BE49-F238E27FC236}">
                  <a16:creationId xmlns:a16="http://schemas.microsoft.com/office/drawing/2014/main" id="{0F0C9B6D-6D64-24CF-C04F-7DE0B806B9A8}"/>
                </a:ext>
              </a:extLst>
            </p:cNvPr>
            <p:cNvSpPr txBox="1"/>
            <p:nvPr/>
          </p:nvSpPr>
          <p:spPr>
            <a:xfrm>
              <a:off x="0" y="-19050"/>
              <a:ext cx="14630400" cy="659130"/>
            </a:xfrm>
            <a:prstGeom prst="rect">
              <a:avLst/>
            </a:prstGeom>
          </p:spPr>
          <p:txBody>
            <a:bodyPr lIns="0" tIns="0" rIns="0" bIns="0" rtlCol="0" anchor="ctr"/>
            <a:lstStyle/>
            <a:p>
              <a:pPr algn="l">
                <a:lnSpc>
                  <a:spcPts val="2160"/>
                </a:lnSpc>
              </a:pPr>
              <a:r>
                <a:rPr lang="en-US" sz="1800" b="1" spc="450">
                  <a:solidFill>
                    <a:srgbClr val="FFFFFF"/>
                  </a:solidFill>
                  <a:latin typeface="Arial Bold"/>
                  <a:ea typeface="Arial Bold"/>
                  <a:cs typeface="Arial Bold"/>
                  <a:sym typeface="Arial Bold"/>
                </a:rPr>
                <a:t>BEREAL PASSPORT &amp; COMMUNITY BOARDS</a:t>
              </a:r>
            </a:p>
          </p:txBody>
        </p:sp>
      </p:gr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0A0A0A"/>
        </a:solidFill>
        <a:effectLst/>
      </p:bgPr>
    </p:bg>
    <p:spTree>
      <p:nvGrpSpPr>
        <p:cNvPr id="1" name=""/>
        <p:cNvGrpSpPr/>
        <p:nvPr/>
      </p:nvGrpSpPr>
      <p:grpSpPr>
        <a:xfrm>
          <a:off x="0" y="0"/>
          <a:ext cx="0" cy="0"/>
          <a:chOff x="0" y="0"/>
          <a:chExt cx="0" cy="0"/>
        </a:xfrm>
      </p:grpSpPr>
      <p:grpSp>
        <p:nvGrpSpPr>
          <p:cNvPr id="11" name="Group 11"/>
          <p:cNvGrpSpPr/>
          <p:nvPr/>
        </p:nvGrpSpPr>
        <p:grpSpPr>
          <a:xfrm>
            <a:off x="960120" y="2922418"/>
            <a:ext cx="6669128" cy="1303020"/>
            <a:chOff x="0" y="0"/>
            <a:chExt cx="8892171" cy="1737360"/>
          </a:xfrm>
        </p:grpSpPr>
        <p:sp>
          <p:nvSpPr>
            <p:cNvPr id="12" name="Freeform 12"/>
            <p:cNvSpPr/>
            <p:nvPr/>
          </p:nvSpPr>
          <p:spPr>
            <a:xfrm>
              <a:off x="0" y="0"/>
              <a:ext cx="8892170" cy="1737360"/>
            </a:xfrm>
            <a:custGeom>
              <a:avLst/>
              <a:gdLst/>
              <a:ahLst/>
              <a:cxnLst/>
              <a:rect l="l" t="t" r="r" b="b"/>
              <a:pathLst>
                <a:path w="8892170" h="1737360">
                  <a:moveTo>
                    <a:pt x="0" y="0"/>
                  </a:moveTo>
                  <a:lnTo>
                    <a:pt x="8892170" y="0"/>
                  </a:lnTo>
                  <a:lnTo>
                    <a:pt x="8892170" y="1737360"/>
                  </a:lnTo>
                  <a:lnTo>
                    <a:pt x="0" y="1737360"/>
                  </a:lnTo>
                  <a:close/>
                </a:path>
              </a:pathLst>
            </a:custGeom>
            <a:blipFill>
              <a:blip r:embed="rId3">
                <a:alphaModFix amt="0"/>
              </a:blip>
              <a:stretch>
                <a:fillRect t="-165360" r="-115947" b="-165360"/>
              </a:stretch>
            </a:blipFill>
          </p:spPr>
          <p:txBody>
            <a:bodyPr/>
            <a:lstStyle/>
            <a:p>
              <a:endParaRPr lang="en-US"/>
            </a:p>
          </p:txBody>
        </p:sp>
        <p:sp>
          <p:nvSpPr>
            <p:cNvPr id="13" name="TextBox 13"/>
            <p:cNvSpPr txBox="1"/>
            <p:nvPr/>
          </p:nvSpPr>
          <p:spPr>
            <a:xfrm>
              <a:off x="0" y="38100"/>
              <a:ext cx="8892171" cy="1699260"/>
            </a:xfrm>
            <a:prstGeom prst="rect">
              <a:avLst/>
            </a:prstGeom>
          </p:spPr>
          <p:txBody>
            <a:bodyPr lIns="0" tIns="0" rIns="0" bIns="0" rtlCol="0" anchor="ctr"/>
            <a:lstStyle/>
            <a:p>
              <a:pPr algn="l">
                <a:lnSpc>
                  <a:spcPts val="5120"/>
                </a:lnSpc>
              </a:pPr>
              <a:r>
                <a:rPr lang="en-US" sz="4799" b="1" dirty="0">
                  <a:solidFill>
                    <a:srgbClr val="FFFFFF"/>
                  </a:solidFill>
                  <a:latin typeface="Arial Bold"/>
                  <a:ea typeface="Arial Bold"/>
                  <a:cs typeface="Arial Bold"/>
                  <a:sym typeface="Arial Bold"/>
                </a:rPr>
                <a:t>Board Select</a:t>
              </a:r>
            </a:p>
          </p:txBody>
        </p:sp>
      </p:grpSp>
      <p:grpSp>
        <p:nvGrpSpPr>
          <p:cNvPr id="14" name="Group 14"/>
          <p:cNvGrpSpPr/>
          <p:nvPr/>
        </p:nvGrpSpPr>
        <p:grpSpPr>
          <a:xfrm>
            <a:off x="960119" y="4201193"/>
            <a:ext cx="4976991" cy="2132804"/>
            <a:chOff x="0" y="0"/>
            <a:chExt cx="6635988" cy="2843738"/>
          </a:xfrm>
        </p:grpSpPr>
        <p:sp>
          <p:nvSpPr>
            <p:cNvPr id="15" name="Freeform 15"/>
            <p:cNvSpPr/>
            <p:nvPr/>
          </p:nvSpPr>
          <p:spPr>
            <a:xfrm>
              <a:off x="0" y="0"/>
              <a:ext cx="6635988" cy="2843738"/>
            </a:xfrm>
            <a:custGeom>
              <a:avLst/>
              <a:gdLst/>
              <a:ahLst/>
              <a:cxnLst/>
              <a:rect l="l" t="t" r="r" b="b"/>
              <a:pathLst>
                <a:path w="6635988" h="2843738">
                  <a:moveTo>
                    <a:pt x="0" y="0"/>
                  </a:moveTo>
                  <a:lnTo>
                    <a:pt x="6635988" y="0"/>
                  </a:lnTo>
                  <a:lnTo>
                    <a:pt x="6635988" y="2843738"/>
                  </a:lnTo>
                  <a:lnTo>
                    <a:pt x="0" y="2843738"/>
                  </a:lnTo>
                  <a:close/>
                </a:path>
              </a:pathLst>
            </a:custGeom>
            <a:blipFill>
              <a:blip r:embed="rId3">
                <a:alphaModFix amt="0"/>
              </a:blip>
              <a:stretch>
                <a:fillRect t="-88991" r="-120470" b="-11500"/>
              </a:stretch>
            </a:blipFill>
          </p:spPr>
          <p:txBody>
            <a:bodyPr/>
            <a:lstStyle/>
            <a:p>
              <a:endParaRPr lang="en-US"/>
            </a:p>
          </p:txBody>
        </p:sp>
        <p:sp>
          <p:nvSpPr>
            <p:cNvPr id="16" name="TextBox 16"/>
            <p:cNvSpPr txBox="1"/>
            <p:nvPr/>
          </p:nvSpPr>
          <p:spPr>
            <a:xfrm>
              <a:off x="0" y="-57150"/>
              <a:ext cx="6635988" cy="2900888"/>
            </a:xfrm>
            <a:prstGeom prst="rect">
              <a:avLst/>
            </a:prstGeom>
          </p:spPr>
          <p:txBody>
            <a:bodyPr lIns="0" tIns="0" rIns="0" bIns="0" rtlCol="0" anchor="ctr"/>
            <a:lstStyle/>
            <a:p>
              <a:pPr marL="388620" lvl="1" indent="-194310" algn="l">
                <a:lnSpc>
                  <a:spcPts val="2340"/>
                </a:lnSpc>
                <a:buFont typeface="Arial"/>
                <a:buChar char="•"/>
              </a:pPr>
              <a:r>
                <a:rPr lang="en-US" sz="1800" spc="59" dirty="0">
                  <a:solidFill>
                    <a:srgbClr val="FFFFFF"/>
                  </a:solidFill>
                  <a:latin typeface="Calibri (MS)"/>
                  <a:ea typeface="Calibri (MS)"/>
                  <a:cs typeface="Calibri (MS)"/>
                  <a:sym typeface="Calibri (MS)"/>
                </a:rPr>
                <a:t>Directed from Capture Screen to Board Screen</a:t>
              </a:r>
            </a:p>
            <a:p>
              <a:pPr marL="388620" lvl="1" indent="-194310" algn="l">
                <a:lnSpc>
                  <a:spcPts val="2340"/>
                </a:lnSpc>
                <a:buFont typeface="Arial"/>
                <a:buChar char="•"/>
              </a:pPr>
              <a:r>
                <a:rPr lang="en-US" sz="1800" spc="59" dirty="0">
                  <a:solidFill>
                    <a:srgbClr val="FFFFFF"/>
                  </a:solidFill>
                  <a:latin typeface="Calibri (MS)"/>
                  <a:ea typeface="Calibri (MS)"/>
                  <a:cs typeface="Calibri (MS)"/>
                  <a:sym typeface="Calibri (MS)"/>
                </a:rPr>
                <a:t>User Chooses A Board </a:t>
              </a:r>
            </a:p>
            <a:p>
              <a:pPr marL="777240" lvl="2" indent="-259080" algn="l">
                <a:lnSpc>
                  <a:spcPts val="2340"/>
                </a:lnSpc>
                <a:buFont typeface="Arial"/>
                <a:buChar char="⚬"/>
              </a:pPr>
              <a:r>
                <a:rPr lang="en-US" sz="1800" spc="59" dirty="0">
                  <a:solidFill>
                    <a:srgbClr val="FFFFFF"/>
                  </a:solidFill>
                  <a:latin typeface="Calibri (MS)"/>
                  <a:ea typeface="Calibri (MS)"/>
                  <a:cs typeface="Calibri (MS)"/>
                  <a:sym typeface="Calibri (MS)"/>
                </a:rPr>
                <a:t>Visual Confirmation</a:t>
              </a:r>
            </a:p>
            <a:p>
              <a:pPr marL="777240" lvl="2" indent="-259080" algn="l">
                <a:lnSpc>
                  <a:spcPts val="2340"/>
                </a:lnSpc>
                <a:buFont typeface="Arial"/>
                <a:buChar char="⚬"/>
              </a:pPr>
              <a:r>
                <a:rPr lang="en-US" sz="1800" spc="59" dirty="0">
                  <a:solidFill>
                    <a:srgbClr val="FFFFFF"/>
                  </a:solidFill>
                  <a:latin typeface="Calibri (MS)"/>
                  <a:ea typeface="Calibri (MS)"/>
                  <a:cs typeface="Calibri (MS)"/>
                  <a:sym typeface="Calibri (MS)"/>
                </a:rPr>
                <a:t>Highlighted card switch from grey to white with name of selected board.</a:t>
              </a:r>
            </a:p>
            <a:p>
              <a:pPr marL="777240" lvl="2" indent="-259080" algn="l">
                <a:lnSpc>
                  <a:spcPts val="2340"/>
                </a:lnSpc>
                <a:buFont typeface="Arial"/>
                <a:buChar char="⚬"/>
              </a:pPr>
              <a:r>
                <a:rPr lang="en-US" sz="1800" spc="59" dirty="0">
                  <a:solidFill>
                    <a:srgbClr val="FFFFFF"/>
                  </a:solidFill>
                  <a:latin typeface="Calibri (MS)"/>
                  <a:ea typeface="Calibri (MS)"/>
                  <a:cs typeface="Calibri (MS)"/>
                  <a:sym typeface="Calibri (MS)"/>
                </a:rPr>
                <a:t>Key Icon Changes from  Lock to Unlock  </a:t>
              </a:r>
            </a:p>
          </p:txBody>
        </p:sp>
      </p:grpSp>
      <p:grpSp>
        <p:nvGrpSpPr>
          <p:cNvPr id="389" name="Group 389"/>
          <p:cNvGrpSpPr/>
          <p:nvPr/>
        </p:nvGrpSpPr>
        <p:grpSpPr>
          <a:xfrm>
            <a:off x="8705850" y="9258300"/>
            <a:ext cx="3970969" cy="580191"/>
            <a:chOff x="-697451" y="0"/>
            <a:chExt cx="6321022" cy="923552"/>
          </a:xfrm>
        </p:grpSpPr>
        <p:sp>
          <p:nvSpPr>
            <p:cNvPr id="390" name="Freeform 390"/>
            <p:cNvSpPr/>
            <p:nvPr/>
          </p:nvSpPr>
          <p:spPr>
            <a:xfrm>
              <a:off x="0" y="0"/>
              <a:ext cx="5623571" cy="923552"/>
            </a:xfrm>
            <a:custGeom>
              <a:avLst/>
              <a:gdLst/>
              <a:ahLst/>
              <a:cxnLst/>
              <a:rect l="l" t="t" r="r" b="b"/>
              <a:pathLst>
                <a:path w="5623571" h="923552">
                  <a:moveTo>
                    <a:pt x="0" y="0"/>
                  </a:moveTo>
                  <a:lnTo>
                    <a:pt x="5623571" y="0"/>
                  </a:lnTo>
                  <a:lnTo>
                    <a:pt x="5623571" y="923552"/>
                  </a:lnTo>
                  <a:lnTo>
                    <a:pt x="0" y="923552"/>
                  </a:lnTo>
                  <a:close/>
                </a:path>
              </a:pathLst>
            </a:custGeom>
            <a:blipFill>
              <a:blip r:embed="rId3">
                <a:alphaModFix amt="0"/>
              </a:blip>
              <a:stretch>
                <a:fillRect t="-311072" r="-241462" b="-399189"/>
              </a:stretch>
            </a:blipFill>
          </p:spPr>
          <p:txBody>
            <a:bodyPr/>
            <a:lstStyle/>
            <a:p>
              <a:endParaRPr lang="en-US"/>
            </a:p>
          </p:txBody>
        </p:sp>
        <p:sp>
          <p:nvSpPr>
            <p:cNvPr id="391" name="TextBox 391"/>
            <p:cNvSpPr txBox="1"/>
            <p:nvPr/>
          </p:nvSpPr>
          <p:spPr>
            <a:xfrm>
              <a:off x="-697451" y="0"/>
              <a:ext cx="6321022" cy="923552"/>
            </a:xfrm>
            <a:prstGeom prst="rect">
              <a:avLst/>
            </a:prstGeom>
          </p:spPr>
          <p:txBody>
            <a:bodyPr lIns="0" tIns="0" rIns="0" bIns="0" rtlCol="0" anchor="ctr"/>
            <a:lstStyle/>
            <a:p>
              <a:pPr algn="ctr">
                <a:lnSpc>
                  <a:spcPts val="1920"/>
                </a:lnSpc>
              </a:pPr>
              <a:r>
                <a:rPr lang="en-US" sz="1800" b="1" dirty="0">
                  <a:solidFill>
                    <a:srgbClr val="FFFFFF"/>
                  </a:solidFill>
                  <a:latin typeface="Arial Bold"/>
                  <a:ea typeface="Arial Bold"/>
                  <a:cs typeface="Arial Bold"/>
                  <a:sym typeface="Arial Bold"/>
                </a:rPr>
                <a:t>User Chooses A Board </a:t>
              </a:r>
            </a:p>
          </p:txBody>
        </p:sp>
      </p:grpSp>
      <p:grpSp>
        <p:nvGrpSpPr>
          <p:cNvPr id="392" name="Group 392"/>
          <p:cNvGrpSpPr/>
          <p:nvPr/>
        </p:nvGrpSpPr>
        <p:grpSpPr>
          <a:xfrm>
            <a:off x="13901906" y="9252925"/>
            <a:ext cx="3970969" cy="655967"/>
            <a:chOff x="0" y="0"/>
            <a:chExt cx="6321021" cy="1044174"/>
          </a:xfrm>
        </p:grpSpPr>
        <p:sp>
          <p:nvSpPr>
            <p:cNvPr id="393" name="Freeform 393"/>
            <p:cNvSpPr/>
            <p:nvPr/>
          </p:nvSpPr>
          <p:spPr>
            <a:xfrm>
              <a:off x="0" y="0"/>
              <a:ext cx="6321021" cy="1044174"/>
            </a:xfrm>
            <a:custGeom>
              <a:avLst/>
              <a:gdLst/>
              <a:ahLst/>
              <a:cxnLst/>
              <a:rect l="l" t="t" r="r" b="b"/>
              <a:pathLst>
                <a:path w="6321021" h="1044174">
                  <a:moveTo>
                    <a:pt x="0" y="0"/>
                  </a:moveTo>
                  <a:lnTo>
                    <a:pt x="6321021" y="0"/>
                  </a:lnTo>
                  <a:lnTo>
                    <a:pt x="6321021" y="1044174"/>
                  </a:lnTo>
                  <a:lnTo>
                    <a:pt x="0" y="1044174"/>
                  </a:lnTo>
                  <a:close/>
                </a:path>
              </a:pathLst>
            </a:custGeom>
            <a:blipFill>
              <a:blip r:embed="rId3">
                <a:alphaModFix amt="0"/>
              </a:blip>
              <a:stretch>
                <a:fillRect t="-275137" r="-203786" b="-341523"/>
              </a:stretch>
            </a:blipFill>
          </p:spPr>
          <p:txBody>
            <a:bodyPr/>
            <a:lstStyle/>
            <a:p>
              <a:endParaRPr lang="en-US"/>
            </a:p>
          </p:txBody>
        </p:sp>
        <p:sp>
          <p:nvSpPr>
            <p:cNvPr id="394" name="TextBox 394"/>
            <p:cNvSpPr txBox="1"/>
            <p:nvPr/>
          </p:nvSpPr>
          <p:spPr>
            <a:xfrm>
              <a:off x="0" y="0"/>
              <a:ext cx="6321021" cy="1044174"/>
            </a:xfrm>
            <a:prstGeom prst="rect">
              <a:avLst/>
            </a:prstGeom>
          </p:spPr>
          <p:txBody>
            <a:bodyPr lIns="0" tIns="0" rIns="0" bIns="0" rtlCol="0" anchor="ctr"/>
            <a:lstStyle/>
            <a:p>
              <a:pPr algn="ctr">
                <a:lnSpc>
                  <a:spcPts val="1920"/>
                </a:lnSpc>
              </a:pPr>
              <a:r>
                <a:rPr lang="en-US" sz="1800" b="1">
                  <a:solidFill>
                    <a:srgbClr val="FFFFFF"/>
                  </a:solidFill>
                  <a:latin typeface="Arial Bold"/>
                  <a:ea typeface="Arial Bold"/>
                  <a:cs typeface="Arial Bold"/>
                  <a:sym typeface="Arial Bold"/>
                </a:rPr>
                <a:t>Board Chosen</a:t>
              </a:r>
            </a:p>
          </p:txBody>
        </p:sp>
      </p:grpSp>
      <p:grpSp>
        <p:nvGrpSpPr>
          <p:cNvPr id="395" name="Group 395"/>
          <p:cNvGrpSpPr/>
          <p:nvPr/>
        </p:nvGrpSpPr>
        <p:grpSpPr>
          <a:xfrm>
            <a:off x="12951688" y="9399806"/>
            <a:ext cx="724412" cy="362206"/>
            <a:chOff x="0" y="0"/>
            <a:chExt cx="812800" cy="406400"/>
          </a:xfrm>
        </p:grpSpPr>
        <p:sp>
          <p:nvSpPr>
            <p:cNvPr id="396" name="Freeform 396"/>
            <p:cNvSpPr/>
            <p:nvPr/>
          </p:nvSpPr>
          <p:spPr>
            <a:xfrm>
              <a:off x="0" y="0"/>
              <a:ext cx="812800" cy="406400"/>
            </a:xfrm>
            <a:custGeom>
              <a:avLst/>
              <a:gdLst/>
              <a:ahLst/>
              <a:cxnLst/>
              <a:rect l="l" t="t" r="r" b="b"/>
              <a:pathLst>
                <a:path w="812800" h="406400">
                  <a:moveTo>
                    <a:pt x="0" y="0"/>
                  </a:moveTo>
                  <a:lnTo>
                    <a:pt x="609600" y="0"/>
                  </a:lnTo>
                  <a:lnTo>
                    <a:pt x="812800" y="203200"/>
                  </a:lnTo>
                  <a:lnTo>
                    <a:pt x="609600" y="406400"/>
                  </a:lnTo>
                  <a:lnTo>
                    <a:pt x="0" y="406400"/>
                  </a:lnTo>
                  <a:lnTo>
                    <a:pt x="203200" y="203200"/>
                  </a:lnTo>
                  <a:lnTo>
                    <a:pt x="0" y="0"/>
                  </a:lnTo>
                  <a:close/>
                </a:path>
              </a:pathLst>
            </a:custGeom>
            <a:solidFill>
              <a:srgbClr val="FFDE59"/>
            </a:solidFill>
          </p:spPr>
          <p:txBody>
            <a:bodyPr/>
            <a:lstStyle/>
            <a:p>
              <a:endParaRPr lang="en-US"/>
            </a:p>
          </p:txBody>
        </p:sp>
        <p:sp>
          <p:nvSpPr>
            <p:cNvPr id="397" name="TextBox 397"/>
            <p:cNvSpPr txBox="1"/>
            <p:nvPr/>
          </p:nvSpPr>
          <p:spPr>
            <a:xfrm>
              <a:off x="177800" y="-47625"/>
              <a:ext cx="558800" cy="454025"/>
            </a:xfrm>
            <a:prstGeom prst="rect">
              <a:avLst/>
            </a:prstGeom>
          </p:spPr>
          <p:txBody>
            <a:bodyPr lIns="50800" tIns="50800" rIns="50800" bIns="50800" rtlCol="0" anchor="ctr"/>
            <a:lstStyle/>
            <a:p>
              <a:pPr algn="ctr">
                <a:lnSpc>
                  <a:spcPts val="2340"/>
                </a:lnSpc>
              </a:pPr>
              <a:endParaRPr/>
            </a:p>
          </p:txBody>
        </p:sp>
      </p:grpSp>
      <p:grpSp>
        <p:nvGrpSpPr>
          <p:cNvPr id="398" name="Group 398"/>
          <p:cNvGrpSpPr/>
          <p:nvPr/>
        </p:nvGrpSpPr>
        <p:grpSpPr>
          <a:xfrm>
            <a:off x="13001573" y="4620208"/>
            <a:ext cx="724412" cy="362206"/>
            <a:chOff x="0" y="0"/>
            <a:chExt cx="812800" cy="406400"/>
          </a:xfrm>
        </p:grpSpPr>
        <p:sp>
          <p:nvSpPr>
            <p:cNvPr id="399" name="Freeform 399"/>
            <p:cNvSpPr/>
            <p:nvPr/>
          </p:nvSpPr>
          <p:spPr>
            <a:xfrm>
              <a:off x="0" y="0"/>
              <a:ext cx="812800" cy="406400"/>
            </a:xfrm>
            <a:custGeom>
              <a:avLst/>
              <a:gdLst/>
              <a:ahLst/>
              <a:cxnLst/>
              <a:rect l="l" t="t" r="r" b="b"/>
              <a:pathLst>
                <a:path w="812800" h="406400">
                  <a:moveTo>
                    <a:pt x="0" y="0"/>
                  </a:moveTo>
                  <a:lnTo>
                    <a:pt x="609600" y="0"/>
                  </a:lnTo>
                  <a:lnTo>
                    <a:pt x="812800" y="203200"/>
                  </a:lnTo>
                  <a:lnTo>
                    <a:pt x="609600" y="406400"/>
                  </a:lnTo>
                  <a:lnTo>
                    <a:pt x="0" y="406400"/>
                  </a:lnTo>
                  <a:lnTo>
                    <a:pt x="203200" y="203200"/>
                  </a:lnTo>
                  <a:lnTo>
                    <a:pt x="0" y="0"/>
                  </a:lnTo>
                  <a:close/>
                </a:path>
              </a:pathLst>
            </a:custGeom>
            <a:solidFill>
              <a:srgbClr val="FFDE59"/>
            </a:solidFill>
          </p:spPr>
          <p:txBody>
            <a:bodyPr/>
            <a:lstStyle/>
            <a:p>
              <a:endParaRPr lang="en-US"/>
            </a:p>
          </p:txBody>
        </p:sp>
        <p:sp>
          <p:nvSpPr>
            <p:cNvPr id="400" name="TextBox 400"/>
            <p:cNvSpPr txBox="1"/>
            <p:nvPr/>
          </p:nvSpPr>
          <p:spPr>
            <a:xfrm>
              <a:off x="177800" y="-47625"/>
              <a:ext cx="558800" cy="454025"/>
            </a:xfrm>
            <a:prstGeom prst="rect">
              <a:avLst/>
            </a:prstGeom>
          </p:spPr>
          <p:txBody>
            <a:bodyPr lIns="50800" tIns="50800" rIns="50800" bIns="50800" rtlCol="0" anchor="ctr"/>
            <a:lstStyle/>
            <a:p>
              <a:pPr algn="ctr">
                <a:lnSpc>
                  <a:spcPts val="2340"/>
                </a:lnSpc>
              </a:pPr>
              <a:endParaRPr/>
            </a:p>
          </p:txBody>
        </p:sp>
      </p:grpSp>
      <p:pic>
        <p:nvPicPr>
          <p:cNvPr id="406" name="Picture 405">
            <a:extLst>
              <a:ext uri="{FF2B5EF4-FFF2-40B4-BE49-F238E27FC236}">
                <a16:creationId xmlns:a16="http://schemas.microsoft.com/office/drawing/2014/main" id="{ECCFC0C2-775D-C44A-4871-A83A09A4E3D4}"/>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511430" y="628718"/>
            <a:ext cx="4191000" cy="8267700"/>
          </a:xfrm>
          <a:prstGeom prst="rect">
            <a:avLst/>
          </a:prstGeom>
        </p:spPr>
      </p:pic>
      <p:pic>
        <p:nvPicPr>
          <p:cNvPr id="408" name="Picture 407">
            <a:extLst>
              <a:ext uri="{FF2B5EF4-FFF2-40B4-BE49-F238E27FC236}">
                <a16:creationId xmlns:a16="http://schemas.microsoft.com/office/drawing/2014/main" id="{6DDE33AF-A328-7D14-7705-CDB18BA77935}"/>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3927387" y="628718"/>
            <a:ext cx="4191000" cy="8267700"/>
          </a:xfrm>
          <a:prstGeom prst="rect">
            <a:avLst/>
          </a:prstGeom>
        </p:spPr>
      </p:pic>
      <p:grpSp>
        <p:nvGrpSpPr>
          <p:cNvPr id="17" name="Group 2">
            <a:extLst>
              <a:ext uri="{FF2B5EF4-FFF2-40B4-BE49-F238E27FC236}">
                <a16:creationId xmlns:a16="http://schemas.microsoft.com/office/drawing/2014/main" id="{1C2F9764-78A6-689E-FDF8-6297DF6A3029}"/>
              </a:ext>
            </a:extLst>
          </p:cNvPr>
          <p:cNvGrpSpPr/>
          <p:nvPr/>
        </p:nvGrpSpPr>
        <p:grpSpPr>
          <a:xfrm>
            <a:off x="960120" y="734066"/>
            <a:ext cx="10972800" cy="480060"/>
            <a:chOff x="0" y="0"/>
            <a:chExt cx="14630400" cy="640080"/>
          </a:xfrm>
        </p:grpSpPr>
        <p:sp>
          <p:nvSpPr>
            <p:cNvPr id="18" name="Freeform 3">
              <a:extLst>
                <a:ext uri="{FF2B5EF4-FFF2-40B4-BE49-F238E27FC236}">
                  <a16:creationId xmlns:a16="http://schemas.microsoft.com/office/drawing/2014/main" id="{809C52AC-17BA-654D-80FF-1225B81ACA6D}"/>
                </a:ext>
              </a:extLst>
            </p:cNvPr>
            <p:cNvSpPr/>
            <p:nvPr/>
          </p:nvSpPr>
          <p:spPr>
            <a:xfrm>
              <a:off x="0" y="0"/>
              <a:ext cx="14630400" cy="640080"/>
            </a:xfrm>
            <a:custGeom>
              <a:avLst/>
              <a:gdLst/>
              <a:ahLst/>
              <a:cxnLst/>
              <a:rect l="l" t="t" r="r" b="b"/>
              <a:pathLst>
                <a:path w="14630400" h="640080">
                  <a:moveTo>
                    <a:pt x="0" y="0"/>
                  </a:moveTo>
                  <a:lnTo>
                    <a:pt x="14630400" y="0"/>
                  </a:lnTo>
                  <a:lnTo>
                    <a:pt x="14630400" y="640080"/>
                  </a:lnTo>
                  <a:lnTo>
                    <a:pt x="0" y="640080"/>
                  </a:lnTo>
                  <a:close/>
                </a:path>
              </a:pathLst>
            </a:custGeom>
            <a:blipFill>
              <a:blip r:embed="rId3">
                <a:alphaModFix amt="0"/>
              </a:blip>
              <a:stretch>
                <a:fillRect t="-395372" b="-395372"/>
              </a:stretch>
            </a:blipFill>
          </p:spPr>
          <p:txBody>
            <a:bodyPr/>
            <a:lstStyle/>
            <a:p>
              <a:endParaRPr lang="en-US"/>
            </a:p>
          </p:txBody>
        </p:sp>
        <p:sp>
          <p:nvSpPr>
            <p:cNvPr id="19" name="TextBox 4">
              <a:extLst>
                <a:ext uri="{FF2B5EF4-FFF2-40B4-BE49-F238E27FC236}">
                  <a16:creationId xmlns:a16="http://schemas.microsoft.com/office/drawing/2014/main" id="{46C12387-22BF-7ED4-36C6-27F85CE9FE78}"/>
                </a:ext>
              </a:extLst>
            </p:cNvPr>
            <p:cNvSpPr txBox="1"/>
            <p:nvPr/>
          </p:nvSpPr>
          <p:spPr>
            <a:xfrm>
              <a:off x="0" y="-19050"/>
              <a:ext cx="14630400" cy="659130"/>
            </a:xfrm>
            <a:prstGeom prst="rect">
              <a:avLst/>
            </a:prstGeom>
          </p:spPr>
          <p:txBody>
            <a:bodyPr lIns="0" tIns="0" rIns="0" bIns="0" rtlCol="0" anchor="ctr"/>
            <a:lstStyle/>
            <a:p>
              <a:pPr algn="l">
                <a:lnSpc>
                  <a:spcPts val="2160"/>
                </a:lnSpc>
              </a:pPr>
              <a:r>
                <a:rPr lang="en-US" sz="1800" b="1" spc="450" dirty="0">
                  <a:solidFill>
                    <a:srgbClr val="FFFFFF"/>
                  </a:solidFill>
                  <a:latin typeface="Arial Bold"/>
                  <a:ea typeface="Arial Bold"/>
                  <a:cs typeface="Arial Bold"/>
                  <a:sym typeface="Arial Bold"/>
                </a:rPr>
                <a:t>FEATURE CONCEPT - OCTOBER 2026</a:t>
              </a:r>
            </a:p>
          </p:txBody>
        </p:sp>
      </p:grpSp>
      <p:grpSp>
        <p:nvGrpSpPr>
          <p:cNvPr id="20" name="Group 5">
            <a:extLst>
              <a:ext uri="{FF2B5EF4-FFF2-40B4-BE49-F238E27FC236}">
                <a16:creationId xmlns:a16="http://schemas.microsoft.com/office/drawing/2014/main" id="{F6C7F2BA-3DC8-484E-3FDA-08DC6A93D8B9}"/>
              </a:ext>
            </a:extLst>
          </p:cNvPr>
          <p:cNvGrpSpPr/>
          <p:nvPr/>
        </p:nvGrpSpPr>
        <p:grpSpPr>
          <a:xfrm>
            <a:off x="960120" y="1214126"/>
            <a:ext cx="8183880" cy="718073"/>
            <a:chOff x="0" y="0"/>
            <a:chExt cx="10911840" cy="957431"/>
          </a:xfrm>
        </p:grpSpPr>
        <p:sp>
          <p:nvSpPr>
            <p:cNvPr id="21" name="Freeform 6">
              <a:extLst>
                <a:ext uri="{FF2B5EF4-FFF2-40B4-BE49-F238E27FC236}">
                  <a16:creationId xmlns:a16="http://schemas.microsoft.com/office/drawing/2014/main" id="{D11CEDFD-0912-B548-ED5D-A6CF8AA9B2B6}"/>
                </a:ext>
              </a:extLst>
            </p:cNvPr>
            <p:cNvSpPr/>
            <p:nvPr/>
          </p:nvSpPr>
          <p:spPr>
            <a:xfrm>
              <a:off x="0" y="0"/>
              <a:ext cx="10911840" cy="957431"/>
            </a:xfrm>
            <a:custGeom>
              <a:avLst/>
              <a:gdLst/>
              <a:ahLst/>
              <a:cxnLst/>
              <a:rect l="l" t="t" r="r" b="b"/>
              <a:pathLst>
                <a:path w="10911840" h="957431">
                  <a:moveTo>
                    <a:pt x="0" y="0"/>
                  </a:moveTo>
                  <a:lnTo>
                    <a:pt x="10911840" y="0"/>
                  </a:lnTo>
                  <a:lnTo>
                    <a:pt x="10911840" y="957431"/>
                  </a:lnTo>
                  <a:lnTo>
                    <a:pt x="0" y="957431"/>
                  </a:lnTo>
                  <a:close/>
                </a:path>
              </a:pathLst>
            </a:custGeom>
            <a:blipFill>
              <a:blip r:embed="rId3">
                <a:alphaModFix amt="0"/>
              </a:blip>
              <a:stretch>
                <a:fillRect t="-300064" r="-75977" b="-381525"/>
              </a:stretch>
            </a:blipFill>
          </p:spPr>
          <p:txBody>
            <a:bodyPr/>
            <a:lstStyle/>
            <a:p>
              <a:endParaRPr lang="en-US"/>
            </a:p>
          </p:txBody>
        </p:sp>
        <p:sp>
          <p:nvSpPr>
            <p:cNvPr id="22" name="TextBox 7">
              <a:extLst>
                <a:ext uri="{FF2B5EF4-FFF2-40B4-BE49-F238E27FC236}">
                  <a16:creationId xmlns:a16="http://schemas.microsoft.com/office/drawing/2014/main" id="{D7E767A0-1915-FAD1-F859-D547C54E5288}"/>
                </a:ext>
              </a:extLst>
            </p:cNvPr>
            <p:cNvSpPr txBox="1"/>
            <p:nvPr/>
          </p:nvSpPr>
          <p:spPr>
            <a:xfrm>
              <a:off x="0" y="19050"/>
              <a:ext cx="10911840" cy="938381"/>
            </a:xfrm>
            <a:prstGeom prst="rect">
              <a:avLst/>
            </a:prstGeom>
          </p:spPr>
          <p:txBody>
            <a:bodyPr lIns="0" tIns="0" rIns="0" bIns="0" rtlCol="0" anchor="ctr"/>
            <a:lstStyle/>
            <a:p>
              <a:pPr algn="l">
                <a:lnSpc>
                  <a:spcPts val="3733"/>
                </a:lnSpc>
              </a:pPr>
              <a:r>
                <a:rPr lang="en-US" sz="3500" b="1">
                  <a:solidFill>
                    <a:srgbClr val="FFDE59"/>
                  </a:solidFill>
                  <a:latin typeface="Arial Bold"/>
                  <a:ea typeface="Arial Bold"/>
                  <a:cs typeface="Arial Bold"/>
                  <a:sym typeface="Arial Bold"/>
                </a:rPr>
                <a:t>BeReal.</a:t>
              </a:r>
            </a:p>
          </p:txBody>
        </p:sp>
      </p:grpSp>
      <p:grpSp>
        <p:nvGrpSpPr>
          <p:cNvPr id="23" name="Group 8">
            <a:extLst>
              <a:ext uri="{FF2B5EF4-FFF2-40B4-BE49-F238E27FC236}">
                <a16:creationId xmlns:a16="http://schemas.microsoft.com/office/drawing/2014/main" id="{ED688545-9DF4-19E4-2390-924E4DE73A7D}"/>
              </a:ext>
            </a:extLst>
          </p:cNvPr>
          <p:cNvGrpSpPr/>
          <p:nvPr/>
        </p:nvGrpSpPr>
        <p:grpSpPr>
          <a:xfrm>
            <a:off x="960120" y="2114645"/>
            <a:ext cx="10972800" cy="480060"/>
            <a:chOff x="0" y="0"/>
            <a:chExt cx="14630400" cy="640080"/>
          </a:xfrm>
        </p:grpSpPr>
        <p:sp>
          <p:nvSpPr>
            <p:cNvPr id="24" name="Freeform 9">
              <a:extLst>
                <a:ext uri="{FF2B5EF4-FFF2-40B4-BE49-F238E27FC236}">
                  <a16:creationId xmlns:a16="http://schemas.microsoft.com/office/drawing/2014/main" id="{BFF71A0A-C49D-8D06-73D5-6203C5242F68}"/>
                </a:ext>
              </a:extLst>
            </p:cNvPr>
            <p:cNvSpPr/>
            <p:nvPr/>
          </p:nvSpPr>
          <p:spPr>
            <a:xfrm>
              <a:off x="0" y="0"/>
              <a:ext cx="14630400" cy="640080"/>
            </a:xfrm>
            <a:custGeom>
              <a:avLst/>
              <a:gdLst/>
              <a:ahLst/>
              <a:cxnLst/>
              <a:rect l="l" t="t" r="r" b="b"/>
              <a:pathLst>
                <a:path w="14630400" h="640080">
                  <a:moveTo>
                    <a:pt x="0" y="0"/>
                  </a:moveTo>
                  <a:lnTo>
                    <a:pt x="14630400" y="0"/>
                  </a:lnTo>
                  <a:lnTo>
                    <a:pt x="14630400" y="640080"/>
                  </a:lnTo>
                  <a:lnTo>
                    <a:pt x="0" y="640080"/>
                  </a:lnTo>
                  <a:close/>
                </a:path>
              </a:pathLst>
            </a:custGeom>
            <a:blipFill>
              <a:blip r:embed="rId3">
                <a:alphaModFix amt="0"/>
              </a:blip>
              <a:stretch>
                <a:fillRect t="-395372" b="-395372"/>
              </a:stretch>
            </a:blipFill>
          </p:spPr>
          <p:txBody>
            <a:bodyPr/>
            <a:lstStyle/>
            <a:p>
              <a:endParaRPr lang="en-US"/>
            </a:p>
          </p:txBody>
        </p:sp>
        <p:sp>
          <p:nvSpPr>
            <p:cNvPr id="25" name="TextBox 10">
              <a:extLst>
                <a:ext uri="{FF2B5EF4-FFF2-40B4-BE49-F238E27FC236}">
                  <a16:creationId xmlns:a16="http://schemas.microsoft.com/office/drawing/2014/main" id="{9298194B-8CC8-11B0-477F-B1B4360C468B}"/>
                </a:ext>
              </a:extLst>
            </p:cNvPr>
            <p:cNvSpPr txBox="1"/>
            <p:nvPr/>
          </p:nvSpPr>
          <p:spPr>
            <a:xfrm>
              <a:off x="0" y="-19050"/>
              <a:ext cx="14630400" cy="659130"/>
            </a:xfrm>
            <a:prstGeom prst="rect">
              <a:avLst/>
            </a:prstGeom>
          </p:spPr>
          <p:txBody>
            <a:bodyPr lIns="0" tIns="0" rIns="0" bIns="0" rtlCol="0" anchor="ctr"/>
            <a:lstStyle/>
            <a:p>
              <a:pPr algn="l">
                <a:lnSpc>
                  <a:spcPts val="2160"/>
                </a:lnSpc>
              </a:pPr>
              <a:r>
                <a:rPr lang="en-US" sz="1800" b="1" spc="450">
                  <a:solidFill>
                    <a:srgbClr val="FFFFFF"/>
                  </a:solidFill>
                  <a:latin typeface="Arial Bold"/>
                  <a:ea typeface="Arial Bold"/>
                  <a:cs typeface="Arial Bold"/>
                  <a:sym typeface="Arial Bold"/>
                </a:rPr>
                <a:t>BEREAL PASSPORT &amp; COMMUNITY BOARDS</a:t>
              </a:r>
            </a:p>
          </p:txBody>
        </p:sp>
      </p:gr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0A0A0A"/>
        </a:solidFill>
        <a:effectLst/>
      </p:bgPr>
    </p:bg>
    <p:spTree>
      <p:nvGrpSpPr>
        <p:cNvPr id="1" name=""/>
        <p:cNvGrpSpPr/>
        <p:nvPr/>
      </p:nvGrpSpPr>
      <p:grpSpPr>
        <a:xfrm>
          <a:off x="0" y="0"/>
          <a:ext cx="0" cy="0"/>
          <a:chOff x="0" y="0"/>
          <a:chExt cx="0" cy="0"/>
        </a:xfrm>
      </p:grpSpPr>
      <p:grpSp>
        <p:nvGrpSpPr>
          <p:cNvPr id="11" name="Group 11"/>
          <p:cNvGrpSpPr/>
          <p:nvPr/>
        </p:nvGrpSpPr>
        <p:grpSpPr>
          <a:xfrm>
            <a:off x="960120" y="3164199"/>
            <a:ext cx="7132320" cy="1303020"/>
            <a:chOff x="0" y="0"/>
            <a:chExt cx="9509760" cy="1737360"/>
          </a:xfrm>
        </p:grpSpPr>
        <p:sp>
          <p:nvSpPr>
            <p:cNvPr id="12" name="Freeform 12"/>
            <p:cNvSpPr/>
            <p:nvPr/>
          </p:nvSpPr>
          <p:spPr>
            <a:xfrm>
              <a:off x="0" y="0"/>
              <a:ext cx="9509760" cy="1737360"/>
            </a:xfrm>
            <a:custGeom>
              <a:avLst/>
              <a:gdLst/>
              <a:ahLst/>
              <a:cxnLst/>
              <a:rect l="l" t="t" r="r" b="b"/>
              <a:pathLst>
                <a:path w="9509760" h="1737360">
                  <a:moveTo>
                    <a:pt x="0" y="0"/>
                  </a:moveTo>
                  <a:lnTo>
                    <a:pt x="9509760" y="0"/>
                  </a:lnTo>
                  <a:lnTo>
                    <a:pt x="9509760" y="1737360"/>
                  </a:lnTo>
                  <a:lnTo>
                    <a:pt x="0" y="1737360"/>
                  </a:lnTo>
                  <a:close/>
                </a:path>
              </a:pathLst>
            </a:custGeom>
            <a:blipFill>
              <a:blip r:embed="rId3">
                <a:alphaModFix amt="0"/>
              </a:blip>
              <a:stretch>
                <a:fillRect t="-165360" r="-101923" b="-165360"/>
              </a:stretch>
            </a:blipFill>
          </p:spPr>
          <p:txBody>
            <a:bodyPr/>
            <a:lstStyle/>
            <a:p>
              <a:endParaRPr lang="en-US"/>
            </a:p>
          </p:txBody>
        </p:sp>
        <p:sp>
          <p:nvSpPr>
            <p:cNvPr id="13" name="TextBox 13"/>
            <p:cNvSpPr txBox="1"/>
            <p:nvPr/>
          </p:nvSpPr>
          <p:spPr>
            <a:xfrm>
              <a:off x="0" y="38100"/>
              <a:ext cx="9509760" cy="1699260"/>
            </a:xfrm>
            <a:prstGeom prst="rect">
              <a:avLst/>
            </a:prstGeom>
          </p:spPr>
          <p:txBody>
            <a:bodyPr lIns="0" tIns="0" rIns="0" bIns="0" rtlCol="0" anchor="ctr"/>
            <a:lstStyle/>
            <a:p>
              <a:pPr algn="l">
                <a:lnSpc>
                  <a:spcPts val="5120"/>
                </a:lnSpc>
              </a:pPr>
              <a:r>
                <a:rPr lang="en-US" sz="4799" b="1" dirty="0">
                  <a:solidFill>
                    <a:srgbClr val="FFFFFF"/>
                  </a:solidFill>
                  <a:latin typeface="Arial Bold"/>
                  <a:ea typeface="Arial Bold"/>
                  <a:cs typeface="Arial Bold"/>
                  <a:sym typeface="Arial Bold"/>
                </a:rPr>
                <a:t>Post Confirm</a:t>
              </a:r>
            </a:p>
          </p:txBody>
        </p:sp>
      </p:grpSp>
      <p:grpSp>
        <p:nvGrpSpPr>
          <p:cNvPr id="14" name="Group 14"/>
          <p:cNvGrpSpPr/>
          <p:nvPr/>
        </p:nvGrpSpPr>
        <p:grpSpPr>
          <a:xfrm>
            <a:off x="1028700" y="4648194"/>
            <a:ext cx="4023360" cy="4199729"/>
            <a:chOff x="0" y="0"/>
            <a:chExt cx="5364480" cy="5599638"/>
          </a:xfrm>
        </p:grpSpPr>
        <p:sp>
          <p:nvSpPr>
            <p:cNvPr id="15" name="Freeform 15"/>
            <p:cNvSpPr/>
            <p:nvPr/>
          </p:nvSpPr>
          <p:spPr>
            <a:xfrm>
              <a:off x="0" y="0"/>
              <a:ext cx="5364480" cy="5599638"/>
            </a:xfrm>
            <a:custGeom>
              <a:avLst/>
              <a:gdLst/>
              <a:ahLst/>
              <a:cxnLst/>
              <a:rect l="l" t="t" r="r" b="b"/>
              <a:pathLst>
                <a:path w="5364480" h="5599638">
                  <a:moveTo>
                    <a:pt x="0" y="0"/>
                  </a:moveTo>
                  <a:lnTo>
                    <a:pt x="5364480" y="0"/>
                  </a:lnTo>
                  <a:lnTo>
                    <a:pt x="5364480" y="5599638"/>
                  </a:lnTo>
                  <a:lnTo>
                    <a:pt x="0" y="5599638"/>
                  </a:lnTo>
                  <a:close/>
                </a:path>
              </a:pathLst>
            </a:custGeom>
            <a:blipFill>
              <a:blip r:embed="rId3">
                <a:alphaModFix amt="0"/>
              </a:blip>
              <a:stretch>
                <a:fillRect t="-45193" r="-172727" b="43375"/>
              </a:stretch>
            </a:blipFill>
          </p:spPr>
          <p:txBody>
            <a:bodyPr/>
            <a:lstStyle/>
            <a:p>
              <a:endParaRPr lang="en-US"/>
            </a:p>
          </p:txBody>
        </p:sp>
        <p:sp>
          <p:nvSpPr>
            <p:cNvPr id="16" name="TextBox 16"/>
            <p:cNvSpPr txBox="1"/>
            <p:nvPr/>
          </p:nvSpPr>
          <p:spPr>
            <a:xfrm>
              <a:off x="0" y="-57150"/>
              <a:ext cx="5364480" cy="5656788"/>
            </a:xfrm>
            <a:prstGeom prst="rect">
              <a:avLst/>
            </a:prstGeom>
          </p:spPr>
          <p:txBody>
            <a:bodyPr lIns="0" tIns="0" rIns="0" bIns="0" rtlCol="0" anchor="ctr"/>
            <a:lstStyle/>
            <a:p>
              <a:pPr marL="388620" lvl="1" indent="-194310" algn="l">
                <a:lnSpc>
                  <a:spcPts val="2340"/>
                </a:lnSpc>
                <a:buFont typeface="Arial"/>
                <a:buChar char="•"/>
              </a:pPr>
              <a:r>
                <a:rPr lang="en-US" sz="1800" spc="59" dirty="0">
                  <a:solidFill>
                    <a:srgbClr val="FFFFFF"/>
                  </a:solidFill>
                  <a:latin typeface="Calibri (MS)"/>
                  <a:ea typeface="Calibri (MS)"/>
                  <a:cs typeface="Calibri (MS)"/>
                  <a:sym typeface="Calibri (MS)"/>
                </a:rPr>
                <a:t>Happy path messages:</a:t>
              </a:r>
            </a:p>
            <a:p>
              <a:pPr marL="777240" lvl="2" indent="-259080" algn="l">
                <a:lnSpc>
                  <a:spcPts val="2340"/>
                </a:lnSpc>
                <a:buFont typeface="Arial"/>
                <a:buChar char="⚬"/>
              </a:pPr>
              <a:r>
                <a:rPr lang="en-US" sz="1800" spc="59" dirty="0">
                  <a:solidFill>
                    <a:srgbClr val="FFFFFF"/>
                  </a:solidFill>
                  <a:latin typeface="Calibri (MS)"/>
                  <a:ea typeface="Calibri (MS)"/>
                  <a:cs typeface="Calibri (MS)"/>
                  <a:sym typeface="Calibri (MS)"/>
                </a:rPr>
                <a:t>Loading</a:t>
              </a:r>
            </a:p>
            <a:p>
              <a:pPr marL="1165860" lvl="3" indent="-291465" algn="l">
                <a:lnSpc>
                  <a:spcPts val="2340"/>
                </a:lnSpc>
                <a:buFont typeface="Arial"/>
                <a:buChar char="￭"/>
              </a:pPr>
              <a:r>
                <a:rPr lang="en-US" sz="1800" i="1" spc="59" dirty="0">
                  <a:solidFill>
                    <a:srgbClr val="FFFFFF"/>
                  </a:solidFill>
                  <a:latin typeface="Calibri (MS) Italics"/>
                  <a:ea typeface="Calibri (MS) Italics"/>
                  <a:cs typeface="Calibri (MS) Italics"/>
                  <a:sym typeface="Calibri (MS) Italics"/>
                </a:rPr>
                <a:t>“Stamping your passport..”</a:t>
              </a:r>
              <a:r>
                <a:rPr lang="en-US" sz="1800" spc="59" dirty="0">
                  <a:solidFill>
                    <a:srgbClr val="FFFFFF"/>
                  </a:solidFill>
                  <a:latin typeface="Calibri (MS)"/>
                  <a:ea typeface="Calibri (MS)"/>
                  <a:cs typeface="Calibri (MS)"/>
                  <a:sym typeface="Calibri (MS)"/>
                </a:rPr>
                <a:t> </a:t>
              </a:r>
            </a:p>
            <a:p>
              <a:pPr marL="777240" lvl="2" indent="-259080" algn="l">
                <a:lnSpc>
                  <a:spcPts val="2340"/>
                </a:lnSpc>
                <a:buFont typeface="Arial"/>
                <a:buChar char="⚬"/>
              </a:pPr>
              <a:r>
                <a:rPr lang="en-US" sz="1800" spc="59" dirty="0">
                  <a:solidFill>
                    <a:srgbClr val="FFFFFF"/>
                  </a:solidFill>
                  <a:latin typeface="Calibri (MS)"/>
                  <a:ea typeface="Calibri (MS)"/>
                  <a:cs typeface="Calibri (MS)"/>
                  <a:sym typeface="Calibri (MS)"/>
                </a:rPr>
                <a:t>Success</a:t>
              </a:r>
            </a:p>
            <a:p>
              <a:pPr marL="1165860" lvl="3" indent="-291465" algn="l">
                <a:lnSpc>
                  <a:spcPts val="2340"/>
                </a:lnSpc>
                <a:buFont typeface="Arial"/>
                <a:buChar char="￭"/>
              </a:pPr>
              <a:r>
                <a:rPr lang="en-US" sz="1800" i="1" spc="59" dirty="0">
                  <a:solidFill>
                    <a:srgbClr val="FFFFFF"/>
                  </a:solidFill>
                  <a:latin typeface="Calibri (MS) Italics"/>
                  <a:ea typeface="Calibri (MS) Italics"/>
                  <a:cs typeface="Calibri (MS) Italics"/>
                  <a:sym typeface="Calibri (MS) Italics"/>
                </a:rPr>
                <a:t>“Stamp earned! Added to CRAMMING board🎉”</a:t>
              </a:r>
            </a:p>
            <a:p>
              <a:pPr marL="388620" lvl="1" indent="-194310" algn="l">
                <a:lnSpc>
                  <a:spcPts val="2340"/>
                </a:lnSpc>
                <a:buFont typeface="Arial"/>
                <a:buChar char="•"/>
              </a:pPr>
              <a:r>
                <a:rPr lang="en-US" sz="1800" spc="59" dirty="0">
                  <a:solidFill>
                    <a:srgbClr val="FFFFFF"/>
                  </a:solidFill>
                  <a:latin typeface="Calibri (MS)"/>
                  <a:ea typeface="Calibri (MS)"/>
                  <a:cs typeface="Calibri (MS)"/>
                  <a:sym typeface="Calibri (MS)"/>
                </a:rPr>
                <a:t>If something goes wrong, a message will display:</a:t>
              </a:r>
            </a:p>
            <a:p>
              <a:pPr marL="777240" lvl="2" indent="-259080" algn="l">
                <a:lnSpc>
                  <a:spcPts val="2340"/>
                </a:lnSpc>
                <a:buFont typeface="Arial"/>
                <a:buChar char="⚬"/>
              </a:pPr>
              <a:r>
                <a:rPr lang="en-US" sz="1800" spc="59" dirty="0">
                  <a:solidFill>
                    <a:srgbClr val="FFFFFF"/>
                  </a:solidFill>
                  <a:latin typeface="Calibri (MS)"/>
                  <a:ea typeface="Calibri (MS)"/>
                  <a:cs typeface="Calibri (MS)"/>
                  <a:sym typeface="Calibri (MS)"/>
                </a:rPr>
                <a:t>Empty state</a:t>
              </a:r>
            </a:p>
            <a:p>
              <a:pPr marL="1165860" lvl="3" indent="-291465" algn="l">
                <a:lnSpc>
                  <a:spcPts val="2340"/>
                </a:lnSpc>
                <a:buFont typeface="Arial"/>
                <a:buChar char="￭"/>
              </a:pPr>
              <a:r>
                <a:rPr lang="en-US" sz="1800" i="1" spc="59" dirty="0">
                  <a:solidFill>
                    <a:srgbClr val="FFFFFF"/>
                  </a:solidFill>
                  <a:latin typeface="Calibri (MS) Italics"/>
                  <a:ea typeface="Calibri (MS) Italics"/>
                  <a:cs typeface="Calibri (MS) Italics"/>
                  <a:sym typeface="Calibri (MS) Italics"/>
                </a:rPr>
                <a:t>“No one’s posted to this board yet - be the first!”</a:t>
              </a:r>
            </a:p>
            <a:p>
              <a:pPr marL="777240" lvl="2" indent="-259080" algn="l">
                <a:lnSpc>
                  <a:spcPts val="2340"/>
                </a:lnSpc>
                <a:buFont typeface="Arial"/>
                <a:buChar char="⚬"/>
              </a:pPr>
              <a:r>
                <a:rPr lang="en-US" sz="1800" spc="59" dirty="0">
                  <a:solidFill>
                    <a:srgbClr val="FFFFFF"/>
                  </a:solidFill>
                  <a:latin typeface="Calibri (MS)"/>
                  <a:ea typeface="Calibri (MS)"/>
                  <a:cs typeface="Calibri (MS)"/>
                  <a:sym typeface="Calibri (MS)"/>
                </a:rPr>
                <a:t>Error state</a:t>
              </a:r>
            </a:p>
            <a:p>
              <a:pPr marL="1165860" lvl="3" indent="-291465" algn="l">
                <a:lnSpc>
                  <a:spcPts val="2340"/>
                </a:lnSpc>
                <a:buFont typeface="Arial"/>
                <a:buChar char="￭"/>
              </a:pPr>
              <a:r>
                <a:rPr lang="en-US" sz="1800" i="1" spc="59" dirty="0">
                  <a:solidFill>
                    <a:srgbClr val="FFFFFF"/>
                  </a:solidFill>
                  <a:latin typeface="Calibri (MS) Italics"/>
                  <a:ea typeface="Calibri (MS) Italics"/>
                  <a:cs typeface="Calibri (MS) Italics"/>
                  <a:sym typeface="Calibri (MS) Italics"/>
                </a:rPr>
                <a:t>“⚠️ That didn’t go through. Let’s try again.”</a:t>
              </a:r>
            </a:p>
          </p:txBody>
        </p:sp>
      </p:grpSp>
      <p:grpSp>
        <p:nvGrpSpPr>
          <p:cNvPr id="17" name="Group 17"/>
          <p:cNvGrpSpPr/>
          <p:nvPr/>
        </p:nvGrpSpPr>
        <p:grpSpPr>
          <a:xfrm>
            <a:off x="8293662" y="883035"/>
            <a:ext cx="4182327" cy="8275452"/>
            <a:chOff x="0" y="0"/>
            <a:chExt cx="5576435" cy="11033936"/>
          </a:xfrm>
        </p:grpSpPr>
        <p:grpSp>
          <p:nvGrpSpPr>
            <p:cNvPr id="18" name="Group 18"/>
            <p:cNvGrpSpPr>
              <a:grpSpLocks noChangeAspect="1"/>
            </p:cNvGrpSpPr>
            <p:nvPr/>
          </p:nvGrpSpPr>
          <p:grpSpPr>
            <a:xfrm>
              <a:off x="0" y="0"/>
              <a:ext cx="5576435" cy="11033936"/>
              <a:chOff x="0" y="0"/>
              <a:chExt cx="2620010" cy="5184140"/>
            </a:xfrm>
          </p:grpSpPr>
          <p:sp>
            <p:nvSpPr>
              <p:cNvPr id="19" name="Freeform 19"/>
              <p:cNvSpPr/>
              <p:nvPr/>
            </p:nvSpPr>
            <p:spPr>
              <a:xfrm>
                <a:off x="53340" y="25400"/>
                <a:ext cx="2513330" cy="5132070"/>
              </a:xfrm>
              <a:custGeom>
                <a:avLst/>
                <a:gdLst/>
                <a:ahLst/>
                <a:cxnLst/>
                <a:rect l="l" t="t" r="r" b="b"/>
                <a:pathLst>
                  <a:path w="2513330" h="5132070">
                    <a:moveTo>
                      <a:pt x="2159000" y="0"/>
                    </a:moveTo>
                    <a:lnTo>
                      <a:pt x="354330" y="0"/>
                    </a:lnTo>
                    <a:cubicBezTo>
                      <a:pt x="158750" y="0"/>
                      <a:pt x="0" y="158750"/>
                      <a:pt x="0" y="354330"/>
                    </a:cubicBezTo>
                    <a:lnTo>
                      <a:pt x="0" y="4777740"/>
                    </a:lnTo>
                    <a:cubicBezTo>
                      <a:pt x="0" y="4973320"/>
                      <a:pt x="158750" y="5132070"/>
                      <a:pt x="354330" y="5132070"/>
                    </a:cubicBezTo>
                    <a:lnTo>
                      <a:pt x="2159000" y="5132070"/>
                    </a:lnTo>
                    <a:cubicBezTo>
                      <a:pt x="2354580" y="5132070"/>
                      <a:pt x="2513330" y="4973320"/>
                      <a:pt x="2513330" y="4777740"/>
                    </a:cubicBezTo>
                    <a:lnTo>
                      <a:pt x="2513330" y="354330"/>
                    </a:lnTo>
                    <a:cubicBezTo>
                      <a:pt x="2513330" y="158750"/>
                      <a:pt x="2354580" y="0"/>
                      <a:pt x="2159000" y="0"/>
                    </a:cubicBezTo>
                    <a:close/>
                    <a:moveTo>
                      <a:pt x="1558290" y="162560"/>
                    </a:moveTo>
                    <a:cubicBezTo>
                      <a:pt x="1576070" y="162560"/>
                      <a:pt x="1590040" y="176530"/>
                      <a:pt x="1590040" y="194310"/>
                    </a:cubicBezTo>
                    <a:cubicBezTo>
                      <a:pt x="1590040" y="212090"/>
                      <a:pt x="1576070" y="226060"/>
                      <a:pt x="1558290" y="226060"/>
                    </a:cubicBezTo>
                    <a:cubicBezTo>
                      <a:pt x="1540510" y="226060"/>
                      <a:pt x="1526540" y="212090"/>
                      <a:pt x="1526540" y="194310"/>
                    </a:cubicBezTo>
                    <a:cubicBezTo>
                      <a:pt x="1526540" y="176530"/>
                      <a:pt x="1541780" y="162560"/>
                      <a:pt x="1558290" y="162560"/>
                    </a:cubicBezTo>
                    <a:close/>
                    <a:moveTo>
                      <a:pt x="1089660" y="172720"/>
                    </a:moveTo>
                    <a:lnTo>
                      <a:pt x="1394460" y="172720"/>
                    </a:lnTo>
                    <a:cubicBezTo>
                      <a:pt x="1405890" y="172720"/>
                      <a:pt x="1416050" y="181610"/>
                      <a:pt x="1416050" y="194310"/>
                    </a:cubicBezTo>
                    <a:cubicBezTo>
                      <a:pt x="1416050" y="207010"/>
                      <a:pt x="1405890" y="215900"/>
                      <a:pt x="1394460" y="215900"/>
                    </a:cubicBezTo>
                    <a:lnTo>
                      <a:pt x="1089660" y="215900"/>
                    </a:lnTo>
                    <a:cubicBezTo>
                      <a:pt x="1078230" y="215900"/>
                      <a:pt x="1068070" y="207010"/>
                      <a:pt x="1068070" y="194310"/>
                    </a:cubicBezTo>
                    <a:cubicBezTo>
                      <a:pt x="1068070" y="181610"/>
                      <a:pt x="1078230" y="172720"/>
                      <a:pt x="1089660" y="172720"/>
                    </a:cubicBezTo>
                    <a:close/>
                    <a:moveTo>
                      <a:pt x="2383790" y="4798060"/>
                    </a:moveTo>
                    <a:cubicBezTo>
                      <a:pt x="2383790" y="4913630"/>
                      <a:pt x="2289810" y="5007610"/>
                      <a:pt x="2174240" y="5007610"/>
                    </a:cubicBezTo>
                    <a:lnTo>
                      <a:pt x="341630" y="5007610"/>
                    </a:lnTo>
                    <a:cubicBezTo>
                      <a:pt x="226060" y="5007610"/>
                      <a:pt x="132080" y="4913630"/>
                      <a:pt x="132080" y="4798060"/>
                    </a:cubicBezTo>
                    <a:lnTo>
                      <a:pt x="132080" y="340360"/>
                    </a:lnTo>
                    <a:cubicBezTo>
                      <a:pt x="132080" y="224790"/>
                      <a:pt x="226060" y="130810"/>
                      <a:pt x="341630" y="130810"/>
                    </a:cubicBezTo>
                    <a:lnTo>
                      <a:pt x="614680" y="130810"/>
                    </a:lnTo>
                    <a:lnTo>
                      <a:pt x="614680" y="187960"/>
                    </a:lnTo>
                    <a:cubicBezTo>
                      <a:pt x="614680" y="252730"/>
                      <a:pt x="668020" y="306070"/>
                      <a:pt x="732790" y="306070"/>
                    </a:cubicBezTo>
                    <a:lnTo>
                      <a:pt x="1783080" y="306070"/>
                    </a:lnTo>
                    <a:cubicBezTo>
                      <a:pt x="1847850" y="306070"/>
                      <a:pt x="1901190" y="252730"/>
                      <a:pt x="1901190" y="187960"/>
                    </a:cubicBezTo>
                    <a:lnTo>
                      <a:pt x="1901190" y="130810"/>
                    </a:lnTo>
                    <a:lnTo>
                      <a:pt x="2172970" y="130810"/>
                    </a:lnTo>
                    <a:cubicBezTo>
                      <a:pt x="2288540" y="130810"/>
                      <a:pt x="2382520" y="224790"/>
                      <a:pt x="2382520" y="340360"/>
                    </a:cubicBezTo>
                    <a:lnTo>
                      <a:pt x="2382520" y="4798060"/>
                    </a:lnTo>
                    <a:close/>
                  </a:path>
                </a:pathLst>
              </a:custGeom>
              <a:solidFill>
                <a:srgbClr val="000000"/>
              </a:solidFill>
            </p:spPr>
            <p:txBody>
              <a:bodyPr/>
              <a:lstStyle/>
              <a:p>
                <a:endParaRPr lang="en-US"/>
              </a:p>
            </p:txBody>
          </p:sp>
          <p:sp>
            <p:nvSpPr>
              <p:cNvPr id="20" name="Freeform 20"/>
              <p:cNvSpPr/>
              <p:nvPr/>
            </p:nvSpPr>
            <p:spPr>
              <a:xfrm>
                <a:off x="185420" y="156210"/>
                <a:ext cx="2250453" cy="4876800"/>
              </a:xfrm>
              <a:custGeom>
                <a:avLst/>
                <a:gdLst/>
                <a:ahLst/>
                <a:cxnLst/>
                <a:rect l="l" t="t" r="r" b="b"/>
                <a:pathLst>
                  <a:path w="2250453" h="4876800">
                    <a:moveTo>
                      <a:pt x="2040890" y="0"/>
                    </a:moveTo>
                    <a:lnTo>
                      <a:pt x="1769110" y="0"/>
                    </a:lnTo>
                    <a:lnTo>
                      <a:pt x="1769110" y="57150"/>
                    </a:lnTo>
                    <a:cubicBezTo>
                      <a:pt x="1769110" y="121920"/>
                      <a:pt x="1715770" y="175260"/>
                      <a:pt x="1651000" y="175260"/>
                    </a:cubicBezTo>
                    <a:lnTo>
                      <a:pt x="601980" y="175260"/>
                    </a:lnTo>
                    <a:cubicBezTo>
                      <a:pt x="537210" y="175260"/>
                      <a:pt x="483870" y="121920"/>
                      <a:pt x="483870" y="57150"/>
                    </a:cubicBezTo>
                    <a:lnTo>
                      <a:pt x="483870" y="0"/>
                    </a:lnTo>
                    <a:lnTo>
                      <a:pt x="209550" y="0"/>
                    </a:lnTo>
                    <a:cubicBezTo>
                      <a:pt x="93980" y="0"/>
                      <a:pt x="0" y="93980"/>
                      <a:pt x="0" y="209550"/>
                    </a:cubicBezTo>
                    <a:lnTo>
                      <a:pt x="0" y="4667250"/>
                    </a:lnTo>
                    <a:cubicBezTo>
                      <a:pt x="0" y="4782820"/>
                      <a:pt x="93980" y="4876800"/>
                      <a:pt x="209550" y="4876800"/>
                    </a:cubicBezTo>
                    <a:lnTo>
                      <a:pt x="2040890" y="4876800"/>
                    </a:lnTo>
                    <a:cubicBezTo>
                      <a:pt x="2156460" y="4876800"/>
                      <a:pt x="2250440" y="4782820"/>
                      <a:pt x="2250440" y="4667250"/>
                    </a:cubicBezTo>
                    <a:lnTo>
                      <a:pt x="2250440" y="209550"/>
                    </a:lnTo>
                    <a:cubicBezTo>
                      <a:pt x="2251710" y="93980"/>
                      <a:pt x="2157730" y="0"/>
                      <a:pt x="2040890" y="0"/>
                    </a:cubicBezTo>
                    <a:close/>
                  </a:path>
                </a:pathLst>
              </a:custGeom>
              <a:blipFill>
                <a:blip r:embed="rId3"/>
                <a:stretch>
                  <a:fillRect l="-245588" t="-3203" r="-245531" b="-3098"/>
                </a:stretch>
              </a:blipFill>
            </p:spPr>
            <p:txBody>
              <a:bodyPr/>
              <a:lstStyle/>
              <a:p>
                <a:endParaRPr lang="en-US"/>
              </a:p>
            </p:txBody>
          </p:sp>
          <p:sp>
            <p:nvSpPr>
              <p:cNvPr id="21" name="Freeform 21"/>
              <p:cNvSpPr/>
              <p:nvPr/>
            </p:nvSpPr>
            <p:spPr>
              <a:xfrm>
                <a:off x="1121410" y="198120"/>
                <a:ext cx="347980" cy="43180"/>
              </a:xfrm>
              <a:custGeom>
                <a:avLst/>
                <a:gdLst/>
                <a:ahLst/>
                <a:cxnLst/>
                <a:rect l="l" t="t" r="r" b="b"/>
                <a:pathLst>
                  <a:path w="347980" h="43180">
                    <a:moveTo>
                      <a:pt x="326390" y="0"/>
                    </a:moveTo>
                    <a:lnTo>
                      <a:pt x="21590" y="0"/>
                    </a:lnTo>
                    <a:cubicBezTo>
                      <a:pt x="10160" y="0"/>
                      <a:pt x="0" y="8890"/>
                      <a:pt x="0" y="21590"/>
                    </a:cubicBezTo>
                    <a:cubicBezTo>
                      <a:pt x="0" y="34290"/>
                      <a:pt x="10160" y="43180"/>
                      <a:pt x="21590" y="43180"/>
                    </a:cubicBezTo>
                    <a:lnTo>
                      <a:pt x="326390" y="43180"/>
                    </a:lnTo>
                    <a:cubicBezTo>
                      <a:pt x="337820" y="43180"/>
                      <a:pt x="347980" y="34290"/>
                      <a:pt x="347980" y="21590"/>
                    </a:cubicBezTo>
                    <a:cubicBezTo>
                      <a:pt x="347980" y="8890"/>
                      <a:pt x="337820" y="0"/>
                      <a:pt x="326390" y="0"/>
                    </a:cubicBezTo>
                    <a:close/>
                  </a:path>
                </a:pathLst>
              </a:custGeom>
              <a:solidFill>
                <a:srgbClr val="606060"/>
              </a:solidFill>
            </p:spPr>
            <p:txBody>
              <a:bodyPr/>
              <a:lstStyle/>
              <a:p>
                <a:endParaRPr lang="en-US"/>
              </a:p>
            </p:txBody>
          </p:sp>
          <p:sp>
            <p:nvSpPr>
              <p:cNvPr id="22" name="Freeform 22"/>
              <p:cNvSpPr/>
              <p:nvPr/>
            </p:nvSpPr>
            <p:spPr>
              <a:xfrm>
                <a:off x="1579738" y="187960"/>
                <a:ext cx="63785" cy="63501"/>
              </a:xfrm>
              <a:custGeom>
                <a:avLst/>
                <a:gdLst/>
                <a:ahLst/>
                <a:cxnLst/>
                <a:rect l="l" t="t" r="r" b="b"/>
                <a:pathLst>
                  <a:path w="63785" h="63501">
                    <a:moveTo>
                      <a:pt x="31892" y="0"/>
                    </a:moveTo>
                    <a:cubicBezTo>
                      <a:pt x="20515" y="-51"/>
                      <a:pt x="9980" y="5989"/>
                      <a:pt x="4277" y="15834"/>
                    </a:cubicBezTo>
                    <a:cubicBezTo>
                      <a:pt x="-1426" y="25678"/>
                      <a:pt x="-1426" y="37822"/>
                      <a:pt x="4277" y="47666"/>
                    </a:cubicBezTo>
                    <a:cubicBezTo>
                      <a:pt x="9980" y="57511"/>
                      <a:pt x="20515" y="63551"/>
                      <a:pt x="31892" y="63500"/>
                    </a:cubicBezTo>
                    <a:cubicBezTo>
                      <a:pt x="43269" y="63551"/>
                      <a:pt x="53804" y="57511"/>
                      <a:pt x="59507" y="47666"/>
                    </a:cubicBezTo>
                    <a:cubicBezTo>
                      <a:pt x="65210" y="37822"/>
                      <a:pt x="65210" y="25678"/>
                      <a:pt x="59507" y="15834"/>
                    </a:cubicBezTo>
                    <a:cubicBezTo>
                      <a:pt x="53804" y="5989"/>
                      <a:pt x="43269" y="-51"/>
                      <a:pt x="31892" y="0"/>
                    </a:cubicBezTo>
                    <a:close/>
                  </a:path>
                </a:pathLst>
              </a:custGeom>
              <a:solidFill>
                <a:srgbClr val="606060"/>
              </a:solidFill>
            </p:spPr>
            <p:txBody>
              <a:bodyPr/>
              <a:lstStyle/>
              <a:p>
                <a:endParaRPr lang="en-US"/>
              </a:p>
            </p:txBody>
          </p:sp>
          <p:sp>
            <p:nvSpPr>
              <p:cNvPr id="23" name="Freeform 23"/>
              <p:cNvSpPr/>
              <p:nvPr/>
            </p:nvSpPr>
            <p:spPr>
              <a:xfrm>
                <a:off x="0" y="685800"/>
                <a:ext cx="27940" cy="213360"/>
              </a:xfrm>
              <a:custGeom>
                <a:avLst/>
                <a:gdLst/>
                <a:ahLst/>
                <a:cxnLst/>
                <a:rect l="l" t="t" r="r" b="b"/>
                <a:pathLst>
                  <a:path w="27940" h="213360">
                    <a:moveTo>
                      <a:pt x="0" y="26670"/>
                    </a:moveTo>
                    <a:lnTo>
                      <a:pt x="0" y="185420"/>
                    </a:lnTo>
                    <a:cubicBezTo>
                      <a:pt x="0" y="200660"/>
                      <a:pt x="12700" y="213360"/>
                      <a:pt x="27940" y="213360"/>
                    </a:cubicBezTo>
                    <a:lnTo>
                      <a:pt x="27940" y="0"/>
                    </a:lnTo>
                    <a:cubicBezTo>
                      <a:pt x="12700" y="0"/>
                      <a:pt x="0" y="11430"/>
                      <a:pt x="0" y="26670"/>
                    </a:cubicBezTo>
                    <a:close/>
                  </a:path>
                </a:pathLst>
              </a:custGeom>
              <a:solidFill>
                <a:srgbClr val="B8B8B8"/>
              </a:solidFill>
            </p:spPr>
            <p:txBody>
              <a:bodyPr/>
              <a:lstStyle/>
              <a:p>
                <a:endParaRPr lang="en-US"/>
              </a:p>
            </p:txBody>
          </p:sp>
          <p:sp>
            <p:nvSpPr>
              <p:cNvPr id="24" name="Freeform 24"/>
              <p:cNvSpPr/>
              <p:nvPr/>
            </p:nvSpPr>
            <p:spPr>
              <a:xfrm>
                <a:off x="0" y="1057910"/>
                <a:ext cx="27940" cy="384810"/>
              </a:xfrm>
              <a:custGeom>
                <a:avLst/>
                <a:gdLst/>
                <a:ahLst/>
                <a:cxnLst/>
                <a:rect l="l" t="t" r="r" b="b"/>
                <a:pathLst>
                  <a:path w="27940" h="384810">
                    <a:moveTo>
                      <a:pt x="0" y="26670"/>
                    </a:moveTo>
                    <a:lnTo>
                      <a:pt x="0" y="356870"/>
                    </a:lnTo>
                    <a:cubicBezTo>
                      <a:pt x="0" y="372110"/>
                      <a:pt x="12700" y="384810"/>
                      <a:pt x="27940" y="384810"/>
                    </a:cubicBezTo>
                    <a:lnTo>
                      <a:pt x="27940" y="0"/>
                    </a:lnTo>
                    <a:cubicBezTo>
                      <a:pt x="12700" y="0"/>
                      <a:pt x="0" y="11430"/>
                      <a:pt x="0" y="26670"/>
                    </a:cubicBezTo>
                    <a:close/>
                  </a:path>
                </a:pathLst>
              </a:custGeom>
              <a:solidFill>
                <a:srgbClr val="B8B8B8"/>
              </a:solidFill>
            </p:spPr>
            <p:txBody>
              <a:bodyPr/>
              <a:lstStyle/>
              <a:p>
                <a:endParaRPr lang="en-US"/>
              </a:p>
            </p:txBody>
          </p:sp>
          <p:sp>
            <p:nvSpPr>
              <p:cNvPr id="25" name="Freeform 25"/>
              <p:cNvSpPr/>
              <p:nvPr/>
            </p:nvSpPr>
            <p:spPr>
              <a:xfrm>
                <a:off x="0" y="1526540"/>
                <a:ext cx="27940" cy="386080"/>
              </a:xfrm>
              <a:custGeom>
                <a:avLst/>
                <a:gdLst/>
                <a:ahLst/>
                <a:cxnLst/>
                <a:rect l="l" t="t" r="r" b="b"/>
                <a:pathLst>
                  <a:path w="27940" h="386080">
                    <a:moveTo>
                      <a:pt x="0" y="27940"/>
                    </a:moveTo>
                    <a:lnTo>
                      <a:pt x="0" y="358140"/>
                    </a:lnTo>
                    <a:cubicBezTo>
                      <a:pt x="0" y="373380"/>
                      <a:pt x="12700" y="386080"/>
                      <a:pt x="27940" y="386080"/>
                    </a:cubicBezTo>
                    <a:lnTo>
                      <a:pt x="27940" y="0"/>
                    </a:lnTo>
                    <a:cubicBezTo>
                      <a:pt x="12700" y="0"/>
                      <a:pt x="0" y="12700"/>
                      <a:pt x="0" y="27940"/>
                    </a:cubicBezTo>
                    <a:close/>
                  </a:path>
                </a:pathLst>
              </a:custGeom>
              <a:solidFill>
                <a:srgbClr val="B8B8B8"/>
              </a:solidFill>
            </p:spPr>
            <p:txBody>
              <a:bodyPr/>
              <a:lstStyle/>
              <a:p>
                <a:endParaRPr lang="en-US"/>
              </a:p>
            </p:txBody>
          </p:sp>
          <p:sp>
            <p:nvSpPr>
              <p:cNvPr id="26" name="Freeform 26"/>
              <p:cNvSpPr/>
              <p:nvPr/>
            </p:nvSpPr>
            <p:spPr>
              <a:xfrm>
                <a:off x="2592070" y="1184910"/>
                <a:ext cx="27940" cy="618490"/>
              </a:xfrm>
              <a:custGeom>
                <a:avLst/>
                <a:gdLst/>
                <a:ahLst/>
                <a:cxnLst/>
                <a:rect l="l" t="t" r="r" b="b"/>
                <a:pathLst>
                  <a:path w="27940" h="618490">
                    <a:moveTo>
                      <a:pt x="0" y="0"/>
                    </a:moveTo>
                    <a:lnTo>
                      <a:pt x="0" y="618490"/>
                    </a:lnTo>
                    <a:cubicBezTo>
                      <a:pt x="15240" y="618490"/>
                      <a:pt x="27940" y="605790"/>
                      <a:pt x="27940" y="590550"/>
                    </a:cubicBezTo>
                    <a:lnTo>
                      <a:pt x="27940" y="27940"/>
                    </a:lnTo>
                    <a:cubicBezTo>
                      <a:pt x="27940" y="12700"/>
                      <a:pt x="15240" y="0"/>
                      <a:pt x="0" y="0"/>
                    </a:cubicBezTo>
                    <a:close/>
                  </a:path>
                </a:pathLst>
              </a:custGeom>
              <a:solidFill>
                <a:srgbClr val="B8B8B8"/>
              </a:solidFill>
            </p:spPr>
            <p:txBody>
              <a:bodyPr/>
              <a:lstStyle/>
              <a:p>
                <a:endParaRPr lang="en-US"/>
              </a:p>
            </p:txBody>
          </p:sp>
          <p:sp>
            <p:nvSpPr>
              <p:cNvPr id="27" name="Freeform 27"/>
              <p:cNvSpPr/>
              <p:nvPr/>
            </p:nvSpPr>
            <p:spPr>
              <a:xfrm>
                <a:off x="27940" y="0"/>
                <a:ext cx="2564130" cy="5182870"/>
              </a:xfrm>
              <a:custGeom>
                <a:avLst/>
                <a:gdLst/>
                <a:ahLst/>
                <a:cxnLst/>
                <a:rect l="l" t="t" r="r" b="b"/>
                <a:pathLst>
                  <a:path w="2564130" h="5182870">
                    <a:moveTo>
                      <a:pt x="2564130" y="1184910"/>
                    </a:moveTo>
                    <a:lnTo>
                      <a:pt x="2564130" y="379730"/>
                    </a:lnTo>
                    <a:cubicBezTo>
                      <a:pt x="2564130" y="353060"/>
                      <a:pt x="2561590" y="327660"/>
                      <a:pt x="2556510" y="303530"/>
                    </a:cubicBezTo>
                    <a:cubicBezTo>
                      <a:pt x="2553970" y="290830"/>
                      <a:pt x="2551430" y="279400"/>
                      <a:pt x="2547620" y="266700"/>
                    </a:cubicBezTo>
                    <a:cubicBezTo>
                      <a:pt x="2542540" y="248920"/>
                      <a:pt x="2534920" y="231140"/>
                      <a:pt x="2527300" y="214630"/>
                    </a:cubicBezTo>
                    <a:cubicBezTo>
                      <a:pt x="2522220" y="203200"/>
                      <a:pt x="2515870" y="193040"/>
                      <a:pt x="2509520" y="182880"/>
                    </a:cubicBezTo>
                    <a:cubicBezTo>
                      <a:pt x="2503170" y="172720"/>
                      <a:pt x="2496820" y="162560"/>
                      <a:pt x="2489200" y="152400"/>
                    </a:cubicBezTo>
                    <a:cubicBezTo>
                      <a:pt x="2477770" y="137160"/>
                      <a:pt x="2466340" y="124460"/>
                      <a:pt x="2453640" y="110490"/>
                    </a:cubicBezTo>
                    <a:cubicBezTo>
                      <a:pt x="2444750" y="101600"/>
                      <a:pt x="2435860" y="93980"/>
                      <a:pt x="2426970" y="86360"/>
                    </a:cubicBezTo>
                    <a:cubicBezTo>
                      <a:pt x="2360930" y="31750"/>
                      <a:pt x="2277110" y="0"/>
                      <a:pt x="2185670" y="0"/>
                    </a:cubicBezTo>
                    <a:lnTo>
                      <a:pt x="379730" y="0"/>
                    </a:lnTo>
                    <a:cubicBezTo>
                      <a:pt x="288290" y="0"/>
                      <a:pt x="203200" y="33020"/>
                      <a:pt x="138430" y="86360"/>
                    </a:cubicBezTo>
                    <a:cubicBezTo>
                      <a:pt x="129540" y="93980"/>
                      <a:pt x="120650" y="102870"/>
                      <a:pt x="111760" y="110490"/>
                    </a:cubicBezTo>
                    <a:cubicBezTo>
                      <a:pt x="99060" y="123190"/>
                      <a:pt x="86360" y="137160"/>
                      <a:pt x="76200" y="152400"/>
                    </a:cubicBezTo>
                    <a:cubicBezTo>
                      <a:pt x="68580" y="162560"/>
                      <a:pt x="62230" y="172720"/>
                      <a:pt x="55880" y="182880"/>
                    </a:cubicBezTo>
                    <a:cubicBezTo>
                      <a:pt x="49530" y="193040"/>
                      <a:pt x="43180" y="204470"/>
                      <a:pt x="38100" y="214630"/>
                    </a:cubicBezTo>
                    <a:cubicBezTo>
                      <a:pt x="29210" y="232410"/>
                      <a:pt x="22860" y="248920"/>
                      <a:pt x="16510" y="266700"/>
                    </a:cubicBezTo>
                    <a:cubicBezTo>
                      <a:pt x="12700" y="279400"/>
                      <a:pt x="10160" y="290830"/>
                      <a:pt x="7620" y="303530"/>
                    </a:cubicBezTo>
                    <a:cubicBezTo>
                      <a:pt x="2540" y="327660"/>
                      <a:pt x="0" y="354330"/>
                      <a:pt x="0" y="379730"/>
                    </a:cubicBezTo>
                    <a:lnTo>
                      <a:pt x="0" y="4803140"/>
                    </a:lnTo>
                    <a:cubicBezTo>
                      <a:pt x="0" y="5012690"/>
                      <a:pt x="170180" y="5182870"/>
                      <a:pt x="379730" y="5182870"/>
                    </a:cubicBezTo>
                    <a:lnTo>
                      <a:pt x="2184400" y="5182870"/>
                    </a:lnTo>
                    <a:cubicBezTo>
                      <a:pt x="2393950" y="5182870"/>
                      <a:pt x="2564130" y="5012690"/>
                      <a:pt x="2564130" y="4803140"/>
                    </a:cubicBezTo>
                    <a:lnTo>
                      <a:pt x="2564130" y="1184910"/>
                    </a:lnTo>
                    <a:close/>
                    <a:moveTo>
                      <a:pt x="2538730" y="1184910"/>
                    </a:moveTo>
                    <a:lnTo>
                      <a:pt x="2538730" y="4804410"/>
                    </a:lnTo>
                    <a:cubicBezTo>
                      <a:pt x="2538730" y="4999990"/>
                      <a:pt x="2379980" y="5158740"/>
                      <a:pt x="2184400" y="5158740"/>
                    </a:cubicBezTo>
                    <a:lnTo>
                      <a:pt x="379730" y="5158740"/>
                    </a:lnTo>
                    <a:cubicBezTo>
                      <a:pt x="184150" y="5158740"/>
                      <a:pt x="25400" y="4999990"/>
                      <a:pt x="25400" y="4804410"/>
                    </a:cubicBezTo>
                    <a:lnTo>
                      <a:pt x="25400" y="381000"/>
                    </a:lnTo>
                    <a:cubicBezTo>
                      <a:pt x="25400" y="184150"/>
                      <a:pt x="184150" y="25400"/>
                      <a:pt x="379730" y="25400"/>
                    </a:cubicBezTo>
                    <a:lnTo>
                      <a:pt x="2184400" y="25400"/>
                    </a:lnTo>
                    <a:cubicBezTo>
                      <a:pt x="2379980" y="25400"/>
                      <a:pt x="2538730" y="184150"/>
                      <a:pt x="2538730" y="379730"/>
                    </a:cubicBezTo>
                    <a:lnTo>
                      <a:pt x="2538730" y="1184910"/>
                    </a:lnTo>
                    <a:close/>
                  </a:path>
                </a:pathLst>
              </a:custGeom>
              <a:solidFill>
                <a:srgbClr val="E9E9E9"/>
              </a:solidFill>
            </p:spPr>
            <p:txBody>
              <a:bodyPr/>
              <a:lstStyle/>
              <a:p>
                <a:endParaRPr lang="en-US"/>
              </a:p>
            </p:txBody>
          </p:sp>
        </p:grpSp>
        <p:grpSp>
          <p:nvGrpSpPr>
            <p:cNvPr id="28" name="Group 28"/>
            <p:cNvGrpSpPr/>
            <p:nvPr/>
          </p:nvGrpSpPr>
          <p:grpSpPr>
            <a:xfrm>
              <a:off x="132110" y="161647"/>
              <a:ext cx="5089955" cy="10658674"/>
              <a:chOff x="0" y="0"/>
              <a:chExt cx="1005423" cy="2105417"/>
            </a:xfrm>
          </p:grpSpPr>
          <p:sp>
            <p:nvSpPr>
              <p:cNvPr id="29" name="Freeform 29"/>
              <p:cNvSpPr/>
              <p:nvPr/>
            </p:nvSpPr>
            <p:spPr>
              <a:xfrm>
                <a:off x="0" y="0"/>
                <a:ext cx="1005423" cy="2105417"/>
              </a:xfrm>
              <a:custGeom>
                <a:avLst/>
                <a:gdLst/>
                <a:ahLst/>
                <a:cxnLst/>
                <a:rect l="l" t="t" r="r" b="b"/>
                <a:pathLst>
                  <a:path w="1005423" h="2105417">
                    <a:moveTo>
                      <a:pt x="103429" y="0"/>
                    </a:moveTo>
                    <a:lnTo>
                      <a:pt x="901994" y="0"/>
                    </a:lnTo>
                    <a:cubicBezTo>
                      <a:pt x="959116" y="0"/>
                      <a:pt x="1005423" y="46307"/>
                      <a:pt x="1005423" y="103429"/>
                    </a:cubicBezTo>
                    <a:lnTo>
                      <a:pt x="1005423" y="2001988"/>
                    </a:lnTo>
                    <a:cubicBezTo>
                      <a:pt x="1005423" y="2059110"/>
                      <a:pt x="959116" y="2105417"/>
                      <a:pt x="901994" y="2105417"/>
                    </a:cubicBezTo>
                    <a:lnTo>
                      <a:pt x="103429" y="2105417"/>
                    </a:lnTo>
                    <a:cubicBezTo>
                      <a:pt x="46307" y="2105417"/>
                      <a:pt x="0" y="2059110"/>
                      <a:pt x="0" y="2001988"/>
                    </a:cubicBezTo>
                    <a:lnTo>
                      <a:pt x="0" y="103429"/>
                    </a:lnTo>
                    <a:cubicBezTo>
                      <a:pt x="0" y="46307"/>
                      <a:pt x="46307" y="0"/>
                      <a:pt x="103429" y="0"/>
                    </a:cubicBezTo>
                    <a:close/>
                  </a:path>
                </a:pathLst>
              </a:custGeom>
              <a:solidFill>
                <a:srgbClr val="141414"/>
              </a:solidFill>
            </p:spPr>
            <p:txBody>
              <a:bodyPr/>
              <a:lstStyle/>
              <a:p>
                <a:endParaRPr lang="en-US"/>
              </a:p>
            </p:txBody>
          </p:sp>
          <p:sp>
            <p:nvSpPr>
              <p:cNvPr id="30" name="TextBox 30"/>
              <p:cNvSpPr txBox="1"/>
              <p:nvPr/>
            </p:nvSpPr>
            <p:spPr>
              <a:xfrm>
                <a:off x="0" y="-47625"/>
                <a:ext cx="1005423" cy="2153042"/>
              </a:xfrm>
              <a:prstGeom prst="rect">
                <a:avLst/>
              </a:prstGeom>
            </p:spPr>
            <p:txBody>
              <a:bodyPr lIns="50800" tIns="50800" rIns="50800" bIns="50800" rtlCol="0" anchor="ctr"/>
              <a:lstStyle/>
              <a:p>
                <a:pPr algn="ctr">
                  <a:lnSpc>
                    <a:spcPts val="2340"/>
                  </a:lnSpc>
                </a:pPr>
                <a:endParaRPr/>
              </a:p>
            </p:txBody>
          </p:sp>
        </p:grpSp>
        <p:sp>
          <p:nvSpPr>
            <p:cNvPr id="31" name="Freeform 31"/>
            <p:cNvSpPr/>
            <p:nvPr/>
          </p:nvSpPr>
          <p:spPr>
            <a:xfrm>
              <a:off x="345184" y="605946"/>
              <a:ext cx="942673" cy="942673"/>
            </a:xfrm>
            <a:custGeom>
              <a:avLst/>
              <a:gdLst/>
              <a:ahLst/>
              <a:cxnLst/>
              <a:rect l="l" t="t" r="r" b="b"/>
              <a:pathLst>
                <a:path w="942673" h="942673">
                  <a:moveTo>
                    <a:pt x="0" y="0"/>
                  </a:moveTo>
                  <a:lnTo>
                    <a:pt x="942673" y="0"/>
                  </a:lnTo>
                  <a:lnTo>
                    <a:pt x="942673" y="942673"/>
                  </a:lnTo>
                  <a:lnTo>
                    <a:pt x="0" y="942673"/>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n-US"/>
            </a:p>
          </p:txBody>
        </p:sp>
        <p:sp>
          <p:nvSpPr>
            <p:cNvPr id="32" name="Freeform 32"/>
            <p:cNvSpPr/>
            <p:nvPr/>
          </p:nvSpPr>
          <p:spPr>
            <a:xfrm>
              <a:off x="607468" y="812658"/>
              <a:ext cx="418106" cy="529248"/>
            </a:xfrm>
            <a:custGeom>
              <a:avLst/>
              <a:gdLst/>
              <a:ahLst/>
              <a:cxnLst/>
              <a:rect l="l" t="t" r="r" b="b"/>
              <a:pathLst>
                <a:path w="418106" h="529248">
                  <a:moveTo>
                    <a:pt x="0" y="0"/>
                  </a:moveTo>
                  <a:lnTo>
                    <a:pt x="418106" y="0"/>
                  </a:lnTo>
                  <a:lnTo>
                    <a:pt x="418106" y="529248"/>
                  </a:lnTo>
                  <a:lnTo>
                    <a:pt x="0" y="529248"/>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en-US"/>
            </a:p>
          </p:txBody>
        </p:sp>
        <p:sp>
          <p:nvSpPr>
            <p:cNvPr id="33" name="Freeform 33"/>
            <p:cNvSpPr/>
            <p:nvPr/>
          </p:nvSpPr>
          <p:spPr>
            <a:xfrm>
              <a:off x="4020713" y="605946"/>
              <a:ext cx="942673" cy="942673"/>
            </a:xfrm>
            <a:custGeom>
              <a:avLst/>
              <a:gdLst/>
              <a:ahLst/>
              <a:cxnLst/>
              <a:rect l="l" t="t" r="r" b="b"/>
              <a:pathLst>
                <a:path w="942673" h="942673">
                  <a:moveTo>
                    <a:pt x="0" y="0"/>
                  </a:moveTo>
                  <a:lnTo>
                    <a:pt x="942672" y="0"/>
                  </a:lnTo>
                  <a:lnTo>
                    <a:pt x="942672" y="942673"/>
                  </a:lnTo>
                  <a:lnTo>
                    <a:pt x="0" y="942673"/>
                  </a:lnTo>
                  <a:lnTo>
                    <a:pt x="0" y="0"/>
                  </a:lnTo>
                  <a:close/>
                </a:path>
              </a:pathLst>
            </a:custGeom>
            <a:blipFill>
              <a:blip>
                <a:extLst>
                  <a:ext uri="{96DAC541-7B7A-43D3-8B79-37D633B846F1}">
                    <asvg:svgBlip xmlns:asvg="http://schemas.microsoft.com/office/drawing/2016/SVG/main" r:embed="rId6"/>
                  </a:ext>
                </a:extLst>
              </a:blip>
              <a:stretch>
                <a:fillRect/>
              </a:stretch>
            </a:blipFill>
          </p:spPr>
          <p:txBody>
            <a:bodyPr/>
            <a:lstStyle/>
            <a:p>
              <a:endParaRPr lang="en-US"/>
            </a:p>
          </p:txBody>
        </p:sp>
        <p:sp>
          <p:nvSpPr>
            <p:cNvPr id="34" name="Freeform 34"/>
            <p:cNvSpPr/>
            <p:nvPr/>
          </p:nvSpPr>
          <p:spPr>
            <a:xfrm>
              <a:off x="4252646" y="795632"/>
              <a:ext cx="478806" cy="563301"/>
            </a:xfrm>
            <a:custGeom>
              <a:avLst/>
              <a:gdLst/>
              <a:ahLst/>
              <a:cxnLst/>
              <a:rect l="l" t="t" r="r" b="b"/>
              <a:pathLst>
                <a:path w="478806" h="563301">
                  <a:moveTo>
                    <a:pt x="0" y="0"/>
                  </a:moveTo>
                  <a:lnTo>
                    <a:pt x="478806" y="0"/>
                  </a:lnTo>
                  <a:lnTo>
                    <a:pt x="478806" y="563301"/>
                  </a:lnTo>
                  <a:lnTo>
                    <a:pt x="0" y="563301"/>
                  </a:lnTo>
                  <a:lnTo>
                    <a:pt x="0" y="0"/>
                  </a:lnTo>
                  <a:close/>
                </a:path>
              </a:pathLst>
            </a:custGeom>
            <a:blipFill>
              <a:blip>
                <a:extLst>
                  <a:ext uri="{96DAC541-7B7A-43D3-8B79-37D633B846F1}">
                    <asvg:svgBlip xmlns:asvg="http://schemas.microsoft.com/office/drawing/2016/SVG/main" r:embed="rId7"/>
                  </a:ext>
                </a:extLst>
              </a:blip>
              <a:stretch>
                <a:fillRect/>
              </a:stretch>
            </a:blipFill>
          </p:spPr>
          <p:txBody>
            <a:bodyPr/>
            <a:lstStyle/>
            <a:p>
              <a:endParaRPr lang="en-US"/>
            </a:p>
          </p:txBody>
        </p:sp>
        <p:grpSp>
          <p:nvGrpSpPr>
            <p:cNvPr id="35" name="Group 35"/>
            <p:cNvGrpSpPr/>
            <p:nvPr/>
          </p:nvGrpSpPr>
          <p:grpSpPr>
            <a:xfrm>
              <a:off x="2913191" y="1850275"/>
              <a:ext cx="2318060" cy="798756"/>
              <a:chOff x="0" y="0"/>
              <a:chExt cx="2778550" cy="957431"/>
            </a:xfrm>
          </p:grpSpPr>
          <p:sp>
            <p:nvSpPr>
              <p:cNvPr id="36" name="Freeform 36"/>
              <p:cNvSpPr/>
              <p:nvPr/>
            </p:nvSpPr>
            <p:spPr>
              <a:xfrm>
                <a:off x="0" y="0"/>
                <a:ext cx="2778550" cy="957431"/>
              </a:xfrm>
              <a:custGeom>
                <a:avLst/>
                <a:gdLst/>
                <a:ahLst/>
                <a:cxnLst/>
                <a:rect l="l" t="t" r="r" b="b"/>
                <a:pathLst>
                  <a:path w="2778550" h="957431">
                    <a:moveTo>
                      <a:pt x="0" y="0"/>
                    </a:moveTo>
                    <a:lnTo>
                      <a:pt x="2778550" y="0"/>
                    </a:lnTo>
                    <a:lnTo>
                      <a:pt x="2778550" y="957431"/>
                    </a:lnTo>
                    <a:lnTo>
                      <a:pt x="0" y="957431"/>
                    </a:lnTo>
                    <a:close/>
                  </a:path>
                </a:pathLst>
              </a:custGeom>
              <a:blipFill>
                <a:blip r:embed="rId3">
                  <a:alphaModFix amt="0"/>
                </a:blip>
                <a:stretch>
                  <a:fillRect t="-300064" r="-591094" b="-381525"/>
                </a:stretch>
              </a:blipFill>
            </p:spPr>
            <p:txBody>
              <a:bodyPr/>
              <a:lstStyle/>
              <a:p>
                <a:endParaRPr lang="en-US"/>
              </a:p>
            </p:txBody>
          </p:sp>
          <p:sp>
            <p:nvSpPr>
              <p:cNvPr id="37" name="TextBox 37"/>
              <p:cNvSpPr txBox="1"/>
              <p:nvPr/>
            </p:nvSpPr>
            <p:spPr>
              <a:xfrm>
                <a:off x="0" y="0"/>
                <a:ext cx="2778550" cy="957431"/>
              </a:xfrm>
              <a:prstGeom prst="rect">
                <a:avLst/>
              </a:prstGeom>
            </p:spPr>
            <p:txBody>
              <a:bodyPr lIns="0" tIns="0" rIns="0" bIns="0" rtlCol="0" anchor="ctr"/>
              <a:lstStyle/>
              <a:p>
                <a:pPr algn="l">
                  <a:lnSpc>
                    <a:spcPts val="1280"/>
                  </a:lnSpc>
                </a:pPr>
                <a:r>
                  <a:rPr lang="en-US" sz="1200" b="1">
                    <a:solidFill>
                      <a:srgbClr val="FFFFFF"/>
                    </a:solidFill>
                    <a:latin typeface="Arial Bold"/>
                    <a:ea typeface="Arial Bold"/>
                    <a:cs typeface="Arial Bold"/>
                    <a:sym typeface="Arial Bold"/>
                  </a:rPr>
                  <a:t>Friends of Friends</a:t>
                </a:r>
              </a:p>
            </p:txBody>
          </p:sp>
        </p:grpSp>
        <p:grpSp>
          <p:nvGrpSpPr>
            <p:cNvPr id="38" name="Group 38"/>
            <p:cNvGrpSpPr/>
            <p:nvPr/>
          </p:nvGrpSpPr>
          <p:grpSpPr>
            <a:xfrm>
              <a:off x="377249" y="9549613"/>
              <a:ext cx="4854002" cy="1062208"/>
              <a:chOff x="0" y="0"/>
              <a:chExt cx="958815" cy="209819"/>
            </a:xfrm>
          </p:grpSpPr>
          <p:sp>
            <p:nvSpPr>
              <p:cNvPr id="39" name="Freeform 39"/>
              <p:cNvSpPr/>
              <p:nvPr/>
            </p:nvSpPr>
            <p:spPr>
              <a:xfrm>
                <a:off x="0" y="0"/>
                <a:ext cx="958815" cy="209819"/>
              </a:xfrm>
              <a:custGeom>
                <a:avLst/>
                <a:gdLst/>
                <a:ahLst/>
                <a:cxnLst/>
                <a:rect l="l" t="t" r="r" b="b"/>
                <a:pathLst>
                  <a:path w="958815" h="209819">
                    <a:moveTo>
                      <a:pt x="104909" y="0"/>
                    </a:moveTo>
                    <a:lnTo>
                      <a:pt x="853906" y="0"/>
                    </a:lnTo>
                    <a:cubicBezTo>
                      <a:pt x="881730" y="0"/>
                      <a:pt x="908414" y="11053"/>
                      <a:pt x="928088" y="30727"/>
                    </a:cubicBezTo>
                    <a:cubicBezTo>
                      <a:pt x="947762" y="50402"/>
                      <a:pt x="958815" y="77086"/>
                      <a:pt x="958815" y="104909"/>
                    </a:cubicBezTo>
                    <a:lnTo>
                      <a:pt x="958815" y="104909"/>
                    </a:lnTo>
                    <a:cubicBezTo>
                      <a:pt x="958815" y="132733"/>
                      <a:pt x="947762" y="159417"/>
                      <a:pt x="928088" y="179092"/>
                    </a:cubicBezTo>
                    <a:cubicBezTo>
                      <a:pt x="908414" y="198766"/>
                      <a:pt x="881730" y="209819"/>
                      <a:pt x="853906" y="209819"/>
                    </a:cubicBezTo>
                    <a:lnTo>
                      <a:pt x="104909" y="209819"/>
                    </a:lnTo>
                    <a:cubicBezTo>
                      <a:pt x="77086" y="209819"/>
                      <a:pt x="50402" y="198766"/>
                      <a:pt x="30727" y="179092"/>
                    </a:cubicBezTo>
                    <a:cubicBezTo>
                      <a:pt x="11053" y="159417"/>
                      <a:pt x="0" y="132733"/>
                      <a:pt x="0" y="104909"/>
                    </a:cubicBezTo>
                    <a:lnTo>
                      <a:pt x="0" y="104909"/>
                    </a:lnTo>
                    <a:cubicBezTo>
                      <a:pt x="0" y="77086"/>
                      <a:pt x="11053" y="50402"/>
                      <a:pt x="30727" y="30727"/>
                    </a:cubicBezTo>
                    <a:cubicBezTo>
                      <a:pt x="50402" y="11053"/>
                      <a:pt x="77086" y="0"/>
                      <a:pt x="104909" y="0"/>
                    </a:cubicBezTo>
                    <a:close/>
                  </a:path>
                </a:pathLst>
              </a:custGeom>
              <a:solidFill>
                <a:srgbClr val="2B2B2B"/>
              </a:solidFill>
            </p:spPr>
            <p:txBody>
              <a:bodyPr/>
              <a:lstStyle/>
              <a:p>
                <a:endParaRPr lang="en-US"/>
              </a:p>
            </p:txBody>
          </p:sp>
          <p:sp>
            <p:nvSpPr>
              <p:cNvPr id="40" name="TextBox 40"/>
              <p:cNvSpPr txBox="1"/>
              <p:nvPr/>
            </p:nvSpPr>
            <p:spPr>
              <a:xfrm>
                <a:off x="0" y="-47625"/>
                <a:ext cx="958815" cy="257444"/>
              </a:xfrm>
              <a:prstGeom prst="rect">
                <a:avLst/>
              </a:prstGeom>
            </p:spPr>
            <p:txBody>
              <a:bodyPr lIns="50800" tIns="50800" rIns="50800" bIns="50800" rtlCol="0" anchor="ctr"/>
              <a:lstStyle/>
              <a:p>
                <a:pPr algn="ctr">
                  <a:lnSpc>
                    <a:spcPts val="2340"/>
                  </a:lnSpc>
                </a:pPr>
                <a:endParaRPr/>
              </a:p>
            </p:txBody>
          </p:sp>
        </p:grpSp>
        <p:grpSp>
          <p:nvGrpSpPr>
            <p:cNvPr id="41" name="Group 41"/>
            <p:cNvGrpSpPr/>
            <p:nvPr/>
          </p:nvGrpSpPr>
          <p:grpSpPr>
            <a:xfrm>
              <a:off x="1998789" y="605946"/>
              <a:ext cx="1578858" cy="957431"/>
              <a:chOff x="0" y="0"/>
              <a:chExt cx="1578858" cy="957431"/>
            </a:xfrm>
          </p:grpSpPr>
          <p:sp>
            <p:nvSpPr>
              <p:cNvPr id="42" name="Freeform 42"/>
              <p:cNvSpPr/>
              <p:nvPr/>
            </p:nvSpPr>
            <p:spPr>
              <a:xfrm>
                <a:off x="0" y="0"/>
                <a:ext cx="1578858" cy="957431"/>
              </a:xfrm>
              <a:custGeom>
                <a:avLst/>
                <a:gdLst/>
                <a:ahLst/>
                <a:cxnLst/>
                <a:rect l="l" t="t" r="r" b="b"/>
                <a:pathLst>
                  <a:path w="1578858" h="957431">
                    <a:moveTo>
                      <a:pt x="0" y="0"/>
                    </a:moveTo>
                    <a:lnTo>
                      <a:pt x="1578858" y="0"/>
                    </a:lnTo>
                    <a:lnTo>
                      <a:pt x="1578858" y="957431"/>
                    </a:lnTo>
                    <a:lnTo>
                      <a:pt x="0" y="957431"/>
                    </a:lnTo>
                    <a:close/>
                  </a:path>
                </a:pathLst>
              </a:custGeom>
              <a:blipFill>
                <a:blip r:embed="rId3">
                  <a:alphaModFix amt="0"/>
                </a:blip>
                <a:stretch>
                  <a:fillRect t="-300064" r="-1116220" b="-381525"/>
                </a:stretch>
              </a:blipFill>
            </p:spPr>
            <p:txBody>
              <a:bodyPr/>
              <a:lstStyle/>
              <a:p>
                <a:endParaRPr lang="en-US"/>
              </a:p>
            </p:txBody>
          </p:sp>
          <p:sp>
            <p:nvSpPr>
              <p:cNvPr id="43" name="TextBox 43"/>
              <p:cNvSpPr txBox="1"/>
              <p:nvPr/>
            </p:nvSpPr>
            <p:spPr>
              <a:xfrm>
                <a:off x="0" y="19050"/>
                <a:ext cx="1578858" cy="938381"/>
              </a:xfrm>
              <a:prstGeom prst="rect">
                <a:avLst/>
              </a:prstGeom>
            </p:spPr>
            <p:txBody>
              <a:bodyPr lIns="0" tIns="0" rIns="0" bIns="0" rtlCol="0" anchor="ctr"/>
              <a:lstStyle/>
              <a:p>
                <a:pPr algn="l">
                  <a:lnSpc>
                    <a:spcPts val="2240"/>
                  </a:lnSpc>
                </a:pPr>
                <a:r>
                  <a:rPr lang="en-US" sz="2100" b="1">
                    <a:solidFill>
                      <a:srgbClr val="FFFFFF"/>
                    </a:solidFill>
                    <a:latin typeface="Arial Bold"/>
                    <a:ea typeface="Arial Bold"/>
                    <a:cs typeface="Arial Bold"/>
                    <a:sym typeface="Arial Bold"/>
                  </a:rPr>
                  <a:t>BeReal.</a:t>
                </a:r>
              </a:p>
            </p:txBody>
          </p:sp>
        </p:grpSp>
        <p:sp>
          <p:nvSpPr>
            <p:cNvPr id="44" name="Freeform 44"/>
            <p:cNvSpPr/>
            <p:nvPr/>
          </p:nvSpPr>
          <p:spPr>
            <a:xfrm>
              <a:off x="713612" y="9888564"/>
              <a:ext cx="256494" cy="238539"/>
            </a:xfrm>
            <a:custGeom>
              <a:avLst/>
              <a:gdLst/>
              <a:ahLst/>
              <a:cxnLst/>
              <a:rect l="l" t="t" r="r" b="b"/>
              <a:pathLst>
                <a:path w="256494" h="238539">
                  <a:moveTo>
                    <a:pt x="0" y="0"/>
                  </a:moveTo>
                  <a:lnTo>
                    <a:pt x="256494" y="0"/>
                  </a:lnTo>
                  <a:lnTo>
                    <a:pt x="256494" y="238539"/>
                  </a:lnTo>
                  <a:lnTo>
                    <a:pt x="0" y="238539"/>
                  </a:lnTo>
                  <a:lnTo>
                    <a:pt x="0" y="0"/>
                  </a:lnTo>
                  <a:close/>
                </a:path>
              </a:pathLst>
            </a:custGeom>
            <a:blipFill>
              <a:blip>
                <a:extLst>
                  <a:ext uri="{96DAC541-7B7A-43D3-8B79-37D633B846F1}">
                    <asvg:svgBlip xmlns:asvg="http://schemas.microsoft.com/office/drawing/2016/SVG/main" r:embed="rId8"/>
                  </a:ext>
                </a:extLst>
              </a:blip>
              <a:stretch>
                <a:fillRect/>
              </a:stretch>
            </a:blipFill>
          </p:spPr>
          <p:txBody>
            <a:bodyPr/>
            <a:lstStyle/>
            <a:p>
              <a:endParaRPr lang="en-US"/>
            </a:p>
          </p:txBody>
        </p:sp>
        <p:sp>
          <p:nvSpPr>
            <p:cNvPr id="45" name="Freeform 45"/>
            <p:cNvSpPr/>
            <p:nvPr/>
          </p:nvSpPr>
          <p:spPr>
            <a:xfrm>
              <a:off x="1734675" y="9888564"/>
              <a:ext cx="265043" cy="238539"/>
            </a:xfrm>
            <a:custGeom>
              <a:avLst/>
              <a:gdLst/>
              <a:ahLst/>
              <a:cxnLst/>
              <a:rect l="l" t="t" r="r" b="b"/>
              <a:pathLst>
                <a:path w="265043" h="238539">
                  <a:moveTo>
                    <a:pt x="0" y="0"/>
                  </a:moveTo>
                  <a:lnTo>
                    <a:pt x="265043" y="0"/>
                  </a:lnTo>
                  <a:lnTo>
                    <a:pt x="265043" y="238539"/>
                  </a:lnTo>
                  <a:lnTo>
                    <a:pt x="0" y="238539"/>
                  </a:lnTo>
                  <a:lnTo>
                    <a:pt x="0" y="0"/>
                  </a:lnTo>
                  <a:close/>
                </a:path>
              </a:pathLst>
            </a:custGeom>
            <a:blipFill>
              <a:blip>
                <a:extLst>
                  <a:ext uri="{96DAC541-7B7A-43D3-8B79-37D633B846F1}">
                    <asvg:svgBlip xmlns:asvg="http://schemas.microsoft.com/office/drawing/2016/SVG/main" r:embed="rId9"/>
                  </a:ext>
                </a:extLst>
              </a:blip>
              <a:stretch>
                <a:fillRect/>
              </a:stretch>
            </a:blipFill>
          </p:spPr>
          <p:txBody>
            <a:bodyPr/>
            <a:lstStyle/>
            <a:p>
              <a:endParaRPr lang="en-US"/>
            </a:p>
          </p:txBody>
        </p:sp>
        <p:sp>
          <p:nvSpPr>
            <p:cNvPr id="46" name="Freeform 46"/>
            <p:cNvSpPr/>
            <p:nvPr/>
          </p:nvSpPr>
          <p:spPr>
            <a:xfrm>
              <a:off x="3577647" y="9765887"/>
              <a:ext cx="371258" cy="373124"/>
            </a:xfrm>
            <a:custGeom>
              <a:avLst/>
              <a:gdLst/>
              <a:ahLst/>
              <a:cxnLst/>
              <a:rect l="l" t="t" r="r" b="b"/>
              <a:pathLst>
                <a:path w="371258" h="373124">
                  <a:moveTo>
                    <a:pt x="0" y="0"/>
                  </a:moveTo>
                  <a:lnTo>
                    <a:pt x="371258" y="0"/>
                  </a:lnTo>
                  <a:lnTo>
                    <a:pt x="371258" y="373124"/>
                  </a:lnTo>
                  <a:lnTo>
                    <a:pt x="0" y="373124"/>
                  </a:lnTo>
                  <a:lnTo>
                    <a:pt x="0" y="0"/>
                  </a:lnTo>
                  <a:close/>
                </a:path>
              </a:pathLst>
            </a:custGeom>
            <a:blipFill>
              <a:blip>
                <a:extLst>
                  <a:ext uri="{96DAC541-7B7A-43D3-8B79-37D633B846F1}">
                    <asvg:svgBlip xmlns:asvg="http://schemas.microsoft.com/office/drawing/2016/SVG/main" r:embed="rId10"/>
                  </a:ext>
                </a:extLst>
              </a:blip>
              <a:stretch>
                <a:fillRect/>
              </a:stretch>
            </a:blipFill>
          </p:spPr>
          <p:txBody>
            <a:bodyPr/>
            <a:lstStyle/>
            <a:p>
              <a:endParaRPr lang="en-US"/>
            </a:p>
          </p:txBody>
        </p:sp>
        <p:grpSp>
          <p:nvGrpSpPr>
            <p:cNvPr id="47" name="Group 47"/>
            <p:cNvGrpSpPr/>
            <p:nvPr/>
          </p:nvGrpSpPr>
          <p:grpSpPr>
            <a:xfrm>
              <a:off x="4535455" y="9735621"/>
              <a:ext cx="433657" cy="433657"/>
              <a:chOff x="0" y="0"/>
              <a:chExt cx="812800" cy="812800"/>
            </a:xfrm>
          </p:grpSpPr>
          <p:sp>
            <p:nvSpPr>
              <p:cNvPr id="48" name="Freeform 4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a:blip r:embed="rId11"/>
                <a:stretch>
                  <a:fillRect l="-155679" t="-15600" b="-54426"/>
                </a:stretch>
              </a:blipFill>
              <a:ln w="38100" cap="sq">
                <a:solidFill>
                  <a:srgbClr val="000000"/>
                </a:solidFill>
                <a:prstDash val="solid"/>
                <a:miter/>
              </a:ln>
            </p:spPr>
            <p:txBody>
              <a:bodyPr/>
              <a:lstStyle/>
              <a:p>
                <a:endParaRPr lang="en-US"/>
              </a:p>
            </p:txBody>
          </p:sp>
        </p:grpSp>
        <p:sp>
          <p:nvSpPr>
            <p:cNvPr id="49" name="Freeform 49"/>
            <p:cNvSpPr/>
            <p:nvPr/>
          </p:nvSpPr>
          <p:spPr>
            <a:xfrm>
              <a:off x="2464456" y="9747998"/>
              <a:ext cx="620166" cy="620166"/>
            </a:xfrm>
            <a:custGeom>
              <a:avLst/>
              <a:gdLst/>
              <a:ahLst/>
              <a:cxnLst/>
              <a:rect l="l" t="t" r="r" b="b"/>
              <a:pathLst>
                <a:path w="620166" h="620166">
                  <a:moveTo>
                    <a:pt x="0" y="0"/>
                  </a:moveTo>
                  <a:lnTo>
                    <a:pt x="620166" y="0"/>
                  </a:lnTo>
                  <a:lnTo>
                    <a:pt x="620166" y="620167"/>
                  </a:lnTo>
                  <a:lnTo>
                    <a:pt x="0" y="620167"/>
                  </a:lnTo>
                  <a:lnTo>
                    <a:pt x="0" y="0"/>
                  </a:lnTo>
                  <a:close/>
                </a:path>
              </a:pathLst>
            </a:custGeom>
            <a:blipFill>
              <a:blip>
                <a:extLst>
                  <a:ext uri="{96DAC541-7B7A-43D3-8B79-37D633B846F1}">
                    <asvg:svgBlip xmlns:asvg="http://schemas.microsoft.com/office/drawing/2016/SVG/main" r:embed="rId12"/>
                  </a:ext>
                </a:extLst>
              </a:blip>
              <a:stretch>
                <a:fillRect/>
              </a:stretch>
            </a:blipFill>
          </p:spPr>
          <p:txBody>
            <a:bodyPr/>
            <a:lstStyle/>
            <a:p>
              <a:endParaRPr lang="en-US"/>
            </a:p>
          </p:txBody>
        </p:sp>
        <p:sp>
          <p:nvSpPr>
            <p:cNvPr id="50" name="Freeform 50"/>
            <p:cNvSpPr/>
            <p:nvPr/>
          </p:nvSpPr>
          <p:spPr>
            <a:xfrm>
              <a:off x="2567835" y="9889618"/>
              <a:ext cx="413408" cy="336928"/>
            </a:xfrm>
            <a:custGeom>
              <a:avLst/>
              <a:gdLst/>
              <a:ahLst/>
              <a:cxnLst/>
              <a:rect l="l" t="t" r="r" b="b"/>
              <a:pathLst>
                <a:path w="413408" h="336928">
                  <a:moveTo>
                    <a:pt x="0" y="0"/>
                  </a:moveTo>
                  <a:lnTo>
                    <a:pt x="413408" y="0"/>
                  </a:lnTo>
                  <a:lnTo>
                    <a:pt x="413408" y="336927"/>
                  </a:lnTo>
                  <a:lnTo>
                    <a:pt x="0" y="336927"/>
                  </a:lnTo>
                  <a:lnTo>
                    <a:pt x="0" y="0"/>
                  </a:lnTo>
                  <a:close/>
                </a:path>
              </a:pathLst>
            </a:custGeom>
            <a:blipFill>
              <a:blip>
                <a:extLst>
                  <a:ext uri="{96DAC541-7B7A-43D3-8B79-37D633B846F1}">
                    <asvg:svgBlip xmlns:asvg="http://schemas.microsoft.com/office/drawing/2016/SVG/main" r:embed="rId13"/>
                  </a:ext>
                </a:extLst>
              </a:blip>
              <a:stretch>
                <a:fillRect/>
              </a:stretch>
            </a:blipFill>
          </p:spPr>
          <p:txBody>
            <a:bodyPr/>
            <a:lstStyle/>
            <a:p>
              <a:endParaRPr lang="en-US"/>
            </a:p>
          </p:txBody>
        </p:sp>
        <p:sp>
          <p:nvSpPr>
            <p:cNvPr id="51" name="TextBox 51"/>
            <p:cNvSpPr txBox="1"/>
            <p:nvPr/>
          </p:nvSpPr>
          <p:spPr>
            <a:xfrm>
              <a:off x="455305" y="10265151"/>
              <a:ext cx="773108" cy="186978"/>
            </a:xfrm>
            <a:prstGeom prst="rect">
              <a:avLst/>
            </a:prstGeom>
          </p:spPr>
          <p:txBody>
            <a:bodyPr lIns="0" tIns="0" rIns="0" bIns="0" rtlCol="0" anchor="t">
              <a:spAutoFit/>
            </a:bodyPr>
            <a:lstStyle/>
            <a:p>
              <a:pPr algn="ctr">
                <a:lnSpc>
                  <a:spcPts val="1020"/>
                </a:lnSpc>
                <a:spcBef>
                  <a:spcPct val="0"/>
                </a:spcBef>
              </a:pPr>
              <a:r>
                <a:rPr lang="en-US" sz="850" b="1">
                  <a:solidFill>
                    <a:srgbClr val="FFFFFF"/>
                  </a:solidFill>
                  <a:latin typeface="Calibri (MS) Bold"/>
                  <a:ea typeface="Calibri (MS) Bold"/>
                  <a:cs typeface="Calibri (MS) Bold"/>
                  <a:sym typeface="Calibri (MS) Bold"/>
                </a:rPr>
                <a:t>Home</a:t>
              </a:r>
            </a:p>
          </p:txBody>
        </p:sp>
        <p:sp>
          <p:nvSpPr>
            <p:cNvPr id="52" name="TextBox 52"/>
            <p:cNvSpPr txBox="1"/>
            <p:nvPr/>
          </p:nvSpPr>
          <p:spPr>
            <a:xfrm>
              <a:off x="1480643" y="10265151"/>
              <a:ext cx="773108" cy="186978"/>
            </a:xfrm>
            <a:prstGeom prst="rect">
              <a:avLst/>
            </a:prstGeom>
          </p:spPr>
          <p:txBody>
            <a:bodyPr lIns="0" tIns="0" rIns="0" bIns="0" rtlCol="0" anchor="t">
              <a:spAutoFit/>
            </a:bodyPr>
            <a:lstStyle/>
            <a:p>
              <a:pPr algn="ctr">
                <a:lnSpc>
                  <a:spcPts val="1020"/>
                </a:lnSpc>
                <a:spcBef>
                  <a:spcPct val="0"/>
                </a:spcBef>
              </a:pPr>
              <a:r>
                <a:rPr lang="en-US" sz="850" b="1">
                  <a:solidFill>
                    <a:srgbClr val="FFFFFF"/>
                  </a:solidFill>
                  <a:latin typeface="Calibri (MS) Bold"/>
                  <a:ea typeface="Calibri (MS) Bold"/>
                  <a:cs typeface="Calibri (MS) Bold"/>
                  <a:sym typeface="Calibri (MS) Bold"/>
                </a:rPr>
                <a:t>Chat</a:t>
              </a:r>
            </a:p>
          </p:txBody>
        </p:sp>
        <p:sp>
          <p:nvSpPr>
            <p:cNvPr id="53" name="TextBox 53"/>
            <p:cNvSpPr txBox="1"/>
            <p:nvPr/>
          </p:nvSpPr>
          <p:spPr>
            <a:xfrm>
              <a:off x="3376722" y="10265151"/>
              <a:ext cx="773108" cy="186978"/>
            </a:xfrm>
            <a:prstGeom prst="rect">
              <a:avLst/>
            </a:prstGeom>
          </p:spPr>
          <p:txBody>
            <a:bodyPr lIns="0" tIns="0" rIns="0" bIns="0" rtlCol="0" anchor="t">
              <a:spAutoFit/>
            </a:bodyPr>
            <a:lstStyle/>
            <a:p>
              <a:pPr algn="ctr">
                <a:lnSpc>
                  <a:spcPts val="1020"/>
                </a:lnSpc>
                <a:spcBef>
                  <a:spcPct val="0"/>
                </a:spcBef>
              </a:pPr>
              <a:r>
                <a:rPr lang="en-US" sz="850" b="1">
                  <a:solidFill>
                    <a:srgbClr val="FFFFFF"/>
                  </a:solidFill>
                  <a:latin typeface="Calibri (MS) Bold"/>
                  <a:ea typeface="Calibri (MS) Bold"/>
                  <a:cs typeface="Calibri (MS) Bold"/>
                  <a:sym typeface="Calibri (MS) Bold"/>
                </a:rPr>
                <a:t>Memories</a:t>
              </a:r>
            </a:p>
          </p:txBody>
        </p:sp>
        <p:sp>
          <p:nvSpPr>
            <p:cNvPr id="54" name="TextBox 54"/>
            <p:cNvSpPr txBox="1"/>
            <p:nvPr/>
          </p:nvSpPr>
          <p:spPr>
            <a:xfrm>
              <a:off x="4365730" y="10265151"/>
              <a:ext cx="773108" cy="186978"/>
            </a:xfrm>
            <a:prstGeom prst="rect">
              <a:avLst/>
            </a:prstGeom>
          </p:spPr>
          <p:txBody>
            <a:bodyPr lIns="0" tIns="0" rIns="0" bIns="0" rtlCol="0" anchor="t">
              <a:spAutoFit/>
            </a:bodyPr>
            <a:lstStyle/>
            <a:p>
              <a:pPr algn="ctr">
                <a:lnSpc>
                  <a:spcPts val="1020"/>
                </a:lnSpc>
                <a:spcBef>
                  <a:spcPct val="0"/>
                </a:spcBef>
              </a:pPr>
              <a:r>
                <a:rPr lang="en-US" sz="850" b="1">
                  <a:solidFill>
                    <a:srgbClr val="FFFFFF"/>
                  </a:solidFill>
                  <a:latin typeface="Calibri (MS) Bold"/>
                  <a:ea typeface="Calibri (MS) Bold"/>
                  <a:cs typeface="Calibri (MS) Bold"/>
                  <a:sym typeface="Calibri (MS) Bold"/>
                </a:rPr>
                <a:t>Profile</a:t>
              </a:r>
            </a:p>
          </p:txBody>
        </p:sp>
        <p:grpSp>
          <p:nvGrpSpPr>
            <p:cNvPr id="55" name="Group 55"/>
            <p:cNvGrpSpPr/>
            <p:nvPr/>
          </p:nvGrpSpPr>
          <p:grpSpPr>
            <a:xfrm>
              <a:off x="251597" y="2804708"/>
              <a:ext cx="1588850" cy="613535"/>
              <a:chOff x="0" y="0"/>
              <a:chExt cx="313847" cy="121192"/>
            </a:xfrm>
          </p:grpSpPr>
          <p:sp>
            <p:nvSpPr>
              <p:cNvPr id="56" name="Freeform 56"/>
              <p:cNvSpPr/>
              <p:nvPr/>
            </p:nvSpPr>
            <p:spPr>
              <a:xfrm>
                <a:off x="0" y="0"/>
                <a:ext cx="313847" cy="121192"/>
              </a:xfrm>
              <a:custGeom>
                <a:avLst/>
                <a:gdLst/>
                <a:ahLst/>
                <a:cxnLst/>
                <a:rect l="l" t="t" r="r" b="b"/>
                <a:pathLst>
                  <a:path w="313847" h="121192">
                    <a:moveTo>
                      <a:pt x="60596" y="0"/>
                    </a:moveTo>
                    <a:lnTo>
                      <a:pt x="253251" y="0"/>
                    </a:lnTo>
                    <a:cubicBezTo>
                      <a:pt x="286717" y="0"/>
                      <a:pt x="313847" y="27130"/>
                      <a:pt x="313847" y="60596"/>
                    </a:cubicBezTo>
                    <a:lnTo>
                      <a:pt x="313847" y="60596"/>
                    </a:lnTo>
                    <a:cubicBezTo>
                      <a:pt x="313847" y="76667"/>
                      <a:pt x="307463" y="92080"/>
                      <a:pt x="296099" y="103444"/>
                    </a:cubicBezTo>
                    <a:cubicBezTo>
                      <a:pt x="284735" y="114808"/>
                      <a:pt x="269322" y="121192"/>
                      <a:pt x="253251" y="121192"/>
                    </a:cubicBezTo>
                    <a:lnTo>
                      <a:pt x="60596" y="121192"/>
                    </a:lnTo>
                    <a:cubicBezTo>
                      <a:pt x="44525" y="121192"/>
                      <a:pt x="29112" y="114808"/>
                      <a:pt x="17748" y="103444"/>
                    </a:cubicBezTo>
                    <a:cubicBezTo>
                      <a:pt x="6384" y="92080"/>
                      <a:pt x="0" y="76667"/>
                      <a:pt x="0" y="60596"/>
                    </a:cubicBezTo>
                    <a:lnTo>
                      <a:pt x="0" y="60596"/>
                    </a:lnTo>
                    <a:cubicBezTo>
                      <a:pt x="0" y="44525"/>
                      <a:pt x="6384" y="29112"/>
                      <a:pt x="17748" y="17748"/>
                    </a:cubicBezTo>
                    <a:cubicBezTo>
                      <a:pt x="29112" y="6384"/>
                      <a:pt x="44525" y="0"/>
                      <a:pt x="60596" y="0"/>
                    </a:cubicBezTo>
                    <a:close/>
                  </a:path>
                </a:pathLst>
              </a:custGeom>
              <a:solidFill>
                <a:srgbClr val="232222"/>
              </a:solidFill>
            </p:spPr>
            <p:txBody>
              <a:bodyPr/>
              <a:lstStyle/>
              <a:p>
                <a:endParaRPr lang="en-US"/>
              </a:p>
            </p:txBody>
          </p:sp>
          <p:sp>
            <p:nvSpPr>
              <p:cNvPr id="57" name="TextBox 57"/>
              <p:cNvSpPr txBox="1"/>
              <p:nvPr/>
            </p:nvSpPr>
            <p:spPr>
              <a:xfrm>
                <a:off x="0" y="-47625"/>
                <a:ext cx="313847" cy="168817"/>
              </a:xfrm>
              <a:prstGeom prst="rect">
                <a:avLst/>
              </a:prstGeom>
            </p:spPr>
            <p:txBody>
              <a:bodyPr lIns="50800" tIns="50800" rIns="50800" bIns="50800" rtlCol="0" anchor="ctr"/>
              <a:lstStyle/>
              <a:p>
                <a:pPr algn="ctr">
                  <a:lnSpc>
                    <a:spcPts val="2340"/>
                  </a:lnSpc>
                </a:pPr>
                <a:endParaRPr/>
              </a:p>
            </p:txBody>
          </p:sp>
        </p:grpSp>
        <p:grpSp>
          <p:nvGrpSpPr>
            <p:cNvPr id="58" name="Group 58"/>
            <p:cNvGrpSpPr/>
            <p:nvPr/>
          </p:nvGrpSpPr>
          <p:grpSpPr>
            <a:xfrm>
              <a:off x="816521" y="1929613"/>
              <a:ext cx="1578858" cy="798756"/>
              <a:chOff x="0" y="0"/>
              <a:chExt cx="1892503" cy="957431"/>
            </a:xfrm>
          </p:grpSpPr>
          <p:sp>
            <p:nvSpPr>
              <p:cNvPr id="59" name="Freeform 59"/>
              <p:cNvSpPr/>
              <p:nvPr/>
            </p:nvSpPr>
            <p:spPr>
              <a:xfrm>
                <a:off x="0" y="0"/>
                <a:ext cx="1892503" cy="957431"/>
              </a:xfrm>
              <a:custGeom>
                <a:avLst/>
                <a:gdLst/>
                <a:ahLst/>
                <a:cxnLst/>
                <a:rect l="l" t="t" r="r" b="b"/>
                <a:pathLst>
                  <a:path w="1892503" h="957431">
                    <a:moveTo>
                      <a:pt x="0" y="0"/>
                    </a:moveTo>
                    <a:lnTo>
                      <a:pt x="1892503" y="0"/>
                    </a:lnTo>
                    <a:lnTo>
                      <a:pt x="1892503" y="957431"/>
                    </a:lnTo>
                    <a:lnTo>
                      <a:pt x="0" y="957431"/>
                    </a:lnTo>
                    <a:close/>
                  </a:path>
                </a:pathLst>
              </a:custGeom>
              <a:blipFill>
                <a:blip r:embed="rId3">
                  <a:alphaModFix amt="0"/>
                </a:blip>
                <a:stretch>
                  <a:fillRect t="-300064" r="-914656" b="-381525"/>
                </a:stretch>
              </a:blipFill>
            </p:spPr>
            <p:txBody>
              <a:bodyPr/>
              <a:lstStyle/>
              <a:p>
                <a:endParaRPr lang="en-US"/>
              </a:p>
            </p:txBody>
          </p:sp>
          <p:sp>
            <p:nvSpPr>
              <p:cNvPr id="60" name="TextBox 60"/>
              <p:cNvSpPr txBox="1"/>
              <p:nvPr/>
            </p:nvSpPr>
            <p:spPr>
              <a:xfrm>
                <a:off x="0" y="0"/>
                <a:ext cx="1892503" cy="957431"/>
              </a:xfrm>
              <a:prstGeom prst="rect">
                <a:avLst/>
              </a:prstGeom>
            </p:spPr>
            <p:txBody>
              <a:bodyPr lIns="0" tIns="0" rIns="0" bIns="0" rtlCol="0" anchor="ctr"/>
              <a:lstStyle/>
              <a:p>
                <a:pPr algn="l">
                  <a:lnSpc>
                    <a:spcPts val="1280"/>
                  </a:lnSpc>
                </a:pPr>
                <a:r>
                  <a:rPr lang="en-US" sz="1200" b="1">
                    <a:solidFill>
                      <a:srgbClr val="FFFFFF"/>
                    </a:solidFill>
                    <a:latin typeface="Arial Bold"/>
                    <a:ea typeface="Arial Bold"/>
                    <a:cs typeface="Arial Bold"/>
                    <a:sym typeface="Arial Bold"/>
                  </a:rPr>
                  <a:t>My Friends</a:t>
                </a:r>
              </a:p>
            </p:txBody>
          </p:sp>
        </p:grpSp>
        <p:grpSp>
          <p:nvGrpSpPr>
            <p:cNvPr id="61" name="Group 61"/>
            <p:cNvGrpSpPr/>
            <p:nvPr/>
          </p:nvGrpSpPr>
          <p:grpSpPr>
            <a:xfrm>
              <a:off x="582024" y="2797176"/>
              <a:ext cx="1023926" cy="628600"/>
              <a:chOff x="0" y="0"/>
              <a:chExt cx="1559557" cy="957431"/>
            </a:xfrm>
          </p:grpSpPr>
          <p:sp>
            <p:nvSpPr>
              <p:cNvPr id="62" name="Freeform 62"/>
              <p:cNvSpPr/>
              <p:nvPr/>
            </p:nvSpPr>
            <p:spPr>
              <a:xfrm>
                <a:off x="0" y="0"/>
                <a:ext cx="1559557" cy="957431"/>
              </a:xfrm>
              <a:custGeom>
                <a:avLst/>
                <a:gdLst/>
                <a:ahLst/>
                <a:cxnLst/>
                <a:rect l="l" t="t" r="r" b="b"/>
                <a:pathLst>
                  <a:path w="1559557" h="957431">
                    <a:moveTo>
                      <a:pt x="0" y="0"/>
                    </a:moveTo>
                    <a:lnTo>
                      <a:pt x="1559557" y="0"/>
                    </a:lnTo>
                    <a:lnTo>
                      <a:pt x="1559557" y="957431"/>
                    </a:lnTo>
                    <a:lnTo>
                      <a:pt x="0" y="957431"/>
                    </a:lnTo>
                    <a:close/>
                  </a:path>
                </a:pathLst>
              </a:custGeom>
              <a:blipFill>
                <a:blip r:embed="rId3">
                  <a:alphaModFix amt="0"/>
                </a:blip>
                <a:stretch>
                  <a:fillRect t="-300064" r="-1131272" b="-381525"/>
                </a:stretch>
              </a:blipFill>
            </p:spPr>
            <p:txBody>
              <a:bodyPr/>
              <a:lstStyle/>
              <a:p>
                <a:endParaRPr lang="en-US"/>
              </a:p>
            </p:txBody>
          </p:sp>
          <p:sp>
            <p:nvSpPr>
              <p:cNvPr id="63" name="TextBox 63"/>
              <p:cNvSpPr txBox="1"/>
              <p:nvPr/>
            </p:nvSpPr>
            <p:spPr>
              <a:xfrm>
                <a:off x="0" y="0"/>
                <a:ext cx="1559557" cy="957431"/>
              </a:xfrm>
              <a:prstGeom prst="rect">
                <a:avLst/>
              </a:prstGeom>
            </p:spPr>
            <p:txBody>
              <a:bodyPr lIns="0" tIns="0" rIns="0" bIns="0" rtlCol="0" anchor="ctr"/>
              <a:lstStyle/>
              <a:p>
                <a:pPr algn="ctr">
                  <a:lnSpc>
                    <a:spcPts val="1280"/>
                  </a:lnSpc>
                </a:pPr>
                <a:r>
                  <a:rPr lang="en-US" sz="1200" b="1">
                    <a:solidFill>
                      <a:srgbClr val="FFFFFF"/>
                    </a:solidFill>
                    <a:latin typeface="Arial Bold"/>
                    <a:ea typeface="Arial Bold"/>
                    <a:cs typeface="Arial Bold"/>
                    <a:sym typeface="Arial Bold"/>
                  </a:rPr>
                  <a:t>Today</a:t>
                </a:r>
              </a:p>
            </p:txBody>
          </p:sp>
        </p:grpSp>
        <p:grpSp>
          <p:nvGrpSpPr>
            <p:cNvPr id="64" name="Group 64"/>
            <p:cNvGrpSpPr/>
            <p:nvPr/>
          </p:nvGrpSpPr>
          <p:grpSpPr>
            <a:xfrm>
              <a:off x="1991405" y="2797176"/>
              <a:ext cx="1588850" cy="613535"/>
              <a:chOff x="0" y="0"/>
              <a:chExt cx="313847" cy="121192"/>
            </a:xfrm>
          </p:grpSpPr>
          <p:sp>
            <p:nvSpPr>
              <p:cNvPr id="65" name="Freeform 65"/>
              <p:cNvSpPr/>
              <p:nvPr/>
            </p:nvSpPr>
            <p:spPr>
              <a:xfrm>
                <a:off x="0" y="0"/>
                <a:ext cx="313847" cy="121192"/>
              </a:xfrm>
              <a:custGeom>
                <a:avLst/>
                <a:gdLst/>
                <a:ahLst/>
                <a:cxnLst/>
                <a:rect l="l" t="t" r="r" b="b"/>
                <a:pathLst>
                  <a:path w="313847" h="121192">
                    <a:moveTo>
                      <a:pt x="60596" y="0"/>
                    </a:moveTo>
                    <a:lnTo>
                      <a:pt x="253251" y="0"/>
                    </a:lnTo>
                    <a:cubicBezTo>
                      <a:pt x="286717" y="0"/>
                      <a:pt x="313847" y="27130"/>
                      <a:pt x="313847" y="60596"/>
                    </a:cubicBezTo>
                    <a:lnTo>
                      <a:pt x="313847" y="60596"/>
                    </a:lnTo>
                    <a:cubicBezTo>
                      <a:pt x="313847" y="76667"/>
                      <a:pt x="307463" y="92080"/>
                      <a:pt x="296099" y="103444"/>
                    </a:cubicBezTo>
                    <a:cubicBezTo>
                      <a:pt x="284735" y="114808"/>
                      <a:pt x="269322" y="121192"/>
                      <a:pt x="253251" y="121192"/>
                    </a:cubicBezTo>
                    <a:lnTo>
                      <a:pt x="60596" y="121192"/>
                    </a:lnTo>
                    <a:cubicBezTo>
                      <a:pt x="44525" y="121192"/>
                      <a:pt x="29112" y="114808"/>
                      <a:pt x="17748" y="103444"/>
                    </a:cubicBezTo>
                    <a:cubicBezTo>
                      <a:pt x="6384" y="92080"/>
                      <a:pt x="0" y="76667"/>
                      <a:pt x="0" y="60596"/>
                    </a:cubicBezTo>
                    <a:lnTo>
                      <a:pt x="0" y="60596"/>
                    </a:lnTo>
                    <a:cubicBezTo>
                      <a:pt x="0" y="44525"/>
                      <a:pt x="6384" y="29112"/>
                      <a:pt x="17748" y="17748"/>
                    </a:cubicBezTo>
                    <a:cubicBezTo>
                      <a:pt x="29112" y="6384"/>
                      <a:pt x="44525" y="0"/>
                      <a:pt x="60596" y="0"/>
                    </a:cubicBezTo>
                    <a:close/>
                  </a:path>
                </a:pathLst>
              </a:custGeom>
              <a:solidFill>
                <a:srgbClr val="FFFFFF"/>
              </a:solidFill>
            </p:spPr>
            <p:txBody>
              <a:bodyPr/>
              <a:lstStyle/>
              <a:p>
                <a:endParaRPr lang="en-US"/>
              </a:p>
            </p:txBody>
          </p:sp>
          <p:sp>
            <p:nvSpPr>
              <p:cNvPr id="66" name="TextBox 66"/>
              <p:cNvSpPr txBox="1"/>
              <p:nvPr/>
            </p:nvSpPr>
            <p:spPr>
              <a:xfrm>
                <a:off x="0" y="-47625"/>
                <a:ext cx="313847" cy="168817"/>
              </a:xfrm>
              <a:prstGeom prst="rect">
                <a:avLst/>
              </a:prstGeom>
            </p:spPr>
            <p:txBody>
              <a:bodyPr lIns="50800" tIns="50800" rIns="50800" bIns="50800" rtlCol="0" anchor="ctr"/>
              <a:lstStyle/>
              <a:p>
                <a:pPr algn="ctr">
                  <a:lnSpc>
                    <a:spcPts val="2340"/>
                  </a:lnSpc>
                </a:pPr>
                <a:endParaRPr/>
              </a:p>
            </p:txBody>
          </p:sp>
        </p:grpSp>
        <p:grpSp>
          <p:nvGrpSpPr>
            <p:cNvPr id="67" name="Group 67"/>
            <p:cNvGrpSpPr/>
            <p:nvPr/>
          </p:nvGrpSpPr>
          <p:grpSpPr>
            <a:xfrm>
              <a:off x="2323047" y="2797176"/>
              <a:ext cx="930342" cy="628600"/>
              <a:chOff x="0" y="0"/>
              <a:chExt cx="1417019" cy="957431"/>
            </a:xfrm>
          </p:grpSpPr>
          <p:sp>
            <p:nvSpPr>
              <p:cNvPr id="68" name="Freeform 68"/>
              <p:cNvSpPr/>
              <p:nvPr/>
            </p:nvSpPr>
            <p:spPr>
              <a:xfrm>
                <a:off x="0" y="0"/>
                <a:ext cx="1417019" cy="957431"/>
              </a:xfrm>
              <a:custGeom>
                <a:avLst/>
                <a:gdLst/>
                <a:ahLst/>
                <a:cxnLst/>
                <a:rect l="l" t="t" r="r" b="b"/>
                <a:pathLst>
                  <a:path w="1417019" h="957431">
                    <a:moveTo>
                      <a:pt x="0" y="0"/>
                    </a:moveTo>
                    <a:lnTo>
                      <a:pt x="1417019" y="0"/>
                    </a:lnTo>
                    <a:lnTo>
                      <a:pt x="1417019" y="957431"/>
                    </a:lnTo>
                    <a:lnTo>
                      <a:pt x="0" y="957431"/>
                    </a:lnTo>
                    <a:close/>
                  </a:path>
                </a:pathLst>
              </a:custGeom>
              <a:blipFill>
                <a:blip r:embed="rId3">
                  <a:alphaModFix amt="0"/>
                </a:blip>
                <a:stretch>
                  <a:fillRect t="-300064" r="-1255126" b="-381525"/>
                </a:stretch>
              </a:blipFill>
            </p:spPr>
            <p:txBody>
              <a:bodyPr/>
              <a:lstStyle/>
              <a:p>
                <a:endParaRPr lang="en-US"/>
              </a:p>
            </p:txBody>
          </p:sp>
          <p:sp>
            <p:nvSpPr>
              <p:cNvPr id="69" name="TextBox 69"/>
              <p:cNvSpPr txBox="1"/>
              <p:nvPr/>
            </p:nvSpPr>
            <p:spPr>
              <a:xfrm>
                <a:off x="0" y="0"/>
                <a:ext cx="1417019" cy="957431"/>
              </a:xfrm>
              <a:prstGeom prst="rect">
                <a:avLst/>
              </a:prstGeom>
            </p:spPr>
            <p:txBody>
              <a:bodyPr lIns="0" tIns="0" rIns="0" bIns="0" rtlCol="0" anchor="ctr"/>
              <a:lstStyle/>
              <a:p>
                <a:pPr algn="ctr">
                  <a:lnSpc>
                    <a:spcPts val="1280"/>
                  </a:lnSpc>
                </a:pPr>
                <a:r>
                  <a:rPr lang="en-US" sz="1200" b="1">
                    <a:solidFill>
                      <a:srgbClr val="000000"/>
                    </a:solidFill>
                    <a:latin typeface="Arial Bold"/>
                    <a:ea typeface="Arial Bold"/>
                    <a:cs typeface="Arial Bold"/>
                    <a:sym typeface="Arial Bold"/>
                  </a:rPr>
                  <a:t>Board</a:t>
                </a:r>
              </a:p>
            </p:txBody>
          </p:sp>
        </p:grpSp>
        <p:grpSp>
          <p:nvGrpSpPr>
            <p:cNvPr id="70" name="Group 70"/>
            <p:cNvGrpSpPr/>
            <p:nvPr/>
          </p:nvGrpSpPr>
          <p:grpSpPr>
            <a:xfrm>
              <a:off x="3731214" y="2789644"/>
              <a:ext cx="1588850" cy="613535"/>
              <a:chOff x="0" y="0"/>
              <a:chExt cx="313847" cy="121192"/>
            </a:xfrm>
          </p:grpSpPr>
          <p:sp>
            <p:nvSpPr>
              <p:cNvPr id="71" name="Freeform 71"/>
              <p:cNvSpPr/>
              <p:nvPr/>
            </p:nvSpPr>
            <p:spPr>
              <a:xfrm>
                <a:off x="0" y="0"/>
                <a:ext cx="313847" cy="121192"/>
              </a:xfrm>
              <a:custGeom>
                <a:avLst/>
                <a:gdLst/>
                <a:ahLst/>
                <a:cxnLst/>
                <a:rect l="l" t="t" r="r" b="b"/>
                <a:pathLst>
                  <a:path w="313847" h="121192">
                    <a:moveTo>
                      <a:pt x="60596" y="0"/>
                    </a:moveTo>
                    <a:lnTo>
                      <a:pt x="253251" y="0"/>
                    </a:lnTo>
                    <a:cubicBezTo>
                      <a:pt x="286717" y="0"/>
                      <a:pt x="313847" y="27130"/>
                      <a:pt x="313847" y="60596"/>
                    </a:cubicBezTo>
                    <a:lnTo>
                      <a:pt x="313847" y="60596"/>
                    </a:lnTo>
                    <a:cubicBezTo>
                      <a:pt x="313847" y="76667"/>
                      <a:pt x="307463" y="92080"/>
                      <a:pt x="296099" y="103444"/>
                    </a:cubicBezTo>
                    <a:cubicBezTo>
                      <a:pt x="284735" y="114808"/>
                      <a:pt x="269322" y="121192"/>
                      <a:pt x="253251" y="121192"/>
                    </a:cubicBezTo>
                    <a:lnTo>
                      <a:pt x="60596" y="121192"/>
                    </a:lnTo>
                    <a:cubicBezTo>
                      <a:pt x="44525" y="121192"/>
                      <a:pt x="29112" y="114808"/>
                      <a:pt x="17748" y="103444"/>
                    </a:cubicBezTo>
                    <a:cubicBezTo>
                      <a:pt x="6384" y="92080"/>
                      <a:pt x="0" y="76667"/>
                      <a:pt x="0" y="60596"/>
                    </a:cubicBezTo>
                    <a:lnTo>
                      <a:pt x="0" y="60596"/>
                    </a:lnTo>
                    <a:cubicBezTo>
                      <a:pt x="0" y="44525"/>
                      <a:pt x="6384" y="29112"/>
                      <a:pt x="17748" y="17748"/>
                    </a:cubicBezTo>
                    <a:cubicBezTo>
                      <a:pt x="29112" y="6384"/>
                      <a:pt x="44525" y="0"/>
                      <a:pt x="60596" y="0"/>
                    </a:cubicBezTo>
                    <a:close/>
                  </a:path>
                </a:pathLst>
              </a:custGeom>
              <a:solidFill>
                <a:srgbClr val="363535"/>
              </a:solidFill>
            </p:spPr>
            <p:txBody>
              <a:bodyPr/>
              <a:lstStyle/>
              <a:p>
                <a:endParaRPr lang="en-US"/>
              </a:p>
            </p:txBody>
          </p:sp>
          <p:sp>
            <p:nvSpPr>
              <p:cNvPr id="72" name="TextBox 72"/>
              <p:cNvSpPr txBox="1"/>
              <p:nvPr/>
            </p:nvSpPr>
            <p:spPr>
              <a:xfrm>
                <a:off x="0" y="-47625"/>
                <a:ext cx="313847" cy="168817"/>
              </a:xfrm>
              <a:prstGeom prst="rect">
                <a:avLst/>
              </a:prstGeom>
            </p:spPr>
            <p:txBody>
              <a:bodyPr lIns="50800" tIns="50800" rIns="50800" bIns="50800" rtlCol="0" anchor="ctr"/>
              <a:lstStyle/>
              <a:p>
                <a:pPr algn="ctr">
                  <a:lnSpc>
                    <a:spcPts val="2340"/>
                  </a:lnSpc>
                </a:pPr>
                <a:endParaRPr/>
              </a:p>
            </p:txBody>
          </p:sp>
        </p:grpSp>
        <p:grpSp>
          <p:nvGrpSpPr>
            <p:cNvPr id="73" name="Group 73"/>
            <p:cNvGrpSpPr/>
            <p:nvPr/>
          </p:nvGrpSpPr>
          <p:grpSpPr>
            <a:xfrm>
              <a:off x="4062855" y="2804708"/>
              <a:ext cx="928093" cy="628600"/>
              <a:chOff x="0" y="0"/>
              <a:chExt cx="1413593" cy="957431"/>
            </a:xfrm>
          </p:grpSpPr>
          <p:sp>
            <p:nvSpPr>
              <p:cNvPr id="74" name="Freeform 74"/>
              <p:cNvSpPr/>
              <p:nvPr/>
            </p:nvSpPr>
            <p:spPr>
              <a:xfrm>
                <a:off x="0" y="0"/>
                <a:ext cx="1413593" cy="957431"/>
              </a:xfrm>
              <a:custGeom>
                <a:avLst/>
                <a:gdLst/>
                <a:ahLst/>
                <a:cxnLst/>
                <a:rect l="l" t="t" r="r" b="b"/>
                <a:pathLst>
                  <a:path w="1413593" h="957431">
                    <a:moveTo>
                      <a:pt x="0" y="0"/>
                    </a:moveTo>
                    <a:lnTo>
                      <a:pt x="1413593" y="0"/>
                    </a:lnTo>
                    <a:lnTo>
                      <a:pt x="1413593" y="957431"/>
                    </a:lnTo>
                    <a:lnTo>
                      <a:pt x="0" y="957431"/>
                    </a:lnTo>
                    <a:close/>
                  </a:path>
                </a:pathLst>
              </a:custGeom>
              <a:blipFill>
                <a:blip r:embed="rId3">
                  <a:alphaModFix amt="0"/>
                </a:blip>
                <a:stretch>
                  <a:fillRect t="-300064" r="-1258411" b="-381525"/>
                </a:stretch>
              </a:blipFill>
            </p:spPr>
            <p:txBody>
              <a:bodyPr/>
              <a:lstStyle/>
              <a:p>
                <a:endParaRPr lang="en-US"/>
              </a:p>
            </p:txBody>
          </p:sp>
          <p:sp>
            <p:nvSpPr>
              <p:cNvPr id="75" name="TextBox 75"/>
              <p:cNvSpPr txBox="1"/>
              <p:nvPr/>
            </p:nvSpPr>
            <p:spPr>
              <a:xfrm>
                <a:off x="0" y="0"/>
                <a:ext cx="1413593" cy="957431"/>
              </a:xfrm>
              <a:prstGeom prst="rect">
                <a:avLst/>
              </a:prstGeom>
            </p:spPr>
            <p:txBody>
              <a:bodyPr lIns="0" tIns="0" rIns="0" bIns="0" rtlCol="0" anchor="ctr"/>
              <a:lstStyle/>
              <a:p>
                <a:pPr algn="ctr">
                  <a:lnSpc>
                    <a:spcPts val="1280"/>
                  </a:lnSpc>
                </a:pPr>
                <a:r>
                  <a:rPr lang="en-US" sz="1200" b="1">
                    <a:solidFill>
                      <a:srgbClr val="FFFFFF"/>
                    </a:solidFill>
                    <a:latin typeface="Arial Bold"/>
                    <a:ea typeface="Arial Bold"/>
                    <a:cs typeface="Arial Bold"/>
                    <a:sym typeface="Arial Bold"/>
                  </a:rPr>
                  <a:t>Passport</a:t>
                </a:r>
              </a:p>
            </p:txBody>
          </p:sp>
        </p:grpSp>
        <p:grpSp>
          <p:nvGrpSpPr>
            <p:cNvPr id="76" name="Group 76"/>
            <p:cNvGrpSpPr/>
            <p:nvPr/>
          </p:nvGrpSpPr>
          <p:grpSpPr>
            <a:xfrm>
              <a:off x="333920" y="3527760"/>
              <a:ext cx="2781418" cy="798756"/>
              <a:chOff x="0" y="0"/>
              <a:chExt cx="3333956" cy="957431"/>
            </a:xfrm>
          </p:grpSpPr>
          <p:sp>
            <p:nvSpPr>
              <p:cNvPr id="77" name="Freeform 77"/>
              <p:cNvSpPr/>
              <p:nvPr/>
            </p:nvSpPr>
            <p:spPr>
              <a:xfrm>
                <a:off x="0" y="0"/>
                <a:ext cx="3333956" cy="957431"/>
              </a:xfrm>
              <a:custGeom>
                <a:avLst/>
                <a:gdLst/>
                <a:ahLst/>
                <a:cxnLst/>
                <a:rect l="l" t="t" r="r" b="b"/>
                <a:pathLst>
                  <a:path w="3333956" h="957431">
                    <a:moveTo>
                      <a:pt x="0" y="0"/>
                    </a:moveTo>
                    <a:lnTo>
                      <a:pt x="3333956" y="0"/>
                    </a:lnTo>
                    <a:lnTo>
                      <a:pt x="3333956" y="957431"/>
                    </a:lnTo>
                    <a:lnTo>
                      <a:pt x="0" y="957431"/>
                    </a:lnTo>
                    <a:close/>
                  </a:path>
                </a:pathLst>
              </a:custGeom>
              <a:blipFill>
                <a:blip r:embed="rId3">
                  <a:alphaModFix amt="0"/>
                </a:blip>
                <a:stretch>
                  <a:fillRect t="-300064" r="-475964" b="-381525"/>
                </a:stretch>
              </a:blipFill>
            </p:spPr>
            <p:txBody>
              <a:bodyPr/>
              <a:lstStyle/>
              <a:p>
                <a:endParaRPr lang="en-US"/>
              </a:p>
            </p:txBody>
          </p:sp>
          <p:sp>
            <p:nvSpPr>
              <p:cNvPr id="78" name="TextBox 78"/>
              <p:cNvSpPr txBox="1"/>
              <p:nvPr/>
            </p:nvSpPr>
            <p:spPr>
              <a:xfrm>
                <a:off x="0" y="0"/>
                <a:ext cx="3333956" cy="957431"/>
              </a:xfrm>
              <a:prstGeom prst="rect">
                <a:avLst/>
              </a:prstGeom>
            </p:spPr>
            <p:txBody>
              <a:bodyPr lIns="0" tIns="0" rIns="0" bIns="0" rtlCol="0" anchor="ctr"/>
              <a:lstStyle/>
              <a:p>
                <a:pPr algn="l">
                  <a:lnSpc>
                    <a:spcPts val="1813"/>
                  </a:lnSpc>
                </a:pPr>
                <a:r>
                  <a:rPr lang="en-US" sz="1700" b="1">
                    <a:solidFill>
                      <a:srgbClr val="FFFFFF"/>
                    </a:solidFill>
                    <a:latin typeface="Arial Bold"/>
                    <a:ea typeface="Arial Bold"/>
                    <a:cs typeface="Arial Bold"/>
                    <a:sym typeface="Arial Bold"/>
                  </a:rPr>
                  <a:t>October 2026 Board</a:t>
                </a:r>
              </a:p>
            </p:txBody>
          </p:sp>
        </p:grpSp>
        <p:grpSp>
          <p:nvGrpSpPr>
            <p:cNvPr id="79" name="Group 79"/>
            <p:cNvGrpSpPr/>
            <p:nvPr/>
          </p:nvGrpSpPr>
          <p:grpSpPr>
            <a:xfrm>
              <a:off x="3866747" y="3727448"/>
              <a:ext cx="1259734" cy="399378"/>
              <a:chOff x="0" y="0"/>
              <a:chExt cx="1509985" cy="478716"/>
            </a:xfrm>
          </p:grpSpPr>
          <p:sp>
            <p:nvSpPr>
              <p:cNvPr id="80" name="Freeform 80"/>
              <p:cNvSpPr/>
              <p:nvPr/>
            </p:nvSpPr>
            <p:spPr>
              <a:xfrm>
                <a:off x="0" y="0"/>
                <a:ext cx="1509985" cy="478716"/>
              </a:xfrm>
              <a:custGeom>
                <a:avLst/>
                <a:gdLst/>
                <a:ahLst/>
                <a:cxnLst/>
                <a:rect l="l" t="t" r="r" b="b"/>
                <a:pathLst>
                  <a:path w="1509985" h="478716">
                    <a:moveTo>
                      <a:pt x="0" y="0"/>
                    </a:moveTo>
                    <a:lnTo>
                      <a:pt x="1509985" y="0"/>
                    </a:lnTo>
                    <a:lnTo>
                      <a:pt x="1509985" y="478716"/>
                    </a:lnTo>
                    <a:lnTo>
                      <a:pt x="0" y="478716"/>
                    </a:lnTo>
                    <a:close/>
                  </a:path>
                </a:pathLst>
              </a:custGeom>
              <a:blipFill>
                <a:blip r:embed="rId3">
                  <a:alphaModFix amt="0"/>
                </a:blip>
                <a:stretch>
                  <a:fillRect t="-600129" r="-1171694" b="-863051"/>
                </a:stretch>
              </a:blipFill>
            </p:spPr>
            <p:txBody>
              <a:bodyPr/>
              <a:lstStyle/>
              <a:p>
                <a:endParaRPr lang="en-US"/>
              </a:p>
            </p:txBody>
          </p:sp>
          <p:sp>
            <p:nvSpPr>
              <p:cNvPr id="81" name="TextBox 81"/>
              <p:cNvSpPr txBox="1"/>
              <p:nvPr/>
            </p:nvSpPr>
            <p:spPr>
              <a:xfrm>
                <a:off x="0" y="0"/>
                <a:ext cx="1509985" cy="478716"/>
              </a:xfrm>
              <a:prstGeom prst="rect">
                <a:avLst/>
              </a:prstGeom>
            </p:spPr>
            <p:txBody>
              <a:bodyPr lIns="0" tIns="0" rIns="0" bIns="0" rtlCol="0" anchor="ctr"/>
              <a:lstStyle/>
              <a:p>
                <a:pPr algn="l">
                  <a:lnSpc>
                    <a:spcPts val="1280"/>
                  </a:lnSpc>
                </a:pPr>
                <a:r>
                  <a:rPr lang="en-US" sz="1200">
                    <a:solidFill>
                      <a:srgbClr val="FFFFFF"/>
                    </a:solidFill>
                    <a:latin typeface="Arial"/>
                    <a:ea typeface="Arial"/>
                    <a:cs typeface="Arial"/>
                    <a:sym typeface="Arial"/>
                  </a:rPr>
                  <a:t>0 FRIENDS</a:t>
                </a:r>
              </a:p>
            </p:txBody>
          </p:sp>
        </p:grpSp>
        <p:grpSp>
          <p:nvGrpSpPr>
            <p:cNvPr id="82" name="Group 82"/>
            <p:cNvGrpSpPr/>
            <p:nvPr/>
          </p:nvGrpSpPr>
          <p:grpSpPr>
            <a:xfrm>
              <a:off x="333920" y="4326515"/>
              <a:ext cx="4850948" cy="914564"/>
              <a:chOff x="0" y="0"/>
              <a:chExt cx="958212" cy="180655"/>
            </a:xfrm>
          </p:grpSpPr>
          <p:sp>
            <p:nvSpPr>
              <p:cNvPr id="83" name="Freeform 83"/>
              <p:cNvSpPr/>
              <p:nvPr/>
            </p:nvSpPr>
            <p:spPr>
              <a:xfrm>
                <a:off x="0" y="0"/>
                <a:ext cx="958212" cy="180655"/>
              </a:xfrm>
              <a:custGeom>
                <a:avLst/>
                <a:gdLst/>
                <a:ahLst/>
                <a:cxnLst/>
                <a:rect l="l" t="t" r="r" b="b"/>
                <a:pathLst>
                  <a:path w="958212" h="180655">
                    <a:moveTo>
                      <a:pt x="90327" y="0"/>
                    </a:moveTo>
                    <a:lnTo>
                      <a:pt x="867885" y="0"/>
                    </a:lnTo>
                    <a:cubicBezTo>
                      <a:pt x="891841" y="0"/>
                      <a:pt x="914816" y="9517"/>
                      <a:pt x="931756" y="26456"/>
                    </a:cubicBezTo>
                    <a:cubicBezTo>
                      <a:pt x="948695" y="43396"/>
                      <a:pt x="958212" y="66371"/>
                      <a:pt x="958212" y="90327"/>
                    </a:cubicBezTo>
                    <a:lnTo>
                      <a:pt x="958212" y="90327"/>
                    </a:lnTo>
                    <a:cubicBezTo>
                      <a:pt x="958212" y="140214"/>
                      <a:pt x="917771" y="180655"/>
                      <a:pt x="867885" y="180655"/>
                    </a:cubicBezTo>
                    <a:lnTo>
                      <a:pt x="90327" y="180655"/>
                    </a:lnTo>
                    <a:cubicBezTo>
                      <a:pt x="40441" y="180655"/>
                      <a:pt x="0" y="140214"/>
                      <a:pt x="0" y="90327"/>
                    </a:cubicBezTo>
                    <a:lnTo>
                      <a:pt x="0" y="90327"/>
                    </a:lnTo>
                    <a:cubicBezTo>
                      <a:pt x="0" y="40441"/>
                      <a:pt x="40441" y="0"/>
                      <a:pt x="90327" y="0"/>
                    </a:cubicBezTo>
                    <a:close/>
                  </a:path>
                </a:pathLst>
              </a:custGeom>
              <a:solidFill>
                <a:srgbClr val="FFFFFF"/>
              </a:solidFill>
            </p:spPr>
            <p:txBody>
              <a:bodyPr/>
              <a:lstStyle/>
              <a:p>
                <a:endParaRPr lang="en-US"/>
              </a:p>
            </p:txBody>
          </p:sp>
          <p:sp>
            <p:nvSpPr>
              <p:cNvPr id="84" name="TextBox 84"/>
              <p:cNvSpPr txBox="1"/>
              <p:nvPr/>
            </p:nvSpPr>
            <p:spPr>
              <a:xfrm>
                <a:off x="0" y="-28575"/>
                <a:ext cx="958212" cy="209230"/>
              </a:xfrm>
              <a:prstGeom prst="rect">
                <a:avLst/>
              </a:prstGeom>
            </p:spPr>
            <p:txBody>
              <a:bodyPr lIns="50800" tIns="50800" rIns="50800" bIns="50800" rtlCol="0" anchor="ctr"/>
              <a:lstStyle/>
              <a:p>
                <a:pPr algn="ctr">
                  <a:lnSpc>
                    <a:spcPts val="1980"/>
                  </a:lnSpc>
                </a:pPr>
                <a:endParaRPr/>
              </a:p>
            </p:txBody>
          </p:sp>
        </p:grpSp>
        <p:sp>
          <p:nvSpPr>
            <p:cNvPr id="85" name="TextBox 85"/>
            <p:cNvSpPr txBox="1"/>
            <p:nvPr/>
          </p:nvSpPr>
          <p:spPr>
            <a:xfrm>
              <a:off x="1147586" y="4491697"/>
              <a:ext cx="3281263" cy="527050"/>
            </a:xfrm>
            <a:prstGeom prst="rect">
              <a:avLst/>
            </a:prstGeom>
          </p:spPr>
          <p:txBody>
            <a:bodyPr lIns="0" tIns="0" rIns="0" bIns="0" rtlCol="0" anchor="t">
              <a:spAutoFit/>
            </a:bodyPr>
            <a:lstStyle/>
            <a:p>
              <a:pPr algn="ctr">
                <a:lnSpc>
                  <a:spcPts val="2819"/>
                </a:lnSpc>
                <a:spcBef>
                  <a:spcPct val="0"/>
                </a:spcBef>
              </a:pPr>
              <a:r>
                <a:rPr lang="en-US" sz="2349" b="1">
                  <a:solidFill>
                    <a:srgbClr val="000000"/>
                  </a:solidFill>
                  <a:latin typeface="Calibri (MS) Bold"/>
                  <a:ea typeface="Calibri (MS) Bold"/>
                  <a:cs typeface="Calibri (MS) Bold"/>
                  <a:sym typeface="Calibri (MS) Bold"/>
                </a:rPr>
                <a:t>CRAMMING Board</a:t>
              </a:r>
            </a:p>
          </p:txBody>
        </p:sp>
        <p:grpSp>
          <p:nvGrpSpPr>
            <p:cNvPr id="86" name="Group 86"/>
            <p:cNvGrpSpPr/>
            <p:nvPr/>
          </p:nvGrpSpPr>
          <p:grpSpPr>
            <a:xfrm>
              <a:off x="333920" y="5355379"/>
              <a:ext cx="1553317" cy="1866579"/>
              <a:chOff x="0" y="0"/>
              <a:chExt cx="306828" cy="368707"/>
            </a:xfrm>
          </p:grpSpPr>
          <p:sp>
            <p:nvSpPr>
              <p:cNvPr id="87" name="Freeform 87"/>
              <p:cNvSpPr/>
              <p:nvPr/>
            </p:nvSpPr>
            <p:spPr>
              <a:xfrm>
                <a:off x="0" y="0"/>
                <a:ext cx="306828" cy="368707"/>
              </a:xfrm>
              <a:custGeom>
                <a:avLst/>
                <a:gdLst/>
                <a:ahLst/>
                <a:cxnLst/>
                <a:rect l="l" t="t" r="r" b="b"/>
                <a:pathLst>
                  <a:path w="306828" h="368707">
                    <a:moveTo>
                      <a:pt x="119619" y="0"/>
                    </a:moveTo>
                    <a:lnTo>
                      <a:pt x="187209" y="0"/>
                    </a:lnTo>
                    <a:cubicBezTo>
                      <a:pt x="253273" y="0"/>
                      <a:pt x="306828" y="53555"/>
                      <a:pt x="306828" y="119619"/>
                    </a:cubicBezTo>
                    <a:lnTo>
                      <a:pt x="306828" y="249088"/>
                    </a:lnTo>
                    <a:cubicBezTo>
                      <a:pt x="306828" y="315152"/>
                      <a:pt x="253273" y="368707"/>
                      <a:pt x="187209" y="368707"/>
                    </a:cubicBezTo>
                    <a:lnTo>
                      <a:pt x="119619" y="368707"/>
                    </a:lnTo>
                    <a:cubicBezTo>
                      <a:pt x="53555" y="368707"/>
                      <a:pt x="0" y="315152"/>
                      <a:pt x="0" y="249088"/>
                    </a:cubicBezTo>
                    <a:lnTo>
                      <a:pt x="0" y="119619"/>
                    </a:lnTo>
                    <a:cubicBezTo>
                      <a:pt x="0" y="53555"/>
                      <a:pt x="53555" y="0"/>
                      <a:pt x="119619" y="0"/>
                    </a:cubicBezTo>
                    <a:close/>
                  </a:path>
                </a:pathLst>
              </a:custGeom>
              <a:solidFill>
                <a:srgbClr val="141414"/>
              </a:solidFill>
              <a:ln w="38100" cap="sq">
                <a:solidFill>
                  <a:srgbClr val="FFFFFF"/>
                </a:solidFill>
                <a:prstDash val="solid"/>
                <a:miter/>
              </a:ln>
            </p:spPr>
            <p:txBody>
              <a:bodyPr/>
              <a:lstStyle/>
              <a:p>
                <a:endParaRPr lang="en-US"/>
              </a:p>
            </p:txBody>
          </p:sp>
          <p:sp>
            <p:nvSpPr>
              <p:cNvPr id="88" name="TextBox 88"/>
              <p:cNvSpPr txBox="1"/>
              <p:nvPr/>
            </p:nvSpPr>
            <p:spPr>
              <a:xfrm>
                <a:off x="0" y="-47625"/>
                <a:ext cx="306828" cy="416332"/>
              </a:xfrm>
              <a:prstGeom prst="rect">
                <a:avLst/>
              </a:prstGeom>
            </p:spPr>
            <p:txBody>
              <a:bodyPr lIns="50800" tIns="50800" rIns="50800" bIns="50800" rtlCol="0" anchor="ctr"/>
              <a:lstStyle/>
              <a:p>
                <a:pPr algn="ctr">
                  <a:lnSpc>
                    <a:spcPts val="2340"/>
                  </a:lnSpc>
                </a:pPr>
                <a:endParaRPr/>
              </a:p>
            </p:txBody>
          </p:sp>
        </p:grpSp>
        <p:sp>
          <p:nvSpPr>
            <p:cNvPr id="89" name="Freeform 89"/>
            <p:cNvSpPr/>
            <p:nvPr/>
          </p:nvSpPr>
          <p:spPr>
            <a:xfrm>
              <a:off x="667093" y="5648629"/>
              <a:ext cx="826397" cy="826397"/>
            </a:xfrm>
            <a:custGeom>
              <a:avLst/>
              <a:gdLst/>
              <a:ahLst/>
              <a:cxnLst/>
              <a:rect l="l" t="t" r="r" b="b"/>
              <a:pathLst>
                <a:path w="826397" h="826397">
                  <a:moveTo>
                    <a:pt x="0" y="0"/>
                  </a:moveTo>
                  <a:lnTo>
                    <a:pt x="826397" y="0"/>
                  </a:lnTo>
                  <a:lnTo>
                    <a:pt x="826397" y="826397"/>
                  </a:lnTo>
                  <a:lnTo>
                    <a:pt x="0" y="826397"/>
                  </a:lnTo>
                  <a:lnTo>
                    <a:pt x="0" y="0"/>
                  </a:lnTo>
                  <a:close/>
                </a:path>
              </a:pathLst>
            </a:custGeom>
            <a:blipFill>
              <a:blip>
                <a:extLst>
                  <a:ext uri="{96DAC541-7B7A-43D3-8B79-37D633B846F1}">
                    <asvg:svgBlip xmlns:asvg="http://schemas.microsoft.com/office/drawing/2016/SVG/main" r:embed="rId14"/>
                  </a:ext>
                </a:extLst>
              </a:blip>
              <a:stretch>
                <a:fillRect/>
              </a:stretch>
            </a:blipFill>
          </p:spPr>
          <p:txBody>
            <a:bodyPr/>
            <a:lstStyle/>
            <a:p>
              <a:endParaRPr lang="en-US"/>
            </a:p>
          </p:txBody>
        </p:sp>
        <p:sp>
          <p:nvSpPr>
            <p:cNvPr id="90" name="Freeform 90"/>
            <p:cNvSpPr/>
            <p:nvPr/>
          </p:nvSpPr>
          <p:spPr>
            <a:xfrm>
              <a:off x="833419" y="5818134"/>
              <a:ext cx="515045" cy="275549"/>
            </a:xfrm>
            <a:custGeom>
              <a:avLst/>
              <a:gdLst/>
              <a:ahLst/>
              <a:cxnLst/>
              <a:rect l="l" t="t" r="r" b="b"/>
              <a:pathLst>
                <a:path w="515045" h="275549">
                  <a:moveTo>
                    <a:pt x="0" y="0"/>
                  </a:moveTo>
                  <a:lnTo>
                    <a:pt x="515045" y="0"/>
                  </a:lnTo>
                  <a:lnTo>
                    <a:pt x="515045" y="275549"/>
                  </a:lnTo>
                  <a:lnTo>
                    <a:pt x="0" y="275549"/>
                  </a:lnTo>
                  <a:lnTo>
                    <a:pt x="0" y="0"/>
                  </a:lnTo>
                  <a:close/>
                </a:path>
              </a:pathLst>
            </a:custGeom>
            <a:blipFill>
              <a:blip>
                <a:extLst>
                  <a:ext uri="{96DAC541-7B7A-43D3-8B79-37D633B846F1}">
                    <asvg:svgBlip xmlns:asvg="http://schemas.microsoft.com/office/drawing/2016/SVG/main" r:embed="rId15"/>
                  </a:ext>
                </a:extLst>
              </a:blip>
              <a:stretch>
                <a:fillRect/>
              </a:stretch>
            </a:blipFill>
          </p:spPr>
          <p:txBody>
            <a:bodyPr/>
            <a:lstStyle/>
            <a:p>
              <a:endParaRPr lang="en-US"/>
            </a:p>
          </p:txBody>
        </p:sp>
        <p:sp>
          <p:nvSpPr>
            <p:cNvPr id="91" name="TextBox 91"/>
            <p:cNvSpPr txBox="1"/>
            <p:nvPr/>
          </p:nvSpPr>
          <p:spPr>
            <a:xfrm>
              <a:off x="766666" y="5674239"/>
              <a:ext cx="648552" cy="290822"/>
            </a:xfrm>
            <a:prstGeom prst="rect">
              <a:avLst/>
            </a:prstGeom>
          </p:spPr>
          <p:txBody>
            <a:bodyPr lIns="0" tIns="0" rIns="0" bIns="0" rtlCol="0" anchor="t">
              <a:spAutoFit/>
            </a:bodyPr>
            <a:lstStyle/>
            <a:p>
              <a:pPr algn="ctr">
                <a:lnSpc>
                  <a:spcPts val="789"/>
                </a:lnSpc>
                <a:spcBef>
                  <a:spcPct val="0"/>
                </a:spcBef>
              </a:pPr>
              <a:r>
                <a:rPr lang="en-US" sz="657" b="1" spc="89">
                  <a:solidFill>
                    <a:srgbClr val="FFFFFF"/>
                  </a:solidFill>
                  <a:latin typeface="Calibri (MS) Bold"/>
                  <a:ea typeface="Calibri (MS) Bold"/>
                  <a:cs typeface="Calibri (MS) Bold"/>
                  <a:sym typeface="Calibri (MS) Bold"/>
                </a:rPr>
                <a:t>CRAMMING</a:t>
              </a:r>
            </a:p>
          </p:txBody>
        </p:sp>
        <p:sp>
          <p:nvSpPr>
            <p:cNvPr id="92" name="Freeform 92"/>
            <p:cNvSpPr/>
            <p:nvPr/>
          </p:nvSpPr>
          <p:spPr>
            <a:xfrm rot="-3394830" flipV="1">
              <a:off x="717926" y="5989543"/>
              <a:ext cx="127396" cy="40044"/>
            </a:xfrm>
            <a:custGeom>
              <a:avLst/>
              <a:gdLst/>
              <a:ahLst/>
              <a:cxnLst/>
              <a:rect l="l" t="t" r="r" b="b"/>
              <a:pathLst>
                <a:path w="127396" h="40044">
                  <a:moveTo>
                    <a:pt x="0" y="40044"/>
                  </a:moveTo>
                  <a:lnTo>
                    <a:pt x="127397" y="40044"/>
                  </a:lnTo>
                  <a:lnTo>
                    <a:pt x="127397" y="0"/>
                  </a:lnTo>
                  <a:lnTo>
                    <a:pt x="0" y="0"/>
                  </a:lnTo>
                  <a:lnTo>
                    <a:pt x="0" y="40044"/>
                  </a:lnTo>
                  <a:close/>
                </a:path>
              </a:pathLst>
            </a:custGeom>
            <a:blipFill>
              <a:blip>
                <a:extLst>
                  <a:ext uri="{96DAC541-7B7A-43D3-8B79-37D633B846F1}">
                    <asvg:svgBlip xmlns:asvg="http://schemas.microsoft.com/office/drawing/2016/SVG/main" r:embed="rId16"/>
                  </a:ext>
                </a:extLst>
              </a:blip>
              <a:stretch>
                <a:fillRect l="-116778"/>
              </a:stretch>
            </a:blipFill>
          </p:spPr>
          <p:txBody>
            <a:bodyPr/>
            <a:lstStyle/>
            <a:p>
              <a:endParaRPr lang="en-US"/>
            </a:p>
          </p:txBody>
        </p:sp>
        <p:sp>
          <p:nvSpPr>
            <p:cNvPr id="93" name="Freeform 93"/>
            <p:cNvSpPr/>
            <p:nvPr/>
          </p:nvSpPr>
          <p:spPr>
            <a:xfrm rot="-6716943">
              <a:off x="1337250" y="5991172"/>
              <a:ext cx="117029" cy="36785"/>
            </a:xfrm>
            <a:custGeom>
              <a:avLst/>
              <a:gdLst/>
              <a:ahLst/>
              <a:cxnLst/>
              <a:rect l="l" t="t" r="r" b="b"/>
              <a:pathLst>
                <a:path w="117029" h="36785">
                  <a:moveTo>
                    <a:pt x="0" y="0"/>
                  </a:moveTo>
                  <a:lnTo>
                    <a:pt x="117028" y="0"/>
                  </a:lnTo>
                  <a:lnTo>
                    <a:pt x="117028" y="36786"/>
                  </a:lnTo>
                  <a:lnTo>
                    <a:pt x="0" y="36786"/>
                  </a:lnTo>
                  <a:lnTo>
                    <a:pt x="0" y="0"/>
                  </a:lnTo>
                  <a:close/>
                </a:path>
              </a:pathLst>
            </a:custGeom>
            <a:blipFill>
              <a:blip>
                <a:extLst>
                  <a:ext uri="{96DAC541-7B7A-43D3-8B79-37D633B846F1}">
                    <asvg:svgBlip xmlns:asvg="http://schemas.microsoft.com/office/drawing/2016/SVG/main" r:embed="rId16"/>
                  </a:ext>
                </a:extLst>
              </a:blip>
              <a:stretch>
                <a:fillRect l="-116778"/>
              </a:stretch>
            </a:blipFill>
          </p:spPr>
          <p:txBody>
            <a:bodyPr/>
            <a:lstStyle/>
            <a:p>
              <a:endParaRPr lang="en-US"/>
            </a:p>
          </p:txBody>
        </p:sp>
        <p:sp>
          <p:nvSpPr>
            <p:cNvPr id="94" name="Freeform 94"/>
            <p:cNvSpPr/>
            <p:nvPr/>
          </p:nvSpPr>
          <p:spPr>
            <a:xfrm rot="2699999">
              <a:off x="816100" y="5899924"/>
              <a:ext cx="534627" cy="534627"/>
            </a:xfrm>
            <a:custGeom>
              <a:avLst/>
              <a:gdLst/>
              <a:ahLst/>
              <a:cxnLst/>
              <a:rect l="l" t="t" r="r" b="b"/>
              <a:pathLst>
                <a:path w="534627" h="534627">
                  <a:moveTo>
                    <a:pt x="0" y="0"/>
                  </a:moveTo>
                  <a:lnTo>
                    <a:pt x="534626" y="0"/>
                  </a:lnTo>
                  <a:lnTo>
                    <a:pt x="534626" y="534626"/>
                  </a:lnTo>
                  <a:lnTo>
                    <a:pt x="0" y="534626"/>
                  </a:lnTo>
                  <a:lnTo>
                    <a:pt x="0" y="0"/>
                  </a:lnTo>
                  <a:close/>
                </a:path>
              </a:pathLst>
            </a:custGeom>
            <a:blipFill>
              <a:blip>
                <a:extLst>
                  <a:ext uri="{96DAC541-7B7A-43D3-8B79-37D633B846F1}">
                    <asvg:svgBlip xmlns:asvg="http://schemas.microsoft.com/office/drawing/2016/SVG/main" r:embed="rId17"/>
                  </a:ext>
                </a:extLst>
              </a:blip>
              <a:stretch>
                <a:fillRect/>
              </a:stretch>
            </a:blipFill>
          </p:spPr>
          <p:txBody>
            <a:bodyPr/>
            <a:lstStyle/>
            <a:p>
              <a:endParaRPr lang="en-US"/>
            </a:p>
          </p:txBody>
        </p:sp>
        <p:sp>
          <p:nvSpPr>
            <p:cNvPr id="95" name="TextBox 95"/>
            <p:cNvSpPr txBox="1"/>
            <p:nvPr/>
          </p:nvSpPr>
          <p:spPr>
            <a:xfrm>
              <a:off x="962894" y="6340736"/>
              <a:ext cx="234794" cy="50829"/>
            </a:xfrm>
            <a:prstGeom prst="rect">
              <a:avLst/>
            </a:prstGeom>
          </p:spPr>
          <p:txBody>
            <a:bodyPr lIns="0" tIns="0" rIns="0" bIns="0" rtlCol="0" anchor="t">
              <a:spAutoFit/>
            </a:bodyPr>
            <a:lstStyle/>
            <a:p>
              <a:pPr algn="ctr">
                <a:lnSpc>
                  <a:spcPts val="246"/>
                </a:lnSpc>
                <a:spcBef>
                  <a:spcPct val="0"/>
                </a:spcBef>
              </a:pPr>
              <a:r>
                <a:rPr lang="en-US" sz="205" b="1" spc="27">
                  <a:solidFill>
                    <a:srgbClr val="FFFFFF"/>
                  </a:solidFill>
                  <a:latin typeface="Calibri (MS) Bold"/>
                  <a:ea typeface="Calibri (MS) Bold"/>
                  <a:cs typeface="Calibri (MS) Bold"/>
                  <a:sym typeface="Calibri (MS) Bold"/>
                </a:rPr>
                <a:t>October2026</a:t>
              </a:r>
            </a:p>
          </p:txBody>
        </p:sp>
        <p:sp>
          <p:nvSpPr>
            <p:cNvPr id="96" name="Freeform 96"/>
            <p:cNvSpPr/>
            <p:nvPr/>
          </p:nvSpPr>
          <p:spPr>
            <a:xfrm rot="2699999">
              <a:off x="879758" y="6095442"/>
              <a:ext cx="401067" cy="401067"/>
            </a:xfrm>
            <a:custGeom>
              <a:avLst/>
              <a:gdLst/>
              <a:ahLst/>
              <a:cxnLst/>
              <a:rect l="l" t="t" r="r" b="b"/>
              <a:pathLst>
                <a:path w="401067" h="401067">
                  <a:moveTo>
                    <a:pt x="0" y="0"/>
                  </a:moveTo>
                  <a:lnTo>
                    <a:pt x="401067" y="0"/>
                  </a:lnTo>
                  <a:lnTo>
                    <a:pt x="401067" y="401067"/>
                  </a:lnTo>
                  <a:lnTo>
                    <a:pt x="0" y="401067"/>
                  </a:lnTo>
                  <a:lnTo>
                    <a:pt x="0" y="0"/>
                  </a:lnTo>
                  <a:close/>
                </a:path>
              </a:pathLst>
            </a:custGeom>
            <a:blipFill>
              <a:blip>
                <a:extLst>
                  <a:ext uri="{96DAC541-7B7A-43D3-8B79-37D633B846F1}">
                    <asvg:svgBlip xmlns:asvg="http://schemas.microsoft.com/office/drawing/2016/SVG/main" r:embed="rId17"/>
                  </a:ext>
                </a:extLst>
              </a:blip>
              <a:stretch>
                <a:fillRect/>
              </a:stretch>
            </a:blipFill>
          </p:spPr>
          <p:txBody>
            <a:bodyPr/>
            <a:lstStyle/>
            <a:p>
              <a:endParaRPr lang="en-US"/>
            </a:p>
          </p:txBody>
        </p:sp>
        <p:sp>
          <p:nvSpPr>
            <p:cNvPr id="97" name="Freeform 97"/>
            <p:cNvSpPr/>
            <p:nvPr/>
          </p:nvSpPr>
          <p:spPr>
            <a:xfrm>
              <a:off x="999513" y="5907411"/>
              <a:ext cx="182857" cy="179200"/>
            </a:xfrm>
            <a:custGeom>
              <a:avLst/>
              <a:gdLst/>
              <a:ahLst/>
              <a:cxnLst/>
              <a:rect l="l" t="t" r="r" b="b"/>
              <a:pathLst>
                <a:path w="182857" h="179200">
                  <a:moveTo>
                    <a:pt x="0" y="0"/>
                  </a:moveTo>
                  <a:lnTo>
                    <a:pt x="182857" y="0"/>
                  </a:lnTo>
                  <a:lnTo>
                    <a:pt x="182857" y="179199"/>
                  </a:lnTo>
                  <a:lnTo>
                    <a:pt x="0" y="179199"/>
                  </a:lnTo>
                  <a:lnTo>
                    <a:pt x="0" y="0"/>
                  </a:lnTo>
                  <a:close/>
                </a:path>
              </a:pathLst>
            </a:custGeom>
            <a:blipFill>
              <a:blip r:embed="rId18"/>
              <a:stretch>
                <a:fillRect/>
              </a:stretch>
            </a:blipFill>
          </p:spPr>
          <p:txBody>
            <a:bodyPr/>
            <a:lstStyle/>
            <a:p>
              <a:endParaRPr lang="en-US"/>
            </a:p>
          </p:txBody>
        </p:sp>
        <p:sp>
          <p:nvSpPr>
            <p:cNvPr id="98" name="TextBox 98"/>
            <p:cNvSpPr txBox="1"/>
            <p:nvPr/>
          </p:nvSpPr>
          <p:spPr>
            <a:xfrm>
              <a:off x="892311" y="6200830"/>
              <a:ext cx="382204" cy="75971"/>
            </a:xfrm>
            <a:prstGeom prst="rect">
              <a:avLst/>
            </a:prstGeom>
          </p:spPr>
          <p:txBody>
            <a:bodyPr lIns="0" tIns="0" rIns="0" bIns="0" rtlCol="0" anchor="t">
              <a:spAutoFit/>
            </a:bodyPr>
            <a:lstStyle/>
            <a:p>
              <a:pPr algn="ctr">
                <a:lnSpc>
                  <a:spcPts val="398"/>
                </a:lnSpc>
                <a:spcBef>
                  <a:spcPct val="0"/>
                </a:spcBef>
              </a:pPr>
              <a:r>
                <a:rPr lang="en-US" sz="332" b="1">
                  <a:solidFill>
                    <a:srgbClr val="FFFFFF"/>
                  </a:solidFill>
                  <a:latin typeface="Calibri (MS) Bold"/>
                  <a:ea typeface="Calibri (MS) Bold"/>
                  <a:cs typeface="Calibri (MS) Bold"/>
                  <a:sym typeface="Calibri (MS) Bold"/>
                </a:rPr>
                <a:t> REAL PASSPORT</a:t>
              </a:r>
            </a:p>
          </p:txBody>
        </p:sp>
        <p:sp>
          <p:nvSpPr>
            <p:cNvPr id="99" name="TextBox 99"/>
            <p:cNvSpPr txBox="1"/>
            <p:nvPr/>
          </p:nvSpPr>
          <p:spPr>
            <a:xfrm>
              <a:off x="721719" y="6083924"/>
              <a:ext cx="181292" cy="50829"/>
            </a:xfrm>
            <a:prstGeom prst="rect">
              <a:avLst/>
            </a:prstGeom>
          </p:spPr>
          <p:txBody>
            <a:bodyPr lIns="0" tIns="0" rIns="0" bIns="0" rtlCol="0" anchor="t">
              <a:spAutoFit/>
            </a:bodyPr>
            <a:lstStyle/>
            <a:p>
              <a:pPr algn="ctr">
                <a:lnSpc>
                  <a:spcPts val="246"/>
                </a:lnSpc>
                <a:spcBef>
                  <a:spcPct val="0"/>
                </a:spcBef>
              </a:pPr>
              <a:r>
                <a:rPr lang="en-US" sz="205" b="1">
                  <a:solidFill>
                    <a:srgbClr val="FFDE59"/>
                  </a:solidFill>
                  <a:latin typeface="Calibri (MS) Bold"/>
                  <a:ea typeface="Calibri (MS) Bold"/>
                  <a:cs typeface="Calibri (MS) Bold"/>
                  <a:sym typeface="Calibri (MS) Bold"/>
                </a:rPr>
                <a:t>BeReal.</a:t>
              </a:r>
            </a:p>
          </p:txBody>
        </p:sp>
        <p:sp>
          <p:nvSpPr>
            <p:cNvPr id="100" name="TextBox 100"/>
            <p:cNvSpPr txBox="1"/>
            <p:nvPr/>
          </p:nvSpPr>
          <p:spPr>
            <a:xfrm>
              <a:off x="1253403" y="6083924"/>
              <a:ext cx="181292" cy="50829"/>
            </a:xfrm>
            <a:prstGeom prst="rect">
              <a:avLst/>
            </a:prstGeom>
          </p:spPr>
          <p:txBody>
            <a:bodyPr lIns="0" tIns="0" rIns="0" bIns="0" rtlCol="0" anchor="t">
              <a:spAutoFit/>
            </a:bodyPr>
            <a:lstStyle/>
            <a:p>
              <a:pPr algn="ctr">
                <a:lnSpc>
                  <a:spcPts val="246"/>
                </a:lnSpc>
                <a:spcBef>
                  <a:spcPct val="0"/>
                </a:spcBef>
              </a:pPr>
              <a:r>
                <a:rPr lang="en-US" sz="205" b="1">
                  <a:solidFill>
                    <a:srgbClr val="FFDE59"/>
                  </a:solidFill>
                  <a:latin typeface="Calibri (MS) Bold"/>
                  <a:ea typeface="Calibri (MS) Bold"/>
                  <a:cs typeface="Calibri (MS) Bold"/>
                  <a:sym typeface="Calibri (MS) Bold"/>
                </a:rPr>
                <a:t>Unfiltered</a:t>
              </a:r>
            </a:p>
          </p:txBody>
        </p:sp>
        <p:grpSp>
          <p:nvGrpSpPr>
            <p:cNvPr id="101" name="Group 101"/>
            <p:cNvGrpSpPr/>
            <p:nvPr/>
          </p:nvGrpSpPr>
          <p:grpSpPr>
            <a:xfrm>
              <a:off x="2026938" y="5355379"/>
              <a:ext cx="1553317" cy="1866579"/>
              <a:chOff x="0" y="0"/>
              <a:chExt cx="306828" cy="368707"/>
            </a:xfrm>
          </p:grpSpPr>
          <p:sp>
            <p:nvSpPr>
              <p:cNvPr id="102" name="Freeform 102"/>
              <p:cNvSpPr/>
              <p:nvPr/>
            </p:nvSpPr>
            <p:spPr>
              <a:xfrm>
                <a:off x="0" y="0"/>
                <a:ext cx="306828" cy="368707"/>
              </a:xfrm>
              <a:custGeom>
                <a:avLst/>
                <a:gdLst/>
                <a:ahLst/>
                <a:cxnLst/>
                <a:rect l="l" t="t" r="r" b="b"/>
                <a:pathLst>
                  <a:path w="306828" h="368707">
                    <a:moveTo>
                      <a:pt x="119619" y="0"/>
                    </a:moveTo>
                    <a:lnTo>
                      <a:pt x="187209" y="0"/>
                    </a:lnTo>
                    <a:cubicBezTo>
                      <a:pt x="253273" y="0"/>
                      <a:pt x="306828" y="53555"/>
                      <a:pt x="306828" y="119619"/>
                    </a:cubicBezTo>
                    <a:lnTo>
                      <a:pt x="306828" y="249088"/>
                    </a:lnTo>
                    <a:cubicBezTo>
                      <a:pt x="306828" y="315152"/>
                      <a:pt x="253273" y="368707"/>
                      <a:pt x="187209" y="368707"/>
                    </a:cubicBezTo>
                    <a:lnTo>
                      <a:pt x="119619" y="368707"/>
                    </a:lnTo>
                    <a:cubicBezTo>
                      <a:pt x="53555" y="368707"/>
                      <a:pt x="0" y="315152"/>
                      <a:pt x="0" y="249088"/>
                    </a:cubicBezTo>
                    <a:lnTo>
                      <a:pt x="0" y="119619"/>
                    </a:lnTo>
                    <a:cubicBezTo>
                      <a:pt x="0" y="53555"/>
                      <a:pt x="53555" y="0"/>
                      <a:pt x="119619" y="0"/>
                    </a:cubicBezTo>
                    <a:close/>
                  </a:path>
                </a:pathLst>
              </a:custGeom>
              <a:solidFill>
                <a:srgbClr val="484747"/>
              </a:solidFill>
              <a:ln w="38100" cap="sq">
                <a:solidFill>
                  <a:srgbClr val="FFFFFF"/>
                </a:solidFill>
                <a:prstDash val="solid"/>
                <a:miter/>
              </a:ln>
            </p:spPr>
            <p:txBody>
              <a:bodyPr/>
              <a:lstStyle/>
              <a:p>
                <a:endParaRPr lang="en-US"/>
              </a:p>
            </p:txBody>
          </p:sp>
          <p:sp>
            <p:nvSpPr>
              <p:cNvPr id="103" name="TextBox 103"/>
              <p:cNvSpPr txBox="1"/>
              <p:nvPr/>
            </p:nvSpPr>
            <p:spPr>
              <a:xfrm>
                <a:off x="0" y="-47625"/>
                <a:ext cx="306828" cy="416332"/>
              </a:xfrm>
              <a:prstGeom prst="rect">
                <a:avLst/>
              </a:prstGeom>
            </p:spPr>
            <p:txBody>
              <a:bodyPr lIns="50800" tIns="50800" rIns="50800" bIns="50800" rtlCol="0" anchor="ctr"/>
              <a:lstStyle/>
              <a:p>
                <a:pPr algn="ctr">
                  <a:lnSpc>
                    <a:spcPts val="2340"/>
                  </a:lnSpc>
                </a:pPr>
                <a:endParaRPr/>
              </a:p>
            </p:txBody>
          </p:sp>
        </p:grpSp>
        <p:grpSp>
          <p:nvGrpSpPr>
            <p:cNvPr id="104" name="Group 104"/>
            <p:cNvGrpSpPr/>
            <p:nvPr/>
          </p:nvGrpSpPr>
          <p:grpSpPr>
            <a:xfrm>
              <a:off x="3719955" y="5399587"/>
              <a:ext cx="1553317" cy="1822371"/>
              <a:chOff x="0" y="0"/>
              <a:chExt cx="306828" cy="359975"/>
            </a:xfrm>
          </p:grpSpPr>
          <p:sp>
            <p:nvSpPr>
              <p:cNvPr id="105" name="Freeform 105"/>
              <p:cNvSpPr/>
              <p:nvPr/>
            </p:nvSpPr>
            <p:spPr>
              <a:xfrm>
                <a:off x="0" y="0"/>
                <a:ext cx="306828" cy="359975"/>
              </a:xfrm>
              <a:custGeom>
                <a:avLst/>
                <a:gdLst/>
                <a:ahLst/>
                <a:cxnLst/>
                <a:rect l="l" t="t" r="r" b="b"/>
                <a:pathLst>
                  <a:path w="306828" h="359975">
                    <a:moveTo>
                      <a:pt x="119619" y="0"/>
                    </a:moveTo>
                    <a:lnTo>
                      <a:pt x="187209" y="0"/>
                    </a:lnTo>
                    <a:cubicBezTo>
                      <a:pt x="253273" y="0"/>
                      <a:pt x="306828" y="53555"/>
                      <a:pt x="306828" y="119619"/>
                    </a:cubicBezTo>
                    <a:lnTo>
                      <a:pt x="306828" y="240356"/>
                    </a:lnTo>
                    <a:cubicBezTo>
                      <a:pt x="306828" y="306419"/>
                      <a:pt x="253273" y="359975"/>
                      <a:pt x="187209" y="359975"/>
                    </a:cubicBezTo>
                    <a:lnTo>
                      <a:pt x="119619" y="359975"/>
                    </a:lnTo>
                    <a:cubicBezTo>
                      <a:pt x="53555" y="359975"/>
                      <a:pt x="0" y="306419"/>
                      <a:pt x="0" y="240356"/>
                    </a:cubicBezTo>
                    <a:lnTo>
                      <a:pt x="0" y="119619"/>
                    </a:lnTo>
                    <a:cubicBezTo>
                      <a:pt x="0" y="53555"/>
                      <a:pt x="53555" y="0"/>
                      <a:pt x="119619" y="0"/>
                    </a:cubicBezTo>
                    <a:close/>
                  </a:path>
                </a:pathLst>
              </a:custGeom>
              <a:solidFill>
                <a:srgbClr val="484747"/>
              </a:solidFill>
              <a:ln w="38100" cap="sq">
                <a:solidFill>
                  <a:srgbClr val="FFFFFF"/>
                </a:solidFill>
                <a:prstDash val="solid"/>
                <a:miter/>
              </a:ln>
            </p:spPr>
            <p:txBody>
              <a:bodyPr/>
              <a:lstStyle/>
              <a:p>
                <a:endParaRPr lang="en-US"/>
              </a:p>
            </p:txBody>
          </p:sp>
          <p:sp>
            <p:nvSpPr>
              <p:cNvPr id="106" name="TextBox 106"/>
              <p:cNvSpPr txBox="1"/>
              <p:nvPr/>
            </p:nvSpPr>
            <p:spPr>
              <a:xfrm>
                <a:off x="0" y="-47625"/>
                <a:ext cx="306828" cy="407600"/>
              </a:xfrm>
              <a:prstGeom prst="rect">
                <a:avLst/>
              </a:prstGeom>
            </p:spPr>
            <p:txBody>
              <a:bodyPr lIns="50800" tIns="50800" rIns="50800" bIns="50800" rtlCol="0" anchor="ctr"/>
              <a:lstStyle/>
              <a:p>
                <a:pPr algn="ctr">
                  <a:lnSpc>
                    <a:spcPts val="2340"/>
                  </a:lnSpc>
                </a:pPr>
                <a:endParaRPr/>
              </a:p>
            </p:txBody>
          </p:sp>
        </p:grpSp>
        <p:sp>
          <p:nvSpPr>
            <p:cNvPr id="107" name="Freeform 107"/>
            <p:cNvSpPr/>
            <p:nvPr/>
          </p:nvSpPr>
          <p:spPr>
            <a:xfrm>
              <a:off x="2390398" y="5633907"/>
              <a:ext cx="826397" cy="826397"/>
            </a:xfrm>
            <a:custGeom>
              <a:avLst/>
              <a:gdLst/>
              <a:ahLst/>
              <a:cxnLst/>
              <a:rect l="l" t="t" r="r" b="b"/>
              <a:pathLst>
                <a:path w="826397" h="826397">
                  <a:moveTo>
                    <a:pt x="0" y="0"/>
                  </a:moveTo>
                  <a:lnTo>
                    <a:pt x="826397" y="0"/>
                  </a:lnTo>
                  <a:lnTo>
                    <a:pt x="826397" y="826397"/>
                  </a:lnTo>
                  <a:lnTo>
                    <a:pt x="0" y="826397"/>
                  </a:lnTo>
                  <a:lnTo>
                    <a:pt x="0" y="0"/>
                  </a:lnTo>
                  <a:close/>
                </a:path>
              </a:pathLst>
            </a:custGeom>
            <a:blipFill>
              <a:blip>
                <a:extLst>
                  <a:ext uri="{96DAC541-7B7A-43D3-8B79-37D633B846F1}">
                    <asvg:svgBlip xmlns:asvg="http://schemas.microsoft.com/office/drawing/2016/SVG/main" r:embed="rId19"/>
                  </a:ext>
                </a:extLst>
              </a:blip>
              <a:stretch>
                <a:fillRect/>
              </a:stretch>
            </a:blipFill>
          </p:spPr>
          <p:txBody>
            <a:bodyPr/>
            <a:lstStyle/>
            <a:p>
              <a:endParaRPr lang="en-US"/>
            </a:p>
          </p:txBody>
        </p:sp>
        <p:sp>
          <p:nvSpPr>
            <p:cNvPr id="108" name="Freeform 108"/>
            <p:cNvSpPr/>
            <p:nvPr/>
          </p:nvSpPr>
          <p:spPr>
            <a:xfrm>
              <a:off x="2556724" y="5803412"/>
              <a:ext cx="515045" cy="275549"/>
            </a:xfrm>
            <a:custGeom>
              <a:avLst/>
              <a:gdLst/>
              <a:ahLst/>
              <a:cxnLst/>
              <a:rect l="l" t="t" r="r" b="b"/>
              <a:pathLst>
                <a:path w="515045" h="275549">
                  <a:moveTo>
                    <a:pt x="0" y="0"/>
                  </a:moveTo>
                  <a:lnTo>
                    <a:pt x="515045" y="0"/>
                  </a:lnTo>
                  <a:lnTo>
                    <a:pt x="515045" y="275549"/>
                  </a:lnTo>
                  <a:lnTo>
                    <a:pt x="0" y="275549"/>
                  </a:lnTo>
                  <a:lnTo>
                    <a:pt x="0" y="0"/>
                  </a:lnTo>
                  <a:close/>
                </a:path>
              </a:pathLst>
            </a:custGeom>
            <a:blipFill>
              <a:blip>
                <a:extLst>
                  <a:ext uri="{96DAC541-7B7A-43D3-8B79-37D633B846F1}">
                    <asvg:svgBlip xmlns:asvg="http://schemas.microsoft.com/office/drawing/2016/SVG/main" r:embed="rId20"/>
                  </a:ext>
                </a:extLst>
              </a:blip>
              <a:stretch>
                <a:fillRect/>
              </a:stretch>
            </a:blipFill>
          </p:spPr>
          <p:txBody>
            <a:bodyPr/>
            <a:lstStyle/>
            <a:p>
              <a:endParaRPr lang="en-US"/>
            </a:p>
          </p:txBody>
        </p:sp>
        <p:sp>
          <p:nvSpPr>
            <p:cNvPr id="109" name="TextBox 109"/>
            <p:cNvSpPr txBox="1"/>
            <p:nvPr/>
          </p:nvSpPr>
          <p:spPr>
            <a:xfrm>
              <a:off x="2665665" y="5659517"/>
              <a:ext cx="297164" cy="176176"/>
            </a:xfrm>
            <a:prstGeom prst="rect">
              <a:avLst/>
            </a:prstGeom>
          </p:spPr>
          <p:txBody>
            <a:bodyPr lIns="0" tIns="0" rIns="0" bIns="0" rtlCol="0" anchor="t">
              <a:spAutoFit/>
            </a:bodyPr>
            <a:lstStyle/>
            <a:p>
              <a:pPr algn="ctr">
                <a:lnSpc>
                  <a:spcPts val="789"/>
                </a:lnSpc>
                <a:spcBef>
                  <a:spcPct val="0"/>
                </a:spcBef>
              </a:pPr>
              <a:r>
                <a:rPr lang="en-US" sz="657" b="1" spc="89">
                  <a:solidFill>
                    <a:srgbClr val="FFFFFF"/>
                  </a:solidFill>
                  <a:latin typeface="Calibri (MS) Bold"/>
                  <a:ea typeface="Calibri (MS) Bold"/>
                  <a:cs typeface="Calibri (MS) Bold"/>
                  <a:sym typeface="Calibri (MS) Bold"/>
                </a:rPr>
                <a:t>HIKE</a:t>
              </a:r>
            </a:p>
          </p:txBody>
        </p:sp>
        <p:sp>
          <p:nvSpPr>
            <p:cNvPr id="110" name="Freeform 110"/>
            <p:cNvSpPr/>
            <p:nvPr/>
          </p:nvSpPr>
          <p:spPr>
            <a:xfrm rot="-3394830" flipV="1">
              <a:off x="2441231" y="5974821"/>
              <a:ext cx="127396" cy="40044"/>
            </a:xfrm>
            <a:custGeom>
              <a:avLst/>
              <a:gdLst/>
              <a:ahLst/>
              <a:cxnLst/>
              <a:rect l="l" t="t" r="r" b="b"/>
              <a:pathLst>
                <a:path w="127396" h="40044">
                  <a:moveTo>
                    <a:pt x="0" y="40044"/>
                  </a:moveTo>
                  <a:lnTo>
                    <a:pt x="127397" y="40044"/>
                  </a:lnTo>
                  <a:lnTo>
                    <a:pt x="127397" y="0"/>
                  </a:lnTo>
                  <a:lnTo>
                    <a:pt x="0" y="0"/>
                  </a:lnTo>
                  <a:lnTo>
                    <a:pt x="0" y="40044"/>
                  </a:lnTo>
                  <a:close/>
                </a:path>
              </a:pathLst>
            </a:custGeom>
            <a:blipFill>
              <a:blip>
                <a:extLst>
                  <a:ext uri="{96DAC541-7B7A-43D3-8B79-37D633B846F1}">
                    <asvg:svgBlip xmlns:asvg="http://schemas.microsoft.com/office/drawing/2016/SVG/main" r:embed="rId16"/>
                  </a:ext>
                </a:extLst>
              </a:blip>
              <a:stretch>
                <a:fillRect l="-116778"/>
              </a:stretch>
            </a:blipFill>
          </p:spPr>
          <p:txBody>
            <a:bodyPr/>
            <a:lstStyle/>
            <a:p>
              <a:endParaRPr lang="en-US"/>
            </a:p>
          </p:txBody>
        </p:sp>
        <p:sp>
          <p:nvSpPr>
            <p:cNvPr id="111" name="Freeform 111"/>
            <p:cNvSpPr/>
            <p:nvPr/>
          </p:nvSpPr>
          <p:spPr>
            <a:xfrm rot="-6716943">
              <a:off x="3060555" y="5976451"/>
              <a:ext cx="117029" cy="36785"/>
            </a:xfrm>
            <a:custGeom>
              <a:avLst/>
              <a:gdLst/>
              <a:ahLst/>
              <a:cxnLst/>
              <a:rect l="l" t="t" r="r" b="b"/>
              <a:pathLst>
                <a:path w="117029" h="36785">
                  <a:moveTo>
                    <a:pt x="0" y="0"/>
                  </a:moveTo>
                  <a:lnTo>
                    <a:pt x="117028" y="0"/>
                  </a:lnTo>
                  <a:lnTo>
                    <a:pt x="117028" y="36785"/>
                  </a:lnTo>
                  <a:lnTo>
                    <a:pt x="0" y="36785"/>
                  </a:lnTo>
                  <a:lnTo>
                    <a:pt x="0" y="0"/>
                  </a:lnTo>
                  <a:close/>
                </a:path>
              </a:pathLst>
            </a:custGeom>
            <a:blipFill>
              <a:blip>
                <a:extLst>
                  <a:ext uri="{96DAC541-7B7A-43D3-8B79-37D633B846F1}">
                    <asvg:svgBlip xmlns:asvg="http://schemas.microsoft.com/office/drawing/2016/SVG/main" r:embed="rId16"/>
                  </a:ext>
                </a:extLst>
              </a:blip>
              <a:stretch>
                <a:fillRect l="-116778"/>
              </a:stretch>
            </a:blipFill>
          </p:spPr>
          <p:txBody>
            <a:bodyPr/>
            <a:lstStyle/>
            <a:p>
              <a:endParaRPr lang="en-US"/>
            </a:p>
          </p:txBody>
        </p:sp>
        <p:sp>
          <p:nvSpPr>
            <p:cNvPr id="112" name="Freeform 112"/>
            <p:cNvSpPr/>
            <p:nvPr/>
          </p:nvSpPr>
          <p:spPr>
            <a:xfrm rot="2699999">
              <a:off x="2539405" y="5885202"/>
              <a:ext cx="534627" cy="534627"/>
            </a:xfrm>
            <a:custGeom>
              <a:avLst/>
              <a:gdLst/>
              <a:ahLst/>
              <a:cxnLst/>
              <a:rect l="l" t="t" r="r" b="b"/>
              <a:pathLst>
                <a:path w="534627" h="534627">
                  <a:moveTo>
                    <a:pt x="0" y="0"/>
                  </a:moveTo>
                  <a:lnTo>
                    <a:pt x="534626" y="0"/>
                  </a:lnTo>
                  <a:lnTo>
                    <a:pt x="534626" y="534626"/>
                  </a:lnTo>
                  <a:lnTo>
                    <a:pt x="0" y="534626"/>
                  </a:lnTo>
                  <a:lnTo>
                    <a:pt x="0" y="0"/>
                  </a:lnTo>
                  <a:close/>
                </a:path>
              </a:pathLst>
            </a:custGeom>
            <a:blipFill>
              <a:blip>
                <a:extLst>
                  <a:ext uri="{96DAC541-7B7A-43D3-8B79-37D633B846F1}">
                    <asvg:svgBlip xmlns:asvg="http://schemas.microsoft.com/office/drawing/2016/SVG/main" r:embed="rId21"/>
                  </a:ext>
                </a:extLst>
              </a:blip>
              <a:stretch>
                <a:fillRect/>
              </a:stretch>
            </a:blipFill>
          </p:spPr>
          <p:txBody>
            <a:bodyPr/>
            <a:lstStyle/>
            <a:p>
              <a:endParaRPr lang="en-US"/>
            </a:p>
          </p:txBody>
        </p:sp>
        <p:sp>
          <p:nvSpPr>
            <p:cNvPr id="113" name="TextBox 113"/>
            <p:cNvSpPr txBox="1"/>
            <p:nvPr/>
          </p:nvSpPr>
          <p:spPr>
            <a:xfrm>
              <a:off x="2686199" y="6326014"/>
              <a:ext cx="234794" cy="50829"/>
            </a:xfrm>
            <a:prstGeom prst="rect">
              <a:avLst/>
            </a:prstGeom>
          </p:spPr>
          <p:txBody>
            <a:bodyPr lIns="0" tIns="0" rIns="0" bIns="0" rtlCol="0" anchor="t">
              <a:spAutoFit/>
            </a:bodyPr>
            <a:lstStyle/>
            <a:p>
              <a:pPr algn="ctr">
                <a:lnSpc>
                  <a:spcPts val="246"/>
                </a:lnSpc>
                <a:spcBef>
                  <a:spcPct val="0"/>
                </a:spcBef>
              </a:pPr>
              <a:r>
                <a:rPr lang="en-US" sz="205" b="1" spc="27">
                  <a:solidFill>
                    <a:srgbClr val="FFFFFF"/>
                  </a:solidFill>
                  <a:latin typeface="Calibri (MS) Bold"/>
                  <a:ea typeface="Calibri (MS) Bold"/>
                  <a:cs typeface="Calibri (MS) Bold"/>
                  <a:sym typeface="Calibri (MS) Bold"/>
                </a:rPr>
                <a:t>October2026</a:t>
              </a:r>
            </a:p>
          </p:txBody>
        </p:sp>
        <p:sp>
          <p:nvSpPr>
            <p:cNvPr id="114" name="Freeform 114"/>
            <p:cNvSpPr/>
            <p:nvPr/>
          </p:nvSpPr>
          <p:spPr>
            <a:xfrm rot="2699999">
              <a:off x="2603063" y="6080720"/>
              <a:ext cx="401067" cy="401067"/>
            </a:xfrm>
            <a:custGeom>
              <a:avLst/>
              <a:gdLst/>
              <a:ahLst/>
              <a:cxnLst/>
              <a:rect l="l" t="t" r="r" b="b"/>
              <a:pathLst>
                <a:path w="401067" h="401067">
                  <a:moveTo>
                    <a:pt x="0" y="0"/>
                  </a:moveTo>
                  <a:lnTo>
                    <a:pt x="401067" y="0"/>
                  </a:lnTo>
                  <a:lnTo>
                    <a:pt x="401067" y="401067"/>
                  </a:lnTo>
                  <a:lnTo>
                    <a:pt x="0" y="401067"/>
                  </a:lnTo>
                  <a:lnTo>
                    <a:pt x="0" y="0"/>
                  </a:lnTo>
                  <a:close/>
                </a:path>
              </a:pathLst>
            </a:custGeom>
            <a:blipFill>
              <a:blip>
                <a:extLst>
                  <a:ext uri="{96DAC541-7B7A-43D3-8B79-37D633B846F1}">
                    <asvg:svgBlip xmlns:asvg="http://schemas.microsoft.com/office/drawing/2016/SVG/main" r:embed="rId21"/>
                  </a:ext>
                </a:extLst>
              </a:blip>
              <a:stretch>
                <a:fillRect/>
              </a:stretch>
            </a:blipFill>
          </p:spPr>
          <p:txBody>
            <a:bodyPr/>
            <a:lstStyle/>
            <a:p>
              <a:endParaRPr lang="en-US"/>
            </a:p>
          </p:txBody>
        </p:sp>
        <p:sp>
          <p:nvSpPr>
            <p:cNvPr id="115" name="TextBox 115"/>
            <p:cNvSpPr txBox="1"/>
            <p:nvPr/>
          </p:nvSpPr>
          <p:spPr>
            <a:xfrm>
              <a:off x="2615616" y="6186108"/>
              <a:ext cx="382204" cy="75971"/>
            </a:xfrm>
            <a:prstGeom prst="rect">
              <a:avLst/>
            </a:prstGeom>
          </p:spPr>
          <p:txBody>
            <a:bodyPr lIns="0" tIns="0" rIns="0" bIns="0" rtlCol="0" anchor="t">
              <a:spAutoFit/>
            </a:bodyPr>
            <a:lstStyle/>
            <a:p>
              <a:pPr algn="ctr">
                <a:lnSpc>
                  <a:spcPts val="398"/>
                </a:lnSpc>
                <a:spcBef>
                  <a:spcPct val="0"/>
                </a:spcBef>
              </a:pPr>
              <a:r>
                <a:rPr lang="en-US" sz="332" b="1">
                  <a:solidFill>
                    <a:srgbClr val="FFFFFF"/>
                  </a:solidFill>
                  <a:latin typeface="Calibri (MS) Bold"/>
                  <a:ea typeface="Calibri (MS) Bold"/>
                  <a:cs typeface="Calibri (MS) Bold"/>
                  <a:sym typeface="Calibri (MS) Bold"/>
                </a:rPr>
                <a:t> REAL PASSPORT</a:t>
              </a:r>
            </a:p>
          </p:txBody>
        </p:sp>
        <p:sp>
          <p:nvSpPr>
            <p:cNvPr id="116" name="TextBox 116"/>
            <p:cNvSpPr txBox="1"/>
            <p:nvPr/>
          </p:nvSpPr>
          <p:spPr>
            <a:xfrm>
              <a:off x="2445024" y="6069202"/>
              <a:ext cx="181292" cy="50829"/>
            </a:xfrm>
            <a:prstGeom prst="rect">
              <a:avLst/>
            </a:prstGeom>
          </p:spPr>
          <p:txBody>
            <a:bodyPr lIns="0" tIns="0" rIns="0" bIns="0" rtlCol="0" anchor="t">
              <a:spAutoFit/>
            </a:bodyPr>
            <a:lstStyle/>
            <a:p>
              <a:pPr algn="ctr">
                <a:lnSpc>
                  <a:spcPts val="246"/>
                </a:lnSpc>
                <a:spcBef>
                  <a:spcPct val="0"/>
                </a:spcBef>
              </a:pPr>
              <a:r>
                <a:rPr lang="en-US" sz="205" b="1">
                  <a:solidFill>
                    <a:srgbClr val="FFDE59"/>
                  </a:solidFill>
                  <a:latin typeface="Calibri (MS) Bold"/>
                  <a:ea typeface="Calibri (MS) Bold"/>
                  <a:cs typeface="Calibri (MS) Bold"/>
                  <a:sym typeface="Calibri (MS) Bold"/>
                </a:rPr>
                <a:t>BeReal.</a:t>
              </a:r>
            </a:p>
          </p:txBody>
        </p:sp>
        <p:sp>
          <p:nvSpPr>
            <p:cNvPr id="117" name="TextBox 117"/>
            <p:cNvSpPr txBox="1"/>
            <p:nvPr/>
          </p:nvSpPr>
          <p:spPr>
            <a:xfrm>
              <a:off x="2976708" y="6069202"/>
              <a:ext cx="181292" cy="50829"/>
            </a:xfrm>
            <a:prstGeom prst="rect">
              <a:avLst/>
            </a:prstGeom>
          </p:spPr>
          <p:txBody>
            <a:bodyPr lIns="0" tIns="0" rIns="0" bIns="0" rtlCol="0" anchor="t">
              <a:spAutoFit/>
            </a:bodyPr>
            <a:lstStyle/>
            <a:p>
              <a:pPr algn="ctr">
                <a:lnSpc>
                  <a:spcPts val="246"/>
                </a:lnSpc>
                <a:spcBef>
                  <a:spcPct val="0"/>
                </a:spcBef>
              </a:pPr>
              <a:r>
                <a:rPr lang="en-US" sz="205" b="1">
                  <a:solidFill>
                    <a:srgbClr val="FFDE59"/>
                  </a:solidFill>
                  <a:latin typeface="Calibri (MS) Bold"/>
                  <a:ea typeface="Calibri (MS) Bold"/>
                  <a:cs typeface="Calibri (MS) Bold"/>
                  <a:sym typeface="Calibri (MS) Bold"/>
                </a:rPr>
                <a:t>Unfiltered</a:t>
              </a:r>
            </a:p>
          </p:txBody>
        </p:sp>
        <p:sp>
          <p:nvSpPr>
            <p:cNvPr id="118" name="Freeform 118"/>
            <p:cNvSpPr/>
            <p:nvPr/>
          </p:nvSpPr>
          <p:spPr>
            <a:xfrm>
              <a:off x="2673645" y="5910240"/>
              <a:ext cx="259903" cy="159841"/>
            </a:xfrm>
            <a:custGeom>
              <a:avLst/>
              <a:gdLst/>
              <a:ahLst/>
              <a:cxnLst/>
              <a:rect l="l" t="t" r="r" b="b"/>
              <a:pathLst>
                <a:path w="259903" h="159841">
                  <a:moveTo>
                    <a:pt x="0" y="0"/>
                  </a:moveTo>
                  <a:lnTo>
                    <a:pt x="259903" y="0"/>
                  </a:lnTo>
                  <a:lnTo>
                    <a:pt x="259903" y="159841"/>
                  </a:lnTo>
                  <a:lnTo>
                    <a:pt x="0" y="159841"/>
                  </a:lnTo>
                  <a:lnTo>
                    <a:pt x="0" y="0"/>
                  </a:lnTo>
                  <a:close/>
                </a:path>
              </a:pathLst>
            </a:custGeom>
            <a:blipFill>
              <a:blip>
                <a:extLst>
                  <a:ext uri="{96DAC541-7B7A-43D3-8B79-37D633B846F1}">
                    <asvg:svgBlip xmlns:asvg="http://schemas.microsoft.com/office/drawing/2016/SVG/main" r:embed="rId22"/>
                  </a:ext>
                </a:extLst>
              </a:blip>
              <a:stretch>
                <a:fillRect/>
              </a:stretch>
            </a:blipFill>
          </p:spPr>
          <p:txBody>
            <a:bodyPr/>
            <a:lstStyle/>
            <a:p>
              <a:endParaRPr lang="en-US"/>
            </a:p>
          </p:txBody>
        </p:sp>
        <p:grpSp>
          <p:nvGrpSpPr>
            <p:cNvPr id="119" name="Group 119"/>
            <p:cNvGrpSpPr/>
            <p:nvPr/>
          </p:nvGrpSpPr>
          <p:grpSpPr>
            <a:xfrm>
              <a:off x="3750243" y="7425158"/>
              <a:ext cx="1553317" cy="1822371"/>
              <a:chOff x="0" y="0"/>
              <a:chExt cx="306828" cy="359975"/>
            </a:xfrm>
          </p:grpSpPr>
          <p:sp>
            <p:nvSpPr>
              <p:cNvPr id="120" name="Freeform 120"/>
              <p:cNvSpPr/>
              <p:nvPr/>
            </p:nvSpPr>
            <p:spPr>
              <a:xfrm>
                <a:off x="0" y="0"/>
                <a:ext cx="306828" cy="359975"/>
              </a:xfrm>
              <a:custGeom>
                <a:avLst/>
                <a:gdLst/>
                <a:ahLst/>
                <a:cxnLst/>
                <a:rect l="l" t="t" r="r" b="b"/>
                <a:pathLst>
                  <a:path w="306828" h="359975">
                    <a:moveTo>
                      <a:pt x="119619" y="0"/>
                    </a:moveTo>
                    <a:lnTo>
                      <a:pt x="187209" y="0"/>
                    </a:lnTo>
                    <a:cubicBezTo>
                      <a:pt x="253273" y="0"/>
                      <a:pt x="306828" y="53555"/>
                      <a:pt x="306828" y="119619"/>
                    </a:cubicBezTo>
                    <a:lnTo>
                      <a:pt x="306828" y="240356"/>
                    </a:lnTo>
                    <a:cubicBezTo>
                      <a:pt x="306828" y="306419"/>
                      <a:pt x="253273" y="359975"/>
                      <a:pt x="187209" y="359975"/>
                    </a:cubicBezTo>
                    <a:lnTo>
                      <a:pt x="119619" y="359975"/>
                    </a:lnTo>
                    <a:cubicBezTo>
                      <a:pt x="53555" y="359975"/>
                      <a:pt x="0" y="306419"/>
                      <a:pt x="0" y="240356"/>
                    </a:cubicBezTo>
                    <a:lnTo>
                      <a:pt x="0" y="119619"/>
                    </a:lnTo>
                    <a:cubicBezTo>
                      <a:pt x="0" y="53555"/>
                      <a:pt x="53555" y="0"/>
                      <a:pt x="119619" y="0"/>
                    </a:cubicBezTo>
                    <a:close/>
                  </a:path>
                </a:pathLst>
              </a:custGeom>
              <a:solidFill>
                <a:srgbClr val="484747"/>
              </a:solidFill>
              <a:ln w="38100" cap="sq">
                <a:solidFill>
                  <a:srgbClr val="FFFFFF"/>
                </a:solidFill>
                <a:prstDash val="solid"/>
                <a:miter/>
              </a:ln>
            </p:spPr>
            <p:txBody>
              <a:bodyPr/>
              <a:lstStyle/>
              <a:p>
                <a:endParaRPr lang="en-US"/>
              </a:p>
            </p:txBody>
          </p:sp>
          <p:sp>
            <p:nvSpPr>
              <p:cNvPr id="121" name="TextBox 121"/>
              <p:cNvSpPr txBox="1"/>
              <p:nvPr/>
            </p:nvSpPr>
            <p:spPr>
              <a:xfrm>
                <a:off x="0" y="-47625"/>
                <a:ext cx="306828" cy="407600"/>
              </a:xfrm>
              <a:prstGeom prst="rect">
                <a:avLst/>
              </a:prstGeom>
            </p:spPr>
            <p:txBody>
              <a:bodyPr lIns="50800" tIns="50800" rIns="50800" bIns="50800" rtlCol="0" anchor="ctr"/>
              <a:lstStyle/>
              <a:p>
                <a:pPr algn="ctr">
                  <a:lnSpc>
                    <a:spcPts val="2340"/>
                  </a:lnSpc>
                </a:pPr>
                <a:endParaRPr/>
              </a:p>
            </p:txBody>
          </p:sp>
        </p:grpSp>
        <p:grpSp>
          <p:nvGrpSpPr>
            <p:cNvPr id="122" name="Group 122"/>
            <p:cNvGrpSpPr/>
            <p:nvPr/>
          </p:nvGrpSpPr>
          <p:grpSpPr>
            <a:xfrm>
              <a:off x="2026938" y="7425158"/>
              <a:ext cx="1553317" cy="1822371"/>
              <a:chOff x="0" y="0"/>
              <a:chExt cx="306828" cy="359975"/>
            </a:xfrm>
          </p:grpSpPr>
          <p:sp>
            <p:nvSpPr>
              <p:cNvPr id="123" name="Freeform 123"/>
              <p:cNvSpPr/>
              <p:nvPr/>
            </p:nvSpPr>
            <p:spPr>
              <a:xfrm>
                <a:off x="0" y="0"/>
                <a:ext cx="306828" cy="359975"/>
              </a:xfrm>
              <a:custGeom>
                <a:avLst/>
                <a:gdLst/>
                <a:ahLst/>
                <a:cxnLst/>
                <a:rect l="l" t="t" r="r" b="b"/>
                <a:pathLst>
                  <a:path w="306828" h="359975">
                    <a:moveTo>
                      <a:pt x="119619" y="0"/>
                    </a:moveTo>
                    <a:lnTo>
                      <a:pt x="187209" y="0"/>
                    </a:lnTo>
                    <a:cubicBezTo>
                      <a:pt x="253273" y="0"/>
                      <a:pt x="306828" y="53555"/>
                      <a:pt x="306828" y="119619"/>
                    </a:cubicBezTo>
                    <a:lnTo>
                      <a:pt x="306828" y="240356"/>
                    </a:lnTo>
                    <a:cubicBezTo>
                      <a:pt x="306828" y="306419"/>
                      <a:pt x="253273" y="359975"/>
                      <a:pt x="187209" y="359975"/>
                    </a:cubicBezTo>
                    <a:lnTo>
                      <a:pt x="119619" y="359975"/>
                    </a:lnTo>
                    <a:cubicBezTo>
                      <a:pt x="53555" y="359975"/>
                      <a:pt x="0" y="306419"/>
                      <a:pt x="0" y="240356"/>
                    </a:cubicBezTo>
                    <a:lnTo>
                      <a:pt x="0" y="119619"/>
                    </a:lnTo>
                    <a:cubicBezTo>
                      <a:pt x="0" y="53555"/>
                      <a:pt x="53555" y="0"/>
                      <a:pt x="119619" y="0"/>
                    </a:cubicBezTo>
                    <a:close/>
                  </a:path>
                </a:pathLst>
              </a:custGeom>
              <a:solidFill>
                <a:srgbClr val="484747"/>
              </a:solidFill>
              <a:ln w="38100" cap="sq">
                <a:solidFill>
                  <a:srgbClr val="FFFFFF"/>
                </a:solidFill>
                <a:prstDash val="solid"/>
                <a:miter/>
              </a:ln>
            </p:spPr>
            <p:txBody>
              <a:bodyPr/>
              <a:lstStyle/>
              <a:p>
                <a:endParaRPr lang="en-US"/>
              </a:p>
            </p:txBody>
          </p:sp>
          <p:sp>
            <p:nvSpPr>
              <p:cNvPr id="124" name="TextBox 124"/>
              <p:cNvSpPr txBox="1"/>
              <p:nvPr/>
            </p:nvSpPr>
            <p:spPr>
              <a:xfrm>
                <a:off x="0" y="-47625"/>
                <a:ext cx="306828" cy="407600"/>
              </a:xfrm>
              <a:prstGeom prst="rect">
                <a:avLst/>
              </a:prstGeom>
            </p:spPr>
            <p:txBody>
              <a:bodyPr lIns="50800" tIns="50800" rIns="50800" bIns="50800" rtlCol="0" anchor="ctr"/>
              <a:lstStyle/>
              <a:p>
                <a:pPr algn="ctr">
                  <a:lnSpc>
                    <a:spcPts val="2340"/>
                  </a:lnSpc>
                </a:pPr>
                <a:endParaRPr/>
              </a:p>
            </p:txBody>
          </p:sp>
        </p:grpSp>
        <p:grpSp>
          <p:nvGrpSpPr>
            <p:cNvPr id="125" name="Group 125"/>
            <p:cNvGrpSpPr/>
            <p:nvPr/>
          </p:nvGrpSpPr>
          <p:grpSpPr>
            <a:xfrm>
              <a:off x="303632" y="7425158"/>
              <a:ext cx="1553317" cy="1822371"/>
              <a:chOff x="0" y="0"/>
              <a:chExt cx="306828" cy="359975"/>
            </a:xfrm>
          </p:grpSpPr>
          <p:sp>
            <p:nvSpPr>
              <p:cNvPr id="126" name="Freeform 126"/>
              <p:cNvSpPr/>
              <p:nvPr/>
            </p:nvSpPr>
            <p:spPr>
              <a:xfrm>
                <a:off x="0" y="0"/>
                <a:ext cx="306828" cy="359975"/>
              </a:xfrm>
              <a:custGeom>
                <a:avLst/>
                <a:gdLst/>
                <a:ahLst/>
                <a:cxnLst/>
                <a:rect l="l" t="t" r="r" b="b"/>
                <a:pathLst>
                  <a:path w="306828" h="359975">
                    <a:moveTo>
                      <a:pt x="119619" y="0"/>
                    </a:moveTo>
                    <a:lnTo>
                      <a:pt x="187209" y="0"/>
                    </a:lnTo>
                    <a:cubicBezTo>
                      <a:pt x="253273" y="0"/>
                      <a:pt x="306828" y="53555"/>
                      <a:pt x="306828" y="119619"/>
                    </a:cubicBezTo>
                    <a:lnTo>
                      <a:pt x="306828" y="240356"/>
                    </a:lnTo>
                    <a:cubicBezTo>
                      <a:pt x="306828" y="306419"/>
                      <a:pt x="253273" y="359975"/>
                      <a:pt x="187209" y="359975"/>
                    </a:cubicBezTo>
                    <a:lnTo>
                      <a:pt x="119619" y="359975"/>
                    </a:lnTo>
                    <a:cubicBezTo>
                      <a:pt x="53555" y="359975"/>
                      <a:pt x="0" y="306419"/>
                      <a:pt x="0" y="240356"/>
                    </a:cubicBezTo>
                    <a:lnTo>
                      <a:pt x="0" y="119619"/>
                    </a:lnTo>
                    <a:cubicBezTo>
                      <a:pt x="0" y="53555"/>
                      <a:pt x="53555" y="0"/>
                      <a:pt x="119619" y="0"/>
                    </a:cubicBezTo>
                    <a:close/>
                  </a:path>
                </a:pathLst>
              </a:custGeom>
              <a:solidFill>
                <a:srgbClr val="484747"/>
              </a:solidFill>
              <a:ln w="38100" cap="sq">
                <a:solidFill>
                  <a:srgbClr val="FFFFFF"/>
                </a:solidFill>
                <a:prstDash val="solid"/>
                <a:miter/>
              </a:ln>
            </p:spPr>
            <p:txBody>
              <a:bodyPr/>
              <a:lstStyle/>
              <a:p>
                <a:endParaRPr lang="en-US"/>
              </a:p>
            </p:txBody>
          </p:sp>
          <p:sp>
            <p:nvSpPr>
              <p:cNvPr id="127" name="TextBox 127"/>
              <p:cNvSpPr txBox="1"/>
              <p:nvPr/>
            </p:nvSpPr>
            <p:spPr>
              <a:xfrm>
                <a:off x="0" y="-47625"/>
                <a:ext cx="306828" cy="407600"/>
              </a:xfrm>
              <a:prstGeom prst="rect">
                <a:avLst/>
              </a:prstGeom>
            </p:spPr>
            <p:txBody>
              <a:bodyPr lIns="50800" tIns="50800" rIns="50800" bIns="50800" rtlCol="0" anchor="ctr"/>
              <a:lstStyle/>
              <a:p>
                <a:pPr algn="ctr">
                  <a:lnSpc>
                    <a:spcPts val="2340"/>
                  </a:lnSpc>
                </a:pPr>
                <a:endParaRPr/>
              </a:p>
            </p:txBody>
          </p:sp>
        </p:grpSp>
        <p:sp>
          <p:nvSpPr>
            <p:cNvPr id="128" name="Freeform 128"/>
            <p:cNvSpPr/>
            <p:nvPr/>
          </p:nvSpPr>
          <p:spPr>
            <a:xfrm>
              <a:off x="4096484" y="5663351"/>
              <a:ext cx="800260" cy="800260"/>
            </a:xfrm>
            <a:custGeom>
              <a:avLst/>
              <a:gdLst/>
              <a:ahLst/>
              <a:cxnLst/>
              <a:rect l="l" t="t" r="r" b="b"/>
              <a:pathLst>
                <a:path w="800260" h="800260">
                  <a:moveTo>
                    <a:pt x="0" y="0"/>
                  </a:moveTo>
                  <a:lnTo>
                    <a:pt x="800260" y="0"/>
                  </a:lnTo>
                  <a:lnTo>
                    <a:pt x="800260" y="800259"/>
                  </a:lnTo>
                  <a:lnTo>
                    <a:pt x="0" y="800259"/>
                  </a:lnTo>
                  <a:lnTo>
                    <a:pt x="0" y="0"/>
                  </a:lnTo>
                  <a:close/>
                </a:path>
              </a:pathLst>
            </a:custGeom>
            <a:blipFill>
              <a:blip>
                <a:extLst>
                  <a:ext uri="{96DAC541-7B7A-43D3-8B79-37D633B846F1}">
                    <asvg:svgBlip xmlns:asvg="http://schemas.microsoft.com/office/drawing/2016/SVG/main" r:embed="rId23"/>
                  </a:ext>
                </a:extLst>
              </a:blip>
              <a:stretch>
                <a:fillRect/>
              </a:stretch>
            </a:blipFill>
          </p:spPr>
          <p:txBody>
            <a:bodyPr/>
            <a:lstStyle/>
            <a:p>
              <a:endParaRPr lang="en-US"/>
            </a:p>
          </p:txBody>
        </p:sp>
        <p:sp>
          <p:nvSpPr>
            <p:cNvPr id="129" name="Freeform 129"/>
            <p:cNvSpPr/>
            <p:nvPr/>
          </p:nvSpPr>
          <p:spPr>
            <a:xfrm>
              <a:off x="4257550" y="5827494"/>
              <a:ext cx="498756" cy="266834"/>
            </a:xfrm>
            <a:custGeom>
              <a:avLst/>
              <a:gdLst/>
              <a:ahLst/>
              <a:cxnLst/>
              <a:rect l="l" t="t" r="r" b="b"/>
              <a:pathLst>
                <a:path w="498756" h="266834">
                  <a:moveTo>
                    <a:pt x="0" y="0"/>
                  </a:moveTo>
                  <a:lnTo>
                    <a:pt x="498755" y="0"/>
                  </a:lnTo>
                  <a:lnTo>
                    <a:pt x="498755" y="266835"/>
                  </a:lnTo>
                  <a:lnTo>
                    <a:pt x="0" y="266835"/>
                  </a:lnTo>
                  <a:lnTo>
                    <a:pt x="0" y="0"/>
                  </a:lnTo>
                  <a:close/>
                </a:path>
              </a:pathLst>
            </a:custGeom>
            <a:blipFill>
              <a:blip>
                <a:extLst>
                  <a:ext uri="{96DAC541-7B7A-43D3-8B79-37D633B846F1}">
                    <asvg:svgBlip xmlns:asvg="http://schemas.microsoft.com/office/drawing/2016/SVG/main" r:embed="rId24"/>
                  </a:ext>
                </a:extLst>
              </a:blip>
              <a:stretch>
                <a:fillRect/>
              </a:stretch>
            </a:blipFill>
          </p:spPr>
          <p:txBody>
            <a:bodyPr/>
            <a:lstStyle/>
            <a:p>
              <a:endParaRPr lang="en-US"/>
            </a:p>
          </p:txBody>
        </p:sp>
        <p:sp>
          <p:nvSpPr>
            <p:cNvPr id="130" name="TextBox 130"/>
            <p:cNvSpPr txBox="1"/>
            <p:nvPr/>
          </p:nvSpPr>
          <p:spPr>
            <a:xfrm>
              <a:off x="4281988" y="5687548"/>
              <a:ext cx="449879" cy="205379"/>
            </a:xfrm>
            <a:prstGeom prst="rect">
              <a:avLst/>
            </a:prstGeom>
          </p:spPr>
          <p:txBody>
            <a:bodyPr lIns="0" tIns="0" rIns="0" bIns="0" rtlCol="0" anchor="t">
              <a:spAutoFit/>
            </a:bodyPr>
            <a:lstStyle/>
            <a:p>
              <a:pPr algn="ctr">
                <a:lnSpc>
                  <a:spcPts val="764"/>
                </a:lnSpc>
                <a:spcBef>
                  <a:spcPct val="0"/>
                </a:spcBef>
              </a:pPr>
              <a:r>
                <a:rPr lang="en-US" sz="636" b="1" spc="86">
                  <a:solidFill>
                    <a:srgbClr val="FFFFFF"/>
                  </a:solidFill>
                  <a:latin typeface="Calibri (MS) Bold"/>
                  <a:ea typeface="Calibri (MS) Bold"/>
                  <a:cs typeface="Calibri (MS) Bold"/>
                  <a:sym typeface="Calibri (MS) Bold"/>
                </a:rPr>
                <a:t>COFFEE</a:t>
              </a:r>
            </a:p>
          </p:txBody>
        </p:sp>
        <p:sp>
          <p:nvSpPr>
            <p:cNvPr id="131" name="Freeform 131"/>
            <p:cNvSpPr/>
            <p:nvPr/>
          </p:nvSpPr>
          <p:spPr>
            <a:xfrm rot="-3394830" flipV="1">
              <a:off x="4145710" y="5993482"/>
              <a:ext cx="123367" cy="38778"/>
            </a:xfrm>
            <a:custGeom>
              <a:avLst/>
              <a:gdLst/>
              <a:ahLst/>
              <a:cxnLst/>
              <a:rect l="l" t="t" r="r" b="b"/>
              <a:pathLst>
                <a:path w="123367" h="38778">
                  <a:moveTo>
                    <a:pt x="0" y="38778"/>
                  </a:moveTo>
                  <a:lnTo>
                    <a:pt x="123367" y="38778"/>
                  </a:lnTo>
                  <a:lnTo>
                    <a:pt x="123367" y="0"/>
                  </a:lnTo>
                  <a:lnTo>
                    <a:pt x="0" y="0"/>
                  </a:lnTo>
                  <a:lnTo>
                    <a:pt x="0" y="38778"/>
                  </a:lnTo>
                  <a:close/>
                </a:path>
              </a:pathLst>
            </a:custGeom>
            <a:blipFill>
              <a:blip>
                <a:extLst>
                  <a:ext uri="{96DAC541-7B7A-43D3-8B79-37D633B846F1}">
                    <asvg:svgBlip xmlns:asvg="http://schemas.microsoft.com/office/drawing/2016/SVG/main" r:embed="rId16"/>
                  </a:ext>
                </a:extLst>
              </a:blip>
              <a:stretch>
                <a:fillRect l="-116778"/>
              </a:stretch>
            </a:blipFill>
          </p:spPr>
          <p:txBody>
            <a:bodyPr/>
            <a:lstStyle/>
            <a:p>
              <a:endParaRPr lang="en-US"/>
            </a:p>
          </p:txBody>
        </p:sp>
        <p:sp>
          <p:nvSpPr>
            <p:cNvPr id="132" name="Freeform 132"/>
            <p:cNvSpPr/>
            <p:nvPr/>
          </p:nvSpPr>
          <p:spPr>
            <a:xfrm rot="-6716943">
              <a:off x="4745445" y="5995060"/>
              <a:ext cx="113327" cy="35622"/>
            </a:xfrm>
            <a:custGeom>
              <a:avLst/>
              <a:gdLst/>
              <a:ahLst/>
              <a:cxnLst/>
              <a:rect l="l" t="t" r="r" b="b"/>
              <a:pathLst>
                <a:path w="113327" h="35622">
                  <a:moveTo>
                    <a:pt x="0" y="0"/>
                  </a:moveTo>
                  <a:lnTo>
                    <a:pt x="113327" y="0"/>
                  </a:lnTo>
                  <a:lnTo>
                    <a:pt x="113327" y="35622"/>
                  </a:lnTo>
                  <a:lnTo>
                    <a:pt x="0" y="35622"/>
                  </a:lnTo>
                  <a:lnTo>
                    <a:pt x="0" y="0"/>
                  </a:lnTo>
                  <a:close/>
                </a:path>
              </a:pathLst>
            </a:custGeom>
            <a:blipFill>
              <a:blip>
                <a:extLst>
                  <a:ext uri="{96DAC541-7B7A-43D3-8B79-37D633B846F1}">
                    <asvg:svgBlip xmlns:asvg="http://schemas.microsoft.com/office/drawing/2016/SVG/main" r:embed="rId16"/>
                  </a:ext>
                </a:extLst>
              </a:blip>
              <a:stretch>
                <a:fillRect l="-116778"/>
              </a:stretch>
            </a:blipFill>
          </p:spPr>
          <p:txBody>
            <a:bodyPr/>
            <a:lstStyle/>
            <a:p>
              <a:endParaRPr lang="en-US"/>
            </a:p>
          </p:txBody>
        </p:sp>
        <p:sp>
          <p:nvSpPr>
            <p:cNvPr id="133" name="Freeform 133"/>
            <p:cNvSpPr/>
            <p:nvPr/>
          </p:nvSpPr>
          <p:spPr>
            <a:xfrm rot="2699999">
              <a:off x="4240778" y="5906698"/>
              <a:ext cx="517718" cy="517718"/>
            </a:xfrm>
            <a:custGeom>
              <a:avLst/>
              <a:gdLst/>
              <a:ahLst/>
              <a:cxnLst/>
              <a:rect l="l" t="t" r="r" b="b"/>
              <a:pathLst>
                <a:path w="517718" h="517718">
                  <a:moveTo>
                    <a:pt x="0" y="0"/>
                  </a:moveTo>
                  <a:lnTo>
                    <a:pt x="517718" y="0"/>
                  </a:lnTo>
                  <a:lnTo>
                    <a:pt x="517718" y="517717"/>
                  </a:lnTo>
                  <a:lnTo>
                    <a:pt x="0" y="517717"/>
                  </a:lnTo>
                  <a:lnTo>
                    <a:pt x="0" y="0"/>
                  </a:lnTo>
                  <a:close/>
                </a:path>
              </a:pathLst>
            </a:custGeom>
            <a:blipFill>
              <a:blip>
                <a:extLst>
                  <a:ext uri="{96DAC541-7B7A-43D3-8B79-37D633B846F1}">
                    <asvg:svgBlip xmlns:asvg="http://schemas.microsoft.com/office/drawing/2016/SVG/main" r:embed="rId25"/>
                  </a:ext>
                </a:extLst>
              </a:blip>
              <a:stretch>
                <a:fillRect/>
              </a:stretch>
            </a:blipFill>
          </p:spPr>
          <p:txBody>
            <a:bodyPr/>
            <a:lstStyle/>
            <a:p>
              <a:endParaRPr lang="en-US"/>
            </a:p>
          </p:txBody>
        </p:sp>
        <p:sp>
          <p:nvSpPr>
            <p:cNvPr id="134" name="TextBox 134"/>
            <p:cNvSpPr txBox="1"/>
            <p:nvPr/>
          </p:nvSpPr>
          <p:spPr>
            <a:xfrm>
              <a:off x="4382930" y="6333267"/>
              <a:ext cx="227368" cy="49523"/>
            </a:xfrm>
            <a:prstGeom prst="rect">
              <a:avLst/>
            </a:prstGeom>
          </p:spPr>
          <p:txBody>
            <a:bodyPr lIns="0" tIns="0" rIns="0" bIns="0" rtlCol="0" anchor="t">
              <a:spAutoFit/>
            </a:bodyPr>
            <a:lstStyle/>
            <a:p>
              <a:pPr algn="ctr">
                <a:lnSpc>
                  <a:spcPts val="238"/>
                </a:lnSpc>
                <a:spcBef>
                  <a:spcPct val="0"/>
                </a:spcBef>
              </a:pPr>
              <a:r>
                <a:rPr lang="en-US" sz="198" b="1" spc="27">
                  <a:solidFill>
                    <a:srgbClr val="FFFFFF"/>
                  </a:solidFill>
                  <a:latin typeface="Calibri (MS) Bold"/>
                  <a:ea typeface="Calibri (MS) Bold"/>
                  <a:cs typeface="Calibri (MS) Bold"/>
                  <a:sym typeface="Calibri (MS) Bold"/>
                </a:rPr>
                <a:t>October2026</a:t>
              </a:r>
            </a:p>
          </p:txBody>
        </p:sp>
        <p:sp>
          <p:nvSpPr>
            <p:cNvPr id="135" name="Freeform 135"/>
            <p:cNvSpPr/>
            <p:nvPr/>
          </p:nvSpPr>
          <p:spPr>
            <a:xfrm rot="2699999">
              <a:off x="4302423" y="6096032"/>
              <a:ext cx="388382" cy="388382"/>
            </a:xfrm>
            <a:custGeom>
              <a:avLst/>
              <a:gdLst/>
              <a:ahLst/>
              <a:cxnLst/>
              <a:rect l="l" t="t" r="r" b="b"/>
              <a:pathLst>
                <a:path w="388382" h="388382">
                  <a:moveTo>
                    <a:pt x="0" y="0"/>
                  </a:moveTo>
                  <a:lnTo>
                    <a:pt x="388382" y="0"/>
                  </a:lnTo>
                  <a:lnTo>
                    <a:pt x="388382" y="388382"/>
                  </a:lnTo>
                  <a:lnTo>
                    <a:pt x="0" y="388382"/>
                  </a:lnTo>
                  <a:lnTo>
                    <a:pt x="0" y="0"/>
                  </a:lnTo>
                  <a:close/>
                </a:path>
              </a:pathLst>
            </a:custGeom>
            <a:blipFill>
              <a:blip>
                <a:extLst>
                  <a:ext uri="{96DAC541-7B7A-43D3-8B79-37D633B846F1}">
                    <asvg:svgBlip xmlns:asvg="http://schemas.microsoft.com/office/drawing/2016/SVG/main" r:embed="rId25"/>
                  </a:ext>
                </a:extLst>
              </a:blip>
              <a:stretch>
                <a:fillRect/>
              </a:stretch>
            </a:blipFill>
          </p:spPr>
          <p:txBody>
            <a:bodyPr/>
            <a:lstStyle/>
            <a:p>
              <a:endParaRPr lang="en-US"/>
            </a:p>
          </p:txBody>
        </p:sp>
        <p:sp>
          <p:nvSpPr>
            <p:cNvPr id="136" name="TextBox 136"/>
            <p:cNvSpPr txBox="1"/>
            <p:nvPr/>
          </p:nvSpPr>
          <p:spPr>
            <a:xfrm>
              <a:off x="4314579" y="6197785"/>
              <a:ext cx="370116" cy="73869"/>
            </a:xfrm>
            <a:prstGeom prst="rect">
              <a:avLst/>
            </a:prstGeom>
          </p:spPr>
          <p:txBody>
            <a:bodyPr lIns="0" tIns="0" rIns="0" bIns="0" rtlCol="0" anchor="t">
              <a:spAutoFit/>
            </a:bodyPr>
            <a:lstStyle/>
            <a:p>
              <a:pPr algn="ctr">
                <a:lnSpc>
                  <a:spcPts val="386"/>
                </a:lnSpc>
                <a:spcBef>
                  <a:spcPct val="0"/>
                </a:spcBef>
              </a:pPr>
              <a:r>
                <a:rPr lang="en-US" sz="321" b="1">
                  <a:solidFill>
                    <a:srgbClr val="FFFFFF"/>
                  </a:solidFill>
                  <a:latin typeface="Calibri (MS) Bold"/>
                  <a:ea typeface="Calibri (MS) Bold"/>
                  <a:cs typeface="Calibri (MS) Bold"/>
                  <a:sym typeface="Calibri (MS) Bold"/>
                </a:rPr>
                <a:t> REAL PASSPORT</a:t>
              </a:r>
            </a:p>
          </p:txBody>
        </p:sp>
        <p:sp>
          <p:nvSpPr>
            <p:cNvPr id="137" name="TextBox 137"/>
            <p:cNvSpPr txBox="1"/>
            <p:nvPr/>
          </p:nvSpPr>
          <p:spPr>
            <a:xfrm>
              <a:off x="4149383" y="6084577"/>
              <a:ext cx="175558" cy="49523"/>
            </a:xfrm>
            <a:prstGeom prst="rect">
              <a:avLst/>
            </a:prstGeom>
          </p:spPr>
          <p:txBody>
            <a:bodyPr lIns="0" tIns="0" rIns="0" bIns="0" rtlCol="0" anchor="t">
              <a:spAutoFit/>
            </a:bodyPr>
            <a:lstStyle/>
            <a:p>
              <a:pPr algn="ctr">
                <a:lnSpc>
                  <a:spcPts val="238"/>
                </a:lnSpc>
                <a:spcBef>
                  <a:spcPct val="0"/>
                </a:spcBef>
              </a:pPr>
              <a:r>
                <a:rPr lang="en-US" sz="198" b="1">
                  <a:solidFill>
                    <a:srgbClr val="FFDE59"/>
                  </a:solidFill>
                  <a:latin typeface="Calibri (MS) Bold"/>
                  <a:ea typeface="Calibri (MS) Bold"/>
                  <a:cs typeface="Calibri (MS) Bold"/>
                  <a:sym typeface="Calibri (MS) Bold"/>
                </a:rPr>
                <a:t>BeReal.</a:t>
              </a:r>
            </a:p>
          </p:txBody>
        </p:sp>
        <p:sp>
          <p:nvSpPr>
            <p:cNvPr id="138" name="TextBox 138"/>
            <p:cNvSpPr txBox="1"/>
            <p:nvPr/>
          </p:nvSpPr>
          <p:spPr>
            <a:xfrm>
              <a:off x="4664250" y="6084577"/>
              <a:ext cx="175558" cy="49523"/>
            </a:xfrm>
            <a:prstGeom prst="rect">
              <a:avLst/>
            </a:prstGeom>
          </p:spPr>
          <p:txBody>
            <a:bodyPr lIns="0" tIns="0" rIns="0" bIns="0" rtlCol="0" anchor="t">
              <a:spAutoFit/>
            </a:bodyPr>
            <a:lstStyle/>
            <a:p>
              <a:pPr algn="ctr">
                <a:lnSpc>
                  <a:spcPts val="238"/>
                </a:lnSpc>
                <a:spcBef>
                  <a:spcPct val="0"/>
                </a:spcBef>
              </a:pPr>
              <a:r>
                <a:rPr lang="en-US" sz="198" b="1">
                  <a:solidFill>
                    <a:srgbClr val="FFDE59"/>
                  </a:solidFill>
                  <a:latin typeface="Calibri (MS) Bold"/>
                  <a:ea typeface="Calibri (MS) Bold"/>
                  <a:cs typeface="Calibri (MS) Bold"/>
                  <a:sym typeface="Calibri (MS) Bold"/>
                </a:rPr>
                <a:t>Unfiltered</a:t>
              </a:r>
            </a:p>
          </p:txBody>
        </p:sp>
        <p:sp>
          <p:nvSpPr>
            <p:cNvPr id="139" name="Freeform 139"/>
            <p:cNvSpPr/>
            <p:nvPr/>
          </p:nvSpPr>
          <p:spPr>
            <a:xfrm>
              <a:off x="4422402" y="5945438"/>
              <a:ext cx="148424" cy="168663"/>
            </a:xfrm>
            <a:custGeom>
              <a:avLst/>
              <a:gdLst/>
              <a:ahLst/>
              <a:cxnLst/>
              <a:rect l="l" t="t" r="r" b="b"/>
              <a:pathLst>
                <a:path w="148424" h="168663">
                  <a:moveTo>
                    <a:pt x="0" y="0"/>
                  </a:moveTo>
                  <a:lnTo>
                    <a:pt x="148424" y="0"/>
                  </a:lnTo>
                  <a:lnTo>
                    <a:pt x="148424" y="168663"/>
                  </a:lnTo>
                  <a:lnTo>
                    <a:pt x="0" y="168663"/>
                  </a:lnTo>
                  <a:lnTo>
                    <a:pt x="0" y="0"/>
                  </a:lnTo>
                  <a:close/>
                </a:path>
              </a:pathLst>
            </a:custGeom>
            <a:blipFill>
              <a:blip>
                <a:extLst>
                  <a:ext uri="{96DAC541-7B7A-43D3-8B79-37D633B846F1}">
                    <asvg:svgBlip xmlns:asvg="http://schemas.microsoft.com/office/drawing/2016/SVG/main" r:embed="rId26"/>
                  </a:ext>
                </a:extLst>
              </a:blip>
              <a:stretch>
                <a:fillRect/>
              </a:stretch>
            </a:blipFill>
          </p:spPr>
          <p:txBody>
            <a:bodyPr/>
            <a:lstStyle/>
            <a:p>
              <a:endParaRPr lang="en-US"/>
            </a:p>
          </p:txBody>
        </p:sp>
        <p:sp>
          <p:nvSpPr>
            <p:cNvPr id="140" name="Freeform 140"/>
            <p:cNvSpPr/>
            <p:nvPr/>
          </p:nvSpPr>
          <p:spPr>
            <a:xfrm>
              <a:off x="713165" y="7722413"/>
              <a:ext cx="761643" cy="761643"/>
            </a:xfrm>
            <a:custGeom>
              <a:avLst/>
              <a:gdLst/>
              <a:ahLst/>
              <a:cxnLst/>
              <a:rect l="l" t="t" r="r" b="b"/>
              <a:pathLst>
                <a:path w="761643" h="761643">
                  <a:moveTo>
                    <a:pt x="0" y="0"/>
                  </a:moveTo>
                  <a:lnTo>
                    <a:pt x="761644" y="0"/>
                  </a:lnTo>
                  <a:lnTo>
                    <a:pt x="761644" y="761643"/>
                  </a:lnTo>
                  <a:lnTo>
                    <a:pt x="0" y="761643"/>
                  </a:lnTo>
                  <a:lnTo>
                    <a:pt x="0" y="0"/>
                  </a:lnTo>
                  <a:close/>
                </a:path>
              </a:pathLst>
            </a:custGeom>
            <a:blipFill>
              <a:blip>
                <a:extLst>
                  <a:ext uri="{96DAC541-7B7A-43D3-8B79-37D633B846F1}">
                    <asvg:svgBlip xmlns:asvg="http://schemas.microsoft.com/office/drawing/2016/SVG/main" r:embed="rId27"/>
                  </a:ext>
                </a:extLst>
              </a:blip>
              <a:stretch>
                <a:fillRect/>
              </a:stretch>
            </a:blipFill>
          </p:spPr>
          <p:txBody>
            <a:bodyPr/>
            <a:lstStyle/>
            <a:p>
              <a:endParaRPr lang="en-US"/>
            </a:p>
          </p:txBody>
        </p:sp>
        <p:sp>
          <p:nvSpPr>
            <p:cNvPr id="141" name="Freeform 141"/>
            <p:cNvSpPr/>
            <p:nvPr/>
          </p:nvSpPr>
          <p:spPr>
            <a:xfrm>
              <a:off x="866459" y="7878636"/>
              <a:ext cx="474688" cy="253958"/>
            </a:xfrm>
            <a:custGeom>
              <a:avLst/>
              <a:gdLst/>
              <a:ahLst/>
              <a:cxnLst/>
              <a:rect l="l" t="t" r="r" b="b"/>
              <a:pathLst>
                <a:path w="474688" h="253958">
                  <a:moveTo>
                    <a:pt x="0" y="0"/>
                  </a:moveTo>
                  <a:lnTo>
                    <a:pt x="474688" y="0"/>
                  </a:lnTo>
                  <a:lnTo>
                    <a:pt x="474688" y="253958"/>
                  </a:lnTo>
                  <a:lnTo>
                    <a:pt x="0" y="253958"/>
                  </a:lnTo>
                  <a:lnTo>
                    <a:pt x="0" y="0"/>
                  </a:lnTo>
                  <a:close/>
                </a:path>
              </a:pathLst>
            </a:custGeom>
            <a:blipFill>
              <a:blip>
                <a:extLst>
                  <a:ext uri="{96DAC541-7B7A-43D3-8B79-37D633B846F1}">
                    <asvg:svgBlip xmlns:asvg="http://schemas.microsoft.com/office/drawing/2016/SVG/main" r:embed="rId28"/>
                  </a:ext>
                </a:extLst>
              </a:blip>
              <a:stretch>
                <a:fillRect/>
              </a:stretch>
            </a:blipFill>
          </p:spPr>
          <p:txBody>
            <a:bodyPr/>
            <a:lstStyle/>
            <a:p>
              <a:endParaRPr lang="en-US"/>
            </a:p>
          </p:txBody>
        </p:sp>
        <p:sp>
          <p:nvSpPr>
            <p:cNvPr id="142" name="Freeform 142"/>
            <p:cNvSpPr/>
            <p:nvPr/>
          </p:nvSpPr>
          <p:spPr>
            <a:xfrm>
              <a:off x="1003894" y="7942902"/>
              <a:ext cx="211156" cy="229518"/>
            </a:xfrm>
            <a:custGeom>
              <a:avLst/>
              <a:gdLst/>
              <a:ahLst/>
              <a:cxnLst/>
              <a:rect l="l" t="t" r="r" b="b"/>
              <a:pathLst>
                <a:path w="211156" h="229518">
                  <a:moveTo>
                    <a:pt x="0" y="0"/>
                  </a:moveTo>
                  <a:lnTo>
                    <a:pt x="211156" y="0"/>
                  </a:lnTo>
                  <a:lnTo>
                    <a:pt x="211156" y="229517"/>
                  </a:lnTo>
                  <a:lnTo>
                    <a:pt x="0" y="229517"/>
                  </a:lnTo>
                  <a:lnTo>
                    <a:pt x="0" y="0"/>
                  </a:lnTo>
                  <a:close/>
                </a:path>
              </a:pathLst>
            </a:custGeom>
            <a:blipFill>
              <a:blip>
                <a:extLst>
                  <a:ext uri="{96DAC541-7B7A-43D3-8B79-37D633B846F1}">
                    <asvg:svgBlip xmlns:asvg="http://schemas.microsoft.com/office/drawing/2016/SVG/main" r:embed="rId29"/>
                  </a:ext>
                </a:extLst>
              </a:blip>
              <a:stretch>
                <a:fillRect/>
              </a:stretch>
            </a:blipFill>
          </p:spPr>
          <p:txBody>
            <a:bodyPr/>
            <a:lstStyle/>
            <a:p>
              <a:endParaRPr lang="en-US"/>
            </a:p>
          </p:txBody>
        </p:sp>
        <p:sp>
          <p:nvSpPr>
            <p:cNvPr id="143" name="TextBox 143"/>
            <p:cNvSpPr txBox="1"/>
            <p:nvPr/>
          </p:nvSpPr>
          <p:spPr>
            <a:xfrm>
              <a:off x="838028" y="7744524"/>
              <a:ext cx="531551" cy="233449"/>
            </a:xfrm>
            <a:prstGeom prst="rect">
              <a:avLst/>
            </a:prstGeom>
          </p:spPr>
          <p:txBody>
            <a:bodyPr lIns="0" tIns="0" rIns="0" bIns="0" rtlCol="0" anchor="t">
              <a:spAutoFit/>
            </a:bodyPr>
            <a:lstStyle/>
            <a:p>
              <a:pPr algn="ctr">
                <a:lnSpc>
                  <a:spcPts val="727"/>
                </a:lnSpc>
                <a:spcBef>
                  <a:spcPct val="0"/>
                </a:spcBef>
              </a:pPr>
              <a:r>
                <a:rPr lang="en-US" sz="605" b="1" spc="82">
                  <a:solidFill>
                    <a:srgbClr val="FFFFFF"/>
                  </a:solidFill>
                  <a:latin typeface="Calibri (MS) Bold"/>
                  <a:ea typeface="Calibri (MS) Bold"/>
                  <a:cs typeface="Calibri (MS) Bold"/>
                  <a:sym typeface="Calibri (MS) Bold"/>
                </a:rPr>
                <a:t>HAUNTED</a:t>
              </a:r>
            </a:p>
          </p:txBody>
        </p:sp>
        <p:sp>
          <p:nvSpPr>
            <p:cNvPr id="144" name="Freeform 144"/>
            <p:cNvSpPr/>
            <p:nvPr/>
          </p:nvSpPr>
          <p:spPr>
            <a:xfrm rot="-3394830" flipV="1">
              <a:off x="761314" y="7998955"/>
              <a:ext cx="153428" cy="48227"/>
            </a:xfrm>
            <a:custGeom>
              <a:avLst/>
              <a:gdLst/>
              <a:ahLst/>
              <a:cxnLst/>
              <a:rect l="l" t="t" r="r" b="b"/>
              <a:pathLst>
                <a:path w="153428" h="48227">
                  <a:moveTo>
                    <a:pt x="0" y="48227"/>
                  </a:moveTo>
                  <a:lnTo>
                    <a:pt x="153427" y="48227"/>
                  </a:lnTo>
                  <a:lnTo>
                    <a:pt x="153427" y="0"/>
                  </a:lnTo>
                  <a:lnTo>
                    <a:pt x="0" y="0"/>
                  </a:lnTo>
                  <a:lnTo>
                    <a:pt x="0" y="48227"/>
                  </a:lnTo>
                  <a:close/>
                </a:path>
              </a:pathLst>
            </a:custGeom>
            <a:blipFill>
              <a:blip>
                <a:extLst>
                  <a:ext uri="{96DAC541-7B7A-43D3-8B79-37D633B846F1}">
                    <asvg:svgBlip xmlns:asvg="http://schemas.microsoft.com/office/drawing/2016/SVG/main" r:embed="rId16"/>
                  </a:ext>
                </a:extLst>
              </a:blip>
              <a:stretch>
                <a:fillRect l="-116778"/>
              </a:stretch>
            </a:blipFill>
          </p:spPr>
          <p:txBody>
            <a:bodyPr/>
            <a:lstStyle/>
            <a:p>
              <a:endParaRPr lang="en-US"/>
            </a:p>
          </p:txBody>
        </p:sp>
        <p:sp>
          <p:nvSpPr>
            <p:cNvPr id="145" name="Freeform 145"/>
            <p:cNvSpPr/>
            <p:nvPr/>
          </p:nvSpPr>
          <p:spPr>
            <a:xfrm rot="-6716943">
              <a:off x="1292864" y="7998955"/>
              <a:ext cx="153428" cy="48227"/>
            </a:xfrm>
            <a:custGeom>
              <a:avLst/>
              <a:gdLst/>
              <a:ahLst/>
              <a:cxnLst/>
              <a:rect l="l" t="t" r="r" b="b"/>
              <a:pathLst>
                <a:path w="153428" h="48227">
                  <a:moveTo>
                    <a:pt x="0" y="0"/>
                  </a:moveTo>
                  <a:lnTo>
                    <a:pt x="153428" y="0"/>
                  </a:lnTo>
                  <a:lnTo>
                    <a:pt x="153428" y="48227"/>
                  </a:lnTo>
                  <a:lnTo>
                    <a:pt x="0" y="48227"/>
                  </a:lnTo>
                  <a:lnTo>
                    <a:pt x="0" y="0"/>
                  </a:lnTo>
                  <a:close/>
                </a:path>
              </a:pathLst>
            </a:custGeom>
            <a:blipFill>
              <a:blip>
                <a:extLst>
                  <a:ext uri="{96DAC541-7B7A-43D3-8B79-37D633B846F1}">
                    <asvg:svgBlip xmlns:asvg="http://schemas.microsoft.com/office/drawing/2016/SVG/main" r:embed="rId16"/>
                  </a:ext>
                </a:extLst>
              </a:blip>
              <a:stretch>
                <a:fillRect l="-116778"/>
              </a:stretch>
            </a:blipFill>
          </p:spPr>
          <p:txBody>
            <a:bodyPr/>
            <a:lstStyle/>
            <a:p>
              <a:endParaRPr lang="en-US"/>
            </a:p>
          </p:txBody>
        </p:sp>
        <p:sp>
          <p:nvSpPr>
            <p:cNvPr id="146" name="Freeform 146"/>
            <p:cNvSpPr/>
            <p:nvPr/>
          </p:nvSpPr>
          <p:spPr>
            <a:xfrm rot="2699999">
              <a:off x="850497" y="7963616"/>
              <a:ext cx="492735" cy="492735"/>
            </a:xfrm>
            <a:custGeom>
              <a:avLst/>
              <a:gdLst/>
              <a:ahLst/>
              <a:cxnLst/>
              <a:rect l="l" t="t" r="r" b="b"/>
              <a:pathLst>
                <a:path w="492735" h="492735">
                  <a:moveTo>
                    <a:pt x="0" y="0"/>
                  </a:moveTo>
                  <a:lnTo>
                    <a:pt x="492735" y="0"/>
                  </a:lnTo>
                  <a:lnTo>
                    <a:pt x="492735" y="492736"/>
                  </a:lnTo>
                  <a:lnTo>
                    <a:pt x="0" y="492736"/>
                  </a:lnTo>
                  <a:lnTo>
                    <a:pt x="0" y="0"/>
                  </a:lnTo>
                  <a:close/>
                </a:path>
              </a:pathLst>
            </a:custGeom>
            <a:blipFill>
              <a:blip>
                <a:extLst>
                  <a:ext uri="{96DAC541-7B7A-43D3-8B79-37D633B846F1}">
                    <asvg:svgBlip xmlns:asvg="http://schemas.microsoft.com/office/drawing/2016/SVG/main" r:embed="rId30"/>
                  </a:ext>
                </a:extLst>
              </a:blip>
              <a:stretch>
                <a:fillRect/>
              </a:stretch>
            </a:blipFill>
          </p:spPr>
          <p:txBody>
            <a:bodyPr/>
            <a:lstStyle/>
            <a:p>
              <a:endParaRPr lang="en-US"/>
            </a:p>
          </p:txBody>
        </p:sp>
        <p:sp>
          <p:nvSpPr>
            <p:cNvPr id="147" name="TextBox 147"/>
            <p:cNvSpPr txBox="1"/>
            <p:nvPr/>
          </p:nvSpPr>
          <p:spPr>
            <a:xfrm>
              <a:off x="985789" y="8359543"/>
              <a:ext cx="216396" cy="47593"/>
            </a:xfrm>
            <a:prstGeom prst="rect">
              <a:avLst/>
            </a:prstGeom>
          </p:spPr>
          <p:txBody>
            <a:bodyPr lIns="0" tIns="0" rIns="0" bIns="0" rtlCol="0" anchor="t">
              <a:spAutoFit/>
            </a:bodyPr>
            <a:lstStyle/>
            <a:p>
              <a:pPr algn="ctr">
                <a:lnSpc>
                  <a:spcPts val="226"/>
                </a:lnSpc>
                <a:spcBef>
                  <a:spcPct val="0"/>
                </a:spcBef>
              </a:pPr>
              <a:r>
                <a:rPr lang="en-US" sz="188" b="1" spc="25">
                  <a:solidFill>
                    <a:srgbClr val="FFFFFF"/>
                  </a:solidFill>
                  <a:latin typeface="Calibri (MS) Bold"/>
                  <a:ea typeface="Calibri (MS) Bold"/>
                  <a:cs typeface="Calibri (MS) Bold"/>
                  <a:sym typeface="Calibri (MS) Bold"/>
                </a:rPr>
                <a:t>October2026</a:t>
              </a:r>
            </a:p>
          </p:txBody>
        </p:sp>
        <p:sp>
          <p:nvSpPr>
            <p:cNvPr id="148" name="Freeform 148"/>
            <p:cNvSpPr/>
            <p:nvPr/>
          </p:nvSpPr>
          <p:spPr>
            <a:xfrm rot="2699999">
              <a:off x="909166" y="8134216"/>
              <a:ext cx="369641" cy="369641"/>
            </a:xfrm>
            <a:custGeom>
              <a:avLst/>
              <a:gdLst/>
              <a:ahLst/>
              <a:cxnLst/>
              <a:rect l="l" t="t" r="r" b="b"/>
              <a:pathLst>
                <a:path w="369641" h="369641">
                  <a:moveTo>
                    <a:pt x="0" y="0"/>
                  </a:moveTo>
                  <a:lnTo>
                    <a:pt x="369641" y="0"/>
                  </a:lnTo>
                  <a:lnTo>
                    <a:pt x="369641" y="369641"/>
                  </a:lnTo>
                  <a:lnTo>
                    <a:pt x="0" y="369641"/>
                  </a:lnTo>
                  <a:lnTo>
                    <a:pt x="0" y="0"/>
                  </a:lnTo>
                  <a:close/>
                </a:path>
              </a:pathLst>
            </a:custGeom>
            <a:blipFill>
              <a:blip>
                <a:extLst>
                  <a:ext uri="{96DAC541-7B7A-43D3-8B79-37D633B846F1}">
                    <asvg:svgBlip xmlns:asvg="http://schemas.microsoft.com/office/drawing/2016/SVG/main" r:embed="rId30"/>
                  </a:ext>
                </a:extLst>
              </a:blip>
              <a:stretch>
                <a:fillRect/>
              </a:stretch>
            </a:blipFill>
          </p:spPr>
          <p:txBody>
            <a:bodyPr/>
            <a:lstStyle/>
            <a:p>
              <a:endParaRPr lang="en-US"/>
            </a:p>
          </p:txBody>
        </p:sp>
        <p:sp>
          <p:nvSpPr>
            <p:cNvPr id="149" name="TextBox 149"/>
            <p:cNvSpPr txBox="1"/>
            <p:nvPr/>
          </p:nvSpPr>
          <p:spPr>
            <a:xfrm>
              <a:off x="920736" y="8230599"/>
              <a:ext cx="352256" cy="70764"/>
            </a:xfrm>
            <a:prstGeom prst="rect">
              <a:avLst/>
            </a:prstGeom>
          </p:spPr>
          <p:txBody>
            <a:bodyPr lIns="0" tIns="0" rIns="0" bIns="0" rtlCol="0" anchor="t">
              <a:spAutoFit/>
            </a:bodyPr>
            <a:lstStyle/>
            <a:p>
              <a:pPr algn="ctr">
                <a:lnSpc>
                  <a:spcPts val="367"/>
                </a:lnSpc>
                <a:spcBef>
                  <a:spcPct val="0"/>
                </a:spcBef>
              </a:pPr>
              <a:r>
                <a:rPr lang="en-US" sz="306" b="1">
                  <a:solidFill>
                    <a:srgbClr val="FFFFFF"/>
                  </a:solidFill>
                  <a:latin typeface="Calibri (MS) Bold"/>
                  <a:ea typeface="Calibri (MS) Bold"/>
                  <a:cs typeface="Calibri (MS) Bold"/>
                  <a:sym typeface="Calibri (MS) Bold"/>
                </a:rPr>
                <a:t> REAL PASSPORT</a:t>
              </a:r>
            </a:p>
          </p:txBody>
        </p:sp>
        <p:sp>
          <p:nvSpPr>
            <p:cNvPr id="150" name="TextBox 150"/>
            <p:cNvSpPr txBox="1"/>
            <p:nvPr/>
          </p:nvSpPr>
          <p:spPr>
            <a:xfrm>
              <a:off x="763512" y="8122854"/>
              <a:ext cx="167087" cy="47593"/>
            </a:xfrm>
            <a:prstGeom prst="rect">
              <a:avLst/>
            </a:prstGeom>
          </p:spPr>
          <p:txBody>
            <a:bodyPr lIns="0" tIns="0" rIns="0" bIns="0" rtlCol="0" anchor="t">
              <a:spAutoFit/>
            </a:bodyPr>
            <a:lstStyle/>
            <a:p>
              <a:pPr algn="ctr">
                <a:lnSpc>
                  <a:spcPts val="226"/>
                </a:lnSpc>
                <a:spcBef>
                  <a:spcPct val="0"/>
                </a:spcBef>
              </a:pPr>
              <a:r>
                <a:rPr lang="en-US" sz="188" b="1">
                  <a:solidFill>
                    <a:srgbClr val="FFDE59"/>
                  </a:solidFill>
                  <a:latin typeface="Calibri (MS) Bold"/>
                  <a:ea typeface="Calibri (MS) Bold"/>
                  <a:cs typeface="Calibri (MS) Bold"/>
                  <a:sym typeface="Calibri (MS) Bold"/>
                </a:rPr>
                <a:t>BeReal.</a:t>
              </a:r>
            </a:p>
          </p:txBody>
        </p:sp>
        <p:sp>
          <p:nvSpPr>
            <p:cNvPr id="151" name="TextBox 151"/>
            <p:cNvSpPr txBox="1"/>
            <p:nvPr/>
          </p:nvSpPr>
          <p:spPr>
            <a:xfrm>
              <a:off x="1253534" y="8122854"/>
              <a:ext cx="167087" cy="47593"/>
            </a:xfrm>
            <a:prstGeom prst="rect">
              <a:avLst/>
            </a:prstGeom>
          </p:spPr>
          <p:txBody>
            <a:bodyPr lIns="0" tIns="0" rIns="0" bIns="0" rtlCol="0" anchor="t">
              <a:spAutoFit/>
            </a:bodyPr>
            <a:lstStyle/>
            <a:p>
              <a:pPr algn="ctr">
                <a:lnSpc>
                  <a:spcPts val="226"/>
                </a:lnSpc>
                <a:spcBef>
                  <a:spcPct val="0"/>
                </a:spcBef>
              </a:pPr>
              <a:r>
                <a:rPr lang="en-US" sz="188" b="1">
                  <a:solidFill>
                    <a:srgbClr val="FFDE59"/>
                  </a:solidFill>
                  <a:latin typeface="Calibri (MS) Bold"/>
                  <a:ea typeface="Calibri (MS) Bold"/>
                  <a:cs typeface="Calibri (MS) Bold"/>
                  <a:sym typeface="Calibri (MS) Bold"/>
                </a:rPr>
                <a:t>Unfiltered</a:t>
              </a:r>
            </a:p>
          </p:txBody>
        </p:sp>
        <p:sp>
          <p:nvSpPr>
            <p:cNvPr id="152" name="Freeform 152"/>
            <p:cNvSpPr/>
            <p:nvPr/>
          </p:nvSpPr>
          <p:spPr>
            <a:xfrm>
              <a:off x="2196535" y="7641058"/>
              <a:ext cx="155873" cy="210640"/>
            </a:xfrm>
            <a:custGeom>
              <a:avLst/>
              <a:gdLst/>
              <a:ahLst/>
              <a:cxnLst/>
              <a:rect l="l" t="t" r="r" b="b"/>
              <a:pathLst>
                <a:path w="155873" h="210640">
                  <a:moveTo>
                    <a:pt x="0" y="0"/>
                  </a:moveTo>
                  <a:lnTo>
                    <a:pt x="155874" y="0"/>
                  </a:lnTo>
                  <a:lnTo>
                    <a:pt x="155874" y="210640"/>
                  </a:lnTo>
                  <a:lnTo>
                    <a:pt x="0" y="210640"/>
                  </a:lnTo>
                  <a:lnTo>
                    <a:pt x="0" y="0"/>
                  </a:lnTo>
                  <a:close/>
                </a:path>
              </a:pathLst>
            </a:custGeom>
            <a:blipFill>
              <a:blip>
                <a:extLst>
                  <a:ext uri="{96DAC541-7B7A-43D3-8B79-37D633B846F1}">
                    <asvg:svgBlip xmlns:asvg="http://schemas.microsoft.com/office/drawing/2016/SVG/main" r:embed="rId31"/>
                  </a:ext>
                </a:extLst>
              </a:blip>
              <a:stretch>
                <a:fillRect/>
              </a:stretch>
            </a:blipFill>
          </p:spPr>
          <p:txBody>
            <a:bodyPr/>
            <a:lstStyle/>
            <a:p>
              <a:endParaRPr lang="en-US"/>
            </a:p>
          </p:txBody>
        </p:sp>
        <p:sp>
          <p:nvSpPr>
            <p:cNvPr id="153" name="Freeform 153"/>
            <p:cNvSpPr/>
            <p:nvPr/>
          </p:nvSpPr>
          <p:spPr>
            <a:xfrm>
              <a:off x="3923155" y="7617093"/>
              <a:ext cx="155873" cy="210640"/>
            </a:xfrm>
            <a:custGeom>
              <a:avLst/>
              <a:gdLst/>
              <a:ahLst/>
              <a:cxnLst/>
              <a:rect l="l" t="t" r="r" b="b"/>
              <a:pathLst>
                <a:path w="155873" h="210640">
                  <a:moveTo>
                    <a:pt x="0" y="0"/>
                  </a:moveTo>
                  <a:lnTo>
                    <a:pt x="155873" y="0"/>
                  </a:lnTo>
                  <a:lnTo>
                    <a:pt x="155873" y="210640"/>
                  </a:lnTo>
                  <a:lnTo>
                    <a:pt x="0" y="210640"/>
                  </a:lnTo>
                  <a:lnTo>
                    <a:pt x="0" y="0"/>
                  </a:lnTo>
                  <a:close/>
                </a:path>
              </a:pathLst>
            </a:custGeom>
            <a:blipFill>
              <a:blip>
                <a:extLst>
                  <a:ext uri="{96DAC541-7B7A-43D3-8B79-37D633B846F1}">
                    <asvg:svgBlip xmlns:asvg="http://schemas.microsoft.com/office/drawing/2016/SVG/main" r:embed="rId31"/>
                  </a:ext>
                </a:extLst>
              </a:blip>
              <a:stretch>
                <a:fillRect/>
              </a:stretch>
            </a:blipFill>
          </p:spPr>
          <p:txBody>
            <a:bodyPr/>
            <a:lstStyle/>
            <a:p>
              <a:endParaRPr lang="en-US"/>
            </a:p>
          </p:txBody>
        </p:sp>
        <p:grpSp>
          <p:nvGrpSpPr>
            <p:cNvPr id="154" name="Group 154"/>
            <p:cNvGrpSpPr/>
            <p:nvPr/>
          </p:nvGrpSpPr>
          <p:grpSpPr>
            <a:xfrm>
              <a:off x="559882" y="8720112"/>
              <a:ext cx="1087841" cy="251116"/>
              <a:chOff x="0" y="0"/>
              <a:chExt cx="1523988" cy="351796"/>
            </a:xfrm>
          </p:grpSpPr>
          <p:sp>
            <p:nvSpPr>
              <p:cNvPr id="155" name="Freeform 155"/>
              <p:cNvSpPr/>
              <p:nvPr/>
            </p:nvSpPr>
            <p:spPr>
              <a:xfrm>
                <a:off x="0" y="0"/>
                <a:ext cx="1523988" cy="351796"/>
              </a:xfrm>
              <a:custGeom>
                <a:avLst/>
                <a:gdLst/>
                <a:ahLst/>
                <a:cxnLst/>
                <a:rect l="l" t="t" r="r" b="b"/>
                <a:pathLst>
                  <a:path w="1523988" h="351796">
                    <a:moveTo>
                      <a:pt x="0" y="0"/>
                    </a:moveTo>
                    <a:lnTo>
                      <a:pt x="1523988" y="0"/>
                    </a:lnTo>
                    <a:lnTo>
                      <a:pt x="1523988" y="351796"/>
                    </a:lnTo>
                    <a:lnTo>
                      <a:pt x="0" y="351796"/>
                    </a:lnTo>
                    <a:close/>
                  </a:path>
                </a:pathLst>
              </a:custGeom>
              <a:blipFill>
                <a:blip r:embed="rId3">
                  <a:alphaModFix amt="0"/>
                </a:blip>
                <a:stretch>
                  <a:fillRect t="-816642" r="-1160009" b="-1210497"/>
                </a:stretch>
              </a:blipFill>
            </p:spPr>
            <p:txBody>
              <a:bodyPr/>
              <a:lstStyle/>
              <a:p>
                <a:endParaRPr lang="en-US"/>
              </a:p>
            </p:txBody>
          </p:sp>
          <p:sp>
            <p:nvSpPr>
              <p:cNvPr id="156" name="TextBox 156"/>
              <p:cNvSpPr txBox="1"/>
              <p:nvPr/>
            </p:nvSpPr>
            <p:spPr>
              <a:xfrm>
                <a:off x="0" y="0"/>
                <a:ext cx="1523988" cy="351796"/>
              </a:xfrm>
              <a:prstGeom prst="rect">
                <a:avLst/>
              </a:prstGeom>
            </p:spPr>
            <p:txBody>
              <a:bodyPr lIns="0" tIns="0" rIns="0" bIns="0" rtlCol="0" anchor="ctr"/>
              <a:lstStyle/>
              <a:p>
                <a:pPr algn="l">
                  <a:lnSpc>
                    <a:spcPts val="533"/>
                  </a:lnSpc>
                </a:pPr>
                <a:r>
                  <a:rPr lang="en-US" sz="500" b="1">
                    <a:solidFill>
                      <a:srgbClr val="FFFFFF"/>
                    </a:solidFill>
                    <a:latin typeface="Arial Bold"/>
                    <a:ea typeface="Arial Bold"/>
                    <a:cs typeface="Arial Bold"/>
                    <a:sym typeface="Arial Bold"/>
                  </a:rPr>
                  <a:t>No Post yet! Be the first..</a:t>
                </a:r>
              </a:p>
            </p:txBody>
          </p:sp>
        </p:grpSp>
        <p:sp>
          <p:nvSpPr>
            <p:cNvPr id="157" name="Freeform 157"/>
            <p:cNvSpPr/>
            <p:nvPr/>
          </p:nvSpPr>
          <p:spPr>
            <a:xfrm>
              <a:off x="2489976" y="7720419"/>
              <a:ext cx="763413" cy="763413"/>
            </a:xfrm>
            <a:custGeom>
              <a:avLst/>
              <a:gdLst/>
              <a:ahLst/>
              <a:cxnLst/>
              <a:rect l="l" t="t" r="r" b="b"/>
              <a:pathLst>
                <a:path w="763413" h="763413">
                  <a:moveTo>
                    <a:pt x="0" y="0"/>
                  </a:moveTo>
                  <a:lnTo>
                    <a:pt x="763413" y="0"/>
                  </a:lnTo>
                  <a:lnTo>
                    <a:pt x="763413" y="763413"/>
                  </a:lnTo>
                  <a:lnTo>
                    <a:pt x="0" y="763413"/>
                  </a:lnTo>
                  <a:lnTo>
                    <a:pt x="0" y="0"/>
                  </a:lnTo>
                  <a:close/>
                </a:path>
              </a:pathLst>
            </a:custGeom>
            <a:blipFill>
              <a:blip>
                <a:extLst>
                  <a:ext uri="{96DAC541-7B7A-43D3-8B79-37D633B846F1}">
                    <asvg:svgBlip xmlns:asvg="http://schemas.microsoft.com/office/drawing/2016/SVG/main" r:embed="rId14"/>
                  </a:ext>
                </a:extLst>
              </a:blip>
              <a:stretch>
                <a:fillRect/>
              </a:stretch>
            </a:blipFill>
          </p:spPr>
          <p:txBody>
            <a:bodyPr/>
            <a:lstStyle/>
            <a:p>
              <a:endParaRPr lang="en-US"/>
            </a:p>
          </p:txBody>
        </p:sp>
        <p:sp>
          <p:nvSpPr>
            <p:cNvPr id="158" name="Freeform 158"/>
            <p:cNvSpPr/>
            <p:nvPr/>
          </p:nvSpPr>
          <p:spPr>
            <a:xfrm>
              <a:off x="2643625" y="7877005"/>
              <a:ext cx="475791" cy="254548"/>
            </a:xfrm>
            <a:custGeom>
              <a:avLst/>
              <a:gdLst/>
              <a:ahLst/>
              <a:cxnLst/>
              <a:rect l="l" t="t" r="r" b="b"/>
              <a:pathLst>
                <a:path w="475791" h="254548">
                  <a:moveTo>
                    <a:pt x="0" y="0"/>
                  </a:moveTo>
                  <a:lnTo>
                    <a:pt x="475792" y="0"/>
                  </a:lnTo>
                  <a:lnTo>
                    <a:pt x="475792" y="254549"/>
                  </a:lnTo>
                  <a:lnTo>
                    <a:pt x="0" y="254549"/>
                  </a:lnTo>
                  <a:lnTo>
                    <a:pt x="0" y="0"/>
                  </a:lnTo>
                  <a:close/>
                </a:path>
              </a:pathLst>
            </a:custGeom>
            <a:blipFill>
              <a:blip>
                <a:extLst>
                  <a:ext uri="{96DAC541-7B7A-43D3-8B79-37D633B846F1}">
                    <asvg:svgBlip xmlns:asvg="http://schemas.microsoft.com/office/drawing/2016/SVG/main" r:embed="rId15"/>
                  </a:ext>
                </a:extLst>
              </a:blip>
              <a:stretch>
                <a:fillRect/>
              </a:stretch>
            </a:blipFill>
          </p:spPr>
          <p:txBody>
            <a:bodyPr/>
            <a:lstStyle/>
            <a:p>
              <a:endParaRPr lang="en-US"/>
            </a:p>
          </p:txBody>
        </p:sp>
        <p:sp>
          <p:nvSpPr>
            <p:cNvPr id="159" name="TextBox 159"/>
            <p:cNvSpPr txBox="1"/>
            <p:nvPr/>
          </p:nvSpPr>
          <p:spPr>
            <a:xfrm>
              <a:off x="2568379" y="7742626"/>
              <a:ext cx="626283" cy="286256"/>
            </a:xfrm>
            <a:prstGeom prst="rect">
              <a:avLst/>
            </a:prstGeom>
          </p:spPr>
          <p:txBody>
            <a:bodyPr lIns="0" tIns="0" rIns="0" bIns="0" rtlCol="0" anchor="t">
              <a:spAutoFit/>
            </a:bodyPr>
            <a:lstStyle/>
            <a:p>
              <a:pPr algn="ctr">
                <a:lnSpc>
                  <a:spcPts val="728"/>
                </a:lnSpc>
                <a:spcBef>
                  <a:spcPct val="0"/>
                </a:spcBef>
              </a:pPr>
              <a:r>
                <a:rPr lang="en-US" sz="607" b="1" spc="82">
                  <a:solidFill>
                    <a:srgbClr val="FFFFFF"/>
                  </a:solidFill>
                  <a:latin typeface="Calibri (MS) Bold"/>
                  <a:ea typeface="Calibri (MS) Bold"/>
                  <a:cs typeface="Calibri (MS) Bold"/>
                  <a:sym typeface="Calibri (MS) Bold"/>
                </a:rPr>
                <a:t>LITTLE WINS</a:t>
              </a:r>
            </a:p>
          </p:txBody>
        </p:sp>
        <p:sp>
          <p:nvSpPr>
            <p:cNvPr id="160" name="Freeform 160"/>
            <p:cNvSpPr/>
            <p:nvPr/>
          </p:nvSpPr>
          <p:spPr>
            <a:xfrm rot="2699999">
              <a:off x="2627626" y="7952562"/>
              <a:ext cx="493880" cy="493880"/>
            </a:xfrm>
            <a:custGeom>
              <a:avLst/>
              <a:gdLst/>
              <a:ahLst/>
              <a:cxnLst/>
              <a:rect l="l" t="t" r="r" b="b"/>
              <a:pathLst>
                <a:path w="493880" h="493880">
                  <a:moveTo>
                    <a:pt x="0" y="0"/>
                  </a:moveTo>
                  <a:lnTo>
                    <a:pt x="493880" y="0"/>
                  </a:lnTo>
                  <a:lnTo>
                    <a:pt x="493880" y="493880"/>
                  </a:lnTo>
                  <a:lnTo>
                    <a:pt x="0" y="493880"/>
                  </a:lnTo>
                  <a:lnTo>
                    <a:pt x="0" y="0"/>
                  </a:lnTo>
                  <a:close/>
                </a:path>
              </a:pathLst>
            </a:custGeom>
            <a:blipFill>
              <a:blip>
                <a:extLst>
                  <a:ext uri="{96DAC541-7B7A-43D3-8B79-37D633B846F1}">
                    <asvg:svgBlip xmlns:asvg="http://schemas.microsoft.com/office/drawing/2016/SVG/main" r:embed="rId17"/>
                  </a:ext>
                </a:extLst>
              </a:blip>
              <a:stretch>
                <a:fillRect/>
              </a:stretch>
            </a:blipFill>
          </p:spPr>
          <p:txBody>
            <a:bodyPr/>
            <a:lstStyle/>
            <a:p>
              <a:endParaRPr lang="en-US"/>
            </a:p>
          </p:txBody>
        </p:sp>
        <p:sp>
          <p:nvSpPr>
            <p:cNvPr id="161" name="TextBox 161"/>
            <p:cNvSpPr txBox="1"/>
            <p:nvPr/>
          </p:nvSpPr>
          <p:spPr>
            <a:xfrm>
              <a:off x="2763233" y="8359052"/>
              <a:ext cx="216899" cy="47681"/>
            </a:xfrm>
            <a:prstGeom prst="rect">
              <a:avLst/>
            </a:prstGeom>
          </p:spPr>
          <p:txBody>
            <a:bodyPr lIns="0" tIns="0" rIns="0" bIns="0" rtlCol="0" anchor="t">
              <a:spAutoFit/>
            </a:bodyPr>
            <a:lstStyle/>
            <a:p>
              <a:pPr algn="ctr">
                <a:lnSpc>
                  <a:spcPts val="227"/>
                </a:lnSpc>
                <a:spcBef>
                  <a:spcPct val="0"/>
                </a:spcBef>
              </a:pPr>
              <a:r>
                <a:rPr lang="en-US" sz="189" b="1" spc="25">
                  <a:solidFill>
                    <a:srgbClr val="FFFFFF"/>
                  </a:solidFill>
                  <a:latin typeface="Calibri (MS) Bold"/>
                  <a:ea typeface="Calibri (MS) Bold"/>
                  <a:cs typeface="Calibri (MS) Bold"/>
                  <a:sym typeface="Calibri (MS) Bold"/>
                </a:rPr>
                <a:t>October2026</a:t>
              </a:r>
            </a:p>
          </p:txBody>
        </p:sp>
        <p:sp>
          <p:nvSpPr>
            <p:cNvPr id="162" name="Freeform 162"/>
            <p:cNvSpPr/>
            <p:nvPr/>
          </p:nvSpPr>
          <p:spPr>
            <a:xfrm rot="2699999">
              <a:off x="2686432" y="8133179"/>
              <a:ext cx="370500" cy="370500"/>
            </a:xfrm>
            <a:custGeom>
              <a:avLst/>
              <a:gdLst/>
              <a:ahLst/>
              <a:cxnLst/>
              <a:rect l="l" t="t" r="r" b="b"/>
              <a:pathLst>
                <a:path w="370500" h="370500">
                  <a:moveTo>
                    <a:pt x="0" y="0"/>
                  </a:moveTo>
                  <a:lnTo>
                    <a:pt x="370500" y="0"/>
                  </a:lnTo>
                  <a:lnTo>
                    <a:pt x="370500" y="370500"/>
                  </a:lnTo>
                  <a:lnTo>
                    <a:pt x="0" y="370500"/>
                  </a:lnTo>
                  <a:lnTo>
                    <a:pt x="0" y="0"/>
                  </a:lnTo>
                  <a:close/>
                </a:path>
              </a:pathLst>
            </a:custGeom>
            <a:blipFill>
              <a:blip>
                <a:extLst>
                  <a:ext uri="{96DAC541-7B7A-43D3-8B79-37D633B846F1}">
                    <asvg:svgBlip xmlns:asvg="http://schemas.microsoft.com/office/drawing/2016/SVG/main" r:embed="rId17"/>
                  </a:ext>
                </a:extLst>
              </a:blip>
              <a:stretch>
                <a:fillRect/>
              </a:stretch>
            </a:blipFill>
          </p:spPr>
          <p:txBody>
            <a:bodyPr/>
            <a:lstStyle/>
            <a:p>
              <a:endParaRPr lang="en-US"/>
            </a:p>
          </p:txBody>
        </p:sp>
        <p:sp>
          <p:nvSpPr>
            <p:cNvPr id="163" name="TextBox 163"/>
            <p:cNvSpPr txBox="1"/>
            <p:nvPr/>
          </p:nvSpPr>
          <p:spPr>
            <a:xfrm>
              <a:off x="2698029" y="8229808"/>
              <a:ext cx="353074" cy="70907"/>
            </a:xfrm>
            <a:prstGeom prst="rect">
              <a:avLst/>
            </a:prstGeom>
          </p:spPr>
          <p:txBody>
            <a:bodyPr lIns="0" tIns="0" rIns="0" bIns="0" rtlCol="0" anchor="t">
              <a:spAutoFit/>
            </a:bodyPr>
            <a:lstStyle/>
            <a:p>
              <a:pPr algn="ctr">
                <a:lnSpc>
                  <a:spcPts val="368"/>
                </a:lnSpc>
                <a:spcBef>
                  <a:spcPct val="0"/>
                </a:spcBef>
              </a:pPr>
              <a:r>
                <a:rPr lang="en-US" sz="306" b="1">
                  <a:solidFill>
                    <a:srgbClr val="FFFFFF"/>
                  </a:solidFill>
                  <a:latin typeface="Calibri (MS) Bold"/>
                  <a:ea typeface="Calibri (MS) Bold"/>
                  <a:cs typeface="Calibri (MS) Bold"/>
                  <a:sym typeface="Calibri (MS) Bold"/>
                </a:rPr>
                <a:t> REAL PASSPORT</a:t>
              </a:r>
            </a:p>
          </p:txBody>
        </p:sp>
        <p:sp>
          <p:nvSpPr>
            <p:cNvPr id="164" name="TextBox 164"/>
            <p:cNvSpPr txBox="1"/>
            <p:nvPr/>
          </p:nvSpPr>
          <p:spPr>
            <a:xfrm>
              <a:off x="2540439" y="8121812"/>
              <a:ext cx="167475" cy="47681"/>
            </a:xfrm>
            <a:prstGeom prst="rect">
              <a:avLst/>
            </a:prstGeom>
          </p:spPr>
          <p:txBody>
            <a:bodyPr lIns="0" tIns="0" rIns="0" bIns="0" rtlCol="0" anchor="t">
              <a:spAutoFit/>
            </a:bodyPr>
            <a:lstStyle/>
            <a:p>
              <a:pPr algn="ctr">
                <a:lnSpc>
                  <a:spcPts val="227"/>
                </a:lnSpc>
                <a:spcBef>
                  <a:spcPct val="0"/>
                </a:spcBef>
              </a:pPr>
              <a:r>
                <a:rPr lang="en-US" sz="189" b="1">
                  <a:solidFill>
                    <a:srgbClr val="FFDE59"/>
                  </a:solidFill>
                  <a:latin typeface="Calibri (MS) Bold"/>
                  <a:ea typeface="Calibri (MS) Bold"/>
                  <a:cs typeface="Calibri (MS) Bold"/>
                  <a:sym typeface="Calibri (MS) Bold"/>
                </a:rPr>
                <a:t>BeReal.</a:t>
              </a:r>
            </a:p>
          </p:txBody>
        </p:sp>
        <p:sp>
          <p:nvSpPr>
            <p:cNvPr id="165" name="TextBox 165"/>
            <p:cNvSpPr txBox="1"/>
            <p:nvPr/>
          </p:nvSpPr>
          <p:spPr>
            <a:xfrm>
              <a:off x="3031600" y="8121812"/>
              <a:ext cx="167475" cy="47681"/>
            </a:xfrm>
            <a:prstGeom prst="rect">
              <a:avLst/>
            </a:prstGeom>
          </p:spPr>
          <p:txBody>
            <a:bodyPr lIns="0" tIns="0" rIns="0" bIns="0" rtlCol="0" anchor="t">
              <a:spAutoFit/>
            </a:bodyPr>
            <a:lstStyle/>
            <a:p>
              <a:pPr algn="ctr">
                <a:lnSpc>
                  <a:spcPts val="227"/>
                </a:lnSpc>
                <a:spcBef>
                  <a:spcPct val="0"/>
                </a:spcBef>
              </a:pPr>
              <a:r>
                <a:rPr lang="en-US" sz="189" b="1">
                  <a:solidFill>
                    <a:srgbClr val="FFDE59"/>
                  </a:solidFill>
                  <a:latin typeface="Calibri (MS) Bold"/>
                  <a:ea typeface="Calibri (MS) Bold"/>
                  <a:cs typeface="Calibri (MS) Bold"/>
                  <a:sym typeface="Calibri (MS) Bold"/>
                </a:rPr>
                <a:t>Unfiltered</a:t>
              </a:r>
            </a:p>
          </p:txBody>
        </p:sp>
        <p:sp>
          <p:nvSpPr>
            <p:cNvPr id="166" name="Freeform 166"/>
            <p:cNvSpPr/>
            <p:nvPr/>
          </p:nvSpPr>
          <p:spPr>
            <a:xfrm>
              <a:off x="2767263" y="7993787"/>
              <a:ext cx="208839" cy="156629"/>
            </a:xfrm>
            <a:custGeom>
              <a:avLst/>
              <a:gdLst/>
              <a:ahLst/>
              <a:cxnLst/>
              <a:rect l="l" t="t" r="r" b="b"/>
              <a:pathLst>
                <a:path w="208839" h="156629">
                  <a:moveTo>
                    <a:pt x="0" y="0"/>
                  </a:moveTo>
                  <a:lnTo>
                    <a:pt x="208839" y="0"/>
                  </a:lnTo>
                  <a:lnTo>
                    <a:pt x="208839" y="156628"/>
                  </a:lnTo>
                  <a:lnTo>
                    <a:pt x="0" y="156628"/>
                  </a:lnTo>
                  <a:lnTo>
                    <a:pt x="0" y="0"/>
                  </a:lnTo>
                  <a:close/>
                </a:path>
              </a:pathLst>
            </a:custGeom>
            <a:blipFill>
              <a:blip>
                <a:extLst>
                  <a:ext uri="{96DAC541-7B7A-43D3-8B79-37D633B846F1}">
                    <asvg:svgBlip xmlns:asvg="http://schemas.microsoft.com/office/drawing/2016/SVG/main" r:embed="rId32"/>
                  </a:ext>
                </a:extLst>
              </a:blip>
              <a:stretch>
                <a:fillRect/>
              </a:stretch>
            </a:blipFill>
          </p:spPr>
          <p:txBody>
            <a:bodyPr/>
            <a:lstStyle/>
            <a:p>
              <a:endParaRPr lang="en-US"/>
            </a:p>
          </p:txBody>
        </p:sp>
        <p:sp>
          <p:nvSpPr>
            <p:cNvPr id="167" name="Freeform 167"/>
            <p:cNvSpPr/>
            <p:nvPr/>
          </p:nvSpPr>
          <p:spPr>
            <a:xfrm rot="-4941124">
              <a:off x="2512780" y="8033571"/>
              <a:ext cx="117650" cy="77061"/>
            </a:xfrm>
            <a:custGeom>
              <a:avLst/>
              <a:gdLst/>
              <a:ahLst/>
              <a:cxnLst/>
              <a:rect l="l" t="t" r="r" b="b"/>
              <a:pathLst>
                <a:path w="117650" h="77061">
                  <a:moveTo>
                    <a:pt x="0" y="0"/>
                  </a:moveTo>
                  <a:lnTo>
                    <a:pt x="117650" y="0"/>
                  </a:lnTo>
                  <a:lnTo>
                    <a:pt x="117650" y="77060"/>
                  </a:lnTo>
                  <a:lnTo>
                    <a:pt x="0" y="77060"/>
                  </a:lnTo>
                  <a:lnTo>
                    <a:pt x="0" y="0"/>
                  </a:lnTo>
                  <a:close/>
                </a:path>
              </a:pathLst>
            </a:custGeom>
            <a:blipFill>
              <a:blip>
                <a:extLst>
                  <a:ext uri="{96DAC541-7B7A-43D3-8B79-37D633B846F1}">
                    <asvg:svgBlip xmlns:asvg="http://schemas.microsoft.com/office/drawing/2016/SVG/main" r:embed="rId33"/>
                  </a:ext>
                </a:extLst>
              </a:blip>
              <a:stretch>
                <a:fillRect/>
              </a:stretch>
            </a:blipFill>
          </p:spPr>
          <p:txBody>
            <a:bodyPr/>
            <a:lstStyle/>
            <a:p>
              <a:endParaRPr lang="en-US"/>
            </a:p>
          </p:txBody>
        </p:sp>
        <p:sp>
          <p:nvSpPr>
            <p:cNvPr id="168" name="Freeform 168"/>
            <p:cNvSpPr/>
            <p:nvPr/>
          </p:nvSpPr>
          <p:spPr>
            <a:xfrm rot="5120367" flipH="1">
              <a:off x="3109766" y="8031902"/>
              <a:ext cx="117650" cy="77061"/>
            </a:xfrm>
            <a:custGeom>
              <a:avLst/>
              <a:gdLst/>
              <a:ahLst/>
              <a:cxnLst/>
              <a:rect l="l" t="t" r="r" b="b"/>
              <a:pathLst>
                <a:path w="117650" h="77061">
                  <a:moveTo>
                    <a:pt x="117650" y="0"/>
                  </a:moveTo>
                  <a:lnTo>
                    <a:pt x="0" y="0"/>
                  </a:lnTo>
                  <a:lnTo>
                    <a:pt x="0" y="77061"/>
                  </a:lnTo>
                  <a:lnTo>
                    <a:pt x="117650" y="77061"/>
                  </a:lnTo>
                  <a:lnTo>
                    <a:pt x="117650" y="0"/>
                  </a:lnTo>
                  <a:close/>
                </a:path>
              </a:pathLst>
            </a:custGeom>
            <a:blipFill>
              <a:blip>
                <a:extLst>
                  <a:ext uri="{96DAC541-7B7A-43D3-8B79-37D633B846F1}">
                    <asvg:svgBlip xmlns:asvg="http://schemas.microsoft.com/office/drawing/2016/SVG/main" r:embed="rId33"/>
                  </a:ext>
                </a:extLst>
              </a:blip>
              <a:stretch>
                <a:fillRect/>
              </a:stretch>
            </a:blipFill>
          </p:spPr>
          <p:txBody>
            <a:bodyPr/>
            <a:lstStyle/>
            <a:p>
              <a:endParaRPr lang="en-US"/>
            </a:p>
          </p:txBody>
        </p:sp>
        <p:sp>
          <p:nvSpPr>
            <p:cNvPr id="169" name="Freeform 169"/>
            <p:cNvSpPr/>
            <p:nvPr/>
          </p:nvSpPr>
          <p:spPr>
            <a:xfrm>
              <a:off x="4184171" y="7766746"/>
              <a:ext cx="682935" cy="682935"/>
            </a:xfrm>
            <a:custGeom>
              <a:avLst/>
              <a:gdLst/>
              <a:ahLst/>
              <a:cxnLst/>
              <a:rect l="l" t="t" r="r" b="b"/>
              <a:pathLst>
                <a:path w="682935" h="682935">
                  <a:moveTo>
                    <a:pt x="0" y="0"/>
                  </a:moveTo>
                  <a:lnTo>
                    <a:pt x="682935" y="0"/>
                  </a:lnTo>
                  <a:lnTo>
                    <a:pt x="682935" y="682935"/>
                  </a:lnTo>
                  <a:lnTo>
                    <a:pt x="0" y="682935"/>
                  </a:lnTo>
                  <a:lnTo>
                    <a:pt x="0" y="0"/>
                  </a:lnTo>
                  <a:close/>
                </a:path>
              </a:pathLst>
            </a:custGeom>
            <a:blipFill>
              <a:blip>
                <a:extLst>
                  <a:ext uri="{96DAC541-7B7A-43D3-8B79-37D633B846F1}">
                    <asvg:svgBlip xmlns:asvg="http://schemas.microsoft.com/office/drawing/2016/SVG/main" r:embed="rId34"/>
                  </a:ext>
                </a:extLst>
              </a:blip>
              <a:stretch>
                <a:fillRect/>
              </a:stretch>
            </a:blipFill>
          </p:spPr>
          <p:txBody>
            <a:bodyPr/>
            <a:lstStyle/>
            <a:p>
              <a:endParaRPr lang="en-US"/>
            </a:p>
          </p:txBody>
        </p:sp>
        <p:sp>
          <p:nvSpPr>
            <p:cNvPr id="170" name="Freeform 170"/>
            <p:cNvSpPr/>
            <p:nvPr/>
          </p:nvSpPr>
          <p:spPr>
            <a:xfrm>
              <a:off x="4321623" y="7906825"/>
              <a:ext cx="425634" cy="227714"/>
            </a:xfrm>
            <a:custGeom>
              <a:avLst/>
              <a:gdLst/>
              <a:ahLst/>
              <a:cxnLst/>
              <a:rect l="l" t="t" r="r" b="b"/>
              <a:pathLst>
                <a:path w="425634" h="227714">
                  <a:moveTo>
                    <a:pt x="0" y="0"/>
                  </a:moveTo>
                  <a:lnTo>
                    <a:pt x="425634" y="0"/>
                  </a:lnTo>
                  <a:lnTo>
                    <a:pt x="425634" y="227714"/>
                  </a:lnTo>
                  <a:lnTo>
                    <a:pt x="0" y="227714"/>
                  </a:lnTo>
                  <a:lnTo>
                    <a:pt x="0" y="0"/>
                  </a:lnTo>
                  <a:close/>
                </a:path>
              </a:pathLst>
            </a:custGeom>
            <a:blipFill>
              <a:blip>
                <a:extLst>
                  <a:ext uri="{96DAC541-7B7A-43D3-8B79-37D633B846F1}">
                    <asvg:svgBlip xmlns:asvg="http://schemas.microsoft.com/office/drawing/2016/SVG/main" r:embed="rId35"/>
                  </a:ext>
                </a:extLst>
              </a:blip>
              <a:stretch>
                <a:fillRect/>
              </a:stretch>
            </a:blipFill>
          </p:spPr>
          <p:txBody>
            <a:bodyPr/>
            <a:lstStyle/>
            <a:p>
              <a:endParaRPr lang="en-US"/>
            </a:p>
          </p:txBody>
        </p:sp>
        <p:sp>
          <p:nvSpPr>
            <p:cNvPr id="171" name="TextBox 171"/>
            <p:cNvSpPr txBox="1"/>
            <p:nvPr/>
          </p:nvSpPr>
          <p:spPr>
            <a:xfrm>
              <a:off x="4264290" y="7794128"/>
              <a:ext cx="540300" cy="235001"/>
            </a:xfrm>
            <a:prstGeom prst="rect">
              <a:avLst/>
            </a:prstGeom>
          </p:spPr>
          <p:txBody>
            <a:bodyPr lIns="0" tIns="0" rIns="0" bIns="0" rtlCol="0" anchor="t">
              <a:spAutoFit/>
            </a:bodyPr>
            <a:lstStyle/>
            <a:p>
              <a:pPr algn="ctr">
                <a:lnSpc>
                  <a:spcPts val="652"/>
                </a:lnSpc>
                <a:spcBef>
                  <a:spcPct val="0"/>
                </a:spcBef>
              </a:pPr>
              <a:r>
                <a:rPr lang="en-US" sz="543" b="1" spc="73">
                  <a:solidFill>
                    <a:srgbClr val="FFFFFF"/>
                  </a:solidFill>
                  <a:latin typeface="Calibri (MS) Bold"/>
                  <a:ea typeface="Calibri (MS) Bold"/>
                  <a:cs typeface="Calibri (MS) Bold"/>
                  <a:sym typeface="Calibri (MS) Bold"/>
                </a:rPr>
                <a:t>GAME TIME</a:t>
              </a:r>
            </a:p>
          </p:txBody>
        </p:sp>
        <p:sp>
          <p:nvSpPr>
            <p:cNvPr id="172" name="Freeform 172"/>
            <p:cNvSpPr/>
            <p:nvPr/>
          </p:nvSpPr>
          <p:spPr>
            <a:xfrm rot="2699999">
              <a:off x="4307311" y="7974416"/>
              <a:ext cx="441816" cy="441816"/>
            </a:xfrm>
            <a:custGeom>
              <a:avLst/>
              <a:gdLst/>
              <a:ahLst/>
              <a:cxnLst/>
              <a:rect l="l" t="t" r="r" b="b"/>
              <a:pathLst>
                <a:path w="441816" h="441816">
                  <a:moveTo>
                    <a:pt x="0" y="0"/>
                  </a:moveTo>
                  <a:lnTo>
                    <a:pt x="441815" y="0"/>
                  </a:lnTo>
                  <a:lnTo>
                    <a:pt x="441815" y="441816"/>
                  </a:lnTo>
                  <a:lnTo>
                    <a:pt x="0" y="441816"/>
                  </a:lnTo>
                  <a:lnTo>
                    <a:pt x="0" y="0"/>
                  </a:lnTo>
                  <a:close/>
                </a:path>
              </a:pathLst>
            </a:custGeom>
            <a:blipFill>
              <a:blip>
                <a:extLst>
                  <a:ext uri="{96DAC541-7B7A-43D3-8B79-37D633B846F1}">
                    <asvg:svgBlip xmlns:asvg="http://schemas.microsoft.com/office/drawing/2016/SVG/main" r:embed="rId36"/>
                  </a:ext>
                </a:extLst>
              </a:blip>
              <a:stretch>
                <a:fillRect/>
              </a:stretch>
            </a:blipFill>
          </p:spPr>
          <p:txBody>
            <a:bodyPr/>
            <a:lstStyle/>
            <a:p>
              <a:endParaRPr lang="en-US"/>
            </a:p>
          </p:txBody>
        </p:sp>
        <p:sp>
          <p:nvSpPr>
            <p:cNvPr id="173" name="TextBox 173"/>
            <p:cNvSpPr txBox="1"/>
            <p:nvPr/>
          </p:nvSpPr>
          <p:spPr>
            <a:xfrm>
              <a:off x="4428622" y="8337051"/>
              <a:ext cx="194034" cy="43659"/>
            </a:xfrm>
            <a:prstGeom prst="rect">
              <a:avLst/>
            </a:prstGeom>
          </p:spPr>
          <p:txBody>
            <a:bodyPr lIns="0" tIns="0" rIns="0" bIns="0" rtlCol="0" anchor="t">
              <a:spAutoFit/>
            </a:bodyPr>
            <a:lstStyle/>
            <a:p>
              <a:pPr algn="ctr">
                <a:lnSpc>
                  <a:spcPts val="203"/>
                </a:lnSpc>
                <a:spcBef>
                  <a:spcPct val="0"/>
                </a:spcBef>
              </a:pPr>
              <a:r>
                <a:rPr lang="en-US" sz="169" b="1" spc="23">
                  <a:solidFill>
                    <a:srgbClr val="FFFFFF"/>
                  </a:solidFill>
                  <a:latin typeface="Calibri (MS) Bold"/>
                  <a:ea typeface="Calibri (MS) Bold"/>
                  <a:cs typeface="Calibri (MS) Bold"/>
                  <a:sym typeface="Calibri (MS) Bold"/>
                </a:rPr>
                <a:t>October2026</a:t>
              </a:r>
            </a:p>
          </p:txBody>
        </p:sp>
        <p:sp>
          <p:nvSpPr>
            <p:cNvPr id="174" name="Freeform 174"/>
            <p:cNvSpPr/>
            <p:nvPr/>
          </p:nvSpPr>
          <p:spPr>
            <a:xfrm rot="2699999">
              <a:off x="4359917" y="8135993"/>
              <a:ext cx="331442" cy="331442"/>
            </a:xfrm>
            <a:custGeom>
              <a:avLst/>
              <a:gdLst/>
              <a:ahLst/>
              <a:cxnLst/>
              <a:rect l="l" t="t" r="r" b="b"/>
              <a:pathLst>
                <a:path w="331442" h="331442">
                  <a:moveTo>
                    <a:pt x="0" y="0"/>
                  </a:moveTo>
                  <a:lnTo>
                    <a:pt x="331443" y="0"/>
                  </a:lnTo>
                  <a:lnTo>
                    <a:pt x="331443" y="331442"/>
                  </a:lnTo>
                  <a:lnTo>
                    <a:pt x="0" y="331442"/>
                  </a:lnTo>
                  <a:lnTo>
                    <a:pt x="0" y="0"/>
                  </a:lnTo>
                  <a:close/>
                </a:path>
              </a:pathLst>
            </a:custGeom>
            <a:blipFill>
              <a:blip>
                <a:extLst>
                  <a:ext uri="{96DAC541-7B7A-43D3-8B79-37D633B846F1}">
                    <asvg:svgBlip xmlns:asvg="http://schemas.microsoft.com/office/drawing/2016/SVG/main" r:embed="rId36"/>
                  </a:ext>
                </a:extLst>
              </a:blip>
              <a:stretch>
                <a:fillRect/>
              </a:stretch>
            </a:blipFill>
          </p:spPr>
          <p:txBody>
            <a:bodyPr/>
            <a:lstStyle/>
            <a:p>
              <a:endParaRPr lang="en-US"/>
            </a:p>
          </p:txBody>
        </p:sp>
        <p:sp>
          <p:nvSpPr>
            <p:cNvPr id="175" name="TextBox 175"/>
            <p:cNvSpPr txBox="1"/>
            <p:nvPr/>
          </p:nvSpPr>
          <p:spPr>
            <a:xfrm>
              <a:off x="4370292" y="8221431"/>
              <a:ext cx="315854" cy="64436"/>
            </a:xfrm>
            <a:prstGeom prst="rect">
              <a:avLst/>
            </a:prstGeom>
          </p:spPr>
          <p:txBody>
            <a:bodyPr lIns="0" tIns="0" rIns="0" bIns="0" rtlCol="0" anchor="t">
              <a:spAutoFit/>
            </a:bodyPr>
            <a:lstStyle/>
            <a:p>
              <a:pPr algn="ctr">
                <a:lnSpc>
                  <a:spcPts val="329"/>
                </a:lnSpc>
                <a:spcBef>
                  <a:spcPct val="0"/>
                </a:spcBef>
              </a:pPr>
              <a:r>
                <a:rPr lang="en-US" sz="274" b="1">
                  <a:solidFill>
                    <a:srgbClr val="FFFFFF"/>
                  </a:solidFill>
                  <a:latin typeface="Calibri (MS) Bold"/>
                  <a:ea typeface="Calibri (MS) Bold"/>
                  <a:cs typeface="Calibri (MS) Bold"/>
                  <a:sym typeface="Calibri (MS) Bold"/>
                </a:rPr>
                <a:t> REAL PASSPORT</a:t>
              </a:r>
            </a:p>
          </p:txBody>
        </p:sp>
        <p:sp>
          <p:nvSpPr>
            <p:cNvPr id="176" name="TextBox 176"/>
            <p:cNvSpPr txBox="1"/>
            <p:nvPr/>
          </p:nvSpPr>
          <p:spPr>
            <a:xfrm>
              <a:off x="4229315" y="8124820"/>
              <a:ext cx="149820" cy="43659"/>
            </a:xfrm>
            <a:prstGeom prst="rect">
              <a:avLst/>
            </a:prstGeom>
          </p:spPr>
          <p:txBody>
            <a:bodyPr lIns="0" tIns="0" rIns="0" bIns="0" rtlCol="0" anchor="t">
              <a:spAutoFit/>
            </a:bodyPr>
            <a:lstStyle/>
            <a:p>
              <a:pPr algn="ctr">
                <a:lnSpc>
                  <a:spcPts val="203"/>
                </a:lnSpc>
                <a:spcBef>
                  <a:spcPct val="0"/>
                </a:spcBef>
              </a:pPr>
              <a:r>
                <a:rPr lang="en-US" sz="169" b="1">
                  <a:solidFill>
                    <a:srgbClr val="FFDE59"/>
                  </a:solidFill>
                  <a:latin typeface="Calibri (MS) Bold"/>
                  <a:ea typeface="Calibri (MS) Bold"/>
                  <a:cs typeface="Calibri (MS) Bold"/>
                  <a:sym typeface="Calibri (MS) Bold"/>
                </a:rPr>
                <a:t>BeReal.</a:t>
              </a:r>
            </a:p>
          </p:txBody>
        </p:sp>
        <p:sp>
          <p:nvSpPr>
            <p:cNvPr id="177" name="TextBox 177"/>
            <p:cNvSpPr txBox="1"/>
            <p:nvPr/>
          </p:nvSpPr>
          <p:spPr>
            <a:xfrm>
              <a:off x="4668698" y="8124820"/>
              <a:ext cx="149820" cy="43659"/>
            </a:xfrm>
            <a:prstGeom prst="rect">
              <a:avLst/>
            </a:prstGeom>
          </p:spPr>
          <p:txBody>
            <a:bodyPr lIns="0" tIns="0" rIns="0" bIns="0" rtlCol="0" anchor="t">
              <a:spAutoFit/>
            </a:bodyPr>
            <a:lstStyle/>
            <a:p>
              <a:pPr algn="ctr">
                <a:lnSpc>
                  <a:spcPts val="203"/>
                </a:lnSpc>
                <a:spcBef>
                  <a:spcPct val="0"/>
                </a:spcBef>
              </a:pPr>
              <a:r>
                <a:rPr lang="en-US" sz="169" b="1">
                  <a:solidFill>
                    <a:srgbClr val="FFDE59"/>
                  </a:solidFill>
                  <a:latin typeface="Calibri (MS) Bold"/>
                  <a:ea typeface="Calibri (MS) Bold"/>
                  <a:cs typeface="Calibri (MS) Bold"/>
                  <a:sym typeface="Calibri (MS) Bold"/>
                </a:rPr>
                <a:t>Unfiltered</a:t>
              </a:r>
            </a:p>
          </p:txBody>
        </p:sp>
        <p:sp>
          <p:nvSpPr>
            <p:cNvPr id="178" name="Freeform 178"/>
            <p:cNvSpPr/>
            <p:nvPr/>
          </p:nvSpPr>
          <p:spPr>
            <a:xfrm rot="-4941124">
              <a:off x="4204571" y="8046885"/>
              <a:ext cx="105247" cy="68937"/>
            </a:xfrm>
            <a:custGeom>
              <a:avLst/>
              <a:gdLst/>
              <a:ahLst/>
              <a:cxnLst/>
              <a:rect l="l" t="t" r="r" b="b"/>
              <a:pathLst>
                <a:path w="105247" h="68937">
                  <a:moveTo>
                    <a:pt x="0" y="0"/>
                  </a:moveTo>
                  <a:lnTo>
                    <a:pt x="105248" y="0"/>
                  </a:lnTo>
                  <a:lnTo>
                    <a:pt x="105248" y="68937"/>
                  </a:lnTo>
                  <a:lnTo>
                    <a:pt x="0" y="68937"/>
                  </a:lnTo>
                  <a:lnTo>
                    <a:pt x="0" y="0"/>
                  </a:lnTo>
                  <a:close/>
                </a:path>
              </a:pathLst>
            </a:custGeom>
            <a:blipFill>
              <a:blip>
                <a:extLst>
                  <a:ext uri="{96DAC541-7B7A-43D3-8B79-37D633B846F1}">
                    <asvg:svgBlip xmlns:asvg="http://schemas.microsoft.com/office/drawing/2016/SVG/main" r:embed="rId33"/>
                  </a:ext>
                </a:extLst>
              </a:blip>
              <a:stretch>
                <a:fillRect/>
              </a:stretch>
            </a:blipFill>
          </p:spPr>
          <p:txBody>
            <a:bodyPr/>
            <a:lstStyle/>
            <a:p>
              <a:endParaRPr lang="en-US"/>
            </a:p>
          </p:txBody>
        </p:sp>
        <p:sp>
          <p:nvSpPr>
            <p:cNvPr id="179" name="Freeform 179"/>
            <p:cNvSpPr/>
            <p:nvPr/>
          </p:nvSpPr>
          <p:spPr>
            <a:xfrm rot="5120367" flipH="1">
              <a:off x="4738624" y="8045393"/>
              <a:ext cx="105247" cy="68937"/>
            </a:xfrm>
            <a:custGeom>
              <a:avLst/>
              <a:gdLst/>
              <a:ahLst/>
              <a:cxnLst/>
              <a:rect l="l" t="t" r="r" b="b"/>
              <a:pathLst>
                <a:path w="105247" h="68937">
                  <a:moveTo>
                    <a:pt x="105247" y="0"/>
                  </a:moveTo>
                  <a:lnTo>
                    <a:pt x="0" y="0"/>
                  </a:lnTo>
                  <a:lnTo>
                    <a:pt x="0" y="68937"/>
                  </a:lnTo>
                  <a:lnTo>
                    <a:pt x="105247" y="68937"/>
                  </a:lnTo>
                  <a:lnTo>
                    <a:pt x="105247" y="0"/>
                  </a:lnTo>
                  <a:close/>
                </a:path>
              </a:pathLst>
            </a:custGeom>
            <a:blipFill>
              <a:blip>
                <a:extLst>
                  <a:ext uri="{96DAC541-7B7A-43D3-8B79-37D633B846F1}">
                    <asvg:svgBlip xmlns:asvg="http://schemas.microsoft.com/office/drawing/2016/SVG/main" r:embed="rId33"/>
                  </a:ext>
                </a:extLst>
              </a:blip>
              <a:stretch>
                <a:fillRect/>
              </a:stretch>
            </a:blipFill>
          </p:spPr>
          <p:txBody>
            <a:bodyPr/>
            <a:lstStyle/>
            <a:p>
              <a:endParaRPr lang="en-US"/>
            </a:p>
          </p:txBody>
        </p:sp>
        <p:sp>
          <p:nvSpPr>
            <p:cNvPr id="180" name="Freeform 180"/>
            <p:cNvSpPr/>
            <p:nvPr/>
          </p:nvSpPr>
          <p:spPr>
            <a:xfrm rot="-971120">
              <a:off x="4376049" y="8030820"/>
              <a:ext cx="68550" cy="64094"/>
            </a:xfrm>
            <a:custGeom>
              <a:avLst/>
              <a:gdLst/>
              <a:ahLst/>
              <a:cxnLst/>
              <a:rect l="l" t="t" r="r" b="b"/>
              <a:pathLst>
                <a:path w="68550" h="64094">
                  <a:moveTo>
                    <a:pt x="0" y="0"/>
                  </a:moveTo>
                  <a:lnTo>
                    <a:pt x="68549" y="0"/>
                  </a:lnTo>
                  <a:lnTo>
                    <a:pt x="68549" y="64094"/>
                  </a:lnTo>
                  <a:lnTo>
                    <a:pt x="0" y="64094"/>
                  </a:lnTo>
                  <a:lnTo>
                    <a:pt x="0" y="0"/>
                  </a:lnTo>
                  <a:close/>
                </a:path>
              </a:pathLst>
            </a:custGeom>
            <a:blipFill>
              <a:blip>
                <a:extLst>
                  <a:ext uri="{96DAC541-7B7A-43D3-8B79-37D633B846F1}">
                    <asvg:svgBlip xmlns:asvg="http://schemas.microsoft.com/office/drawing/2016/SVG/main" r:embed="rId37"/>
                  </a:ext>
                </a:extLst>
              </a:blip>
              <a:stretch>
                <a:fillRect/>
              </a:stretch>
            </a:blipFill>
          </p:spPr>
          <p:txBody>
            <a:bodyPr/>
            <a:lstStyle/>
            <a:p>
              <a:endParaRPr lang="en-US"/>
            </a:p>
          </p:txBody>
        </p:sp>
        <p:sp>
          <p:nvSpPr>
            <p:cNvPr id="181" name="Freeform 181"/>
            <p:cNvSpPr/>
            <p:nvPr/>
          </p:nvSpPr>
          <p:spPr>
            <a:xfrm>
              <a:off x="4628961" y="8039814"/>
              <a:ext cx="69189" cy="68497"/>
            </a:xfrm>
            <a:custGeom>
              <a:avLst/>
              <a:gdLst/>
              <a:ahLst/>
              <a:cxnLst/>
              <a:rect l="l" t="t" r="r" b="b"/>
              <a:pathLst>
                <a:path w="69189" h="68497">
                  <a:moveTo>
                    <a:pt x="0" y="0"/>
                  </a:moveTo>
                  <a:lnTo>
                    <a:pt x="69189" y="0"/>
                  </a:lnTo>
                  <a:lnTo>
                    <a:pt x="69189" y="68497"/>
                  </a:lnTo>
                  <a:lnTo>
                    <a:pt x="0" y="68497"/>
                  </a:lnTo>
                  <a:lnTo>
                    <a:pt x="0" y="0"/>
                  </a:lnTo>
                  <a:close/>
                </a:path>
              </a:pathLst>
            </a:custGeom>
            <a:blipFill>
              <a:blip>
                <a:extLst>
                  <a:ext uri="{96DAC541-7B7A-43D3-8B79-37D633B846F1}">
                    <asvg:svgBlip xmlns:asvg="http://schemas.microsoft.com/office/drawing/2016/SVG/main" r:embed="rId38"/>
                  </a:ext>
                </a:extLst>
              </a:blip>
              <a:stretch>
                <a:fillRect/>
              </a:stretch>
            </a:blipFill>
          </p:spPr>
          <p:txBody>
            <a:bodyPr/>
            <a:lstStyle/>
            <a:p>
              <a:endParaRPr lang="en-US"/>
            </a:p>
          </p:txBody>
        </p:sp>
        <p:sp>
          <p:nvSpPr>
            <p:cNvPr id="182" name="Freeform 182"/>
            <p:cNvSpPr/>
            <p:nvPr/>
          </p:nvSpPr>
          <p:spPr>
            <a:xfrm>
              <a:off x="4491044" y="7951207"/>
              <a:ext cx="69189" cy="71329"/>
            </a:xfrm>
            <a:custGeom>
              <a:avLst/>
              <a:gdLst/>
              <a:ahLst/>
              <a:cxnLst/>
              <a:rect l="l" t="t" r="r" b="b"/>
              <a:pathLst>
                <a:path w="69189" h="71329">
                  <a:moveTo>
                    <a:pt x="0" y="0"/>
                  </a:moveTo>
                  <a:lnTo>
                    <a:pt x="69189" y="0"/>
                  </a:lnTo>
                  <a:lnTo>
                    <a:pt x="69189" y="71329"/>
                  </a:lnTo>
                  <a:lnTo>
                    <a:pt x="0" y="71329"/>
                  </a:lnTo>
                  <a:lnTo>
                    <a:pt x="0" y="0"/>
                  </a:lnTo>
                  <a:close/>
                </a:path>
              </a:pathLst>
            </a:custGeom>
            <a:blipFill>
              <a:blip>
                <a:extLst>
                  <a:ext uri="{96DAC541-7B7A-43D3-8B79-37D633B846F1}">
                    <asvg:svgBlip xmlns:asvg="http://schemas.microsoft.com/office/drawing/2016/SVG/main" r:embed="rId39"/>
                  </a:ext>
                </a:extLst>
              </a:blip>
              <a:stretch>
                <a:fillRect/>
              </a:stretch>
            </a:blipFill>
          </p:spPr>
          <p:txBody>
            <a:bodyPr/>
            <a:lstStyle/>
            <a:p>
              <a:endParaRPr lang="en-US"/>
            </a:p>
          </p:txBody>
        </p:sp>
        <p:sp>
          <p:nvSpPr>
            <p:cNvPr id="183" name="Freeform 183"/>
            <p:cNvSpPr/>
            <p:nvPr/>
          </p:nvSpPr>
          <p:spPr>
            <a:xfrm>
              <a:off x="4471378" y="8062867"/>
              <a:ext cx="138378" cy="103092"/>
            </a:xfrm>
            <a:custGeom>
              <a:avLst/>
              <a:gdLst/>
              <a:ahLst/>
              <a:cxnLst/>
              <a:rect l="l" t="t" r="r" b="b"/>
              <a:pathLst>
                <a:path w="138378" h="103092">
                  <a:moveTo>
                    <a:pt x="0" y="0"/>
                  </a:moveTo>
                  <a:lnTo>
                    <a:pt x="138378" y="0"/>
                  </a:lnTo>
                  <a:lnTo>
                    <a:pt x="138378" y="103092"/>
                  </a:lnTo>
                  <a:lnTo>
                    <a:pt x="0" y="103092"/>
                  </a:lnTo>
                  <a:lnTo>
                    <a:pt x="0" y="0"/>
                  </a:lnTo>
                  <a:close/>
                </a:path>
              </a:pathLst>
            </a:custGeom>
            <a:blipFill>
              <a:blip>
                <a:extLst>
                  <a:ext uri="{96DAC541-7B7A-43D3-8B79-37D633B846F1}">
                    <asvg:svgBlip xmlns:asvg="http://schemas.microsoft.com/office/drawing/2016/SVG/main" r:embed="rId40"/>
                  </a:ext>
                </a:extLst>
              </a:blip>
              <a:stretch>
                <a:fillRect/>
              </a:stretch>
            </a:blipFill>
          </p:spPr>
          <p:txBody>
            <a:bodyPr/>
            <a:lstStyle/>
            <a:p>
              <a:endParaRPr lang="en-US"/>
            </a:p>
          </p:txBody>
        </p:sp>
        <p:grpSp>
          <p:nvGrpSpPr>
            <p:cNvPr id="184" name="Group 184"/>
            <p:cNvGrpSpPr/>
            <p:nvPr/>
          </p:nvGrpSpPr>
          <p:grpSpPr>
            <a:xfrm>
              <a:off x="2245110" y="8683630"/>
              <a:ext cx="1109525" cy="351756"/>
              <a:chOff x="0" y="0"/>
              <a:chExt cx="1509985" cy="478716"/>
            </a:xfrm>
          </p:grpSpPr>
          <p:sp>
            <p:nvSpPr>
              <p:cNvPr id="185" name="Freeform 185"/>
              <p:cNvSpPr/>
              <p:nvPr/>
            </p:nvSpPr>
            <p:spPr>
              <a:xfrm>
                <a:off x="0" y="0"/>
                <a:ext cx="1509985" cy="478716"/>
              </a:xfrm>
              <a:custGeom>
                <a:avLst/>
                <a:gdLst/>
                <a:ahLst/>
                <a:cxnLst/>
                <a:rect l="l" t="t" r="r" b="b"/>
                <a:pathLst>
                  <a:path w="1509985" h="478716">
                    <a:moveTo>
                      <a:pt x="0" y="0"/>
                    </a:moveTo>
                    <a:lnTo>
                      <a:pt x="1509985" y="0"/>
                    </a:lnTo>
                    <a:lnTo>
                      <a:pt x="1509985" y="478716"/>
                    </a:lnTo>
                    <a:lnTo>
                      <a:pt x="0" y="478716"/>
                    </a:lnTo>
                    <a:close/>
                  </a:path>
                </a:pathLst>
              </a:custGeom>
              <a:blipFill>
                <a:blip r:embed="rId3">
                  <a:alphaModFix amt="0"/>
                </a:blip>
                <a:stretch>
                  <a:fillRect t="-600129" r="-1171694" b="-863051"/>
                </a:stretch>
              </a:blipFill>
            </p:spPr>
            <p:txBody>
              <a:bodyPr/>
              <a:lstStyle/>
              <a:p>
                <a:endParaRPr lang="en-US"/>
              </a:p>
            </p:txBody>
          </p:sp>
          <p:sp>
            <p:nvSpPr>
              <p:cNvPr id="186" name="TextBox 186"/>
              <p:cNvSpPr txBox="1"/>
              <p:nvPr/>
            </p:nvSpPr>
            <p:spPr>
              <a:xfrm>
                <a:off x="0" y="0"/>
                <a:ext cx="1509985" cy="478716"/>
              </a:xfrm>
              <a:prstGeom prst="rect">
                <a:avLst/>
              </a:prstGeom>
            </p:spPr>
            <p:txBody>
              <a:bodyPr lIns="0" tIns="0" rIns="0" bIns="0" rtlCol="0" anchor="ctr"/>
              <a:lstStyle/>
              <a:p>
                <a:pPr algn="ctr">
                  <a:lnSpc>
                    <a:spcPts val="533"/>
                  </a:lnSpc>
                </a:pPr>
                <a:r>
                  <a:rPr lang="en-US" sz="500">
                    <a:solidFill>
                      <a:srgbClr val="FFFFFF"/>
                    </a:solidFill>
                    <a:latin typeface="Arial"/>
                    <a:ea typeface="Arial"/>
                    <a:cs typeface="Arial"/>
                    <a:sym typeface="Arial"/>
                  </a:rPr>
                  <a:t>Sponsored Passport unlocks on 10/15/2026</a:t>
                </a:r>
              </a:p>
            </p:txBody>
          </p:sp>
        </p:grpSp>
        <p:grpSp>
          <p:nvGrpSpPr>
            <p:cNvPr id="187" name="Group 187"/>
            <p:cNvGrpSpPr/>
            <p:nvPr/>
          </p:nvGrpSpPr>
          <p:grpSpPr>
            <a:xfrm>
              <a:off x="3984918" y="8703635"/>
              <a:ext cx="1109525" cy="351756"/>
              <a:chOff x="0" y="0"/>
              <a:chExt cx="1509985" cy="478716"/>
            </a:xfrm>
          </p:grpSpPr>
          <p:sp>
            <p:nvSpPr>
              <p:cNvPr id="188" name="Freeform 188"/>
              <p:cNvSpPr/>
              <p:nvPr/>
            </p:nvSpPr>
            <p:spPr>
              <a:xfrm>
                <a:off x="0" y="0"/>
                <a:ext cx="1509985" cy="478716"/>
              </a:xfrm>
              <a:custGeom>
                <a:avLst/>
                <a:gdLst/>
                <a:ahLst/>
                <a:cxnLst/>
                <a:rect l="l" t="t" r="r" b="b"/>
                <a:pathLst>
                  <a:path w="1509985" h="478716">
                    <a:moveTo>
                      <a:pt x="0" y="0"/>
                    </a:moveTo>
                    <a:lnTo>
                      <a:pt x="1509985" y="0"/>
                    </a:lnTo>
                    <a:lnTo>
                      <a:pt x="1509985" y="478716"/>
                    </a:lnTo>
                    <a:lnTo>
                      <a:pt x="0" y="478716"/>
                    </a:lnTo>
                    <a:close/>
                  </a:path>
                </a:pathLst>
              </a:custGeom>
              <a:blipFill>
                <a:blip r:embed="rId3">
                  <a:alphaModFix amt="0"/>
                </a:blip>
                <a:stretch>
                  <a:fillRect t="-600129" r="-1171694" b="-863051"/>
                </a:stretch>
              </a:blipFill>
            </p:spPr>
            <p:txBody>
              <a:bodyPr/>
              <a:lstStyle/>
              <a:p>
                <a:endParaRPr lang="en-US"/>
              </a:p>
            </p:txBody>
          </p:sp>
          <p:sp>
            <p:nvSpPr>
              <p:cNvPr id="189" name="TextBox 189"/>
              <p:cNvSpPr txBox="1"/>
              <p:nvPr/>
            </p:nvSpPr>
            <p:spPr>
              <a:xfrm>
                <a:off x="0" y="0"/>
                <a:ext cx="1509985" cy="478716"/>
              </a:xfrm>
              <a:prstGeom prst="rect">
                <a:avLst/>
              </a:prstGeom>
            </p:spPr>
            <p:txBody>
              <a:bodyPr lIns="0" tIns="0" rIns="0" bIns="0" rtlCol="0" anchor="ctr"/>
              <a:lstStyle/>
              <a:p>
                <a:pPr algn="ctr">
                  <a:lnSpc>
                    <a:spcPts val="533"/>
                  </a:lnSpc>
                </a:pPr>
                <a:r>
                  <a:rPr lang="en-US" sz="500">
                    <a:solidFill>
                      <a:srgbClr val="FFFFFF"/>
                    </a:solidFill>
                    <a:latin typeface="Arial"/>
                    <a:ea typeface="Arial"/>
                    <a:cs typeface="Arial"/>
                    <a:sym typeface="Arial"/>
                  </a:rPr>
                  <a:t>Sponsored Passport unlocks on 10/20/2026</a:t>
                </a:r>
              </a:p>
            </p:txBody>
          </p:sp>
        </p:grpSp>
        <p:sp>
          <p:nvSpPr>
            <p:cNvPr id="190" name="Freeform 190"/>
            <p:cNvSpPr/>
            <p:nvPr/>
          </p:nvSpPr>
          <p:spPr>
            <a:xfrm>
              <a:off x="2188684" y="5516968"/>
              <a:ext cx="155873" cy="210640"/>
            </a:xfrm>
            <a:custGeom>
              <a:avLst/>
              <a:gdLst/>
              <a:ahLst/>
              <a:cxnLst/>
              <a:rect l="l" t="t" r="r" b="b"/>
              <a:pathLst>
                <a:path w="155873" h="210640">
                  <a:moveTo>
                    <a:pt x="0" y="0"/>
                  </a:moveTo>
                  <a:lnTo>
                    <a:pt x="155873" y="0"/>
                  </a:lnTo>
                  <a:lnTo>
                    <a:pt x="155873" y="210639"/>
                  </a:lnTo>
                  <a:lnTo>
                    <a:pt x="0" y="210639"/>
                  </a:lnTo>
                  <a:lnTo>
                    <a:pt x="0" y="0"/>
                  </a:lnTo>
                  <a:close/>
                </a:path>
              </a:pathLst>
            </a:custGeom>
            <a:blipFill>
              <a:blip>
                <a:extLst>
                  <a:ext uri="{96DAC541-7B7A-43D3-8B79-37D633B846F1}">
                    <asvg:svgBlip xmlns:asvg="http://schemas.microsoft.com/office/drawing/2016/SVG/main" r:embed="rId31"/>
                  </a:ext>
                </a:extLst>
              </a:blip>
              <a:stretch>
                <a:fillRect/>
              </a:stretch>
            </a:blipFill>
          </p:spPr>
          <p:txBody>
            <a:bodyPr/>
            <a:lstStyle/>
            <a:p>
              <a:endParaRPr lang="en-US"/>
            </a:p>
          </p:txBody>
        </p:sp>
        <p:sp>
          <p:nvSpPr>
            <p:cNvPr id="191" name="Freeform 191"/>
            <p:cNvSpPr/>
            <p:nvPr/>
          </p:nvSpPr>
          <p:spPr>
            <a:xfrm>
              <a:off x="3897755" y="5558031"/>
              <a:ext cx="155873" cy="210640"/>
            </a:xfrm>
            <a:custGeom>
              <a:avLst/>
              <a:gdLst/>
              <a:ahLst/>
              <a:cxnLst/>
              <a:rect l="l" t="t" r="r" b="b"/>
              <a:pathLst>
                <a:path w="155873" h="210640">
                  <a:moveTo>
                    <a:pt x="0" y="0"/>
                  </a:moveTo>
                  <a:lnTo>
                    <a:pt x="155873" y="0"/>
                  </a:lnTo>
                  <a:lnTo>
                    <a:pt x="155873" y="210639"/>
                  </a:lnTo>
                  <a:lnTo>
                    <a:pt x="0" y="210639"/>
                  </a:lnTo>
                  <a:lnTo>
                    <a:pt x="0" y="0"/>
                  </a:lnTo>
                  <a:close/>
                </a:path>
              </a:pathLst>
            </a:custGeom>
            <a:blipFill>
              <a:blip>
                <a:extLst>
                  <a:ext uri="{96DAC541-7B7A-43D3-8B79-37D633B846F1}">
                    <asvg:svgBlip xmlns:asvg="http://schemas.microsoft.com/office/drawing/2016/SVG/main" r:embed="rId31"/>
                  </a:ext>
                </a:extLst>
              </a:blip>
              <a:stretch>
                <a:fillRect/>
              </a:stretch>
            </a:blipFill>
          </p:spPr>
          <p:txBody>
            <a:bodyPr/>
            <a:lstStyle/>
            <a:p>
              <a:endParaRPr lang="en-US"/>
            </a:p>
          </p:txBody>
        </p:sp>
        <p:sp>
          <p:nvSpPr>
            <p:cNvPr id="192" name="Freeform 192"/>
            <p:cNvSpPr/>
            <p:nvPr/>
          </p:nvSpPr>
          <p:spPr>
            <a:xfrm>
              <a:off x="477549" y="7641058"/>
              <a:ext cx="155873" cy="210640"/>
            </a:xfrm>
            <a:custGeom>
              <a:avLst/>
              <a:gdLst/>
              <a:ahLst/>
              <a:cxnLst/>
              <a:rect l="l" t="t" r="r" b="b"/>
              <a:pathLst>
                <a:path w="155873" h="210640">
                  <a:moveTo>
                    <a:pt x="0" y="0"/>
                  </a:moveTo>
                  <a:lnTo>
                    <a:pt x="155873" y="0"/>
                  </a:lnTo>
                  <a:lnTo>
                    <a:pt x="155873" y="210640"/>
                  </a:lnTo>
                  <a:lnTo>
                    <a:pt x="0" y="210640"/>
                  </a:lnTo>
                  <a:lnTo>
                    <a:pt x="0" y="0"/>
                  </a:lnTo>
                  <a:close/>
                </a:path>
              </a:pathLst>
            </a:custGeom>
            <a:blipFill>
              <a:blip>
                <a:extLst>
                  <a:ext uri="{96DAC541-7B7A-43D3-8B79-37D633B846F1}">
                    <asvg:svgBlip xmlns:asvg="http://schemas.microsoft.com/office/drawing/2016/SVG/main" r:embed="rId31"/>
                  </a:ext>
                </a:extLst>
              </a:blip>
              <a:stretch>
                <a:fillRect/>
              </a:stretch>
            </a:blipFill>
          </p:spPr>
          <p:txBody>
            <a:bodyPr/>
            <a:lstStyle/>
            <a:p>
              <a:endParaRPr lang="en-US"/>
            </a:p>
          </p:txBody>
        </p:sp>
        <p:grpSp>
          <p:nvGrpSpPr>
            <p:cNvPr id="193" name="Group 193"/>
            <p:cNvGrpSpPr/>
            <p:nvPr/>
          </p:nvGrpSpPr>
          <p:grpSpPr>
            <a:xfrm>
              <a:off x="566658" y="6706573"/>
              <a:ext cx="1087841" cy="251116"/>
              <a:chOff x="0" y="0"/>
              <a:chExt cx="1523988" cy="351796"/>
            </a:xfrm>
          </p:grpSpPr>
          <p:sp>
            <p:nvSpPr>
              <p:cNvPr id="194" name="Freeform 194"/>
              <p:cNvSpPr/>
              <p:nvPr/>
            </p:nvSpPr>
            <p:spPr>
              <a:xfrm>
                <a:off x="0" y="0"/>
                <a:ext cx="1523988" cy="351796"/>
              </a:xfrm>
              <a:custGeom>
                <a:avLst/>
                <a:gdLst/>
                <a:ahLst/>
                <a:cxnLst/>
                <a:rect l="l" t="t" r="r" b="b"/>
                <a:pathLst>
                  <a:path w="1523988" h="351796">
                    <a:moveTo>
                      <a:pt x="0" y="0"/>
                    </a:moveTo>
                    <a:lnTo>
                      <a:pt x="1523988" y="0"/>
                    </a:lnTo>
                    <a:lnTo>
                      <a:pt x="1523988" y="351796"/>
                    </a:lnTo>
                    <a:lnTo>
                      <a:pt x="0" y="351796"/>
                    </a:lnTo>
                    <a:close/>
                  </a:path>
                </a:pathLst>
              </a:custGeom>
              <a:blipFill>
                <a:blip r:embed="rId3">
                  <a:alphaModFix amt="0"/>
                </a:blip>
                <a:stretch>
                  <a:fillRect t="-816642" r="-1160009" b="-1210497"/>
                </a:stretch>
              </a:blipFill>
            </p:spPr>
            <p:txBody>
              <a:bodyPr/>
              <a:lstStyle/>
              <a:p>
                <a:endParaRPr lang="en-US"/>
              </a:p>
            </p:txBody>
          </p:sp>
          <p:sp>
            <p:nvSpPr>
              <p:cNvPr id="195" name="TextBox 195"/>
              <p:cNvSpPr txBox="1"/>
              <p:nvPr/>
            </p:nvSpPr>
            <p:spPr>
              <a:xfrm>
                <a:off x="0" y="0"/>
                <a:ext cx="1523988" cy="351796"/>
              </a:xfrm>
              <a:prstGeom prst="rect">
                <a:avLst/>
              </a:prstGeom>
            </p:spPr>
            <p:txBody>
              <a:bodyPr lIns="0" tIns="0" rIns="0" bIns="0" rtlCol="0" anchor="ctr"/>
              <a:lstStyle/>
              <a:p>
                <a:pPr algn="l">
                  <a:lnSpc>
                    <a:spcPts val="533"/>
                  </a:lnSpc>
                </a:pPr>
                <a:r>
                  <a:rPr lang="en-US" sz="500" b="1">
                    <a:solidFill>
                      <a:srgbClr val="FFFFFF"/>
                    </a:solidFill>
                    <a:latin typeface="Arial Bold"/>
                    <a:ea typeface="Arial Bold"/>
                    <a:cs typeface="Arial Bold"/>
                    <a:sym typeface="Arial Bold"/>
                  </a:rPr>
                  <a:t>No Post yet! Be the first..</a:t>
                </a:r>
              </a:p>
            </p:txBody>
          </p:sp>
        </p:grpSp>
        <p:grpSp>
          <p:nvGrpSpPr>
            <p:cNvPr id="196" name="Group 196"/>
            <p:cNvGrpSpPr/>
            <p:nvPr/>
          </p:nvGrpSpPr>
          <p:grpSpPr>
            <a:xfrm>
              <a:off x="2288880" y="6691851"/>
              <a:ext cx="1087841" cy="251116"/>
              <a:chOff x="0" y="0"/>
              <a:chExt cx="1523988" cy="351796"/>
            </a:xfrm>
          </p:grpSpPr>
          <p:sp>
            <p:nvSpPr>
              <p:cNvPr id="197" name="Freeform 197"/>
              <p:cNvSpPr/>
              <p:nvPr/>
            </p:nvSpPr>
            <p:spPr>
              <a:xfrm>
                <a:off x="0" y="0"/>
                <a:ext cx="1523988" cy="351796"/>
              </a:xfrm>
              <a:custGeom>
                <a:avLst/>
                <a:gdLst/>
                <a:ahLst/>
                <a:cxnLst/>
                <a:rect l="l" t="t" r="r" b="b"/>
                <a:pathLst>
                  <a:path w="1523988" h="351796">
                    <a:moveTo>
                      <a:pt x="0" y="0"/>
                    </a:moveTo>
                    <a:lnTo>
                      <a:pt x="1523988" y="0"/>
                    </a:lnTo>
                    <a:lnTo>
                      <a:pt x="1523988" y="351796"/>
                    </a:lnTo>
                    <a:lnTo>
                      <a:pt x="0" y="351796"/>
                    </a:lnTo>
                    <a:close/>
                  </a:path>
                </a:pathLst>
              </a:custGeom>
              <a:blipFill>
                <a:blip r:embed="rId3">
                  <a:alphaModFix amt="0"/>
                </a:blip>
                <a:stretch>
                  <a:fillRect t="-816642" r="-1160009" b="-1210497"/>
                </a:stretch>
              </a:blipFill>
            </p:spPr>
            <p:txBody>
              <a:bodyPr/>
              <a:lstStyle/>
              <a:p>
                <a:endParaRPr lang="en-US"/>
              </a:p>
            </p:txBody>
          </p:sp>
          <p:sp>
            <p:nvSpPr>
              <p:cNvPr id="198" name="TextBox 198"/>
              <p:cNvSpPr txBox="1"/>
              <p:nvPr/>
            </p:nvSpPr>
            <p:spPr>
              <a:xfrm>
                <a:off x="0" y="0"/>
                <a:ext cx="1523988" cy="351796"/>
              </a:xfrm>
              <a:prstGeom prst="rect">
                <a:avLst/>
              </a:prstGeom>
            </p:spPr>
            <p:txBody>
              <a:bodyPr lIns="0" tIns="0" rIns="0" bIns="0" rtlCol="0" anchor="ctr"/>
              <a:lstStyle/>
              <a:p>
                <a:pPr algn="l">
                  <a:lnSpc>
                    <a:spcPts val="533"/>
                  </a:lnSpc>
                </a:pPr>
                <a:r>
                  <a:rPr lang="en-US" sz="500" b="1">
                    <a:solidFill>
                      <a:srgbClr val="FFFFFF"/>
                    </a:solidFill>
                    <a:latin typeface="Arial Bold"/>
                    <a:ea typeface="Arial Bold"/>
                    <a:cs typeface="Arial Bold"/>
                    <a:sym typeface="Arial Bold"/>
                  </a:rPr>
                  <a:t>No Post yet! Be the first..</a:t>
                </a:r>
              </a:p>
            </p:txBody>
          </p:sp>
        </p:grpSp>
        <p:grpSp>
          <p:nvGrpSpPr>
            <p:cNvPr id="199" name="Group 199"/>
            <p:cNvGrpSpPr/>
            <p:nvPr/>
          </p:nvGrpSpPr>
          <p:grpSpPr>
            <a:xfrm>
              <a:off x="3984918" y="6653751"/>
              <a:ext cx="1087841" cy="251116"/>
              <a:chOff x="0" y="0"/>
              <a:chExt cx="1523988" cy="351796"/>
            </a:xfrm>
          </p:grpSpPr>
          <p:sp>
            <p:nvSpPr>
              <p:cNvPr id="200" name="Freeform 200"/>
              <p:cNvSpPr/>
              <p:nvPr/>
            </p:nvSpPr>
            <p:spPr>
              <a:xfrm>
                <a:off x="0" y="0"/>
                <a:ext cx="1523988" cy="351796"/>
              </a:xfrm>
              <a:custGeom>
                <a:avLst/>
                <a:gdLst/>
                <a:ahLst/>
                <a:cxnLst/>
                <a:rect l="l" t="t" r="r" b="b"/>
                <a:pathLst>
                  <a:path w="1523988" h="351796">
                    <a:moveTo>
                      <a:pt x="0" y="0"/>
                    </a:moveTo>
                    <a:lnTo>
                      <a:pt x="1523988" y="0"/>
                    </a:lnTo>
                    <a:lnTo>
                      <a:pt x="1523988" y="351796"/>
                    </a:lnTo>
                    <a:lnTo>
                      <a:pt x="0" y="351796"/>
                    </a:lnTo>
                    <a:close/>
                  </a:path>
                </a:pathLst>
              </a:custGeom>
              <a:blipFill>
                <a:blip r:embed="rId3">
                  <a:alphaModFix amt="0"/>
                </a:blip>
                <a:stretch>
                  <a:fillRect t="-816642" r="-1160009" b="-1210497"/>
                </a:stretch>
              </a:blipFill>
            </p:spPr>
            <p:txBody>
              <a:bodyPr/>
              <a:lstStyle/>
              <a:p>
                <a:endParaRPr lang="en-US"/>
              </a:p>
            </p:txBody>
          </p:sp>
          <p:sp>
            <p:nvSpPr>
              <p:cNvPr id="201" name="TextBox 201"/>
              <p:cNvSpPr txBox="1"/>
              <p:nvPr/>
            </p:nvSpPr>
            <p:spPr>
              <a:xfrm>
                <a:off x="0" y="0"/>
                <a:ext cx="1523988" cy="351796"/>
              </a:xfrm>
              <a:prstGeom prst="rect">
                <a:avLst/>
              </a:prstGeom>
            </p:spPr>
            <p:txBody>
              <a:bodyPr lIns="0" tIns="0" rIns="0" bIns="0" rtlCol="0" anchor="ctr"/>
              <a:lstStyle/>
              <a:p>
                <a:pPr algn="l">
                  <a:lnSpc>
                    <a:spcPts val="533"/>
                  </a:lnSpc>
                </a:pPr>
                <a:r>
                  <a:rPr lang="en-US" sz="500" b="1">
                    <a:solidFill>
                      <a:srgbClr val="FFFFFF"/>
                    </a:solidFill>
                    <a:latin typeface="Arial Bold"/>
                    <a:ea typeface="Arial Bold"/>
                    <a:cs typeface="Arial Bold"/>
                    <a:sym typeface="Arial Bold"/>
                  </a:rPr>
                  <a:t>No Post yet! Be the first..</a:t>
                </a:r>
              </a:p>
            </p:txBody>
          </p:sp>
        </p:grpSp>
        <p:sp>
          <p:nvSpPr>
            <p:cNvPr id="202" name="Freeform 202"/>
            <p:cNvSpPr/>
            <p:nvPr/>
          </p:nvSpPr>
          <p:spPr>
            <a:xfrm>
              <a:off x="488722" y="5555291"/>
              <a:ext cx="155873" cy="186675"/>
            </a:xfrm>
            <a:custGeom>
              <a:avLst/>
              <a:gdLst/>
              <a:ahLst/>
              <a:cxnLst/>
              <a:rect l="l" t="t" r="r" b="b"/>
              <a:pathLst>
                <a:path w="155873" h="186675">
                  <a:moveTo>
                    <a:pt x="0" y="0"/>
                  </a:moveTo>
                  <a:lnTo>
                    <a:pt x="155873" y="0"/>
                  </a:lnTo>
                  <a:lnTo>
                    <a:pt x="155873" y="186675"/>
                  </a:lnTo>
                  <a:lnTo>
                    <a:pt x="0" y="186675"/>
                  </a:lnTo>
                  <a:lnTo>
                    <a:pt x="0" y="0"/>
                  </a:lnTo>
                  <a:close/>
                </a:path>
              </a:pathLst>
            </a:custGeom>
            <a:blipFill>
              <a:blip>
                <a:extLst>
                  <a:ext uri="{96DAC541-7B7A-43D3-8B79-37D633B846F1}">
                    <asvg:svgBlip xmlns:asvg="http://schemas.microsoft.com/office/drawing/2016/SVG/main" r:embed="rId41"/>
                  </a:ext>
                </a:extLst>
              </a:blip>
              <a:stretch>
                <a:fillRect/>
              </a:stretch>
            </a:blipFill>
          </p:spPr>
          <p:txBody>
            <a:bodyPr/>
            <a:lstStyle/>
            <a:p>
              <a:endParaRPr lang="en-US"/>
            </a:p>
          </p:txBody>
        </p:sp>
        <p:grpSp>
          <p:nvGrpSpPr>
            <p:cNvPr id="203" name="Group 203"/>
            <p:cNvGrpSpPr/>
            <p:nvPr/>
          </p:nvGrpSpPr>
          <p:grpSpPr>
            <a:xfrm>
              <a:off x="202005" y="1850275"/>
              <a:ext cx="5172426" cy="8761546"/>
              <a:chOff x="0" y="0"/>
              <a:chExt cx="601008" cy="1018045"/>
            </a:xfrm>
          </p:grpSpPr>
          <p:sp>
            <p:nvSpPr>
              <p:cNvPr id="204" name="Freeform 204"/>
              <p:cNvSpPr/>
              <p:nvPr/>
            </p:nvSpPr>
            <p:spPr>
              <a:xfrm>
                <a:off x="0" y="0"/>
                <a:ext cx="601008" cy="1018045"/>
              </a:xfrm>
              <a:custGeom>
                <a:avLst/>
                <a:gdLst/>
                <a:ahLst/>
                <a:cxnLst/>
                <a:rect l="l" t="t" r="r" b="b"/>
                <a:pathLst>
                  <a:path w="601008" h="1018045">
                    <a:moveTo>
                      <a:pt x="45901" y="0"/>
                    </a:moveTo>
                    <a:lnTo>
                      <a:pt x="555107" y="0"/>
                    </a:lnTo>
                    <a:cubicBezTo>
                      <a:pt x="580458" y="0"/>
                      <a:pt x="601008" y="20551"/>
                      <a:pt x="601008" y="45901"/>
                    </a:cubicBezTo>
                    <a:lnTo>
                      <a:pt x="601008" y="972144"/>
                    </a:lnTo>
                    <a:cubicBezTo>
                      <a:pt x="601008" y="997494"/>
                      <a:pt x="580458" y="1018045"/>
                      <a:pt x="555107" y="1018045"/>
                    </a:cubicBezTo>
                    <a:lnTo>
                      <a:pt x="45901" y="1018045"/>
                    </a:lnTo>
                    <a:cubicBezTo>
                      <a:pt x="20551" y="1018045"/>
                      <a:pt x="0" y="997494"/>
                      <a:pt x="0" y="972144"/>
                    </a:cubicBezTo>
                    <a:lnTo>
                      <a:pt x="0" y="45901"/>
                    </a:lnTo>
                    <a:cubicBezTo>
                      <a:pt x="0" y="20551"/>
                      <a:pt x="20551" y="0"/>
                      <a:pt x="45901" y="0"/>
                    </a:cubicBezTo>
                    <a:close/>
                  </a:path>
                </a:pathLst>
              </a:custGeom>
              <a:blipFill>
                <a:blip r:embed="rId42"/>
                <a:stretch>
                  <a:fillRect t="-16059" r="-6508" b="-8451"/>
                </a:stretch>
              </a:blipFill>
            </p:spPr>
            <p:txBody>
              <a:bodyPr/>
              <a:lstStyle/>
              <a:p>
                <a:endParaRPr lang="en-US"/>
              </a:p>
            </p:txBody>
          </p:sp>
        </p:grpSp>
        <p:grpSp>
          <p:nvGrpSpPr>
            <p:cNvPr id="205" name="Group 205"/>
            <p:cNvGrpSpPr/>
            <p:nvPr/>
          </p:nvGrpSpPr>
          <p:grpSpPr>
            <a:xfrm>
              <a:off x="618190" y="5188308"/>
              <a:ext cx="4060374" cy="1927520"/>
              <a:chOff x="0" y="0"/>
              <a:chExt cx="802049" cy="380745"/>
            </a:xfrm>
          </p:grpSpPr>
          <p:sp>
            <p:nvSpPr>
              <p:cNvPr id="206" name="Freeform 206"/>
              <p:cNvSpPr/>
              <p:nvPr/>
            </p:nvSpPr>
            <p:spPr>
              <a:xfrm>
                <a:off x="0" y="0"/>
                <a:ext cx="802049" cy="380745"/>
              </a:xfrm>
              <a:custGeom>
                <a:avLst/>
                <a:gdLst/>
                <a:ahLst/>
                <a:cxnLst/>
                <a:rect l="l" t="t" r="r" b="b"/>
                <a:pathLst>
                  <a:path w="802049" h="380745">
                    <a:moveTo>
                      <a:pt x="63557" y="0"/>
                    </a:moveTo>
                    <a:lnTo>
                      <a:pt x="738492" y="0"/>
                    </a:lnTo>
                    <a:cubicBezTo>
                      <a:pt x="755349" y="0"/>
                      <a:pt x="771515" y="6696"/>
                      <a:pt x="783434" y="18615"/>
                    </a:cubicBezTo>
                    <a:cubicBezTo>
                      <a:pt x="795353" y="30535"/>
                      <a:pt x="802049" y="46700"/>
                      <a:pt x="802049" y="63557"/>
                    </a:cubicBezTo>
                    <a:lnTo>
                      <a:pt x="802049" y="317188"/>
                    </a:lnTo>
                    <a:cubicBezTo>
                      <a:pt x="802049" y="334044"/>
                      <a:pt x="795353" y="350210"/>
                      <a:pt x="783434" y="362129"/>
                    </a:cubicBezTo>
                    <a:cubicBezTo>
                      <a:pt x="771515" y="374048"/>
                      <a:pt x="755349" y="380745"/>
                      <a:pt x="738492" y="380745"/>
                    </a:cubicBezTo>
                    <a:lnTo>
                      <a:pt x="63557" y="380745"/>
                    </a:lnTo>
                    <a:cubicBezTo>
                      <a:pt x="46700" y="380745"/>
                      <a:pt x="30535" y="374048"/>
                      <a:pt x="18615" y="362129"/>
                    </a:cubicBezTo>
                    <a:cubicBezTo>
                      <a:pt x="6696" y="350210"/>
                      <a:pt x="0" y="334044"/>
                      <a:pt x="0" y="317188"/>
                    </a:cubicBezTo>
                    <a:lnTo>
                      <a:pt x="0" y="63557"/>
                    </a:lnTo>
                    <a:cubicBezTo>
                      <a:pt x="0" y="46700"/>
                      <a:pt x="6696" y="30535"/>
                      <a:pt x="18615" y="18615"/>
                    </a:cubicBezTo>
                    <a:cubicBezTo>
                      <a:pt x="30535" y="6696"/>
                      <a:pt x="46700" y="0"/>
                      <a:pt x="63557" y="0"/>
                    </a:cubicBezTo>
                    <a:close/>
                  </a:path>
                </a:pathLst>
              </a:custGeom>
              <a:solidFill>
                <a:srgbClr val="484747"/>
              </a:solidFill>
            </p:spPr>
            <p:txBody>
              <a:bodyPr/>
              <a:lstStyle/>
              <a:p>
                <a:endParaRPr lang="en-US"/>
              </a:p>
            </p:txBody>
          </p:sp>
          <p:sp>
            <p:nvSpPr>
              <p:cNvPr id="207" name="TextBox 207"/>
              <p:cNvSpPr txBox="1"/>
              <p:nvPr/>
            </p:nvSpPr>
            <p:spPr>
              <a:xfrm>
                <a:off x="0" y="-47625"/>
                <a:ext cx="802049" cy="428370"/>
              </a:xfrm>
              <a:prstGeom prst="rect">
                <a:avLst/>
              </a:prstGeom>
            </p:spPr>
            <p:txBody>
              <a:bodyPr lIns="50800" tIns="50800" rIns="50800" bIns="50800" rtlCol="0" anchor="ctr"/>
              <a:lstStyle/>
              <a:p>
                <a:pPr algn="ctr">
                  <a:lnSpc>
                    <a:spcPts val="2340"/>
                  </a:lnSpc>
                </a:pPr>
                <a:endParaRPr/>
              </a:p>
              <a:p>
                <a:pPr algn="ctr">
                  <a:lnSpc>
                    <a:spcPts val="2340"/>
                  </a:lnSpc>
                </a:pPr>
                <a:r>
                  <a:rPr lang="en-US" sz="1950" b="1">
                    <a:solidFill>
                      <a:srgbClr val="FFFFFF"/>
                    </a:solidFill>
                    <a:latin typeface="Calibri (MS) Bold"/>
                    <a:ea typeface="Calibri (MS) Bold"/>
                    <a:cs typeface="Calibri (MS) Bold"/>
                    <a:sym typeface="Calibri (MS) Bold"/>
                  </a:rPr>
                  <a:t>Stamping your passport..</a:t>
                </a:r>
              </a:p>
            </p:txBody>
          </p:sp>
        </p:grpSp>
        <p:sp>
          <p:nvSpPr>
            <p:cNvPr id="208" name="Freeform 208"/>
            <p:cNvSpPr/>
            <p:nvPr/>
          </p:nvSpPr>
          <p:spPr>
            <a:xfrm>
              <a:off x="2401211" y="5480963"/>
              <a:ext cx="494332" cy="494332"/>
            </a:xfrm>
            <a:custGeom>
              <a:avLst/>
              <a:gdLst/>
              <a:ahLst/>
              <a:cxnLst/>
              <a:rect l="l" t="t" r="r" b="b"/>
              <a:pathLst>
                <a:path w="494332" h="494332">
                  <a:moveTo>
                    <a:pt x="0" y="0"/>
                  </a:moveTo>
                  <a:lnTo>
                    <a:pt x="494332" y="0"/>
                  </a:lnTo>
                  <a:lnTo>
                    <a:pt x="494332" y="494331"/>
                  </a:lnTo>
                  <a:lnTo>
                    <a:pt x="0" y="494331"/>
                  </a:lnTo>
                  <a:lnTo>
                    <a:pt x="0" y="0"/>
                  </a:lnTo>
                  <a:close/>
                </a:path>
              </a:pathLst>
            </a:custGeom>
            <a:blipFill>
              <a:blip>
                <a:extLst>
                  <a:ext uri="{96DAC541-7B7A-43D3-8B79-37D633B846F1}">
                    <asvg:svgBlip xmlns:asvg="http://schemas.microsoft.com/office/drawing/2016/SVG/main" r:embed="rId43"/>
                  </a:ext>
                </a:extLst>
              </a:blip>
              <a:stretch>
                <a:fillRect/>
              </a:stretch>
            </a:blipFill>
          </p:spPr>
          <p:txBody>
            <a:bodyPr/>
            <a:lstStyle/>
            <a:p>
              <a:endParaRPr lang="en-US"/>
            </a:p>
          </p:txBody>
        </p:sp>
      </p:grpSp>
      <p:grpSp>
        <p:nvGrpSpPr>
          <p:cNvPr id="209" name="Group 209"/>
          <p:cNvGrpSpPr>
            <a:grpSpLocks noChangeAspect="1"/>
          </p:cNvGrpSpPr>
          <p:nvPr/>
        </p:nvGrpSpPr>
        <p:grpSpPr>
          <a:xfrm>
            <a:off x="13455523" y="883035"/>
            <a:ext cx="4182327" cy="8275452"/>
            <a:chOff x="0" y="0"/>
            <a:chExt cx="2620010" cy="5184140"/>
          </a:xfrm>
        </p:grpSpPr>
        <p:sp>
          <p:nvSpPr>
            <p:cNvPr id="210" name="Freeform 210"/>
            <p:cNvSpPr/>
            <p:nvPr/>
          </p:nvSpPr>
          <p:spPr>
            <a:xfrm>
              <a:off x="53340" y="25400"/>
              <a:ext cx="2513330" cy="5132070"/>
            </a:xfrm>
            <a:custGeom>
              <a:avLst/>
              <a:gdLst/>
              <a:ahLst/>
              <a:cxnLst/>
              <a:rect l="l" t="t" r="r" b="b"/>
              <a:pathLst>
                <a:path w="2513330" h="5132070">
                  <a:moveTo>
                    <a:pt x="2159000" y="0"/>
                  </a:moveTo>
                  <a:lnTo>
                    <a:pt x="354330" y="0"/>
                  </a:lnTo>
                  <a:cubicBezTo>
                    <a:pt x="158750" y="0"/>
                    <a:pt x="0" y="158750"/>
                    <a:pt x="0" y="354330"/>
                  </a:cubicBezTo>
                  <a:lnTo>
                    <a:pt x="0" y="4777740"/>
                  </a:lnTo>
                  <a:cubicBezTo>
                    <a:pt x="0" y="4973320"/>
                    <a:pt x="158750" y="5132070"/>
                    <a:pt x="354330" y="5132070"/>
                  </a:cubicBezTo>
                  <a:lnTo>
                    <a:pt x="2159000" y="5132070"/>
                  </a:lnTo>
                  <a:cubicBezTo>
                    <a:pt x="2354580" y="5132070"/>
                    <a:pt x="2513330" y="4973320"/>
                    <a:pt x="2513330" y="4777740"/>
                  </a:cubicBezTo>
                  <a:lnTo>
                    <a:pt x="2513330" y="354330"/>
                  </a:lnTo>
                  <a:cubicBezTo>
                    <a:pt x="2513330" y="158750"/>
                    <a:pt x="2354580" y="0"/>
                    <a:pt x="2159000" y="0"/>
                  </a:cubicBezTo>
                  <a:close/>
                  <a:moveTo>
                    <a:pt x="1558290" y="162560"/>
                  </a:moveTo>
                  <a:cubicBezTo>
                    <a:pt x="1576070" y="162560"/>
                    <a:pt x="1590040" y="176530"/>
                    <a:pt x="1590040" y="194310"/>
                  </a:cubicBezTo>
                  <a:cubicBezTo>
                    <a:pt x="1590040" y="212090"/>
                    <a:pt x="1576070" y="226060"/>
                    <a:pt x="1558290" y="226060"/>
                  </a:cubicBezTo>
                  <a:cubicBezTo>
                    <a:pt x="1540510" y="226060"/>
                    <a:pt x="1526540" y="212090"/>
                    <a:pt x="1526540" y="194310"/>
                  </a:cubicBezTo>
                  <a:cubicBezTo>
                    <a:pt x="1526540" y="176530"/>
                    <a:pt x="1541780" y="162560"/>
                    <a:pt x="1558290" y="162560"/>
                  </a:cubicBezTo>
                  <a:close/>
                  <a:moveTo>
                    <a:pt x="1089660" y="172720"/>
                  </a:moveTo>
                  <a:lnTo>
                    <a:pt x="1394460" y="172720"/>
                  </a:lnTo>
                  <a:cubicBezTo>
                    <a:pt x="1405890" y="172720"/>
                    <a:pt x="1416050" y="181610"/>
                    <a:pt x="1416050" y="194310"/>
                  </a:cubicBezTo>
                  <a:cubicBezTo>
                    <a:pt x="1416050" y="207010"/>
                    <a:pt x="1405890" y="215900"/>
                    <a:pt x="1394460" y="215900"/>
                  </a:cubicBezTo>
                  <a:lnTo>
                    <a:pt x="1089660" y="215900"/>
                  </a:lnTo>
                  <a:cubicBezTo>
                    <a:pt x="1078230" y="215900"/>
                    <a:pt x="1068070" y="207010"/>
                    <a:pt x="1068070" y="194310"/>
                  </a:cubicBezTo>
                  <a:cubicBezTo>
                    <a:pt x="1068070" y="181610"/>
                    <a:pt x="1078230" y="172720"/>
                    <a:pt x="1089660" y="172720"/>
                  </a:cubicBezTo>
                  <a:close/>
                  <a:moveTo>
                    <a:pt x="2383790" y="4798060"/>
                  </a:moveTo>
                  <a:cubicBezTo>
                    <a:pt x="2383790" y="4913630"/>
                    <a:pt x="2289810" y="5007610"/>
                    <a:pt x="2174240" y="5007610"/>
                  </a:cubicBezTo>
                  <a:lnTo>
                    <a:pt x="341630" y="5007610"/>
                  </a:lnTo>
                  <a:cubicBezTo>
                    <a:pt x="226060" y="5007610"/>
                    <a:pt x="132080" y="4913630"/>
                    <a:pt x="132080" y="4798060"/>
                  </a:cubicBezTo>
                  <a:lnTo>
                    <a:pt x="132080" y="340360"/>
                  </a:lnTo>
                  <a:cubicBezTo>
                    <a:pt x="132080" y="224790"/>
                    <a:pt x="226060" y="130810"/>
                    <a:pt x="341630" y="130810"/>
                  </a:cubicBezTo>
                  <a:lnTo>
                    <a:pt x="614680" y="130810"/>
                  </a:lnTo>
                  <a:lnTo>
                    <a:pt x="614680" y="187960"/>
                  </a:lnTo>
                  <a:cubicBezTo>
                    <a:pt x="614680" y="252730"/>
                    <a:pt x="668020" y="306070"/>
                    <a:pt x="732790" y="306070"/>
                  </a:cubicBezTo>
                  <a:lnTo>
                    <a:pt x="1783080" y="306070"/>
                  </a:lnTo>
                  <a:cubicBezTo>
                    <a:pt x="1847850" y="306070"/>
                    <a:pt x="1901190" y="252730"/>
                    <a:pt x="1901190" y="187960"/>
                  </a:cubicBezTo>
                  <a:lnTo>
                    <a:pt x="1901190" y="130810"/>
                  </a:lnTo>
                  <a:lnTo>
                    <a:pt x="2172970" y="130810"/>
                  </a:lnTo>
                  <a:cubicBezTo>
                    <a:pt x="2288540" y="130810"/>
                    <a:pt x="2382520" y="224790"/>
                    <a:pt x="2382520" y="340360"/>
                  </a:cubicBezTo>
                  <a:lnTo>
                    <a:pt x="2382520" y="4798060"/>
                  </a:lnTo>
                  <a:close/>
                </a:path>
              </a:pathLst>
            </a:custGeom>
            <a:solidFill>
              <a:srgbClr val="000000"/>
            </a:solidFill>
          </p:spPr>
          <p:txBody>
            <a:bodyPr/>
            <a:lstStyle/>
            <a:p>
              <a:endParaRPr lang="en-US"/>
            </a:p>
          </p:txBody>
        </p:sp>
        <p:sp>
          <p:nvSpPr>
            <p:cNvPr id="211" name="Freeform 211"/>
            <p:cNvSpPr/>
            <p:nvPr/>
          </p:nvSpPr>
          <p:spPr>
            <a:xfrm>
              <a:off x="185420" y="156210"/>
              <a:ext cx="2250453" cy="4876800"/>
            </a:xfrm>
            <a:custGeom>
              <a:avLst/>
              <a:gdLst/>
              <a:ahLst/>
              <a:cxnLst/>
              <a:rect l="l" t="t" r="r" b="b"/>
              <a:pathLst>
                <a:path w="2250453" h="4876800">
                  <a:moveTo>
                    <a:pt x="2040890" y="0"/>
                  </a:moveTo>
                  <a:lnTo>
                    <a:pt x="1769110" y="0"/>
                  </a:lnTo>
                  <a:lnTo>
                    <a:pt x="1769110" y="57150"/>
                  </a:lnTo>
                  <a:cubicBezTo>
                    <a:pt x="1769110" y="121920"/>
                    <a:pt x="1715770" y="175260"/>
                    <a:pt x="1651000" y="175260"/>
                  </a:cubicBezTo>
                  <a:lnTo>
                    <a:pt x="601980" y="175260"/>
                  </a:lnTo>
                  <a:cubicBezTo>
                    <a:pt x="537210" y="175260"/>
                    <a:pt x="483870" y="121920"/>
                    <a:pt x="483870" y="57150"/>
                  </a:cubicBezTo>
                  <a:lnTo>
                    <a:pt x="483870" y="0"/>
                  </a:lnTo>
                  <a:lnTo>
                    <a:pt x="209550" y="0"/>
                  </a:lnTo>
                  <a:cubicBezTo>
                    <a:pt x="93980" y="0"/>
                    <a:pt x="0" y="93980"/>
                    <a:pt x="0" y="209550"/>
                  </a:cubicBezTo>
                  <a:lnTo>
                    <a:pt x="0" y="4667250"/>
                  </a:lnTo>
                  <a:cubicBezTo>
                    <a:pt x="0" y="4782820"/>
                    <a:pt x="93980" y="4876800"/>
                    <a:pt x="209550" y="4876800"/>
                  </a:cubicBezTo>
                  <a:lnTo>
                    <a:pt x="2040890" y="4876800"/>
                  </a:lnTo>
                  <a:cubicBezTo>
                    <a:pt x="2156460" y="4876800"/>
                    <a:pt x="2250440" y="4782820"/>
                    <a:pt x="2250440" y="4667250"/>
                  </a:cubicBezTo>
                  <a:lnTo>
                    <a:pt x="2250440" y="209550"/>
                  </a:lnTo>
                  <a:cubicBezTo>
                    <a:pt x="2251710" y="93980"/>
                    <a:pt x="2157730" y="0"/>
                    <a:pt x="2040890" y="0"/>
                  </a:cubicBezTo>
                  <a:close/>
                </a:path>
              </a:pathLst>
            </a:custGeom>
            <a:blipFill>
              <a:blip r:embed="rId3"/>
              <a:stretch>
                <a:fillRect l="-245588" t="-3203" r="-245531" b="-3098"/>
              </a:stretch>
            </a:blipFill>
          </p:spPr>
          <p:txBody>
            <a:bodyPr/>
            <a:lstStyle/>
            <a:p>
              <a:endParaRPr lang="en-US"/>
            </a:p>
          </p:txBody>
        </p:sp>
        <p:sp>
          <p:nvSpPr>
            <p:cNvPr id="212" name="Freeform 212"/>
            <p:cNvSpPr/>
            <p:nvPr/>
          </p:nvSpPr>
          <p:spPr>
            <a:xfrm>
              <a:off x="1121410" y="198120"/>
              <a:ext cx="347980" cy="43180"/>
            </a:xfrm>
            <a:custGeom>
              <a:avLst/>
              <a:gdLst/>
              <a:ahLst/>
              <a:cxnLst/>
              <a:rect l="l" t="t" r="r" b="b"/>
              <a:pathLst>
                <a:path w="347980" h="43180">
                  <a:moveTo>
                    <a:pt x="326390" y="0"/>
                  </a:moveTo>
                  <a:lnTo>
                    <a:pt x="21590" y="0"/>
                  </a:lnTo>
                  <a:cubicBezTo>
                    <a:pt x="10160" y="0"/>
                    <a:pt x="0" y="8890"/>
                    <a:pt x="0" y="21590"/>
                  </a:cubicBezTo>
                  <a:cubicBezTo>
                    <a:pt x="0" y="34290"/>
                    <a:pt x="10160" y="43180"/>
                    <a:pt x="21590" y="43180"/>
                  </a:cubicBezTo>
                  <a:lnTo>
                    <a:pt x="326390" y="43180"/>
                  </a:lnTo>
                  <a:cubicBezTo>
                    <a:pt x="337820" y="43180"/>
                    <a:pt x="347980" y="34290"/>
                    <a:pt x="347980" y="21590"/>
                  </a:cubicBezTo>
                  <a:cubicBezTo>
                    <a:pt x="347980" y="8890"/>
                    <a:pt x="337820" y="0"/>
                    <a:pt x="326390" y="0"/>
                  </a:cubicBezTo>
                  <a:close/>
                </a:path>
              </a:pathLst>
            </a:custGeom>
            <a:solidFill>
              <a:srgbClr val="606060"/>
            </a:solidFill>
          </p:spPr>
          <p:txBody>
            <a:bodyPr/>
            <a:lstStyle/>
            <a:p>
              <a:endParaRPr lang="en-US"/>
            </a:p>
          </p:txBody>
        </p:sp>
        <p:sp>
          <p:nvSpPr>
            <p:cNvPr id="213" name="Freeform 213"/>
            <p:cNvSpPr/>
            <p:nvPr/>
          </p:nvSpPr>
          <p:spPr>
            <a:xfrm>
              <a:off x="1579738" y="187960"/>
              <a:ext cx="63785" cy="63501"/>
            </a:xfrm>
            <a:custGeom>
              <a:avLst/>
              <a:gdLst/>
              <a:ahLst/>
              <a:cxnLst/>
              <a:rect l="l" t="t" r="r" b="b"/>
              <a:pathLst>
                <a:path w="63785" h="63501">
                  <a:moveTo>
                    <a:pt x="31892" y="0"/>
                  </a:moveTo>
                  <a:cubicBezTo>
                    <a:pt x="20515" y="-51"/>
                    <a:pt x="9980" y="5989"/>
                    <a:pt x="4277" y="15834"/>
                  </a:cubicBezTo>
                  <a:cubicBezTo>
                    <a:pt x="-1426" y="25678"/>
                    <a:pt x="-1426" y="37822"/>
                    <a:pt x="4277" y="47666"/>
                  </a:cubicBezTo>
                  <a:cubicBezTo>
                    <a:pt x="9980" y="57511"/>
                    <a:pt x="20515" y="63551"/>
                    <a:pt x="31892" y="63500"/>
                  </a:cubicBezTo>
                  <a:cubicBezTo>
                    <a:pt x="43269" y="63551"/>
                    <a:pt x="53804" y="57511"/>
                    <a:pt x="59507" y="47666"/>
                  </a:cubicBezTo>
                  <a:cubicBezTo>
                    <a:pt x="65210" y="37822"/>
                    <a:pt x="65210" y="25678"/>
                    <a:pt x="59507" y="15834"/>
                  </a:cubicBezTo>
                  <a:cubicBezTo>
                    <a:pt x="53804" y="5989"/>
                    <a:pt x="43269" y="-51"/>
                    <a:pt x="31892" y="0"/>
                  </a:cubicBezTo>
                  <a:close/>
                </a:path>
              </a:pathLst>
            </a:custGeom>
            <a:solidFill>
              <a:srgbClr val="606060"/>
            </a:solidFill>
          </p:spPr>
          <p:txBody>
            <a:bodyPr/>
            <a:lstStyle/>
            <a:p>
              <a:endParaRPr lang="en-US"/>
            </a:p>
          </p:txBody>
        </p:sp>
        <p:sp>
          <p:nvSpPr>
            <p:cNvPr id="214" name="Freeform 214"/>
            <p:cNvSpPr/>
            <p:nvPr/>
          </p:nvSpPr>
          <p:spPr>
            <a:xfrm>
              <a:off x="0" y="685800"/>
              <a:ext cx="27940" cy="213360"/>
            </a:xfrm>
            <a:custGeom>
              <a:avLst/>
              <a:gdLst/>
              <a:ahLst/>
              <a:cxnLst/>
              <a:rect l="l" t="t" r="r" b="b"/>
              <a:pathLst>
                <a:path w="27940" h="213360">
                  <a:moveTo>
                    <a:pt x="0" y="26670"/>
                  </a:moveTo>
                  <a:lnTo>
                    <a:pt x="0" y="185420"/>
                  </a:lnTo>
                  <a:cubicBezTo>
                    <a:pt x="0" y="200660"/>
                    <a:pt x="12700" y="213360"/>
                    <a:pt x="27940" y="213360"/>
                  </a:cubicBezTo>
                  <a:lnTo>
                    <a:pt x="27940" y="0"/>
                  </a:lnTo>
                  <a:cubicBezTo>
                    <a:pt x="12700" y="0"/>
                    <a:pt x="0" y="11430"/>
                    <a:pt x="0" y="26670"/>
                  </a:cubicBezTo>
                  <a:close/>
                </a:path>
              </a:pathLst>
            </a:custGeom>
            <a:solidFill>
              <a:srgbClr val="B8B8B8"/>
            </a:solidFill>
          </p:spPr>
          <p:txBody>
            <a:bodyPr/>
            <a:lstStyle/>
            <a:p>
              <a:endParaRPr lang="en-US"/>
            </a:p>
          </p:txBody>
        </p:sp>
        <p:sp>
          <p:nvSpPr>
            <p:cNvPr id="215" name="Freeform 215"/>
            <p:cNvSpPr/>
            <p:nvPr/>
          </p:nvSpPr>
          <p:spPr>
            <a:xfrm>
              <a:off x="0" y="1057910"/>
              <a:ext cx="27940" cy="384810"/>
            </a:xfrm>
            <a:custGeom>
              <a:avLst/>
              <a:gdLst/>
              <a:ahLst/>
              <a:cxnLst/>
              <a:rect l="l" t="t" r="r" b="b"/>
              <a:pathLst>
                <a:path w="27940" h="384810">
                  <a:moveTo>
                    <a:pt x="0" y="26670"/>
                  </a:moveTo>
                  <a:lnTo>
                    <a:pt x="0" y="356870"/>
                  </a:lnTo>
                  <a:cubicBezTo>
                    <a:pt x="0" y="372110"/>
                    <a:pt x="12700" y="384810"/>
                    <a:pt x="27940" y="384810"/>
                  </a:cubicBezTo>
                  <a:lnTo>
                    <a:pt x="27940" y="0"/>
                  </a:lnTo>
                  <a:cubicBezTo>
                    <a:pt x="12700" y="0"/>
                    <a:pt x="0" y="11430"/>
                    <a:pt x="0" y="26670"/>
                  </a:cubicBezTo>
                  <a:close/>
                </a:path>
              </a:pathLst>
            </a:custGeom>
            <a:solidFill>
              <a:srgbClr val="B8B8B8"/>
            </a:solidFill>
          </p:spPr>
          <p:txBody>
            <a:bodyPr/>
            <a:lstStyle/>
            <a:p>
              <a:endParaRPr lang="en-US"/>
            </a:p>
          </p:txBody>
        </p:sp>
        <p:sp>
          <p:nvSpPr>
            <p:cNvPr id="216" name="Freeform 216"/>
            <p:cNvSpPr/>
            <p:nvPr/>
          </p:nvSpPr>
          <p:spPr>
            <a:xfrm>
              <a:off x="0" y="1526540"/>
              <a:ext cx="27940" cy="386080"/>
            </a:xfrm>
            <a:custGeom>
              <a:avLst/>
              <a:gdLst/>
              <a:ahLst/>
              <a:cxnLst/>
              <a:rect l="l" t="t" r="r" b="b"/>
              <a:pathLst>
                <a:path w="27940" h="386080">
                  <a:moveTo>
                    <a:pt x="0" y="27940"/>
                  </a:moveTo>
                  <a:lnTo>
                    <a:pt x="0" y="358140"/>
                  </a:lnTo>
                  <a:cubicBezTo>
                    <a:pt x="0" y="373380"/>
                    <a:pt x="12700" y="386080"/>
                    <a:pt x="27940" y="386080"/>
                  </a:cubicBezTo>
                  <a:lnTo>
                    <a:pt x="27940" y="0"/>
                  </a:lnTo>
                  <a:cubicBezTo>
                    <a:pt x="12700" y="0"/>
                    <a:pt x="0" y="12700"/>
                    <a:pt x="0" y="27940"/>
                  </a:cubicBezTo>
                  <a:close/>
                </a:path>
              </a:pathLst>
            </a:custGeom>
            <a:solidFill>
              <a:srgbClr val="B8B8B8"/>
            </a:solidFill>
          </p:spPr>
          <p:txBody>
            <a:bodyPr/>
            <a:lstStyle/>
            <a:p>
              <a:endParaRPr lang="en-US"/>
            </a:p>
          </p:txBody>
        </p:sp>
        <p:sp>
          <p:nvSpPr>
            <p:cNvPr id="217" name="Freeform 217"/>
            <p:cNvSpPr/>
            <p:nvPr/>
          </p:nvSpPr>
          <p:spPr>
            <a:xfrm>
              <a:off x="2592070" y="1184910"/>
              <a:ext cx="27940" cy="618490"/>
            </a:xfrm>
            <a:custGeom>
              <a:avLst/>
              <a:gdLst/>
              <a:ahLst/>
              <a:cxnLst/>
              <a:rect l="l" t="t" r="r" b="b"/>
              <a:pathLst>
                <a:path w="27940" h="618490">
                  <a:moveTo>
                    <a:pt x="0" y="0"/>
                  </a:moveTo>
                  <a:lnTo>
                    <a:pt x="0" y="618490"/>
                  </a:lnTo>
                  <a:cubicBezTo>
                    <a:pt x="15240" y="618490"/>
                    <a:pt x="27940" y="605790"/>
                    <a:pt x="27940" y="590550"/>
                  </a:cubicBezTo>
                  <a:lnTo>
                    <a:pt x="27940" y="27940"/>
                  </a:lnTo>
                  <a:cubicBezTo>
                    <a:pt x="27940" y="12700"/>
                    <a:pt x="15240" y="0"/>
                    <a:pt x="0" y="0"/>
                  </a:cubicBezTo>
                  <a:close/>
                </a:path>
              </a:pathLst>
            </a:custGeom>
            <a:solidFill>
              <a:srgbClr val="B8B8B8"/>
            </a:solidFill>
          </p:spPr>
          <p:txBody>
            <a:bodyPr/>
            <a:lstStyle/>
            <a:p>
              <a:endParaRPr lang="en-US"/>
            </a:p>
          </p:txBody>
        </p:sp>
        <p:sp>
          <p:nvSpPr>
            <p:cNvPr id="218" name="Freeform 218"/>
            <p:cNvSpPr/>
            <p:nvPr/>
          </p:nvSpPr>
          <p:spPr>
            <a:xfrm>
              <a:off x="27940" y="0"/>
              <a:ext cx="2564130" cy="5182870"/>
            </a:xfrm>
            <a:custGeom>
              <a:avLst/>
              <a:gdLst/>
              <a:ahLst/>
              <a:cxnLst/>
              <a:rect l="l" t="t" r="r" b="b"/>
              <a:pathLst>
                <a:path w="2564130" h="5182870">
                  <a:moveTo>
                    <a:pt x="2564130" y="1184910"/>
                  </a:moveTo>
                  <a:lnTo>
                    <a:pt x="2564130" y="379730"/>
                  </a:lnTo>
                  <a:cubicBezTo>
                    <a:pt x="2564130" y="353060"/>
                    <a:pt x="2561590" y="327660"/>
                    <a:pt x="2556510" y="303530"/>
                  </a:cubicBezTo>
                  <a:cubicBezTo>
                    <a:pt x="2553970" y="290830"/>
                    <a:pt x="2551430" y="279400"/>
                    <a:pt x="2547620" y="266700"/>
                  </a:cubicBezTo>
                  <a:cubicBezTo>
                    <a:pt x="2542540" y="248920"/>
                    <a:pt x="2534920" y="231140"/>
                    <a:pt x="2527300" y="214630"/>
                  </a:cubicBezTo>
                  <a:cubicBezTo>
                    <a:pt x="2522220" y="203200"/>
                    <a:pt x="2515870" y="193040"/>
                    <a:pt x="2509520" y="182880"/>
                  </a:cubicBezTo>
                  <a:cubicBezTo>
                    <a:pt x="2503170" y="172720"/>
                    <a:pt x="2496820" y="162560"/>
                    <a:pt x="2489200" y="152400"/>
                  </a:cubicBezTo>
                  <a:cubicBezTo>
                    <a:pt x="2477770" y="137160"/>
                    <a:pt x="2466340" y="124460"/>
                    <a:pt x="2453640" y="110490"/>
                  </a:cubicBezTo>
                  <a:cubicBezTo>
                    <a:pt x="2444750" y="101600"/>
                    <a:pt x="2435860" y="93980"/>
                    <a:pt x="2426970" y="86360"/>
                  </a:cubicBezTo>
                  <a:cubicBezTo>
                    <a:pt x="2360930" y="31750"/>
                    <a:pt x="2277110" y="0"/>
                    <a:pt x="2185670" y="0"/>
                  </a:cubicBezTo>
                  <a:lnTo>
                    <a:pt x="379730" y="0"/>
                  </a:lnTo>
                  <a:cubicBezTo>
                    <a:pt x="288290" y="0"/>
                    <a:pt x="203200" y="33020"/>
                    <a:pt x="138430" y="86360"/>
                  </a:cubicBezTo>
                  <a:cubicBezTo>
                    <a:pt x="129540" y="93980"/>
                    <a:pt x="120650" y="102870"/>
                    <a:pt x="111760" y="110490"/>
                  </a:cubicBezTo>
                  <a:cubicBezTo>
                    <a:pt x="99060" y="123190"/>
                    <a:pt x="86360" y="137160"/>
                    <a:pt x="76200" y="152400"/>
                  </a:cubicBezTo>
                  <a:cubicBezTo>
                    <a:pt x="68580" y="162560"/>
                    <a:pt x="62230" y="172720"/>
                    <a:pt x="55880" y="182880"/>
                  </a:cubicBezTo>
                  <a:cubicBezTo>
                    <a:pt x="49530" y="193040"/>
                    <a:pt x="43180" y="204470"/>
                    <a:pt x="38100" y="214630"/>
                  </a:cubicBezTo>
                  <a:cubicBezTo>
                    <a:pt x="29210" y="232410"/>
                    <a:pt x="22860" y="248920"/>
                    <a:pt x="16510" y="266700"/>
                  </a:cubicBezTo>
                  <a:cubicBezTo>
                    <a:pt x="12700" y="279400"/>
                    <a:pt x="10160" y="290830"/>
                    <a:pt x="7620" y="303530"/>
                  </a:cubicBezTo>
                  <a:cubicBezTo>
                    <a:pt x="2540" y="327660"/>
                    <a:pt x="0" y="354330"/>
                    <a:pt x="0" y="379730"/>
                  </a:cubicBezTo>
                  <a:lnTo>
                    <a:pt x="0" y="4803140"/>
                  </a:lnTo>
                  <a:cubicBezTo>
                    <a:pt x="0" y="5012690"/>
                    <a:pt x="170180" y="5182870"/>
                    <a:pt x="379730" y="5182870"/>
                  </a:cubicBezTo>
                  <a:lnTo>
                    <a:pt x="2184400" y="5182870"/>
                  </a:lnTo>
                  <a:cubicBezTo>
                    <a:pt x="2393950" y="5182870"/>
                    <a:pt x="2564130" y="5012690"/>
                    <a:pt x="2564130" y="4803140"/>
                  </a:cubicBezTo>
                  <a:lnTo>
                    <a:pt x="2564130" y="1184910"/>
                  </a:lnTo>
                  <a:close/>
                  <a:moveTo>
                    <a:pt x="2538730" y="1184910"/>
                  </a:moveTo>
                  <a:lnTo>
                    <a:pt x="2538730" y="4804410"/>
                  </a:lnTo>
                  <a:cubicBezTo>
                    <a:pt x="2538730" y="4999990"/>
                    <a:pt x="2379980" y="5158740"/>
                    <a:pt x="2184400" y="5158740"/>
                  </a:cubicBezTo>
                  <a:lnTo>
                    <a:pt x="379730" y="5158740"/>
                  </a:lnTo>
                  <a:cubicBezTo>
                    <a:pt x="184150" y="5158740"/>
                    <a:pt x="25400" y="4999990"/>
                    <a:pt x="25400" y="4804410"/>
                  </a:cubicBezTo>
                  <a:lnTo>
                    <a:pt x="25400" y="381000"/>
                  </a:lnTo>
                  <a:cubicBezTo>
                    <a:pt x="25400" y="184150"/>
                    <a:pt x="184150" y="25400"/>
                    <a:pt x="379730" y="25400"/>
                  </a:cubicBezTo>
                  <a:lnTo>
                    <a:pt x="2184400" y="25400"/>
                  </a:lnTo>
                  <a:cubicBezTo>
                    <a:pt x="2379980" y="25400"/>
                    <a:pt x="2538730" y="184150"/>
                    <a:pt x="2538730" y="379730"/>
                  </a:cubicBezTo>
                  <a:lnTo>
                    <a:pt x="2538730" y="1184910"/>
                  </a:lnTo>
                  <a:close/>
                </a:path>
              </a:pathLst>
            </a:custGeom>
            <a:solidFill>
              <a:srgbClr val="E9E9E9"/>
            </a:solidFill>
          </p:spPr>
          <p:txBody>
            <a:bodyPr/>
            <a:lstStyle/>
            <a:p>
              <a:endParaRPr lang="en-US"/>
            </a:p>
          </p:txBody>
        </p:sp>
      </p:grpSp>
      <p:grpSp>
        <p:nvGrpSpPr>
          <p:cNvPr id="219" name="Group 219"/>
          <p:cNvGrpSpPr/>
          <p:nvPr/>
        </p:nvGrpSpPr>
        <p:grpSpPr>
          <a:xfrm>
            <a:off x="13554605" y="1004270"/>
            <a:ext cx="3817466" cy="7994006"/>
            <a:chOff x="0" y="0"/>
            <a:chExt cx="1005423" cy="2105417"/>
          </a:xfrm>
        </p:grpSpPr>
        <p:sp>
          <p:nvSpPr>
            <p:cNvPr id="220" name="Freeform 220"/>
            <p:cNvSpPr/>
            <p:nvPr/>
          </p:nvSpPr>
          <p:spPr>
            <a:xfrm>
              <a:off x="0" y="0"/>
              <a:ext cx="1005423" cy="2105417"/>
            </a:xfrm>
            <a:custGeom>
              <a:avLst/>
              <a:gdLst/>
              <a:ahLst/>
              <a:cxnLst/>
              <a:rect l="l" t="t" r="r" b="b"/>
              <a:pathLst>
                <a:path w="1005423" h="2105417">
                  <a:moveTo>
                    <a:pt x="103429" y="0"/>
                  </a:moveTo>
                  <a:lnTo>
                    <a:pt x="901994" y="0"/>
                  </a:lnTo>
                  <a:cubicBezTo>
                    <a:pt x="959116" y="0"/>
                    <a:pt x="1005423" y="46307"/>
                    <a:pt x="1005423" y="103429"/>
                  </a:cubicBezTo>
                  <a:lnTo>
                    <a:pt x="1005423" y="2001988"/>
                  </a:lnTo>
                  <a:cubicBezTo>
                    <a:pt x="1005423" y="2059110"/>
                    <a:pt x="959116" y="2105417"/>
                    <a:pt x="901994" y="2105417"/>
                  </a:cubicBezTo>
                  <a:lnTo>
                    <a:pt x="103429" y="2105417"/>
                  </a:lnTo>
                  <a:cubicBezTo>
                    <a:pt x="46307" y="2105417"/>
                    <a:pt x="0" y="2059110"/>
                    <a:pt x="0" y="2001988"/>
                  </a:cubicBezTo>
                  <a:lnTo>
                    <a:pt x="0" y="103429"/>
                  </a:lnTo>
                  <a:cubicBezTo>
                    <a:pt x="0" y="46307"/>
                    <a:pt x="46307" y="0"/>
                    <a:pt x="103429" y="0"/>
                  </a:cubicBezTo>
                  <a:close/>
                </a:path>
              </a:pathLst>
            </a:custGeom>
            <a:solidFill>
              <a:srgbClr val="141414"/>
            </a:solidFill>
          </p:spPr>
          <p:txBody>
            <a:bodyPr/>
            <a:lstStyle/>
            <a:p>
              <a:endParaRPr lang="en-US"/>
            </a:p>
          </p:txBody>
        </p:sp>
        <p:sp>
          <p:nvSpPr>
            <p:cNvPr id="221" name="TextBox 221"/>
            <p:cNvSpPr txBox="1"/>
            <p:nvPr/>
          </p:nvSpPr>
          <p:spPr>
            <a:xfrm>
              <a:off x="0" y="-47625"/>
              <a:ext cx="1005423" cy="2153042"/>
            </a:xfrm>
            <a:prstGeom prst="rect">
              <a:avLst/>
            </a:prstGeom>
          </p:spPr>
          <p:txBody>
            <a:bodyPr lIns="50800" tIns="50800" rIns="50800" bIns="50800" rtlCol="0" anchor="ctr"/>
            <a:lstStyle/>
            <a:p>
              <a:pPr algn="ctr">
                <a:lnSpc>
                  <a:spcPts val="2340"/>
                </a:lnSpc>
              </a:pPr>
              <a:endParaRPr/>
            </a:p>
          </p:txBody>
        </p:sp>
      </p:grpSp>
      <p:sp>
        <p:nvSpPr>
          <p:cNvPr id="222" name="Freeform 222"/>
          <p:cNvSpPr/>
          <p:nvPr/>
        </p:nvSpPr>
        <p:spPr>
          <a:xfrm>
            <a:off x="13714411" y="1337495"/>
            <a:ext cx="707005" cy="707005"/>
          </a:xfrm>
          <a:custGeom>
            <a:avLst/>
            <a:gdLst/>
            <a:ahLst/>
            <a:cxnLst/>
            <a:rect l="l" t="t" r="r" b="b"/>
            <a:pathLst>
              <a:path w="707005" h="707005">
                <a:moveTo>
                  <a:pt x="0" y="0"/>
                </a:moveTo>
                <a:lnTo>
                  <a:pt x="707005" y="0"/>
                </a:lnTo>
                <a:lnTo>
                  <a:pt x="707005" y="707004"/>
                </a:lnTo>
                <a:lnTo>
                  <a:pt x="0" y="707004"/>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n-US"/>
          </a:p>
        </p:txBody>
      </p:sp>
      <p:sp>
        <p:nvSpPr>
          <p:cNvPr id="223" name="Freeform 223"/>
          <p:cNvSpPr/>
          <p:nvPr/>
        </p:nvSpPr>
        <p:spPr>
          <a:xfrm>
            <a:off x="13911124" y="1492529"/>
            <a:ext cx="313580" cy="396936"/>
          </a:xfrm>
          <a:custGeom>
            <a:avLst/>
            <a:gdLst/>
            <a:ahLst/>
            <a:cxnLst/>
            <a:rect l="l" t="t" r="r" b="b"/>
            <a:pathLst>
              <a:path w="313580" h="396936">
                <a:moveTo>
                  <a:pt x="0" y="0"/>
                </a:moveTo>
                <a:lnTo>
                  <a:pt x="313579" y="0"/>
                </a:lnTo>
                <a:lnTo>
                  <a:pt x="313579" y="396936"/>
                </a:lnTo>
                <a:lnTo>
                  <a:pt x="0" y="396936"/>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en-US"/>
          </a:p>
        </p:txBody>
      </p:sp>
      <p:sp>
        <p:nvSpPr>
          <p:cNvPr id="224" name="Freeform 224"/>
          <p:cNvSpPr/>
          <p:nvPr/>
        </p:nvSpPr>
        <p:spPr>
          <a:xfrm>
            <a:off x="16471057" y="1337495"/>
            <a:ext cx="707005" cy="707005"/>
          </a:xfrm>
          <a:custGeom>
            <a:avLst/>
            <a:gdLst/>
            <a:ahLst/>
            <a:cxnLst/>
            <a:rect l="l" t="t" r="r" b="b"/>
            <a:pathLst>
              <a:path w="707005" h="707005">
                <a:moveTo>
                  <a:pt x="0" y="0"/>
                </a:moveTo>
                <a:lnTo>
                  <a:pt x="707005" y="0"/>
                </a:lnTo>
                <a:lnTo>
                  <a:pt x="707005" y="707004"/>
                </a:lnTo>
                <a:lnTo>
                  <a:pt x="0" y="707004"/>
                </a:lnTo>
                <a:lnTo>
                  <a:pt x="0" y="0"/>
                </a:lnTo>
                <a:close/>
              </a:path>
            </a:pathLst>
          </a:custGeom>
          <a:blipFill>
            <a:blip>
              <a:extLst>
                <a:ext uri="{96DAC541-7B7A-43D3-8B79-37D633B846F1}">
                  <asvg:svgBlip xmlns:asvg="http://schemas.microsoft.com/office/drawing/2016/SVG/main" r:embed="rId6"/>
                </a:ext>
              </a:extLst>
            </a:blip>
            <a:stretch>
              <a:fillRect/>
            </a:stretch>
          </a:blipFill>
        </p:spPr>
        <p:txBody>
          <a:bodyPr/>
          <a:lstStyle/>
          <a:p>
            <a:endParaRPr lang="en-US"/>
          </a:p>
        </p:txBody>
      </p:sp>
      <p:sp>
        <p:nvSpPr>
          <p:cNvPr id="225" name="Freeform 225"/>
          <p:cNvSpPr/>
          <p:nvPr/>
        </p:nvSpPr>
        <p:spPr>
          <a:xfrm>
            <a:off x="16645007" y="1479759"/>
            <a:ext cx="359104" cy="422476"/>
          </a:xfrm>
          <a:custGeom>
            <a:avLst/>
            <a:gdLst/>
            <a:ahLst/>
            <a:cxnLst/>
            <a:rect l="l" t="t" r="r" b="b"/>
            <a:pathLst>
              <a:path w="359104" h="422476">
                <a:moveTo>
                  <a:pt x="0" y="0"/>
                </a:moveTo>
                <a:lnTo>
                  <a:pt x="359105" y="0"/>
                </a:lnTo>
                <a:lnTo>
                  <a:pt x="359105" y="422476"/>
                </a:lnTo>
                <a:lnTo>
                  <a:pt x="0" y="422476"/>
                </a:lnTo>
                <a:lnTo>
                  <a:pt x="0" y="0"/>
                </a:lnTo>
                <a:close/>
              </a:path>
            </a:pathLst>
          </a:custGeom>
          <a:blipFill>
            <a:blip>
              <a:extLst>
                <a:ext uri="{96DAC541-7B7A-43D3-8B79-37D633B846F1}">
                  <asvg:svgBlip xmlns:asvg="http://schemas.microsoft.com/office/drawing/2016/SVG/main" r:embed="rId7"/>
                </a:ext>
              </a:extLst>
            </a:blip>
            <a:stretch>
              <a:fillRect/>
            </a:stretch>
          </a:blipFill>
        </p:spPr>
        <p:txBody>
          <a:bodyPr/>
          <a:lstStyle/>
          <a:p>
            <a:endParaRPr lang="en-US"/>
          </a:p>
        </p:txBody>
      </p:sp>
      <p:grpSp>
        <p:nvGrpSpPr>
          <p:cNvPr id="226" name="Group 226"/>
          <p:cNvGrpSpPr/>
          <p:nvPr/>
        </p:nvGrpSpPr>
        <p:grpSpPr>
          <a:xfrm>
            <a:off x="15640416" y="2270742"/>
            <a:ext cx="1738545" cy="599067"/>
            <a:chOff x="0" y="0"/>
            <a:chExt cx="2778550" cy="957431"/>
          </a:xfrm>
        </p:grpSpPr>
        <p:sp>
          <p:nvSpPr>
            <p:cNvPr id="227" name="Freeform 227"/>
            <p:cNvSpPr/>
            <p:nvPr/>
          </p:nvSpPr>
          <p:spPr>
            <a:xfrm>
              <a:off x="0" y="0"/>
              <a:ext cx="2778550" cy="957431"/>
            </a:xfrm>
            <a:custGeom>
              <a:avLst/>
              <a:gdLst/>
              <a:ahLst/>
              <a:cxnLst/>
              <a:rect l="l" t="t" r="r" b="b"/>
              <a:pathLst>
                <a:path w="2778550" h="957431">
                  <a:moveTo>
                    <a:pt x="0" y="0"/>
                  </a:moveTo>
                  <a:lnTo>
                    <a:pt x="2778550" y="0"/>
                  </a:lnTo>
                  <a:lnTo>
                    <a:pt x="2778550" y="957431"/>
                  </a:lnTo>
                  <a:lnTo>
                    <a:pt x="0" y="957431"/>
                  </a:lnTo>
                  <a:close/>
                </a:path>
              </a:pathLst>
            </a:custGeom>
            <a:blipFill>
              <a:blip r:embed="rId3">
                <a:alphaModFix amt="0"/>
              </a:blip>
              <a:stretch>
                <a:fillRect t="-300064" r="-591094" b="-381525"/>
              </a:stretch>
            </a:blipFill>
          </p:spPr>
          <p:txBody>
            <a:bodyPr/>
            <a:lstStyle/>
            <a:p>
              <a:endParaRPr lang="en-US"/>
            </a:p>
          </p:txBody>
        </p:sp>
        <p:sp>
          <p:nvSpPr>
            <p:cNvPr id="228" name="TextBox 228"/>
            <p:cNvSpPr txBox="1"/>
            <p:nvPr/>
          </p:nvSpPr>
          <p:spPr>
            <a:xfrm>
              <a:off x="0" y="0"/>
              <a:ext cx="2778550" cy="957431"/>
            </a:xfrm>
            <a:prstGeom prst="rect">
              <a:avLst/>
            </a:prstGeom>
          </p:spPr>
          <p:txBody>
            <a:bodyPr lIns="0" tIns="0" rIns="0" bIns="0" rtlCol="0" anchor="ctr"/>
            <a:lstStyle/>
            <a:p>
              <a:pPr algn="l">
                <a:lnSpc>
                  <a:spcPts val="1280"/>
                </a:lnSpc>
              </a:pPr>
              <a:r>
                <a:rPr lang="en-US" sz="1200" b="1">
                  <a:solidFill>
                    <a:srgbClr val="FFFFFF"/>
                  </a:solidFill>
                  <a:latin typeface="Arial Bold"/>
                  <a:ea typeface="Arial Bold"/>
                  <a:cs typeface="Arial Bold"/>
                  <a:sym typeface="Arial Bold"/>
                </a:rPr>
                <a:t>Friends of Friends</a:t>
              </a:r>
            </a:p>
          </p:txBody>
        </p:sp>
      </p:grpSp>
      <p:grpSp>
        <p:nvGrpSpPr>
          <p:cNvPr id="229" name="Group 229"/>
          <p:cNvGrpSpPr/>
          <p:nvPr/>
        </p:nvGrpSpPr>
        <p:grpSpPr>
          <a:xfrm>
            <a:off x="13738459" y="8045245"/>
            <a:ext cx="3640501" cy="796656"/>
            <a:chOff x="0" y="0"/>
            <a:chExt cx="958815" cy="209819"/>
          </a:xfrm>
        </p:grpSpPr>
        <p:sp>
          <p:nvSpPr>
            <p:cNvPr id="230" name="Freeform 230"/>
            <p:cNvSpPr/>
            <p:nvPr/>
          </p:nvSpPr>
          <p:spPr>
            <a:xfrm>
              <a:off x="0" y="0"/>
              <a:ext cx="958815" cy="209819"/>
            </a:xfrm>
            <a:custGeom>
              <a:avLst/>
              <a:gdLst/>
              <a:ahLst/>
              <a:cxnLst/>
              <a:rect l="l" t="t" r="r" b="b"/>
              <a:pathLst>
                <a:path w="958815" h="209819">
                  <a:moveTo>
                    <a:pt x="104909" y="0"/>
                  </a:moveTo>
                  <a:lnTo>
                    <a:pt x="853906" y="0"/>
                  </a:lnTo>
                  <a:cubicBezTo>
                    <a:pt x="881730" y="0"/>
                    <a:pt x="908414" y="11053"/>
                    <a:pt x="928088" y="30727"/>
                  </a:cubicBezTo>
                  <a:cubicBezTo>
                    <a:pt x="947762" y="50402"/>
                    <a:pt x="958815" y="77086"/>
                    <a:pt x="958815" y="104909"/>
                  </a:cubicBezTo>
                  <a:lnTo>
                    <a:pt x="958815" y="104909"/>
                  </a:lnTo>
                  <a:cubicBezTo>
                    <a:pt x="958815" y="132733"/>
                    <a:pt x="947762" y="159417"/>
                    <a:pt x="928088" y="179092"/>
                  </a:cubicBezTo>
                  <a:cubicBezTo>
                    <a:pt x="908414" y="198766"/>
                    <a:pt x="881730" y="209819"/>
                    <a:pt x="853906" y="209819"/>
                  </a:cubicBezTo>
                  <a:lnTo>
                    <a:pt x="104909" y="209819"/>
                  </a:lnTo>
                  <a:cubicBezTo>
                    <a:pt x="77086" y="209819"/>
                    <a:pt x="50402" y="198766"/>
                    <a:pt x="30727" y="179092"/>
                  </a:cubicBezTo>
                  <a:cubicBezTo>
                    <a:pt x="11053" y="159417"/>
                    <a:pt x="0" y="132733"/>
                    <a:pt x="0" y="104909"/>
                  </a:cubicBezTo>
                  <a:lnTo>
                    <a:pt x="0" y="104909"/>
                  </a:lnTo>
                  <a:cubicBezTo>
                    <a:pt x="0" y="77086"/>
                    <a:pt x="11053" y="50402"/>
                    <a:pt x="30727" y="30727"/>
                  </a:cubicBezTo>
                  <a:cubicBezTo>
                    <a:pt x="50402" y="11053"/>
                    <a:pt x="77086" y="0"/>
                    <a:pt x="104909" y="0"/>
                  </a:cubicBezTo>
                  <a:close/>
                </a:path>
              </a:pathLst>
            </a:custGeom>
            <a:solidFill>
              <a:srgbClr val="2B2B2B"/>
            </a:solidFill>
          </p:spPr>
          <p:txBody>
            <a:bodyPr/>
            <a:lstStyle/>
            <a:p>
              <a:endParaRPr lang="en-US"/>
            </a:p>
          </p:txBody>
        </p:sp>
        <p:sp>
          <p:nvSpPr>
            <p:cNvPr id="231" name="TextBox 231"/>
            <p:cNvSpPr txBox="1"/>
            <p:nvPr/>
          </p:nvSpPr>
          <p:spPr>
            <a:xfrm>
              <a:off x="0" y="-47625"/>
              <a:ext cx="958815" cy="257444"/>
            </a:xfrm>
            <a:prstGeom prst="rect">
              <a:avLst/>
            </a:prstGeom>
          </p:spPr>
          <p:txBody>
            <a:bodyPr lIns="50800" tIns="50800" rIns="50800" bIns="50800" rtlCol="0" anchor="ctr"/>
            <a:lstStyle/>
            <a:p>
              <a:pPr algn="ctr">
                <a:lnSpc>
                  <a:spcPts val="2340"/>
                </a:lnSpc>
              </a:pPr>
              <a:endParaRPr/>
            </a:p>
          </p:txBody>
        </p:sp>
      </p:grpSp>
      <p:grpSp>
        <p:nvGrpSpPr>
          <p:cNvPr id="232" name="Group 232"/>
          <p:cNvGrpSpPr/>
          <p:nvPr/>
        </p:nvGrpSpPr>
        <p:grpSpPr>
          <a:xfrm>
            <a:off x="14954614" y="1337495"/>
            <a:ext cx="1184143" cy="718073"/>
            <a:chOff x="0" y="0"/>
            <a:chExt cx="1578858" cy="957431"/>
          </a:xfrm>
        </p:grpSpPr>
        <p:sp>
          <p:nvSpPr>
            <p:cNvPr id="233" name="Freeform 233"/>
            <p:cNvSpPr/>
            <p:nvPr/>
          </p:nvSpPr>
          <p:spPr>
            <a:xfrm>
              <a:off x="0" y="0"/>
              <a:ext cx="1578858" cy="957431"/>
            </a:xfrm>
            <a:custGeom>
              <a:avLst/>
              <a:gdLst/>
              <a:ahLst/>
              <a:cxnLst/>
              <a:rect l="l" t="t" r="r" b="b"/>
              <a:pathLst>
                <a:path w="1578858" h="957431">
                  <a:moveTo>
                    <a:pt x="0" y="0"/>
                  </a:moveTo>
                  <a:lnTo>
                    <a:pt x="1578858" y="0"/>
                  </a:lnTo>
                  <a:lnTo>
                    <a:pt x="1578858" y="957431"/>
                  </a:lnTo>
                  <a:lnTo>
                    <a:pt x="0" y="957431"/>
                  </a:lnTo>
                  <a:close/>
                </a:path>
              </a:pathLst>
            </a:custGeom>
            <a:blipFill>
              <a:blip r:embed="rId3">
                <a:alphaModFix amt="0"/>
              </a:blip>
              <a:stretch>
                <a:fillRect t="-300064" r="-1116220" b="-381525"/>
              </a:stretch>
            </a:blipFill>
          </p:spPr>
          <p:txBody>
            <a:bodyPr/>
            <a:lstStyle/>
            <a:p>
              <a:endParaRPr lang="en-US"/>
            </a:p>
          </p:txBody>
        </p:sp>
        <p:sp>
          <p:nvSpPr>
            <p:cNvPr id="234" name="TextBox 234"/>
            <p:cNvSpPr txBox="1"/>
            <p:nvPr/>
          </p:nvSpPr>
          <p:spPr>
            <a:xfrm>
              <a:off x="0" y="19050"/>
              <a:ext cx="1578858" cy="938381"/>
            </a:xfrm>
            <a:prstGeom prst="rect">
              <a:avLst/>
            </a:prstGeom>
          </p:spPr>
          <p:txBody>
            <a:bodyPr lIns="0" tIns="0" rIns="0" bIns="0" rtlCol="0" anchor="ctr"/>
            <a:lstStyle/>
            <a:p>
              <a:pPr algn="l">
                <a:lnSpc>
                  <a:spcPts val="2240"/>
                </a:lnSpc>
              </a:pPr>
              <a:r>
                <a:rPr lang="en-US" sz="2100" b="1">
                  <a:solidFill>
                    <a:srgbClr val="FFFFFF"/>
                  </a:solidFill>
                  <a:latin typeface="Arial Bold"/>
                  <a:ea typeface="Arial Bold"/>
                  <a:cs typeface="Arial Bold"/>
                  <a:sym typeface="Arial Bold"/>
                </a:rPr>
                <a:t>BeReal.</a:t>
              </a:r>
            </a:p>
          </p:txBody>
        </p:sp>
      </p:grpSp>
      <p:sp>
        <p:nvSpPr>
          <p:cNvPr id="235" name="Freeform 235"/>
          <p:cNvSpPr/>
          <p:nvPr/>
        </p:nvSpPr>
        <p:spPr>
          <a:xfrm>
            <a:off x="13990732" y="8299458"/>
            <a:ext cx="192370" cy="178904"/>
          </a:xfrm>
          <a:custGeom>
            <a:avLst/>
            <a:gdLst/>
            <a:ahLst/>
            <a:cxnLst/>
            <a:rect l="l" t="t" r="r" b="b"/>
            <a:pathLst>
              <a:path w="192370" h="178904">
                <a:moveTo>
                  <a:pt x="0" y="0"/>
                </a:moveTo>
                <a:lnTo>
                  <a:pt x="192370" y="0"/>
                </a:lnTo>
                <a:lnTo>
                  <a:pt x="192370" y="178905"/>
                </a:lnTo>
                <a:lnTo>
                  <a:pt x="0" y="178905"/>
                </a:lnTo>
                <a:lnTo>
                  <a:pt x="0" y="0"/>
                </a:lnTo>
                <a:close/>
              </a:path>
            </a:pathLst>
          </a:custGeom>
          <a:blipFill>
            <a:blip>
              <a:extLst>
                <a:ext uri="{96DAC541-7B7A-43D3-8B79-37D633B846F1}">
                  <asvg:svgBlip xmlns:asvg="http://schemas.microsoft.com/office/drawing/2016/SVG/main" r:embed="rId8"/>
                </a:ext>
              </a:extLst>
            </a:blip>
            <a:stretch>
              <a:fillRect/>
            </a:stretch>
          </a:blipFill>
        </p:spPr>
        <p:txBody>
          <a:bodyPr/>
          <a:lstStyle/>
          <a:p>
            <a:endParaRPr lang="en-US"/>
          </a:p>
        </p:txBody>
      </p:sp>
      <p:sp>
        <p:nvSpPr>
          <p:cNvPr id="236" name="Freeform 236"/>
          <p:cNvSpPr/>
          <p:nvPr/>
        </p:nvSpPr>
        <p:spPr>
          <a:xfrm>
            <a:off x="14756529" y="8299458"/>
            <a:ext cx="198783" cy="178904"/>
          </a:xfrm>
          <a:custGeom>
            <a:avLst/>
            <a:gdLst/>
            <a:ahLst/>
            <a:cxnLst/>
            <a:rect l="l" t="t" r="r" b="b"/>
            <a:pathLst>
              <a:path w="198783" h="178904">
                <a:moveTo>
                  <a:pt x="0" y="0"/>
                </a:moveTo>
                <a:lnTo>
                  <a:pt x="198783" y="0"/>
                </a:lnTo>
                <a:lnTo>
                  <a:pt x="198783" y="178905"/>
                </a:lnTo>
                <a:lnTo>
                  <a:pt x="0" y="178905"/>
                </a:lnTo>
                <a:lnTo>
                  <a:pt x="0" y="0"/>
                </a:lnTo>
                <a:close/>
              </a:path>
            </a:pathLst>
          </a:custGeom>
          <a:blipFill>
            <a:blip>
              <a:extLst>
                <a:ext uri="{96DAC541-7B7A-43D3-8B79-37D633B846F1}">
                  <asvg:svgBlip xmlns:asvg="http://schemas.microsoft.com/office/drawing/2016/SVG/main" r:embed="rId9"/>
                </a:ext>
              </a:extLst>
            </a:blip>
            <a:stretch>
              <a:fillRect/>
            </a:stretch>
          </a:blipFill>
        </p:spPr>
        <p:txBody>
          <a:bodyPr/>
          <a:lstStyle/>
          <a:p>
            <a:endParaRPr lang="en-US"/>
          </a:p>
        </p:txBody>
      </p:sp>
      <p:sp>
        <p:nvSpPr>
          <p:cNvPr id="237" name="Freeform 237"/>
          <p:cNvSpPr/>
          <p:nvPr/>
        </p:nvSpPr>
        <p:spPr>
          <a:xfrm>
            <a:off x="16138758" y="8207451"/>
            <a:ext cx="278444" cy="279843"/>
          </a:xfrm>
          <a:custGeom>
            <a:avLst/>
            <a:gdLst/>
            <a:ahLst/>
            <a:cxnLst/>
            <a:rect l="l" t="t" r="r" b="b"/>
            <a:pathLst>
              <a:path w="278444" h="279843">
                <a:moveTo>
                  <a:pt x="0" y="0"/>
                </a:moveTo>
                <a:lnTo>
                  <a:pt x="278443" y="0"/>
                </a:lnTo>
                <a:lnTo>
                  <a:pt x="278443" y="279843"/>
                </a:lnTo>
                <a:lnTo>
                  <a:pt x="0" y="279843"/>
                </a:lnTo>
                <a:lnTo>
                  <a:pt x="0" y="0"/>
                </a:lnTo>
                <a:close/>
              </a:path>
            </a:pathLst>
          </a:custGeom>
          <a:blipFill>
            <a:blip>
              <a:extLst>
                <a:ext uri="{96DAC541-7B7A-43D3-8B79-37D633B846F1}">
                  <asvg:svgBlip xmlns:asvg="http://schemas.microsoft.com/office/drawing/2016/SVG/main" r:embed="rId10"/>
                </a:ext>
              </a:extLst>
            </a:blip>
            <a:stretch>
              <a:fillRect/>
            </a:stretch>
          </a:blipFill>
        </p:spPr>
        <p:txBody>
          <a:bodyPr/>
          <a:lstStyle/>
          <a:p>
            <a:endParaRPr lang="en-US"/>
          </a:p>
        </p:txBody>
      </p:sp>
      <p:grpSp>
        <p:nvGrpSpPr>
          <p:cNvPr id="238" name="Group 238"/>
          <p:cNvGrpSpPr/>
          <p:nvPr/>
        </p:nvGrpSpPr>
        <p:grpSpPr>
          <a:xfrm>
            <a:off x="16857114" y="8184751"/>
            <a:ext cx="325243" cy="325243"/>
            <a:chOff x="0" y="0"/>
            <a:chExt cx="812800" cy="812800"/>
          </a:xfrm>
        </p:grpSpPr>
        <p:sp>
          <p:nvSpPr>
            <p:cNvPr id="239" name="Freeform 239"/>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a:blip r:embed="rId11"/>
              <a:stretch>
                <a:fillRect l="-155679" t="-15600" b="-54426"/>
              </a:stretch>
            </a:blipFill>
            <a:ln w="38100" cap="sq">
              <a:solidFill>
                <a:srgbClr val="000000"/>
              </a:solidFill>
              <a:prstDash val="solid"/>
              <a:miter/>
            </a:ln>
          </p:spPr>
          <p:txBody>
            <a:bodyPr/>
            <a:lstStyle/>
            <a:p>
              <a:endParaRPr lang="en-US"/>
            </a:p>
          </p:txBody>
        </p:sp>
      </p:grpSp>
      <p:sp>
        <p:nvSpPr>
          <p:cNvPr id="240" name="Freeform 240"/>
          <p:cNvSpPr/>
          <p:nvPr/>
        </p:nvSpPr>
        <p:spPr>
          <a:xfrm>
            <a:off x="15303864" y="8194034"/>
            <a:ext cx="465125" cy="465125"/>
          </a:xfrm>
          <a:custGeom>
            <a:avLst/>
            <a:gdLst/>
            <a:ahLst/>
            <a:cxnLst/>
            <a:rect l="l" t="t" r="r" b="b"/>
            <a:pathLst>
              <a:path w="465125" h="465125">
                <a:moveTo>
                  <a:pt x="0" y="0"/>
                </a:moveTo>
                <a:lnTo>
                  <a:pt x="465125" y="0"/>
                </a:lnTo>
                <a:lnTo>
                  <a:pt x="465125" y="465125"/>
                </a:lnTo>
                <a:lnTo>
                  <a:pt x="0" y="465125"/>
                </a:lnTo>
                <a:lnTo>
                  <a:pt x="0" y="0"/>
                </a:lnTo>
                <a:close/>
              </a:path>
            </a:pathLst>
          </a:custGeom>
          <a:blipFill>
            <a:blip>
              <a:extLst>
                <a:ext uri="{96DAC541-7B7A-43D3-8B79-37D633B846F1}">
                  <asvg:svgBlip xmlns:asvg="http://schemas.microsoft.com/office/drawing/2016/SVG/main" r:embed="rId12"/>
                </a:ext>
              </a:extLst>
            </a:blip>
            <a:stretch>
              <a:fillRect/>
            </a:stretch>
          </a:blipFill>
        </p:spPr>
        <p:txBody>
          <a:bodyPr/>
          <a:lstStyle/>
          <a:p>
            <a:endParaRPr lang="en-US"/>
          </a:p>
        </p:txBody>
      </p:sp>
      <p:sp>
        <p:nvSpPr>
          <p:cNvPr id="241" name="Freeform 241"/>
          <p:cNvSpPr/>
          <p:nvPr/>
        </p:nvSpPr>
        <p:spPr>
          <a:xfrm>
            <a:off x="15381399" y="8300249"/>
            <a:ext cx="310056" cy="252696"/>
          </a:xfrm>
          <a:custGeom>
            <a:avLst/>
            <a:gdLst/>
            <a:ahLst/>
            <a:cxnLst/>
            <a:rect l="l" t="t" r="r" b="b"/>
            <a:pathLst>
              <a:path w="310056" h="252696">
                <a:moveTo>
                  <a:pt x="0" y="0"/>
                </a:moveTo>
                <a:lnTo>
                  <a:pt x="310056" y="0"/>
                </a:lnTo>
                <a:lnTo>
                  <a:pt x="310056" y="252695"/>
                </a:lnTo>
                <a:lnTo>
                  <a:pt x="0" y="252695"/>
                </a:lnTo>
                <a:lnTo>
                  <a:pt x="0" y="0"/>
                </a:lnTo>
                <a:close/>
              </a:path>
            </a:pathLst>
          </a:custGeom>
          <a:blipFill>
            <a:blip>
              <a:extLst>
                <a:ext uri="{96DAC541-7B7A-43D3-8B79-37D633B846F1}">
                  <asvg:svgBlip xmlns:asvg="http://schemas.microsoft.com/office/drawing/2016/SVG/main" r:embed="rId13"/>
                </a:ext>
              </a:extLst>
            </a:blip>
            <a:stretch>
              <a:fillRect/>
            </a:stretch>
          </a:blipFill>
        </p:spPr>
        <p:txBody>
          <a:bodyPr/>
          <a:lstStyle/>
          <a:p>
            <a:endParaRPr lang="en-US"/>
          </a:p>
        </p:txBody>
      </p:sp>
      <p:sp>
        <p:nvSpPr>
          <p:cNvPr id="242" name="TextBox 242"/>
          <p:cNvSpPr txBox="1"/>
          <p:nvPr/>
        </p:nvSpPr>
        <p:spPr>
          <a:xfrm>
            <a:off x="13797002" y="8577136"/>
            <a:ext cx="579831" cy="144996"/>
          </a:xfrm>
          <a:prstGeom prst="rect">
            <a:avLst/>
          </a:prstGeom>
        </p:spPr>
        <p:txBody>
          <a:bodyPr lIns="0" tIns="0" rIns="0" bIns="0" rtlCol="0" anchor="t">
            <a:spAutoFit/>
          </a:bodyPr>
          <a:lstStyle/>
          <a:p>
            <a:pPr algn="ctr">
              <a:lnSpc>
                <a:spcPts val="1020"/>
              </a:lnSpc>
              <a:spcBef>
                <a:spcPct val="0"/>
              </a:spcBef>
            </a:pPr>
            <a:r>
              <a:rPr lang="en-US" sz="850" b="1">
                <a:solidFill>
                  <a:srgbClr val="FFFFFF"/>
                </a:solidFill>
                <a:latin typeface="Calibri (MS) Bold"/>
                <a:ea typeface="Calibri (MS) Bold"/>
                <a:cs typeface="Calibri (MS) Bold"/>
                <a:sym typeface="Calibri (MS) Bold"/>
              </a:rPr>
              <a:t>Home</a:t>
            </a:r>
          </a:p>
        </p:txBody>
      </p:sp>
      <p:sp>
        <p:nvSpPr>
          <p:cNvPr id="243" name="TextBox 243"/>
          <p:cNvSpPr txBox="1"/>
          <p:nvPr/>
        </p:nvSpPr>
        <p:spPr>
          <a:xfrm>
            <a:off x="14566005" y="8577136"/>
            <a:ext cx="579831" cy="144996"/>
          </a:xfrm>
          <a:prstGeom prst="rect">
            <a:avLst/>
          </a:prstGeom>
        </p:spPr>
        <p:txBody>
          <a:bodyPr lIns="0" tIns="0" rIns="0" bIns="0" rtlCol="0" anchor="t">
            <a:spAutoFit/>
          </a:bodyPr>
          <a:lstStyle/>
          <a:p>
            <a:pPr algn="ctr">
              <a:lnSpc>
                <a:spcPts val="1020"/>
              </a:lnSpc>
              <a:spcBef>
                <a:spcPct val="0"/>
              </a:spcBef>
            </a:pPr>
            <a:r>
              <a:rPr lang="en-US" sz="850" b="1">
                <a:solidFill>
                  <a:srgbClr val="FFFFFF"/>
                </a:solidFill>
                <a:latin typeface="Calibri (MS) Bold"/>
                <a:ea typeface="Calibri (MS) Bold"/>
                <a:cs typeface="Calibri (MS) Bold"/>
                <a:sym typeface="Calibri (MS) Bold"/>
              </a:rPr>
              <a:t>Chat</a:t>
            </a:r>
          </a:p>
        </p:txBody>
      </p:sp>
      <p:sp>
        <p:nvSpPr>
          <p:cNvPr id="244" name="TextBox 244"/>
          <p:cNvSpPr txBox="1"/>
          <p:nvPr/>
        </p:nvSpPr>
        <p:spPr>
          <a:xfrm>
            <a:off x="15988064" y="8577136"/>
            <a:ext cx="579831" cy="144996"/>
          </a:xfrm>
          <a:prstGeom prst="rect">
            <a:avLst/>
          </a:prstGeom>
        </p:spPr>
        <p:txBody>
          <a:bodyPr lIns="0" tIns="0" rIns="0" bIns="0" rtlCol="0" anchor="t">
            <a:spAutoFit/>
          </a:bodyPr>
          <a:lstStyle/>
          <a:p>
            <a:pPr algn="ctr">
              <a:lnSpc>
                <a:spcPts val="1020"/>
              </a:lnSpc>
              <a:spcBef>
                <a:spcPct val="0"/>
              </a:spcBef>
            </a:pPr>
            <a:r>
              <a:rPr lang="en-US" sz="850" b="1">
                <a:solidFill>
                  <a:srgbClr val="FFFFFF"/>
                </a:solidFill>
                <a:latin typeface="Calibri (MS) Bold"/>
                <a:ea typeface="Calibri (MS) Bold"/>
                <a:cs typeface="Calibri (MS) Bold"/>
                <a:sym typeface="Calibri (MS) Bold"/>
              </a:rPr>
              <a:t>Memories</a:t>
            </a:r>
          </a:p>
        </p:txBody>
      </p:sp>
      <p:sp>
        <p:nvSpPr>
          <p:cNvPr id="245" name="TextBox 245"/>
          <p:cNvSpPr txBox="1"/>
          <p:nvPr/>
        </p:nvSpPr>
        <p:spPr>
          <a:xfrm>
            <a:off x="16729820" y="8577136"/>
            <a:ext cx="579831" cy="144996"/>
          </a:xfrm>
          <a:prstGeom prst="rect">
            <a:avLst/>
          </a:prstGeom>
        </p:spPr>
        <p:txBody>
          <a:bodyPr lIns="0" tIns="0" rIns="0" bIns="0" rtlCol="0" anchor="t">
            <a:spAutoFit/>
          </a:bodyPr>
          <a:lstStyle/>
          <a:p>
            <a:pPr algn="ctr">
              <a:lnSpc>
                <a:spcPts val="1020"/>
              </a:lnSpc>
              <a:spcBef>
                <a:spcPct val="0"/>
              </a:spcBef>
            </a:pPr>
            <a:r>
              <a:rPr lang="en-US" sz="850" b="1">
                <a:solidFill>
                  <a:srgbClr val="FFFFFF"/>
                </a:solidFill>
                <a:latin typeface="Calibri (MS) Bold"/>
                <a:ea typeface="Calibri (MS) Bold"/>
                <a:cs typeface="Calibri (MS) Bold"/>
                <a:sym typeface="Calibri (MS) Bold"/>
              </a:rPr>
              <a:t>Profile</a:t>
            </a:r>
          </a:p>
        </p:txBody>
      </p:sp>
      <p:grpSp>
        <p:nvGrpSpPr>
          <p:cNvPr id="246" name="Group 246"/>
          <p:cNvGrpSpPr/>
          <p:nvPr/>
        </p:nvGrpSpPr>
        <p:grpSpPr>
          <a:xfrm>
            <a:off x="13644220" y="2986567"/>
            <a:ext cx="1191637" cy="460152"/>
            <a:chOff x="0" y="0"/>
            <a:chExt cx="313847" cy="121192"/>
          </a:xfrm>
        </p:grpSpPr>
        <p:sp>
          <p:nvSpPr>
            <p:cNvPr id="247" name="Freeform 247"/>
            <p:cNvSpPr/>
            <p:nvPr/>
          </p:nvSpPr>
          <p:spPr>
            <a:xfrm>
              <a:off x="0" y="0"/>
              <a:ext cx="313847" cy="121192"/>
            </a:xfrm>
            <a:custGeom>
              <a:avLst/>
              <a:gdLst/>
              <a:ahLst/>
              <a:cxnLst/>
              <a:rect l="l" t="t" r="r" b="b"/>
              <a:pathLst>
                <a:path w="313847" h="121192">
                  <a:moveTo>
                    <a:pt x="60596" y="0"/>
                  </a:moveTo>
                  <a:lnTo>
                    <a:pt x="253251" y="0"/>
                  </a:lnTo>
                  <a:cubicBezTo>
                    <a:pt x="286717" y="0"/>
                    <a:pt x="313847" y="27130"/>
                    <a:pt x="313847" y="60596"/>
                  </a:cubicBezTo>
                  <a:lnTo>
                    <a:pt x="313847" y="60596"/>
                  </a:lnTo>
                  <a:cubicBezTo>
                    <a:pt x="313847" y="76667"/>
                    <a:pt x="307463" y="92080"/>
                    <a:pt x="296099" y="103444"/>
                  </a:cubicBezTo>
                  <a:cubicBezTo>
                    <a:pt x="284735" y="114808"/>
                    <a:pt x="269322" y="121192"/>
                    <a:pt x="253251" y="121192"/>
                  </a:cubicBezTo>
                  <a:lnTo>
                    <a:pt x="60596" y="121192"/>
                  </a:lnTo>
                  <a:cubicBezTo>
                    <a:pt x="44525" y="121192"/>
                    <a:pt x="29112" y="114808"/>
                    <a:pt x="17748" y="103444"/>
                  </a:cubicBezTo>
                  <a:cubicBezTo>
                    <a:pt x="6384" y="92080"/>
                    <a:pt x="0" y="76667"/>
                    <a:pt x="0" y="60596"/>
                  </a:cubicBezTo>
                  <a:lnTo>
                    <a:pt x="0" y="60596"/>
                  </a:lnTo>
                  <a:cubicBezTo>
                    <a:pt x="0" y="44525"/>
                    <a:pt x="6384" y="29112"/>
                    <a:pt x="17748" y="17748"/>
                  </a:cubicBezTo>
                  <a:cubicBezTo>
                    <a:pt x="29112" y="6384"/>
                    <a:pt x="44525" y="0"/>
                    <a:pt x="60596" y="0"/>
                  </a:cubicBezTo>
                  <a:close/>
                </a:path>
              </a:pathLst>
            </a:custGeom>
            <a:solidFill>
              <a:srgbClr val="232222"/>
            </a:solidFill>
          </p:spPr>
          <p:txBody>
            <a:bodyPr/>
            <a:lstStyle/>
            <a:p>
              <a:endParaRPr lang="en-US"/>
            </a:p>
          </p:txBody>
        </p:sp>
        <p:sp>
          <p:nvSpPr>
            <p:cNvPr id="248" name="TextBox 248"/>
            <p:cNvSpPr txBox="1"/>
            <p:nvPr/>
          </p:nvSpPr>
          <p:spPr>
            <a:xfrm>
              <a:off x="0" y="-47625"/>
              <a:ext cx="313847" cy="168817"/>
            </a:xfrm>
            <a:prstGeom prst="rect">
              <a:avLst/>
            </a:prstGeom>
          </p:spPr>
          <p:txBody>
            <a:bodyPr lIns="50800" tIns="50800" rIns="50800" bIns="50800" rtlCol="0" anchor="ctr"/>
            <a:lstStyle/>
            <a:p>
              <a:pPr algn="ctr">
                <a:lnSpc>
                  <a:spcPts val="2340"/>
                </a:lnSpc>
              </a:pPr>
              <a:endParaRPr/>
            </a:p>
          </p:txBody>
        </p:sp>
      </p:grpSp>
      <p:grpSp>
        <p:nvGrpSpPr>
          <p:cNvPr id="249" name="Group 249"/>
          <p:cNvGrpSpPr/>
          <p:nvPr/>
        </p:nvGrpSpPr>
        <p:grpSpPr>
          <a:xfrm>
            <a:off x="14067913" y="2330245"/>
            <a:ext cx="1184143" cy="599067"/>
            <a:chOff x="0" y="0"/>
            <a:chExt cx="1892503" cy="957431"/>
          </a:xfrm>
        </p:grpSpPr>
        <p:sp>
          <p:nvSpPr>
            <p:cNvPr id="250" name="Freeform 250"/>
            <p:cNvSpPr/>
            <p:nvPr/>
          </p:nvSpPr>
          <p:spPr>
            <a:xfrm>
              <a:off x="0" y="0"/>
              <a:ext cx="1892503" cy="957431"/>
            </a:xfrm>
            <a:custGeom>
              <a:avLst/>
              <a:gdLst/>
              <a:ahLst/>
              <a:cxnLst/>
              <a:rect l="l" t="t" r="r" b="b"/>
              <a:pathLst>
                <a:path w="1892503" h="957431">
                  <a:moveTo>
                    <a:pt x="0" y="0"/>
                  </a:moveTo>
                  <a:lnTo>
                    <a:pt x="1892503" y="0"/>
                  </a:lnTo>
                  <a:lnTo>
                    <a:pt x="1892503" y="957431"/>
                  </a:lnTo>
                  <a:lnTo>
                    <a:pt x="0" y="957431"/>
                  </a:lnTo>
                  <a:close/>
                </a:path>
              </a:pathLst>
            </a:custGeom>
            <a:blipFill>
              <a:blip r:embed="rId3">
                <a:alphaModFix amt="0"/>
              </a:blip>
              <a:stretch>
                <a:fillRect t="-300064" r="-914656" b="-381525"/>
              </a:stretch>
            </a:blipFill>
          </p:spPr>
          <p:txBody>
            <a:bodyPr/>
            <a:lstStyle/>
            <a:p>
              <a:endParaRPr lang="en-US"/>
            </a:p>
          </p:txBody>
        </p:sp>
        <p:sp>
          <p:nvSpPr>
            <p:cNvPr id="251" name="TextBox 251"/>
            <p:cNvSpPr txBox="1"/>
            <p:nvPr/>
          </p:nvSpPr>
          <p:spPr>
            <a:xfrm>
              <a:off x="0" y="0"/>
              <a:ext cx="1892503" cy="957431"/>
            </a:xfrm>
            <a:prstGeom prst="rect">
              <a:avLst/>
            </a:prstGeom>
          </p:spPr>
          <p:txBody>
            <a:bodyPr lIns="0" tIns="0" rIns="0" bIns="0" rtlCol="0" anchor="ctr"/>
            <a:lstStyle/>
            <a:p>
              <a:pPr algn="l">
                <a:lnSpc>
                  <a:spcPts val="1280"/>
                </a:lnSpc>
              </a:pPr>
              <a:r>
                <a:rPr lang="en-US" sz="1200" b="1">
                  <a:solidFill>
                    <a:srgbClr val="FFFFFF"/>
                  </a:solidFill>
                  <a:latin typeface="Arial Bold"/>
                  <a:ea typeface="Arial Bold"/>
                  <a:cs typeface="Arial Bold"/>
                  <a:sym typeface="Arial Bold"/>
                </a:rPr>
                <a:t>My Friends</a:t>
              </a:r>
            </a:p>
          </p:txBody>
        </p:sp>
      </p:grpSp>
      <p:grpSp>
        <p:nvGrpSpPr>
          <p:cNvPr id="252" name="Group 252"/>
          <p:cNvGrpSpPr/>
          <p:nvPr/>
        </p:nvGrpSpPr>
        <p:grpSpPr>
          <a:xfrm>
            <a:off x="13892041" y="2980917"/>
            <a:ext cx="767944" cy="471450"/>
            <a:chOff x="0" y="0"/>
            <a:chExt cx="1559557" cy="957431"/>
          </a:xfrm>
        </p:grpSpPr>
        <p:sp>
          <p:nvSpPr>
            <p:cNvPr id="253" name="Freeform 253"/>
            <p:cNvSpPr/>
            <p:nvPr/>
          </p:nvSpPr>
          <p:spPr>
            <a:xfrm>
              <a:off x="0" y="0"/>
              <a:ext cx="1559557" cy="957431"/>
            </a:xfrm>
            <a:custGeom>
              <a:avLst/>
              <a:gdLst/>
              <a:ahLst/>
              <a:cxnLst/>
              <a:rect l="l" t="t" r="r" b="b"/>
              <a:pathLst>
                <a:path w="1559557" h="957431">
                  <a:moveTo>
                    <a:pt x="0" y="0"/>
                  </a:moveTo>
                  <a:lnTo>
                    <a:pt x="1559557" y="0"/>
                  </a:lnTo>
                  <a:lnTo>
                    <a:pt x="1559557" y="957431"/>
                  </a:lnTo>
                  <a:lnTo>
                    <a:pt x="0" y="957431"/>
                  </a:lnTo>
                  <a:close/>
                </a:path>
              </a:pathLst>
            </a:custGeom>
            <a:blipFill>
              <a:blip r:embed="rId3">
                <a:alphaModFix amt="0"/>
              </a:blip>
              <a:stretch>
                <a:fillRect t="-300064" r="-1131272" b="-381525"/>
              </a:stretch>
            </a:blipFill>
          </p:spPr>
          <p:txBody>
            <a:bodyPr/>
            <a:lstStyle/>
            <a:p>
              <a:endParaRPr lang="en-US"/>
            </a:p>
          </p:txBody>
        </p:sp>
        <p:sp>
          <p:nvSpPr>
            <p:cNvPr id="254" name="TextBox 254"/>
            <p:cNvSpPr txBox="1"/>
            <p:nvPr/>
          </p:nvSpPr>
          <p:spPr>
            <a:xfrm>
              <a:off x="0" y="0"/>
              <a:ext cx="1559557" cy="957431"/>
            </a:xfrm>
            <a:prstGeom prst="rect">
              <a:avLst/>
            </a:prstGeom>
          </p:spPr>
          <p:txBody>
            <a:bodyPr lIns="0" tIns="0" rIns="0" bIns="0" rtlCol="0" anchor="ctr"/>
            <a:lstStyle/>
            <a:p>
              <a:pPr algn="ctr">
                <a:lnSpc>
                  <a:spcPts val="1280"/>
                </a:lnSpc>
              </a:pPr>
              <a:r>
                <a:rPr lang="en-US" sz="1200" b="1">
                  <a:solidFill>
                    <a:srgbClr val="FFFFFF"/>
                  </a:solidFill>
                  <a:latin typeface="Arial Bold"/>
                  <a:ea typeface="Arial Bold"/>
                  <a:cs typeface="Arial Bold"/>
                  <a:sym typeface="Arial Bold"/>
                </a:rPr>
                <a:t>Today</a:t>
              </a:r>
            </a:p>
          </p:txBody>
        </p:sp>
      </p:grpSp>
      <p:grpSp>
        <p:nvGrpSpPr>
          <p:cNvPr id="255" name="Group 255"/>
          <p:cNvGrpSpPr/>
          <p:nvPr/>
        </p:nvGrpSpPr>
        <p:grpSpPr>
          <a:xfrm>
            <a:off x="14949077" y="2980917"/>
            <a:ext cx="1191637" cy="460152"/>
            <a:chOff x="0" y="0"/>
            <a:chExt cx="313847" cy="121192"/>
          </a:xfrm>
        </p:grpSpPr>
        <p:sp>
          <p:nvSpPr>
            <p:cNvPr id="256" name="Freeform 256"/>
            <p:cNvSpPr/>
            <p:nvPr/>
          </p:nvSpPr>
          <p:spPr>
            <a:xfrm>
              <a:off x="0" y="0"/>
              <a:ext cx="313847" cy="121192"/>
            </a:xfrm>
            <a:custGeom>
              <a:avLst/>
              <a:gdLst/>
              <a:ahLst/>
              <a:cxnLst/>
              <a:rect l="l" t="t" r="r" b="b"/>
              <a:pathLst>
                <a:path w="313847" h="121192">
                  <a:moveTo>
                    <a:pt x="60596" y="0"/>
                  </a:moveTo>
                  <a:lnTo>
                    <a:pt x="253251" y="0"/>
                  </a:lnTo>
                  <a:cubicBezTo>
                    <a:pt x="286717" y="0"/>
                    <a:pt x="313847" y="27130"/>
                    <a:pt x="313847" y="60596"/>
                  </a:cubicBezTo>
                  <a:lnTo>
                    <a:pt x="313847" y="60596"/>
                  </a:lnTo>
                  <a:cubicBezTo>
                    <a:pt x="313847" y="76667"/>
                    <a:pt x="307463" y="92080"/>
                    <a:pt x="296099" y="103444"/>
                  </a:cubicBezTo>
                  <a:cubicBezTo>
                    <a:pt x="284735" y="114808"/>
                    <a:pt x="269322" y="121192"/>
                    <a:pt x="253251" y="121192"/>
                  </a:cubicBezTo>
                  <a:lnTo>
                    <a:pt x="60596" y="121192"/>
                  </a:lnTo>
                  <a:cubicBezTo>
                    <a:pt x="44525" y="121192"/>
                    <a:pt x="29112" y="114808"/>
                    <a:pt x="17748" y="103444"/>
                  </a:cubicBezTo>
                  <a:cubicBezTo>
                    <a:pt x="6384" y="92080"/>
                    <a:pt x="0" y="76667"/>
                    <a:pt x="0" y="60596"/>
                  </a:cubicBezTo>
                  <a:lnTo>
                    <a:pt x="0" y="60596"/>
                  </a:lnTo>
                  <a:cubicBezTo>
                    <a:pt x="0" y="44525"/>
                    <a:pt x="6384" y="29112"/>
                    <a:pt x="17748" y="17748"/>
                  </a:cubicBezTo>
                  <a:cubicBezTo>
                    <a:pt x="29112" y="6384"/>
                    <a:pt x="44525" y="0"/>
                    <a:pt x="60596" y="0"/>
                  </a:cubicBezTo>
                  <a:close/>
                </a:path>
              </a:pathLst>
            </a:custGeom>
            <a:solidFill>
              <a:srgbClr val="FFFFFF"/>
            </a:solidFill>
          </p:spPr>
          <p:txBody>
            <a:bodyPr/>
            <a:lstStyle/>
            <a:p>
              <a:endParaRPr lang="en-US"/>
            </a:p>
          </p:txBody>
        </p:sp>
        <p:sp>
          <p:nvSpPr>
            <p:cNvPr id="257" name="TextBox 257"/>
            <p:cNvSpPr txBox="1"/>
            <p:nvPr/>
          </p:nvSpPr>
          <p:spPr>
            <a:xfrm>
              <a:off x="0" y="-47625"/>
              <a:ext cx="313847" cy="168817"/>
            </a:xfrm>
            <a:prstGeom prst="rect">
              <a:avLst/>
            </a:prstGeom>
          </p:spPr>
          <p:txBody>
            <a:bodyPr lIns="50800" tIns="50800" rIns="50800" bIns="50800" rtlCol="0" anchor="ctr"/>
            <a:lstStyle/>
            <a:p>
              <a:pPr algn="ctr">
                <a:lnSpc>
                  <a:spcPts val="2340"/>
                </a:lnSpc>
              </a:pPr>
              <a:endParaRPr/>
            </a:p>
          </p:txBody>
        </p:sp>
      </p:grpSp>
      <p:grpSp>
        <p:nvGrpSpPr>
          <p:cNvPr id="258" name="Group 258"/>
          <p:cNvGrpSpPr/>
          <p:nvPr/>
        </p:nvGrpSpPr>
        <p:grpSpPr>
          <a:xfrm>
            <a:off x="15197808" y="2980917"/>
            <a:ext cx="697757" cy="471450"/>
            <a:chOff x="0" y="0"/>
            <a:chExt cx="1417019" cy="957431"/>
          </a:xfrm>
        </p:grpSpPr>
        <p:sp>
          <p:nvSpPr>
            <p:cNvPr id="259" name="Freeform 259"/>
            <p:cNvSpPr/>
            <p:nvPr/>
          </p:nvSpPr>
          <p:spPr>
            <a:xfrm>
              <a:off x="0" y="0"/>
              <a:ext cx="1417019" cy="957431"/>
            </a:xfrm>
            <a:custGeom>
              <a:avLst/>
              <a:gdLst/>
              <a:ahLst/>
              <a:cxnLst/>
              <a:rect l="l" t="t" r="r" b="b"/>
              <a:pathLst>
                <a:path w="1417019" h="957431">
                  <a:moveTo>
                    <a:pt x="0" y="0"/>
                  </a:moveTo>
                  <a:lnTo>
                    <a:pt x="1417019" y="0"/>
                  </a:lnTo>
                  <a:lnTo>
                    <a:pt x="1417019" y="957431"/>
                  </a:lnTo>
                  <a:lnTo>
                    <a:pt x="0" y="957431"/>
                  </a:lnTo>
                  <a:close/>
                </a:path>
              </a:pathLst>
            </a:custGeom>
            <a:blipFill>
              <a:blip r:embed="rId3">
                <a:alphaModFix amt="0"/>
              </a:blip>
              <a:stretch>
                <a:fillRect t="-300064" r="-1255126" b="-381525"/>
              </a:stretch>
            </a:blipFill>
          </p:spPr>
          <p:txBody>
            <a:bodyPr/>
            <a:lstStyle/>
            <a:p>
              <a:endParaRPr lang="en-US"/>
            </a:p>
          </p:txBody>
        </p:sp>
        <p:sp>
          <p:nvSpPr>
            <p:cNvPr id="260" name="TextBox 260"/>
            <p:cNvSpPr txBox="1"/>
            <p:nvPr/>
          </p:nvSpPr>
          <p:spPr>
            <a:xfrm>
              <a:off x="0" y="0"/>
              <a:ext cx="1417019" cy="957431"/>
            </a:xfrm>
            <a:prstGeom prst="rect">
              <a:avLst/>
            </a:prstGeom>
          </p:spPr>
          <p:txBody>
            <a:bodyPr lIns="0" tIns="0" rIns="0" bIns="0" rtlCol="0" anchor="ctr"/>
            <a:lstStyle/>
            <a:p>
              <a:pPr algn="ctr">
                <a:lnSpc>
                  <a:spcPts val="1280"/>
                </a:lnSpc>
              </a:pPr>
              <a:r>
                <a:rPr lang="en-US" sz="1200" b="1">
                  <a:solidFill>
                    <a:srgbClr val="000000"/>
                  </a:solidFill>
                  <a:latin typeface="Arial Bold"/>
                  <a:ea typeface="Arial Bold"/>
                  <a:cs typeface="Arial Bold"/>
                  <a:sym typeface="Arial Bold"/>
                </a:rPr>
                <a:t>Board</a:t>
              </a:r>
            </a:p>
          </p:txBody>
        </p:sp>
      </p:grpSp>
      <p:grpSp>
        <p:nvGrpSpPr>
          <p:cNvPr id="261" name="Group 261"/>
          <p:cNvGrpSpPr/>
          <p:nvPr/>
        </p:nvGrpSpPr>
        <p:grpSpPr>
          <a:xfrm>
            <a:off x="16253933" y="2975268"/>
            <a:ext cx="1191637" cy="460152"/>
            <a:chOff x="0" y="0"/>
            <a:chExt cx="313847" cy="121192"/>
          </a:xfrm>
        </p:grpSpPr>
        <p:sp>
          <p:nvSpPr>
            <p:cNvPr id="262" name="Freeform 262"/>
            <p:cNvSpPr/>
            <p:nvPr/>
          </p:nvSpPr>
          <p:spPr>
            <a:xfrm>
              <a:off x="0" y="0"/>
              <a:ext cx="313847" cy="121192"/>
            </a:xfrm>
            <a:custGeom>
              <a:avLst/>
              <a:gdLst/>
              <a:ahLst/>
              <a:cxnLst/>
              <a:rect l="l" t="t" r="r" b="b"/>
              <a:pathLst>
                <a:path w="313847" h="121192">
                  <a:moveTo>
                    <a:pt x="60596" y="0"/>
                  </a:moveTo>
                  <a:lnTo>
                    <a:pt x="253251" y="0"/>
                  </a:lnTo>
                  <a:cubicBezTo>
                    <a:pt x="286717" y="0"/>
                    <a:pt x="313847" y="27130"/>
                    <a:pt x="313847" y="60596"/>
                  </a:cubicBezTo>
                  <a:lnTo>
                    <a:pt x="313847" y="60596"/>
                  </a:lnTo>
                  <a:cubicBezTo>
                    <a:pt x="313847" y="76667"/>
                    <a:pt x="307463" y="92080"/>
                    <a:pt x="296099" y="103444"/>
                  </a:cubicBezTo>
                  <a:cubicBezTo>
                    <a:pt x="284735" y="114808"/>
                    <a:pt x="269322" y="121192"/>
                    <a:pt x="253251" y="121192"/>
                  </a:cubicBezTo>
                  <a:lnTo>
                    <a:pt x="60596" y="121192"/>
                  </a:lnTo>
                  <a:cubicBezTo>
                    <a:pt x="44525" y="121192"/>
                    <a:pt x="29112" y="114808"/>
                    <a:pt x="17748" y="103444"/>
                  </a:cubicBezTo>
                  <a:cubicBezTo>
                    <a:pt x="6384" y="92080"/>
                    <a:pt x="0" y="76667"/>
                    <a:pt x="0" y="60596"/>
                  </a:cubicBezTo>
                  <a:lnTo>
                    <a:pt x="0" y="60596"/>
                  </a:lnTo>
                  <a:cubicBezTo>
                    <a:pt x="0" y="44525"/>
                    <a:pt x="6384" y="29112"/>
                    <a:pt x="17748" y="17748"/>
                  </a:cubicBezTo>
                  <a:cubicBezTo>
                    <a:pt x="29112" y="6384"/>
                    <a:pt x="44525" y="0"/>
                    <a:pt x="60596" y="0"/>
                  </a:cubicBezTo>
                  <a:close/>
                </a:path>
              </a:pathLst>
            </a:custGeom>
            <a:solidFill>
              <a:srgbClr val="363535"/>
            </a:solidFill>
          </p:spPr>
          <p:txBody>
            <a:bodyPr/>
            <a:lstStyle/>
            <a:p>
              <a:endParaRPr lang="en-US"/>
            </a:p>
          </p:txBody>
        </p:sp>
        <p:sp>
          <p:nvSpPr>
            <p:cNvPr id="263" name="TextBox 263"/>
            <p:cNvSpPr txBox="1"/>
            <p:nvPr/>
          </p:nvSpPr>
          <p:spPr>
            <a:xfrm>
              <a:off x="0" y="-47625"/>
              <a:ext cx="313847" cy="168817"/>
            </a:xfrm>
            <a:prstGeom prst="rect">
              <a:avLst/>
            </a:prstGeom>
          </p:spPr>
          <p:txBody>
            <a:bodyPr lIns="50800" tIns="50800" rIns="50800" bIns="50800" rtlCol="0" anchor="ctr"/>
            <a:lstStyle/>
            <a:p>
              <a:pPr algn="ctr">
                <a:lnSpc>
                  <a:spcPts val="2340"/>
                </a:lnSpc>
              </a:pPr>
              <a:endParaRPr/>
            </a:p>
          </p:txBody>
        </p:sp>
      </p:grpSp>
      <p:grpSp>
        <p:nvGrpSpPr>
          <p:cNvPr id="264" name="Group 264"/>
          <p:cNvGrpSpPr/>
          <p:nvPr/>
        </p:nvGrpSpPr>
        <p:grpSpPr>
          <a:xfrm>
            <a:off x="16502664" y="2986567"/>
            <a:ext cx="696070" cy="471450"/>
            <a:chOff x="0" y="0"/>
            <a:chExt cx="1413593" cy="957431"/>
          </a:xfrm>
        </p:grpSpPr>
        <p:sp>
          <p:nvSpPr>
            <p:cNvPr id="265" name="Freeform 265"/>
            <p:cNvSpPr/>
            <p:nvPr/>
          </p:nvSpPr>
          <p:spPr>
            <a:xfrm>
              <a:off x="0" y="0"/>
              <a:ext cx="1413593" cy="957431"/>
            </a:xfrm>
            <a:custGeom>
              <a:avLst/>
              <a:gdLst/>
              <a:ahLst/>
              <a:cxnLst/>
              <a:rect l="l" t="t" r="r" b="b"/>
              <a:pathLst>
                <a:path w="1413593" h="957431">
                  <a:moveTo>
                    <a:pt x="0" y="0"/>
                  </a:moveTo>
                  <a:lnTo>
                    <a:pt x="1413593" y="0"/>
                  </a:lnTo>
                  <a:lnTo>
                    <a:pt x="1413593" y="957431"/>
                  </a:lnTo>
                  <a:lnTo>
                    <a:pt x="0" y="957431"/>
                  </a:lnTo>
                  <a:close/>
                </a:path>
              </a:pathLst>
            </a:custGeom>
            <a:blipFill>
              <a:blip r:embed="rId3">
                <a:alphaModFix amt="0"/>
              </a:blip>
              <a:stretch>
                <a:fillRect t="-300064" r="-1258411" b="-381525"/>
              </a:stretch>
            </a:blipFill>
          </p:spPr>
          <p:txBody>
            <a:bodyPr/>
            <a:lstStyle/>
            <a:p>
              <a:endParaRPr lang="en-US"/>
            </a:p>
          </p:txBody>
        </p:sp>
        <p:sp>
          <p:nvSpPr>
            <p:cNvPr id="266" name="TextBox 266"/>
            <p:cNvSpPr txBox="1"/>
            <p:nvPr/>
          </p:nvSpPr>
          <p:spPr>
            <a:xfrm>
              <a:off x="0" y="0"/>
              <a:ext cx="1413593" cy="957431"/>
            </a:xfrm>
            <a:prstGeom prst="rect">
              <a:avLst/>
            </a:prstGeom>
          </p:spPr>
          <p:txBody>
            <a:bodyPr lIns="0" tIns="0" rIns="0" bIns="0" rtlCol="0" anchor="ctr"/>
            <a:lstStyle/>
            <a:p>
              <a:pPr algn="ctr">
                <a:lnSpc>
                  <a:spcPts val="1280"/>
                </a:lnSpc>
              </a:pPr>
              <a:r>
                <a:rPr lang="en-US" sz="1200" b="1">
                  <a:solidFill>
                    <a:srgbClr val="FFFFFF"/>
                  </a:solidFill>
                  <a:latin typeface="Arial Bold"/>
                  <a:ea typeface="Arial Bold"/>
                  <a:cs typeface="Arial Bold"/>
                  <a:sym typeface="Arial Bold"/>
                </a:rPr>
                <a:t>Passport</a:t>
              </a:r>
            </a:p>
          </p:txBody>
        </p:sp>
      </p:grpSp>
      <p:grpSp>
        <p:nvGrpSpPr>
          <p:cNvPr id="267" name="Group 267"/>
          <p:cNvGrpSpPr/>
          <p:nvPr/>
        </p:nvGrpSpPr>
        <p:grpSpPr>
          <a:xfrm>
            <a:off x="13705963" y="3528855"/>
            <a:ext cx="2086063" cy="599067"/>
            <a:chOff x="0" y="0"/>
            <a:chExt cx="3333956" cy="957431"/>
          </a:xfrm>
        </p:grpSpPr>
        <p:sp>
          <p:nvSpPr>
            <p:cNvPr id="268" name="Freeform 268"/>
            <p:cNvSpPr/>
            <p:nvPr/>
          </p:nvSpPr>
          <p:spPr>
            <a:xfrm>
              <a:off x="0" y="0"/>
              <a:ext cx="3333956" cy="957431"/>
            </a:xfrm>
            <a:custGeom>
              <a:avLst/>
              <a:gdLst/>
              <a:ahLst/>
              <a:cxnLst/>
              <a:rect l="l" t="t" r="r" b="b"/>
              <a:pathLst>
                <a:path w="3333956" h="957431">
                  <a:moveTo>
                    <a:pt x="0" y="0"/>
                  </a:moveTo>
                  <a:lnTo>
                    <a:pt x="3333956" y="0"/>
                  </a:lnTo>
                  <a:lnTo>
                    <a:pt x="3333956" y="957431"/>
                  </a:lnTo>
                  <a:lnTo>
                    <a:pt x="0" y="957431"/>
                  </a:lnTo>
                  <a:close/>
                </a:path>
              </a:pathLst>
            </a:custGeom>
            <a:blipFill>
              <a:blip r:embed="rId3">
                <a:alphaModFix amt="0"/>
              </a:blip>
              <a:stretch>
                <a:fillRect t="-300064" r="-475964" b="-381525"/>
              </a:stretch>
            </a:blipFill>
          </p:spPr>
          <p:txBody>
            <a:bodyPr/>
            <a:lstStyle/>
            <a:p>
              <a:endParaRPr lang="en-US"/>
            </a:p>
          </p:txBody>
        </p:sp>
        <p:sp>
          <p:nvSpPr>
            <p:cNvPr id="269" name="TextBox 269"/>
            <p:cNvSpPr txBox="1"/>
            <p:nvPr/>
          </p:nvSpPr>
          <p:spPr>
            <a:xfrm>
              <a:off x="0" y="0"/>
              <a:ext cx="3333956" cy="957431"/>
            </a:xfrm>
            <a:prstGeom prst="rect">
              <a:avLst/>
            </a:prstGeom>
          </p:spPr>
          <p:txBody>
            <a:bodyPr lIns="0" tIns="0" rIns="0" bIns="0" rtlCol="0" anchor="ctr"/>
            <a:lstStyle/>
            <a:p>
              <a:pPr algn="l">
                <a:lnSpc>
                  <a:spcPts val="1813"/>
                </a:lnSpc>
              </a:pPr>
              <a:r>
                <a:rPr lang="en-US" sz="1700" b="1">
                  <a:solidFill>
                    <a:srgbClr val="FFFFFF"/>
                  </a:solidFill>
                  <a:latin typeface="Arial Bold"/>
                  <a:ea typeface="Arial Bold"/>
                  <a:cs typeface="Arial Bold"/>
                  <a:sym typeface="Arial Bold"/>
                </a:rPr>
                <a:t>October 2026 Board</a:t>
              </a:r>
            </a:p>
          </p:txBody>
        </p:sp>
      </p:grpSp>
      <p:grpSp>
        <p:nvGrpSpPr>
          <p:cNvPr id="270" name="Group 270"/>
          <p:cNvGrpSpPr/>
          <p:nvPr/>
        </p:nvGrpSpPr>
        <p:grpSpPr>
          <a:xfrm>
            <a:off x="16355583" y="3678622"/>
            <a:ext cx="944801" cy="299533"/>
            <a:chOff x="0" y="0"/>
            <a:chExt cx="1509985" cy="478716"/>
          </a:xfrm>
        </p:grpSpPr>
        <p:sp>
          <p:nvSpPr>
            <p:cNvPr id="271" name="Freeform 271"/>
            <p:cNvSpPr/>
            <p:nvPr/>
          </p:nvSpPr>
          <p:spPr>
            <a:xfrm>
              <a:off x="0" y="0"/>
              <a:ext cx="1509985" cy="478716"/>
            </a:xfrm>
            <a:custGeom>
              <a:avLst/>
              <a:gdLst/>
              <a:ahLst/>
              <a:cxnLst/>
              <a:rect l="l" t="t" r="r" b="b"/>
              <a:pathLst>
                <a:path w="1509985" h="478716">
                  <a:moveTo>
                    <a:pt x="0" y="0"/>
                  </a:moveTo>
                  <a:lnTo>
                    <a:pt x="1509985" y="0"/>
                  </a:lnTo>
                  <a:lnTo>
                    <a:pt x="1509985" y="478716"/>
                  </a:lnTo>
                  <a:lnTo>
                    <a:pt x="0" y="478716"/>
                  </a:lnTo>
                  <a:close/>
                </a:path>
              </a:pathLst>
            </a:custGeom>
            <a:blipFill>
              <a:blip r:embed="rId3">
                <a:alphaModFix amt="0"/>
              </a:blip>
              <a:stretch>
                <a:fillRect t="-600129" r="-1171694" b="-863051"/>
              </a:stretch>
            </a:blipFill>
          </p:spPr>
          <p:txBody>
            <a:bodyPr/>
            <a:lstStyle/>
            <a:p>
              <a:endParaRPr lang="en-US"/>
            </a:p>
          </p:txBody>
        </p:sp>
        <p:sp>
          <p:nvSpPr>
            <p:cNvPr id="272" name="TextBox 272"/>
            <p:cNvSpPr txBox="1"/>
            <p:nvPr/>
          </p:nvSpPr>
          <p:spPr>
            <a:xfrm>
              <a:off x="0" y="0"/>
              <a:ext cx="1509985" cy="478716"/>
            </a:xfrm>
            <a:prstGeom prst="rect">
              <a:avLst/>
            </a:prstGeom>
          </p:spPr>
          <p:txBody>
            <a:bodyPr lIns="0" tIns="0" rIns="0" bIns="0" rtlCol="0" anchor="ctr"/>
            <a:lstStyle/>
            <a:p>
              <a:pPr algn="l">
                <a:lnSpc>
                  <a:spcPts val="1280"/>
                </a:lnSpc>
              </a:pPr>
              <a:r>
                <a:rPr lang="en-US" sz="1200">
                  <a:solidFill>
                    <a:srgbClr val="FFFFFF"/>
                  </a:solidFill>
                  <a:latin typeface="Arial"/>
                  <a:ea typeface="Arial"/>
                  <a:cs typeface="Arial"/>
                  <a:sym typeface="Arial"/>
                </a:rPr>
                <a:t>0 FRIENDS</a:t>
              </a:r>
            </a:p>
          </p:txBody>
        </p:sp>
      </p:grpSp>
      <p:grpSp>
        <p:nvGrpSpPr>
          <p:cNvPr id="273" name="Group 273"/>
          <p:cNvGrpSpPr/>
          <p:nvPr/>
        </p:nvGrpSpPr>
        <p:grpSpPr>
          <a:xfrm>
            <a:off x="13705963" y="4127922"/>
            <a:ext cx="3638211" cy="685923"/>
            <a:chOff x="0" y="0"/>
            <a:chExt cx="958212" cy="180655"/>
          </a:xfrm>
        </p:grpSpPr>
        <p:sp>
          <p:nvSpPr>
            <p:cNvPr id="274" name="Freeform 274"/>
            <p:cNvSpPr/>
            <p:nvPr/>
          </p:nvSpPr>
          <p:spPr>
            <a:xfrm>
              <a:off x="0" y="0"/>
              <a:ext cx="958212" cy="180655"/>
            </a:xfrm>
            <a:custGeom>
              <a:avLst/>
              <a:gdLst/>
              <a:ahLst/>
              <a:cxnLst/>
              <a:rect l="l" t="t" r="r" b="b"/>
              <a:pathLst>
                <a:path w="958212" h="180655">
                  <a:moveTo>
                    <a:pt x="90327" y="0"/>
                  </a:moveTo>
                  <a:lnTo>
                    <a:pt x="867885" y="0"/>
                  </a:lnTo>
                  <a:cubicBezTo>
                    <a:pt x="891841" y="0"/>
                    <a:pt x="914816" y="9517"/>
                    <a:pt x="931756" y="26456"/>
                  </a:cubicBezTo>
                  <a:cubicBezTo>
                    <a:pt x="948695" y="43396"/>
                    <a:pt x="958212" y="66371"/>
                    <a:pt x="958212" y="90327"/>
                  </a:cubicBezTo>
                  <a:lnTo>
                    <a:pt x="958212" y="90327"/>
                  </a:lnTo>
                  <a:cubicBezTo>
                    <a:pt x="958212" y="140214"/>
                    <a:pt x="917771" y="180655"/>
                    <a:pt x="867885" y="180655"/>
                  </a:cubicBezTo>
                  <a:lnTo>
                    <a:pt x="90327" y="180655"/>
                  </a:lnTo>
                  <a:cubicBezTo>
                    <a:pt x="40441" y="180655"/>
                    <a:pt x="0" y="140214"/>
                    <a:pt x="0" y="90327"/>
                  </a:cubicBezTo>
                  <a:lnTo>
                    <a:pt x="0" y="90327"/>
                  </a:lnTo>
                  <a:cubicBezTo>
                    <a:pt x="0" y="40441"/>
                    <a:pt x="40441" y="0"/>
                    <a:pt x="90327" y="0"/>
                  </a:cubicBezTo>
                  <a:close/>
                </a:path>
              </a:pathLst>
            </a:custGeom>
            <a:solidFill>
              <a:srgbClr val="FFFFFF"/>
            </a:solidFill>
          </p:spPr>
          <p:txBody>
            <a:bodyPr/>
            <a:lstStyle/>
            <a:p>
              <a:endParaRPr lang="en-US"/>
            </a:p>
          </p:txBody>
        </p:sp>
        <p:sp>
          <p:nvSpPr>
            <p:cNvPr id="275" name="TextBox 275"/>
            <p:cNvSpPr txBox="1"/>
            <p:nvPr/>
          </p:nvSpPr>
          <p:spPr>
            <a:xfrm>
              <a:off x="0" y="-28575"/>
              <a:ext cx="958212" cy="209230"/>
            </a:xfrm>
            <a:prstGeom prst="rect">
              <a:avLst/>
            </a:prstGeom>
          </p:spPr>
          <p:txBody>
            <a:bodyPr lIns="50800" tIns="50800" rIns="50800" bIns="50800" rtlCol="0" anchor="ctr"/>
            <a:lstStyle/>
            <a:p>
              <a:pPr algn="ctr">
                <a:lnSpc>
                  <a:spcPts val="1980"/>
                </a:lnSpc>
              </a:pPr>
              <a:endParaRPr/>
            </a:p>
          </p:txBody>
        </p:sp>
      </p:grpSp>
      <p:sp>
        <p:nvSpPr>
          <p:cNvPr id="276" name="TextBox 276"/>
          <p:cNvSpPr txBox="1"/>
          <p:nvPr/>
        </p:nvSpPr>
        <p:spPr>
          <a:xfrm>
            <a:off x="14316212" y="4237521"/>
            <a:ext cx="2460947" cy="409575"/>
          </a:xfrm>
          <a:prstGeom prst="rect">
            <a:avLst/>
          </a:prstGeom>
        </p:spPr>
        <p:txBody>
          <a:bodyPr lIns="0" tIns="0" rIns="0" bIns="0" rtlCol="0" anchor="t">
            <a:spAutoFit/>
          </a:bodyPr>
          <a:lstStyle/>
          <a:p>
            <a:pPr algn="ctr">
              <a:lnSpc>
                <a:spcPts val="2819"/>
              </a:lnSpc>
              <a:spcBef>
                <a:spcPct val="0"/>
              </a:spcBef>
            </a:pPr>
            <a:r>
              <a:rPr lang="en-US" sz="2349" b="1">
                <a:solidFill>
                  <a:srgbClr val="000000"/>
                </a:solidFill>
                <a:latin typeface="Calibri (MS) Bold"/>
                <a:ea typeface="Calibri (MS) Bold"/>
                <a:cs typeface="Calibri (MS) Bold"/>
                <a:sym typeface="Calibri (MS) Bold"/>
              </a:rPr>
              <a:t>CRAMMING Board</a:t>
            </a:r>
          </a:p>
        </p:txBody>
      </p:sp>
      <p:grpSp>
        <p:nvGrpSpPr>
          <p:cNvPr id="277" name="Group 277"/>
          <p:cNvGrpSpPr/>
          <p:nvPr/>
        </p:nvGrpSpPr>
        <p:grpSpPr>
          <a:xfrm>
            <a:off x="13705963" y="4899570"/>
            <a:ext cx="1164988" cy="1399934"/>
            <a:chOff x="0" y="0"/>
            <a:chExt cx="306828" cy="368707"/>
          </a:xfrm>
        </p:grpSpPr>
        <p:sp>
          <p:nvSpPr>
            <p:cNvPr id="278" name="Freeform 278"/>
            <p:cNvSpPr/>
            <p:nvPr/>
          </p:nvSpPr>
          <p:spPr>
            <a:xfrm>
              <a:off x="0" y="0"/>
              <a:ext cx="306828" cy="368707"/>
            </a:xfrm>
            <a:custGeom>
              <a:avLst/>
              <a:gdLst/>
              <a:ahLst/>
              <a:cxnLst/>
              <a:rect l="l" t="t" r="r" b="b"/>
              <a:pathLst>
                <a:path w="306828" h="368707">
                  <a:moveTo>
                    <a:pt x="119619" y="0"/>
                  </a:moveTo>
                  <a:lnTo>
                    <a:pt x="187209" y="0"/>
                  </a:lnTo>
                  <a:cubicBezTo>
                    <a:pt x="253273" y="0"/>
                    <a:pt x="306828" y="53555"/>
                    <a:pt x="306828" y="119619"/>
                  </a:cubicBezTo>
                  <a:lnTo>
                    <a:pt x="306828" y="249088"/>
                  </a:lnTo>
                  <a:cubicBezTo>
                    <a:pt x="306828" y="315152"/>
                    <a:pt x="253273" y="368707"/>
                    <a:pt x="187209" y="368707"/>
                  </a:cubicBezTo>
                  <a:lnTo>
                    <a:pt x="119619" y="368707"/>
                  </a:lnTo>
                  <a:cubicBezTo>
                    <a:pt x="53555" y="368707"/>
                    <a:pt x="0" y="315152"/>
                    <a:pt x="0" y="249088"/>
                  </a:cubicBezTo>
                  <a:lnTo>
                    <a:pt x="0" y="119619"/>
                  </a:lnTo>
                  <a:cubicBezTo>
                    <a:pt x="0" y="53555"/>
                    <a:pt x="53555" y="0"/>
                    <a:pt x="119619" y="0"/>
                  </a:cubicBezTo>
                  <a:close/>
                </a:path>
              </a:pathLst>
            </a:custGeom>
            <a:solidFill>
              <a:srgbClr val="141414"/>
            </a:solidFill>
            <a:ln w="38100" cap="sq">
              <a:solidFill>
                <a:srgbClr val="FFFFFF"/>
              </a:solidFill>
              <a:prstDash val="solid"/>
              <a:miter/>
            </a:ln>
          </p:spPr>
          <p:txBody>
            <a:bodyPr/>
            <a:lstStyle/>
            <a:p>
              <a:endParaRPr lang="en-US"/>
            </a:p>
          </p:txBody>
        </p:sp>
        <p:sp>
          <p:nvSpPr>
            <p:cNvPr id="279" name="TextBox 279"/>
            <p:cNvSpPr txBox="1"/>
            <p:nvPr/>
          </p:nvSpPr>
          <p:spPr>
            <a:xfrm>
              <a:off x="0" y="-47625"/>
              <a:ext cx="306828" cy="416332"/>
            </a:xfrm>
            <a:prstGeom prst="rect">
              <a:avLst/>
            </a:prstGeom>
          </p:spPr>
          <p:txBody>
            <a:bodyPr lIns="50800" tIns="50800" rIns="50800" bIns="50800" rtlCol="0" anchor="ctr"/>
            <a:lstStyle/>
            <a:p>
              <a:pPr algn="ctr">
                <a:lnSpc>
                  <a:spcPts val="2340"/>
                </a:lnSpc>
              </a:pPr>
              <a:endParaRPr/>
            </a:p>
          </p:txBody>
        </p:sp>
      </p:grpSp>
      <p:sp>
        <p:nvSpPr>
          <p:cNvPr id="280" name="Freeform 280"/>
          <p:cNvSpPr/>
          <p:nvPr/>
        </p:nvSpPr>
        <p:spPr>
          <a:xfrm>
            <a:off x="13955842" y="5119507"/>
            <a:ext cx="619798" cy="619798"/>
          </a:xfrm>
          <a:custGeom>
            <a:avLst/>
            <a:gdLst/>
            <a:ahLst/>
            <a:cxnLst/>
            <a:rect l="l" t="t" r="r" b="b"/>
            <a:pathLst>
              <a:path w="619798" h="619798">
                <a:moveTo>
                  <a:pt x="0" y="0"/>
                </a:moveTo>
                <a:lnTo>
                  <a:pt x="619798" y="0"/>
                </a:lnTo>
                <a:lnTo>
                  <a:pt x="619798" y="619798"/>
                </a:lnTo>
                <a:lnTo>
                  <a:pt x="0" y="619798"/>
                </a:lnTo>
                <a:lnTo>
                  <a:pt x="0" y="0"/>
                </a:lnTo>
                <a:close/>
              </a:path>
            </a:pathLst>
          </a:custGeom>
          <a:blipFill>
            <a:blip>
              <a:extLst>
                <a:ext uri="{96DAC541-7B7A-43D3-8B79-37D633B846F1}">
                  <asvg:svgBlip xmlns:asvg="http://schemas.microsoft.com/office/drawing/2016/SVG/main" r:embed="rId14"/>
                </a:ext>
              </a:extLst>
            </a:blip>
            <a:stretch>
              <a:fillRect/>
            </a:stretch>
          </a:blipFill>
        </p:spPr>
        <p:txBody>
          <a:bodyPr/>
          <a:lstStyle/>
          <a:p>
            <a:endParaRPr lang="en-US"/>
          </a:p>
        </p:txBody>
      </p:sp>
      <p:sp>
        <p:nvSpPr>
          <p:cNvPr id="281" name="Freeform 281"/>
          <p:cNvSpPr/>
          <p:nvPr/>
        </p:nvSpPr>
        <p:spPr>
          <a:xfrm>
            <a:off x="14080587" y="5246636"/>
            <a:ext cx="386284" cy="206662"/>
          </a:xfrm>
          <a:custGeom>
            <a:avLst/>
            <a:gdLst/>
            <a:ahLst/>
            <a:cxnLst/>
            <a:rect l="l" t="t" r="r" b="b"/>
            <a:pathLst>
              <a:path w="386284" h="206662">
                <a:moveTo>
                  <a:pt x="0" y="0"/>
                </a:moveTo>
                <a:lnTo>
                  <a:pt x="386284" y="0"/>
                </a:lnTo>
                <a:lnTo>
                  <a:pt x="386284" y="206662"/>
                </a:lnTo>
                <a:lnTo>
                  <a:pt x="0" y="206662"/>
                </a:lnTo>
                <a:lnTo>
                  <a:pt x="0" y="0"/>
                </a:lnTo>
                <a:close/>
              </a:path>
            </a:pathLst>
          </a:custGeom>
          <a:blipFill>
            <a:blip>
              <a:extLst>
                <a:ext uri="{96DAC541-7B7A-43D3-8B79-37D633B846F1}">
                  <asvg:svgBlip xmlns:asvg="http://schemas.microsoft.com/office/drawing/2016/SVG/main" r:embed="rId15"/>
                </a:ext>
              </a:extLst>
            </a:blip>
            <a:stretch>
              <a:fillRect/>
            </a:stretch>
          </a:blipFill>
        </p:spPr>
        <p:txBody>
          <a:bodyPr/>
          <a:lstStyle/>
          <a:p>
            <a:endParaRPr lang="en-US"/>
          </a:p>
        </p:txBody>
      </p:sp>
      <p:sp>
        <p:nvSpPr>
          <p:cNvPr id="282" name="TextBox 282"/>
          <p:cNvSpPr txBox="1"/>
          <p:nvPr/>
        </p:nvSpPr>
        <p:spPr>
          <a:xfrm>
            <a:off x="14030522" y="5133952"/>
            <a:ext cx="486414" cy="222879"/>
          </a:xfrm>
          <a:prstGeom prst="rect">
            <a:avLst/>
          </a:prstGeom>
        </p:spPr>
        <p:txBody>
          <a:bodyPr lIns="0" tIns="0" rIns="0" bIns="0" rtlCol="0" anchor="t">
            <a:spAutoFit/>
          </a:bodyPr>
          <a:lstStyle/>
          <a:p>
            <a:pPr algn="ctr">
              <a:lnSpc>
                <a:spcPts val="789"/>
              </a:lnSpc>
              <a:spcBef>
                <a:spcPct val="0"/>
              </a:spcBef>
            </a:pPr>
            <a:r>
              <a:rPr lang="en-US" sz="657" b="1" spc="89">
                <a:solidFill>
                  <a:srgbClr val="FFFFFF"/>
                </a:solidFill>
                <a:latin typeface="Calibri (MS) Bold"/>
                <a:ea typeface="Calibri (MS) Bold"/>
                <a:cs typeface="Calibri (MS) Bold"/>
                <a:sym typeface="Calibri (MS) Bold"/>
              </a:rPr>
              <a:t>CRAMMING</a:t>
            </a:r>
          </a:p>
        </p:txBody>
      </p:sp>
      <p:sp>
        <p:nvSpPr>
          <p:cNvPr id="283" name="Freeform 283"/>
          <p:cNvSpPr/>
          <p:nvPr/>
        </p:nvSpPr>
        <p:spPr>
          <a:xfrm rot="-3394830" flipV="1">
            <a:off x="13993967" y="5375193"/>
            <a:ext cx="95547" cy="30033"/>
          </a:xfrm>
          <a:custGeom>
            <a:avLst/>
            <a:gdLst/>
            <a:ahLst/>
            <a:cxnLst/>
            <a:rect l="l" t="t" r="r" b="b"/>
            <a:pathLst>
              <a:path w="95547" h="30033">
                <a:moveTo>
                  <a:pt x="0" y="30033"/>
                </a:moveTo>
                <a:lnTo>
                  <a:pt x="95548" y="30033"/>
                </a:lnTo>
                <a:lnTo>
                  <a:pt x="95548" y="0"/>
                </a:lnTo>
                <a:lnTo>
                  <a:pt x="0" y="0"/>
                </a:lnTo>
                <a:lnTo>
                  <a:pt x="0" y="30033"/>
                </a:lnTo>
                <a:close/>
              </a:path>
            </a:pathLst>
          </a:custGeom>
          <a:blipFill>
            <a:blip>
              <a:extLst>
                <a:ext uri="{96DAC541-7B7A-43D3-8B79-37D633B846F1}">
                  <asvg:svgBlip xmlns:asvg="http://schemas.microsoft.com/office/drawing/2016/SVG/main" r:embed="rId16"/>
                </a:ext>
              </a:extLst>
            </a:blip>
            <a:stretch>
              <a:fillRect l="-116778"/>
            </a:stretch>
          </a:blipFill>
        </p:spPr>
        <p:txBody>
          <a:bodyPr/>
          <a:lstStyle/>
          <a:p>
            <a:endParaRPr lang="en-US"/>
          </a:p>
        </p:txBody>
      </p:sp>
      <p:sp>
        <p:nvSpPr>
          <p:cNvPr id="284" name="Freeform 284"/>
          <p:cNvSpPr/>
          <p:nvPr/>
        </p:nvSpPr>
        <p:spPr>
          <a:xfrm rot="-6716943">
            <a:off x="14458460" y="5376415"/>
            <a:ext cx="87771" cy="27589"/>
          </a:xfrm>
          <a:custGeom>
            <a:avLst/>
            <a:gdLst/>
            <a:ahLst/>
            <a:cxnLst/>
            <a:rect l="l" t="t" r="r" b="b"/>
            <a:pathLst>
              <a:path w="87771" h="27589">
                <a:moveTo>
                  <a:pt x="0" y="0"/>
                </a:moveTo>
                <a:lnTo>
                  <a:pt x="87771" y="0"/>
                </a:lnTo>
                <a:lnTo>
                  <a:pt x="87771" y="27589"/>
                </a:lnTo>
                <a:lnTo>
                  <a:pt x="0" y="27589"/>
                </a:lnTo>
                <a:lnTo>
                  <a:pt x="0" y="0"/>
                </a:lnTo>
                <a:close/>
              </a:path>
            </a:pathLst>
          </a:custGeom>
          <a:blipFill>
            <a:blip>
              <a:extLst>
                <a:ext uri="{96DAC541-7B7A-43D3-8B79-37D633B846F1}">
                  <asvg:svgBlip xmlns:asvg="http://schemas.microsoft.com/office/drawing/2016/SVG/main" r:embed="rId16"/>
                </a:ext>
              </a:extLst>
            </a:blip>
            <a:stretch>
              <a:fillRect l="-116778"/>
            </a:stretch>
          </a:blipFill>
        </p:spPr>
        <p:txBody>
          <a:bodyPr/>
          <a:lstStyle/>
          <a:p>
            <a:endParaRPr lang="en-US"/>
          </a:p>
        </p:txBody>
      </p:sp>
      <p:sp>
        <p:nvSpPr>
          <p:cNvPr id="285" name="Freeform 285"/>
          <p:cNvSpPr/>
          <p:nvPr/>
        </p:nvSpPr>
        <p:spPr>
          <a:xfrm rot="2699999">
            <a:off x="14067598" y="5307978"/>
            <a:ext cx="400970" cy="400970"/>
          </a:xfrm>
          <a:custGeom>
            <a:avLst/>
            <a:gdLst/>
            <a:ahLst/>
            <a:cxnLst/>
            <a:rect l="l" t="t" r="r" b="b"/>
            <a:pathLst>
              <a:path w="400970" h="400970">
                <a:moveTo>
                  <a:pt x="0" y="0"/>
                </a:moveTo>
                <a:lnTo>
                  <a:pt x="400969" y="0"/>
                </a:lnTo>
                <a:lnTo>
                  <a:pt x="400969" y="400970"/>
                </a:lnTo>
                <a:lnTo>
                  <a:pt x="0" y="400970"/>
                </a:lnTo>
                <a:lnTo>
                  <a:pt x="0" y="0"/>
                </a:lnTo>
                <a:close/>
              </a:path>
            </a:pathLst>
          </a:custGeom>
          <a:blipFill>
            <a:blip>
              <a:extLst>
                <a:ext uri="{96DAC541-7B7A-43D3-8B79-37D633B846F1}">
                  <asvg:svgBlip xmlns:asvg="http://schemas.microsoft.com/office/drawing/2016/SVG/main" r:embed="rId17"/>
                </a:ext>
              </a:extLst>
            </a:blip>
            <a:stretch>
              <a:fillRect/>
            </a:stretch>
          </a:blipFill>
        </p:spPr>
        <p:txBody>
          <a:bodyPr/>
          <a:lstStyle/>
          <a:p>
            <a:endParaRPr lang="en-US"/>
          </a:p>
        </p:txBody>
      </p:sp>
      <p:sp>
        <p:nvSpPr>
          <p:cNvPr id="286" name="TextBox 286"/>
          <p:cNvSpPr txBox="1"/>
          <p:nvPr/>
        </p:nvSpPr>
        <p:spPr>
          <a:xfrm>
            <a:off x="14177693" y="5636206"/>
            <a:ext cx="176095" cy="40503"/>
          </a:xfrm>
          <a:prstGeom prst="rect">
            <a:avLst/>
          </a:prstGeom>
        </p:spPr>
        <p:txBody>
          <a:bodyPr lIns="0" tIns="0" rIns="0" bIns="0" rtlCol="0" anchor="t">
            <a:spAutoFit/>
          </a:bodyPr>
          <a:lstStyle/>
          <a:p>
            <a:pPr algn="ctr">
              <a:lnSpc>
                <a:spcPts val="246"/>
              </a:lnSpc>
              <a:spcBef>
                <a:spcPct val="0"/>
              </a:spcBef>
            </a:pPr>
            <a:r>
              <a:rPr lang="en-US" sz="205" b="1" spc="27">
                <a:solidFill>
                  <a:srgbClr val="FFFFFF"/>
                </a:solidFill>
                <a:latin typeface="Calibri (MS) Bold"/>
                <a:ea typeface="Calibri (MS) Bold"/>
                <a:cs typeface="Calibri (MS) Bold"/>
                <a:sym typeface="Calibri (MS) Bold"/>
              </a:rPr>
              <a:t>October2026</a:t>
            </a:r>
          </a:p>
        </p:txBody>
      </p:sp>
      <p:sp>
        <p:nvSpPr>
          <p:cNvPr id="287" name="Freeform 287"/>
          <p:cNvSpPr/>
          <p:nvPr/>
        </p:nvSpPr>
        <p:spPr>
          <a:xfrm rot="2699999">
            <a:off x="14115341" y="5454617"/>
            <a:ext cx="300800" cy="300800"/>
          </a:xfrm>
          <a:custGeom>
            <a:avLst/>
            <a:gdLst/>
            <a:ahLst/>
            <a:cxnLst/>
            <a:rect l="l" t="t" r="r" b="b"/>
            <a:pathLst>
              <a:path w="300800" h="300800">
                <a:moveTo>
                  <a:pt x="0" y="0"/>
                </a:moveTo>
                <a:lnTo>
                  <a:pt x="300800" y="0"/>
                </a:lnTo>
                <a:lnTo>
                  <a:pt x="300800" y="300800"/>
                </a:lnTo>
                <a:lnTo>
                  <a:pt x="0" y="300800"/>
                </a:lnTo>
                <a:lnTo>
                  <a:pt x="0" y="0"/>
                </a:lnTo>
                <a:close/>
              </a:path>
            </a:pathLst>
          </a:custGeom>
          <a:blipFill>
            <a:blip>
              <a:extLst>
                <a:ext uri="{96DAC541-7B7A-43D3-8B79-37D633B846F1}">
                  <asvg:svgBlip xmlns:asvg="http://schemas.microsoft.com/office/drawing/2016/SVG/main" r:embed="rId17"/>
                </a:ext>
              </a:extLst>
            </a:blip>
            <a:stretch>
              <a:fillRect/>
            </a:stretch>
          </a:blipFill>
        </p:spPr>
        <p:txBody>
          <a:bodyPr/>
          <a:lstStyle/>
          <a:p>
            <a:endParaRPr lang="en-US"/>
          </a:p>
        </p:txBody>
      </p:sp>
      <p:sp>
        <p:nvSpPr>
          <p:cNvPr id="288" name="Freeform 288"/>
          <p:cNvSpPr/>
          <p:nvPr/>
        </p:nvSpPr>
        <p:spPr>
          <a:xfrm>
            <a:off x="14205158" y="5313593"/>
            <a:ext cx="137143" cy="134400"/>
          </a:xfrm>
          <a:custGeom>
            <a:avLst/>
            <a:gdLst/>
            <a:ahLst/>
            <a:cxnLst/>
            <a:rect l="l" t="t" r="r" b="b"/>
            <a:pathLst>
              <a:path w="137143" h="134400">
                <a:moveTo>
                  <a:pt x="0" y="0"/>
                </a:moveTo>
                <a:lnTo>
                  <a:pt x="137142" y="0"/>
                </a:lnTo>
                <a:lnTo>
                  <a:pt x="137142" y="134400"/>
                </a:lnTo>
                <a:lnTo>
                  <a:pt x="0" y="134400"/>
                </a:lnTo>
                <a:lnTo>
                  <a:pt x="0" y="0"/>
                </a:lnTo>
                <a:close/>
              </a:path>
            </a:pathLst>
          </a:custGeom>
          <a:blipFill>
            <a:blip r:embed="rId18"/>
            <a:stretch>
              <a:fillRect/>
            </a:stretch>
          </a:blipFill>
        </p:spPr>
        <p:txBody>
          <a:bodyPr/>
          <a:lstStyle/>
          <a:p>
            <a:endParaRPr lang="en-US"/>
          </a:p>
        </p:txBody>
      </p:sp>
      <p:sp>
        <p:nvSpPr>
          <p:cNvPr id="289" name="TextBox 289"/>
          <p:cNvSpPr txBox="1"/>
          <p:nvPr/>
        </p:nvSpPr>
        <p:spPr>
          <a:xfrm>
            <a:off x="14124756" y="5531276"/>
            <a:ext cx="286653" cy="59359"/>
          </a:xfrm>
          <a:prstGeom prst="rect">
            <a:avLst/>
          </a:prstGeom>
        </p:spPr>
        <p:txBody>
          <a:bodyPr lIns="0" tIns="0" rIns="0" bIns="0" rtlCol="0" anchor="t">
            <a:spAutoFit/>
          </a:bodyPr>
          <a:lstStyle/>
          <a:p>
            <a:pPr algn="ctr">
              <a:lnSpc>
                <a:spcPts val="398"/>
              </a:lnSpc>
              <a:spcBef>
                <a:spcPct val="0"/>
              </a:spcBef>
            </a:pPr>
            <a:r>
              <a:rPr lang="en-US" sz="332" b="1">
                <a:solidFill>
                  <a:srgbClr val="FFFFFF"/>
                </a:solidFill>
                <a:latin typeface="Calibri (MS) Bold"/>
                <a:ea typeface="Calibri (MS) Bold"/>
                <a:cs typeface="Calibri (MS) Bold"/>
                <a:sym typeface="Calibri (MS) Bold"/>
              </a:rPr>
              <a:t> REAL PASSPORT</a:t>
            </a:r>
          </a:p>
        </p:txBody>
      </p:sp>
      <p:sp>
        <p:nvSpPr>
          <p:cNvPr id="290" name="TextBox 290"/>
          <p:cNvSpPr txBox="1"/>
          <p:nvPr/>
        </p:nvSpPr>
        <p:spPr>
          <a:xfrm>
            <a:off x="13996812" y="5443597"/>
            <a:ext cx="135969" cy="40503"/>
          </a:xfrm>
          <a:prstGeom prst="rect">
            <a:avLst/>
          </a:prstGeom>
        </p:spPr>
        <p:txBody>
          <a:bodyPr lIns="0" tIns="0" rIns="0" bIns="0" rtlCol="0" anchor="t">
            <a:spAutoFit/>
          </a:bodyPr>
          <a:lstStyle/>
          <a:p>
            <a:pPr algn="ctr">
              <a:lnSpc>
                <a:spcPts val="246"/>
              </a:lnSpc>
              <a:spcBef>
                <a:spcPct val="0"/>
              </a:spcBef>
            </a:pPr>
            <a:r>
              <a:rPr lang="en-US" sz="205" b="1">
                <a:solidFill>
                  <a:srgbClr val="FFDE59"/>
                </a:solidFill>
                <a:latin typeface="Calibri (MS) Bold"/>
                <a:ea typeface="Calibri (MS) Bold"/>
                <a:cs typeface="Calibri (MS) Bold"/>
                <a:sym typeface="Calibri (MS) Bold"/>
              </a:rPr>
              <a:t>BeReal.</a:t>
            </a:r>
          </a:p>
        </p:txBody>
      </p:sp>
      <p:sp>
        <p:nvSpPr>
          <p:cNvPr id="291" name="TextBox 291"/>
          <p:cNvSpPr txBox="1"/>
          <p:nvPr/>
        </p:nvSpPr>
        <p:spPr>
          <a:xfrm>
            <a:off x="14395575" y="5443597"/>
            <a:ext cx="135969" cy="40503"/>
          </a:xfrm>
          <a:prstGeom prst="rect">
            <a:avLst/>
          </a:prstGeom>
        </p:spPr>
        <p:txBody>
          <a:bodyPr lIns="0" tIns="0" rIns="0" bIns="0" rtlCol="0" anchor="t">
            <a:spAutoFit/>
          </a:bodyPr>
          <a:lstStyle/>
          <a:p>
            <a:pPr algn="ctr">
              <a:lnSpc>
                <a:spcPts val="246"/>
              </a:lnSpc>
              <a:spcBef>
                <a:spcPct val="0"/>
              </a:spcBef>
            </a:pPr>
            <a:r>
              <a:rPr lang="en-US" sz="205" b="1">
                <a:solidFill>
                  <a:srgbClr val="FFDE59"/>
                </a:solidFill>
                <a:latin typeface="Calibri (MS) Bold"/>
                <a:ea typeface="Calibri (MS) Bold"/>
                <a:cs typeface="Calibri (MS) Bold"/>
                <a:sym typeface="Calibri (MS) Bold"/>
              </a:rPr>
              <a:t>Unfiltered</a:t>
            </a:r>
          </a:p>
        </p:txBody>
      </p:sp>
      <p:grpSp>
        <p:nvGrpSpPr>
          <p:cNvPr id="292" name="Group 292"/>
          <p:cNvGrpSpPr/>
          <p:nvPr/>
        </p:nvGrpSpPr>
        <p:grpSpPr>
          <a:xfrm>
            <a:off x="14975726" y="4899570"/>
            <a:ext cx="1164988" cy="1399934"/>
            <a:chOff x="0" y="0"/>
            <a:chExt cx="306828" cy="368707"/>
          </a:xfrm>
        </p:grpSpPr>
        <p:sp>
          <p:nvSpPr>
            <p:cNvPr id="293" name="Freeform 293"/>
            <p:cNvSpPr/>
            <p:nvPr/>
          </p:nvSpPr>
          <p:spPr>
            <a:xfrm>
              <a:off x="0" y="0"/>
              <a:ext cx="306828" cy="368707"/>
            </a:xfrm>
            <a:custGeom>
              <a:avLst/>
              <a:gdLst/>
              <a:ahLst/>
              <a:cxnLst/>
              <a:rect l="l" t="t" r="r" b="b"/>
              <a:pathLst>
                <a:path w="306828" h="368707">
                  <a:moveTo>
                    <a:pt x="119619" y="0"/>
                  </a:moveTo>
                  <a:lnTo>
                    <a:pt x="187209" y="0"/>
                  </a:lnTo>
                  <a:cubicBezTo>
                    <a:pt x="253273" y="0"/>
                    <a:pt x="306828" y="53555"/>
                    <a:pt x="306828" y="119619"/>
                  </a:cubicBezTo>
                  <a:lnTo>
                    <a:pt x="306828" y="249088"/>
                  </a:lnTo>
                  <a:cubicBezTo>
                    <a:pt x="306828" y="315152"/>
                    <a:pt x="253273" y="368707"/>
                    <a:pt x="187209" y="368707"/>
                  </a:cubicBezTo>
                  <a:lnTo>
                    <a:pt x="119619" y="368707"/>
                  </a:lnTo>
                  <a:cubicBezTo>
                    <a:pt x="53555" y="368707"/>
                    <a:pt x="0" y="315152"/>
                    <a:pt x="0" y="249088"/>
                  </a:cubicBezTo>
                  <a:lnTo>
                    <a:pt x="0" y="119619"/>
                  </a:lnTo>
                  <a:cubicBezTo>
                    <a:pt x="0" y="53555"/>
                    <a:pt x="53555" y="0"/>
                    <a:pt x="119619" y="0"/>
                  </a:cubicBezTo>
                  <a:close/>
                </a:path>
              </a:pathLst>
            </a:custGeom>
            <a:solidFill>
              <a:srgbClr val="484747"/>
            </a:solidFill>
            <a:ln w="38100" cap="sq">
              <a:solidFill>
                <a:srgbClr val="FFFFFF"/>
              </a:solidFill>
              <a:prstDash val="solid"/>
              <a:miter/>
            </a:ln>
          </p:spPr>
          <p:txBody>
            <a:bodyPr/>
            <a:lstStyle/>
            <a:p>
              <a:endParaRPr lang="en-US"/>
            </a:p>
          </p:txBody>
        </p:sp>
        <p:sp>
          <p:nvSpPr>
            <p:cNvPr id="294" name="TextBox 294"/>
            <p:cNvSpPr txBox="1"/>
            <p:nvPr/>
          </p:nvSpPr>
          <p:spPr>
            <a:xfrm>
              <a:off x="0" y="-47625"/>
              <a:ext cx="306828" cy="416332"/>
            </a:xfrm>
            <a:prstGeom prst="rect">
              <a:avLst/>
            </a:prstGeom>
          </p:spPr>
          <p:txBody>
            <a:bodyPr lIns="50800" tIns="50800" rIns="50800" bIns="50800" rtlCol="0" anchor="ctr"/>
            <a:lstStyle/>
            <a:p>
              <a:pPr algn="ctr">
                <a:lnSpc>
                  <a:spcPts val="2340"/>
                </a:lnSpc>
              </a:pPr>
              <a:endParaRPr/>
            </a:p>
          </p:txBody>
        </p:sp>
      </p:grpSp>
      <p:grpSp>
        <p:nvGrpSpPr>
          <p:cNvPr id="295" name="Group 295"/>
          <p:cNvGrpSpPr/>
          <p:nvPr/>
        </p:nvGrpSpPr>
        <p:grpSpPr>
          <a:xfrm>
            <a:off x="16245489" y="4932726"/>
            <a:ext cx="1164988" cy="1366778"/>
            <a:chOff x="0" y="0"/>
            <a:chExt cx="306828" cy="359975"/>
          </a:xfrm>
        </p:grpSpPr>
        <p:sp>
          <p:nvSpPr>
            <p:cNvPr id="296" name="Freeform 296"/>
            <p:cNvSpPr/>
            <p:nvPr/>
          </p:nvSpPr>
          <p:spPr>
            <a:xfrm>
              <a:off x="0" y="0"/>
              <a:ext cx="306828" cy="359975"/>
            </a:xfrm>
            <a:custGeom>
              <a:avLst/>
              <a:gdLst/>
              <a:ahLst/>
              <a:cxnLst/>
              <a:rect l="l" t="t" r="r" b="b"/>
              <a:pathLst>
                <a:path w="306828" h="359975">
                  <a:moveTo>
                    <a:pt x="119619" y="0"/>
                  </a:moveTo>
                  <a:lnTo>
                    <a:pt x="187209" y="0"/>
                  </a:lnTo>
                  <a:cubicBezTo>
                    <a:pt x="253273" y="0"/>
                    <a:pt x="306828" y="53555"/>
                    <a:pt x="306828" y="119619"/>
                  </a:cubicBezTo>
                  <a:lnTo>
                    <a:pt x="306828" y="240356"/>
                  </a:lnTo>
                  <a:cubicBezTo>
                    <a:pt x="306828" y="306419"/>
                    <a:pt x="253273" y="359975"/>
                    <a:pt x="187209" y="359975"/>
                  </a:cubicBezTo>
                  <a:lnTo>
                    <a:pt x="119619" y="359975"/>
                  </a:lnTo>
                  <a:cubicBezTo>
                    <a:pt x="53555" y="359975"/>
                    <a:pt x="0" y="306419"/>
                    <a:pt x="0" y="240356"/>
                  </a:cubicBezTo>
                  <a:lnTo>
                    <a:pt x="0" y="119619"/>
                  </a:lnTo>
                  <a:cubicBezTo>
                    <a:pt x="0" y="53555"/>
                    <a:pt x="53555" y="0"/>
                    <a:pt x="119619" y="0"/>
                  </a:cubicBezTo>
                  <a:close/>
                </a:path>
              </a:pathLst>
            </a:custGeom>
            <a:solidFill>
              <a:srgbClr val="484747"/>
            </a:solidFill>
            <a:ln w="38100" cap="sq">
              <a:solidFill>
                <a:srgbClr val="FFFFFF"/>
              </a:solidFill>
              <a:prstDash val="solid"/>
              <a:miter/>
            </a:ln>
          </p:spPr>
          <p:txBody>
            <a:bodyPr/>
            <a:lstStyle/>
            <a:p>
              <a:endParaRPr lang="en-US"/>
            </a:p>
          </p:txBody>
        </p:sp>
        <p:sp>
          <p:nvSpPr>
            <p:cNvPr id="297" name="TextBox 297"/>
            <p:cNvSpPr txBox="1"/>
            <p:nvPr/>
          </p:nvSpPr>
          <p:spPr>
            <a:xfrm>
              <a:off x="0" y="-47625"/>
              <a:ext cx="306828" cy="407600"/>
            </a:xfrm>
            <a:prstGeom prst="rect">
              <a:avLst/>
            </a:prstGeom>
          </p:spPr>
          <p:txBody>
            <a:bodyPr lIns="50800" tIns="50800" rIns="50800" bIns="50800" rtlCol="0" anchor="ctr"/>
            <a:lstStyle/>
            <a:p>
              <a:pPr algn="ctr">
                <a:lnSpc>
                  <a:spcPts val="2340"/>
                </a:lnSpc>
              </a:pPr>
              <a:endParaRPr/>
            </a:p>
          </p:txBody>
        </p:sp>
      </p:grpSp>
      <p:sp>
        <p:nvSpPr>
          <p:cNvPr id="298" name="Freeform 298"/>
          <p:cNvSpPr/>
          <p:nvPr/>
        </p:nvSpPr>
        <p:spPr>
          <a:xfrm>
            <a:off x="15248321" y="5108466"/>
            <a:ext cx="619798" cy="619798"/>
          </a:xfrm>
          <a:custGeom>
            <a:avLst/>
            <a:gdLst/>
            <a:ahLst/>
            <a:cxnLst/>
            <a:rect l="l" t="t" r="r" b="b"/>
            <a:pathLst>
              <a:path w="619798" h="619798">
                <a:moveTo>
                  <a:pt x="0" y="0"/>
                </a:moveTo>
                <a:lnTo>
                  <a:pt x="619798" y="0"/>
                </a:lnTo>
                <a:lnTo>
                  <a:pt x="619798" y="619797"/>
                </a:lnTo>
                <a:lnTo>
                  <a:pt x="0" y="619797"/>
                </a:lnTo>
                <a:lnTo>
                  <a:pt x="0" y="0"/>
                </a:lnTo>
                <a:close/>
              </a:path>
            </a:pathLst>
          </a:custGeom>
          <a:blipFill>
            <a:blip>
              <a:extLst>
                <a:ext uri="{96DAC541-7B7A-43D3-8B79-37D633B846F1}">
                  <asvg:svgBlip xmlns:asvg="http://schemas.microsoft.com/office/drawing/2016/SVG/main" r:embed="rId19"/>
                </a:ext>
              </a:extLst>
            </a:blip>
            <a:stretch>
              <a:fillRect/>
            </a:stretch>
          </a:blipFill>
        </p:spPr>
        <p:txBody>
          <a:bodyPr/>
          <a:lstStyle/>
          <a:p>
            <a:endParaRPr lang="en-US"/>
          </a:p>
        </p:txBody>
      </p:sp>
      <p:sp>
        <p:nvSpPr>
          <p:cNvPr id="299" name="Freeform 299"/>
          <p:cNvSpPr/>
          <p:nvPr/>
        </p:nvSpPr>
        <p:spPr>
          <a:xfrm>
            <a:off x="15373066" y="5235594"/>
            <a:ext cx="386284" cy="206662"/>
          </a:xfrm>
          <a:custGeom>
            <a:avLst/>
            <a:gdLst/>
            <a:ahLst/>
            <a:cxnLst/>
            <a:rect l="l" t="t" r="r" b="b"/>
            <a:pathLst>
              <a:path w="386284" h="206662">
                <a:moveTo>
                  <a:pt x="0" y="0"/>
                </a:moveTo>
                <a:lnTo>
                  <a:pt x="386284" y="0"/>
                </a:lnTo>
                <a:lnTo>
                  <a:pt x="386284" y="206662"/>
                </a:lnTo>
                <a:lnTo>
                  <a:pt x="0" y="206662"/>
                </a:lnTo>
                <a:lnTo>
                  <a:pt x="0" y="0"/>
                </a:lnTo>
                <a:close/>
              </a:path>
            </a:pathLst>
          </a:custGeom>
          <a:blipFill>
            <a:blip>
              <a:extLst>
                <a:ext uri="{96DAC541-7B7A-43D3-8B79-37D633B846F1}">
                  <asvg:svgBlip xmlns:asvg="http://schemas.microsoft.com/office/drawing/2016/SVG/main" r:embed="rId20"/>
                </a:ext>
              </a:extLst>
            </a:blip>
            <a:stretch>
              <a:fillRect/>
            </a:stretch>
          </a:blipFill>
        </p:spPr>
        <p:txBody>
          <a:bodyPr/>
          <a:lstStyle/>
          <a:p>
            <a:endParaRPr lang="en-US"/>
          </a:p>
        </p:txBody>
      </p:sp>
      <p:sp>
        <p:nvSpPr>
          <p:cNvPr id="300" name="TextBox 300"/>
          <p:cNvSpPr txBox="1"/>
          <p:nvPr/>
        </p:nvSpPr>
        <p:spPr>
          <a:xfrm>
            <a:off x="15454771" y="5122911"/>
            <a:ext cx="222873" cy="136894"/>
          </a:xfrm>
          <a:prstGeom prst="rect">
            <a:avLst/>
          </a:prstGeom>
        </p:spPr>
        <p:txBody>
          <a:bodyPr lIns="0" tIns="0" rIns="0" bIns="0" rtlCol="0" anchor="t">
            <a:spAutoFit/>
          </a:bodyPr>
          <a:lstStyle/>
          <a:p>
            <a:pPr algn="ctr">
              <a:lnSpc>
                <a:spcPts val="789"/>
              </a:lnSpc>
              <a:spcBef>
                <a:spcPct val="0"/>
              </a:spcBef>
            </a:pPr>
            <a:r>
              <a:rPr lang="en-US" sz="657" b="1" spc="89">
                <a:solidFill>
                  <a:srgbClr val="FFFFFF"/>
                </a:solidFill>
                <a:latin typeface="Calibri (MS) Bold"/>
                <a:ea typeface="Calibri (MS) Bold"/>
                <a:cs typeface="Calibri (MS) Bold"/>
                <a:sym typeface="Calibri (MS) Bold"/>
              </a:rPr>
              <a:t>HIKE</a:t>
            </a:r>
          </a:p>
        </p:txBody>
      </p:sp>
      <p:sp>
        <p:nvSpPr>
          <p:cNvPr id="301" name="Freeform 301"/>
          <p:cNvSpPr/>
          <p:nvPr/>
        </p:nvSpPr>
        <p:spPr>
          <a:xfrm rot="-3394830" flipV="1">
            <a:off x="15286446" y="5364151"/>
            <a:ext cx="95547" cy="30033"/>
          </a:xfrm>
          <a:custGeom>
            <a:avLst/>
            <a:gdLst/>
            <a:ahLst/>
            <a:cxnLst/>
            <a:rect l="l" t="t" r="r" b="b"/>
            <a:pathLst>
              <a:path w="95547" h="30033">
                <a:moveTo>
                  <a:pt x="0" y="30034"/>
                </a:moveTo>
                <a:lnTo>
                  <a:pt x="95548" y="30034"/>
                </a:lnTo>
                <a:lnTo>
                  <a:pt x="95548" y="0"/>
                </a:lnTo>
                <a:lnTo>
                  <a:pt x="0" y="0"/>
                </a:lnTo>
                <a:lnTo>
                  <a:pt x="0" y="30034"/>
                </a:lnTo>
                <a:close/>
              </a:path>
            </a:pathLst>
          </a:custGeom>
          <a:blipFill>
            <a:blip>
              <a:extLst>
                <a:ext uri="{96DAC541-7B7A-43D3-8B79-37D633B846F1}">
                  <asvg:svgBlip xmlns:asvg="http://schemas.microsoft.com/office/drawing/2016/SVG/main" r:embed="rId16"/>
                </a:ext>
              </a:extLst>
            </a:blip>
            <a:stretch>
              <a:fillRect l="-116778"/>
            </a:stretch>
          </a:blipFill>
        </p:spPr>
        <p:txBody>
          <a:bodyPr/>
          <a:lstStyle/>
          <a:p>
            <a:endParaRPr lang="en-US"/>
          </a:p>
        </p:txBody>
      </p:sp>
      <p:sp>
        <p:nvSpPr>
          <p:cNvPr id="302" name="Freeform 302"/>
          <p:cNvSpPr/>
          <p:nvPr/>
        </p:nvSpPr>
        <p:spPr>
          <a:xfrm rot="-6716943">
            <a:off x="15750939" y="5365373"/>
            <a:ext cx="87771" cy="27589"/>
          </a:xfrm>
          <a:custGeom>
            <a:avLst/>
            <a:gdLst/>
            <a:ahLst/>
            <a:cxnLst/>
            <a:rect l="l" t="t" r="r" b="b"/>
            <a:pathLst>
              <a:path w="87771" h="27589">
                <a:moveTo>
                  <a:pt x="0" y="0"/>
                </a:moveTo>
                <a:lnTo>
                  <a:pt x="87771" y="0"/>
                </a:lnTo>
                <a:lnTo>
                  <a:pt x="87771" y="27589"/>
                </a:lnTo>
                <a:lnTo>
                  <a:pt x="0" y="27589"/>
                </a:lnTo>
                <a:lnTo>
                  <a:pt x="0" y="0"/>
                </a:lnTo>
                <a:close/>
              </a:path>
            </a:pathLst>
          </a:custGeom>
          <a:blipFill>
            <a:blip>
              <a:extLst>
                <a:ext uri="{96DAC541-7B7A-43D3-8B79-37D633B846F1}">
                  <asvg:svgBlip xmlns:asvg="http://schemas.microsoft.com/office/drawing/2016/SVG/main" r:embed="rId16"/>
                </a:ext>
              </a:extLst>
            </a:blip>
            <a:stretch>
              <a:fillRect l="-116778"/>
            </a:stretch>
          </a:blipFill>
        </p:spPr>
        <p:txBody>
          <a:bodyPr/>
          <a:lstStyle/>
          <a:p>
            <a:endParaRPr lang="en-US"/>
          </a:p>
        </p:txBody>
      </p:sp>
      <p:sp>
        <p:nvSpPr>
          <p:cNvPr id="303" name="Freeform 303"/>
          <p:cNvSpPr/>
          <p:nvPr/>
        </p:nvSpPr>
        <p:spPr>
          <a:xfrm rot="2699999">
            <a:off x="15360076" y="5296937"/>
            <a:ext cx="400970" cy="400970"/>
          </a:xfrm>
          <a:custGeom>
            <a:avLst/>
            <a:gdLst/>
            <a:ahLst/>
            <a:cxnLst/>
            <a:rect l="l" t="t" r="r" b="b"/>
            <a:pathLst>
              <a:path w="400970" h="400970">
                <a:moveTo>
                  <a:pt x="0" y="0"/>
                </a:moveTo>
                <a:lnTo>
                  <a:pt x="400970" y="0"/>
                </a:lnTo>
                <a:lnTo>
                  <a:pt x="400970" y="400970"/>
                </a:lnTo>
                <a:lnTo>
                  <a:pt x="0" y="400970"/>
                </a:lnTo>
                <a:lnTo>
                  <a:pt x="0" y="0"/>
                </a:lnTo>
                <a:close/>
              </a:path>
            </a:pathLst>
          </a:custGeom>
          <a:blipFill>
            <a:blip>
              <a:extLst>
                <a:ext uri="{96DAC541-7B7A-43D3-8B79-37D633B846F1}">
                  <asvg:svgBlip xmlns:asvg="http://schemas.microsoft.com/office/drawing/2016/SVG/main" r:embed="rId21"/>
                </a:ext>
              </a:extLst>
            </a:blip>
            <a:stretch>
              <a:fillRect/>
            </a:stretch>
          </a:blipFill>
        </p:spPr>
        <p:txBody>
          <a:bodyPr/>
          <a:lstStyle/>
          <a:p>
            <a:endParaRPr lang="en-US"/>
          </a:p>
        </p:txBody>
      </p:sp>
      <p:sp>
        <p:nvSpPr>
          <p:cNvPr id="304" name="TextBox 304"/>
          <p:cNvSpPr txBox="1"/>
          <p:nvPr/>
        </p:nvSpPr>
        <p:spPr>
          <a:xfrm>
            <a:off x="15470172" y="5625165"/>
            <a:ext cx="176095" cy="40503"/>
          </a:xfrm>
          <a:prstGeom prst="rect">
            <a:avLst/>
          </a:prstGeom>
        </p:spPr>
        <p:txBody>
          <a:bodyPr lIns="0" tIns="0" rIns="0" bIns="0" rtlCol="0" anchor="t">
            <a:spAutoFit/>
          </a:bodyPr>
          <a:lstStyle/>
          <a:p>
            <a:pPr algn="ctr">
              <a:lnSpc>
                <a:spcPts val="246"/>
              </a:lnSpc>
              <a:spcBef>
                <a:spcPct val="0"/>
              </a:spcBef>
            </a:pPr>
            <a:r>
              <a:rPr lang="en-US" sz="205" b="1" spc="27">
                <a:solidFill>
                  <a:srgbClr val="FFFFFF"/>
                </a:solidFill>
                <a:latin typeface="Calibri (MS) Bold"/>
                <a:ea typeface="Calibri (MS) Bold"/>
                <a:cs typeface="Calibri (MS) Bold"/>
                <a:sym typeface="Calibri (MS) Bold"/>
              </a:rPr>
              <a:t>October2026</a:t>
            </a:r>
          </a:p>
        </p:txBody>
      </p:sp>
      <p:sp>
        <p:nvSpPr>
          <p:cNvPr id="305" name="Freeform 305"/>
          <p:cNvSpPr/>
          <p:nvPr/>
        </p:nvSpPr>
        <p:spPr>
          <a:xfrm rot="2699999">
            <a:off x="15407820" y="5443576"/>
            <a:ext cx="300800" cy="300800"/>
          </a:xfrm>
          <a:custGeom>
            <a:avLst/>
            <a:gdLst/>
            <a:ahLst/>
            <a:cxnLst/>
            <a:rect l="l" t="t" r="r" b="b"/>
            <a:pathLst>
              <a:path w="300800" h="300800">
                <a:moveTo>
                  <a:pt x="0" y="0"/>
                </a:moveTo>
                <a:lnTo>
                  <a:pt x="300800" y="0"/>
                </a:lnTo>
                <a:lnTo>
                  <a:pt x="300800" y="300800"/>
                </a:lnTo>
                <a:lnTo>
                  <a:pt x="0" y="300800"/>
                </a:lnTo>
                <a:lnTo>
                  <a:pt x="0" y="0"/>
                </a:lnTo>
                <a:close/>
              </a:path>
            </a:pathLst>
          </a:custGeom>
          <a:blipFill>
            <a:blip>
              <a:extLst>
                <a:ext uri="{96DAC541-7B7A-43D3-8B79-37D633B846F1}">
                  <asvg:svgBlip xmlns:asvg="http://schemas.microsoft.com/office/drawing/2016/SVG/main" r:embed="rId21"/>
                </a:ext>
              </a:extLst>
            </a:blip>
            <a:stretch>
              <a:fillRect/>
            </a:stretch>
          </a:blipFill>
        </p:spPr>
        <p:txBody>
          <a:bodyPr/>
          <a:lstStyle/>
          <a:p>
            <a:endParaRPr lang="en-US"/>
          </a:p>
        </p:txBody>
      </p:sp>
      <p:sp>
        <p:nvSpPr>
          <p:cNvPr id="306" name="TextBox 306"/>
          <p:cNvSpPr txBox="1"/>
          <p:nvPr/>
        </p:nvSpPr>
        <p:spPr>
          <a:xfrm>
            <a:off x="15417235" y="5520235"/>
            <a:ext cx="286653" cy="59359"/>
          </a:xfrm>
          <a:prstGeom prst="rect">
            <a:avLst/>
          </a:prstGeom>
        </p:spPr>
        <p:txBody>
          <a:bodyPr lIns="0" tIns="0" rIns="0" bIns="0" rtlCol="0" anchor="t">
            <a:spAutoFit/>
          </a:bodyPr>
          <a:lstStyle/>
          <a:p>
            <a:pPr algn="ctr">
              <a:lnSpc>
                <a:spcPts val="398"/>
              </a:lnSpc>
              <a:spcBef>
                <a:spcPct val="0"/>
              </a:spcBef>
            </a:pPr>
            <a:r>
              <a:rPr lang="en-US" sz="332" b="1">
                <a:solidFill>
                  <a:srgbClr val="FFFFFF"/>
                </a:solidFill>
                <a:latin typeface="Calibri (MS) Bold"/>
                <a:ea typeface="Calibri (MS) Bold"/>
                <a:cs typeface="Calibri (MS) Bold"/>
                <a:sym typeface="Calibri (MS) Bold"/>
              </a:rPr>
              <a:t> REAL PASSPORT</a:t>
            </a:r>
          </a:p>
        </p:txBody>
      </p:sp>
      <p:sp>
        <p:nvSpPr>
          <p:cNvPr id="307" name="TextBox 307"/>
          <p:cNvSpPr txBox="1"/>
          <p:nvPr/>
        </p:nvSpPr>
        <p:spPr>
          <a:xfrm>
            <a:off x="15289291" y="5432556"/>
            <a:ext cx="135969" cy="40503"/>
          </a:xfrm>
          <a:prstGeom prst="rect">
            <a:avLst/>
          </a:prstGeom>
        </p:spPr>
        <p:txBody>
          <a:bodyPr lIns="0" tIns="0" rIns="0" bIns="0" rtlCol="0" anchor="t">
            <a:spAutoFit/>
          </a:bodyPr>
          <a:lstStyle/>
          <a:p>
            <a:pPr algn="ctr">
              <a:lnSpc>
                <a:spcPts val="246"/>
              </a:lnSpc>
              <a:spcBef>
                <a:spcPct val="0"/>
              </a:spcBef>
            </a:pPr>
            <a:r>
              <a:rPr lang="en-US" sz="205" b="1">
                <a:solidFill>
                  <a:srgbClr val="FFDE59"/>
                </a:solidFill>
                <a:latin typeface="Calibri (MS) Bold"/>
                <a:ea typeface="Calibri (MS) Bold"/>
                <a:cs typeface="Calibri (MS) Bold"/>
                <a:sym typeface="Calibri (MS) Bold"/>
              </a:rPr>
              <a:t>BeReal.</a:t>
            </a:r>
          </a:p>
        </p:txBody>
      </p:sp>
      <p:sp>
        <p:nvSpPr>
          <p:cNvPr id="308" name="TextBox 308"/>
          <p:cNvSpPr txBox="1"/>
          <p:nvPr/>
        </p:nvSpPr>
        <p:spPr>
          <a:xfrm>
            <a:off x="15688054" y="5432556"/>
            <a:ext cx="135969" cy="40503"/>
          </a:xfrm>
          <a:prstGeom prst="rect">
            <a:avLst/>
          </a:prstGeom>
        </p:spPr>
        <p:txBody>
          <a:bodyPr lIns="0" tIns="0" rIns="0" bIns="0" rtlCol="0" anchor="t">
            <a:spAutoFit/>
          </a:bodyPr>
          <a:lstStyle/>
          <a:p>
            <a:pPr algn="ctr">
              <a:lnSpc>
                <a:spcPts val="246"/>
              </a:lnSpc>
              <a:spcBef>
                <a:spcPct val="0"/>
              </a:spcBef>
            </a:pPr>
            <a:r>
              <a:rPr lang="en-US" sz="205" b="1">
                <a:solidFill>
                  <a:srgbClr val="FFDE59"/>
                </a:solidFill>
                <a:latin typeface="Calibri (MS) Bold"/>
                <a:ea typeface="Calibri (MS) Bold"/>
                <a:cs typeface="Calibri (MS) Bold"/>
                <a:sym typeface="Calibri (MS) Bold"/>
              </a:rPr>
              <a:t>Unfiltered</a:t>
            </a:r>
          </a:p>
        </p:txBody>
      </p:sp>
      <p:sp>
        <p:nvSpPr>
          <p:cNvPr id="309" name="Freeform 309"/>
          <p:cNvSpPr/>
          <p:nvPr/>
        </p:nvSpPr>
        <p:spPr>
          <a:xfrm>
            <a:off x="15460756" y="5315715"/>
            <a:ext cx="194927" cy="119880"/>
          </a:xfrm>
          <a:custGeom>
            <a:avLst/>
            <a:gdLst/>
            <a:ahLst/>
            <a:cxnLst/>
            <a:rect l="l" t="t" r="r" b="b"/>
            <a:pathLst>
              <a:path w="194927" h="119880">
                <a:moveTo>
                  <a:pt x="0" y="0"/>
                </a:moveTo>
                <a:lnTo>
                  <a:pt x="194928" y="0"/>
                </a:lnTo>
                <a:lnTo>
                  <a:pt x="194928" y="119881"/>
                </a:lnTo>
                <a:lnTo>
                  <a:pt x="0" y="119881"/>
                </a:lnTo>
                <a:lnTo>
                  <a:pt x="0" y="0"/>
                </a:lnTo>
                <a:close/>
              </a:path>
            </a:pathLst>
          </a:custGeom>
          <a:blipFill>
            <a:blip>
              <a:extLst>
                <a:ext uri="{96DAC541-7B7A-43D3-8B79-37D633B846F1}">
                  <asvg:svgBlip xmlns:asvg="http://schemas.microsoft.com/office/drawing/2016/SVG/main" r:embed="rId22"/>
                </a:ext>
              </a:extLst>
            </a:blip>
            <a:stretch>
              <a:fillRect/>
            </a:stretch>
          </a:blipFill>
        </p:spPr>
        <p:txBody>
          <a:bodyPr/>
          <a:lstStyle/>
          <a:p>
            <a:endParaRPr lang="en-US"/>
          </a:p>
        </p:txBody>
      </p:sp>
      <p:grpSp>
        <p:nvGrpSpPr>
          <p:cNvPr id="310" name="Group 310"/>
          <p:cNvGrpSpPr/>
          <p:nvPr/>
        </p:nvGrpSpPr>
        <p:grpSpPr>
          <a:xfrm>
            <a:off x="16268205" y="6451904"/>
            <a:ext cx="1164988" cy="1366778"/>
            <a:chOff x="0" y="0"/>
            <a:chExt cx="306828" cy="359975"/>
          </a:xfrm>
        </p:grpSpPr>
        <p:sp>
          <p:nvSpPr>
            <p:cNvPr id="311" name="Freeform 311"/>
            <p:cNvSpPr/>
            <p:nvPr/>
          </p:nvSpPr>
          <p:spPr>
            <a:xfrm>
              <a:off x="0" y="0"/>
              <a:ext cx="306828" cy="359975"/>
            </a:xfrm>
            <a:custGeom>
              <a:avLst/>
              <a:gdLst/>
              <a:ahLst/>
              <a:cxnLst/>
              <a:rect l="l" t="t" r="r" b="b"/>
              <a:pathLst>
                <a:path w="306828" h="359975">
                  <a:moveTo>
                    <a:pt x="119619" y="0"/>
                  </a:moveTo>
                  <a:lnTo>
                    <a:pt x="187209" y="0"/>
                  </a:lnTo>
                  <a:cubicBezTo>
                    <a:pt x="253273" y="0"/>
                    <a:pt x="306828" y="53555"/>
                    <a:pt x="306828" y="119619"/>
                  </a:cubicBezTo>
                  <a:lnTo>
                    <a:pt x="306828" y="240356"/>
                  </a:lnTo>
                  <a:cubicBezTo>
                    <a:pt x="306828" y="306419"/>
                    <a:pt x="253273" y="359975"/>
                    <a:pt x="187209" y="359975"/>
                  </a:cubicBezTo>
                  <a:lnTo>
                    <a:pt x="119619" y="359975"/>
                  </a:lnTo>
                  <a:cubicBezTo>
                    <a:pt x="53555" y="359975"/>
                    <a:pt x="0" y="306419"/>
                    <a:pt x="0" y="240356"/>
                  </a:cubicBezTo>
                  <a:lnTo>
                    <a:pt x="0" y="119619"/>
                  </a:lnTo>
                  <a:cubicBezTo>
                    <a:pt x="0" y="53555"/>
                    <a:pt x="53555" y="0"/>
                    <a:pt x="119619" y="0"/>
                  </a:cubicBezTo>
                  <a:close/>
                </a:path>
              </a:pathLst>
            </a:custGeom>
            <a:solidFill>
              <a:srgbClr val="484747"/>
            </a:solidFill>
            <a:ln w="38100" cap="sq">
              <a:solidFill>
                <a:srgbClr val="FFFFFF"/>
              </a:solidFill>
              <a:prstDash val="solid"/>
              <a:miter/>
            </a:ln>
          </p:spPr>
          <p:txBody>
            <a:bodyPr/>
            <a:lstStyle/>
            <a:p>
              <a:endParaRPr lang="en-US"/>
            </a:p>
          </p:txBody>
        </p:sp>
        <p:sp>
          <p:nvSpPr>
            <p:cNvPr id="312" name="TextBox 312"/>
            <p:cNvSpPr txBox="1"/>
            <p:nvPr/>
          </p:nvSpPr>
          <p:spPr>
            <a:xfrm>
              <a:off x="0" y="-47625"/>
              <a:ext cx="306828" cy="407600"/>
            </a:xfrm>
            <a:prstGeom prst="rect">
              <a:avLst/>
            </a:prstGeom>
          </p:spPr>
          <p:txBody>
            <a:bodyPr lIns="50800" tIns="50800" rIns="50800" bIns="50800" rtlCol="0" anchor="ctr"/>
            <a:lstStyle/>
            <a:p>
              <a:pPr algn="ctr">
                <a:lnSpc>
                  <a:spcPts val="2340"/>
                </a:lnSpc>
              </a:pPr>
              <a:endParaRPr/>
            </a:p>
          </p:txBody>
        </p:sp>
      </p:grpSp>
      <p:grpSp>
        <p:nvGrpSpPr>
          <p:cNvPr id="313" name="Group 313"/>
          <p:cNvGrpSpPr/>
          <p:nvPr/>
        </p:nvGrpSpPr>
        <p:grpSpPr>
          <a:xfrm>
            <a:off x="14975726" y="6451904"/>
            <a:ext cx="1164988" cy="1366778"/>
            <a:chOff x="0" y="0"/>
            <a:chExt cx="306828" cy="359975"/>
          </a:xfrm>
        </p:grpSpPr>
        <p:sp>
          <p:nvSpPr>
            <p:cNvPr id="314" name="Freeform 314"/>
            <p:cNvSpPr/>
            <p:nvPr/>
          </p:nvSpPr>
          <p:spPr>
            <a:xfrm>
              <a:off x="0" y="0"/>
              <a:ext cx="306828" cy="359975"/>
            </a:xfrm>
            <a:custGeom>
              <a:avLst/>
              <a:gdLst/>
              <a:ahLst/>
              <a:cxnLst/>
              <a:rect l="l" t="t" r="r" b="b"/>
              <a:pathLst>
                <a:path w="306828" h="359975">
                  <a:moveTo>
                    <a:pt x="119619" y="0"/>
                  </a:moveTo>
                  <a:lnTo>
                    <a:pt x="187209" y="0"/>
                  </a:lnTo>
                  <a:cubicBezTo>
                    <a:pt x="253273" y="0"/>
                    <a:pt x="306828" y="53555"/>
                    <a:pt x="306828" y="119619"/>
                  </a:cubicBezTo>
                  <a:lnTo>
                    <a:pt x="306828" y="240356"/>
                  </a:lnTo>
                  <a:cubicBezTo>
                    <a:pt x="306828" y="306419"/>
                    <a:pt x="253273" y="359975"/>
                    <a:pt x="187209" y="359975"/>
                  </a:cubicBezTo>
                  <a:lnTo>
                    <a:pt x="119619" y="359975"/>
                  </a:lnTo>
                  <a:cubicBezTo>
                    <a:pt x="53555" y="359975"/>
                    <a:pt x="0" y="306419"/>
                    <a:pt x="0" y="240356"/>
                  </a:cubicBezTo>
                  <a:lnTo>
                    <a:pt x="0" y="119619"/>
                  </a:lnTo>
                  <a:cubicBezTo>
                    <a:pt x="0" y="53555"/>
                    <a:pt x="53555" y="0"/>
                    <a:pt x="119619" y="0"/>
                  </a:cubicBezTo>
                  <a:close/>
                </a:path>
              </a:pathLst>
            </a:custGeom>
            <a:solidFill>
              <a:srgbClr val="484747"/>
            </a:solidFill>
            <a:ln w="38100" cap="sq">
              <a:solidFill>
                <a:srgbClr val="FFFFFF"/>
              </a:solidFill>
              <a:prstDash val="solid"/>
              <a:miter/>
            </a:ln>
          </p:spPr>
          <p:txBody>
            <a:bodyPr/>
            <a:lstStyle/>
            <a:p>
              <a:endParaRPr lang="en-US"/>
            </a:p>
          </p:txBody>
        </p:sp>
        <p:sp>
          <p:nvSpPr>
            <p:cNvPr id="315" name="TextBox 315"/>
            <p:cNvSpPr txBox="1"/>
            <p:nvPr/>
          </p:nvSpPr>
          <p:spPr>
            <a:xfrm>
              <a:off x="0" y="-47625"/>
              <a:ext cx="306828" cy="407600"/>
            </a:xfrm>
            <a:prstGeom prst="rect">
              <a:avLst/>
            </a:prstGeom>
          </p:spPr>
          <p:txBody>
            <a:bodyPr lIns="50800" tIns="50800" rIns="50800" bIns="50800" rtlCol="0" anchor="ctr"/>
            <a:lstStyle/>
            <a:p>
              <a:pPr algn="ctr">
                <a:lnSpc>
                  <a:spcPts val="2340"/>
                </a:lnSpc>
              </a:pPr>
              <a:endParaRPr/>
            </a:p>
          </p:txBody>
        </p:sp>
      </p:grpSp>
      <p:grpSp>
        <p:nvGrpSpPr>
          <p:cNvPr id="316" name="Group 316"/>
          <p:cNvGrpSpPr/>
          <p:nvPr/>
        </p:nvGrpSpPr>
        <p:grpSpPr>
          <a:xfrm>
            <a:off x="13683247" y="6451904"/>
            <a:ext cx="1164988" cy="1366778"/>
            <a:chOff x="0" y="0"/>
            <a:chExt cx="306828" cy="359975"/>
          </a:xfrm>
        </p:grpSpPr>
        <p:sp>
          <p:nvSpPr>
            <p:cNvPr id="317" name="Freeform 317"/>
            <p:cNvSpPr/>
            <p:nvPr/>
          </p:nvSpPr>
          <p:spPr>
            <a:xfrm>
              <a:off x="0" y="0"/>
              <a:ext cx="306828" cy="359975"/>
            </a:xfrm>
            <a:custGeom>
              <a:avLst/>
              <a:gdLst/>
              <a:ahLst/>
              <a:cxnLst/>
              <a:rect l="l" t="t" r="r" b="b"/>
              <a:pathLst>
                <a:path w="306828" h="359975">
                  <a:moveTo>
                    <a:pt x="119619" y="0"/>
                  </a:moveTo>
                  <a:lnTo>
                    <a:pt x="187209" y="0"/>
                  </a:lnTo>
                  <a:cubicBezTo>
                    <a:pt x="253273" y="0"/>
                    <a:pt x="306828" y="53555"/>
                    <a:pt x="306828" y="119619"/>
                  </a:cubicBezTo>
                  <a:lnTo>
                    <a:pt x="306828" y="240356"/>
                  </a:lnTo>
                  <a:cubicBezTo>
                    <a:pt x="306828" y="306419"/>
                    <a:pt x="253273" y="359975"/>
                    <a:pt x="187209" y="359975"/>
                  </a:cubicBezTo>
                  <a:lnTo>
                    <a:pt x="119619" y="359975"/>
                  </a:lnTo>
                  <a:cubicBezTo>
                    <a:pt x="53555" y="359975"/>
                    <a:pt x="0" y="306419"/>
                    <a:pt x="0" y="240356"/>
                  </a:cubicBezTo>
                  <a:lnTo>
                    <a:pt x="0" y="119619"/>
                  </a:lnTo>
                  <a:cubicBezTo>
                    <a:pt x="0" y="53555"/>
                    <a:pt x="53555" y="0"/>
                    <a:pt x="119619" y="0"/>
                  </a:cubicBezTo>
                  <a:close/>
                </a:path>
              </a:pathLst>
            </a:custGeom>
            <a:solidFill>
              <a:srgbClr val="484747"/>
            </a:solidFill>
            <a:ln w="38100" cap="sq">
              <a:solidFill>
                <a:srgbClr val="FFFFFF"/>
              </a:solidFill>
              <a:prstDash val="solid"/>
              <a:miter/>
            </a:ln>
          </p:spPr>
          <p:txBody>
            <a:bodyPr/>
            <a:lstStyle/>
            <a:p>
              <a:endParaRPr lang="en-US"/>
            </a:p>
          </p:txBody>
        </p:sp>
        <p:sp>
          <p:nvSpPr>
            <p:cNvPr id="318" name="TextBox 318"/>
            <p:cNvSpPr txBox="1"/>
            <p:nvPr/>
          </p:nvSpPr>
          <p:spPr>
            <a:xfrm>
              <a:off x="0" y="-47625"/>
              <a:ext cx="306828" cy="407600"/>
            </a:xfrm>
            <a:prstGeom prst="rect">
              <a:avLst/>
            </a:prstGeom>
          </p:spPr>
          <p:txBody>
            <a:bodyPr lIns="50800" tIns="50800" rIns="50800" bIns="50800" rtlCol="0" anchor="ctr"/>
            <a:lstStyle/>
            <a:p>
              <a:pPr algn="ctr">
                <a:lnSpc>
                  <a:spcPts val="2340"/>
                </a:lnSpc>
              </a:pPr>
              <a:endParaRPr/>
            </a:p>
          </p:txBody>
        </p:sp>
      </p:grpSp>
      <p:sp>
        <p:nvSpPr>
          <p:cNvPr id="319" name="Freeform 319"/>
          <p:cNvSpPr/>
          <p:nvPr/>
        </p:nvSpPr>
        <p:spPr>
          <a:xfrm>
            <a:off x="16527886" y="5130548"/>
            <a:ext cx="600195" cy="600195"/>
          </a:xfrm>
          <a:custGeom>
            <a:avLst/>
            <a:gdLst/>
            <a:ahLst/>
            <a:cxnLst/>
            <a:rect l="l" t="t" r="r" b="b"/>
            <a:pathLst>
              <a:path w="600195" h="600195">
                <a:moveTo>
                  <a:pt x="0" y="0"/>
                </a:moveTo>
                <a:lnTo>
                  <a:pt x="600194" y="0"/>
                </a:lnTo>
                <a:lnTo>
                  <a:pt x="600194" y="600195"/>
                </a:lnTo>
                <a:lnTo>
                  <a:pt x="0" y="600195"/>
                </a:lnTo>
                <a:lnTo>
                  <a:pt x="0" y="0"/>
                </a:lnTo>
                <a:close/>
              </a:path>
            </a:pathLst>
          </a:custGeom>
          <a:blipFill>
            <a:blip>
              <a:extLst>
                <a:ext uri="{96DAC541-7B7A-43D3-8B79-37D633B846F1}">
                  <asvg:svgBlip xmlns:asvg="http://schemas.microsoft.com/office/drawing/2016/SVG/main" r:embed="rId23"/>
                </a:ext>
              </a:extLst>
            </a:blip>
            <a:stretch>
              <a:fillRect/>
            </a:stretch>
          </a:blipFill>
        </p:spPr>
        <p:txBody>
          <a:bodyPr/>
          <a:lstStyle/>
          <a:p>
            <a:endParaRPr lang="en-US"/>
          </a:p>
        </p:txBody>
      </p:sp>
      <p:sp>
        <p:nvSpPr>
          <p:cNvPr id="320" name="Freeform 320"/>
          <p:cNvSpPr/>
          <p:nvPr/>
        </p:nvSpPr>
        <p:spPr>
          <a:xfrm>
            <a:off x="16648685" y="5253656"/>
            <a:ext cx="374067" cy="200126"/>
          </a:xfrm>
          <a:custGeom>
            <a:avLst/>
            <a:gdLst/>
            <a:ahLst/>
            <a:cxnLst/>
            <a:rect l="l" t="t" r="r" b="b"/>
            <a:pathLst>
              <a:path w="374067" h="200126">
                <a:moveTo>
                  <a:pt x="0" y="0"/>
                </a:moveTo>
                <a:lnTo>
                  <a:pt x="374067" y="0"/>
                </a:lnTo>
                <a:lnTo>
                  <a:pt x="374067" y="200126"/>
                </a:lnTo>
                <a:lnTo>
                  <a:pt x="0" y="200126"/>
                </a:lnTo>
                <a:lnTo>
                  <a:pt x="0" y="0"/>
                </a:lnTo>
                <a:close/>
              </a:path>
            </a:pathLst>
          </a:custGeom>
          <a:blipFill>
            <a:blip>
              <a:extLst>
                <a:ext uri="{96DAC541-7B7A-43D3-8B79-37D633B846F1}">
                  <asvg:svgBlip xmlns:asvg="http://schemas.microsoft.com/office/drawing/2016/SVG/main" r:embed="rId24"/>
                </a:ext>
              </a:extLst>
            </a:blip>
            <a:stretch>
              <a:fillRect/>
            </a:stretch>
          </a:blipFill>
        </p:spPr>
        <p:txBody>
          <a:bodyPr/>
          <a:lstStyle/>
          <a:p>
            <a:endParaRPr lang="en-US"/>
          </a:p>
        </p:txBody>
      </p:sp>
      <p:sp>
        <p:nvSpPr>
          <p:cNvPr id="321" name="TextBox 321"/>
          <p:cNvSpPr txBox="1"/>
          <p:nvPr/>
        </p:nvSpPr>
        <p:spPr>
          <a:xfrm>
            <a:off x="16667014" y="5143934"/>
            <a:ext cx="337409" cy="158797"/>
          </a:xfrm>
          <a:prstGeom prst="rect">
            <a:avLst/>
          </a:prstGeom>
        </p:spPr>
        <p:txBody>
          <a:bodyPr lIns="0" tIns="0" rIns="0" bIns="0" rtlCol="0" anchor="t">
            <a:spAutoFit/>
          </a:bodyPr>
          <a:lstStyle/>
          <a:p>
            <a:pPr algn="ctr">
              <a:lnSpc>
                <a:spcPts val="764"/>
              </a:lnSpc>
              <a:spcBef>
                <a:spcPct val="0"/>
              </a:spcBef>
            </a:pPr>
            <a:r>
              <a:rPr lang="en-US" sz="636" b="1" spc="86">
                <a:solidFill>
                  <a:srgbClr val="FFFFFF"/>
                </a:solidFill>
                <a:latin typeface="Calibri (MS) Bold"/>
                <a:ea typeface="Calibri (MS) Bold"/>
                <a:cs typeface="Calibri (MS) Bold"/>
                <a:sym typeface="Calibri (MS) Bold"/>
              </a:rPr>
              <a:t>COFFEE</a:t>
            </a:r>
          </a:p>
        </p:txBody>
      </p:sp>
      <p:sp>
        <p:nvSpPr>
          <p:cNvPr id="322" name="Freeform 322"/>
          <p:cNvSpPr/>
          <p:nvPr/>
        </p:nvSpPr>
        <p:spPr>
          <a:xfrm rot="-3394830" flipV="1">
            <a:off x="16564805" y="5378147"/>
            <a:ext cx="92525" cy="29083"/>
          </a:xfrm>
          <a:custGeom>
            <a:avLst/>
            <a:gdLst/>
            <a:ahLst/>
            <a:cxnLst/>
            <a:rect l="l" t="t" r="r" b="b"/>
            <a:pathLst>
              <a:path w="92525" h="29083">
                <a:moveTo>
                  <a:pt x="0" y="29084"/>
                </a:moveTo>
                <a:lnTo>
                  <a:pt x="92525" y="29084"/>
                </a:lnTo>
                <a:lnTo>
                  <a:pt x="92525" y="0"/>
                </a:lnTo>
                <a:lnTo>
                  <a:pt x="0" y="0"/>
                </a:lnTo>
                <a:lnTo>
                  <a:pt x="0" y="29084"/>
                </a:lnTo>
                <a:close/>
              </a:path>
            </a:pathLst>
          </a:custGeom>
          <a:blipFill>
            <a:blip>
              <a:extLst>
                <a:ext uri="{96DAC541-7B7A-43D3-8B79-37D633B846F1}">
                  <asvg:svgBlip xmlns:asvg="http://schemas.microsoft.com/office/drawing/2016/SVG/main" r:embed="rId16"/>
                </a:ext>
              </a:extLst>
            </a:blip>
            <a:stretch>
              <a:fillRect l="-116778"/>
            </a:stretch>
          </a:blipFill>
        </p:spPr>
        <p:txBody>
          <a:bodyPr/>
          <a:lstStyle/>
          <a:p>
            <a:endParaRPr lang="en-US"/>
          </a:p>
        </p:txBody>
      </p:sp>
      <p:sp>
        <p:nvSpPr>
          <p:cNvPr id="323" name="Freeform 323"/>
          <p:cNvSpPr/>
          <p:nvPr/>
        </p:nvSpPr>
        <p:spPr>
          <a:xfrm rot="-6716943">
            <a:off x="17014607" y="5379331"/>
            <a:ext cx="84995" cy="26717"/>
          </a:xfrm>
          <a:custGeom>
            <a:avLst/>
            <a:gdLst/>
            <a:ahLst/>
            <a:cxnLst/>
            <a:rect l="l" t="t" r="r" b="b"/>
            <a:pathLst>
              <a:path w="84995" h="26717">
                <a:moveTo>
                  <a:pt x="0" y="0"/>
                </a:moveTo>
                <a:lnTo>
                  <a:pt x="84995" y="0"/>
                </a:lnTo>
                <a:lnTo>
                  <a:pt x="84995" y="26716"/>
                </a:lnTo>
                <a:lnTo>
                  <a:pt x="0" y="26716"/>
                </a:lnTo>
                <a:lnTo>
                  <a:pt x="0" y="0"/>
                </a:lnTo>
                <a:close/>
              </a:path>
            </a:pathLst>
          </a:custGeom>
          <a:blipFill>
            <a:blip>
              <a:extLst>
                <a:ext uri="{96DAC541-7B7A-43D3-8B79-37D633B846F1}">
                  <asvg:svgBlip xmlns:asvg="http://schemas.microsoft.com/office/drawing/2016/SVG/main" r:embed="rId16"/>
                </a:ext>
              </a:extLst>
            </a:blip>
            <a:stretch>
              <a:fillRect l="-116778"/>
            </a:stretch>
          </a:blipFill>
        </p:spPr>
        <p:txBody>
          <a:bodyPr/>
          <a:lstStyle/>
          <a:p>
            <a:endParaRPr lang="en-US"/>
          </a:p>
        </p:txBody>
      </p:sp>
      <p:sp>
        <p:nvSpPr>
          <p:cNvPr id="324" name="Freeform 324"/>
          <p:cNvSpPr/>
          <p:nvPr/>
        </p:nvSpPr>
        <p:spPr>
          <a:xfrm rot="2699999">
            <a:off x="16636106" y="5313059"/>
            <a:ext cx="388288" cy="388288"/>
          </a:xfrm>
          <a:custGeom>
            <a:avLst/>
            <a:gdLst/>
            <a:ahLst/>
            <a:cxnLst/>
            <a:rect l="l" t="t" r="r" b="b"/>
            <a:pathLst>
              <a:path w="388288" h="388288">
                <a:moveTo>
                  <a:pt x="0" y="0"/>
                </a:moveTo>
                <a:lnTo>
                  <a:pt x="388288" y="0"/>
                </a:lnTo>
                <a:lnTo>
                  <a:pt x="388288" y="388288"/>
                </a:lnTo>
                <a:lnTo>
                  <a:pt x="0" y="388288"/>
                </a:lnTo>
                <a:lnTo>
                  <a:pt x="0" y="0"/>
                </a:lnTo>
                <a:close/>
              </a:path>
            </a:pathLst>
          </a:custGeom>
          <a:blipFill>
            <a:blip>
              <a:extLst>
                <a:ext uri="{96DAC541-7B7A-43D3-8B79-37D633B846F1}">
                  <asvg:svgBlip xmlns:asvg="http://schemas.microsoft.com/office/drawing/2016/SVG/main" r:embed="rId25"/>
                </a:ext>
              </a:extLst>
            </a:blip>
            <a:stretch>
              <a:fillRect/>
            </a:stretch>
          </a:blipFill>
        </p:spPr>
        <p:txBody>
          <a:bodyPr/>
          <a:lstStyle/>
          <a:p>
            <a:endParaRPr lang="en-US"/>
          </a:p>
        </p:txBody>
      </p:sp>
      <p:sp>
        <p:nvSpPr>
          <p:cNvPr id="325" name="TextBox 325"/>
          <p:cNvSpPr txBox="1"/>
          <p:nvPr/>
        </p:nvSpPr>
        <p:spPr>
          <a:xfrm>
            <a:off x="16742720" y="5630604"/>
            <a:ext cx="170526" cy="39523"/>
          </a:xfrm>
          <a:prstGeom prst="rect">
            <a:avLst/>
          </a:prstGeom>
        </p:spPr>
        <p:txBody>
          <a:bodyPr lIns="0" tIns="0" rIns="0" bIns="0" rtlCol="0" anchor="t">
            <a:spAutoFit/>
          </a:bodyPr>
          <a:lstStyle/>
          <a:p>
            <a:pPr algn="ctr">
              <a:lnSpc>
                <a:spcPts val="238"/>
              </a:lnSpc>
              <a:spcBef>
                <a:spcPct val="0"/>
              </a:spcBef>
            </a:pPr>
            <a:r>
              <a:rPr lang="en-US" sz="198" b="1" spc="27">
                <a:solidFill>
                  <a:srgbClr val="FFFFFF"/>
                </a:solidFill>
                <a:latin typeface="Calibri (MS) Bold"/>
                <a:ea typeface="Calibri (MS) Bold"/>
                <a:cs typeface="Calibri (MS) Bold"/>
                <a:sym typeface="Calibri (MS) Bold"/>
              </a:rPr>
              <a:t>October2026</a:t>
            </a:r>
          </a:p>
        </p:txBody>
      </p:sp>
      <p:sp>
        <p:nvSpPr>
          <p:cNvPr id="326" name="Freeform 326"/>
          <p:cNvSpPr/>
          <p:nvPr/>
        </p:nvSpPr>
        <p:spPr>
          <a:xfrm rot="2699999">
            <a:off x="16682340" y="5455059"/>
            <a:ext cx="291287" cy="291287"/>
          </a:xfrm>
          <a:custGeom>
            <a:avLst/>
            <a:gdLst/>
            <a:ahLst/>
            <a:cxnLst/>
            <a:rect l="l" t="t" r="r" b="b"/>
            <a:pathLst>
              <a:path w="291287" h="291287">
                <a:moveTo>
                  <a:pt x="0" y="0"/>
                </a:moveTo>
                <a:lnTo>
                  <a:pt x="291286" y="0"/>
                </a:lnTo>
                <a:lnTo>
                  <a:pt x="291286" y="291287"/>
                </a:lnTo>
                <a:lnTo>
                  <a:pt x="0" y="291287"/>
                </a:lnTo>
                <a:lnTo>
                  <a:pt x="0" y="0"/>
                </a:lnTo>
                <a:close/>
              </a:path>
            </a:pathLst>
          </a:custGeom>
          <a:blipFill>
            <a:blip>
              <a:extLst>
                <a:ext uri="{96DAC541-7B7A-43D3-8B79-37D633B846F1}">
                  <asvg:svgBlip xmlns:asvg="http://schemas.microsoft.com/office/drawing/2016/SVG/main" r:embed="rId25"/>
                </a:ext>
              </a:extLst>
            </a:blip>
            <a:stretch>
              <a:fillRect/>
            </a:stretch>
          </a:blipFill>
        </p:spPr>
        <p:txBody>
          <a:bodyPr/>
          <a:lstStyle/>
          <a:p>
            <a:endParaRPr lang="en-US"/>
          </a:p>
        </p:txBody>
      </p:sp>
      <p:sp>
        <p:nvSpPr>
          <p:cNvPr id="327" name="TextBox 327"/>
          <p:cNvSpPr txBox="1"/>
          <p:nvPr/>
        </p:nvSpPr>
        <p:spPr>
          <a:xfrm>
            <a:off x="16691457" y="5528993"/>
            <a:ext cx="277587" cy="57783"/>
          </a:xfrm>
          <a:prstGeom prst="rect">
            <a:avLst/>
          </a:prstGeom>
        </p:spPr>
        <p:txBody>
          <a:bodyPr lIns="0" tIns="0" rIns="0" bIns="0" rtlCol="0" anchor="t">
            <a:spAutoFit/>
          </a:bodyPr>
          <a:lstStyle/>
          <a:p>
            <a:pPr algn="ctr">
              <a:lnSpc>
                <a:spcPts val="386"/>
              </a:lnSpc>
              <a:spcBef>
                <a:spcPct val="0"/>
              </a:spcBef>
            </a:pPr>
            <a:r>
              <a:rPr lang="en-US" sz="321" b="1">
                <a:solidFill>
                  <a:srgbClr val="FFFFFF"/>
                </a:solidFill>
                <a:latin typeface="Calibri (MS) Bold"/>
                <a:ea typeface="Calibri (MS) Bold"/>
                <a:cs typeface="Calibri (MS) Bold"/>
                <a:sym typeface="Calibri (MS) Bold"/>
              </a:rPr>
              <a:t> REAL PASSPORT</a:t>
            </a:r>
          </a:p>
        </p:txBody>
      </p:sp>
      <p:sp>
        <p:nvSpPr>
          <p:cNvPr id="328" name="TextBox 328"/>
          <p:cNvSpPr txBox="1"/>
          <p:nvPr/>
        </p:nvSpPr>
        <p:spPr>
          <a:xfrm>
            <a:off x="16567560" y="5444087"/>
            <a:ext cx="131669" cy="39523"/>
          </a:xfrm>
          <a:prstGeom prst="rect">
            <a:avLst/>
          </a:prstGeom>
        </p:spPr>
        <p:txBody>
          <a:bodyPr lIns="0" tIns="0" rIns="0" bIns="0" rtlCol="0" anchor="t">
            <a:spAutoFit/>
          </a:bodyPr>
          <a:lstStyle/>
          <a:p>
            <a:pPr algn="ctr">
              <a:lnSpc>
                <a:spcPts val="238"/>
              </a:lnSpc>
              <a:spcBef>
                <a:spcPct val="0"/>
              </a:spcBef>
            </a:pPr>
            <a:r>
              <a:rPr lang="en-US" sz="198" b="1">
                <a:solidFill>
                  <a:srgbClr val="FFDE59"/>
                </a:solidFill>
                <a:latin typeface="Calibri (MS) Bold"/>
                <a:ea typeface="Calibri (MS) Bold"/>
                <a:cs typeface="Calibri (MS) Bold"/>
                <a:sym typeface="Calibri (MS) Bold"/>
              </a:rPr>
              <a:t>BeReal.</a:t>
            </a:r>
          </a:p>
        </p:txBody>
      </p:sp>
      <p:sp>
        <p:nvSpPr>
          <p:cNvPr id="329" name="TextBox 329"/>
          <p:cNvSpPr txBox="1"/>
          <p:nvPr/>
        </p:nvSpPr>
        <p:spPr>
          <a:xfrm>
            <a:off x="16953710" y="5444087"/>
            <a:ext cx="131669" cy="39523"/>
          </a:xfrm>
          <a:prstGeom prst="rect">
            <a:avLst/>
          </a:prstGeom>
        </p:spPr>
        <p:txBody>
          <a:bodyPr lIns="0" tIns="0" rIns="0" bIns="0" rtlCol="0" anchor="t">
            <a:spAutoFit/>
          </a:bodyPr>
          <a:lstStyle/>
          <a:p>
            <a:pPr algn="ctr">
              <a:lnSpc>
                <a:spcPts val="238"/>
              </a:lnSpc>
              <a:spcBef>
                <a:spcPct val="0"/>
              </a:spcBef>
            </a:pPr>
            <a:r>
              <a:rPr lang="en-US" sz="198" b="1">
                <a:solidFill>
                  <a:srgbClr val="FFDE59"/>
                </a:solidFill>
                <a:latin typeface="Calibri (MS) Bold"/>
                <a:ea typeface="Calibri (MS) Bold"/>
                <a:cs typeface="Calibri (MS) Bold"/>
                <a:sym typeface="Calibri (MS) Bold"/>
              </a:rPr>
              <a:t>Unfiltered</a:t>
            </a:r>
          </a:p>
        </p:txBody>
      </p:sp>
      <p:sp>
        <p:nvSpPr>
          <p:cNvPr id="330" name="Freeform 330"/>
          <p:cNvSpPr/>
          <p:nvPr/>
        </p:nvSpPr>
        <p:spPr>
          <a:xfrm>
            <a:off x="16772324" y="5342114"/>
            <a:ext cx="111318" cy="126497"/>
          </a:xfrm>
          <a:custGeom>
            <a:avLst/>
            <a:gdLst/>
            <a:ahLst/>
            <a:cxnLst/>
            <a:rect l="l" t="t" r="r" b="b"/>
            <a:pathLst>
              <a:path w="111318" h="126497">
                <a:moveTo>
                  <a:pt x="0" y="0"/>
                </a:moveTo>
                <a:lnTo>
                  <a:pt x="111318" y="0"/>
                </a:lnTo>
                <a:lnTo>
                  <a:pt x="111318" y="126497"/>
                </a:lnTo>
                <a:lnTo>
                  <a:pt x="0" y="126497"/>
                </a:lnTo>
                <a:lnTo>
                  <a:pt x="0" y="0"/>
                </a:lnTo>
                <a:close/>
              </a:path>
            </a:pathLst>
          </a:custGeom>
          <a:blipFill>
            <a:blip>
              <a:extLst>
                <a:ext uri="{96DAC541-7B7A-43D3-8B79-37D633B846F1}">
                  <asvg:svgBlip xmlns:asvg="http://schemas.microsoft.com/office/drawing/2016/SVG/main" r:embed="rId26"/>
                </a:ext>
              </a:extLst>
            </a:blip>
            <a:stretch>
              <a:fillRect/>
            </a:stretch>
          </a:blipFill>
        </p:spPr>
        <p:txBody>
          <a:bodyPr/>
          <a:lstStyle/>
          <a:p>
            <a:endParaRPr lang="en-US"/>
          </a:p>
        </p:txBody>
      </p:sp>
      <p:sp>
        <p:nvSpPr>
          <p:cNvPr id="331" name="Freeform 331"/>
          <p:cNvSpPr/>
          <p:nvPr/>
        </p:nvSpPr>
        <p:spPr>
          <a:xfrm>
            <a:off x="13990397" y="6674845"/>
            <a:ext cx="571232" cy="571232"/>
          </a:xfrm>
          <a:custGeom>
            <a:avLst/>
            <a:gdLst/>
            <a:ahLst/>
            <a:cxnLst/>
            <a:rect l="l" t="t" r="r" b="b"/>
            <a:pathLst>
              <a:path w="571232" h="571232">
                <a:moveTo>
                  <a:pt x="0" y="0"/>
                </a:moveTo>
                <a:lnTo>
                  <a:pt x="571232" y="0"/>
                </a:lnTo>
                <a:lnTo>
                  <a:pt x="571232" y="571233"/>
                </a:lnTo>
                <a:lnTo>
                  <a:pt x="0" y="571233"/>
                </a:lnTo>
                <a:lnTo>
                  <a:pt x="0" y="0"/>
                </a:lnTo>
                <a:close/>
              </a:path>
            </a:pathLst>
          </a:custGeom>
          <a:blipFill>
            <a:blip>
              <a:extLst>
                <a:ext uri="{96DAC541-7B7A-43D3-8B79-37D633B846F1}">
                  <asvg:svgBlip xmlns:asvg="http://schemas.microsoft.com/office/drawing/2016/SVG/main" r:embed="rId27"/>
                </a:ext>
              </a:extLst>
            </a:blip>
            <a:stretch>
              <a:fillRect/>
            </a:stretch>
          </a:blipFill>
        </p:spPr>
        <p:txBody>
          <a:bodyPr/>
          <a:lstStyle/>
          <a:p>
            <a:endParaRPr lang="en-US"/>
          </a:p>
        </p:txBody>
      </p:sp>
      <p:sp>
        <p:nvSpPr>
          <p:cNvPr id="332" name="Freeform 332"/>
          <p:cNvSpPr/>
          <p:nvPr/>
        </p:nvSpPr>
        <p:spPr>
          <a:xfrm>
            <a:off x="14105367" y="6792013"/>
            <a:ext cx="356016" cy="190469"/>
          </a:xfrm>
          <a:custGeom>
            <a:avLst/>
            <a:gdLst/>
            <a:ahLst/>
            <a:cxnLst/>
            <a:rect l="l" t="t" r="r" b="b"/>
            <a:pathLst>
              <a:path w="356016" h="190469">
                <a:moveTo>
                  <a:pt x="0" y="0"/>
                </a:moveTo>
                <a:lnTo>
                  <a:pt x="356016" y="0"/>
                </a:lnTo>
                <a:lnTo>
                  <a:pt x="356016" y="190468"/>
                </a:lnTo>
                <a:lnTo>
                  <a:pt x="0" y="190468"/>
                </a:lnTo>
                <a:lnTo>
                  <a:pt x="0" y="0"/>
                </a:lnTo>
                <a:close/>
              </a:path>
            </a:pathLst>
          </a:custGeom>
          <a:blipFill>
            <a:blip>
              <a:extLst>
                <a:ext uri="{96DAC541-7B7A-43D3-8B79-37D633B846F1}">
                  <asvg:svgBlip xmlns:asvg="http://schemas.microsoft.com/office/drawing/2016/SVG/main" r:embed="rId28"/>
                </a:ext>
              </a:extLst>
            </a:blip>
            <a:stretch>
              <a:fillRect/>
            </a:stretch>
          </a:blipFill>
        </p:spPr>
        <p:txBody>
          <a:bodyPr/>
          <a:lstStyle/>
          <a:p>
            <a:endParaRPr lang="en-US"/>
          </a:p>
        </p:txBody>
      </p:sp>
      <p:sp>
        <p:nvSpPr>
          <p:cNvPr id="333" name="Freeform 333"/>
          <p:cNvSpPr/>
          <p:nvPr/>
        </p:nvSpPr>
        <p:spPr>
          <a:xfrm>
            <a:off x="14208443" y="6840212"/>
            <a:ext cx="158367" cy="172138"/>
          </a:xfrm>
          <a:custGeom>
            <a:avLst/>
            <a:gdLst/>
            <a:ahLst/>
            <a:cxnLst/>
            <a:rect l="l" t="t" r="r" b="b"/>
            <a:pathLst>
              <a:path w="158367" h="172138">
                <a:moveTo>
                  <a:pt x="0" y="0"/>
                </a:moveTo>
                <a:lnTo>
                  <a:pt x="158367" y="0"/>
                </a:lnTo>
                <a:lnTo>
                  <a:pt x="158367" y="172138"/>
                </a:lnTo>
                <a:lnTo>
                  <a:pt x="0" y="172138"/>
                </a:lnTo>
                <a:lnTo>
                  <a:pt x="0" y="0"/>
                </a:lnTo>
                <a:close/>
              </a:path>
            </a:pathLst>
          </a:custGeom>
          <a:blipFill>
            <a:blip>
              <a:extLst>
                <a:ext uri="{96DAC541-7B7A-43D3-8B79-37D633B846F1}">
                  <asvg:svgBlip xmlns:asvg="http://schemas.microsoft.com/office/drawing/2016/SVG/main" r:embed="rId29"/>
                </a:ext>
              </a:extLst>
            </a:blip>
            <a:stretch>
              <a:fillRect/>
            </a:stretch>
          </a:blipFill>
        </p:spPr>
        <p:txBody>
          <a:bodyPr/>
          <a:lstStyle/>
          <a:p>
            <a:endParaRPr lang="en-US"/>
          </a:p>
        </p:txBody>
      </p:sp>
      <p:sp>
        <p:nvSpPr>
          <p:cNvPr id="334" name="TextBox 334"/>
          <p:cNvSpPr txBox="1"/>
          <p:nvPr/>
        </p:nvSpPr>
        <p:spPr>
          <a:xfrm>
            <a:off x="14084043" y="6686666"/>
            <a:ext cx="398663" cy="179849"/>
          </a:xfrm>
          <a:prstGeom prst="rect">
            <a:avLst/>
          </a:prstGeom>
        </p:spPr>
        <p:txBody>
          <a:bodyPr lIns="0" tIns="0" rIns="0" bIns="0" rtlCol="0" anchor="t">
            <a:spAutoFit/>
          </a:bodyPr>
          <a:lstStyle/>
          <a:p>
            <a:pPr algn="ctr">
              <a:lnSpc>
                <a:spcPts val="727"/>
              </a:lnSpc>
              <a:spcBef>
                <a:spcPct val="0"/>
              </a:spcBef>
            </a:pPr>
            <a:r>
              <a:rPr lang="en-US" sz="605" b="1" spc="82">
                <a:solidFill>
                  <a:srgbClr val="FFFFFF"/>
                </a:solidFill>
                <a:latin typeface="Calibri (MS) Bold"/>
                <a:ea typeface="Calibri (MS) Bold"/>
                <a:cs typeface="Calibri (MS) Bold"/>
                <a:sym typeface="Calibri (MS) Bold"/>
              </a:rPr>
              <a:t>HAUNTED</a:t>
            </a:r>
          </a:p>
        </p:txBody>
      </p:sp>
      <p:sp>
        <p:nvSpPr>
          <p:cNvPr id="335" name="Freeform 335"/>
          <p:cNvSpPr/>
          <p:nvPr/>
        </p:nvSpPr>
        <p:spPr>
          <a:xfrm rot="-3394830" flipV="1">
            <a:off x="14026508" y="6882251"/>
            <a:ext cx="115071" cy="36170"/>
          </a:xfrm>
          <a:custGeom>
            <a:avLst/>
            <a:gdLst/>
            <a:ahLst/>
            <a:cxnLst/>
            <a:rect l="l" t="t" r="r" b="b"/>
            <a:pathLst>
              <a:path w="115071" h="36170">
                <a:moveTo>
                  <a:pt x="0" y="36171"/>
                </a:moveTo>
                <a:lnTo>
                  <a:pt x="115071" y="36171"/>
                </a:lnTo>
                <a:lnTo>
                  <a:pt x="115071" y="0"/>
                </a:lnTo>
                <a:lnTo>
                  <a:pt x="0" y="0"/>
                </a:lnTo>
                <a:lnTo>
                  <a:pt x="0" y="36171"/>
                </a:lnTo>
                <a:close/>
              </a:path>
            </a:pathLst>
          </a:custGeom>
          <a:blipFill>
            <a:blip>
              <a:extLst>
                <a:ext uri="{96DAC541-7B7A-43D3-8B79-37D633B846F1}">
                  <asvg:svgBlip xmlns:asvg="http://schemas.microsoft.com/office/drawing/2016/SVG/main" r:embed="rId16"/>
                </a:ext>
              </a:extLst>
            </a:blip>
            <a:stretch>
              <a:fillRect l="-116778"/>
            </a:stretch>
          </a:blipFill>
        </p:spPr>
        <p:txBody>
          <a:bodyPr/>
          <a:lstStyle/>
          <a:p>
            <a:endParaRPr lang="en-US"/>
          </a:p>
        </p:txBody>
      </p:sp>
      <p:sp>
        <p:nvSpPr>
          <p:cNvPr id="336" name="Freeform 336"/>
          <p:cNvSpPr/>
          <p:nvPr/>
        </p:nvSpPr>
        <p:spPr>
          <a:xfrm rot="-6716943">
            <a:off x="14425171" y="6882251"/>
            <a:ext cx="115071" cy="36170"/>
          </a:xfrm>
          <a:custGeom>
            <a:avLst/>
            <a:gdLst/>
            <a:ahLst/>
            <a:cxnLst/>
            <a:rect l="l" t="t" r="r" b="b"/>
            <a:pathLst>
              <a:path w="115071" h="36170">
                <a:moveTo>
                  <a:pt x="0" y="0"/>
                </a:moveTo>
                <a:lnTo>
                  <a:pt x="115071" y="0"/>
                </a:lnTo>
                <a:lnTo>
                  <a:pt x="115071" y="36171"/>
                </a:lnTo>
                <a:lnTo>
                  <a:pt x="0" y="36171"/>
                </a:lnTo>
                <a:lnTo>
                  <a:pt x="0" y="0"/>
                </a:lnTo>
                <a:close/>
              </a:path>
            </a:pathLst>
          </a:custGeom>
          <a:blipFill>
            <a:blip>
              <a:extLst>
                <a:ext uri="{96DAC541-7B7A-43D3-8B79-37D633B846F1}">
                  <asvg:svgBlip xmlns:asvg="http://schemas.microsoft.com/office/drawing/2016/SVG/main" r:embed="rId16"/>
                </a:ext>
              </a:extLst>
            </a:blip>
            <a:stretch>
              <a:fillRect l="-116778"/>
            </a:stretch>
          </a:blipFill>
        </p:spPr>
        <p:txBody>
          <a:bodyPr/>
          <a:lstStyle/>
          <a:p>
            <a:endParaRPr lang="en-US"/>
          </a:p>
        </p:txBody>
      </p:sp>
      <p:sp>
        <p:nvSpPr>
          <p:cNvPr id="337" name="Freeform 337"/>
          <p:cNvSpPr/>
          <p:nvPr/>
        </p:nvSpPr>
        <p:spPr>
          <a:xfrm rot="2699999">
            <a:off x="14093395" y="6855748"/>
            <a:ext cx="369551" cy="369551"/>
          </a:xfrm>
          <a:custGeom>
            <a:avLst/>
            <a:gdLst/>
            <a:ahLst/>
            <a:cxnLst/>
            <a:rect l="l" t="t" r="r" b="b"/>
            <a:pathLst>
              <a:path w="369551" h="369551">
                <a:moveTo>
                  <a:pt x="0" y="0"/>
                </a:moveTo>
                <a:lnTo>
                  <a:pt x="369551" y="0"/>
                </a:lnTo>
                <a:lnTo>
                  <a:pt x="369551" y="369551"/>
                </a:lnTo>
                <a:lnTo>
                  <a:pt x="0" y="369551"/>
                </a:lnTo>
                <a:lnTo>
                  <a:pt x="0" y="0"/>
                </a:lnTo>
                <a:close/>
              </a:path>
            </a:pathLst>
          </a:custGeom>
          <a:blipFill>
            <a:blip>
              <a:extLst>
                <a:ext uri="{96DAC541-7B7A-43D3-8B79-37D633B846F1}">
                  <asvg:svgBlip xmlns:asvg="http://schemas.microsoft.com/office/drawing/2016/SVG/main" r:embed="rId30"/>
                </a:ext>
              </a:extLst>
            </a:blip>
            <a:stretch>
              <a:fillRect/>
            </a:stretch>
          </a:blipFill>
        </p:spPr>
        <p:txBody>
          <a:bodyPr/>
          <a:lstStyle/>
          <a:p>
            <a:endParaRPr lang="en-US"/>
          </a:p>
        </p:txBody>
      </p:sp>
      <p:sp>
        <p:nvSpPr>
          <p:cNvPr id="338" name="TextBox 338"/>
          <p:cNvSpPr txBox="1"/>
          <p:nvPr/>
        </p:nvSpPr>
        <p:spPr>
          <a:xfrm>
            <a:off x="14194864" y="7150312"/>
            <a:ext cx="162297" cy="38076"/>
          </a:xfrm>
          <a:prstGeom prst="rect">
            <a:avLst/>
          </a:prstGeom>
        </p:spPr>
        <p:txBody>
          <a:bodyPr lIns="0" tIns="0" rIns="0" bIns="0" rtlCol="0" anchor="t">
            <a:spAutoFit/>
          </a:bodyPr>
          <a:lstStyle/>
          <a:p>
            <a:pPr algn="ctr">
              <a:lnSpc>
                <a:spcPts val="226"/>
              </a:lnSpc>
              <a:spcBef>
                <a:spcPct val="0"/>
              </a:spcBef>
            </a:pPr>
            <a:r>
              <a:rPr lang="en-US" sz="188" b="1" spc="25">
                <a:solidFill>
                  <a:srgbClr val="FFFFFF"/>
                </a:solidFill>
                <a:latin typeface="Calibri (MS) Bold"/>
                <a:ea typeface="Calibri (MS) Bold"/>
                <a:cs typeface="Calibri (MS) Bold"/>
                <a:sym typeface="Calibri (MS) Bold"/>
              </a:rPr>
              <a:t>October2026</a:t>
            </a:r>
          </a:p>
        </p:txBody>
      </p:sp>
      <p:sp>
        <p:nvSpPr>
          <p:cNvPr id="339" name="Freeform 339"/>
          <p:cNvSpPr/>
          <p:nvPr/>
        </p:nvSpPr>
        <p:spPr>
          <a:xfrm rot="2699999">
            <a:off x="14137397" y="6983697"/>
            <a:ext cx="277231" cy="277231"/>
          </a:xfrm>
          <a:custGeom>
            <a:avLst/>
            <a:gdLst/>
            <a:ahLst/>
            <a:cxnLst/>
            <a:rect l="l" t="t" r="r" b="b"/>
            <a:pathLst>
              <a:path w="277231" h="277231">
                <a:moveTo>
                  <a:pt x="0" y="0"/>
                </a:moveTo>
                <a:lnTo>
                  <a:pt x="277231" y="0"/>
                </a:lnTo>
                <a:lnTo>
                  <a:pt x="277231" y="277231"/>
                </a:lnTo>
                <a:lnTo>
                  <a:pt x="0" y="277231"/>
                </a:lnTo>
                <a:lnTo>
                  <a:pt x="0" y="0"/>
                </a:lnTo>
                <a:close/>
              </a:path>
            </a:pathLst>
          </a:custGeom>
          <a:blipFill>
            <a:blip>
              <a:extLst>
                <a:ext uri="{96DAC541-7B7A-43D3-8B79-37D633B846F1}">
                  <asvg:svgBlip xmlns:asvg="http://schemas.microsoft.com/office/drawing/2016/SVG/main" r:embed="rId30"/>
                </a:ext>
              </a:extLst>
            </a:blip>
            <a:stretch>
              <a:fillRect/>
            </a:stretch>
          </a:blipFill>
        </p:spPr>
        <p:txBody>
          <a:bodyPr/>
          <a:lstStyle/>
          <a:p>
            <a:endParaRPr lang="en-US"/>
          </a:p>
        </p:txBody>
      </p:sp>
      <p:sp>
        <p:nvSpPr>
          <p:cNvPr id="340" name="TextBox 340"/>
          <p:cNvSpPr txBox="1"/>
          <p:nvPr/>
        </p:nvSpPr>
        <p:spPr>
          <a:xfrm>
            <a:off x="14146075" y="7053603"/>
            <a:ext cx="264192" cy="55455"/>
          </a:xfrm>
          <a:prstGeom prst="rect">
            <a:avLst/>
          </a:prstGeom>
        </p:spPr>
        <p:txBody>
          <a:bodyPr lIns="0" tIns="0" rIns="0" bIns="0" rtlCol="0" anchor="t">
            <a:spAutoFit/>
          </a:bodyPr>
          <a:lstStyle/>
          <a:p>
            <a:pPr algn="ctr">
              <a:lnSpc>
                <a:spcPts val="367"/>
              </a:lnSpc>
              <a:spcBef>
                <a:spcPct val="0"/>
              </a:spcBef>
            </a:pPr>
            <a:r>
              <a:rPr lang="en-US" sz="306" b="1">
                <a:solidFill>
                  <a:srgbClr val="FFFFFF"/>
                </a:solidFill>
                <a:latin typeface="Calibri (MS) Bold"/>
                <a:ea typeface="Calibri (MS) Bold"/>
                <a:cs typeface="Calibri (MS) Bold"/>
                <a:sym typeface="Calibri (MS) Bold"/>
              </a:rPr>
              <a:t> REAL PASSPORT</a:t>
            </a:r>
          </a:p>
        </p:txBody>
      </p:sp>
      <p:sp>
        <p:nvSpPr>
          <p:cNvPr id="341" name="TextBox 341"/>
          <p:cNvSpPr txBox="1"/>
          <p:nvPr/>
        </p:nvSpPr>
        <p:spPr>
          <a:xfrm>
            <a:off x="14028156" y="6972794"/>
            <a:ext cx="125315" cy="38076"/>
          </a:xfrm>
          <a:prstGeom prst="rect">
            <a:avLst/>
          </a:prstGeom>
        </p:spPr>
        <p:txBody>
          <a:bodyPr lIns="0" tIns="0" rIns="0" bIns="0" rtlCol="0" anchor="t">
            <a:spAutoFit/>
          </a:bodyPr>
          <a:lstStyle/>
          <a:p>
            <a:pPr algn="ctr">
              <a:lnSpc>
                <a:spcPts val="226"/>
              </a:lnSpc>
              <a:spcBef>
                <a:spcPct val="0"/>
              </a:spcBef>
            </a:pPr>
            <a:r>
              <a:rPr lang="en-US" sz="188" b="1">
                <a:solidFill>
                  <a:srgbClr val="FFDE59"/>
                </a:solidFill>
                <a:latin typeface="Calibri (MS) Bold"/>
                <a:ea typeface="Calibri (MS) Bold"/>
                <a:cs typeface="Calibri (MS) Bold"/>
                <a:sym typeface="Calibri (MS) Bold"/>
              </a:rPr>
              <a:t>BeReal.</a:t>
            </a:r>
          </a:p>
        </p:txBody>
      </p:sp>
      <p:sp>
        <p:nvSpPr>
          <p:cNvPr id="342" name="TextBox 342"/>
          <p:cNvSpPr txBox="1"/>
          <p:nvPr/>
        </p:nvSpPr>
        <p:spPr>
          <a:xfrm>
            <a:off x="14395673" y="6972794"/>
            <a:ext cx="125315" cy="38076"/>
          </a:xfrm>
          <a:prstGeom prst="rect">
            <a:avLst/>
          </a:prstGeom>
        </p:spPr>
        <p:txBody>
          <a:bodyPr lIns="0" tIns="0" rIns="0" bIns="0" rtlCol="0" anchor="t">
            <a:spAutoFit/>
          </a:bodyPr>
          <a:lstStyle/>
          <a:p>
            <a:pPr algn="ctr">
              <a:lnSpc>
                <a:spcPts val="226"/>
              </a:lnSpc>
              <a:spcBef>
                <a:spcPct val="0"/>
              </a:spcBef>
            </a:pPr>
            <a:r>
              <a:rPr lang="en-US" sz="188" b="1">
                <a:solidFill>
                  <a:srgbClr val="FFDE59"/>
                </a:solidFill>
                <a:latin typeface="Calibri (MS) Bold"/>
                <a:ea typeface="Calibri (MS) Bold"/>
                <a:cs typeface="Calibri (MS) Bold"/>
                <a:sym typeface="Calibri (MS) Bold"/>
              </a:rPr>
              <a:t>Unfiltered</a:t>
            </a:r>
          </a:p>
        </p:txBody>
      </p:sp>
      <p:sp>
        <p:nvSpPr>
          <p:cNvPr id="343" name="Freeform 343"/>
          <p:cNvSpPr/>
          <p:nvPr/>
        </p:nvSpPr>
        <p:spPr>
          <a:xfrm>
            <a:off x="15102924" y="6613829"/>
            <a:ext cx="116905" cy="157980"/>
          </a:xfrm>
          <a:custGeom>
            <a:avLst/>
            <a:gdLst/>
            <a:ahLst/>
            <a:cxnLst/>
            <a:rect l="l" t="t" r="r" b="b"/>
            <a:pathLst>
              <a:path w="116905" h="157980">
                <a:moveTo>
                  <a:pt x="0" y="0"/>
                </a:moveTo>
                <a:lnTo>
                  <a:pt x="116905" y="0"/>
                </a:lnTo>
                <a:lnTo>
                  <a:pt x="116905" y="157980"/>
                </a:lnTo>
                <a:lnTo>
                  <a:pt x="0" y="157980"/>
                </a:lnTo>
                <a:lnTo>
                  <a:pt x="0" y="0"/>
                </a:lnTo>
                <a:close/>
              </a:path>
            </a:pathLst>
          </a:custGeom>
          <a:blipFill>
            <a:blip>
              <a:extLst>
                <a:ext uri="{96DAC541-7B7A-43D3-8B79-37D633B846F1}">
                  <asvg:svgBlip xmlns:asvg="http://schemas.microsoft.com/office/drawing/2016/SVG/main" r:embed="rId31"/>
                </a:ext>
              </a:extLst>
            </a:blip>
            <a:stretch>
              <a:fillRect/>
            </a:stretch>
          </a:blipFill>
        </p:spPr>
        <p:txBody>
          <a:bodyPr/>
          <a:lstStyle/>
          <a:p>
            <a:endParaRPr lang="en-US"/>
          </a:p>
        </p:txBody>
      </p:sp>
      <p:sp>
        <p:nvSpPr>
          <p:cNvPr id="344" name="Freeform 344"/>
          <p:cNvSpPr/>
          <p:nvPr/>
        </p:nvSpPr>
        <p:spPr>
          <a:xfrm>
            <a:off x="16397889" y="6595855"/>
            <a:ext cx="116905" cy="157980"/>
          </a:xfrm>
          <a:custGeom>
            <a:avLst/>
            <a:gdLst/>
            <a:ahLst/>
            <a:cxnLst/>
            <a:rect l="l" t="t" r="r" b="b"/>
            <a:pathLst>
              <a:path w="116905" h="157980">
                <a:moveTo>
                  <a:pt x="0" y="0"/>
                </a:moveTo>
                <a:lnTo>
                  <a:pt x="116905" y="0"/>
                </a:lnTo>
                <a:lnTo>
                  <a:pt x="116905" y="157980"/>
                </a:lnTo>
                <a:lnTo>
                  <a:pt x="0" y="157980"/>
                </a:lnTo>
                <a:lnTo>
                  <a:pt x="0" y="0"/>
                </a:lnTo>
                <a:close/>
              </a:path>
            </a:pathLst>
          </a:custGeom>
          <a:blipFill>
            <a:blip>
              <a:extLst>
                <a:ext uri="{96DAC541-7B7A-43D3-8B79-37D633B846F1}">
                  <asvg:svgBlip xmlns:asvg="http://schemas.microsoft.com/office/drawing/2016/SVG/main" r:embed="rId31"/>
                </a:ext>
              </a:extLst>
            </a:blip>
            <a:stretch>
              <a:fillRect/>
            </a:stretch>
          </a:blipFill>
        </p:spPr>
        <p:txBody>
          <a:bodyPr/>
          <a:lstStyle/>
          <a:p>
            <a:endParaRPr lang="en-US"/>
          </a:p>
        </p:txBody>
      </p:sp>
      <p:grpSp>
        <p:nvGrpSpPr>
          <p:cNvPr id="345" name="Group 345"/>
          <p:cNvGrpSpPr/>
          <p:nvPr/>
        </p:nvGrpSpPr>
        <p:grpSpPr>
          <a:xfrm>
            <a:off x="13875434" y="7423119"/>
            <a:ext cx="815881" cy="188337"/>
            <a:chOff x="0" y="0"/>
            <a:chExt cx="1523988" cy="351796"/>
          </a:xfrm>
        </p:grpSpPr>
        <p:sp>
          <p:nvSpPr>
            <p:cNvPr id="346" name="Freeform 346"/>
            <p:cNvSpPr/>
            <p:nvPr/>
          </p:nvSpPr>
          <p:spPr>
            <a:xfrm>
              <a:off x="0" y="0"/>
              <a:ext cx="1523988" cy="351796"/>
            </a:xfrm>
            <a:custGeom>
              <a:avLst/>
              <a:gdLst/>
              <a:ahLst/>
              <a:cxnLst/>
              <a:rect l="l" t="t" r="r" b="b"/>
              <a:pathLst>
                <a:path w="1523988" h="351796">
                  <a:moveTo>
                    <a:pt x="0" y="0"/>
                  </a:moveTo>
                  <a:lnTo>
                    <a:pt x="1523988" y="0"/>
                  </a:lnTo>
                  <a:lnTo>
                    <a:pt x="1523988" y="351796"/>
                  </a:lnTo>
                  <a:lnTo>
                    <a:pt x="0" y="351796"/>
                  </a:lnTo>
                  <a:close/>
                </a:path>
              </a:pathLst>
            </a:custGeom>
            <a:blipFill>
              <a:blip r:embed="rId3">
                <a:alphaModFix amt="0"/>
              </a:blip>
              <a:stretch>
                <a:fillRect t="-816642" r="-1160009" b="-1210497"/>
              </a:stretch>
            </a:blipFill>
          </p:spPr>
          <p:txBody>
            <a:bodyPr/>
            <a:lstStyle/>
            <a:p>
              <a:endParaRPr lang="en-US"/>
            </a:p>
          </p:txBody>
        </p:sp>
        <p:sp>
          <p:nvSpPr>
            <p:cNvPr id="347" name="TextBox 347"/>
            <p:cNvSpPr txBox="1"/>
            <p:nvPr/>
          </p:nvSpPr>
          <p:spPr>
            <a:xfrm>
              <a:off x="0" y="0"/>
              <a:ext cx="1523988" cy="351796"/>
            </a:xfrm>
            <a:prstGeom prst="rect">
              <a:avLst/>
            </a:prstGeom>
          </p:spPr>
          <p:txBody>
            <a:bodyPr lIns="0" tIns="0" rIns="0" bIns="0" rtlCol="0" anchor="ctr"/>
            <a:lstStyle/>
            <a:p>
              <a:pPr algn="l">
                <a:lnSpc>
                  <a:spcPts val="533"/>
                </a:lnSpc>
              </a:pPr>
              <a:r>
                <a:rPr lang="en-US" sz="500" b="1">
                  <a:solidFill>
                    <a:srgbClr val="FFFFFF"/>
                  </a:solidFill>
                  <a:latin typeface="Arial Bold"/>
                  <a:ea typeface="Arial Bold"/>
                  <a:cs typeface="Arial Bold"/>
                  <a:sym typeface="Arial Bold"/>
                </a:rPr>
                <a:t>No Post yet! Be the first..</a:t>
              </a:r>
            </a:p>
          </p:txBody>
        </p:sp>
      </p:grpSp>
      <p:sp>
        <p:nvSpPr>
          <p:cNvPr id="348" name="Freeform 348"/>
          <p:cNvSpPr/>
          <p:nvPr/>
        </p:nvSpPr>
        <p:spPr>
          <a:xfrm>
            <a:off x="15323004" y="6673350"/>
            <a:ext cx="572560" cy="572560"/>
          </a:xfrm>
          <a:custGeom>
            <a:avLst/>
            <a:gdLst/>
            <a:ahLst/>
            <a:cxnLst/>
            <a:rect l="l" t="t" r="r" b="b"/>
            <a:pathLst>
              <a:path w="572560" h="572560">
                <a:moveTo>
                  <a:pt x="0" y="0"/>
                </a:moveTo>
                <a:lnTo>
                  <a:pt x="572560" y="0"/>
                </a:lnTo>
                <a:lnTo>
                  <a:pt x="572560" y="572560"/>
                </a:lnTo>
                <a:lnTo>
                  <a:pt x="0" y="572560"/>
                </a:lnTo>
                <a:lnTo>
                  <a:pt x="0" y="0"/>
                </a:lnTo>
                <a:close/>
              </a:path>
            </a:pathLst>
          </a:custGeom>
          <a:blipFill>
            <a:blip>
              <a:extLst>
                <a:ext uri="{96DAC541-7B7A-43D3-8B79-37D633B846F1}">
                  <asvg:svgBlip xmlns:asvg="http://schemas.microsoft.com/office/drawing/2016/SVG/main" r:embed="rId14"/>
                </a:ext>
              </a:extLst>
            </a:blip>
            <a:stretch>
              <a:fillRect/>
            </a:stretch>
          </a:blipFill>
        </p:spPr>
        <p:txBody>
          <a:bodyPr/>
          <a:lstStyle/>
          <a:p>
            <a:endParaRPr lang="en-US"/>
          </a:p>
        </p:txBody>
      </p:sp>
      <p:sp>
        <p:nvSpPr>
          <p:cNvPr id="349" name="Freeform 349"/>
          <p:cNvSpPr/>
          <p:nvPr/>
        </p:nvSpPr>
        <p:spPr>
          <a:xfrm>
            <a:off x="15438242" y="6790789"/>
            <a:ext cx="356843" cy="190911"/>
          </a:xfrm>
          <a:custGeom>
            <a:avLst/>
            <a:gdLst/>
            <a:ahLst/>
            <a:cxnLst/>
            <a:rect l="l" t="t" r="r" b="b"/>
            <a:pathLst>
              <a:path w="356843" h="190911">
                <a:moveTo>
                  <a:pt x="0" y="0"/>
                </a:moveTo>
                <a:lnTo>
                  <a:pt x="356843" y="0"/>
                </a:lnTo>
                <a:lnTo>
                  <a:pt x="356843" y="190912"/>
                </a:lnTo>
                <a:lnTo>
                  <a:pt x="0" y="190912"/>
                </a:lnTo>
                <a:lnTo>
                  <a:pt x="0" y="0"/>
                </a:lnTo>
                <a:close/>
              </a:path>
            </a:pathLst>
          </a:custGeom>
          <a:blipFill>
            <a:blip>
              <a:extLst>
                <a:ext uri="{96DAC541-7B7A-43D3-8B79-37D633B846F1}">
                  <asvg:svgBlip xmlns:asvg="http://schemas.microsoft.com/office/drawing/2016/SVG/main" r:embed="rId15"/>
                </a:ext>
              </a:extLst>
            </a:blip>
            <a:stretch>
              <a:fillRect/>
            </a:stretch>
          </a:blipFill>
        </p:spPr>
        <p:txBody>
          <a:bodyPr/>
          <a:lstStyle/>
          <a:p>
            <a:endParaRPr lang="en-US"/>
          </a:p>
        </p:txBody>
      </p:sp>
      <p:sp>
        <p:nvSpPr>
          <p:cNvPr id="350" name="TextBox 350"/>
          <p:cNvSpPr txBox="1"/>
          <p:nvPr/>
        </p:nvSpPr>
        <p:spPr>
          <a:xfrm>
            <a:off x="15381807" y="6685242"/>
            <a:ext cx="469712" cy="219455"/>
          </a:xfrm>
          <a:prstGeom prst="rect">
            <a:avLst/>
          </a:prstGeom>
        </p:spPr>
        <p:txBody>
          <a:bodyPr lIns="0" tIns="0" rIns="0" bIns="0" rtlCol="0" anchor="t">
            <a:spAutoFit/>
          </a:bodyPr>
          <a:lstStyle/>
          <a:p>
            <a:pPr algn="ctr">
              <a:lnSpc>
                <a:spcPts val="728"/>
              </a:lnSpc>
              <a:spcBef>
                <a:spcPct val="0"/>
              </a:spcBef>
            </a:pPr>
            <a:r>
              <a:rPr lang="en-US" sz="607" b="1" spc="82">
                <a:solidFill>
                  <a:srgbClr val="FFFFFF"/>
                </a:solidFill>
                <a:latin typeface="Calibri (MS) Bold"/>
                <a:ea typeface="Calibri (MS) Bold"/>
                <a:cs typeface="Calibri (MS) Bold"/>
                <a:sym typeface="Calibri (MS) Bold"/>
              </a:rPr>
              <a:t>LITTLE WINS</a:t>
            </a:r>
          </a:p>
        </p:txBody>
      </p:sp>
      <p:sp>
        <p:nvSpPr>
          <p:cNvPr id="351" name="Freeform 351"/>
          <p:cNvSpPr/>
          <p:nvPr/>
        </p:nvSpPr>
        <p:spPr>
          <a:xfrm rot="2699999">
            <a:off x="15426242" y="6847457"/>
            <a:ext cx="370410" cy="370410"/>
          </a:xfrm>
          <a:custGeom>
            <a:avLst/>
            <a:gdLst/>
            <a:ahLst/>
            <a:cxnLst/>
            <a:rect l="l" t="t" r="r" b="b"/>
            <a:pathLst>
              <a:path w="370410" h="370410">
                <a:moveTo>
                  <a:pt x="0" y="0"/>
                </a:moveTo>
                <a:lnTo>
                  <a:pt x="370410" y="0"/>
                </a:lnTo>
                <a:lnTo>
                  <a:pt x="370410" y="370410"/>
                </a:lnTo>
                <a:lnTo>
                  <a:pt x="0" y="370410"/>
                </a:lnTo>
                <a:lnTo>
                  <a:pt x="0" y="0"/>
                </a:lnTo>
                <a:close/>
              </a:path>
            </a:pathLst>
          </a:custGeom>
          <a:blipFill>
            <a:blip>
              <a:extLst>
                <a:ext uri="{96DAC541-7B7A-43D3-8B79-37D633B846F1}">
                  <asvg:svgBlip xmlns:asvg="http://schemas.microsoft.com/office/drawing/2016/SVG/main" r:embed="rId17"/>
                </a:ext>
              </a:extLst>
            </a:blip>
            <a:stretch>
              <a:fillRect/>
            </a:stretch>
          </a:blipFill>
        </p:spPr>
        <p:txBody>
          <a:bodyPr/>
          <a:lstStyle/>
          <a:p>
            <a:endParaRPr lang="en-US"/>
          </a:p>
        </p:txBody>
      </p:sp>
      <p:sp>
        <p:nvSpPr>
          <p:cNvPr id="352" name="TextBox 352"/>
          <p:cNvSpPr txBox="1"/>
          <p:nvPr/>
        </p:nvSpPr>
        <p:spPr>
          <a:xfrm>
            <a:off x="15527947" y="7149943"/>
            <a:ext cx="162674" cy="38142"/>
          </a:xfrm>
          <a:prstGeom prst="rect">
            <a:avLst/>
          </a:prstGeom>
        </p:spPr>
        <p:txBody>
          <a:bodyPr lIns="0" tIns="0" rIns="0" bIns="0" rtlCol="0" anchor="t">
            <a:spAutoFit/>
          </a:bodyPr>
          <a:lstStyle/>
          <a:p>
            <a:pPr algn="ctr">
              <a:lnSpc>
                <a:spcPts val="227"/>
              </a:lnSpc>
              <a:spcBef>
                <a:spcPct val="0"/>
              </a:spcBef>
            </a:pPr>
            <a:r>
              <a:rPr lang="en-US" sz="189" b="1" spc="25">
                <a:solidFill>
                  <a:srgbClr val="FFFFFF"/>
                </a:solidFill>
                <a:latin typeface="Calibri (MS) Bold"/>
                <a:ea typeface="Calibri (MS) Bold"/>
                <a:cs typeface="Calibri (MS) Bold"/>
                <a:sym typeface="Calibri (MS) Bold"/>
              </a:rPr>
              <a:t>October2026</a:t>
            </a:r>
          </a:p>
        </p:txBody>
      </p:sp>
      <p:sp>
        <p:nvSpPr>
          <p:cNvPr id="353" name="Freeform 353"/>
          <p:cNvSpPr/>
          <p:nvPr/>
        </p:nvSpPr>
        <p:spPr>
          <a:xfrm rot="2699999">
            <a:off x="15470347" y="6982919"/>
            <a:ext cx="277875" cy="277875"/>
          </a:xfrm>
          <a:custGeom>
            <a:avLst/>
            <a:gdLst/>
            <a:ahLst/>
            <a:cxnLst/>
            <a:rect l="l" t="t" r="r" b="b"/>
            <a:pathLst>
              <a:path w="277875" h="277875">
                <a:moveTo>
                  <a:pt x="0" y="0"/>
                </a:moveTo>
                <a:lnTo>
                  <a:pt x="277875" y="0"/>
                </a:lnTo>
                <a:lnTo>
                  <a:pt x="277875" y="277875"/>
                </a:lnTo>
                <a:lnTo>
                  <a:pt x="0" y="277875"/>
                </a:lnTo>
                <a:lnTo>
                  <a:pt x="0" y="0"/>
                </a:lnTo>
                <a:close/>
              </a:path>
            </a:pathLst>
          </a:custGeom>
          <a:blipFill>
            <a:blip>
              <a:extLst>
                <a:ext uri="{96DAC541-7B7A-43D3-8B79-37D633B846F1}">
                  <asvg:svgBlip xmlns:asvg="http://schemas.microsoft.com/office/drawing/2016/SVG/main" r:embed="rId17"/>
                </a:ext>
              </a:extLst>
            </a:blip>
            <a:stretch>
              <a:fillRect/>
            </a:stretch>
          </a:blipFill>
        </p:spPr>
        <p:txBody>
          <a:bodyPr/>
          <a:lstStyle/>
          <a:p>
            <a:endParaRPr lang="en-US"/>
          </a:p>
        </p:txBody>
      </p:sp>
      <p:sp>
        <p:nvSpPr>
          <p:cNvPr id="354" name="TextBox 354"/>
          <p:cNvSpPr txBox="1"/>
          <p:nvPr/>
        </p:nvSpPr>
        <p:spPr>
          <a:xfrm>
            <a:off x="15479044" y="7053010"/>
            <a:ext cx="264806" cy="55561"/>
          </a:xfrm>
          <a:prstGeom prst="rect">
            <a:avLst/>
          </a:prstGeom>
        </p:spPr>
        <p:txBody>
          <a:bodyPr lIns="0" tIns="0" rIns="0" bIns="0" rtlCol="0" anchor="t">
            <a:spAutoFit/>
          </a:bodyPr>
          <a:lstStyle/>
          <a:p>
            <a:pPr algn="ctr">
              <a:lnSpc>
                <a:spcPts val="368"/>
              </a:lnSpc>
              <a:spcBef>
                <a:spcPct val="0"/>
              </a:spcBef>
            </a:pPr>
            <a:r>
              <a:rPr lang="en-US" sz="306" b="1">
                <a:solidFill>
                  <a:srgbClr val="FFFFFF"/>
                </a:solidFill>
                <a:latin typeface="Calibri (MS) Bold"/>
                <a:ea typeface="Calibri (MS) Bold"/>
                <a:cs typeface="Calibri (MS) Bold"/>
                <a:sym typeface="Calibri (MS) Bold"/>
              </a:rPr>
              <a:t> REAL PASSPORT</a:t>
            </a:r>
          </a:p>
        </p:txBody>
      </p:sp>
      <p:sp>
        <p:nvSpPr>
          <p:cNvPr id="355" name="TextBox 355"/>
          <p:cNvSpPr txBox="1"/>
          <p:nvPr/>
        </p:nvSpPr>
        <p:spPr>
          <a:xfrm>
            <a:off x="15360852" y="6972013"/>
            <a:ext cx="125606" cy="38142"/>
          </a:xfrm>
          <a:prstGeom prst="rect">
            <a:avLst/>
          </a:prstGeom>
        </p:spPr>
        <p:txBody>
          <a:bodyPr lIns="0" tIns="0" rIns="0" bIns="0" rtlCol="0" anchor="t">
            <a:spAutoFit/>
          </a:bodyPr>
          <a:lstStyle/>
          <a:p>
            <a:pPr algn="ctr">
              <a:lnSpc>
                <a:spcPts val="227"/>
              </a:lnSpc>
              <a:spcBef>
                <a:spcPct val="0"/>
              </a:spcBef>
            </a:pPr>
            <a:r>
              <a:rPr lang="en-US" sz="189" b="1">
                <a:solidFill>
                  <a:srgbClr val="FFDE59"/>
                </a:solidFill>
                <a:latin typeface="Calibri (MS) Bold"/>
                <a:ea typeface="Calibri (MS) Bold"/>
                <a:cs typeface="Calibri (MS) Bold"/>
                <a:sym typeface="Calibri (MS) Bold"/>
              </a:rPr>
              <a:t>BeReal.</a:t>
            </a:r>
          </a:p>
        </p:txBody>
      </p:sp>
      <p:sp>
        <p:nvSpPr>
          <p:cNvPr id="356" name="TextBox 356"/>
          <p:cNvSpPr txBox="1"/>
          <p:nvPr/>
        </p:nvSpPr>
        <p:spPr>
          <a:xfrm>
            <a:off x="15729223" y="6972013"/>
            <a:ext cx="125606" cy="38142"/>
          </a:xfrm>
          <a:prstGeom prst="rect">
            <a:avLst/>
          </a:prstGeom>
        </p:spPr>
        <p:txBody>
          <a:bodyPr lIns="0" tIns="0" rIns="0" bIns="0" rtlCol="0" anchor="t">
            <a:spAutoFit/>
          </a:bodyPr>
          <a:lstStyle/>
          <a:p>
            <a:pPr algn="ctr">
              <a:lnSpc>
                <a:spcPts val="227"/>
              </a:lnSpc>
              <a:spcBef>
                <a:spcPct val="0"/>
              </a:spcBef>
            </a:pPr>
            <a:r>
              <a:rPr lang="en-US" sz="189" b="1">
                <a:solidFill>
                  <a:srgbClr val="FFDE59"/>
                </a:solidFill>
                <a:latin typeface="Calibri (MS) Bold"/>
                <a:ea typeface="Calibri (MS) Bold"/>
                <a:cs typeface="Calibri (MS) Bold"/>
                <a:sym typeface="Calibri (MS) Bold"/>
              </a:rPr>
              <a:t>Unfiltered</a:t>
            </a:r>
          </a:p>
        </p:txBody>
      </p:sp>
      <p:sp>
        <p:nvSpPr>
          <p:cNvPr id="357" name="Freeform 357"/>
          <p:cNvSpPr/>
          <p:nvPr/>
        </p:nvSpPr>
        <p:spPr>
          <a:xfrm>
            <a:off x="15530970" y="6878375"/>
            <a:ext cx="156629" cy="117472"/>
          </a:xfrm>
          <a:custGeom>
            <a:avLst/>
            <a:gdLst/>
            <a:ahLst/>
            <a:cxnLst/>
            <a:rect l="l" t="t" r="r" b="b"/>
            <a:pathLst>
              <a:path w="156629" h="117472">
                <a:moveTo>
                  <a:pt x="0" y="0"/>
                </a:moveTo>
                <a:lnTo>
                  <a:pt x="156629" y="0"/>
                </a:lnTo>
                <a:lnTo>
                  <a:pt x="156629" y="117472"/>
                </a:lnTo>
                <a:lnTo>
                  <a:pt x="0" y="117472"/>
                </a:lnTo>
                <a:lnTo>
                  <a:pt x="0" y="0"/>
                </a:lnTo>
                <a:close/>
              </a:path>
            </a:pathLst>
          </a:custGeom>
          <a:blipFill>
            <a:blip>
              <a:extLst>
                <a:ext uri="{96DAC541-7B7A-43D3-8B79-37D633B846F1}">
                  <asvg:svgBlip xmlns:asvg="http://schemas.microsoft.com/office/drawing/2016/SVG/main" r:embed="rId32"/>
                </a:ext>
              </a:extLst>
            </a:blip>
            <a:stretch>
              <a:fillRect/>
            </a:stretch>
          </a:blipFill>
        </p:spPr>
        <p:txBody>
          <a:bodyPr/>
          <a:lstStyle/>
          <a:p>
            <a:endParaRPr lang="en-US"/>
          </a:p>
        </p:txBody>
      </p:sp>
      <p:sp>
        <p:nvSpPr>
          <p:cNvPr id="358" name="Freeform 358"/>
          <p:cNvSpPr/>
          <p:nvPr/>
        </p:nvSpPr>
        <p:spPr>
          <a:xfrm rot="-4941124">
            <a:off x="15340108" y="6908213"/>
            <a:ext cx="88237" cy="57795"/>
          </a:xfrm>
          <a:custGeom>
            <a:avLst/>
            <a:gdLst/>
            <a:ahLst/>
            <a:cxnLst/>
            <a:rect l="l" t="t" r="r" b="b"/>
            <a:pathLst>
              <a:path w="88237" h="57795">
                <a:moveTo>
                  <a:pt x="0" y="0"/>
                </a:moveTo>
                <a:lnTo>
                  <a:pt x="88237" y="0"/>
                </a:lnTo>
                <a:lnTo>
                  <a:pt x="88237" y="57796"/>
                </a:lnTo>
                <a:lnTo>
                  <a:pt x="0" y="57796"/>
                </a:lnTo>
                <a:lnTo>
                  <a:pt x="0" y="0"/>
                </a:lnTo>
                <a:close/>
              </a:path>
            </a:pathLst>
          </a:custGeom>
          <a:blipFill>
            <a:blip>
              <a:extLst>
                <a:ext uri="{96DAC541-7B7A-43D3-8B79-37D633B846F1}">
                  <asvg:svgBlip xmlns:asvg="http://schemas.microsoft.com/office/drawing/2016/SVG/main" r:embed="rId33"/>
                </a:ext>
              </a:extLst>
            </a:blip>
            <a:stretch>
              <a:fillRect/>
            </a:stretch>
          </a:blipFill>
        </p:spPr>
        <p:txBody>
          <a:bodyPr/>
          <a:lstStyle/>
          <a:p>
            <a:endParaRPr lang="en-US"/>
          </a:p>
        </p:txBody>
      </p:sp>
      <p:sp>
        <p:nvSpPr>
          <p:cNvPr id="359" name="Freeform 359"/>
          <p:cNvSpPr/>
          <p:nvPr/>
        </p:nvSpPr>
        <p:spPr>
          <a:xfrm rot="5120367" flipH="1">
            <a:off x="15787847" y="6906962"/>
            <a:ext cx="88237" cy="57795"/>
          </a:xfrm>
          <a:custGeom>
            <a:avLst/>
            <a:gdLst/>
            <a:ahLst/>
            <a:cxnLst/>
            <a:rect l="l" t="t" r="r" b="b"/>
            <a:pathLst>
              <a:path w="88237" h="57795">
                <a:moveTo>
                  <a:pt x="88238" y="0"/>
                </a:moveTo>
                <a:lnTo>
                  <a:pt x="0" y="0"/>
                </a:lnTo>
                <a:lnTo>
                  <a:pt x="0" y="57796"/>
                </a:lnTo>
                <a:lnTo>
                  <a:pt x="88238" y="57796"/>
                </a:lnTo>
                <a:lnTo>
                  <a:pt x="88238" y="0"/>
                </a:lnTo>
                <a:close/>
              </a:path>
            </a:pathLst>
          </a:custGeom>
          <a:blipFill>
            <a:blip>
              <a:extLst>
                <a:ext uri="{96DAC541-7B7A-43D3-8B79-37D633B846F1}">
                  <asvg:svgBlip xmlns:asvg="http://schemas.microsoft.com/office/drawing/2016/SVG/main" r:embed="rId33"/>
                </a:ext>
              </a:extLst>
            </a:blip>
            <a:stretch>
              <a:fillRect/>
            </a:stretch>
          </a:blipFill>
        </p:spPr>
        <p:txBody>
          <a:bodyPr/>
          <a:lstStyle/>
          <a:p>
            <a:endParaRPr lang="en-US"/>
          </a:p>
        </p:txBody>
      </p:sp>
      <p:sp>
        <p:nvSpPr>
          <p:cNvPr id="360" name="Freeform 360"/>
          <p:cNvSpPr/>
          <p:nvPr/>
        </p:nvSpPr>
        <p:spPr>
          <a:xfrm>
            <a:off x="16593651" y="6708095"/>
            <a:ext cx="512201" cy="512201"/>
          </a:xfrm>
          <a:custGeom>
            <a:avLst/>
            <a:gdLst/>
            <a:ahLst/>
            <a:cxnLst/>
            <a:rect l="l" t="t" r="r" b="b"/>
            <a:pathLst>
              <a:path w="512201" h="512201">
                <a:moveTo>
                  <a:pt x="0" y="0"/>
                </a:moveTo>
                <a:lnTo>
                  <a:pt x="512201" y="0"/>
                </a:lnTo>
                <a:lnTo>
                  <a:pt x="512201" y="512201"/>
                </a:lnTo>
                <a:lnTo>
                  <a:pt x="0" y="512201"/>
                </a:lnTo>
                <a:lnTo>
                  <a:pt x="0" y="0"/>
                </a:lnTo>
                <a:close/>
              </a:path>
            </a:pathLst>
          </a:custGeom>
          <a:blipFill>
            <a:blip>
              <a:extLst>
                <a:ext uri="{96DAC541-7B7A-43D3-8B79-37D633B846F1}">
                  <asvg:svgBlip xmlns:asvg="http://schemas.microsoft.com/office/drawing/2016/SVG/main" r:embed="rId34"/>
                </a:ext>
              </a:extLst>
            </a:blip>
            <a:stretch>
              <a:fillRect/>
            </a:stretch>
          </a:blipFill>
        </p:spPr>
        <p:txBody>
          <a:bodyPr/>
          <a:lstStyle/>
          <a:p>
            <a:endParaRPr lang="en-US"/>
          </a:p>
        </p:txBody>
      </p:sp>
      <p:sp>
        <p:nvSpPr>
          <p:cNvPr id="361" name="Freeform 361"/>
          <p:cNvSpPr/>
          <p:nvPr/>
        </p:nvSpPr>
        <p:spPr>
          <a:xfrm>
            <a:off x="16696740" y="6813154"/>
            <a:ext cx="319225" cy="170786"/>
          </a:xfrm>
          <a:custGeom>
            <a:avLst/>
            <a:gdLst/>
            <a:ahLst/>
            <a:cxnLst/>
            <a:rect l="l" t="t" r="r" b="b"/>
            <a:pathLst>
              <a:path w="319225" h="170786">
                <a:moveTo>
                  <a:pt x="0" y="0"/>
                </a:moveTo>
                <a:lnTo>
                  <a:pt x="319225" y="0"/>
                </a:lnTo>
                <a:lnTo>
                  <a:pt x="319225" y="170786"/>
                </a:lnTo>
                <a:lnTo>
                  <a:pt x="0" y="170786"/>
                </a:lnTo>
                <a:lnTo>
                  <a:pt x="0" y="0"/>
                </a:lnTo>
                <a:close/>
              </a:path>
            </a:pathLst>
          </a:custGeom>
          <a:blipFill>
            <a:blip>
              <a:extLst>
                <a:ext uri="{96DAC541-7B7A-43D3-8B79-37D633B846F1}">
                  <asvg:svgBlip xmlns:asvg="http://schemas.microsoft.com/office/drawing/2016/SVG/main" r:embed="rId35"/>
                </a:ext>
              </a:extLst>
            </a:blip>
            <a:stretch>
              <a:fillRect/>
            </a:stretch>
          </a:blipFill>
        </p:spPr>
        <p:txBody>
          <a:bodyPr/>
          <a:lstStyle/>
          <a:p>
            <a:endParaRPr lang="en-US"/>
          </a:p>
        </p:txBody>
      </p:sp>
      <p:sp>
        <p:nvSpPr>
          <p:cNvPr id="362" name="TextBox 362"/>
          <p:cNvSpPr txBox="1"/>
          <p:nvPr/>
        </p:nvSpPr>
        <p:spPr>
          <a:xfrm>
            <a:off x="16653740" y="6726250"/>
            <a:ext cx="405225" cy="178632"/>
          </a:xfrm>
          <a:prstGeom prst="rect">
            <a:avLst/>
          </a:prstGeom>
        </p:spPr>
        <p:txBody>
          <a:bodyPr lIns="0" tIns="0" rIns="0" bIns="0" rtlCol="0" anchor="t">
            <a:spAutoFit/>
          </a:bodyPr>
          <a:lstStyle/>
          <a:p>
            <a:pPr algn="ctr">
              <a:lnSpc>
                <a:spcPts val="652"/>
              </a:lnSpc>
              <a:spcBef>
                <a:spcPct val="0"/>
              </a:spcBef>
            </a:pPr>
            <a:r>
              <a:rPr lang="en-US" sz="543" b="1" spc="73">
                <a:solidFill>
                  <a:srgbClr val="FFFFFF"/>
                </a:solidFill>
                <a:latin typeface="Calibri (MS) Bold"/>
                <a:ea typeface="Calibri (MS) Bold"/>
                <a:cs typeface="Calibri (MS) Bold"/>
                <a:sym typeface="Calibri (MS) Bold"/>
              </a:rPr>
              <a:t>GAME TIME</a:t>
            </a:r>
          </a:p>
        </p:txBody>
      </p:sp>
      <p:sp>
        <p:nvSpPr>
          <p:cNvPr id="363" name="Freeform 363"/>
          <p:cNvSpPr/>
          <p:nvPr/>
        </p:nvSpPr>
        <p:spPr>
          <a:xfrm rot="2699999">
            <a:off x="16686006" y="6863848"/>
            <a:ext cx="331362" cy="331362"/>
          </a:xfrm>
          <a:custGeom>
            <a:avLst/>
            <a:gdLst/>
            <a:ahLst/>
            <a:cxnLst/>
            <a:rect l="l" t="t" r="r" b="b"/>
            <a:pathLst>
              <a:path w="331362" h="331362">
                <a:moveTo>
                  <a:pt x="0" y="0"/>
                </a:moveTo>
                <a:lnTo>
                  <a:pt x="331361" y="0"/>
                </a:lnTo>
                <a:lnTo>
                  <a:pt x="331361" y="331361"/>
                </a:lnTo>
                <a:lnTo>
                  <a:pt x="0" y="331361"/>
                </a:lnTo>
                <a:lnTo>
                  <a:pt x="0" y="0"/>
                </a:lnTo>
                <a:close/>
              </a:path>
            </a:pathLst>
          </a:custGeom>
          <a:blipFill>
            <a:blip>
              <a:extLst>
                <a:ext uri="{96DAC541-7B7A-43D3-8B79-37D633B846F1}">
                  <asvg:svgBlip xmlns:asvg="http://schemas.microsoft.com/office/drawing/2016/SVG/main" r:embed="rId36"/>
                </a:ext>
              </a:extLst>
            </a:blip>
            <a:stretch>
              <a:fillRect/>
            </a:stretch>
          </a:blipFill>
        </p:spPr>
        <p:txBody>
          <a:bodyPr/>
          <a:lstStyle/>
          <a:p>
            <a:endParaRPr lang="en-US"/>
          </a:p>
        </p:txBody>
      </p:sp>
      <p:sp>
        <p:nvSpPr>
          <p:cNvPr id="364" name="TextBox 364"/>
          <p:cNvSpPr txBox="1"/>
          <p:nvPr/>
        </p:nvSpPr>
        <p:spPr>
          <a:xfrm>
            <a:off x="16776989" y="7133442"/>
            <a:ext cx="145525" cy="35125"/>
          </a:xfrm>
          <a:prstGeom prst="rect">
            <a:avLst/>
          </a:prstGeom>
        </p:spPr>
        <p:txBody>
          <a:bodyPr lIns="0" tIns="0" rIns="0" bIns="0" rtlCol="0" anchor="t">
            <a:spAutoFit/>
          </a:bodyPr>
          <a:lstStyle/>
          <a:p>
            <a:pPr algn="ctr">
              <a:lnSpc>
                <a:spcPts val="203"/>
              </a:lnSpc>
              <a:spcBef>
                <a:spcPct val="0"/>
              </a:spcBef>
            </a:pPr>
            <a:r>
              <a:rPr lang="en-US" sz="169" b="1" spc="23">
                <a:solidFill>
                  <a:srgbClr val="FFFFFF"/>
                </a:solidFill>
                <a:latin typeface="Calibri (MS) Bold"/>
                <a:ea typeface="Calibri (MS) Bold"/>
                <a:cs typeface="Calibri (MS) Bold"/>
                <a:sym typeface="Calibri (MS) Bold"/>
              </a:rPr>
              <a:t>October2026</a:t>
            </a:r>
          </a:p>
        </p:txBody>
      </p:sp>
      <p:sp>
        <p:nvSpPr>
          <p:cNvPr id="365" name="Freeform 365"/>
          <p:cNvSpPr/>
          <p:nvPr/>
        </p:nvSpPr>
        <p:spPr>
          <a:xfrm rot="2699999">
            <a:off x="16725461" y="6985030"/>
            <a:ext cx="248582" cy="248582"/>
          </a:xfrm>
          <a:custGeom>
            <a:avLst/>
            <a:gdLst/>
            <a:ahLst/>
            <a:cxnLst/>
            <a:rect l="l" t="t" r="r" b="b"/>
            <a:pathLst>
              <a:path w="248582" h="248582">
                <a:moveTo>
                  <a:pt x="0" y="0"/>
                </a:moveTo>
                <a:lnTo>
                  <a:pt x="248581" y="0"/>
                </a:lnTo>
                <a:lnTo>
                  <a:pt x="248581" y="248582"/>
                </a:lnTo>
                <a:lnTo>
                  <a:pt x="0" y="248582"/>
                </a:lnTo>
                <a:lnTo>
                  <a:pt x="0" y="0"/>
                </a:lnTo>
                <a:close/>
              </a:path>
            </a:pathLst>
          </a:custGeom>
          <a:blipFill>
            <a:blip>
              <a:extLst>
                <a:ext uri="{96DAC541-7B7A-43D3-8B79-37D633B846F1}">
                  <asvg:svgBlip xmlns:asvg="http://schemas.microsoft.com/office/drawing/2016/SVG/main" r:embed="rId36"/>
                </a:ext>
              </a:extLst>
            </a:blip>
            <a:stretch>
              <a:fillRect/>
            </a:stretch>
          </a:blipFill>
        </p:spPr>
        <p:txBody>
          <a:bodyPr/>
          <a:lstStyle/>
          <a:p>
            <a:endParaRPr lang="en-US"/>
          </a:p>
        </p:txBody>
      </p:sp>
      <p:sp>
        <p:nvSpPr>
          <p:cNvPr id="366" name="TextBox 366"/>
          <p:cNvSpPr txBox="1"/>
          <p:nvPr/>
        </p:nvSpPr>
        <p:spPr>
          <a:xfrm>
            <a:off x="16733241" y="7046728"/>
            <a:ext cx="236890" cy="50708"/>
          </a:xfrm>
          <a:prstGeom prst="rect">
            <a:avLst/>
          </a:prstGeom>
        </p:spPr>
        <p:txBody>
          <a:bodyPr lIns="0" tIns="0" rIns="0" bIns="0" rtlCol="0" anchor="t">
            <a:spAutoFit/>
          </a:bodyPr>
          <a:lstStyle/>
          <a:p>
            <a:pPr algn="ctr">
              <a:lnSpc>
                <a:spcPts val="329"/>
              </a:lnSpc>
              <a:spcBef>
                <a:spcPct val="0"/>
              </a:spcBef>
            </a:pPr>
            <a:r>
              <a:rPr lang="en-US" sz="274" b="1">
                <a:solidFill>
                  <a:srgbClr val="FFFFFF"/>
                </a:solidFill>
                <a:latin typeface="Calibri (MS) Bold"/>
                <a:ea typeface="Calibri (MS) Bold"/>
                <a:cs typeface="Calibri (MS) Bold"/>
                <a:sym typeface="Calibri (MS) Bold"/>
              </a:rPr>
              <a:t> REAL PASSPORT</a:t>
            </a:r>
          </a:p>
        </p:txBody>
      </p:sp>
      <p:sp>
        <p:nvSpPr>
          <p:cNvPr id="367" name="TextBox 367"/>
          <p:cNvSpPr txBox="1"/>
          <p:nvPr/>
        </p:nvSpPr>
        <p:spPr>
          <a:xfrm>
            <a:off x="16627509" y="6974270"/>
            <a:ext cx="112365" cy="35125"/>
          </a:xfrm>
          <a:prstGeom prst="rect">
            <a:avLst/>
          </a:prstGeom>
        </p:spPr>
        <p:txBody>
          <a:bodyPr lIns="0" tIns="0" rIns="0" bIns="0" rtlCol="0" anchor="t">
            <a:spAutoFit/>
          </a:bodyPr>
          <a:lstStyle/>
          <a:p>
            <a:pPr algn="ctr">
              <a:lnSpc>
                <a:spcPts val="203"/>
              </a:lnSpc>
              <a:spcBef>
                <a:spcPct val="0"/>
              </a:spcBef>
            </a:pPr>
            <a:r>
              <a:rPr lang="en-US" sz="169" b="1">
                <a:solidFill>
                  <a:srgbClr val="FFDE59"/>
                </a:solidFill>
                <a:latin typeface="Calibri (MS) Bold"/>
                <a:ea typeface="Calibri (MS) Bold"/>
                <a:cs typeface="Calibri (MS) Bold"/>
                <a:sym typeface="Calibri (MS) Bold"/>
              </a:rPr>
              <a:t>BeReal.</a:t>
            </a:r>
          </a:p>
        </p:txBody>
      </p:sp>
      <p:sp>
        <p:nvSpPr>
          <p:cNvPr id="368" name="TextBox 368"/>
          <p:cNvSpPr txBox="1"/>
          <p:nvPr/>
        </p:nvSpPr>
        <p:spPr>
          <a:xfrm>
            <a:off x="16957046" y="6974270"/>
            <a:ext cx="112365" cy="35125"/>
          </a:xfrm>
          <a:prstGeom prst="rect">
            <a:avLst/>
          </a:prstGeom>
        </p:spPr>
        <p:txBody>
          <a:bodyPr lIns="0" tIns="0" rIns="0" bIns="0" rtlCol="0" anchor="t">
            <a:spAutoFit/>
          </a:bodyPr>
          <a:lstStyle/>
          <a:p>
            <a:pPr algn="ctr">
              <a:lnSpc>
                <a:spcPts val="203"/>
              </a:lnSpc>
              <a:spcBef>
                <a:spcPct val="0"/>
              </a:spcBef>
            </a:pPr>
            <a:r>
              <a:rPr lang="en-US" sz="169" b="1">
                <a:solidFill>
                  <a:srgbClr val="FFDE59"/>
                </a:solidFill>
                <a:latin typeface="Calibri (MS) Bold"/>
                <a:ea typeface="Calibri (MS) Bold"/>
                <a:cs typeface="Calibri (MS) Bold"/>
                <a:sym typeface="Calibri (MS) Bold"/>
              </a:rPr>
              <a:t>Unfiltered</a:t>
            </a:r>
          </a:p>
        </p:txBody>
      </p:sp>
      <p:sp>
        <p:nvSpPr>
          <p:cNvPr id="369" name="Freeform 369"/>
          <p:cNvSpPr/>
          <p:nvPr/>
        </p:nvSpPr>
        <p:spPr>
          <a:xfrm rot="-4941124">
            <a:off x="16608951" y="6918199"/>
            <a:ext cx="78935" cy="51703"/>
          </a:xfrm>
          <a:custGeom>
            <a:avLst/>
            <a:gdLst/>
            <a:ahLst/>
            <a:cxnLst/>
            <a:rect l="l" t="t" r="r" b="b"/>
            <a:pathLst>
              <a:path w="78935" h="51703">
                <a:moveTo>
                  <a:pt x="0" y="0"/>
                </a:moveTo>
                <a:lnTo>
                  <a:pt x="78936" y="0"/>
                </a:lnTo>
                <a:lnTo>
                  <a:pt x="78936" y="51703"/>
                </a:lnTo>
                <a:lnTo>
                  <a:pt x="0" y="51703"/>
                </a:lnTo>
                <a:lnTo>
                  <a:pt x="0" y="0"/>
                </a:lnTo>
                <a:close/>
              </a:path>
            </a:pathLst>
          </a:custGeom>
          <a:blipFill>
            <a:blip>
              <a:extLst>
                <a:ext uri="{96DAC541-7B7A-43D3-8B79-37D633B846F1}">
                  <asvg:svgBlip xmlns:asvg="http://schemas.microsoft.com/office/drawing/2016/SVG/main" r:embed="rId33"/>
                </a:ext>
              </a:extLst>
            </a:blip>
            <a:stretch>
              <a:fillRect/>
            </a:stretch>
          </a:blipFill>
        </p:spPr>
        <p:txBody>
          <a:bodyPr/>
          <a:lstStyle/>
          <a:p>
            <a:endParaRPr lang="en-US"/>
          </a:p>
        </p:txBody>
      </p:sp>
      <p:sp>
        <p:nvSpPr>
          <p:cNvPr id="370" name="Freeform 370"/>
          <p:cNvSpPr/>
          <p:nvPr/>
        </p:nvSpPr>
        <p:spPr>
          <a:xfrm rot="5120367" flipH="1">
            <a:off x="17009490" y="6917080"/>
            <a:ext cx="78935" cy="51703"/>
          </a:xfrm>
          <a:custGeom>
            <a:avLst/>
            <a:gdLst/>
            <a:ahLst/>
            <a:cxnLst/>
            <a:rect l="l" t="t" r="r" b="b"/>
            <a:pathLst>
              <a:path w="78935" h="51703">
                <a:moveTo>
                  <a:pt x="78936" y="0"/>
                </a:moveTo>
                <a:lnTo>
                  <a:pt x="0" y="0"/>
                </a:lnTo>
                <a:lnTo>
                  <a:pt x="0" y="51703"/>
                </a:lnTo>
                <a:lnTo>
                  <a:pt x="78936" y="51703"/>
                </a:lnTo>
                <a:lnTo>
                  <a:pt x="78936" y="0"/>
                </a:lnTo>
                <a:close/>
              </a:path>
            </a:pathLst>
          </a:custGeom>
          <a:blipFill>
            <a:blip>
              <a:extLst>
                <a:ext uri="{96DAC541-7B7A-43D3-8B79-37D633B846F1}">
                  <asvg:svgBlip xmlns:asvg="http://schemas.microsoft.com/office/drawing/2016/SVG/main" r:embed="rId33"/>
                </a:ext>
              </a:extLst>
            </a:blip>
            <a:stretch>
              <a:fillRect/>
            </a:stretch>
          </a:blipFill>
        </p:spPr>
        <p:txBody>
          <a:bodyPr/>
          <a:lstStyle/>
          <a:p>
            <a:endParaRPr lang="en-US"/>
          </a:p>
        </p:txBody>
      </p:sp>
      <p:sp>
        <p:nvSpPr>
          <p:cNvPr id="371" name="Freeform 371"/>
          <p:cNvSpPr/>
          <p:nvPr/>
        </p:nvSpPr>
        <p:spPr>
          <a:xfrm rot="-971120">
            <a:off x="16737559" y="6906151"/>
            <a:ext cx="51412" cy="48070"/>
          </a:xfrm>
          <a:custGeom>
            <a:avLst/>
            <a:gdLst/>
            <a:ahLst/>
            <a:cxnLst/>
            <a:rect l="l" t="t" r="r" b="b"/>
            <a:pathLst>
              <a:path w="51412" h="48070">
                <a:moveTo>
                  <a:pt x="0" y="0"/>
                </a:moveTo>
                <a:lnTo>
                  <a:pt x="51412" y="0"/>
                </a:lnTo>
                <a:lnTo>
                  <a:pt x="51412" y="48070"/>
                </a:lnTo>
                <a:lnTo>
                  <a:pt x="0" y="48070"/>
                </a:lnTo>
                <a:lnTo>
                  <a:pt x="0" y="0"/>
                </a:lnTo>
                <a:close/>
              </a:path>
            </a:pathLst>
          </a:custGeom>
          <a:blipFill>
            <a:blip>
              <a:extLst>
                <a:ext uri="{96DAC541-7B7A-43D3-8B79-37D633B846F1}">
                  <asvg:svgBlip xmlns:asvg="http://schemas.microsoft.com/office/drawing/2016/SVG/main" r:embed="rId37"/>
                </a:ext>
              </a:extLst>
            </a:blip>
            <a:stretch>
              <a:fillRect/>
            </a:stretch>
          </a:blipFill>
        </p:spPr>
        <p:txBody>
          <a:bodyPr/>
          <a:lstStyle/>
          <a:p>
            <a:endParaRPr lang="en-US"/>
          </a:p>
        </p:txBody>
      </p:sp>
      <p:sp>
        <p:nvSpPr>
          <p:cNvPr id="372" name="Freeform 372"/>
          <p:cNvSpPr/>
          <p:nvPr/>
        </p:nvSpPr>
        <p:spPr>
          <a:xfrm>
            <a:off x="16927244" y="6912896"/>
            <a:ext cx="51892" cy="51373"/>
          </a:xfrm>
          <a:custGeom>
            <a:avLst/>
            <a:gdLst/>
            <a:ahLst/>
            <a:cxnLst/>
            <a:rect l="l" t="t" r="r" b="b"/>
            <a:pathLst>
              <a:path w="51892" h="51373">
                <a:moveTo>
                  <a:pt x="0" y="0"/>
                </a:moveTo>
                <a:lnTo>
                  <a:pt x="51892" y="0"/>
                </a:lnTo>
                <a:lnTo>
                  <a:pt x="51892" y="51373"/>
                </a:lnTo>
                <a:lnTo>
                  <a:pt x="0" y="51373"/>
                </a:lnTo>
                <a:lnTo>
                  <a:pt x="0" y="0"/>
                </a:lnTo>
                <a:close/>
              </a:path>
            </a:pathLst>
          </a:custGeom>
          <a:blipFill>
            <a:blip>
              <a:extLst>
                <a:ext uri="{96DAC541-7B7A-43D3-8B79-37D633B846F1}">
                  <asvg:svgBlip xmlns:asvg="http://schemas.microsoft.com/office/drawing/2016/SVG/main" r:embed="rId38"/>
                </a:ext>
              </a:extLst>
            </a:blip>
            <a:stretch>
              <a:fillRect/>
            </a:stretch>
          </a:blipFill>
        </p:spPr>
        <p:txBody>
          <a:bodyPr/>
          <a:lstStyle/>
          <a:p>
            <a:endParaRPr lang="en-US"/>
          </a:p>
        </p:txBody>
      </p:sp>
      <p:sp>
        <p:nvSpPr>
          <p:cNvPr id="373" name="Freeform 373"/>
          <p:cNvSpPr/>
          <p:nvPr/>
        </p:nvSpPr>
        <p:spPr>
          <a:xfrm>
            <a:off x="16823806" y="6846441"/>
            <a:ext cx="51892" cy="53497"/>
          </a:xfrm>
          <a:custGeom>
            <a:avLst/>
            <a:gdLst/>
            <a:ahLst/>
            <a:cxnLst/>
            <a:rect l="l" t="t" r="r" b="b"/>
            <a:pathLst>
              <a:path w="51892" h="53497">
                <a:moveTo>
                  <a:pt x="0" y="0"/>
                </a:moveTo>
                <a:lnTo>
                  <a:pt x="51892" y="0"/>
                </a:lnTo>
                <a:lnTo>
                  <a:pt x="51892" y="53497"/>
                </a:lnTo>
                <a:lnTo>
                  <a:pt x="0" y="53497"/>
                </a:lnTo>
                <a:lnTo>
                  <a:pt x="0" y="0"/>
                </a:lnTo>
                <a:close/>
              </a:path>
            </a:pathLst>
          </a:custGeom>
          <a:blipFill>
            <a:blip>
              <a:extLst>
                <a:ext uri="{96DAC541-7B7A-43D3-8B79-37D633B846F1}">
                  <asvg:svgBlip xmlns:asvg="http://schemas.microsoft.com/office/drawing/2016/SVG/main" r:embed="rId39"/>
                </a:ext>
              </a:extLst>
            </a:blip>
            <a:stretch>
              <a:fillRect/>
            </a:stretch>
          </a:blipFill>
        </p:spPr>
        <p:txBody>
          <a:bodyPr/>
          <a:lstStyle/>
          <a:p>
            <a:endParaRPr lang="en-US"/>
          </a:p>
        </p:txBody>
      </p:sp>
      <p:sp>
        <p:nvSpPr>
          <p:cNvPr id="374" name="Freeform 374"/>
          <p:cNvSpPr/>
          <p:nvPr/>
        </p:nvSpPr>
        <p:spPr>
          <a:xfrm>
            <a:off x="16809056" y="6930186"/>
            <a:ext cx="103784" cy="77319"/>
          </a:xfrm>
          <a:custGeom>
            <a:avLst/>
            <a:gdLst/>
            <a:ahLst/>
            <a:cxnLst/>
            <a:rect l="l" t="t" r="r" b="b"/>
            <a:pathLst>
              <a:path w="103784" h="77319">
                <a:moveTo>
                  <a:pt x="0" y="0"/>
                </a:moveTo>
                <a:lnTo>
                  <a:pt x="103784" y="0"/>
                </a:lnTo>
                <a:lnTo>
                  <a:pt x="103784" y="77318"/>
                </a:lnTo>
                <a:lnTo>
                  <a:pt x="0" y="77318"/>
                </a:lnTo>
                <a:lnTo>
                  <a:pt x="0" y="0"/>
                </a:lnTo>
                <a:close/>
              </a:path>
            </a:pathLst>
          </a:custGeom>
          <a:blipFill>
            <a:blip>
              <a:extLst>
                <a:ext uri="{96DAC541-7B7A-43D3-8B79-37D633B846F1}">
                  <asvg:svgBlip xmlns:asvg="http://schemas.microsoft.com/office/drawing/2016/SVG/main" r:embed="rId40"/>
                </a:ext>
              </a:extLst>
            </a:blip>
            <a:stretch>
              <a:fillRect/>
            </a:stretch>
          </a:blipFill>
        </p:spPr>
        <p:txBody>
          <a:bodyPr/>
          <a:lstStyle/>
          <a:p>
            <a:endParaRPr lang="en-US"/>
          </a:p>
        </p:txBody>
      </p:sp>
      <p:grpSp>
        <p:nvGrpSpPr>
          <p:cNvPr id="375" name="Group 375"/>
          <p:cNvGrpSpPr/>
          <p:nvPr/>
        </p:nvGrpSpPr>
        <p:grpSpPr>
          <a:xfrm>
            <a:off x="15139355" y="7395758"/>
            <a:ext cx="832144" cy="263817"/>
            <a:chOff x="0" y="0"/>
            <a:chExt cx="1509985" cy="478716"/>
          </a:xfrm>
        </p:grpSpPr>
        <p:sp>
          <p:nvSpPr>
            <p:cNvPr id="376" name="Freeform 376"/>
            <p:cNvSpPr/>
            <p:nvPr/>
          </p:nvSpPr>
          <p:spPr>
            <a:xfrm>
              <a:off x="0" y="0"/>
              <a:ext cx="1509985" cy="478716"/>
            </a:xfrm>
            <a:custGeom>
              <a:avLst/>
              <a:gdLst/>
              <a:ahLst/>
              <a:cxnLst/>
              <a:rect l="l" t="t" r="r" b="b"/>
              <a:pathLst>
                <a:path w="1509985" h="478716">
                  <a:moveTo>
                    <a:pt x="0" y="0"/>
                  </a:moveTo>
                  <a:lnTo>
                    <a:pt x="1509985" y="0"/>
                  </a:lnTo>
                  <a:lnTo>
                    <a:pt x="1509985" y="478716"/>
                  </a:lnTo>
                  <a:lnTo>
                    <a:pt x="0" y="478716"/>
                  </a:lnTo>
                  <a:close/>
                </a:path>
              </a:pathLst>
            </a:custGeom>
            <a:blipFill>
              <a:blip r:embed="rId3">
                <a:alphaModFix amt="0"/>
              </a:blip>
              <a:stretch>
                <a:fillRect t="-600129" r="-1171694" b="-863051"/>
              </a:stretch>
            </a:blipFill>
          </p:spPr>
          <p:txBody>
            <a:bodyPr/>
            <a:lstStyle/>
            <a:p>
              <a:endParaRPr lang="en-US"/>
            </a:p>
          </p:txBody>
        </p:sp>
        <p:sp>
          <p:nvSpPr>
            <p:cNvPr id="377" name="TextBox 377"/>
            <p:cNvSpPr txBox="1"/>
            <p:nvPr/>
          </p:nvSpPr>
          <p:spPr>
            <a:xfrm>
              <a:off x="0" y="0"/>
              <a:ext cx="1509985" cy="478716"/>
            </a:xfrm>
            <a:prstGeom prst="rect">
              <a:avLst/>
            </a:prstGeom>
          </p:spPr>
          <p:txBody>
            <a:bodyPr lIns="0" tIns="0" rIns="0" bIns="0" rtlCol="0" anchor="ctr"/>
            <a:lstStyle/>
            <a:p>
              <a:pPr algn="ctr">
                <a:lnSpc>
                  <a:spcPts val="533"/>
                </a:lnSpc>
              </a:pPr>
              <a:r>
                <a:rPr lang="en-US" sz="500">
                  <a:solidFill>
                    <a:srgbClr val="FFFFFF"/>
                  </a:solidFill>
                  <a:latin typeface="Arial"/>
                  <a:ea typeface="Arial"/>
                  <a:cs typeface="Arial"/>
                  <a:sym typeface="Arial"/>
                </a:rPr>
                <a:t>Sponsored Passport unlocks on 10/15/2026</a:t>
              </a:r>
            </a:p>
          </p:txBody>
        </p:sp>
      </p:grpSp>
      <p:grpSp>
        <p:nvGrpSpPr>
          <p:cNvPr id="378" name="Group 378"/>
          <p:cNvGrpSpPr/>
          <p:nvPr/>
        </p:nvGrpSpPr>
        <p:grpSpPr>
          <a:xfrm>
            <a:off x="16444211" y="7410761"/>
            <a:ext cx="832144" cy="263817"/>
            <a:chOff x="0" y="0"/>
            <a:chExt cx="1509985" cy="478716"/>
          </a:xfrm>
        </p:grpSpPr>
        <p:sp>
          <p:nvSpPr>
            <p:cNvPr id="379" name="Freeform 379"/>
            <p:cNvSpPr/>
            <p:nvPr/>
          </p:nvSpPr>
          <p:spPr>
            <a:xfrm>
              <a:off x="0" y="0"/>
              <a:ext cx="1509985" cy="478716"/>
            </a:xfrm>
            <a:custGeom>
              <a:avLst/>
              <a:gdLst/>
              <a:ahLst/>
              <a:cxnLst/>
              <a:rect l="l" t="t" r="r" b="b"/>
              <a:pathLst>
                <a:path w="1509985" h="478716">
                  <a:moveTo>
                    <a:pt x="0" y="0"/>
                  </a:moveTo>
                  <a:lnTo>
                    <a:pt x="1509985" y="0"/>
                  </a:lnTo>
                  <a:lnTo>
                    <a:pt x="1509985" y="478716"/>
                  </a:lnTo>
                  <a:lnTo>
                    <a:pt x="0" y="478716"/>
                  </a:lnTo>
                  <a:close/>
                </a:path>
              </a:pathLst>
            </a:custGeom>
            <a:blipFill>
              <a:blip r:embed="rId3">
                <a:alphaModFix amt="0"/>
              </a:blip>
              <a:stretch>
                <a:fillRect t="-600129" r="-1171694" b="-863051"/>
              </a:stretch>
            </a:blipFill>
          </p:spPr>
          <p:txBody>
            <a:bodyPr/>
            <a:lstStyle/>
            <a:p>
              <a:endParaRPr lang="en-US"/>
            </a:p>
          </p:txBody>
        </p:sp>
        <p:sp>
          <p:nvSpPr>
            <p:cNvPr id="380" name="TextBox 380"/>
            <p:cNvSpPr txBox="1"/>
            <p:nvPr/>
          </p:nvSpPr>
          <p:spPr>
            <a:xfrm>
              <a:off x="0" y="0"/>
              <a:ext cx="1509985" cy="478716"/>
            </a:xfrm>
            <a:prstGeom prst="rect">
              <a:avLst/>
            </a:prstGeom>
          </p:spPr>
          <p:txBody>
            <a:bodyPr lIns="0" tIns="0" rIns="0" bIns="0" rtlCol="0" anchor="ctr"/>
            <a:lstStyle/>
            <a:p>
              <a:pPr algn="ctr">
                <a:lnSpc>
                  <a:spcPts val="533"/>
                </a:lnSpc>
              </a:pPr>
              <a:r>
                <a:rPr lang="en-US" sz="500">
                  <a:solidFill>
                    <a:srgbClr val="FFFFFF"/>
                  </a:solidFill>
                  <a:latin typeface="Arial"/>
                  <a:ea typeface="Arial"/>
                  <a:cs typeface="Arial"/>
                  <a:sym typeface="Arial"/>
                </a:rPr>
                <a:t>Sponsored Passport unlocks on 10/20/2026</a:t>
              </a:r>
            </a:p>
          </p:txBody>
        </p:sp>
      </p:grpSp>
      <p:sp>
        <p:nvSpPr>
          <p:cNvPr id="381" name="Freeform 381"/>
          <p:cNvSpPr/>
          <p:nvPr/>
        </p:nvSpPr>
        <p:spPr>
          <a:xfrm>
            <a:off x="15097035" y="5020761"/>
            <a:ext cx="116905" cy="157980"/>
          </a:xfrm>
          <a:custGeom>
            <a:avLst/>
            <a:gdLst/>
            <a:ahLst/>
            <a:cxnLst/>
            <a:rect l="l" t="t" r="r" b="b"/>
            <a:pathLst>
              <a:path w="116905" h="157980">
                <a:moveTo>
                  <a:pt x="0" y="0"/>
                </a:moveTo>
                <a:lnTo>
                  <a:pt x="116905" y="0"/>
                </a:lnTo>
                <a:lnTo>
                  <a:pt x="116905" y="157980"/>
                </a:lnTo>
                <a:lnTo>
                  <a:pt x="0" y="157980"/>
                </a:lnTo>
                <a:lnTo>
                  <a:pt x="0" y="0"/>
                </a:lnTo>
                <a:close/>
              </a:path>
            </a:pathLst>
          </a:custGeom>
          <a:blipFill>
            <a:blip>
              <a:extLst>
                <a:ext uri="{96DAC541-7B7A-43D3-8B79-37D633B846F1}">
                  <asvg:svgBlip xmlns:asvg="http://schemas.microsoft.com/office/drawing/2016/SVG/main" r:embed="rId31"/>
                </a:ext>
              </a:extLst>
            </a:blip>
            <a:stretch>
              <a:fillRect/>
            </a:stretch>
          </a:blipFill>
        </p:spPr>
        <p:txBody>
          <a:bodyPr/>
          <a:lstStyle/>
          <a:p>
            <a:endParaRPr lang="en-US"/>
          </a:p>
        </p:txBody>
      </p:sp>
      <p:sp>
        <p:nvSpPr>
          <p:cNvPr id="382" name="Freeform 382"/>
          <p:cNvSpPr/>
          <p:nvPr/>
        </p:nvSpPr>
        <p:spPr>
          <a:xfrm>
            <a:off x="16378839" y="5051558"/>
            <a:ext cx="116905" cy="157980"/>
          </a:xfrm>
          <a:custGeom>
            <a:avLst/>
            <a:gdLst/>
            <a:ahLst/>
            <a:cxnLst/>
            <a:rect l="l" t="t" r="r" b="b"/>
            <a:pathLst>
              <a:path w="116905" h="157980">
                <a:moveTo>
                  <a:pt x="0" y="0"/>
                </a:moveTo>
                <a:lnTo>
                  <a:pt x="116905" y="0"/>
                </a:lnTo>
                <a:lnTo>
                  <a:pt x="116905" y="157980"/>
                </a:lnTo>
                <a:lnTo>
                  <a:pt x="0" y="157980"/>
                </a:lnTo>
                <a:lnTo>
                  <a:pt x="0" y="0"/>
                </a:lnTo>
                <a:close/>
              </a:path>
            </a:pathLst>
          </a:custGeom>
          <a:blipFill>
            <a:blip>
              <a:extLst>
                <a:ext uri="{96DAC541-7B7A-43D3-8B79-37D633B846F1}">
                  <asvg:svgBlip xmlns:asvg="http://schemas.microsoft.com/office/drawing/2016/SVG/main" r:embed="rId31"/>
                </a:ext>
              </a:extLst>
            </a:blip>
            <a:stretch>
              <a:fillRect/>
            </a:stretch>
          </a:blipFill>
        </p:spPr>
        <p:txBody>
          <a:bodyPr/>
          <a:lstStyle/>
          <a:p>
            <a:endParaRPr lang="en-US"/>
          </a:p>
        </p:txBody>
      </p:sp>
      <p:sp>
        <p:nvSpPr>
          <p:cNvPr id="383" name="Freeform 383"/>
          <p:cNvSpPr/>
          <p:nvPr/>
        </p:nvSpPr>
        <p:spPr>
          <a:xfrm>
            <a:off x="13813684" y="6613829"/>
            <a:ext cx="116905" cy="157980"/>
          </a:xfrm>
          <a:custGeom>
            <a:avLst/>
            <a:gdLst/>
            <a:ahLst/>
            <a:cxnLst/>
            <a:rect l="l" t="t" r="r" b="b"/>
            <a:pathLst>
              <a:path w="116905" h="157980">
                <a:moveTo>
                  <a:pt x="0" y="0"/>
                </a:moveTo>
                <a:lnTo>
                  <a:pt x="116905" y="0"/>
                </a:lnTo>
                <a:lnTo>
                  <a:pt x="116905" y="157980"/>
                </a:lnTo>
                <a:lnTo>
                  <a:pt x="0" y="157980"/>
                </a:lnTo>
                <a:lnTo>
                  <a:pt x="0" y="0"/>
                </a:lnTo>
                <a:close/>
              </a:path>
            </a:pathLst>
          </a:custGeom>
          <a:blipFill>
            <a:blip>
              <a:extLst>
                <a:ext uri="{96DAC541-7B7A-43D3-8B79-37D633B846F1}">
                  <asvg:svgBlip xmlns:asvg="http://schemas.microsoft.com/office/drawing/2016/SVG/main" r:embed="rId31"/>
                </a:ext>
              </a:extLst>
            </a:blip>
            <a:stretch>
              <a:fillRect/>
            </a:stretch>
          </a:blipFill>
        </p:spPr>
        <p:txBody>
          <a:bodyPr/>
          <a:lstStyle/>
          <a:p>
            <a:endParaRPr lang="en-US"/>
          </a:p>
        </p:txBody>
      </p:sp>
      <p:grpSp>
        <p:nvGrpSpPr>
          <p:cNvPr id="384" name="Group 384"/>
          <p:cNvGrpSpPr/>
          <p:nvPr/>
        </p:nvGrpSpPr>
        <p:grpSpPr>
          <a:xfrm>
            <a:off x="13880516" y="5912965"/>
            <a:ext cx="815881" cy="188337"/>
            <a:chOff x="0" y="0"/>
            <a:chExt cx="1523988" cy="351796"/>
          </a:xfrm>
        </p:grpSpPr>
        <p:sp>
          <p:nvSpPr>
            <p:cNvPr id="385" name="Freeform 385"/>
            <p:cNvSpPr/>
            <p:nvPr/>
          </p:nvSpPr>
          <p:spPr>
            <a:xfrm>
              <a:off x="0" y="0"/>
              <a:ext cx="1523988" cy="351796"/>
            </a:xfrm>
            <a:custGeom>
              <a:avLst/>
              <a:gdLst/>
              <a:ahLst/>
              <a:cxnLst/>
              <a:rect l="l" t="t" r="r" b="b"/>
              <a:pathLst>
                <a:path w="1523988" h="351796">
                  <a:moveTo>
                    <a:pt x="0" y="0"/>
                  </a:moveTo>
                  <a:lnTo>
                    <a:pt x="1523988" y="0"/>
                  </a:lnTo>
                  <a:lnTo>
                    <a:pt x="1523988" y="351796"/>
                  </a:lnTo>
                  <a:lnTo>
                    <a:pt x="0" y="351796"/>
                  </a:lnTo>
                  <a:close/>
                </a:path>
              </a:pathLst>
            </a:custGeom>
            <a:blipFill>
              <a:blip r:embed="rId3">
                <a:alphaModFix amt="0"/>
              </a:blip>
              <a:stretch>
                <a:fillRect t="-816642" r="-1160009" b="-1210497"/>
              </a:stretch>
            </a:blipFill>
          </p:spPr>
          <p:txBody>
            <a:bodyPr/>
            <a:lstStyle/>
            <a:p>
              <a:endParaRPr lang="en-US"/>
            </a:p>
          </p:txBody>
        </p:sp>
        <p:sp>
          <p:nvSpPr>
            <p:cNvPr id="386" name="TextBox 386"/>
            <p:cNvSpPr txBox="1"/>
            <p:nvPr/>
          </p:nvSpPr>
          <p:spPr>
            <a:xfrm>
              <a:off x="0" y="0"/>
              <a:ext cx="1523988" cy="351796"/>
            </a:xfrm>
            <a:prstGeom prst="rect">
              <a:avLst/>
            </a:prstGeom>
          </p:spPr>
          <p:txBody>
            <a:bodyPr lIns="0" tIns="0" rIns="0" bIns="0" rtlCol="0" anchor="ctr"/>
            <a:lstStyle/>
            <a:p>
              <a:pPr algn="l">
                <a:lnSpc>
                  <a:spcPts val="533"/>
                </a:lnSpc>
              </a:pPr>
              <a:r>
                <a:rPr lang="en-US" sz="500" b="1">
                  <a:solidFill>
                    <a:srgbClr val="FFFFFF"/>
                  </a:solidFill>
                  <a:latin typeface="Arial Bold"/>
                  <a:ea typeface="Arial Bold"/>
                  <a:cs typeface="Arial Bold"/>
                  <a:sym typeface="Arial Bold"/>
                </a:rPr>
                <a:t>No Post yet! Be the first..</a:t>
              </a:r>
            </a:p>
          </p:txBody>
        </p:sp>
      </p:grpSp>
      <p:grpSp>
        <p:nvGrpSpPr>
          <p:cNvPr id="387" name="Group 387"/>
          <p:cNvGrpSpPr/>
          <p:nvPr/>
        </p:nvGrpSpPr>
        <p:grpSpPr>
          <a:xfrm>
            <a:off x="15172183" y="5901924"/>
            <a:ext cx="815881" cy="188337"/>
            <a:chOff x="0" y="0"/>
            <a:chExt cx="1523988" cy="351796"/>
          </a:xfrm>
        </p:grpSpPr>
        <p:sp>
          <p:nvSpPr>
            <p:cNvPr id="388" name="Freeform 388"/>
            <p:cNvSpPr/>
            <p:nvPr/>
          </p:nvSpPr>
          <p:spPr>
            <a:xfrm>
              <a:off x="0" y="0"/>
              <a:ext cx="1523988" cy="351796"/>
            </a:xfrm>
            <a:custGeom>
              <a:avLst/>
              <a:gdLst/>
              <a:ahLst/>
              <a:cxnLst/>
              <a:rect l="l" t="t" r="r" b="b"/>
              <a:pathLst>
                <a:path w="1523988" h="351796">
                  <a:moveTo>
                    <a:pt x="0" y="0"/>
                  </a:moveTo>
                  <a:lnTo>
                    <a:pt x="1523988" y="0"/>
                  </a:lnTo>
                  <a:lnTo>
                    <a:pt x="1523988" y="351796"/>
                  </a:lnTo>
                  <a:lnTo>
                    <a:pt x="0" y="351796"/>
                  </a:lnTo>
                  <a:close/>
                </a:path>
              </a:pathLst>
            </a:custGeom>
            <a:blipFill>
              <a:blip r:embed="rId3">
                <a:alphaModFix amt="0"/>
              </a:blip>
              <a:stretch>
                <a:fillRect t="-816642" r="-1160009" b="-1210497"/>
              </a:stretch>
            </a:blipFill>
          </p:spPr>
          <p:txBody>
            <a:bodyPr/>
            <a:lstStyle/>
            <a:p>
              <a:endParaRPr lang="en-US"/>
            </a:p>
          </p:txBody>
        </p:sp>
        <p:sp>
          <p:nvSpPr>
            <p:cNvPr id="389" name="TextBox 389"/>
            <p:cNvSpPr txBox="1"/>
            <p:nvPr/>
          </p:nvSpPr>
          <p:spPr>
            <a:xfrm>
              <a:off x="0" y="0"/>
              <a:ext cx="1523988" cy="351796"/>
            </a:xfrm>
            <a:prstGeom prst="rect">
              <a:avLst/>
            </a:prstGeom>
          </p:spPr>
          <p:txBody>
            <a:bodyPr lIns="0" tIns="0" rIns="0" bIns="0" rtlCol="0" anchor="ctr"/>
            <a:lstStyle/>
            <a:p>
              <a:pPr algn="l">
                <a:lnSpc>
                  <a:spcPts val="533"/>
                </a:lnSpc>
              </a:pPr>
              <a:r>
                <a:rPr lang="en-US" sz="500" b="1">
                  <a:solidFill>
                    <a:srgbClr val="FFFFFF"/>
                  </a:solidFill>
                  <a:latin typeface="Arial Bold"/>
                  <a:ea typeface="Arial Bold"/>
                  <a:cs typeface="Arial Bold"/>
                  <a:sym typeface="Arial Bold"/>
                </a:rPr>
                <a:t>No Post yet! Be the first..</a:t>
              </a:r>
            </a:p>
          </p:txBody>
        </p:sp>
      </p:grpSp>
      <p:grpSp>
        <p:nvGrpSpPr>
          <p:cNvPr id="390" name="Group 390"/>
          <p:cNvGrpSpPr/>
          <p:nvPr/>
        </p:nvGrpSpPr>
        <p:grpSpPr>
          <a:xfrm>
            <a:off x="16444211" y="5873349"/>
            <a:ext cx="815881" cy="188337"/>
            <a:chOff x="0" y="0"/>
            <a:chExt cx="1523988" cy="351796"/>
          </a:xfrm>
        </p:grpSpPr>
        <p:sp>
          <p:nvSpPr>
            <p:cNvPr id="391" name="Freeform 391"/>
            <p:cNvSpPr/>
            <p:nvPr/>
          </p:nvSpPr>
          <p:spPr>
            <a:xfrm>
              <a:off x="0" y="0"/>
              <a:ext cx="1523988" cy="351796"/>
            </a:xfrm>
            <a:custGeom>
              <a:avLst/>
              <a:gdLst/>
              <a:ahLst/>
              <a:cxnLst/>
              <a:rect l="l" t="t" r="r" b="b"/>
              <a:pathLst>
                <a:path w="1523988" h="351796">
                  <a:moveTo>
                    <a:pt x="0" y="0"/>
                  </a:moveTo>
                  <a:lnTo>
                    <a:pt x="1523988" y="0"/>
                  </a:lnTo>
                  <a:lnTo>
                    <a:pt x="1523988" y="351796"/>
                  </a:lnTo>
                  <a:lnTo>
                    <a:pt x="0" y="351796"/>
                  </a:lnTo>
                  <a:close/>
                </a:path>
              </a:pathLst>
            </a:custGeom>
            <a:blipFill>
              <a:blip r:embed="rId3">
                <a:alphaModFix amt="0"/>
              </a:blip>
              <a:stretch>
                <a:fillRect t="-816642" r="-1160009" b="-1210497"/>
              </a:stretch>
            </a:blipFill>
          </p:spPr>
          <p:txBody>
            <a:bodyPr/>
            <a:lstStyle/>
            <a:p>
              <a:endParaRPr lang="en-US"/>
            </a:p>
          </p:txBody>
        </p:sp>
        <p:sp>
          <p:nvSpPr>
            <p:cNvPr id="392" name="TextBox 392"/>
            <p:cNvSpPr txBox="1"/>
            <p:nvPr/>
          </p:nvSpPr>
          <p:spPr>
            <a:xfrm>
              <a:off x="0" y="0"/>
              <a:ext cx="1523988" cy="351796"/>
            </a:xfrm>
            <a:prstGeom prst="rect">
              <a:avLst/>
            </a:prstGeom>
          </p:spPr>
          <p:txBody>
            <a:bodyPr lIns="0" tIns="0" rIns="0" bIns="0" rtlCol="0" anchor="ctr"/>
            <a:lstStyle/>
            <a:p>
              <a:pPr algn="l">
                <a:lnSpc>
                  <a:spcPts val="533"/>
                </a:lnSpc>
              </a:pPr>
              <a:r>
                <a:rPr lang="en-US" sz="500" b="1">
                  <a:solidFill>
                    <a:srgbClr val="FFFFFF"/>
                  </a:solidFill>
                  <a:latin typeface="Arial Bold"/>
                  <a:ea typeface="Arial Bold"/>
                  <a:cs typeface="Arial Bold"/>
                  <a:sym typeface="Arial Bold"/>
                </a:rPr>
                <a:t>No Post yet! Be the first..</a:t>
              </a:r>
            </a:p>
          </p:txBody>
        </p:sp>
      </p:grpSp>
      <p:sp>
        <p:nvSpPr>
          <p:cNvPr id="393" name="Freeform 393"/>
          <p:cNvSpPr/>
          <p:nvPr/>
        </p:nvSpPr>
        <p:spPr>
          <a:xfrm>
            <a:off x="13822064" y="5049504"/>
            <a:ext cx="116905" cy="140006"/>
          </a:xfrm>
          <a:custGeom>
            <a:avLst/>
            <a:gdLst/>
            <a:ahLst/>
            <a:cxnLst/>
            <a:rect l="l" t="t" r="r" b="b"/>
            <a:pathLst>
              <a:path w="116905" h="140006">
                <a:moveTo>
                  <a:pt x="0" y="0"/>
                </a:moveTo>
                <a:lnTo>
                  <a:pt x="116905" y="0"/>
                </a:lnTo>
                <a:lnTo>
                  <a:pt x="116905" y="140006"/>
                </a:lnTo>
                <a:lnTo>
                  <a:pt x="0" y="140006"/>
                </a:lnTo>
                <a:lnTo>
                  <a:pt x="0" y="0"/>
                </a:lnTo>
                <a:close/>
              </a:path>
            </a:pathLst>
          </a:custGeom>
          <a:blipFill>
            <a:blip>
              <a:extLst>
                <a:ext uri="{96DAC541-7B7A-43D3-8B79-37D633B846F1}">
                  <asvg:svgBlip xmlns:asvg="http://schemas.microsoft.com/office/drawing/2016/SVG/main" r:embed="rId41"/>
                </a:ext>
              </a:extLst>
            </a:blip>
            <a:stretch>
              <a:fillRect/>
            </a:stretch>
          </a:blipFill>
        </p:spPr>
        <p:txBody>
          <a:bodyPr/>
          <a:lstStyle/>
          <a:p>
            <a:endParaRPr lang="en-US"/>
          </a:p>
        </p:txBody>
      </p:sp>
      <p:grpSp>
        <p:nvGrpSpPr>
          <p:cNvPr id="394" name="Group 394"/>
          <p:cNvGrpSpPr/>
          <p:nvPr/>
        </p:nvGrpSpPr>
        <p:grpSpPr>
          <a:xfrm>
            <a:off x="13607026" y="2270742"/>
            <a:ext cx="3879320" cy="6571159"/>
            <a:chOff x="0" y="0"/>
            <a:chExt cx="601008" cy="1018045"/>
          </a:xfrm>
        </p:grpSpPr>
        <p:sp>
          <p:nvSpPr>
            <p:cNvPr id="395" name="Freeform 395"/>
            <p:cNvSpPr/>
            <p:nvPr/>
          </p:nvSpPr>
          <p:spPr>
            <a:xfrm>
              <a:off x="0" y="0"/>
              <a:ext cx="601008" cy="1018045"/>
            </a:xfrm>
            <a:custGeom>
              <a:avLst/>
              <a:gdLst/>
              <a:ahLst/>
              <a:cxnLst/>
              <a:rect l="l" t="t" r="r" b="b"/>
              <a:pathLst>
                <a:path w="601008" h="1018045">
                  <a:moveTo>
                    <a:pt x="45901" y="0"/>
                  </a:moveTo>
                  <a:lnTo>
                    <a:pt x="555107" y="0"/>
                  </a:lnTo>
                  <a:cubicBezTo>
                    <a:pt x="580458" y="0"/>
                    <a:pt x="601008" y="20551"/>
                    <a:pt x="601008" y="45901"/>
                  </a:cubicBezTo>
                  <a:lnTo>
                    <a:pt x="601008" y="972144"/>
                  </a:lnTo>
                  <a:cubicBezTo>
                    <a:pt x="601008" y="997494"/>
                    <a:pt x="580458" y="1018045"/>
                    <a:pt x="555107" y="1018045"/>
                  </a:cubicBezTo>
                  <a:lnTo>
                    <a:pt x="45901" y="1018045"/>
                  </a:lnTo>
                  <a:cubicBezTo>
                    <a:pt x="20551" y="1018045"/>
                    <a:pt x="0" y="997494"/>
                    <a:pt x="0" y="972144"/>
                  </a:cubicBezTo>
                  <a:lnTo>
                    <a:pt x="0" y="45901"/>
                  </a:lnTo>
                  <a:cubicBezTo>
                    <a:pt x="0" y="20551"/>
                    <a:pt x="20551" y="0"/>
                    <a:pt x="45901" y="0"/>
                  </a:cubicBezTo>
                  <a:close/>
                </a:path>
              </a:pathLst>
            </a:custGeom>
            <a:blipFill>
              <a:blip r:embed="rId42"/>
              <a:stretch>
                <a:fillRect t="-16059" r="-6508" b="-8451"/>
              </a:stretch>
            </a:blipFill>
          </p:spPr>
          <p:txBody>
            <a:bodyPr/>
            <a:lstStyle/>
            <a:p>
              <a:endParaRPr lang="en-US"/>
            </a:p>
          </p:txBody>
        </p:sp>
      </p:grpSp>
      <p:grpSp>
        <p:nvGrpSpPr>
          <p:cNvPr id="396" name="Group 396"/>
          <p:cNvGrpSpPr/>
          <p:nvPr/>
        </p:nvGrpSpPr>
        <p:grpSpPr>
          <a:xfrm>
            <a:off x="13988674" y="4745791"/>
            <a:ext cx="3045280" cy="1445640"/>
            <a:chOff x="0" y="0"/>
            <a:chExt cx="4060374" cy="1927520"/>
          </a:xfrm>
        </p:grpSpPr>
        <p:grpSp>
          <p:nvGrpSpPr>
            <p:cNvPr id="397" name="Group 397"/>
            <p:cNvGrpSpPr/>
            <p:nvPr/>
          </p:nvGrpSpPr>
          <p:grpSpPr>
            <a:xfrm>
              <a:off x="0" y="0"/>
              <a:ext cx="4060374" cy="1927520"/>
              <a:chOff x="0" y="0"/>
              <a:chExt cx="802049" cy="380745"/>
            </a:xfrm>
          </p:grpSpPr>
          <p:sp>
            <p:nvSpPr>
              <p:cNvPr id="398" name="Freeform 398"/>
              <p:cNvSpPr/>
              <p:nvPr/>
            </p:nvSpPr>
            <p:spPr>
              <a:xfrm>
                <a:off x="0" y="0"/>
                <a:ext cx="802049" cy="380745"/>
              </a:xfrm>
              <a:custGeom>
                <a:avLst/>
                <a:gdLst/>
                <a:ahLst/>
                <a:cxnLst/>
                <a:rect l="l" t="t" r="r" b="b"/>
                <a:pathLst>
                  <a:path w="802049" h="380745">
                    <a:moveTo>
                      <a:pt x="63557" y="0"/>
                    </a:moveTo>
                    <a:lnTo>
                      <a:pt x="738492" y="0"/>
                    </a:lnTo>
                    <a:cubicBezTo>
                      <a:pt x="755349" y="0"/>
                      <a:pt x="771515" y="6696"/>
                      <a:pt x="783434" y="18615"/>
                    </a:cubicBezTo>
                    <a:cubicBezTo>
                      <a:pt x="795353" y="30535"/>
                      <a:pt x="802049" y="46700"/>
                      <a:pt x="802049" y="63557"/>
                    </a:cubicBezTo>
                    <a:lnTo>
                      <a:pt x="802049" y="317188"/>
                    </a:lnTo>
                    <a:cubicBezTo>
                      <a:pt x="802049" y="334044"/>
                      <a:pt x="795353" y="350210"/>
                      <a:pt x="783434" y="362129"/>
                    </a:cubicBezTo>
                    <a:cubicBezTo>
                      <a:pt x="771515" y="374048"/>
                      <a:pt x="755349" y="380745"/>
                      <a:pt x="738492" y="380745"/>
                    </a:cubicBezTo>
                    <a:lnTo>
                      <a:pt x="63557" y="380745"/>
                    </a:lnTo>
                    <a:cubicBezTo>
                      <a:pt x="46700" y="380745"/>
                      <a:pt x="30535" y="374048"/>
                      <a:pt x="18615" y="362129"/>
                    </a:cubicBezTo>
                    <a:cubicBezTo>
                      <a:pt x="6696" y="350210"/>
                      <a:pt x="0" y="334044"/>
                      <a:pt x="0" y="317188"/>
                    </a:cubicBezTo>
                    <a:lnTo>
                      <a:pt x="0" y="63557"/>
                    </a:lnTo>
                    <a:cubicBezTo>
                      <a:pt x="0" y="46700"/>
                      <a:pt x="6696" y="30535"/>
                      <a:pt x="18615" y="18615"/>
                    </a:cubicBezTo>
                    <a:cubicBezTo>
                      <a:pt x="30535" y="6696"/>
                      <a:pt x="46700" y="0"/>
                      <a:pt x="63557" y="0"/>
                    </a:cubicBezTo>
                    <a:close/>
                  </a:path>
                </a:pathLst>
              </a:custGeom>
              <a:solidFill>
                <a:srgbClr val="484747"/>
              </a:solidFill>
            </p:spPr>
            <p:txBody>
              <a:bodyPr/>
              <a:lstStyle/>
              <a:p>
                <a:endParaRPr lang="en-US"/>
              </a:p>
            </p:txBody>
          </p:sp>
          <p:sp>
            <p:nvSpPr>
              <p:cNvPr id="399" name="TextBox 399"/>
              <p:cNvSpPr txBox="1"/>
              <p:nvPr/>
            </p:nvSpPr>
            <p:spPr>
              <a:xfrm>
                <a:off x="0" y="-47625"/>
                <a:ext cx="802049" cy="428370"/>
              </a:xfrm>
              <a:prstGeom prst="rect">
                <a:avLst/>
              </a:prstGeom>
            </p:spPr>
            <p:txBody>
              <a:bodyPr lIns="50800" tIns="50800" rIns="50800" bIns="50800" rtlCol="0" anchor="ctr"/>
              <a:lstStyle/>
              <a:p>
                <a:pPr algn="ctr">
                  <a:lnSpc>
                    <a:spcPts val="2340"/>
                  </a:lnSpc>
                </a:pPr>
                <a:endParaRPr/>
              </a:p>
              <a:p>
                <a:pPr algn="ctr">
                  <a:lnSpc>
                    <a:spcPts val="2340"/>
                  </a:lnSpc>
                </a:pPr>
                <a:r>
                  <a:rPr lang="en-US" sz="1950" b="1">
                    <a:solidFill>
                      <a:srgbClr val="FFFFFF"/>
                    </a:solidFill>
                    <a:latin typeface="Calibri (MS) Bold"/>
                    <a:ea typeface="Calibri (MS) Bold"/>
                    <a:cs typeface="Calibri (MS) Bold"/>
                    <a:sym typeface="Calibri (MS) Bold"/>
                  </a:rPr>
                  <a:t>Stamp earned! Added to CRAMMING board 🎉</a:t>
                </a:r>
              </a:p>
            </p:txBody>
          </p:sp>
        </p:grpSp>
        <p:sp>
          <p:nvSpPr>
            <p:cNvPr id="400" name="Freeform 400"/>
            <p:cNvSpPr/>
            <p:nvPr/>
          </p:nvSpPr>
          <p:spPr>
            <a:xfrm>
              <a:off x="1859933" y="194804"/>
              <a:ext cx="384340" cy="486507"/>
            </a:xfrm>
            <a:custGeom>
              <a:avLst/>
              <a:gdLst/>
              <a:ahLst/>
              <a:cxnLst/>
              <a:rect l="l" t="t" r="r" b="b"/>
              <a:pathLst>
                <a:path w="384340" h="486507">
                  <a:moveTo>
                    <a:pt x="0" y="0"/>
                  </a:moveTo>
                  <a:lnTo>
                    <a:pt x="384341" y="0"/>
                  </a:lnTo>
                  <a:lnTo>
                    <a:pt x="384341" y="486506"/>
                  </a:lnTo>
                  <a:lnTo>
                    <a:pt x="0" y="486506"/>
                  </a:lnTo>
                  <a:lnTo>
                    <a:pt x="0" y="0"/>
                  </a:lnTo>
                  <a:close/>
                </a:path>
              </a:pathLst>
            </a:custGeom>
            <a:blipFill>
              <a:blip r:embed="rId44"/>
              <a:stretch>
                <a:fillRect/>
              </a:stretch>
            </a:blipFill>
          </p:spPr>
          <p:txBody>
            <a:bodyPr/>
            <a:lstStyle/>
            <a:p>
              <a:endParaRPr lang="en-US"/>
            </a:p>
          </p:txBody>
        </p:sp>
      </p:grpSp>
      <p:grpSp>
        <p:nvGrpSpPr>
          <p:cNvPr id="401" name="Group 401"/>
          <p:cNvGrpSpPr/>
          <p:nvPr/>
        </p:nvGrpSpPr>
        <p:grpSpPr>
          <a:xfrm>
            <a:off x="8716695" y="9263675"/>
            <a:ext cx="3532819" cy="580191"/>
            <a:chOff x="0" y="0"/>
            <a:chExt cx="5623571" cy="923552"/>
          </a:xfrm>
        </p:grpSpPr>
        <p:sp>
          <p:nvSpPr>
            <p:cNvPr id="402" name="Freeform 402"/>
            <p:cNvSpPr/>
            <p:nvPr/>
          </p:nvSpPr>
          <p:spPr>
            <a:xfrm>
              <a:off x="0" y="0"/>
              <a:ext cx="5623571" cy="923552"/>
            </a:xfrm>
            <a:custGeom>
              <a:avLst/>
              <a:gdLst/>
              <a:ahLst/>
              <a:cxnLst/>
              <a:rect l="l" t="t" r="r" b="b"/>
              <a:pathLst>
                <a:path w="5623571" h="923552">
                  <a:moveTo>
                    <a:pt x="0" y="0"/>
                  </a:moveTo>
                  <a:lnTo>
                    <a:pt x="5623571" y="0"/>
                  </a:lnTo>
                  <a:lnTo>
                    <a:pt x="5623571" y="923552"/>
                  </a:lnTo>
                  <a:lnTo>
                    <a:pt x="0" y="923552"/>
                  </a:lnTo>
                  <a:close/>
                </a:path>
              </a:pathLst>
            </a:custGeom>
            <a:blipFill>
              <a:blip r:embed="rId3">
                <a:alphaModFix amt="0"/>
              </a:blip>
              <a:stretch>
                <a:fillRect t="-311072" r="-241462" b="-399189"/>
              </a:stretch>
            </a:blipFill>
          </p:spPr>
          <p:txBody>
            <a:bodyPr/>
            <a:lstStyle/>
            <a:p>
              <a:endParaRPr lang="en-US"/>
            </a:p>
          </p:txBody>
        </p:sp>
        <p:sp>
          <p:nvSpPr>
            <p:cNvPr id="403" name="TextBox 403"/>
            <p:cNvSpPr txBox="1"/>
            <p:nvPr/>
          </p:nvSpPr>
          <p:spPr>
            <a:xfrm>
              <a:off x="0" y="0"/>
              <a:ext cx="5623571" cy="923552"/>
            </a:xfrm>
            <a:prstGeom prst="rect">
              <a:avLst/>
            </a:prstGeom>
          </p:spPr>
          <p:txBody>
            <a:bodyPr lIns="0" tIns="0" rIns="0" bIns="0" rtlCol="0" anchor="ctr"/>
            <a:lstStyle/>
            <a:p>
              <a:pPr algn="ctr">
                <a:lnSpc>
                  <a:spcPts val="1920"/>
                </a:lnSpc>
              </a:pPr>
              <a:r>
                <a:rPr lang="en-US" sz="1800" b="1">
                  <a:solidFill>
                    <a:srgbClr val="FFFFFF"/>
                  </a:solidFill>
                  <a:latin typeface="Arial Bold"/>
                  <a:ea typeface="Arial Bold"/>
                  <a:cs typeface="Arial Bold"/>
                  <a:sym typeface="Arial Bold"/>
                </a:rPr>
                <a:t>Loading </a:t>
              </a:r>
            </a:p>
          </p:txBody>
        </p:sp>
      </p:grpSp>
      <p:grpSp>
        <p:nvGrpSpPr>
          <p:cNvPr id="404" name="Group 404"/>
          <p:cNvGrpSpPr/>
          <p:nvPr/>
        </p:nvGrpSpPr>
        <p:grpSpPr>
          <a:xfrm>
            <a:off x="13474601" y="9258300"/>
            <a:ext cx="3970969" cy="655967"/>
            <a:chOff x="0" y="0"/>
            <a:chExt cx="6321021" cy="1044174"/>
          </a:xfrm>
        </p:grpSpPr>
        <p:sp>
          <p:nvSpPr>
            <p:cNvPr id="405" name="Freeform 405"/>
            <p:cNvSpPr/>
            <p:nvPr/>
          </p:nvSpPr>
          <p:spPr>
            <a:xfrm>
              <a:off x="0" y="0"/>
              <a:ext cx="6321021" cy="1044174"/>
            </a:xfrm>
            <a:custGeom>
              <a:avLst/>
              <a:gdLst/>
              <a:ahLst/>
              <a:cxnLst/>
              <a:rect l="l" t="t" r="r" b="b"/>
              <a:pathLst>
                <a:path w="6321021" h="1044174">
                  <a:moveTo>
                    <a:pt x="0" y="0"/>
                  </a:moveTo>
                  <a:lnTo>
                    <a:pt x="6321021" y="0"/>
                  </a:lnTo>
                  <a:lnTo>
                    <a:pt x="6321021" y="1044174"/>
                  </a:lnTo>
                  <a:lnTo>
                    <a:pt x="0" y="1044174"/>
                  </a:lnTo>
                  <a:close/>
                </a:path>
              </a:pathLst>
            </a:custGeom>
            <a:blipFill>
              <a:blip r:embed="rId3">
                <a:alphaModFix amt="0"/>
              </a:blip>
              <a:stretch>
                <a:fillRect t="-275137" r="-203786" b="-341523"/>
              </a:stretch>
            </a:blipFill>
          </p:spPr>
          <p:txBody>
            <a:bodyPr/>
            <a:lstStyle/>
            <a:p>
              <a:endParaRPr lang="en-US"/>
            </a:p>
          </p:txBody>
        </p:sp>
        <p:sp>
          <p:nvSpPr>
            <p:cNvPr id="406" name="TextBox 406"/>
            <p:cNvSpPr txBox="1"/>
            <p:nvPr/>
          </p:nvSpPr>
          <p:spPr>
            <a:xfrm>
              <a:off x="0" y="0"/>
              <a:ext cx="6321021" cy="1044174"/>
            </a:xfrm>
            <a:prstGeom prst="rect">
              <a:avLst/>
            </a:prstGeom>
          </p:spPr>
          <p:txBody>
            <a:bodyPr lIns="0" tIns="0" rIns="0" bIns="0" rtlCol="0" anchor="ctr"/>
            <a:lstStyle/>
            <a:p>
              <a:pPr algn="ctr">
                <a:lnSpc>
                  <a:spcPts val="1920"/>
                </a:lnSpc>
              </a:pPr>
              <a:r>
                <a:rPr lang="en-US" sz="1800" b="1">
                  <a:solidFill>
                    <a:srgbClr val="FFFFFF"/>
                  </a:solidFill>
                  <a:latin typeface="Arial Bold"/>
                  <a:ea typeface="Arial Bold"/>
                  <a:cs typeface="Arial Bold"/>
                  <a:sym typeface="Arial Bold"/>
                </a:rPr>
                <a:t>Success</a:t>
              </a:r>
            </a:p>
          </p:txBody>
        </p:sp>
      </p:grpSp>
      <p:grpSp>
        <p:nvGrpSpPr>
          <p:cNvPr id="407" name="Group 407"/>
          <p:cNvGrpSpPr/>
          <p:nvPr/>
        </p:nvGrpSpPr>
        <p:grpSpPr>
          <a:xfrm>
            <a:off x="12524383" y="9405180"/>
            <a:ext cx="724412" cy="362206"/>
            <a:chOff x="0" y="0"/>
            <a:chExt cx="812800" cy="406400"/>
          </a:xfrm>
        </p:grpSpPr>
        <p:sp>
          <p:nvSpPr>
            <p:cNvPr id="408" name="Freeform 408"/>
            <p:cNvSpPr/>
            <p:nvPr/>
          </p:nvSpPr>
          <p:spPr>
            <a:xfrm>
              <a:off x="0" y="0"/>
              <a:ext cx="812800" cy="406400"/>
            </a:xfrm>
            <a:custGeom>
              <a:avLst/>
              <a:gdLst/>
              <a:ahLst/>
              <a:cxnLst/>
              <a:rect l="l" t="t" r="r" b="b"/>
              <a:pathLst>
                <a:path w="812800" h="406400">
                  <a:moveTo>
                    <a:pt x="0" y="0"/>
                  </a:moveTo>
                  <a:lnTo>
                    <a:pt x="609600" y="0"/>
                  </a:lnTo>
                  <a:lnTo>
                    <a:pt x="812800" y="203200"/>
                  </a:lnTo>
                  <a:lnTo>
                    <a:pt x="609600" y="406400"/>
                  </a:lnTo>
                  <a:lnTo>
                    <a:pt x="0" y="406400"/>
                  </a:lnTo>
                  <a:lnTo>
                    <a:pt x="203200" y="203200"/>
                  </a:lnTo>
                  <a:lnTo>
                    <a:pt x="0" y="0"/>
                  </a:lnTo>
                  <a:close/>
                </a:path>
              </a:pathLst>
            </a:custGeom>
            <a:solidFill>
              <a:srgbClr val="FFDE59"/>
            </a:solidFill>
          </p:spPr>
          <p:txBody>
            <a:bodyPr/>
            <a:lstStyle/>
            <a:p>
              <a:endParaRPr lang="en-US"/>
            </a:p>
          </p:txBody>
        </p:sp>
        <p:sp>
          <p:nvSpPr>
            <p:cNvPr id="409" name="TextBox 409"/>
            <p:cNvSpPr txBox="1"/>
            <p:nvPr/>
          </p:nvSpPr>
          <p:spPr>
            <a:xfrm>
              <a:off x="177800" y="-47625"/>
              <a:ext cx="558800" cy="454025"/>
            </a:xfrm>
            <a:prstGeom prst="rect">
              <a:avLst/>
            </a:prstGeom>
          </p:spPr>
          <p:txBody>
            <a:bodyPr lIns="50800" tIns="50800" rIns="50800" bIns="50800" rtlCol="0" anchor="ctr"/>
            <a:lstStyle/>
            <a:p>
              <a:pPr algn="ctr">
                <a:lnSpc>
                  <a:spcPts val="2340"/>
                </a:lnSpc>
              </a:pPr>
              <a:endParaRPr/>
            </a:p>
          </p:txBody>
        </p:sp>
      </p:grpSp>
      <p:grpSp>
        <p:nvGrpSpPr>
          <p:cNvPr id="410" name="Group 410"/>
          <p:cNvGrpSpPr/>
          <p:nvPr/>
        </p:nvGrpSpPr>
        <p:grpSpPr>
          <a:xfrm>
            <a:off x="12626335" y="5253656"/>
            <a:ext cx="724412" cy="362206"/>
            <a:chOff x="0" y="0"/>
            <a:chExt cx="812800" cy="406400"/>
          </a:xfrm>
        </p:grpSpPr>
        <p:sp>
          <p:nvSpPr>
            <p:cNvPr id="411" name="Freeform 411"/>
            <p:cNvSpPr/>
            <p:nvPr/>
          </p:nvSpPr>
          <p:spPr>
            <a:xfrm>
              <a:off x="0" y="0"/>
              <a:ext cx="812800" cy="406400"/>
            </a:xfrm>
            <a:custGeom>
              <a:avLst/>
              <a:gdLst/>
              <a:ahLst/>
              <a:cxnLst/>
              <a:rect l="l" t="t" r="r" b="b"/>
              <a:pathLst>
                <a:path w="812800" h="406400">
                  <a:moveTo>
                    <a:pt x="0" y="0"/>
                  </a:moveTo>
                  <a:lnTo>
                    <a:pt x="609600" y="0"/>
                  </a:lnTo>
                  <a:lnTo>
                    <a:pt x="812800" y="203200"/>
                  </a:lnTo>
                  <a:lnTo>
                    <a:pt x="609600" y="406400"/>
                  </a:lnTo>
                  <a:lnTo>
                    <a:pt x="0" y="406400"/>
                  </a:lnTo>
                  <a:lnTo>
                    <a:pt x="203200" y="203200"/>
                  </a:lnTo>
                  <a:lnTo>
                    <a:pt x="0" y="0"/>
                  </a:lnTo>
                  <a:close/>
                </a:path>
              </a:pathLst>
            </a:custGeom>
            <a:solidFill>
              <a:srgbClr val="FFDE59"/>
            </a:solidFill>
          </p:spPr>
          <p:txBody>
            <a:bodyPr/>
            <a:lstStyle/>
            <a:p>
              <a:endParaRPr lang="en-US"/>
            </a:p>
          </p:txBody>
        </p:sp>
        <p:sp>
          <p:nvSpPr>
            <p:cNvPr id="412" name="TextBox 412"/>
            <p:cNvSpPr txBox="1"/>
            <p:nvPr/>
          </p:nvSpPr>
          <p:spPr>
            <a:xfrm>
              <a:off x="177800" y="-47625"/>
              <a:ext cx="558800" cy="454025"/>
            </a:xfrm>
            <a:prstGeom prst="rect">
              <a:avLst/>
            </a:prstGeom>
          </p:spPr>
          <p:txBody>
            <a:bodyPr lIns="50800" tIns="50800" rIns="50800" bIns="50800" rtlCol="0" anchor="ctr"/>
            <a:lstStyle/>
            <a:p>
              <a:pPr algn="ctr">
                <a:lnSpc>
                  <a:spcPts val="2340"/>
                </a:lnSpc>
              </a:pPr>
              <a:endParaRPr/>
            </a:p>
          </p:txBody>
        </p:sp>
      </p:grpSp>
      <p:grpSp>
        <p:nvGrpSpPr>
          <p:cNvPr id="413" name="Group 2">
            <a:extLst>
              <a:ext uri="{FF2B5EF4-FFF2-40B4-BE49-F238E27FC236}">
                <a16:creationId xmlns:a16="http://schemas.microsoft.com/office/drawing/2014/main" id="{E3DC889B-5D29-A3CF-8AE9-DD3E9C8C9493}"/>
              </a:ext>
            </a:extLst>
          </p:cNvPr>
          <p:cNvGrpSpPr/>
          <p:nvPr/>
        </p:nvGrpSpPr>
        <p:grpSpPr>
          <a:xfrm>
            <a:off x="960120" y="734066"/>
            <a:ext cx="10972800" cy="480060"/>
            <a:chOff x="0" y="0"/>
            <a:chExt cx="14630400" cy="640080"/>
          </a:xfrm>
        </p:grpSpPr>
        <p:sp>
          <p:nvSpPr>
            <p:cNvPr id="414" name="Freeform 3">
              <a:extLst>
                <a:ext uri="{FF2B5EF4-FFF2-40B4-BE49-F238E27FC236}">
                  <a16:creationId xmlns:a16="http://schemas.microsoft.com/office/drawing/2014/main" id="{52C106F9-84B5-10D6-7125-B728B9CBEBDA}"/>
                </a:ext>
              </a:extLst>
            </p:cNvPr>
            <p:cNvSpPr/>
            <p:nvPr/>
          </p:nvSpPr>
          <p:spPr>
            <a:xfrm>
              <a:off x="0" y="0"/>
              <a:ext cx="14630400" cy="640080"/>
            </a:xfrm>
            <a:custGeom>
              <a:avLst/>
              <a:gdLst/>
              <a:ahLst/>
              <a:cxnLst/>
              <a:rect l="l" t="t" r="r" b="b"/>
              <a:pathLst>
                <a:path w="14630400" h="640080">
                  <a:moveTo>
                    <a:pt x="0" y="0"/>
                  </a:moveTo>
                  <a:lnTo>
                    <a:pt x="14630400" y="0"/>
                  </a:lnTo>
                  <a:lnTo>
                    <a:pt x="14630400" y="640080"/>
                  </a:lnTo>
                  <a:lnTo>
                    <a:pt x="0" y="640080"/>
                  </a:lnTo>
                  <a:close/>
                </a:path>
              </a:pathLst>
            </a:custGeom>
            <a:blipFill>
              <a:blip r:embed="rId3">
                <a:alphaModFix amt="0"/>
              </a:blip>
              <a:stretch>
                <a:fillRect t="-395372" b="-395372"/>
              </a:stretch>
            </a:blipFill>
          </p:spPr>
          <p:txBody>
            <a:bodyPr/>
            <a:lstStyle/>
            <a:p>
              <a:endParaRPr lang="en-US"/>
            </a:p>
          </p:txBody>
        </p:sp>
        <p:sp>
          <p:nvSpPr>
            <p:cNvPr id="415" name="TextBox 4">
              <a:extLst>
                <a:ext uri="{FF2B5EF4-FFF2-40B4-BE49-F238E27FC236}">
                  <a16:creationId xmlns:a16="http://schemas.microsoft.com/office/drawing/2014/main" id="{CBF11C12-AAA1-77B8-F646-A5DD23F48DCA}"/>
                </a:ext>
              </a:extLst>
            </p:cNvPr>
            <p:cNvSpPr txBox="1"/>
            <p:nvPr/>
          </p:nvSpPr>
          <p:spPr>
            <a:xfrm>
              <a:off x="0" y="-19050"/>
              <a:ext cx="14630400" cy="659130"/>
            </a:xfrm>
            <a:prstGeom prst="rect">
              <a:avLst/>
            </a:prstGeom>
          </p:spPr>
          <p:txBody>
            <a:bodyPr lIns="0" tIns="0" rIns="0" bIns="0" rtlCol="0" anchor="ctr"/>
            <a:lstStyle/>
            <a:p>
              <a:pPr algn="l">
                <a:lnSpc>
                  <a:spcPts val="2160"/>
                </a:lnSpc>
              </a:pPr>
              <a:r>
                <a:rPr lang="en-US" sz="1800" b="1" spc="450" dirty="0">
                  <a:solidFill>
                    <a:srgbClr val="FFFFFF"/>
                  </a:solidFill>
                  <a:latin typeface="Arial Bold"/>
                  <a:ea typeface="Arial Bold"/>
                  <a:cs typeface="Arial Bold"/>
                  <a:sym typeface="Arial Bold"/>
                </a:rPr>
                <a:t>FEATURE CONCEPT - OCTOBER 2026</a:t>
              </a:r>
            </a:p>
          </p:txBody>
        </p:sp>
      </p:grpSp>
      <p:grpSp>
        <p:nvGrpSpPr>
          <p:cNvPr id="416" name="Group 5">
            <a:extLst>
              <a:ext uri="{FF2B5EF4-FFF2-40B4-BE49-F238E27FC236}">
                <a16:creationId xmlns:a16="http://schemas.microsoft.com/office/drawing/2014/main" id="{2DDE2CAD-D918-4318-1C02-675AC14C81A0}"/>
              </a:ext>
            </a:extLst>
          </p:cNvPr>
          <p:cNvGrpSpPr/>
          <p:nvPr/>
        </p:nvGrpSpPr>
        <p:grpSpPr>
          <a:xfrm>
            <a:off x="960120" y="1214126"/>
            <a:ext cx="8183880" cy="718073"/>
            <a:chOff x="0" y="0"/>
            <a:chExt cx="10911840" cy="957431"/>
          </a:xfrm>
        </p:grpSpPr>
        <p:sp>
          <p:nvSpPr>
            <p:cNvPr id="417" name="Freeform 6">
              <a:extLst>
                <a:ext uri="{FF2B5EF4-FFF2-40B4-BE49-F238E27FC236}">
                  <a16:creationId xmlns:a16="http://schemas.microsoft.com/office/drawing/2014/main" id="{C4FFFD2D-0C46-FA2A-F5C0-20111552AA0B}"/>
                </a:ext>
              </a:extLst>
            </p:cNvPr>
            <p:cNvSpPr/>
            <p:nvPr/>
          </p:nvSpPr>
          <p:spPr>
            <a:xfrm>
              <a:off x="0" y="0"/>
              <a:ext cx="10911840" cy="957431"/>
            </a:xfrm>
            <a:custGeom>
              <a:avLst/>
              <a:gdLst/>
              <a:ahLst/>
              <a:cxnLst/>
              <a:rect l="l" t="t" r="r" b="b"/>
              <a:pathLst>
                <a:path w="10911840" h="957431">
                  <a:moveTo>
                    <a:pt x="0" y="0"/>
                  </a:moveTo>
                  <a:lnTo>
                    <a:pt x="10911840" y="0"/>
                  </a:lnTo>
                  <a:lnTo>
                    <a:pt x="10911840" y="957431"/>
                  </a:lnTo>
                  <a:lnTo>
                    <a:pt x="0" y="957431"/>
                  </a:lnTo>
                  <a:close/>
                </a:path>
              </a:pathLst>
            </a:custGeom>
            <a:blipFill>
              <a:blip r:embed="rId3">
                <a:alphaModFix amt="0"/>
              </a:blip>
              <a:stretch>
                <a:fillRect t="-300064" r="-75977" b="-381525"/>
              </a:stretch>
            </a:blipFill>
          </p:spPr>
          <p:txBody>
            <a:bodyPr/>
            <a:lstStyle/>
            <a:p>
              <a:endParaRPr lang="en-US"/>
            </a:p>
          </p:txBody>
        </p:sp>
        <p:sp>
          <p:nvSpPr>
            <p:cNvPr id="418" name="TextBox 7">
              <a:extLst>
                <a:ext uri="{FF2B5EF4-FFF2-40B4-BE49-F238E27FC236}">
                  <a16:creationId xmlns:a16="http://schemas.microsoft.com/office/drawing/2014/main" id="{5FAE9D5B-8800-C899-4278-6BAF7516AF78}"/>
                </a:ext>
              </a:extLst>
            </p:cNvPr>
            <p:cNvSpPr txBox="1"/>
            <p:nvPr/>
          </p:nvSpPr>
          <p:spPr>
            <a:xfrm>
              <a:off x="0" y="19050"/>
              <a:ext cx="10911840" cy="938381"/>
            </a:xfrm>
            <a:prstGeom prst="rect">
              <a:avLst/>
            </a:prstGeom>
          </p:spPr>
          <p:txBody>
            <a:bodyPr lIns="0" tIns="0" rIns="0" bIns="0" rtlCol="0" anchor="ctr"/>
            <a:lstStyle/>
            <a:p>
              <a:pPr algn="l">
                <a:lnSpc>
                  <a:spcPts val="3733"/>
                </a:lnSpc>
              </a:pPr>
              <a:r>
                <a:rPr lang="en-US" sz="3500" b="1">
                  <a:solidFill>
                    <a:srgbClr val="FFDE59"/>
                  </a:solidFill>
                  <a:latin typeface="Arial Bold"/>
                  <a:ea typeface="Arial Bold"/>
                  <a:cs typeface="Arial Bold"/>
                  <a:sym typeface="Arial Bold"/>
                </a:rPr>
                <a:t>BeReal.</a:t>
              </a:r>
            </a:p>
          </p:txBody>
        </p:sp>
      </p:grpSp>
      <p:grpSp>
        <p:nvGrpSpPr>
          <p:cNvPr id="419" name="Group 8">
            <a:extLst>
              <a:ext uri="{FF2B5EF4-FFF2-40B4-BE49-F238E27FC236}">
                <a16:creationId xmlns:a16="http://schemas.microsoft.com/office/drawing/2014/main" id="{4FBAA1C8-441C-648D-8F6A-B2CBFD66EE5C}"/>
              </a:ext>
            </a:extLst>
          </p:cNvPr>
          <p:cNvGrpSpPr/>
          <p:nvPr/>
        </p:nvGrpSpPr>
        <p:grpSpPr>
          <a:xfrm>
            <a:off x="960120" y="2114645"/>
            <a:ext cx="10972800" cy="480060"/>
            <a:chOff x="0" y="0"/>
            <a:chExt cx="14630400" cy="640080"/>
          </a:xfrm>
        </p:grpSpPr>
        <p:sp>
          <p:nvSpPr>
            <p:cNvPr id="420" name="Freeform 9">
              <a:extLst>
                <a:ext uri="{FF2B5EF4-FFF2-40B4-BE49-F238E27FC236}">
                  <a16:creationId xmlns:a16="http://schemas.microsoft.com/office/drawing/2014/main" id="{940ED5AF-1F74-8147-E2C0-B9BA8E22DFA5}"/>
                </a:ext>
              </a:extLst>
            </p:cNvPr>
            <p:cNvSpPr/>
            <p:nvPr/>
          </p:nvSpPr>
          <p:spPr>
            <a:xfrm>
              <a:off x="0" y="0"/>
              <a:ext cx="14630400" cy="640080"/>
            </a:xfrm>
            <a:custGeom>
              <a:avLst/>
              <a:gdLst/>
              <a:ahLst/>
              <a:cxnLst/>
              <a:rect l="l" t="t" r="r" b="b"/>
              <a:pathLst>
                <a:path w="14630400" h="640080">
                  <a:moveTo>
                    <a:pt x="0" y="0"/>
                  </a:moveTo>
                  <a:lnTo>
                    <a:pt x="14630400" y="0"/>
                  </a:lnTo>
                  <a:lnTo>
                    <a:pt x="14630400" y="640080"/>
                  </a:lnTo>
                  <a:lnTo>
                    <a:pt x="0" y="640080"/>
                  </a:lnTo>
                  <a:close/>
                </a:path>
              </a:pathLst>
            </a:custGeom>
            <a:blipFill>
              <a:blip r:embed="rId3">
                <a:alphaModFix amt="0"/>
              </a:blip>
              <a:stretch>
                <a:fillRect t="-395372" b="-395372"/>
              </a:stretch>
            </a:blipFill>
          </p:spPr>
          <p:txBody>
            <a:bodyPr/>
            <a:lstStyle/>
            <a:p>
              <a:endParaRPr lang="en-US"/>
            </a:p>
          </p:txBody>
        </p:sp>
        <p:sp>
          <p:nvSpPr>
            <p:cNvPr id="421" name="TextBox 10">
              <a:extLst>
                <a:ext uri="{FF2B5EF4-FFF2-40B4-BE49-F238E27FC236}">
                  <a16:creationId xmlns:a16="http://schemas.microsoft.com/office/drawing/2014/main" id="{0C9AF25B-51C9-990E-F366-54172EBD862D}"/>
                </a:ext>
              </a:extLst>
            </p:cNvPr>
            <p:cNvSpPr txBox="1"/>
            <p:nvPr/>
          </p:nvSpPr>
          <p:spPr>
            <a:xfrm>
              <a:off x="0" y="-19050"/>
              <a:ext cx="14630400" cy="659130"/>
            </a:xfrm>
            <a:prstGeom prst="rect">
              <a:avLst/>
            </a:prstGeom>
          </p:spPr>
          <p:txBody>
            <a:bodyPr lIns="0" tIns="0" rIns="0" bIns="0" rtlCol="0" anchor="ctr"/>
            <a:lstStyle/>
            <a:p>
              <a:pPr algn="l">
                <a:lnSpc>
                  <a:spcPts val="2160"/>
                </a:lnSpc>
              </a:pPr>
              <a:r>
                <a:rPr lang="en-US" sz="1800" b="1" spc="450">
                  <a:solidFill>
                    <a:srgbClr val="FFFFFF"/>
                  </a:solidFill>
                  <a:latin typeface="Arial Bold"/>
                  <a:ea typeface="Arial Bold"/>
                  <a:cs typeface="Arial Bold"/>
                  <a:sym typeface="Arial Bold"/>
                </a:rPr>
                <a:t>BEREAL PASSPORT &amp; COMMUNITY BOARDS</a:t>
              </a:r>
            </a:p>
          </p:txBody>
        </p:sp>
      </p:gr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0A0A0A"/>
        </a:solidFill>
        <a:effectLst/>
      </p:bgPr>
    </p:bg>
    <p:spTree>
      <p:nvGrpSpPr>
        <p:cNvPr id="1" name=""/>
        <p:cNvGrpSpPr/>
        <p:nvPr/>
      </p:nvGrpSpPr>
      <p:grpSpPr>
        <a:xfrm>
          <a:off x="0" y="0"/>
          <a:ext cx="0" cy="0"/>
          <a:chOff x="0" y="0"/>
          <a:chExt cx="0" cy="0"/>
        </a:xfrm>
      </p:grpSpPr>
      <p:grpSp>
        <p:nvGrpSpPr>
          <p:cNvPr id="11" name="Group 11"/>
          <p:cNvGrpSpPr/>
          <p:nvPr/>
        </p:nvGrpSpPr>
        <p:grpSpPr>
          <a:xfrm>
            <a:off x="960120" y="2924409"/>
            <a:ext cx="7132320" cy="1303020"/>
            <a:chOff x="0" y="0"/>
            <a:chExt cx="9509760" cy="1737360"/>
          </a:xfrm>
        </p:grpSpPr>
        <p:sp>
          <p:nvSpPr>
            <p:cNvPr id="12" name="Freeform 12"/>
            <p:cNvSpPr/>
            <p:nvPr/>
          </p:nvSpPr>
          <p:spPr>
            <a:xfrm>
              <a:off x="0" y="0"/>
              <a:ext cx="9509760" cy="1737360"/>
            </a:xfrm>
            <a:custGeom>
              <a:avLst/>
              <a:gdLst/>
              <a:ahLst/>
              <a:cxnLst/>
              <a:rect l="l" t="t" r="r" b="b"/>
              <a:pathLst>
                <a:path w="9509760" h="1737360">
                  <a:moveTo>
                    <a:pt x="0" y="0"/>
                  </a:moveTo>
                  <a:lnTo>
                    <a:pt x="9509760" y="0"/>
                  </a:lnTo>
                  <a:lnTo>
                    <a:pt x="9509760" y="1737360"/>
                  </a:lnTo>
                  <a:lnTo>
                    <a:pt x="0" y="1737360"/>
                  </a:lnTo>
                  <a:close/>
                </a:path>
              </a:pathLst>
            </a:custGeom>
            <a:blipFill>
              <a:blip r:embed="rId3">
                <a:alphaModFix amt="0"/>
              </a:blip>
              <a:stretch>
                <a:fillRect t="-165360" r="-101923" b="-165360"/>
              </a:stretch>
            </a:blipFill>
          </p:spPr>
          <p:txBody>
            <a:bodyPr/>
            <a:lstStyle/>
            <a:p>
              <a:endParaRPr lang="en-US"/>
            </a:p>
          </p:txBody>
        </p:sp>
        <p:sp>
          <p:nvSpPr>
            <p:cNvPr id="13" name="TextBox 13"/>
            <p:cNvSpPr txBox="1"/>
            <p:nvPr/>
          </p:nvSpPr>
          <p:spPr>
            <a:xfrm>
              <a:off x="0" y="38100"/>
              <a:ext cx="9509760" cy="1699260"/>
            </a:xfrm>
            <a:prstGeom prst="rect">
              <a:avLst/>
            </a:prstGeom>
          </p:spPr>
          <p:txBody>
            <a:bodyPr lIns="0" tIns="0" rIns="0" bIns="0" rtlCol="0" anchor="ctr"/>
            <a:lstStyle/>
            <a:p>
              <a:pPr algn="l">
                <a:lnSpc>
                  <a:spcPts val="5120"/>
                </a:lnSpc>
              </a:pPr>
              <a:r>
                <a:rPr lang="en-US" sz="4799" b="1" dirty="0">
                  <a:solidFill>
                    <a:srgbClr val="FFFFFF"/>
                  </a:solidFill>
                  <a:latin typeface="Arial Bold"/>
                  <a:ea typeface="Arial Bold"/>
                  <a:cs typeface="Arial Bold"/>
                  <a:sym typeface="Arial Bold"/>
                </a:rPr>
                <a:t>Post Confirm</a:t>
              </a:r>
            </a:p>
          </p:txBody>
        </p:sp>
      </p:grpSp>
      <p:grpSp>
        <p:nvGrpSpPr>
          <p:cNvPr id="14" name="Group 14"/>
          <p:cNvGrpSpPr/>
          <p:nvPr/>
        </p:nvGrpSpPr>
        <p:grpSpPr>
          <a:xfrm>
            <a:off x="1028700" y="4227429"/>
            <a:ext cx="4023360" cy="2428079"/>
            <a:chOff x="0" y="0"/>
            <a:chExt cx="5364480" cy="3237438"/>
          </a:xfrm>
        </p:grpSpPr>
        <p:sp>
          <p:nvSpPr>
            <p:cNvPr id="15" name="Freeform 15"/>
            <p:cNvSpPr/>
            <p:nvPr/>
          </p:nvSpPr>
          <p:spPr>
            <a:xfrm>
              <a:off x="0" y="0"/>
              <a:ext cx="5364480" cy="3237438"/>
            </a:xfrm>
            <a:custGeom>
              <a:avLst/>
              <a:gdLst/>
              <a:ahLst/>
              <a:cxnLst/>
              <a:rect l="l" t="t" r="r" b="b"/>
              <a:pathLst>
                <a:path w="5364480" h="3237438">
                  <a:moveTo>
                    <a:pt x="0" y="0"/>
                  </a:moveTo>
                  <a:lnTo>
                    <a:pt x="5364480" y="0"/>
                  </a:lnTo>
                  <a:lnTo>
                    <a:pt x="5364480" y="3237438"/>
                  </a:lnTo>
                  <a:lnTo>
                    <a:pt x="0" y="3237438"/>
                  </a:lnTo>
                  <a:close/>
                </a:path>
              </a:pathLst>
            </a:custGeom>
            <a:blipFill>
              <a:blip r:embed="rId3">
                <a:alphaModFix amt="0"/>
              </a:blip>
              <a:stretch>
                <a:fillRect t="-78169" r="-172727" b="2059"/>
              </a:stretch>
            </a:blipFill>
          </p:spPr>
          <p:txBody>
            <a:bodyPr/>
            <a:lstStyle/>
            <a:p>
              <a:endParaRPr lang="en-US"/>
            </a:p>
          </p:txBody>
        </p:sp>
        <p:sp>
          <p:nvSpPr>
            <p:cNvPr id="16" name="TextBox 16"/>
            <p:cNvSpPr txBox="1"/>
            <p:nvPr/>
          </p:nvSpPr>
          <p:spPr>
            <a:xfrm>
              <a:off x="0" y="-57150"/>
              <a:ext cx="5364480" cy="3294588"/>
            </a:xfrm>
            <a:prstGeom prst="rect">
              <a:avLst/>
            </a:prstGeom>
          </p:spPr>
          <p:txBody>
            <a:bodyPr lIns="0" tIns="0" rIns="0" bIns="0" rtlCol="0" anchor="ctr"/>
            <a:lstStyle/>
            <a:p>
              <a:pPr marL="388620" lvl="1" indent="-194310" algn="l">
                <a:lnSpc>
                  <a:spcPts val="2340"/>
                </a:lnSpc>
                <a:buFont typeface="Arial"/>
                <a:buChar char="•"/>
              </a:pPr>
              <a:r>
                <a:rPr lang="en-US" sz="1800" b="1" spc="59" dirty="0">
                  <a:solidFill>
                    <a:srgbClr val="FFFFFF"/>
                  </a:solidFill>
                  <a:latin typeface="Calibri (MS) Bold"/>
                  <a:ea typeface="Calibri (MS) Bold"/>
                  <a:cs typeface="Calibri (MS) Bold"/>
                  <a:sym typeface="Calibri (MS) Bold"/>
                </a:rPr>
                <a:t>Post added in Cramming Community Board feed</a:t>
              </a:r>
            </a:p>
            <a:p>
              <a:pPr marL="388620" lvl="1" indent="-194310" algn="l">
                <a:lnSpc>
                  <a:spcPts val="2340"/>
                </a:lnSpc>
                <a:buFont typeface="Arial"/>
                <a:buChar char="•"/>
              </a:pPr>
              <a:r>
                <a:rPr lang="en-US" sz="1800" b="1" spc="59" dirty="0">
                  <a:solidFill>
                    <a:srgbClr val="FFFFFF"/>
                  </a:solidFill>
                  <a:latin typeface="Calibri (MS) Bold"/>
                  <a:ea typeface="Calibri (MS) Bold"/>
                  <a:cs typeface="Calibri (MS) Bold"/>
                  <a:sym typeface="Calibri (MS) Bold"/>
                </a:rPr>
                <a:t>User will see BeReal Passport stamp added to their photo</a:t>
              </a:r>
            </a:p>
            <a:p>
              <a:pPr marL="388620" lvl="1" indent="-194310" algn="l">
                <a:lnSpc>
                  <a:spcPts val="2340"/>
                </a:lnSpc>
                <a:buFont typeface="Arial"/>
                <a:buChar char="•"/>
              </a:pPr>
              <a:r>
                <a:rPr lang="en-US" sz="1800" b="1" spc="59" dirty="0">
                  <a:solidFill>
                    <a:srgbClr val="FFFFFF"/>
                  </a:solidFill>
                  <a:latin typeface="Calibri (MS) Bold"/>
                  <a:ea typeface="Calibri (MS) Bold"/>
                  <a:cs typeface="Calibri (MS) Bold"/>
                  <a:sym typeface="Calibri (MS) Bold"/>
                </a:rPr>
                <a:t>User will be able to view other user’s community board post with BeReal Passport stamp</a:t>
              </a:r>
            </a:p>
            <a:p>
              <a:pPr algn="l">
                <a:lnSpc>
                  <a:spcPts val="2340"/>
                </a:lnSpc>
              </a:pPr>
              <a:endParaRPr lang="en-US" sz="1800" b="1" spc="59" dirty="0">
                <a:solidFill>
                  <a:srgbClr val="FFFFFF"/>
                </a:solidFill>
                <a:latin typeface="Calibri (MS) Bold"/>
                <a:ea typeface="Calibri (MS) Bold"/>
                <a:cs typeface="Calibri (MS) Bold"/>
                <a:sym typeface="Calibri (MS) Bold"/>
              </a:endParaRPr>
            </a:p>
          </p:txBody>
        </p:sp>
      </p:grpSp>
      <p:pic>
        <p:nvPicPr>
          <p:cNvPr id="134" name="Picture 133">
            <a:extLst>
              <a:ext uri="{FF2B5EF4-FFF2-40B4-BE49-F238E27FC236}">
                <a16:creationId xmlns:a16="http://schemas.microsoft.com/office/drawing/2014/main" id="{3DAEDDE3-9B2E-CC53-BF57-61B0D1B221A4}"/>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2649200" y="1489245"/>
            <a:ext cx="4203700" cy="8305800"/>
          </a:xfrm>
          <a:prstGeom prst="rect">
            <a:avLst/>
          </a:prstGeom>
        </p:spPr>
      </p:pic>
      <p:grpSp>
        <p:nvGrpSpPr>
          <p:cNvPr id="17" name="Group 2">
            <a:extLst>
              <a:ext uri="{FF2B5EF4-FFF2-40B4-BE49-F238E27FC236}">
                <a16:creationId xmlns:a16="http://schemas.microsoft.com/office/drawing/2014/main" id="{96954100-FD50-F4FE-548D-2D63255EADE2}"/>
              </a:ext>
            </a:extLst>
          </p:cNvPr>
          <p:cNvGrpSpPr/>
          <p:nvPr/>
        </p:nvGrpSpPr>
        <p:grpSpPr>
          <a:xfrm>
            <a:off x="960120" y="734066"/>
            <a:ext cx="10972800" cy="480060"/>
            <a:chOff x="0" y="0"/>
            <a:chExt cx="14630400" cy="640080"/>
          </a:xfrm>
        </p:grpSpPr>
        <p:sp>
          <p:nvSpPr>
            <p:cNvPr id="18" name="Freeform 3">
              <a:extLst>
                <a:ext uri="{FF2B5EF4-FFF2-40B4-BE49-F238E27FC236}">
                  <a16:creationId xmlns:a16="http://schemas.microsoft.com/office/drawing/2014/main" id="{5455BF2E-334F-88A7-010B-57102CC3E62F}"/>
                </a:ext>
              </a:extLst>
            </p:cNvPr>
            <p:cNvSpPr/>
            <p:nvPr/>
          </p:nvSpPr>
          <p:spPr>
            <a:xfrm>
              <a:off x="0" y="0"/>
              <a:ext cx="14630400" cy="640080"/>
            </a:xfrm>
            <a:custGeom>
              <a:avLst/>
              <a:gdLst/>
              <a:ahLst/>
              <a:cxnLst/>
              <a:rect l="l" t="t" r="r" b="b"/>
              <a:pathLst>
                <a:path w="14630400" h="640080">
                  <a:moveTo>
                    <a:pt x="0" y="0"/>
                  </a:moveTo>
                  <a:lnTo>
                    <a:pt x="14630400" y="0"/>
                  </a:lnTo>
                  <a:lnTo>
                    <a:pt x="14630400" y="640080"/>
                  </a:lnTo>
                  <a:lnTo>
                    <a:pt x="0" y="640080"/>
                  </a:lnTo>
                  <a:close/>
                </a:path>
              </a:pathLst>
            </a:custGeom>
            <a:blipFill>
              <a:blip r:embed="rId3">
                <a:alphaModFix amt="0"/>
              </a:blip>
              <a:stretch>
                <a:fillRect t="-395372" b="-395372"/>
              </a:stretch>
            </a:blipFill>
          </p:spPr>
          <p:txBody>
            <a:bodyPr/>
            <a:lstStyle/>
            <a:p>
              <a:endParaRPr lang="en-US"/>
            </a:p>
          </p:txBody>
        </p:sp>
        <p:sp>
          <p:nvSpPr>
            <p:cNvPr id="19" name="TextBox 4">
              <a:extLst>
                <a:ext uri="{FF2B5EF4-FFF2-40B4-BE49-F238E27FC236}">
                  <a16:creationId xmlns:a16="http://schemas.microsoft.com/office/drawing/2014/main" id="{B1E0BC07-7D82-2F75-4A0A-54FDE2A2D8E2}"/>
                </a:ext>
              </a:extLst>
            </p:cNvPr>
            <p:cNvSpPr txBox="1"/>
            <p:nvPr/>
          </p:nvSpPr>
          <p:spPr>
            <a:xfrm>
              <a:off x="0" y="-19050"/>
              <a:ext cx="14630400" cy="659130"/>
            </a:xfrm>
            <a:prstGeom prst="rect">
              <a:avLst/>
            </a:prstGeom>
          </p:spPr>
          <p:txBody>
            <a:bodyPr lIns="0" tIns="0" rIns="0" bIns="0" rtlCol="0" anchor="ctr"/>
            <a:lstStyle/>
            <a:p>
              <a:pPr algn="l">
                <a:lnSpc>
                  <a:spcPts val="2160"/>
                </a:lnSpc>
              </a:pPr>
              <a:r>
                <a:rPr lang="en-US" sz="1800" b="1" spc="450" dirty="0">
                  <a:solidFill>
                    <a:srgbClr val="FFFFFF"/>
                  </a:solidFill>
                  <a:latin typeface="Arial Bold"/>
                  <a:ea typeface="Arial Bold"/>
                  <a:cs typeface="Arial Bold"/>
                  <a:sym typeface="Arial Bold"/>
                </a:rPr>
                <a:t>FEATURE CONCEPT - OCTOBER 2026</a:t>
              </a:r>
            </a:p>
          </p:txBody>
        </p:sp>
      </p:grpSp>
      <p:grpSp>
        <p:nvGrpSpPr>
          <p:cNvPr id="20" name="Group 5">
            <a:extLst>
              <a:ext uri="{FF2B5EF4-FFF2-40B4-BE49-F238E27FC236}">
                <a16:creationId xmlns:a16="http://schemas.microsoft.com/office/drawing/2014/main" id="{25416E39-B999-81C3-0D73-7243A9866A9E}"/>
              </a:ext>
            </a:extLst>
          </p:cNvPr>
          <p:cNvGrpSpPr/>
          <p:nvPr/>
        </p:nvGrpSpPr>
        <p:grpSpPr>
          <a:xfrm>
            <a:off x="960120" y="1214126"/>
            <a:ext cx="8183880" cy="718073"/>
            <a:chOff x="0" y="0"/>
            <a:chExt cx="10911840" cy="957431"/>
          </a:xfrm>
        </p:grpSpPr>
        <p:sp>
          <p:nvSpPr>
            <p:cNvPr id="21" name="Freeform 6">
              <a:extLst>
                <a:ext uri="{FF2B5EF4-FFF2-40B4-BE49-F238E27FC236}">
                  <a16:creationId xmlns:a16="http://schemas.microsoft.com/office/drawing/2014/main" id="{4C388D9F-8584-1881-219C-8AABDADAD95C}"/>
                </a:ext>
              </a:extLst>
            </p:cNvPr>
            <p:cNvSpPr/>
            <p:nvPr/>
          </p:nvSpPr>
          <p:spPr>
            <a:xfrm>
              <a:off x="0" y="0"/>
              <a:ext cx="10911840" cy="957431"/>
            </a:xfrm>
            <a:custGeom>
              <a:avLst/>
              <a:gdLst/>
              <a:ahLst/>
              <a:cxnLst/>
              <a:rect l="l" t="t" r="r" b="b"/>
              <a:pathLst>
                <a:path w="10911840" h="957431">
                  <a:moveTo>
                    <a:pt x="0" y="0"/>
                  </a:moveTo>
                  <a:lnTo>
                    <a:pt x="10911840" y="0"/>
                  </a:lnTo>
                  <a:lnTo>
                    <a:pt x="10911840" y="957431"/>
                  </a:lnTo>
                  <a:lnTo>
                    <a:pt x="0" y="957431"/>
                  </a:lnTo>
                  <a:close/>
                </a:path>
              </a:pathLst>
            </a:custGeom>
            <a:blipFill>
              <a:blip r:embed="rId3">
                <a:alphaModFix amt="0"/>
              </a:blip>
              <a:stretch>
                <a:fillRect t="-300064" r="-75977" b="-381525"/>
              </a:stretch>
            </a:blipFill>
          </p:spPr>
          <p:txBody>
            <a:bodyPr/>
            <a:lstStyle/>
            <a:p>
              <a:endParaRPr lang="en-US"/>
            </a:p>
          </p:txBody>
        </p:sp>
        <p:sp>
          <p:nvSpPr>
            <p:cNvPr id="22" name="TextBox 7">
              <a:extLst>
                <a:ext uri="{FF2B5EF4-FFF2-40B4-BE49-F238E27FC236}">
                  <a16:creationId xmlns:a16="http://schemas.microsoft.com/office/drawing/2014/main" id="{1AF94CEC-2133-E2BE-114D-E7CE4EC689CB}"/>
                </a:ext>
              </a:extLst>
            </p:cNvPr>
            <p:cNvSpPr txBox="1"/>
            <p:nvPr/>
          </p:nvSpPr>
          <p:spPr>
            <a:xfrm>
              <a:off x="0" y="19050"/>
              <a:ext cx="10911840" cy="938381"/>
            </a:xfrm>
            <a:prstGeom prst="rect">
              <a:avLst/>
            </a:prstGeom>
          </p:spPr>
          <p:txBody>
            <a:bodyPr lIns="0" tIns="0" rIns="0" bIns="0" rtlCol="0" anchor="ctr"/>
            <a:lstStyle/>
            <a:p>
              <a:pPr algn="l">
                <a:lnSpc>
                  <a:spcPts val="3733"/>
                </a:lnSpc>
              </a:pPr>
              <a:r>
                <a:rPr lang="en-US" sz="3500" b="1">
                  <a:solidFill>
                    <a:srgbClr val="FFDE59"/>
                  </a:solidFill>
                  <a:latin typeface="Arial Bold"/>
                  <a:ea typeface="Arial Bold"/>
                  <a:cs typeface="Arial Bold"/>
                  <a:sym typeface="Arial Bold"/>
                </a:rPr>
                <a:t>BeReal.</a:t>
              </a:r>
            </a:p>
          </p:txBody>
        </p:sp>
      </p:grpSp>
      <p:grpSp>
        <p:nvGrpSpPr>
          <p:cNvPr id="23" name="Group 8">
            <a:extLst>
              <a:ext uri="{FF2B5EF4-FFF2-40B4-BE49-F238E27FC236}">
                <a16:creationId xmlns:a16="http://schemas.microsoft.com/office/drawing/2014/main" id="{5FF34FCA-4072-FE02-F5C8-89D929E3ED7A}"/>
              </a:ext>
            </a:extLst>
          </p:cNvPr>
          <p:cNvGrpSpPr/>
          <p:nvPr/>
        </p:nvGrpSpPr>
        <p:grpSpPr>
          <a:xfrm>
            <a:off x="960120" y="2114645"/>
            <a:ext cx="10972800" cy="480060"/>
            <a:chOff x="0" y="0"/>
            <a:chExt cx="14630400" cy="640080"/>
          </a:xfrm>
        </p:grpSpPr>
        <p:sp>
          <p:nvSpPr>
            <p:cNvPr id="24" name="Freeform 9">
              <a:extLst>
                <a:ext uri="{FF2B5EF4-FFF2-40B4-BE49-F238E27FC236}">
                  <a16:creationId xmlns:a16="http://schemas.microsoft.com/office/drawing/2014/main" id="{340922E8-C79A-1645-F878-C8624A52B48B}"/>
                </a:ext>
              </a:extLst>
            </p:cNvPr>
            <p:cNvSpPr/>
            <p:nvPr/>
          </p:nvSpPr>
          <p:spPr>
            <a:xfrm>
              <a:off x="0" y="0"/>
              <a:ext cx="14630400" cy="640080"/>
            </a:xfrm>
            <a:custGeom>
              <a:avLst/>
              <a:gdLst/>
              <a:ahLst/>
              <a:cxnLst/>
              <a:rect l="l" t="t" r="r" b="b"/>
              <a:pathLst>
                <a:path w="14630400" h="640080">
                  <a:moveTo>
                    <a:pt x="0" y="0"/>
                  </a:moveTo>
                  <a:lnTo>
                    <a:pt x="14630400" y="0"/>
                  </a:lnTo>
                  <a:lnTo>
                    <a:pt x="14630400" y="640080"/>
                  </a:lnTo>
                  <a:lnTo>
                    <a:pt x="0" y="640080"/>
                  </a:lnTo>
                  <a:close/>
                </a:path>
              </a:pathLst>
            </a:custGeom>
            <a:blipFill>
              <a:blip r:embed="rId3">
                <a:alphaModFix amt="0"/>
              </a:blip>
              <a:stretch>
                <a:fillRect t="-395372" b="-395372"/>
              </a:stretch>
            </a:blipFill>
          </p:spPr>
          <p:txBody>
            <a:bodyPr/>
            <a:lstStyle/>
            <a:p>
              <a:endParaRPr lang="en-US"/>
            </a:p>
          </p:txBody>
        </p:sp>
        <p:sp>
          <p:nvSpPr>
            <p:cNvPr id="25" name="TextBox 10">
              <a:extLst>
                <a:ext uri="{FF2B5EF4-FFF2-40B4-BE49-F238E27FC236}">
                  <a16:creationId xmlns:a16="http://schemas.microsoft.com/office/drawing/2014/main" id="{6246972D-19A1-A800-8678-F0AA53A7E77F}"/>
                </a:ext>
              </a:extLst>
            </p:cNvPr>
            <p:cNvSpPr txBox="1"/>
            <p:nvPr/>
          </p:nvSpPr>
          <p:spPr>
            <a:xfrm>
              <a:off x="0" y="-19050"/>
              <a:ext cx="14630400" cy="659130"/>
            </a:xfrm>
            <a:prstGeom prst="rect">
              <a:avLst/>
            </a:prstGeom>
          </p:spPr>
          <p:txBody>
            <a:bodyPr lIns="0" tIns="0" rIns="0" bIns="0" rtlCol="0" anchor="ctr"/>
            <a:lstStyle/>
            <a:p>
              <a:pPr algn="l">
                <a:lnSpc>
                  <a:spcPts val="2160"/>
                </a:lnSpc>
              </a:pPr>
              <a:r>
                <a:rPr lang="en-US" sz="1800" b="1" spc="450">
                  <a:solidFill>
                    <a:srgbClr val="FFFFFF"/>
                  </a:solidFill>
                  <a:latin typeface="Arial Bold"/>
                  <a:ea typeface="Arial Bold"/>
                  <a:cs typeface="Arial Bold"/>
                  <a:sym typeface="Arial Bold"/>
                </a:rPr>
                <a:t>BEREAL PASSPORT &amp; COMMUNITY BOARDS</a:t>
              </a:r>
            </a:p>
          </p:txBody>
        </p:sp>
      </p:gr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0A0A0A"/>
        </a:solidFill>
        <a:effectLst/>
      </p:bgPr>
    </p:bg>
    <p:spTree>
      <p:nvGrpSpPr>
        <p:cNvPr id="1" name=""/>
        <p:cNvGrpSpPr/>
        <p:nvPr/>
      </p:nvGrpSpPr>
      <p:grpSpPr>
        <a:xfrm>
          <a:off x="0" y="0"/>
          <a:ext cx="0" cy="0"/>
          <a:chOff x="0" y="0"/>
          <a:chExt cx="0" cy="0"/>
        </a:xfrm>
      </p:grpSpPr>
      <p:grpSp>
        <p:nvGrpSpPr>
          <p:cNvPr id="11" name="Group 11"/>
          <p:cNvGrpSpPr/>
          <p:nvPr/>
        </p:nvGrpSpPr>
        <p:grpSpPr>
          <a:xfrm>
            <a:off x="960120" y="4274336"/>
            <a:ext cx="4296770" cy="5380829"/>
            <a:chOff x="0" y="0"/>
            <a:chExt cx="5729027" cy="7174438"/>
          </a:xfrm>
        </p:grpSpPr>
        <p:sp>
          <p:nvSpPr>
            <p:cNvPr id="12" name="Freeform 12"/>
            <p:cNvSpPr/>
            <p:nvPr/>
          </p:nvSpPr>
          <p:spPr>
            <a:xfrm>
              <a:off x="0" y="0"/>
              <a:ext cx="5729027" cy="7174438"/>
            </a:xfrm>
            <a:custGeom>
              <a:avLst/>
              <a:gdLst/>
              <a:ahLst/>
              <a:cxnLst/>
              <a:rect l="l" t="t" r="r" b="b"/>
              <a:pathLst>
                <a:path w="5729027" h="7174438">
                  <a:moveTo>
                    <a:pt x="0" y="0"/>
                  </a:moveTo>
                  <a:lnTo>
                    <a:pt x="5729027" y="0"/>
                  </a:lnTo>
                  <a:lnTo>
                    <a:pt x="5729027" y="7174438"/>
                  </a:lnTo>
                  <a:lnTo>
                    <a:pt x="0" y="7174438"/>
                  </a:lnTo>
                  <a:close/>
                </a:path>
              </a:pathLst>
            </a:custGeom>
            <a:blipFill>
              <a:blip r:embed="rId3">
                <a:alphaModFix amt="0"/>
              </a:blip>
              <a:stretch>
                <a:fillRect t="-35273" r="-155373" b="55804"/>
              </a:stretch>
            </a:blipFill>
          </p:spPr>
          <p:txBody>
            <a:bodyPr/>
            <a:lstStyle/>
            <a:p>
              <a:endParaRPr lang="en-US"/>
            </a:p>
          </p:txBody>
        </p:sp>
        <p:sp>
          <p:nvSpPr>
            <p:cNvPr id="13" name="TextBox 13"/>
            <p:cNvSpPr txBox="1"/>
            <p:nvPr/>
          </p:nvSpPr>
          <p:spPr>
            <a:xfrm>
              <a:off x="0" y="-57150"/>
              <a:ext cx="5729027" cy="7231588"/>
            </a:xfrm>
            <a:prstGeom prst="rect">
              <a:avLst/>
            </a:prstGeom>
          </p:spPr>
          <p:txBody>
            <a:bodyPr lIns="0" tIns="0" rIns="0" bIns="0" rtlCol="0" anchor="ctr"/>
            <a:lstStyle/>
            <a:p>
              <a:pPr marL="388620" lvl="1" indent="-194310" algn="l">
                <a:lnSpc>
                  <a:spcPts val="2340"/>
                </a:lnSpc>
                <a:buFont typeface="Arial"/>
                <a:buChar char="•"/>
              </a:pPr>
              <a:r>
                <a:rPr lang="en-US" sz="1800" b="1" spc="59">
                  <a:solidFill>
                    <a:srgbClr val="FFDE59"/>
                  </a:solidFill>
                  <a:latin typeface="Calibri (MS) Bold"/>
                  <a:ea typeface="Calibri (MS) Bold"/>
                  <a:cs typeface="Calibri (MS) Bold"/>
                  <a:sym typeface="Calibri (MS) Bold"/>
                </a:rPr>
                <a:t>MAU increase</a:t>
              </a:r>
            </a:p>
            <a:p>
              <a:pPr marL="388620" lvl="1" indent="-194310" algn="l">
                <a:lnSpc>
                  <a:spcPts val="2340"/>
                </a:lnSpc>
                <a:buFont typeface="Arial"/>
                <a:buChar char="•"/>
              </a:pPr>
              <a:r>
                <a:rPr lang="en-US" sz="1800" spc="59">
                  <a:solidFill>
                    <a:srgbClr val="FFFFFF"/>
                  </a:solidFill>
                  <a:latin typeface="Calibri (MS)"/>
                  <a:ea typeface="Calibri (MS)"/>
                  <a:cs typeface="Calibri (MS)"/>
                  <a:sym typeface="Calibri (MS)"/>
                </a:rPr>
                <a:t>Daily Prompt</a:t>
              </a:r>
            </a:p>
            <a:p>
              <a:pPr marL="388620" lvl="1" indent="-194310" algn="l">
                <a:lnSpc>
                  <a:spcPts val="2340"/>
                </a:lnSpc>
                <a:buFont typeface="Arial"/>
                <a:buChar char="•"/>
              </a:pPr>
              <a:r>
                <a:rPr lang="en-US" sz="1800" spc="59">
                  <a:solidFill>
                    <a:srgbClr val="FFFFFF"/>
                  </a:solidFill>
                  <a:latin typeface="Calibri (MS)"/>
                  <a:ea typeface="Calibri (MS)"/>
                  <a:cs typeface="Calibri (MS)"/>
                  <a:sym typeface="Calibri (MS)"/>
                </a:rPr>
                <a:t>Reminders </a:t>
              </a:r>
            </a:p>
            <a:p>
              <a:pPr marL="777240" lvl="2" indent="-259080" algn="l">
                <a:lnSpc>
                  <a:spcPts val="2340"/>
                </a:lnSpc>
                <a:buFont typeface="Arial"/>
                <a:buChar char="⚬"/>
              </a:pPr>
              <a:r>
                <a:rPr lang="en-US" sz="1800" spc="59">
                  <a:solidFill>
                    <a:srgbClr val="FFFFFF"/>
                  </a:solidFill>
                  <a:latin typeface="Calibri (MS)"/>
                  <a:ea typeface="Calibri (MS)"/>
                  <a:cs typeface="Calibri (MS)"/>
                  <a:sym typeface="Calibri (MS)"/>
                </a:rPr>
                <a:t>Friends Posted to Board</a:t>
              </a:r>
            </a:p>
            <a:p>
              <a:pPr marL="777240" lvl="2" indent="-259080" algn="l">
                <a:lnSpc>
                  <a:spcPts val="2340"/>
                </a:lnSpc>
                <a:buFont typeface="Arial"/>
                <a:buChar char="⚬"/>
              </a:pPr>
              <a:r>
                <a:rPr lang="en-US" sz="1800" spc="59">
                  <a:solidFill>
                    <a:srgbClr val="FFFFFF"/>
                  </a:solidFill>
                  <a:latin typeface="Calibri (MS)"/>
                  <a:ea typeface="Calibri (MS)"/>
                  <a:cs typeface="Calibri (MS)"/>
                  <a:sym typeface="Calibri (MS)"/>
                </a:rPr>
                <a:t>Streaks</a:t>
              </a:r>
            </a:p>
            <a:p>
              <a:pPr marL="777240" lvl="2" indent="-259080" algn="l">
                <a:lnSpc>
                  <a:spcPts val="2340"/>
                </a:lnSpc>
                <a:buFont typeface="Arial"/>
                <a:buChar char="⚬"/>
              </a:pPr>
              <a:r>
                <a:rPr lang="en-US" sz="1800" spc="59">
                  <a:solidFill>
                    <a:srgbClr val="FFFFFF"/>
                  </a:solidFill>
                  <a:latin typeface="Calibri (MS)"/>
                  <a:ea typeface="Calibri (MS)"/>
                  <a:cs typeface="Calibri (MS)"/>
                  <a:sym typeface="Calibri (MS)"/>
                </a:rPr>
                <a:t>Comeback banner</a:t>
              </a:r>
            </a:p>
            <a:p>
              <a:pPr marL="388620" lvl="1" indent="-194310" algn="l">
                <a:lnSpc>
                  <a:spcPts val="2340"/>
                </a:lnSpc>
                <a:buFont typeface="Arial"/>
                <a:buChar char="•"/>
              </a:pPr>
              <a:r>
                <a:rPr lang="en-US" sz="1800" spc="59">
                  <a:solidFill>
                    <a:srgbClr val="FFFFFF"/>
                  </a:solidFill>
                  <a:latin typeface="Calibri (MS)"/>
                  <a:ea typeface="Calibri (MS)"/>
                  <a:cs typeface="Calibri (MS)"/>
                  <a:sym typeface="Calibri (MS)"/>
                </a:rPr>
                <a:t>Once user has opt-in to join 1 or more community boards, ‘Today Screen’ will show October snapshot.</a:t>
              </a:r>
            </a:p>
            <a:p>
              <a:pPr marL="388620" lvl="1" indent="-194310" algn="l">
                <a:lnSpc>
                  <a:spcPts val="2340"/>
                </a:lnSpc>
                <a:buFont typeface="Arial"/>
                <a:buChar char="•"/>
              </a:pPr>
              <a:r>
                <a:rPr lang="en-US" sz="1800" spc="59">
                  <a:solidFill>
                    <a:srgbClr val="FFFFFF"/>
                  </a:solidFill>
                  <a:latin typeface="Calibri (MS)"/>
                  <a:ea typeface="Calibri (MS)"/>
                  <a:cs typeface="Calibri (MS)"/>
                  <a:sym typeface="Calibri (MS)"/>
                </a:rPr>
                <a:t>Snapshot view of all the community boards available for the month (themed &amp; sponsored)</a:t>
              </a:r>
            </a:p>
            <a:p>
              <a:pPr marL="388620" lvl="1" indent="-194310" algn="l">
                <a:lnSpc>
                  <a:spcPts val="2340"/>
                </a:lnSpc>
                <a:buFont typeface="Arial"/>
                <a:buChar char="•"/>
              </a:pPr>
              <a:r>
                <a:rPr lang="en-US" sz="1800" spc="59">
                  <a:solidFill>
                    <a:srgbClr val="FFFFFF"/>
                  </a:solidFill>
                  <a:latin typeface="Calibri (MS)"/>
                  <a:ea typeface="Calibri (MS)"/>
                  <a:cs typeface="Calibri (MS)"/>
                  <a:sym typeface="Calibri (MS)"/>
                </a:rPr>
                <a:t>Each community board snapshot shows:</a:t>
              </a:r>
            </a:p>
            <a:p>
              <a:pPr marL="777240" lvl="2" indent="-259080" algn="l">
                <a:lnSpc>
                  <a:spcPts val="2340"/>
                </a:lnSpc>
                <a:buFont typeface="Arial"/>
                <a:buChar char="⚬"/>
              </a:pPr>
              <a:r>
                <a:rPr lang="en-US" sz="1800" spc="59">
                  <a:solidFill>
                    <a:srgbClr val="FFFFFF"/>
                  </a:solidFill>
                  <a:latin typeface="Calibri (MS)"/>
                  <a:ea typeface="Calibri (MS)"/>
                  <a:cs typeface="Calibri (MS)"/>
                  <a:sym typeface="Calibri (MS)"/>
                </a:rPr>
                <a:t> State (locked or unlocked)</a:t>
              </a:r>
            </a:p>
            <a:p>
              <a:pPr marL="777240" lvl="2" indent="-259080" algn="l">
                <a:lnSpc>
                  <a:spcPts val="2340"/>
                </a:lnSpc>
                <a:buFont typeface="Arial"/>
                <a:buChar char="⚬"/>
              </a:pPr>
              <a:r>
                <a:rPr lang="en-US" sz="1800" spc="59">
                  <a:solidFill>
                    <a:srgbClr val="FFFFFF"/>
                  </a:solidFill>
                  <a:latin typeface="Calibri (MS)"/>
                  <a:ea typeface="Calibri (MS)"/>
                  <a:cs typeface="Calibri (MS)"/>
                  <a:sym typeface="Calibri (MS)"/>
                </a:rPr>
                <a:t>Image of Real Passport stamp</a:t>
              </a:r>
            </a:p>
            <a:p>
              <a:pPr marL="777240" lvl="2" indent="-259080" algn="l">
                <a:lnSpc>
                  <a:spcPts val="2340"/>
                </a:lnSpc>
                <a:buFont typeface="Arial"/>
                <a:buChar char="⚬"/>
              </a:pPr>
              <a:r>
                <a:rPr lang="en-US" sz="1800" spc="59">
                  <a:solidFill>
                    <a:srgbClr val="FFFFFF"/>
                  </a:solidFill>
                  <a:latin typeface="Calibri (MS)"/>
                  <a:ea typeface="Calibri (MS)"/>
                  <a:cs typeface="Calibri (MS)"/>
                  <a:sym typeface="Calibri (MS)"/>
                </a:rPr>
                <a:t>Friends who have posted </a:t>
              </a:r>
            </a:p>
            <a:p>
              <a:pPr marL="777240" lvl="2" indent="-259080" algn="l">
                <a:lnSpc>
                  <a:spcPts val="2340"/>
                </a:lnSpc>
                <a:buFont typeface="Arial"/>
                <a:buChar char="⚬"/>
              </a:pPr>
              <a:r>
                <a:rPr lang="en-US" sz="1800" spc="59">
                  <a:solidFill>
                    <a:srgbClr val="FFFFFF"/>
                  </a:solidFill>
                  <a:latin typeface="Calibri (MS)"/>
                  <a:ea typeface="Calibri (MS)"/>
                  <a:cs typeface="Calibri (MS)"/>
                  <a:sym typeface="Calibri (MS)"/>
                </a:rPr>
                <a:t>Number of Post </a:t>
              </a:r>
            </a:p>
          </p:txBody>
        </p:sp>
      </p:grpSp>
      <p:grpSp>
        <p:nvGrpSpPr>
          <p:cNvPr id="421" name="Group 421"/>
          <p:cNvGrpSpPr/>
          <p:nvPr/>
        </p:nvGrpSpPr>
        <p:grpSpPr>
          <a:xfrm>
            <a:off x="960120" y="2876066"/>
            <a:ext cx="6683359" cy="1303020"/>
            <a:chOff x="0" y="0"/>
            <a:chExt cx="8911146" cy="1737360"/>
          </a:xfrm>
        </p:grpSpPr>
        <p:grpSp>
          <p:nvGrpSpPr>
            <p:cNvPr id="422" name="Group 422"/>
            <p:cNvGrpSpPr/>
            <p:nvPr/>
          </p:nvGrpSpPr>
          <p:grpSpPr>
            <a:xfrm>
              <a:off x="0" y="0"/>
              <a:ext cx="5729027" cy="1737360"/>
              <a:chOff x="0" y="0"/>
              <a:chExt cx="5729027" cy="1737360"/>
            </a:xfrm>
          </p:grpSpPr>
          <p:sp>
            <p:nvSpPr>
              <p:cNvPr id="423" name="Freeform 423"/>
              <p:cNvSpPr/>
              <p:nvPr/>
            </p:nvSpPr>
            <p:spPr>
              <a:xfrm>
                <a:off x="0" y="0"/>
                <a:ext cx="5729027" cy="1737360"/>
              </a:xfrm>
              <a:custGeom>
                <a:avLst/>
                <a:gdLst/>
                <a:ahLst/>
                <a:cxnLst/>
                <a:rect l="l" t="t" r="r" b="b"/>
                <a:pathLst>
                  <a:path w="5729027" h="1737360">
                    <a:moveTo>
                      <a:pt x="0" y="0"/>
                    </a:moveTo>
                    <a:lnTo>
                      <a:pt x="5729027" y="0"/>
                    </a:lnTo>
                    <a:lnTo>
                      <a:pt x="5729027" y="1737360"/>
                    </a:lnTo>
                    <a:lnTo>
                      <a:pt x="0" y="1737360"/>
                    </a:lnTo>
                    <a:close/>
                  </a:path>
                </a:pathLst>
              </a:custGeom>
              <a:blipFill>
                <a:blip r:embed="rId3">
                  <a:alphaModFix amt="0"/>
                </a:blip>
                <a:stretch>
                  <a:fillRect t="-165360" r="-235177" b="-165360"/>
                </a:stretch>
              </a:blipFill>
            </p:spPr>
            <p:txBody>
              <a:bodyPr/>
              <a:lstStyle/>
              <a:p>
                <a:endParaRPr lang="en-US"/>
              </a:p>
            </p:txBody>
          </p:sp>
          <p:sp>
            <p:nvSpPr>
              <p:cNvPr id="424" name="TextBox 424"/>
              <p:cNvSpPr txBox="1"/>
              <p:nvPr/>
            </p:nvSpPr>
            <p:spPr>
              <a:xfrm>
                <a:off x="0" y="38100"/>
                <a:ext cx="5729027" cy="1699260"/>
              </a:xfrm>
              <a:prstGeom prst="rect">
                <a:avLst/>
              </a:prstGeom>
            </p:spPr>
            <p:txBody>
              <a:bodyPr lIns="0" tIns="0" rIns="0" bIns="0" rtlCol="0" anchor="ctr"/>
              <a:lstStyle/>
              <a:p>
                <a:pPr algn="l">
                  <a:lnSpc>
                    <a:spcPts val="5120"/>
                  </a:lnSpc>
                </a:pPr>
                <a:r>
                  <a:rPr lang="en-US" sz="4799" b="1">
                    <a:solidFill>
                      <a:srgbClr val="FFFFFF"/>
                    </a:solidFill>
                    <a:latin typeface="Arial Bold"/>
                    <a:ea typeface="Arial Bold"/>
                    <a:cs typeface="Arial Bold"/>
                    <a:sym typeface="Arial Bold"/>
                  </a:rPr>
                  <a:t>Today Screen </a:t>
                </a:r>
              </a:p>
            </p:txBody>
          </p:sp>
        </p:grpSp>
        <p:grpSp>
          <p:nvGrpSpPr>
            <p:cNvPr id="425" name="Group 425"/>
            <p:cNvGrpSpPr/>
            <p:nvPr/>
          </p:nvGrpSpPr>
          <p:grpSpPr>
            <a:xfrm>
              <a:off x="5558238" y="0"/>
              <a:ext cx="3352907" cy="1737360"/>
              <a:chOff x="0" y="0"/>
              <a:chExt cx="3352907" cy="1737360"/>
            </a:xfrm>
          </p:grpSpPr>
          <p:sp>
            <p:nvSpPr>
              <p:cNvPr id="426" name="Freeform 426"/>
              <p:cNvSpPr/>
              <p:nvPr/>
            </p:nvSpPr>
            <p:spPr>
              <a:xfrm>
                <a:off x="0" y="0"/>
                <a:ext cx="3352907" cy="1737360"/>
              </a:xfrm>
              <a:custGeom>
                <a:avLst/>
                <a:gdLst/>
                <a:ahLst/>
                <a:cxnLst/>
                <a:rect l="l" t="t" r="r" b="b"/>
                <a:pathLst>
                  <a:path w="3352907" h="1737360">
                    <a:moveTo>
                      <a:pt x="0" y="0"/>
                    </a:moveTo>
                    <a:lnTo>
                      <a:pt x="3352907" y="0"/>
                    </a:lnTo>
                    <a:lnTo>
                      <a:pt x="3352907" y="1737360"/>
                    </a:lnTo>
                    <a:lnTo>
                      <a:pt x="0" y="1737360"/>
                    </a:lnTo>
                    <a:close/>
                  </a:path>
                </a:pathLst>
              </a:custGeom>
              <a:blipFill>
                <a:blip r:embed="rId3">
                  <a:alphaModFix amt="0"/>
                </a:blip>
                <a:stretch>
                  <a:fillRect t="-165360" r="-472708" b="-165360"/>
                </a:stretch>
              </a:blipFill>
            </p:spPr>
            <p:txBody>
              <a:bodyPr/>
              <a:lstStyle/>
              <a:p>
                <a:endParaRPr lang="en-US"/>
              </a:p>
            </p:txBody>
          </p:sp>
          <p:sp>
            <p:nvSpPr>
              <p:cNvPr id="427" name="TextBox 427"/>
              <p:cNvSpPr txBox="1"/>
              <p:nvPr/>
            </p:nvSpPr>
            <p:spPr>
              <a:xfrm>
                <a:off x="0" y="9525"/>
                <a:ext cx="3352907" cy="1727835"/>
              </a:xfrm>
              <a:prstGeom prst="rect">
                <a:avLst/>
              </a:prstGeom>
            </p:spPr>
            <p:txBody>
              <a:bodyPr lIns="0" tIns="0" rIns="0" bIns="0" rtlCol="0" anchor="ctr"/>
              <a:lstStyle/>
              <a:p>
                <a:pPr algn="l">
                  <a:lnSpc>
                    <a:spcPts val="2453"/>
                  </a:lnSpc>
                </a:pPr>
                <a:r>
                  <a:rPr lang="en-US" sz="2300" b="1" i="1">
                    <a:solidFill>
                      <a:srgbClr val="FFFFFF"/>
                    </a:solidFill>
                    <a:latin typeface="Arial Bold Italics"/>
                    <a:ea typeface="Arial Bold Italics"/>
                    <a:cs typeface="Arial Bold Italics"/>
                    <a:sym typeface="Arial Bold Italics"/>
                  </a:rPr>
                  <a:t>(Returning User) </a:t>
                </a:r>
              </a:p>
            </p:txBody>
          </p:sp>
        </p:grpSp>
      </p:grpSp>
      <p:grpSp>
        <p:nvGrpSpPr>
          <p:cNvPr id="428" name="Group 428"/>
          <p:cNvGrpSpPr/>
          <p:nvPr/>
        </p:nvGrpSpPr>
        <p:grpSpPr>
          <a:xfrm>
            <a:off x="8677242" y="9263675"/>
            <a:ext cx="3600733" cy="681585"/>
            <a:chOff x="-108106" y="0"/>
            <a:chExt cx="5731677" cy="1084952"/>
          </a:xfrm>
        </p:grpSpPr>
        <p:sp>
          <p:nvSpPr>
            <p:cNvPr id="429" name="Freeform 429"/>
            <p:cNvSpPr/>
            <p:nvPr/>
          </p:nvSpPr>
          <p:spPr>
            <a:xfrm>
              <a:off x="0" y="0"/>
              <a:ext cx="5623571" cy="923552"/>
            </a:xfrm>
            <a:custGeom>
              <a:avLst/>
              <a:gdLst/>
              <a:ahLst/>
              <a:cxnLst/>
              <a:rect l="l" t="t" r="r" b="b"/>
              <a:pathLst>
                <a:path w="5623571" h="923552">
                  <a:moveTo>
                    <a:pt x="0" y="0"/>
                  </a:moveTo>
                  <a:lnTo>
                    <a:pt x="5623571" y="0"/>
                  </a:lnTo>
                  <a:lnTo>
                    <a:pt x="5623571" y="923552"/>
                  </a:lnTo>
                  <a:lnTo>
                    <a:pt x="0" y="923552"/>
                  </a:lnTo>
                  <a:close/>
                </a:path>
              </a:pathLst>
            </a:custGeom>
            <a:blipFill>
              <a:blip r:embed="rId3">
                <a:alphaModFix amt="0"/>
              </a:blip>
              <a:stretch>
                <a:fillRect t="-311072" r="-241462" b="-399189"/>
              </a:stretch>
            </a:blipFill>
          </p:spPr>
          <p:txBody>
            <a:bodyPr/>
            <a:lstStyle/>
            <a:p>
              <a:endParaRPr lang="en-US"/>
            </a:p>
          </p:txBody>
        </p:sp>
        <p:sp>
          <p:nvSpPr>
            <p:cNvPr id="430" name="TextBox 430"/>
            <p:cNvSpPr txBox="1"/>
            <p:nvPr/>
          </p:nvSpPr>
          <p:spPr>
            <a:xfrm>
              <a:off x="-108106" y="161400"/>
              <a:ext cx="5623571" cy="923552"/>
            </a:xfrm>
            <a:prstGeom prst="rect">
              <a:avLst/>
            </a:prstGeom>
          </p:spPr>
          <p:txBody>
            <a:bodyPr lIns="0" tIns="0" rIns="0" bIns="0" rtlCol="0" anchor="ctr"/>
            <a:lstStyle/>
            <a:p>
              <a:pPr algn="ctr">
                <a:lnSpc>
                  <a:spcPts val="1920"/>
                </a:lnSpc>
              </a:pPr>
              <a:r>
                <a:rPr lang="en-US" sz="1800" b="1" dirty="0">
                  <a:solidFill>
                    <a:srgbClr val="FFFFFF"/>
                  </a:solidFill>
                  <a:latin typeface="Arial Bold"/>
                  <a:ea typeface="Arial Bold"/>
                  <a:cs typeface="Arial Bold"/>
                  <a:sym typeface="Arial Bold"/>
                </a:rPr>
                <a:t>Daily Prompt </a:t>
              </a:r>
            </a:p>
          </p:txBody>
        </p:sp>
      </p:grpSp>
      <p:grpSp>
        <p:nvGrpSpPr>
          <p:cNvPr id="431" name="Group 431"/>
          <p:cNvGrpSpPr/>
          <p:nvPr/>
        </p:nvGrpSpPr>
        <p:grpSpPr>
          <a:xfrm>
            <a:off x="13503061" y="9258300"/>
            <a:ext cx="3970969" cy="655967"/>
            <a:chOff x="0" y="0"/>
            <a:chExt cx="6321021" cy="1044174"/>
          </a:xfrm>
        </p:grpSpPr>
        <p:sp>
          <p:nvSpPr>
            <p:cNvPr id="432" name="Freeform 432"/>
            <p:cNvSpPr/>
            <p:nvPr/>
          </p:nvSpPr>
          <p:spPr>
            <a:xfrm>
              <a:off x="0" y="0"/>
              <a:ext cx="6321021" cy="1044174"/>
            </a:xfrm>
            <a:custGeom>
              <a:avLst/>
              <a:gdLst/>
              <a:ahLst/>
              <a:cxnLst/>
              <a:rect l="l" t="t" r="r" b="b"/>
              <a:pathLst>
                <a:path w="6321021" h="1044174">
                  <a:moveTo>
                    <a:pt x="0" y="0"/>
                  </a:moveTo>
                  <a:lnTo>
                    <a:pt x="6321021" y="0"/>
                  </a:lnTo>
                  <a:lnTo>
                    <a:pt x="6321021" y="1044174"/>
                  </a:lnTo>
                  <a:lnTo>
                    <a:pt x="0" y="1044174"/>
                  </a:lnTo>
                  <a:close/>
                </a:path>
              </a:pathLst>
            </a:custGeom>
            <a:blipFill>
              <a:blip r:embed="rId3">
                <a:alphaModFix amt="0"/>
              </a:blip>
              <a:stretch>
                <a:fillRect t="-275137" r="-203786" b="-341523"/>
              </a:stretch>
            </a:blipFill>
          </p:spPr>
          <p:txBody>
            <a:bodyPr/>
            <a:lstStyle/>
            <a:p>
              <a:endParaRPr lang="en-US"/>
            </a:p>
          </p:txBody>
        </p:sp>
        <p:sp>
          <p:nvSpPr>
            <p:cNvPr id="433" name="TextBox 433"/>
            <p:cNvSpPr txBox="1"/>
            <p:nvPr/>
          </p:nvSpPr>
          <p:spPr>
            <a:xfrm>
              <a:off x="0" y="0"/>
              <a:ext cx="6321021" cy="1044174"/>
            </a:xfrm>
            <a:prstGeom prst="rect">
              <a:avLst/>
            </a:prstGeom>
          </p:spPr>
          <p:txBody>
            <a:bodyPr lIns="0" tIns="0" rIns="0" bIns="0" rtlCol="0" anchor="ctr"/>
            <a:lstStyle/>
            <a:p>
              <a:pPr algn="ctr">
                <a:lnSpc>
                  <a:spcPts val="1920"/>
                </a:lnSpc>
              </a:pPr>
              <a:r>
                <a:rPr lang="en-US" sz="1800" b="1">
                  <a:solidFill>
                    <a:srgbClr val="FFFFFF"/>
                  </a:solidFill>
                  <a:latin typeface="Arial Bold"/>
                  <a:ea typeface="Arial Bold"/>
                  <a:cs typeface="Arial Bold"/>
                  <a:sym typeface="Arial Bold"/>
                </a:rPr>
                <a:t>Snapshot</a:t>
              </a:r>
            </a:p>
          </p:txBody>
        </p:sp>
      </p:grpSp>
      <p:grpSp>
        <p:nvGrpSpPr>
          <p:cNvPr id="434" name="Group 434"/>
          <p:cNvGrpSpPr/>
          <p:nvPr/>
        </p:nvGrpSpPr>
        <p:grpSpPr>
          <a:xfrm>
            <a:off x="12552843" y="9405180"/>
            <a:ext cx="724412" cy="362206"/>
            <a:chOff x="0" y="0"/>
            <a:chExt cx="812800" cy="406400"/>
          </a:xfrm>
        </p:grpSpPr>
        <p:sp>
          <p:nvSpPr>
            <p:cNvPr id="435" name="Freeform 435"/>
            <p:cNvSpPr/>
            <p:nvPr/>
          </p:nvSpPr>
          <p:spPr>
            <a:xfrm>
              <a:off x="0" y="0"/>
              <a:ext cx="812800" cy="406400"/>
            </a:xfrm>
            <a:custGeom>
              <a:avLst/>
              <a:gdLst/>
              <a:ahLst/>
              <a:cxnLst/>
              <a:rect l="l" t="t" r="r" b="b"/>
              <a:pathLst>
                <a:path w="812800" h="406400">
                  <a:moveTo>
                    <a:pt x="0" y="0"/>
                  </a:moveTo>
                  <a:lnTo>
                    <a:pt x="609600" y="0"/>
                  </a:lnTo>
                  <a:lnTo>
                    <a:pt x="812800" y="203200"/>
                  </a:lnTo>
                  <a:lnTo>
                    <a:pt x="609600" y="406400"/>
                  </a:lnTo>
                  <a:lnTo>
                    <a:pt x="0" y="406400"/>
                  </a:lnTo>
                  <a:lnTo>
                    <a:pt x="203200" y="203200"/>
                  </a:lnTo>
                  <a:lnTo>
                    <a:pt x="0" y="0"/>
                  </a:lnTo>
                  <a:close/>
                </a:path>
              </a:pathLst>
            </a:custGeom>
            <a:solidFill>
              <a:srgbClr val="FFDE59"/>
            </a:solidFill>
          </p:spPr>
          <p:txBody>
            <a:bodyPr/>
            <a:lstStyle/>
            <a:p>
              <a:endParaRPr lang="en-US"/>
            </a:p>
          </p:txBody>
        </p:sp>
        <p:sp>
          <p:nvSpPr>
            <p:cNvPr id="436" name="TextBox 436"/>
            <p:cNvSpPr txBox="1"/>
            <p:nvPr/>
          </p:nvSpPr>
          <p:spPr>
            <a:xfrm>
              <a:off x="177800" y="-47625"/>
              <a:ext cx="558800" cy="454025"/>
            </a:xfrm>
            <a:prstGeom prst="rect">
              <a:avLst/>
            </a:prstGeom>
          </p:spPr>
          <p:txBody>
            <a:bodyPr lIns="50800" tIns="50800" rIns="50800" bIns="50800" rtlCol="0" anchor="ctr"/>
            <a:lstStyle/>
            <a:p>
              <a:pPr algn="ctr">
                <a:lnSpc>
                  <a:spcPts val="2340"/>
                </a:lnSpc>
              </a:pPr>
              <a:endParaRPr/>
            </a:p>
          </p:txBody>
        </p:sp>
      </p:grpSp>
      <p:grpSp>
        <p:nvGrpSpPr>
          <p:cNvPr id="437" name="Group 437"/>
          <p:cNvGrpSpPr/>
          <p:nvPr/>
        </p:nvGrpSpPr>
        <p:grpSpPr>
          <a:xfrm>
            <a:off x="12552843" y="4962397"/>
            <a:ext cx="724412" cy="362206"/>
            <a:chOff x="0" y="0"/>
            <a:chExt cx="812800" cy="406400"/>
          </a:xfrm>
        </p:grpSpPr>
        <p:sp>
          <p:nvSpPr>
            <p:cNvPr id="438" name="Freeform 438"/>
            <p:cNvSpPr/>
            <p:nvPr/>
          </p:nvSpPr>
          <p:spPr>
            <a:xfrm>
              <a:off x="0" y="0"/>
              <a:ext cx="812800" cy="406400"/>
            </a:xfrm>
            <a:custGeom>
              <a:avLst/>
              <a:gdLst/>
              <a:ahLst/>
              <a:cxnLst/>
              <a:rect l="l" t="t" r="r" b="b"/>
              <a:pathLst>
                <a:path w="812800" h="406400">
                  <a:moveTo>
                    <a:pt x="0" y="0"/>
                  </a:moveTo>
                  <a:lnTo>
                    <a:pt x="609600" y="0"/>
                  </a:lnTo>
                  <a:lnTo>
                    <a:pt x="812800" y="203200"/>
                  </a:lnTo>
                  <a:lnTo>
                    <a:pt x="609600" y="406400"/>
                  </a:lnTo>
                  <a:lnTo>
                    <a:pt x="0" y="406400"/>
                  </a:lnTo>
                  <a:lnTo>
                    <a:pt x="203200" y="203200"/>
                  </a:lnTo>
                  <a:lnTo>
                    <a:pt x="0" y="0"/>
                  </a:lnTo>
                  <a:close/>
                </a:path>
              </a:pathLst>
            </a:custGeom>
            <a:solidFill>
              <a:srgbClr val="FFDE59"/>
            </a:solidFill>
          </p:spPr>
          <p:txBody>
            <a:bodyPr/>
            <a:lstStyle/>
            <a:p>
              <a:endParaRPr lang="en-US"/>
            </a:p>
          </p:txBody>
        </p:sp>
        <p:sp>
          <p:nvSpPr>
            <p:cNvPr id="439" name="TextBox 439"/>
            <p:cNvSpPr txBox="1"/>
            <p:nvPr/>
          </p:nvSpPr>
          <p:spPr>
            <a:xfrm>
              <a:off x="177800" y="-47625"/>
              <a:ext cx="558800" cy="454025"/>
            </a:xfrm>
            <a:prstGeom prst="rect">
              <a:avLst/>
            </a:prstGeom>
          </p:spPr>
          <p:txBody>
            <a:bodyPr lIns="50800" tIns="50800" rIns="50800" bIns="50800" rtlCol="0" anchor="ctr"/>
            <a:lstStyle/>
            <a:p>
              <a:pPr algn="ctr">
                <a:lnSpc>
                  <a:spcPts val="2340"/>
                </a:lnSpc>
              </a:pPr>
              <a:endParaRPr/>
            </a:p>
          </p:txBody>
        </p:sp>
      </p:grpSp>
      <p:pic>
        <p:nvPicPr>
          <p:cNvPr id="441" name="Picture 440">
            <a:extLst>
              <a:ext uri="{FF2B5EF4-FFF2-40B4-BE49-F238E27FC236}">
                <a16:creationId xmlns:a16="http://schemas.microsoft.com/office/drawing/2014/main" id="{FEBDE941-309E-ABE4-B24D-4DE0D433BCFF}"/>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3411200" y="1009650"/>
            <a:ext cx="4191000" cy="8267700"/>
          </a:xfrm>
          <a:prstGeom prst="rect">
            <a:avLst/>
          </a:prstGeom>
        </p:spPr>
      </p:pic>
      <p:pic>
        <p:nvPicPr>
          <p:cNvPr id="443" name="Picture 442">
            <a:extLst>
              <a:ext uri="{FF2B5EF4-FFF2-40B4-BE49-F238E27FC236}">
                <a16:creationId xmlns:a16="http://schemas.microsoft.com/office/drawing/2014/main" id="{A1AD42E6-B3EE-E04A-126E-3225BB9B5875}"/>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8204427" y="1042988"/>
            <a:ext cx="4191000" cy="8267700"/>
          </a:xfrm>
          <a:prstGeom prst="rect">
            <a:avLst/>
          </a:prstGeom>
        </p:spPr>
      </p:pic>
      <p:grpSp>
        <p:nvGrpSpPr>
          <p:cNvPr id="14" name="Group 2">
            <a:extLst>
              <a:ext uri="{FF2B5EF4-FFF2-40B4-BE49-F238E27FC236}">
                <a16:creationId xmlns:a16="http://schemas.microsoft.com/office/drawing/2014/main" id="{B1372436-C123-38FE-D11F-DE2670972F76}"/>
              </a:ext>
            </a:extLst>
          </p:cNvPr>
          <p:cNvGrpSpPr/>
          <p:nvPr/>
        </p:nvGrpSpPr>
        <p:grpSpPr>
          <a:xfrm>
            <a:off x="960120" y="734066"/>
            <a:ext cx="10972800" cy="480060"/>
            <a:chOff x="0" y="0"/>
            <a:chExt cx="14630400" cy="640080"/>
          </a:xfrm>
        </p:grpSpPr>
        <p:sp>
          <p:nvSpPr>
            <p:cNvPr id="15" name="Freeform 3">
              <a:extLst>
                <a:ext uri="{FF2B5EF4-FFF2-40B4-BE49-F238E27FC236}">
                  <a16:creationId xmlns:a16="http://schemas.microsoft.com/office/drawing/2014/main" id="{94280446-ADAC-4D9F-687A-A4B9B4A1F053}"/>
                </a:ext>
              </a:extLst>
            </p:cNvPr>
            <p:cNvSpPr/>
            <p:nvPr/>
          </p:nvSpPr>
          <p:spPr>
            <a:xfrm>
              <a:off x="0" y="0"/>
              <a:ext cx="14630400" cy="640080"/>
            </a:xfrm>
            <a:custGeom>
              <a:avLst/>
              <a:gdLst/>
              <a:ahLst/>
              <a:cxnLst/>
              <a:rect l="l" t="t" r="r" b="b"/>
              <a:pathLst>
                <a:path w="14630400" h="640080">
                  <a:moveTo>
                    <a:pt x="0" y="0"/>
                  </a:moveTo>
                  <a:lnTo>
                    <a:pt x="14630400" y="0"/>
                  </a:lnTo>
                  <a:lnTo>
                    <a:pt x="14630400" y="640080"/>
                  </a:lnTo>
                  <a:lnTo>
                    <a:pt x="0" y="640080"/>
                  </a:lnTo>
                  <a:close/>
                </a:path>
              </a:pathLst>
            </a:custGeom>
            <a:blipFill>
              <a:blip r:embed="rId3">
                <a:alphaModFix amt="0"/>
              </a:blip>
              <a:stretch>
                <a:fillRect t="-395372" b="-395372"/>
              </a:stretch>
            </a:blipFill>
          </p:spPr>
          <p:txBody>
            <a:bodyPr/>
            <a:lstStyle/>
            <a:p>
              <a:endParaRPr lang="en-US"/>
            </a:p>
          </p:txBody>
        </p:sp>
        <p:sp>
          <p:nvSpPr>
            <p:cNvPr id="16" name="TextBox 4">
              <a:extLst>
                <a:ext uri="{FF2B5EF4-FFF2-40B4-BE49-F238E27FC236}">
                  <a16:creationId xmlns:a16="http://schemas.microsoft.com/office/drawing/2014/main" id="{7A43BA61-DB86-BCC6-7F34-3F92941D0258}"/>
                </a:ext>
              </a:extLst>
            </p:cNvPr>
            <p:cNvSpPr txBox="1"/>
            <p:nvPr/>
          </p:nvSpPr>
          <p:spPr>
            <a:xfrm>
              <a:off x="0" y="-19050"/>
              <a:ext cx="14630400" cy="659130"/>
            </a:xfrm>
            <a:prstGeom prst="rect">
              <a:avLst/>
            </a:prstGeom>
          </p:spPr>
          <p:txBody>
            <a:bodyPr lIns="0" tIns="0" rIns="0" bIns="0" rtlCol="0" anchor="ctr"/>
            <a:lstStyle/>
            <a:p>
              <a:pPr algn="l">
                <a:lnSpc>
                  <a:spcPts val="2160"/>
                </a:lnSpc>
              </a:pPr>
              <a:r>
                <a:rPr lang="en-US" sz="1800" b="1" spc="450" dirty="0">
                  <a:solidFill>
                    <a:srgbClr val="FFFFFF"/>
                  </a:solidFill>
                  <a:latin typeface="Arial Bold"/>
                  <a:ea typeface="Arial Bold"/>
                  <a:cs typeface="Arial Bold"/>
                  <a:sym typeface="Arial Bold"/>
                </a:rPr>
                <a:t>FEATURE CONCEPT - OCTOBER 2026</a:t>
              </a:r>
            </a:p>
          </p:txBody>
        </p:sp>
      </p:grpSp>
      <p:grpSp>
        <p:nvGrpSpPr>
          <p:cNvPr id="17" name="Group 5">
            <a:extLst>
              <a:ext uri="{FF2B5EF4-FFF2-40B4-BE49-F238E27FC236}">
                <a16:creationId xmlns:a16="http://schemas.microsoft.com/office/drawing/2014/main" id="{D7483EBA-68E7-044B-073E-75B849936995}"/>
              </a:ext>
            </a:extLst>
          </p:cNvPr>
          <p:cNvGrpSpPr/>
          <p:nvPr/>
        </p:nvGrpSpPr>
        <p:grpSpPr>
          <a:xfrm>
            <a:off x="960120" y="1214126"/>
            <a:ext cx="8183880" cy="718073"/>
            <a:chOff x="0" y="0"/>
            <a:chExt cx="10911840" cy="957431"/>
          </a:xfrm>
        </p:grpSpPr>
        <p:sp>
          <p:nvSpPr>
            <p:cNvPr id="18" name="Freeform 6">
              <a:extLst>
                <a:ext uri="{FF2B5EF4-FFF2-40B4-BE49-F238E27FC236}">
                  <a16:creationId xmlns:a16="http://schemas.microsoft.com/office/drawing/2014/main" id="{F2E1BBDD-2F2A-3DC2-666A-8ED9AA90E84A}"/>
                </a:ext>
              </a:extLst>
            </p:cNvPr>
            <p:cNvSpPr/>
            <p:nvPr/>
          </p:nvSpPr>
          <p:spPr>
            <a:xfrm>
              <a:off x="0" y="0"/>
              <a:ext cx="10911840" cy="957431"/>
            </a:xfrm>
            <a:custGeom>
              <a:avLst/>
              <a:gdLst/>
              <a:ahLst/>
              <a:cxnLst/>
              <a:rect l="l" t="t" r="r" b="b"/>
              <a:pathLst>
                <a:path w="10911840" h="957431">
                  <a:moveTo>
                    <a:pt x="0" y="0"/>
                  </a:moveTo>
                  <a:lnTo>
                    <a:pt x="10911840" y="0"/>
                  </a:lnTo>
                  <a:lnTo>
                    <a:pt x="10911840" y="957431"/>
                  </a:lnTo>
                  <a:lnTo>
                    <a:pt x="0" y="957431"/>
                  </a:lnTo>
                  <a:close/>
                </a:path>
              </a:pathLst>
            </a:custGeom>
            <a:blipFill>
              <a:blip r:embed="rId3">
                <a:alphaModFix amt="0"/>
              </a:blip>
              <a:stretch>
                <a:fillRect t="-300064" r="-75977" b="-381525"/>
              </a:stretch>
            </a:blipFill>
          </p:spPr>
          <p:txBody>
            <a:bodyPr/>
            <a:lstStyle/>
            <a:p>
              <a:endParaRPr lang="en-US"/>
            </a:p>
          </p:txBody>
        </p:sp>
        <p:sp>
          <p:nvSpPr>
            <p:cNvPr id="19" name="TextBox 7">
              <a:extLst>
                <a:ext uri="{FF2B5EF4-FFF2-40B4-BE49-F238E27FC236}">
                  <a16:creationId xmlns:a16="http://schemas.microsoft.com/office/drawing/2014/main" id="{C5B30416-E09B-CB74-E50A-18542426CCCA}"/>
                </a:ext>
              </a:extLst>
            </p:cNvPr>
            <p:cNvSpPr txBox="1"/>
            <p:nvPr/>
          </p:nvSpPr>
          <p:spPr>
            <a:xfrm>
              <a:off x="0" y="19050"/>
              <a:ext cx="10911840" cy="938381"/>
            </a:xfrm>
            <a:prstGeom prst="rect">
              <a:avLst/>
            </a:prstGeom>
          </p:spPr>
          <p:txBody>
            <a:bodyPr lIns="0" tIns="0" rIns="0" bIns="0" rtlCol="0" anchor="ctr"/>
            <a:lstStyle/>
            <a:p>
              <a:pPr algn="l">
                <a:lnSpc>
                  <a:spcPts val="3733"/>
                </a:lnSpc>
              </a:pPr>
              <a:r>
                <a:rPr lang="en-US" sz="3500" b="1">
                  <a:solidFill>
                    <a:srgbClr val="FFDE59"/>
                  </a:solidFill>
                  <a:latin typeface="Arial Bold"/>
                  <a:ea typeface="Arial Bold"/>
                  <a:cs typeface="Arial Bold"/>
                  <a:sym typeface="Arial Bold"/>
                </a:rPr>
                <a:t>BeReal.</a:t>
              </a:r>
            </a:p>
          </p:txBody>
        </p:sp>
      </p:grpSp>
      <p:grpSp>
        <p:nvGrpSpPr>
          <p:cNvPr id="20" name="Group 8">
            <a:extLst>
              <a:ext uri="{FF2B5EF4-FFF2-40B4-BE49-F238E27FC236}">
                <a16:creationId xmlns:a16="http://schemas.microsoft.com/office/drawing/2014/main" id="{9459A0D8-FEEF-003E-5F03-473F9FDB137D}"/>
              </a:ext>
            </a:extLst>
          </p:cNvPr>
          <p:cNvGrpSpPr/>
          <p:nvPr/>
        </p:nvGrpSpPr>
        <p:grpSpPr>
          <a:xfrm>
            <a:off x="960120" y="2114645"/>
            <a:ext cx="10972800" cy="480060"/>
            <a:chOff x="0" y="0"/>
            <a:chExt cx="14630400" cy="640080"/>
          </a:xfrm>
        </p:grpSpPr>
        <p:sp>
          <p:nvSpPr>
            <p:cNvPr id="21" name="Freeform 9">
              <a:extLst>
                <a:ext uri="{FF2B5EF4-FFF2-40B4-BE49-F238E27FC236}">
                  <a16:creationId xmlns:a16="http://schemas.microsoft.com/office/drawing/2014/main" id="{C25D21DA-7E43-80DC-76ED-711FDCF74710}"/>
                </a:ext>
              </a:extLst>
            </p:cNvPr>
            <p:cNvSpPr/>
            <p:nvPr/>
          </p:nvSpPr>
          <p:spPr>
            <a:xfrm>
              <a:off x="0" y="0"/>
              <a:ext cx="14630400" cy="640080"/>
            </a:xfrm>
            <a:custGeom>
              <a:avLst/>
              <a:gdLst/>
              <a:ahLst/>
              <a:cxnLst/>
              <a:rect l="l" t="t" r="r" b="b"/>
              <a:pathLst>
                <a:path w="14630400" h="640080">
                  <a:moveTo>
                    <a:pt x="0" y="0"/>
                  </a:moveTo>
                  <a:lnTo>
                    <a:pt x="14630400" y="0"/>
                  </a:lnTo>
                  <a:lnTo>
                    <a:pt x="14630400" y="640080"/>
                  </a:lnTo>
                  <a:lnTo>
                    <a:pt x="0" y="640080"/>
                  </a:lnTo>
                  <a:close/>
                </a:path>
              </a:pathLst>
            </a:custGeom>
            <a:blipFill>
              <a:blip r:embed="rId3">
                <a:alphaModFix amt="0"/>
              </a:blip>
              <a:stretch>
                <a:fillRect t="-395372" b="-395372"/>
              </a:stretch>
            </a:blipFill>
          </p:spPr>
          <p:txBody>
            <a:bodyPr/>
            <a:lstStyle/>
            <a:p>
              <a:endParaRPr lang="en-US"/>
            </a:p>
          </p:txBody>
        </p:sp>
        <p:sp>
          <p:nvSpPr>
            <p:cNvPr id="22" name="TextBox 10">
              <a:extLst>
                <a:ext uri="{FF2B5EF4-FFF2-40B4-BE49-F238E27FC236}">
                  <a16:creationId xmlns:a16="http://schemas.microsoft.com/office/drawing/2014/main" id="{0522033B-640B-FCB5-DBC4-D13A671A1815}"/>
                </a:ext>
              </a:extLst>
            </p:cNvPr>
            <p:cNvSpPr txBox="1"/>
            <p:nvPr/>
          </p:nvSpPr>
          <p:spPr>
            <a:xfrm>
              <a:off x="0" y="-19050"/>
              <a:ext cx="14630400" cy="659130"/>
            </a:xfrm>
            <a:prstGeom prst="rect">
              <a:avLst/>
            </a:prstGeom>
          </p:spPr>
          <p:txBody>
            <a:bodyPr lIns="0" tIns="0" rIns="0" bIns="0" rtlCol="0" anchor="ctr"/>
            <a:lstStyle/>
            <a:p>
              <a:pPr algn="l">
                <a:lnSpc>
                  <a:spcPts val="2160"/>
                </a:lnSpc>
              </a:pPr>
              <a:r>
                <a:rPr lang="en-US" sz="1800" b="1" spc="450">
                  <a:solidFill>
                    <a:srgbClr val="FFFFFF"/>
                  </a:solidFill>
                  <a:latin typeface="Arial Bold"/>
                  <a:ea typeface="Arial Bold"/>
                  <a:cs typeface="Arial Bold"/>
                  <a:sym typeface="Arial Bold"/>
                </a:rPr>
                <a:t>BEREAL PASSPORT &amp; COMMUNITY BOARDS</a:t>
              </a:r>
            </a:p>
          </p:txBody>
        </p:sp>
      </p:gr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0A0A0A"/>
        </a:solidFill>
        <a:effectLst/>
      </p:bgPr>
    </p:bg>
    <p:spTree>
      <p:nvGrpSpPr>
        <p:cNvPr id="1" name=""/>
        <p:cNvGrpSpPr/>
        <p:nvPr/>
      </p:nvGrpSpPr>
      <p:grpSpPr>
        <a:xfrm>
          <a:off x="0" y="0"/>
          <a:ext cx="0" cy="0"/>
          <a:chOff x="0" y="0"/>
          <a:chExt cx="0" cy="0"/>
        </a:xfrm>
      </p:grpSpPr>
      <p:grpSp>
        <p:nvGrpSpPr>
          <p:cNvPr id="11" name="Group 11"/>
          <p:cNvGrpSpPr/>
          <p:nvPr/>
        </p:nvGrpSpPr>
        <p:grpSpPr>
          <a:xfrm>
            <a:off x="960120" y="4179086"/>
            <a:ext cx="4296770" cy="3609179"/>
            <a:chOff x="0" y="0"/>
            <a:chExt cx="5729027" cy="4812238"/>
          </a:xfrm>
        </p:grpSpPr>
        <p:sp>
          <p:nvSpPr>
            <p:cNvPr id="12" name="Freeform 12"/>
            <p:cNvSpPr/>
            <p:nvPr/>
          </p:nvSpPr>
          <p:spPr>
            <a:xfrm>
              <a:off x="0" y="0"/>
              <a:ext cx="5729027" cy="4812238"/>
            </a:xfrm>
            <a:custGeom>
              <a:avLst/>
              <a:gdLst/>
              <a:ahLst/>
              <a:cxnLst/>
              <a:rect l="l" t="t" r="r" b="b"/>
              <a:pathLst>
                <a:path w="5729027" h="4812238">
                  <a:moveTo>
                    <a:pt x="0" y="0"/>
                  </a:moveTo>
                  <a:lnTo>
                    <a:pt x="5729027" y="0"/>
                  </a:lnTo>
                  <a:lnTo>
                    <a:pt x="5729027" y="4812238"/>
                  </a:lnTo>
                  <a:lnTo>
                    <a:pt x="0" y="4812238"/>
                  </a:lnTo>
                  <a:close/>
                </a:path>
              </a:pathLst>
            </a:custGeom>
            <a:blipFill>
              <a:blip r:embed="rId3">
                <a:alphaModFix amt="0"/>
              </a:blip>
              <a:stretch>
                <a:fillRect t="-52588" r="-155373" b="34110"/>
              </a:stretch>
            </a:blipFill>
          </p:spPr>
          <p:txBody>
            <a:bodyPr/>
            <a:lstStyle/>
            <a:p>
              <a:endParaRPr lang="en-US"/>
            </a:p>
          </p:txBody>
        </p:sp>
        <p:sp>
          <p:nvSpPr>
            <p:cNvPr id="13" name="TextBox 13"/>
            <p:cNvSpPr txBox="1"/>
            <p:nvPr/>
          </p:nvSpPr>
          <p:spPr>
            <a:xfrm>
              <a:off x="0" y="-57150"/>
              <a:ext cx="5729027" cy="4869388"/>
            </a:xfrm>
            <a:prstGeom prst="rect">
              <a:avLst/>
            </a:prstGeom>
          </p:spPr>
          <p:txBody>
            <a:bodyPr lIns="0" tIns="0" rIns="0" bIns="0" rtlCol="0" anchor="ctr"/>
            <a:lstStyle/>
            <a:p>
              <a:pPr marL="388620" lvl="1" indent="-194310" algn="l">
                <a:lnSpc>
                  <a:spcPts val="2340"/>
                </a:lnSpc>
                <a:buFont typeface="Arial"/>
                <a:buChar char="•"/>
              </a:pPr>
              <a:r>
                <a:rPr lang="en-US" sz="1800" b="1" spc="59">
                  <a:solidFill>
                    <a:srgbClr val="FFDE59"/>
                  </a:solidFill>
                  <a:latin typeface="Calibri (MS) Bold"/>
                  <a:ea typeface="Calibri (MS) Bold"/>
                  <a:cs typeface="Calibri (MS) Bold"/>
                  <a:sym typeface="Calibri (MS) Bold"/>
                </a:rPr>
                <a:t>MAU increase</a:t>
              </a:r>
            </a:p>
            <a:p>
              <a:pPr marL="388620" lvl="1" indent="-194310" algn="l">
                <a:lnSpc>
                  <a:spcPts val="2340"/>
                </a:lnSpc>
                <a:buFont typeface="Arial"/>
                <a:buChar char="•"/>
              </a:pPr>
              <a:r>
                <a:rPr lang="en-US" sz="1800" spc="59">
                  <a:solidFill>
                    <a:srgbClr val="FFFFFF"/>
                  </a:solidFill>
                  <a:latin typeface="Calibri (MS)"/>
                  <a:ea typeface="Calibri (MS)"/>
                  <a:cs typeface="Calibri (MS)"/>
                  <a:sym typeface="Calibri (MS)"/>
                </a:rPr>
                <a:t>Reminders </a:t>
              </a:r>
            </a:p>
            <a:p>
              <a:pPr marL="777240" lvl="2" indent="-259080" algn="l">
                <a:lnSpc>
                  <a:spcPts val="2340"/>
                </a:lnSpc>
                <a:buFont typeface="Arial"/>
                <a:buChar char="⚬"/>
              </a:pPr>
              <a:r>
                <a:rPr lang="en-US" sz="1800" spc="59">
                  <a:solidFill>
                    <a:srgbClr val="FFFFFF"/>
                  </a:solidFill>
                  <a:latin typeface="Calibri (MS)"/>
                  <a:ea typeface="Calibri (MS)"/>
                  <a:cs typeface="Calibri (MS)"/>
                  <a:sym typeface="Calibri (MS)"/>
                </a:rPr>
                <a:t>Friends Posted to Board</a:t>
              </a:r>
            </a:p>
            <a:p>
              <a:pPr marL="1165860" lvl="3" indent="-291465" algn="l">
                <a:lnSpc>
                  <a:spcPts val="2340"/>
                </a:lnSpc>
                <a:buFont typeface="Arial"/>
                <a:buChar char="￭"/>
              </a:pPr>
              <a:r>
                <a:rPr lang="en-US" sz="1800" spc="59">
                  <a:solidFill>
                    <a:srgbClr val="FFFFFF"/>
                  </a:solidFill>
                  <a:latin typeface="Calibri (MS)"/>
                  <a:ea typeface="Calibri (MS)"/>
                  <a:cs typeface="Calibri (MS)"/>
                  <a:sym typeface="Calibri (MS)"/>
                </a:rPr>
                <a:t>Social curiosity</a:t>
              </a:r>
            </a:p>
            <a:p>
              <a:pPr marL="777240" lvl="2" indent="-259080" algn="l">
                <a:lnSpc>
                  <a:spcPts val="2340"/>
                </a:lnSpc>
                <a:buFont typeface="Arial"/>
                <a:buChar char="⚬"/>
              </a:pPr>
              <a:r>
                <a:rPr lang="en-US" sz="1800" spc="59">
                  <a:solidFill>
                    <a:srgbClr val="FFFFFF"/>
                  </a:solidFill>
                  <a:latin typeface="Calibri (MS)"/>
                  <a:ea typeface="Calibri (MS)"/>
                  <a:cs typeface="Calibri (MS)"/>
                  <a:sym typeface="Calibri (MS)"/>
                </a:rPr>
                <a:t>Streaks</a:t>
              </a:r>
            </a:p>
            <a:p>
              <a:pPr marL="1165860" lvl="3" indent="-291465" algn="l">
                <a:lnSpc>
                  <a:spcPts val="2340"/>
                </a:lnSpc>
                <a:buFont typeface="Arial"/>
                <a:buChar char="￭"/>
              </a:pPr>
              <a:r>
                <a:rPr lang="en-US" sz="1800" spc="59">
                  <a:solidFill>
                    <a:srgbClr val="FFFFFF"/>
                  </a:solidFill>
                  <a:latin typeface="Calibri (MS)"/>
                  <a:ea typeface="Calibri (MS)"/>
                  <a:cs typeface="Calibri (MS)"/>
                  <a:sym typeface="Calibri (MS)"/>
                </a:rPr>
                <a:t>No loss framing</a:t>
              </a:r>
            </a:p>
            <a:p>
              <a:pPr marL="1165860" lvl="3" indent="-291465" algn="l">
                <a:lnSpc>
                  <a:spcPts val="2340"/>
                </a:lnSpc>
                <a:buFont typeface="Arial"/>
                <a:buChar char="￭"/>
              </a:pPr>
              <a:r>
                <a:rPr lang="en-US" sz="1800" spc="59">
                  <a:solidFill>
                    <a:srgbClr val="FFFFFF"/>
                  </a:solidFill>
                  <a:latin typeface="Calibri (MS)"/>
                  <a:ea typeface="Calibri (MS)"/>
                  <a:cs typeface="Calibri (MS)"/>
                  <a:sym typeface="Calibri (MS)"/>
                </a:rPr>
                <a:t>No streak-breaking guilt</a:t>
              </a:r>
            </a:p>
            <a:p>
              <a:pPr marL="777240" lvl="2" indent="-259080" algn="l">
                <a:lnSpc>
                  <a:spcPts val="2340"/>
                </a:lnSpc>
                <a:buFont typeface="Arial"/>
                <a:buChar char="⚬"/>
              </a:pPr>
              <a:r>
                <a:rPr lang="en-US" sz="1800" spc="59">
                  <a:solidFill>
                    <a:srgbClr val="FFFFFF"/>
                  </a:solidFill>
                  <a:latin typeface="Calibri (MS)"/>
                  <a:ea typeface="Calibri (MS)"/>
                  <a:cs typeface="Calibri (MS)"/>
                  <a:sym typeface="Calibri (MS)"/>
                </a:rPr>
                <a:t>Comeback banner</a:t>
              </a:r>
            </a:p>
            <a:p>
              <a:pPr marL="1165860" lvl="3" indent="-291465" algn="l">
                <a:lnSpc>
                  <a:spcPts val="2340"/>
                </a:lnSpc>
                <a:buFont typeface="Arial"/>
                <a:buChar char="￭"/>
              </a:pPr>
              <a:r>
                <a:rPr lang="en-US" sz="1800" spc="59">
                  <a:solidFill>
                    <a:srgbClr val="FFFFFF"/>
                  </a:solidFill>
                  <a:latin typeface="Calibri (MS)"/>
                  <a:ea typeface="Calibri (MS)"/>
                  <a:cs typeface="Calibri (MS)"/>
                  <a:sym typeface="Calibri (MS)"/>
                </a:rPr>
                <a:t>Sets up for tomorrow’s engagement</a:t>
              </a:r>
            </a:p>
            <a:p>
              <a:pPr marL="388620" lvl="1" indent="-194310" algn="l">
                <a:lnSpc>
                  <a:spcPts val="2340"/>
                </a:lnSpc>
                <a:buFont typeface="Arial"/>
                <a:buChar char="•"/>
              </a:pPr>
              <a:r>
                <a:rPr lang="en-US" sz="1800" spc="59">
                  <a:solidFill>
                    <a:srgbClr val="FFFFFF"/>
                  </a:solidFill>
                  <a:latin typeface="Calibri (MS)"/>
                  <a:ea typeface="Calibri (MS)"/>
                  <a:cs typeface="Calibri (MS)"/>
                  <a:sym typeface="Calibri (MS)"/>
                </a:rPr>
                <a:t>No pressure to post</a:t>
              </a:r>
            </a:p>
            <a:p>
              <a:pPr algn="l">
                <a:lnSpc>
                  <a:spcPts val="2340"/>
                </a:lnSpc>
              </a:pPr>
              <a:endParaRPr lang="en-US" sz="1800" spc="59">
                <a:solidFill>
                  <a:srgbClr val="FFFFFF"/>
                </a:solidFill>
                <a:latin typeface="Calibri (MS)"/>
                <a:ea typeface="Calibri (MS)"/>
                <a:cs typeface="Calibri (MS)"/>
                <a:sym typeface="Calibri (MS)"/>
              </a:endParaRPr>
            </a:p>
          </p:txBody>
        </p:sp>
      </p:grpSp>
      <p:grpSp>
        <p:nvGrpSpPr>
          <p:cNvPr id="14" name="Group 14"/>
          <p:cNvGrpSpPr/>
          <p:nvPr/>
        </p:nvGrpSpPr>
        <p:grpSpPr>
          <a:xfrm>
            <a:off x="960120" y="2876066"/>
            <a:ext cx="4296770" cy="1303020"/>
            <a:chOff x="0" y="0"/>
            <a:chExt cx="5729027" cy="1737360"/>
          </a:xfrm>
        </p:grpSpPr>
        <p:sp>
          <p:nvSpPr>
            <p:cNvPr id="15" name="Freeform 15"/>
            <p:cNvSpPr/>
            <p:nvPr/>
          </p:nvSpPr>
          <p:spPr>
            <a:xfrm>
              <a:off x="0" y="0"/>
              <a:ext cx="5729027" cy="1737360"/>
            </a:xfrm>
            <a:custGeom>
              <a:avLst/>
              <a:gdLst/>
              <a:ahLst/>
              <a:cxnLst/>
              <a:rect l="l" t="t" r="r" b="b"/>
              <a:pathLst>
                <a:path w="5729027" h="1737360">
                  <a:moveTo>
                    <a:pt x="0" y="0"/>
                  </a:moveTo>
                  <a:lnTo>
                    <a:pt x="5729027" y="0"/>
                  </a:lnTo>
                  <a:lnTo>
                    <a:pt x="5729027" y="1737360"/>
                  </a:lnTo>
                  <a:lnTo>
                    <a:pt x="0" y="1737360"/>
                  </a:lnTo>
                  <a:close/>
                </a:path>
              </a:pathLst>
            </a:custGeom>
            <a:blipFill>
              <a:blip r:embed="rId3">
                <a:alphaModFix amt="0"/>
              </a:blip>
              <a:stretch>
                <a:fillRect t="-165360" r="-235177" b="-165360"/>
              </a:stretch>
            </a:blipFill>
          </p:spPr>
          <p:txBody>
            <a:bodyPr/>
            <a:lstStyle/>
            <a:p>
              <a:endParaRPr lang="en-US"/>
            </a:p>
          </p:txBody>
        </p:sp>
        <p:sp>
          <p:nvSpPr>
            <p:cNvPr id="16" name="TextBox 16"/>
            <p:cNvSpPr txBox="1"/>
            <p:nvPr/>
          </p:nvSpPr>
          <p:spPr>
            <a:xfrm>
              <a:off x="0" y="38100"/>
              <a:ext cx="5729027" cy="1699260"/>
            </a:xfrm>
            <a:prstGeom prst="rect">
              <a:avLst/>
            </a:prstGeom>
          </p:spPr>
          <p:txBody>
            <a:bodyPr lIns="0" tIns="0" rIns="0" bIns="0" rtlCol="0" anchor="ctr"/>
            <a:lstStyle/>
            <a:p>
              <a:pPr algn="l">
                <a:lnSpc>
                  <a:spcPts val="5120"/>
                </a:lnSpc>
              </a:pPr>
              <a:r>
                <a:rPr lang="en-US" sz="4799" b="1">
                  <a:solidFill>
                    <a:srgbClr val="FFFFFF"/>
                  </a:solidFill>
                  <a:latin typeface="Arial Bold"/>
                  <a:ea typeface="Arial Bold"/>
                  <a:cs typeface="Arial Bold"/>
                  <a:sym typeface="Arial Bold"/>
                </a:rPr>
                <a:t>Reminders </a:t>
              </a:r>
            </a:p>
          </p:txBody>
        </p:sp>
      </p:grpSp>
      <p:grpSp>
        <p:nvGrpSpPr>
          <p:cNvPr id="17" name="Group 17"/>
          <p:cNvGrpSpPr/>
          <p:nvPr/>
        </p:nvGrpSpPr>
        <p:grpSpPr>
          <a:xfrm>
            <a:off x="5303729" y="3070291"/>
            <a:ext cx="3225514" cy="6382234"/>
            <a:chOff x="0" y="0"/>
            <a:chExt cx="4300685" cy="8509645"/>
          </a:xfrm>
        </p:grpSpPr>
        <p:grpSp>
          <p:nvGrpSpPr>
            <p:cNvPr id="18" name="Group 18"/>
            <p:cNvGrpSpPr>
              <a:grpSpLocks noChangeAspect="1"/>
            </p:cNvGrpSpPr>
            <p:nvPr/>
          </p:nvGrpSpPr>
          <p:grpSpPr>
            <a:xfrm>
              <a:off x="0" y="0"/>
              <a:ext cx="4300685" cy="8509645"/>
              <a:chOff x="0" y="0"/>
              <a:chExt cx="2620010" cy="5184140"/>
            </a:xfrm>
          </p:grpSpPr>
          <p:sp>
            <p:nvSpPr>
              <p:cNvPr id="19" name="Freeform 19"/>
              <p:cNvSpPr/>
              <p:nvPr/>
            </p:nvSpPr>
            <p:spPr>
              <a:xfrm>
                <a:off x="53340" y="25400"/>
                <a:ext cx="2513330" cy="5132070"/>
              </a:xfrm>
              <a:custGeom>
                <a:avLst/>
                <a:gdLst/>
                <a:ahLst/>
                <a:cxnLst/>
                <a:rect l="l" t="t" r="r" b="b"/>
                <a:pathLst>
                  <a:path w="2513330" h="5132070">
                    <a:moveTo>
                      <a:pt x="2159000" y="0"/>
                    </a:moveTo>
                    <a:lnTo>
                      <a:pt x="354330" y="0"/>
                    </a:lnTo>
                    <a:cubicBezTo>
                      <a:pt x="158750" y="0"/>
                      <a:pt x="0" y="158750"/>
                      <a:pt x="0" y="354330"/>
                    </a:cubicBezTo>
                    <a:lnTo>
                      <a:pt x="0" y="4777740"/>
                    </a:lnTo>
                    <a:cubicBezTo>
                      <a:pt x="0" y="4973320"/>
                      <a:pt x="158750" y="5132070"/>
                      <a:pt x="354330" y="5132070"/>
                    </a:cubicBezTo>
                    <a:lnTo>
                      <a:pt x="2159000" y="5132070"/>
                    </a:lnTo>
                    <a:cubicBezTo>
                      <a:pt x="2354580" y="5132070"/>
                      <a:pt x="2513330" y="4973320"/>
                      <a:pt x="2513330" y="4777740"/>
                    </a:cubicBezTo>
                    <a:lnTo>
                      <a:pt x="2513330" y="354330"/>
                    </a:lnTo>
                    <a:cubicBezTo>
                      <a:pt x="2513330" y="158750"/>
                      <a:pt x="2354580" y="0"/>
                      <a:pt x="2159000" y="0"/>
                    </a:cubicBezTo>
                    <a:close/>
                    <a:moveTo>
                      <a:pt x="1558290" y="162560"/>
                    </a:moveTo>
                    <a:cubicBezTo>
                      <a:pt x="1576070" y="162560"/>
                      <a:pt x="1590040" y="176530"/>
                      <a:pt x="1590040" y="194310"/>
                    </a:cubicBezTo>
                    <a:cubicBezTo>
                      <a:pt x="1590040" y="212090"/>
                      <a:pt x="1576070" y="226060"/>
                      <a:pt x="1558290" y="226060"/>
                    </a:cubicBezTo>
                    <a:cubicBezTo>
                      <a:pt x="1540510" y="226060"/>
                      <a:pt x="1526540" y="212090"/>
                      <a:pt x="1526540" y="194310"/>
                    </a:cubicBezTo>
                    <a:cubicBezTo>
                      <a:pt x="1526540" y="176530"/>
                      <a:pt x="1541780" y="162560"/>
                      <a:pt x="1558290" y="162560"/>
                    </a:cubicBezTo>
                    <a:close/>
                    <a:moveTo>
                      <a:pt x="1089660" y="172720"/>
                    </a:moveTo>
                    <a:lnTo>
                      <a:pt x="1394460" y="172720"/>
                    </a:lnTo>
                    <a:cubicBezTo>
                      <a:pt x="1405890" y="172720"/>
                      <a:pt x="1416050" y="181610"/>
                      <a:pt x="1416050" y="194310"/>
                    </a:cubicBezTo>
                    <a:cubicBezTo>
                      <a:pt x="1416050" y="207010"/>
                      <a:pt x="1405890" y="215900"/>
                      <a:pt x="1394460" y="215900"/>
                    </a:cubicBezTo>
                    <a:lnTo>
                      <a:pt x="1089660" y="215900"/>
                    </a:lnTo>
                    <a:cubicBezTo>
                      <a:pt x="1078230" y="215900"/>
                      <a:pt x="1068070" y="207010"/>
                      <a:pt x="1068070" y="194310"/>
                    </a:cubicBezTo>
                    <a:cubicBezTo>
                      <a:pt x="1068070" y="181610"/>
                      <a:pt x="1078230" y="172720"/>
                      <a:pt x="1089660" y="172720"/>
                    </a:cubicBezTo>
                    <a:close/>
                    <a:moveTo>
                      <a:pt x="2383790" y="4798060"/>
                    </a:moveTo>
                    <a:cubicBezTo>
                      <a:pt x="2383790" y="4913630"/>
                      <a:pt x="2289810" y="5007610"/>
                      <a:pt x="2174240" y="5007610"/>
                    </a:cubicBezTo>
                    <a:lnTo>
                      <a:pt x="341630" y="5007610"/>
                    </a:lnTo>
                    <a:cubicBezTo>
                      <a:pt x="226060" y="5007610"/>
                      <a:pt x="132080" y="4913630"/>
                      <a:pt x="132080" y="4798060"/>
                    </a:cubicBezTo>
                    <a:lnTo>
                      <a:pt x="132080" y="340360"/>
                    </a:lnTo>
                    <a:cubicBezTo>
                      <a:pt x="132080" y="224790"/>
                      <a:pt x="226060" y="130810"/>
                      <a:pt x="341630" y="130810"/>
                    </a:cubicBezTo>
                    <a:lnTo>
                      <a:pt x="614680" y="130810"/>
                    </a:lnTo>
                    <a:lnTo>
                      <a:pt x="614680" y="187960"/>
                    </a:lnTo>
                    <a:cubicBezTo>
                      <a:pt x="614680" y="252730"/>
                      <a:pt x="668020" y="306070"/>
                      <a:pt x="732790" y="306070"/>
                    </a:cubicBezTo>
                    <a:lnTo>
                      <a:pt x="1783080" y="306070"/>
                    </a:lnTo>
                    <a:cubicBezTo>
                      <a:pt x="1847850" y="306070"/>
                      <a:pt x="1901190" y="252730"/>
                      <a:pt x="1901190" y="187960"/>
                    </a:cubicBezTo>
                    <a:lnTo>
                      <a:pt x="1901190" y="130810"/>
                    </a:lnTo>
                    <a:lnTo>
                      <a:pt x="2172970" y="130810"/>
                    </a:lnTo>
                    <a:cubicBezTo>
                      <a:pt x="2288540" y="130810"/>
                      <a:pt x="2382520" y="224790"/>
                      <a:pt x="2382520" y="340360"/>
                    </a:cubicBezTo>
                    <a:lnTo>
                      <a:pt x="2382520" y="4798060"/>
                    </a:lnTo>
                    <a:close/>
                  </a:path>
                </a:pathLst>
              </a:custGeom>
              <a:solidFill>
                <a:srgbClr val="000000"/>
              </a:solidFill>
            </p:spPr>
            <p:txBody>
              <a:bodyPr/>
              <a:lstStyle/>
              <a:p>
                <a:endParaRPr lang="en-US"/>
              </a:p>
            </p:txBody>
          </p:sp>
          <p:sp>
            <p:nvSpPr>
              <p:cNvPr id="20" name="Freeform 20"/>
              <p:cNvSpPr/>
              <p:nvPr/>
            </p:nvSpPr>
            <p:spPr>
              <a:xfrm>
                <a:off x="185420" y="156210"/>
                <a:ext cx="2250453" cy="4876800"/>
              </a:xfrm>
              <a:custGeom>
                <a:avLst/>
                <a:gdLst/>
                <a:ahLst/>
                <a:cxnLst/>
                <a:rect l="l" t="t" r="r" b="b"/>
                <a:pathLst>
                  <a:path w="2250453" h="4876800">
                    <a:moveTo>
                      <a:pt x="2040890" y="0"/>
                    </a:moveTo>
                    <a:lnTo>
                      <a:pt x="1769110" y="0"/>
                    </a:lnTo>
                    <a:lnTo>
                      <a:pt x="1769110" y="57150"/>
                    </a:lnTo>
                    <a:cubicBezTo>
                      <a:pt x="1769110" y="121920"/>
                      <a:pt x="1715770" y="175260"/>
                      <a:pt x="1651000" y="175260"/>
                    </a:cubicBezTo>
                    <a:lnTo>
                      <a:pt x="601980" y="175260"/>
                    </a:lnTo>
                    <a:cubicBezTo>
                      <a:pt x="537210" y="175260"/>
                      <a:pt x="483870" y="121920"/>
                      <a:pt x="483870" y="57150"/>
                    </a:cubicBezTo>
                    <a:lnTo>
                      <a:pt x="483870" y="0"/>
                    </a:lnTo>
                    <a:lnTo>
                      <a:pt x="209550" y="0"/>
                    </a:lnTo>
                    <a:cubicBezTo>
                      <a:pt x="93980" y="0"/>
                      <a:pt x="0" y="93980"/>
                      <a:pt x="0" y="209550"/>
                    </a:cubicBezTo>
                    <a:lnTo>
                      <a:pt x="0" y="4667250"/>
                    </a:lnTo>
                    <a:cubicBezTo>
                      <a:pt x="0" y="4782820"/>
                      <a:pt x="93980" y="4876800"/>
                      <a:pt x="209550" y="4876800"/>
                    </a:cubicBezTo>
                    <a:lnTo>
                      <a:pt x="2040890" y="4876800"/>
                    </a:lnTo>
                    <a:cubicBezTo>
                      <a:pt x="2156460" y="4876800"/>
                      <a:pt x="2250440" y="4782820"/>
                      <a:pt x="2250440" y="4667250"/>
                    </a:cubicBezTo>
                    <a:lnTo>
                      <a:pt x="2250440" y="209550"/>
                    </a:lnTo>
                    <a:cubicBezTo>
                      <a:pt x="2251710" y="93980"/>
                      <a:pt x="2157730" y="0"/>
                      <a:pt x="2040890" y="0"/>
                    </a:cubicBezTo>
                    <a:close/>
                  </a:path>
                </a:pathLst>
              </a:custGeom>
              <a:blipFill>
                <a:blip r:embed="rId3"/>
                <a:stretch>
                  <a:fillRect l="-245588" t="-3203" r="-245531" b="-3098"/>
                </a:stretch>
              </a:blipFill>
            </p:spPr>
            <p:txBody>
              <a:bodyPr/>
              <a:lstStyle/>
              <a:p>
                <a:endParaRPr lang="en-US"/>
              </a:p>
            </p:txBody>
          </p:sp>
          <p:sp>
            <p:nvSpPr>
              <p:cNvPr id="21" name="Freeform 21"/>
              <p:cNvSpPr/>
              <p:nvPr/>
            </p:nvSpPr>
            <p:spPr>
              <a:xfrm>
                <a:off x="1121410" y="198120"/>
                <a:ext cx="347980" cy="43180"/>
              </a:xfrm>
              <a:custGeom>
                <a:avLst/>
                <a:gdLst/>
                <a:ahLst/>
                <a:cxnLst/>
                <a:rect l="l" t="t" r="r" b="b"/>
                <a:pathLst>
                  <a:path w="347980" h="43180">
                    <a:moveTo>
                      <a:pt x="326390" y="0"/>
                    </a:moveTo>
                    <a:lnTo>
                      <a:pt x="21590" y="0"/>
                    </a:lnTo>
                    <a:cubicBezTo>
                      <a:pt x="10160" y="0"/>
                      <a:pt x="0" y="8890"/>
                      <a:pt x="0" y="21590"/>
                    </a:cubicBezTo>
                    <a:cubicBezTo>
                      <a:pt x="0" y="34290"/>
                      <a:pt x="10160" y="43180"/>
                      <a:pt x="21590" y="43180"/>
                    </a:cubicBezTo>
                    <a:lnTo>
                      <a:pt x="326390" y="43180"/>
                    </a:lnTo>
                    <a:cubicBezTo>
                      <a:pt x="337820" y="43180"/>
                      <a:pt x="347980" y="34290"/>
                      <a:pt x="347980" y="21590"/>
                    </a:cubicBezTo>
                    <a:cubicBezTo>
                      <a:pt x="347980" y="8890"/>
                      <a:pt x="337820" y="0"/>
                      <a:pt x="326390" y="0"/>
                    </a:cubicBezTo>
                    <a:close/>
                  </a:path>
                </a:pathLst>
              </a:custGeom>
              <a:solidFill>
                <a:srgbClr val="606060"/>
              </a:solidFill>
            </p:spPr>
            <p:txBody>
              <a:bodyPr/>
              <a:lstStyle/>
              <a:p>
                <a:endParaRPr lang="en-US"/>
              </a:p>
            </p:txBody>
          </p:sp>
          <p:sp>
            <p:nvSpPr>
              <p:cNvPr id="22" name="Freeform 22"/>
              <p:cNvSpPr/>
              <p:nvPr/>
            </p:nvSpPr>
            <p:spPr>
              <a:xfrm>
                <a:off x="1579738" y="187960"/>
                <a:ext cx="63785" cy="63501"/>
              </a:xfrm>
              <a:custGeom>
                <a:avLst/>
                <a:gdLst/>
                <a:ahLst/>
                <a:cxnLst/>
                <a:rect l="l" t="t" r="r" b="b"/>
                <a:pathLst>
                  <a:path w="63785" h="63501">
                    <a:moveTo>
                      <a:pt x="31892" y="0"/>
                    </a:moveTo>
                    <a:cubicBezTo>
                      <a:pt x="20515" y="-51"/>
                      <a:pt x="9980" y="5989"/>
                      <a:pt x="4277" y="15834"/>
                    </a:cubicBezTo>
                    <a:cubicBezTo>
                      <a:pt x="-1426" y="25678"/>
                      <a:pt x="-1426" y="37822"/>
                      <a:pt x="4277" y="47666"/>
                    </a:cubicBezTo>
                    <a:cubicBezTo>
                      <a:pt x="9980" y="57511"/>
                      <a:pt x="20515" y="63551"/>
                      <a:pt x="31892" y="63500"/>
                    </a:cubicBezTo>
                    <a:cubicBezTo>
                      <a:pt x="43269" y="63551"/>
                      <a:pt x="53804" y="57511"/>
                      <a:pt x="59507" y="47666"/>
                    </a:cubicBezTo>
                    <a:cubicBezTo>
                      <a:pt x="65210" y="37822"/>
                      <a:pt x="65210" y="25678"/>
                      <a:pt x="59507" y="15834"/>
                    </a:cubicBezTo>
                    <a:cubicBezTo>
                      <a:pt x="53804" y="5989"/>
                      <a:pt x="43269" y="-51"/>
                      <a:pt x="31892" y="0"/>
                    </a:cubicBezTo>
                    <a:close/>
                  </a:path>
                </a:pathLst>
              </a:custGeom>
              <a:solidFill>
                <a:srgbClr val="606060"/>
              </a:solidFill>
            </p:spPr>
            <p:txBody>
              <a:bodyPr/>
              <a:lstStyle/>
              <a:p>
                <a:endParaRPr lang="en-US"/>
              </a:p>
            </p:txBody>
          </p:sp>
          <p:sp>
            <p:nvSpPr>
              <p:cNvPr id="23" name="Freeform 23"/>
              <p:cNvSpPr/>
              <p:nvPr/>
            </p:nvSpPr>
            <p:spPr>
              <a:xfrm>
                <a:off x="0" y="685800"/>
                <a:ext cx="27940" cy="213360"/>
              </a:xfrm>
              <a:custGeom>
                <a:avLst/>
                <a:gdLst/>
                <a:ahLst/>
                <a:cxnLst/>
                <a:rect l="l" t="t" r="r" b="b"/>
                <a:pathLst>
                  <a:path w="27940" h="213360">
                    <a:moveTo>
                      <a:pt x="0" y="26670"/>
                    </a:moveTo>
                    <a:lnTo>
                      <a:pt x="0" y="185420"/>
                    </a:lnTo>
                    <a:cubicBezTo>
                      <a:pt x="0" y="200660"/>
                      <a:pt x="12700" y="213360"/>
                      <a:pt x="27940" y="213360"/>
                    </a:cubicBezTo>
                    <a:lnTo>
                      <a:pt x="27940" y="0"/>
                    </a:lnTo>
                    <a:cubicBezTo>
                      <a:pt x="12700" y="0"/>
                      <a:pt x="0" y="11430"/>
                      <a:pt x="0" y="26670"/>
                    </a:cubicBezTo>
                    <a:close/>
                  </a:path>
                </a:pathLst>
              </a:custGeom>
              <a:solidFill>
                <a:srgbClr val="B8B8B8"/>
              </a:solidFill>
            </p:spPr>
            <p:txBody>
              <a:bodyPr/>
              <a:lstStyle/>
              <a:p>
                <a:endParaRPr lang="en-US"/>
              </a:p>
            </p:txBody>
          </p:sp>
          <p:sp>
            <p:nvSpPr>
              <p:cNvPr id="24" name="Freeform 24"/>
              <p:cNvSpPr/>
              <p:nvPr/>
            </p:nvSpPr>
            <p:spPr>
              <a:xfrm>
                <a:off x="0" y="1057910"/>
                <a:ext cx="27940" cy="384810"/>
              </a:xfrm>
              <a:custGeom>
                <a:avLst/>
                <a:gdLst/>
                <a:ahLst/>
                <a:cxnLst/>
                <a:rect l="l" t="t" r="r" b="b"/>
                <a:pathLst>
                  <a:path w="27940" h="384810">
                    <a:moveTo>
                      <a:pt x="0" y="26670"/>
                    </a:moveTo>
                    <a:lnTo>
                      <a:pt x="0" y="356870"/>
                    </a:lnTo>
                    <a:cubicBezTo>
                      <a:pt x="0" y="372110"/>
                      <a:pt x="12700" y="384810"/>
                      <a:pt x="27940" y="384810"/>
                    </a:cubicBezTo>
                    <a:lnTo>
                      <a:pt x="27940" y="0"/>
                    </a:lnTo>
                    <a:cubicBezTo>
                      <a:pt x="12700" y="0"/>
                      <a:pt x="0" y="11430"/>
                      <a:pt x="0" y="26670"/>
                    </a:cubicBezTo>
                    <a:close/>
                  </a:path>
                </a:pathLst>
              </a:custGeom>
              <a:solidFill>
                <a:srgbClr val="B8B8B8"/>
              </a:solidFill>
            </p:spPr>
            <p:txBody>
              <a:bodyPr/>
              <a:lstStyle/>
              <a:p>
                <a:endParaRPr lang="en-US"/>
              </a:p>
            </p:txBody>
          </p:sp>
          <p:sp>
            <p:nvSpPr>
              <p:cNvPr id="25" name="Freeform 25"/>
              <p:cNvSpPr/>
              <p:nvPr/>
            </p:nvSpPr>
            <p:spPr>
              <a:xfrm>
                <a:off x="0" y="1526540"/>
                <a:ext cx="27940" cy="386080"/>
              </a:xfrm>
              <a:custGeom>
                <a:avLst/>
                <a:gdLst/>
                <a:ahLst/>
                <a:cxnLst/>
                <a:rect l="l" t="t" r="r" b="b"/>
                <a:pathLst>
                  <a:path w="27940" h="386080">
                    <a:moveTo>
                      <a:pt x="0" y="27940"/>
                    </a:moveTo>
                    <a:lnTo>
                      <a:pt x="0" y="358140"/>
                    </a:lnTo>
                    <a:cubicBezTo>
                      <a:pt x="0" y="373380"/>
                      <a:pt x="12700" y="386080"/>
                      <a:pt x="27940" y="386080"/>
                    </a:cubicBezTo>
                    <a:lnTo>
                      <a:pt x="27940" y="0"/>
                    </a:lnTo>
                    <a:cubicBezTo>
                      <a:pt x="12700" y="0"/>
                      <a:pt x="0" y="12700"/>
                      <a:pt x="0" y="27940"/>
                    </a:cubicBezTo>
                    <a:close/>
                  </a:path>
                </a:pathLst>
              </a:custGeom>
              <a:solidFill>
                <a:srgbClr val="B8B8B8"/>
              </a:solidFill>
            </p:spPr>
            <p:txBody>
              <a:bodyPr/>
              <a:lstStyle/>
              <a:p>
                <a:endParaRPr lang="en-US"/>
              </a:p>
            </p:txBody>
          </p:sp>
          <p:sp>
            <p:nvSpPr>
              <p:cNvPr id="26" name="Freeform 26"/>
              <p:cNvSpPr/>
              <p:nvPr/>
            </p:nvSpPr>
            <p:spPr>
              <a:xfrm>
                <a:off x="2592070" y="1184910"/>
                <a:ext cx="27940" cy="618490"/>
              </a:xfrm>
              <a:custGeom>
                <a:avLst/>
                <a:gdLst/>
                <a:ahLst/>
                <a:cxnLst/>
                <a:rect l="l" t="t" r="r" b="b"/>
                <a:pathLst>
                  <a:path w="27940" h="618490">
                    <a:moveTo>
                      <a:pt x="0" y="0"/>
                    </a:moveTo>
                    <a:lnTo>
                      <a:pt x="0" y="618490"/>
                    </a:lnTo>
                    <a:cubicBezTo>
                      <a:pt x="15240" y="618490"/>
                      <a:pt x="27940" y="605790"/>
                      <a:pt x="27940" y="590550"/>
                    </a:cubicBezTo>
                    <a:lnTo>
                      <a:pt x="27940" y="27940"/>
                    </a:lnTo>
                    <a:cubicBezTo>
                      <a:pt x="27940" y="12700"/>
                      <a:pt x="15240" y="0"/>
                      <a:pt x="0" y="0"/>
                    </a:cubicBezTo>
                    <a:close/>
                  </a:path>
                </a:pathLst>
              </a:custGeom>
              <a:solidFill>
                <a:srgbClr val="B8B8B8"/>
              </a:solidFill>
            </p:spPr>
            <p:txBody>
              <a:bodyPr/>
              <a:lstStyle/>
              <a:p>
                <a:endParaRPr lang="en-US"/>
              </a:p>
            </p:txBody>
          </p:sp>
          <p:sp>
            <p:nvSpPr>
              <p:cNvPr id="27" name="Freeform 27"/>
              <p:cNvSpPr/>
              <p:nvPr/>
            </p:nvSpPr>
            <p:spPr>
              <a:xfrm>
                <a:off x="27940" y="0"/>
                <a:ext cx="2564130" cy="5182870"/>
              </a:xfrm>
              <a:custGeom>
                <a:avLst/>
                <a:gdLst/>
                <a:ahLst/>
                <a:cxnLst/>
                <a:rect l="l" t="t" r="r" b="b"/>
                <a:pathLst>
                  <a:path w="2564130" h="5182870">
                    <a:moveTo>
                      <a:pt x="2564130" y="1184910"/>
                    </a:moveTo>
                    <a:lnTo>
                      <a:pt x="2564130" y="379730"/>
                    </a:lnTo>
                    <a:cubicBezTo>
                      <a:pt x="2564130" y="353060"/>
                      <a:pt x="2561590" y="327660"/>
                      <a:pt x="2556510" y="303530"/>
                    </a:cubicBezTo>
                    <a:cubicBezTo>
                      <a:pt x="2553970" y="290830"/>
                      <a:pt x="2551430" y="279400"/>
                      <a:pt x="2547620" y="266700"/>
                    </a:cubicBezTo>
                    <a:cubicBezTo>
                      <a:pt x="2542540" y="248920"/>
                      <a:pt x="2534920" y="231140"/>
                      <a:pt x="2527300" y="214630"/>
                    </a:cubicBezTo>
                    <a:cubicBezTo>
                      <a:pt x="2522220" y="203200"/>
                      <a:pt x="2515870" y="193040"/>
                      <a:pt x="2509520" y="182880"/>
                    </a:cubicBezTo>
                    <a:cubicBezTo>
                      <a:pt x="2503170" y="172720"/>
                      <a:pt x="2496820" y="162560"/>
                      <a:pt x="2489200" y="152400"/>
                    </a:cubicBezTo>
                    <a:cubicBezTo>
                      <a:pt x="2477770" y="137160"/>
                      <a:pt x="2466340" y="124460"/>
                      <a:pt x="2453640" y="110490"/>
                    </a:cubicBezTo>
                    <a:cubicBezTo>
                      <a:pt x="2444750" y="101600"/>
                      <a:pt x="2435860" y="93980"/>
                      <a:pt x="2426970" y="86360"/>
                    </a:cubicBezTo>
                    <a:cubicBezTo>
                      <a:pt x="2360930" y="31750"/>
                      <a:pt x="2277110" y="0"/>
                      <a:pt x="2185670" y="0"/>
                    </a:cubicBezTo>
                    <a:lnTo>
                      <a:pt x="379730" y="0"/>
                    </a:lnTo>
                    <a:cubicBezTo>
                      <a:pt x="288290" y="0"/>
                      <a:pt x="203200" y="33020"/>
                      <a:pt x="138430" y="86360"/>
                    </a:cubicBezTo>
                    <a:cubicBezTo>
                      <a:pt x="129540" y="93980"/>
                      <a:pt x="120650" y="102870"/>
                      <a:pt x="111760" y="110490"/>
                    </a:cubicBezTo>
                    <a:cubicBezTo>
                      <a:pt x="99060" y="123190"/>
                      <a:pt x="86360" y="137160"/>
                      <a:pt x="76200" y="152400"/>
                    </a:cubicBezTo>
                    <a:cubicBezTo>
                      <a:pt x="68580" y="162560"/>
                      <a:pt x="62230" y="172720"/>
                      <a:pt x="55880" y="182880"/>
                    </a:cubicBezTo>
                    <a:cubicBezTo>
                      <a:pt x="49530" y="193040"/>
                      <a:pt x="43180" y="204470"/>
                      <a:pt x="38100" y="214630"/>
                    </a:cubicBezTo>
                    <a:cubicBezTo>
                      <a:pt x="29210" y="232410"/>
                      <a:pt x="22860" y="248920"/>
                      <a:pt x="16510" y="266700"/>
                    </a:cubicBezTo>
                    <a:cubicBezTo>
                      <a:pt x="12700" y="279400"/>
                      <a:pt x="10160" y="290830"/>
                      <a:pt x="7620" y="303530"/>
                    </a:cubicBezTo>
                    <a:cubicBezTo>
                      <a:pt x="2540" y="327660"/>
                      <a:pt x="0" y="354330"/>
                      <a:pt x="0" y="379730"/>
                    </a:cubicBezTo>
                    <a:lnTo>
                      <a:pt x="0" y="4803140"/>
                    </a:lnTo>
                    <a:cubicBezTo>
                      <a:pt x="0" y="5012690"/>
                      <a:pt x="170180" y="5182870"/>
                      <a:pt x="379730" y="5182870"/>
                    </a:cubicBezTo>
                    <a:lnTo>
                      <a:pt x="2184400" y="5182870"/>
                    </a:lnTo>
                    <a:cubicBezTo>
                      <a:pt x="2393950" y="5182870"/>
                      <a:pt x="2564130" y="5012690"/>
                      <a:pt x="2564130" y="4803140"/>
                    </a:cubicBezTo>
                    <a:lnTo>
                      <a:pt x="2564130" y="1184910"/>
                    </a:lnTo>
                    <a:close/>
                    <a:moveTo>
                      <a:pt x="2538730" y="1184910"/>
                    </a:moveTo>
                    <a:lnTo>
                      <a:pt x="2538730" y="4804410"/>
                    </a:lnTo>
                    <a:cubicBezTo>
                      <a:pt x="2538730" y="4999990"/>
                      <a:pt x="2379980" y="5158740"/>
                      <a:pt x="2184400" y="5158740"/>
                    </a:cubicBezTo>
                    <a:lnTo>
                      <a:pt x="379730" y="5158740"/>
                    </a:lnTo>
                    <a:cubicBezTo>
                      <a:pt x="184150" y="5158740"/>
                      <a:pt x="25400" y="4999990"/>
                      <a:pt x="25400" y="4804410"/>
                    </a:cubicBezTo>
                    <a:lnTo>
                      <a:pt x="25400" y="381000"/>
                    </a:lnTo>
                    <a:cubicBezTo>
                      <a:pt x="25400" y="184150"/>
                      <a:pt x="184150" y="25400"/>
                      <a:pt x="379730" y="25400"/>
                    </a:cubicBezTo>
                    <a:lnTo>
                      <a:pt x="2184400" y="25400"/>
                    </a:lnTo>
                    <a:cubicBezTo>
                      <a:pt x="2379980" y="25400"/>
                      <a:pt x="2538730" y="184150"/>
                      <a:pt x="2538730" y="379730"/>
                    </a:cubicBezTo>
                    <a:lnTo>
                      <a:pt x="2538730" y="1184910"/>
                    </a:lnTo>
                    <a:close/>
                  </a:path>
                </a:pathLst>
              </a:custGeom>
              <a:solidFill>
                <a:srgbClr val="E9E9E9"/>
              </a:solidFill>
            </p:spPr>
            <p:txBody>
              <a:bodyPr/>
              <a:lstStyle/>
              <a:p>
                <a:endParaRPr lang="en-US"/>
              </a:p>
            </p:txBody>
          </p:sp>
        </p:grpSp>
        <p:grpSp>
          <p:nvGrpSpPr>
            <p:cNvPr id="28" name="Group 28"/>
            <p:cNvGrpSpPr/>
            <p:nvPr/>
          </p:nvGrpSpPr>
          <p:grpSpPr>
            <a:xfrm>
              <a:off x="101887" y="124666"/>
              <a:ext cx="3925499" cy="8220234"/>
              <a:chOff x="0" y="0"/>
              <a:chExt cx="1005423" cy="2105417"/>
            </a:xfrm>
          </p:grpSpPr>
          <p:sp>
            <p:nvSpPr>
              <p:cNvPr id="29" name="Freeform 29"/>
              <p:cNvSpPr/>
              <p:nvPr/>
            </p:nvSpPr>
            <p:spPr>
              <a:xfrm>
                <a:off x="0" y="0"/>
                <a:ext cx="1005423" cy="2105417"/>
              </a:xfrm>
              <a:custGeom>
                <a:avLst/>
                <a:gdLst/>
                <a:ahLst/>
                <a:cxnLst/>
                <a:rect l="l" t="t" r="r" b="b"/>
                <a:pathLst>
                  <a:path w="1005423" h="2105417">
                    <a:moveTo>
                      <a:pt x="103429" y="0"/>
                    </a:moveTo>
                    <a:lnTo>
                      <a:pt x="901994" y="0"/>
                    </a:lnTo>
                    <a:cubicBezTo>
                      <a:pt x="959116" y="0"/>
                      <a:pt x="1005423" y="46307"/>
                      <a:pt x="1005423" y="103429"/>
                    </a:cubicBezTo>
                    <a:lnTo>
                      <a:pt x="1005423" y="2001988"/>
                    </a:lnTo>
                    <a:cubicBezTo>
                      <a:pt x="1005423" y="2059110"/>
                      <a:pt x="959116" y="2105417"/>
                      <a:pt x="901994" y="2105417"/>
                    </a:cubicBezTo>
                    <a:lnTo>
                      <a:pt x="103429" y="2105417"/>
                    </a:lnTo>
                    <a:cubicBezTo>
                      <a:pt x="46307" y="2105417"/>
                      <a:pt x="0" y="2059110"/>
                      <a:pt x="0" y="2001988"/>
                    </a:cubicBezTo>
                    <a:lnTo>
                      <a:pt x="0" y="103429"/>
                    </a:lnTo>
                    <a:cubicBezTo>
                      <a:pt x="0" y="46307"/>
                      <a:pt x="46307" y="0"/>
                      <a:pt x="103429" y="0"/>
                    </a:cubicBezTo>
                    <a:close/>
                  </a:path>
                </a:pathLst>
              </a:custGeom>
              <a:solidFill>
                <a:srgbClr val="141414"/>
              </a:solidFill>
            </p:spPr>
            <p:txBody>
              <a:bodyPr/>
              <a:lstStyle/>
              <a:p>
                <a:endParaRPr lang="en-US"/>
              </a:p>
            </p:txBody>
          </p:sp>
          <p:sp>
            <p:nvSpPr>
              <p:cNvPr id="30" name="TextBox 30"/>
              <p:cNvSpPr txBox="1"/>
              <p:nvPr/>
            </p:nvSpPr>
            <p:spPr>
              <a:xfrm>
                <a:off x="0" y="-47625"/>
                <a:ext cx="1005423" cy="2153042"/>
              </a:xfrm>
              <a:prstGeom prst="rect">
                <a:avLst/>
              </a:prstGeom>
            </p:spPr>
            <p:txBody>
              <a:bodyPr lIns="50800" tIns="50800" rIns="50800" bIns="50800" rtlCol="0" anchor="ctr"/>
              <a:lstStyle/>
              <a:p>
                <a:pPr algn="ctr">
                  <a:lnSpc>
                    <a:spcPts val="2339"/>
                  </a:lnSpc>
                </a:pPr>
                <a:endParaRPr/>
              </a:p>
            </p:txBody>
          </p:sp>
        </p:grpSp>
        <p:grpSp>
          <p:nvGrpSpPr>
            <p:cNvPr id="31" name="Group 31"/>
            <p:cNvGrpSpPr/>
            <p:nvPr/>
          </p:nvGrpSpPr>
          <p:grpSpPr>
            <a:xfrm>
              <a:off x="125592" y="74448"/>
              <a:ext cx="4049501" cy="8270452"/>
              <a:chOff x="0" y="0"/>
              <a:chExt cx="666980" cy="1362199"/>
            </a:xfrm>
          </p:grpSpPr>
          <p:sp>
            <p:nvSpPr>
              <p:cNvPr id="32" name="Freeform 32"/>
              <p:cNvSpPr/>
              <p:nvPr/>
            </p:nvSpPr>
            <p:spPr>
              <a:xfrm>
                <a:off x="0" y="0"/>
                <a:ext cx="666980" cy="1362199"/>
              </a:xfrm>
              <a:custGeom>
                <a:avLst/>
                <a:gdLst/>
                <a:ahLst/>
                <a:cxnLst/>
                <a:rect l="l" t="t" r="r" b="b"/>
                <a:pathLst>
                  <a:path w="666980" h="1362199">
                    <a:moveTo>
                      <a:pt x="125819" y="0"/>
                    </a:moveTo>
                    <a:lnTo>
                      <a:pt x="541161" y="0"/>
                    </a:lnTo>
                    <a:cubicBezTo>
                      <a:pt x="610649" y="0"/>
                      <a:pt x="666980" y="56331"/>
                      <a:pt x="666980" y="125819"/>
                    </a:cubicBezTo>
                    <a:lnTo>
                      <a:pt x="666980" y="1236380"/>
                    </a:lnTo>
                    <a:cubicBezTo>
                      <a:pt x="666980" y="1305868"/>
                      <a:pt x="610649" y="1362199"/>
                      <a:pt x="541161" y="1362199"/>
                    </a:cubicBezTo>
                    <a:lnTo>
                      <a:pt x="125819" y="1362199"/>
                    </a:lnTo>
                    <a:cubicBezTo>
                      <a:pt x="56331" y="1362199"/>
                      <a:pt x="0" y="1305868"/>
                      <a:pt x="0" y="1236380"/>
                    </a:cubicBezTo>
                    <a:lnTo>
                      <a:pt x="0" y="125819"/>
                    </a:lnTo>
                    <a:cubicBezTo>
                      <a:pt x="0" y="56331"/>
                      <a:pt x="56331" y="0"/>
                      <a:pt x="125819" y="0"/>
                    </a:cubicBezTo>
                    <a:close/>
                  </a:path>
                </a:pathLst>
              </a:custGeom>
              <a:blipFill>
                <a:blip r:embed="rId4"/>
                <a:stretch>
                  <a:fillRect l="-52116" r="-52116"/>
                </a:stretch>
              </a:blipFill>
            </p:spPr>
            <p:txBody>
              <a:bodyPr/>
              <a:lstStyle/>
              <a:p>
                <a:endParaRPr lang="en-US"/>
              </a:p>
            </p:txBody>
          </p:sp>
        </p:grpSp>
        <p:grpSp>
          <p:nvGrpSpPr>
            <p:cNvPr id="33" name="Group 33"/>
            <p:cNvGrpSpPr/>
            <p:nvPr/>
          </p:nvGrpSpPr>
          <p:grpSpPr>
            <a:xfrm>
              <a:off x="1243723" y="232687"/>
              <a:ext cx="1641826" cy="382679"/>
              <a:chOff x="0" y="0"/>
              <a:chExt cx="420515" cy="98014"/>
            </a:xfrm>
          </p:grpSpPr>
          <p:sp>
            <p:nvSpPr>
              <p:cNvPr id="34" name="Freeform 34"/>
              <p:cNvSpPr/>
              <p:nvPr/>
            </p:nvSpPr>
            <p:spPr>
              <a:xfrm>
                <a:off x="0" y="0"/>
                <a:ext cx="420515" cy="98014"/>
              </a:xfrm>
              <a:custGeom>
                <a:avLst/>
                <a:gdLst/>
                <a:ahLst/>
                <a:cxnLst/>
                <a:rect l="l" t="t" r="r" b="b"/>
                <a:pathLst>
                  <a:path w="420515" h="98014">
                    <a:moveTo>
                      <a:pt x="49007" y="0"/>
                    </a:moveTo>
                    <a:lnTo>
                      <a:pt x="371508" y="0"/>
                    </a:lnTo>
                    <a:cubicBezTo>
                      <a:pt x="398573" y="0"/>
                      <a:pt x="420515" y="21941"/>
                      <a:pt x="420515" y="49007"/>
                    </a:cubicBezTo>
                    <a:lnTo>
                      <a:pt x="420515" y="49007"/>
                    </a:lnTo>
                    <a:cubicBezTo>
                      <a:pt x="420515" y="62005"/>
                      <a:pt x="415351" y="74470"/>
                      <a:pt x="406161" y="83660"/>
                    </a:cubicBezTo>
                    <a:cubicBezTo>
                      <a:pt x="396970" y="92851"/>
                      <a:pt x="384505" y="98014"/>
                      <a:pt x="371508" y="98014"/>
                    </a:cubicBezTo>
                    <a:lnTo>
                      <a:pt x="49007" y="98014"/>
                    </a:lnTo>
                    <a:cubicBezTo>
                      <a:pt x="21941" y="98014"/>
                      <a:pt x="0" y="76073"/>
                      <a:pt x="0" y="49007"/>
                    </a:cubicBezTo>
                    <a:lnTo>
                      <a:pt x="0" y="49007"/>
                    </a:lnTo>
                    <a:cubicBezTo>
                      <a:pt x="0" y="21941"/>
                      <a:pt x="21941" y="0"/>
                      <a:pt x="49007" y="0"/>
                    </a:cubicBezTo>
                    <a:close/>
                  </a:path>
                </a:pathLst>
              </a:custGeom>
              <a:solidFill>
                <a:srgbClr val="2B2B2B"/>
              </a:solidFill>
            </p:spPr>
            <p:txBody>
              <a:bodyPr/>
              <a:lstStyle/>
              <a:p>
                <a:endParaRPr lang="en-US"/>
              </a:p>
            </p:txBody>
          </p:sp>
          <p:sp>
            <p:nvSpPr>
              <p:cNvPr id="35" name="TextBox 35"/>
              <p:cNvSpPr txBox="1"/>
              <p:nvPr/>
            </p:nvSpPr>
            <p:spPr>
              <a:xfrm>
                <a:off x="0" y="-47625"/>
                <a:ext cx="420515" cy="145639"/>
              </a:xfrm>
              <a:prstGeom prst="rect">
                <a:avLst/>
              </a:prstGeom>
            </p:spPr>
            <p:txBody>
              <a:bodyPr lIns="50800" tIns="50800" rIns="50800" bIns="50800" rtlCol="0" anchor="ctr"/>
              <a:lstStyle/>
              <a:p>
                <a:pPr algn="ctr">
                  <a:lnSpc>
                    <a:spcPts val="2339"/>
                  </a:lnSpc>
                </a:pPr>
                <a:endParaRPr/>
              </a:p>
            </p:txBody>
          </p:sp>
        </p:grpSp>
        <p:sp>
          <p:nvSpPr>
            <p:cNvPr id="36" name="Freeform 36"/>
            <p:cNvSpPr/>
            <p:nvPr/>
          </p:nvSpPr>
          <p:spPr>
            <a:xfrm>
              <a:off x="2556529" y="306454"/>
              <a:ext cx="194605" cy="194605"/>
            </a:xfrm>
            <a:custGeom>
              <a:avLst/>
              <a:gdLst/>
              <a:ahLst/>
              <a:cxnLst/>
              <a:rect l="l" t="t" r="r" b="b"/>
              <a:pathLst>
                <a:path w="194605" h="194605">
                  <a:moveTo>
                    <a:pt x="0" y="0"/>
                  </a:moveTo>
                  <a:lnTo>
                    <a:pt x="194605" y="0"/>
                  </a:lnTo>
                  <a:lnTo>
                    <a:pt x="194605" y="194605"/>
                  </a:lnTo>
                  <a:lnTo>
                    <a:pt x="0" y="194605"/>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en-US"/>
            </a:p>
          </p:txBody>
        </p:sp>
        <p:sp>
          <p:nvSpPr>
            <p:cNvPr id="37" name="Freeform 37"/>
            <p:cNvSpPr/>
            <p:nvPr/>
          </p:nvSpPr>
          <p:spPr>
            <a:xfrm>
              <a:off x="1402768" y="290611"/>
              <a:ext cx="159536" cy="226292"/>
            </a:xfrm>
            <a:custGeom>
              <a:avLst/>
              <a:gdLst/>
              <a:ahLst/>
              <a:cxnLst/>
              <a:rect l="l" t="t" r="r" b="b"/>
              <a:pathLst>
                <a:path w="159536" h="226292">
                  <a:moveTo>
                    <a:pt x="0" y="0"/>
                  </a:moveTo>
                  <a:lnTo>
                    <a:pt x="159535" y="0"/>
                  </a:lnTo>
                  <a:lnTo>
                    <a:pt x="159535" y="226291"/>
                  </a:lnTo>
                  <a:lnTo>
                    <a:pt x="0" y="226291"/>
                  </a:lnTo>
                  <a:lnTo>
                    <a:pt x="0" y="0"/>
                  </a:lnTo>
                  <a:close/>
                </a:path>
              </a:pathLst>
            </a:custGeom>
            <a:blipFill>
              <a:blip>
                <a:extLst>
                  <a:ext uri="{96DAC541-7B7A-43D3-8B79-37D633B846F1}">
                    <asvg:svgBlip xmlns:asvg="http://schemas.microsoft.com/office/drawing/2016/SVG/main" r:embed="rId6"/>
                  </a:ext>
                </a:extLst>
              </a:blip>
              <a:stretch>
                <a:fillRect/>
              </a:stretch>
            </a:blipFill>
          </p:spPr>
          <p:txBody>
            <a:bodyPr/>
            <a:lstStyle/>
            <a:p>
              <a:endParaRPr lang="en-US"/>
            </a:p>
          </p:txBody>
        </p:sp>
        <p:sp>
          <p:nvSpPr>
            <p:cNvPr id="38" name="Freeform 38"/>
            <p:cNvSpPr/>
            <p:nvPr/>
          </p:nvSpPr>
          <p:spPr>
            <a:xfrm>
              <a:off x="754570" y="7956753"/>
              <a:ext cx="2791546" cy="251239"/>
            </a:xfrm>
            <a:custGeom>
              <a:avLst/>
              <a:gdLst/>
              <a:ahLst/>
              <a:cxnLst/>
              <a:rect l="l" t="t" r="r" b="b"/>
              <a:pathLst>
                <a:path w="2791546" h="251239">
                  <a:moveTo>
                    <a:pt x="0" y="0"/>
                  </a:moveTo>
                  <a:lnTo>
                    <a:pt x="2791546" y="0"/>
                  </a:lnTo>
                  <a:lnTo>
                    <a:pt x="2791546" y="251239"/>
                  </a:lnTo>
                  <a:lnTo>
                    <a:pt x="0" y="251239"/>
                  </a:lnTo>
                  <a:lnTo>
                    <a:pt x="0" y="0"/>
                  </a:lnTo>
                  <a:close/>
                </a:path>
              </a:pathLst>
            </a:custGeom>
            <a:blipFill>
              <a:blip>
                <a:extLst>
                  <a:ext uri="{96DAC541-7B7A-43D3-8B79-37D633B846F1}">
                    <asvg:svgBlip xmlns:asvg="http://schemas.microsoft.com/office/drawing/2016/SVG/main" r:embed="rId7"/>
                  </a:ext>
                </a:extLst>
              </a:blip>
              <a:stretch>
                <a:fillRect/>
              </a:stretch>
            </a:blipFill>
          </p:spPr>
          <p:txBody>
            <a:bodyPr/>
            <a:lstStyle/>
            <a:p>
              <a:endParaRPr lang="en-US"/>
            </a:p>
          </p:txBody>
        </p:sp>
        <p:sp>
          <p:nvSpPr>
            <p:cNvPr id="39" name="Freeform 39"/>
            <p:cNvSpPr/>
            <p:nvPr/>
          </p:nvSpPr>
          <p:spPr>
            <a:xfrm>
              <a:off x="3086531" y="134742"/>
              <a:ext cx="625715" cy="625715"/>
            </a:xfrm>
            <a:custGeom>
              <a:avLst/>
              <a:gdLst/>
              <a:ahLst/>
              <a:cxnLst/>
              <a:rect l="l" t="t" r="r" b="b"/>
              <a:pathLst>
                <a:path w="625715" h="625715">
                  <a:moveTo>
                    <a:pt x="0" y="0"/>
                  </a:moveTo>
                  <a:lnTo>
                    <a:pt x="625715" y="0"/>
                  </a:lnTo>
                  <a:lnTo>
                    <a:pt x="625715" y="625714"/>
                  </a:lnTo>
                  <a:lnTo>
                    <a:pt x="0" y="625714"/>
                  </a:lnTo>
                  <a:lnTo>
                    <a:pt x="0" y="0"/>
                  </a:lnTo>
                  <a:close/>
                </a:path>
              </a:pathLst>
            </a:custGeom>
            <a:blipFill>
              <a:blip>
                <a:extLst>
                  <a:ext uri="{96DAC541-7B7A-43D3-8B79-37D633B846F1}">
                    <asvg:svgBlip xmlns:asvg="http://schemas.microsoft.com/office/drawing/2016/SVG/main" r:embed="rId8"/>
                  </a:ext>
                </a:extLst>
              </a:blip>
              <a:stretch>
                <a:fillRect/>
              </a:stretch>
            </a:blipFill>
          </p:spPr>
          <p:txBody>
            <a:bodyPr/>
            <a:lstStyle/>
            <a:p>
              <a:endParaRPr lang="en-US"/>
            </a:p>
          </p:txBody>
        </p:sp>
        <p:sp>
          <p:nvSpPr>
            <p:cNvPr id="40" name="Freeform 40"/>
            <p:cNvSpPr/>
            <p:nvPr/>
          </p:nvSpPr>
          <p:spPr>
            <a:xfrm>
              <a:off x="3308866" y="333014"/>
              <a:ext cx="181045" cy="229171"/>
            </a:xfrm>
            <a:custGeom>
              <a:avLst/>
              <a:gdLst/>
              <a:ahLst/>
              <a:cxnLst/>
              <a:rect l="l" t="t" r="r" b="b"/>
              <a:pathLst>
                <a:path w="181045" h="229171">
                  <a:moveTo>
                    <a:pt x="0" y="0"/>
                  </a:moveTo>
                  <a:lnTo>
                    <a:pt x="181045" y="0"/>
                  </a:lnTo>
                  <a:lnTo>
                    <a:pt x="181045" y="229170"/>
                  </a:lnTo>
                  <a:lnTo>
                    <a:pt x="0" y="229170"/>
                  </a:lnTo>
                  <a:lnTo>
                    <a:pt x="0" y="0"/>
                  </a:lnTo>
                  <a:close/>
                </a:path>
              </a:pathLst>
            </a:custGeom>
            <a:blipFill>
              <a:blip>
                <a:extLst>
                  <a:ext uri="{96DAC541-7B7A-43D3-8B79-37D633B846F1}">
                    <asvg:svgBlip xmlns:asvg="http://schemas.microsoft.com/office/drawing/2016/SVG/main" r:embed="rId9"/>
                  </a:ext>
                </a:extLst>
              </a:blip>
              <a:stretch>
                <a:fillRect/>
              </a:stretch>
            </a:blipFill>
          </p:spPr>
          <p:txBody>
            <a:bodyPr/>
            <a:lstStyle/>
            <a:p>
              <a:endParaRPr lang="en-US"/>
            </a:p>
          </p:txBody>
        </p:sp>
        <p:grpSp>
          <p:nvGrpSpPr>
            <p:cNvPr id="41" name="Group 41"/>
            <p:cNvGrpSpPr/>
            <p:nvPr/>
          </p:nvGrpSpPr>
          <p:grpSpPr>
            <a:xfrm>
              <a:off x="728241" y="4356288"/>
              <a:ext cx="2671148" cy="903830"/>
              <a:chOff x="0" y="0"/>
              <a:chExt cx="581580" cy="196788"/>
            </a:xfrm>
          </p:grpSpPr>
          <p:sp>
            <p:nvSpPr>
              <p:cNvPr id="42" name="Freeform 42"/>
              <p:cNvSpPr/>
              <p:nvPr/>
            </p:nvSpPr>
            <p:spPr>
              <a:xfrm>
                <a:off x="0" y="0"/>
                <a:ext cx="581580" cy="196788"/>
              </a:xfrm>
              <a:custGeom>
                <a:avLst/>
                <a:gdLst/>
                <a:ahLst/>
                <a:cxnLst/>
                <a:rect l="l" t="t" r="r" b="b"/>
                <a:pathLst>
                  <a:path w="581580" h="196788">
                    <a:moveTo>
                      <a:pt x="98394" y="0"/>
                    </a:moveTo>
                    <a:lnTo>
                      <a:pt x="483186" y="0"/>
                    </a:lnTo>
                    <a:cubicBezTo>
                      <a:pt x="509282" y="0"/>
                      <a:pt x="534309" y="10366"/>
                      <a:pt x="552761" y="28819"/>
                    </a:cubicBezTo>
                    <a:cubicBezTo>
                      <a:pt x="571213" y="47271"/>
                      <a:pt x="581580" y="72298"/>
                      <a:pt x="581580" y="98394"/>
                    </a:cubicBezTo>
                    <a:lnTo>
                      <a:pt x="581580" y="98394"/>
                    </a:lnTo>
                    <a:cubicBezTo>
                      <a:pt x="581580" y="152735"/>
                      <a:pt x="537527" y="196788"/>
                      <a:pt x="483186" y="196788"/>
                    </a:cubicBezTo>
                    <a:lnTo>
                      <a:pt x="98394" y="196788"/>
                    </a:lnTo>
                    <a:cubicBezTo>
                      <a:pt x="44052" y="196788"/>
                      <a:pt x="0" y="152735"/>
                      <a:pt x="0" y="98394"/>
                    </a:cubicBezTo>
                    <a:lnTo>
                      <a:pt x="0" y="98394"/>
                    </a:lnTo>
                    <a:cubicBezTo>
                      <a:pt x="0" y="44052"/>
                      <a:pt x="44052" y="0"/>
                      <a:pt x="98394" y="0"/>
                    </a:cubicBezTo>
                    <a:close/>
                  </a:path>
                </a:pathLst>
              </a:custGeom>
              <a:blipFill>
                <a:blip r:embed="rId10"/>
                <a:stretch>
                  <a:fillRect t="-48265" b="-48265"/>
                </a:stretch>
              </a:blipFill>
            </p:spPr>
            <p:txBody>
              <a:bodyPr/>
              <a:lstStyle/>
              <a:p>
                <a:endParaRPr lang="en-US"/>
              </a:p>
            </p:txBody>
          </p:sp>
        </p:grpSp>
        <p:grpSp>
          <p:nvGrpSpPr>
            <p:cNvPr id="43" name="Group 43"/>
            <p:cNvGrpSpPr/>
            <p:nvPr/>
          </p:nvGrpSpPr>
          <p:grpSpPr>
            <a:xfrm>
              <a:off x="1030488" y="4630105"/>
              <a:ext cx="356197" cy="356197"/>
              <a:chOff x="0" y="0"/>
              <a:chExt cx="812800" cy="812800"/>
            </a:xfrm>
          </p:grpSpPr>
          <p:sp>
            <p:nvSpPr>
              <p:cNvPr id="44" name="Freeform 44"/>
              <p:cNvSpPr/>
              <p:nvPr/>
            </p:nvSpPr>
            <p:spPr>
              <a:xfrm>
                <a:off x="0" y="0"/>
                <a:ext cx="812800" cy="812800"/>
              </a:xfrm>
              <a:custGeom>
                <a:avLst/>
                <a:gdLst/>
                <a:ahLst/>
                <a:cxnLst/>
                <a:rect l="l" t="t" r="r" b="b"/>
                <a:pathLst>
                  <a:path w="812800" h="812800">
                    <a:moveTo>
                      <a:pt x="0" y="0"/>
                    </a:moveTo>
                    <a:lnTo>
                      <a:pt x="812800" y="0"/>
                    </a:lnTo>
                    <a:lnTo>
                      <a:pt x="812800" y="812800"/>
                    </a:lnTo>
                    <a:lnTo>
                      <a:pt x="0" y="812800"/>
                    </a:lnTo>
                    <a:close/>
                  </a:path>
                </a:pathLst>
              </a:custGeom>
              <a:blipFill>
                <a:blip r:embed="rId11"/>
                <a:stretch>
                  <a:fillRect l="-38888" r="-38888"/>
                </a:stretch>
              </a:blipFill>
            </p:spPr>
            <p:txBody>
              <a:bodyPr/>
              <a:lstStyle/>
              <a:p>
                <a:endParaRPr lang="en-US"/>
              </a:p>
            </p:txBody>
          </p:sp>
        </p:grpSp>
        <p:sp>
          <p:nvSpPr>
            <p:cNvPr id="45" name="Freeform 45"/>
            <p:cNvSpPr/>
            <p:nvPr/>
          </p:nvSpPr>
          <p:spPr>
            <a:xfrm>
              <a:off x="1288176" y="4562896"/>
              <a:ext cx="134417" cy="134417"/>
            </a:xfrm>
            <a:custGeom>
              <a:avLst/>
              <a:gdLst/>
              <a:ahLst/>
              <a:cxnLst/>
              <a:rect l="l" t="t" r="r" b="b"/>
              <a:pathLst>
                <a:path w="134417" h="134417">
                  <a:moveTo>
                    <a:pt x="0" y="0"/>
                  </a:moveTo>
                  <a:lnTo>
                    <a:pt x="134417" y="0"/>
                  </a:lnTo>
                  <a:lnTo>
                    <a:pt x="134417" y="134418"/>
                  </a:lnTo>
                  <a:lnTo>
                    <a:pt x="0" y="134418"/>
                  </a:lnTo>
                  <a:lnTo>
                    <a:pt x="0" y="0"/>
                  </a:lnTo>
                  <a:close/>
                </a:path>
              </a:pathLst>
            </a:custGeom>
            <a:blipFill>
              <a:blip>
                <a:extLst>
                  <a:ext uri="{96DAC541-7B7A-43D3-8B79-37D633B846F1}">
                    <asvg:svgBlip xmlns:asvg="http://schemas.microsoft.com/office/drawing/2016/SVG/main" r:embed="rId12"/>
                  </a:ext>
                </a:extLst>
              </a:blip>
              <a:stretch>
                <a:fillRect/>
              </a:stretch>
            </a:blipFill>
          </p:spPr>
          <p:txBody>
            <a:bodyPr/>
            <a:lstStyle/>
            <a:p>
              <a:endParaRPr lang="en-US"/>
            </a:p>
          </p:txBody>
        </p:sp>
        <p:sp>
          <p:nvSpPr>
            <p:cNvPr id="46" name="Freeform 46"/>
            <p:cNvSpPr/>
            <p:nvPr/>
          </p:nvSpPr>
          <p:spPr>
            <a:xfrm>
              <a:off x="1326127" y="4593070"/>
              <a:ext cx="58516" cy="74071"/>
            </a:xfrm>
            <a:custGeom>
              <a:avLst/>
              <a:gdLst/>
              <a:ahLst/>
              <a:cxnLst/>
              <a:rect l="l" t="t" r="r" b="b"/>
              <a:pathLst>
                <a:path w="58516" h="74071">
                  <a:moveTo>
                    <a:pt x="0" y="0"/>
                  </a:moveTo>
                  <a:lnTo>
                    <a:pt x="58516" y="0"/>
                  </a:lnTo>
                  <a:lnTo>
                    <a:pt x="58516" y="74070"/>
                  </a:lnTo>
                  <a:lnTo>
                    <a:pt x="0" y="74070"/>
                  </a:lnTo>
                  <a:lnTo>
                    <a:pt x="0" y="0"/>
                  </a:lnTo>
                  <a:close/>
                </a:path>
              </a:pathLst>
            </a:custGeom>
            <a:blipFill>
              <a:blip r:embed="rId13"/>
              <a:stretch>
                <a:fillRect/>
              </a:stretch>
            </a:blipFill>
          </p:spPr>
          <p:txBody>
            <a:bodyPr/>
            <a:lstStyle/>
            <a:p>
              <a:endParaRPr lang="en-US"/>
            </a:p>
          </p:txBody>
        </p:sp>
        <p:sp>
          <p:nvSpPr>
            <p:cNvPr id="47" name="TextBox 47"/>
            <p:cNvSpPr txBox="1"/>
            <p:nvPr/>
          </p:nvSpPr>
          <p:spPr>
            <a:xfrm>
              <a:off x="1503907" y="4779628"/>
              <a:ext cx="1639548" cy="331224"/>
            </a:xfrm>
            <a:prstGeom prst="rect">
              <a:avLst/>
            </a:prstGeom>
          </p:spPr>
          <p:txBody>
            <a:bodyPr lIns="0" tIns="0" rIns="0" bIns="0" rtlCol="0" anchor="t">
              <a:spAutoFit/>
            </a:bodyPr>
            <a:lstStyle/>
            <a:p>
              <a:pPr algn="ctr">
                <a:lnSpc>
                  <a:spcPts val="919"/>
                </a:lnSpc>
                <a:spcBef>
                  <a:spcPct val="0"/>
                </a:spcBef>
              </a:pPr>
              <a:r>
                <a:rPr lang="en-US" sz="765" b="1">
                  <a:solidFill>
                    <a:srgbClr val="FFFFFF"/>
                  </a:solidFill>
                  <a:latin typeface="Calibri (MS) Bold"/>
                  <a:ea typeface="Calibri (MS) Bold"/>
                  <a:cs typeface="Calibri (MS) Bold"/>
                  <a:sym typeface="Calibri (MS) Bold"/>
                </a:rPr>
                <a:t>3 Friends Have Posted To CRAMMING Board</a:t>
              </a:r>
            </a:p>
          </p:txBody>
        </p:sp>
        <p:sp>
          <p:nvSpPr>
            <p:cNvPr id="48" name="TextBox 48"/>
            <p:cNvSpPr txBox="1"/>
            <p:nvPr/>
          </p:nvSpPr>
          <p:spPr>
            <a:xfrm>
              <a:off x="1725935" y="4494876"/>
              <a:ext cx="1195492" cy="251408"/>
            </a:xfrm>
            <a:prstGeom prst="rect">
              <a:avLst/>
            </a:prstGeom>
          </p:spPr>
          <p:txBody>
            <a:bodyPr lIns="0" tIns="0" rIns="0" bIns="0" rtlCol="0" anchor="t">
              <a:spAutoFit/>
            </a:bodyPr>
            <a:lstStyle/>
            <a:p>
              <a:pPr algn="ctr">
                <a:lnSpc>
                  <a:spcPts val="1411"/>
                </a:lnSpc>
                <a:spcBef>
                  <a:spcPct val="0"/>
                </a:spcBef>
              </a:pPr>
              <a:r>
                <a:rPr lang="en-US" sz="1176" b="1">
                  <a:solidFill>
                    <a:srgbClr val="FFFFFF"/>
                  </a:solidFill>
                  <a:latin typeface="Calibri (MS) Bold"/>
                  <a:ea typeface="Calibri (MS) Bold"/>
                  <a:cs typeface="Calibri (MS) Bold"/>
                  <a:sym typeface="Calibri (MS) Bold"/>
                </a:rPr>
                <a:t>👀 </a:t>
              </a:r>
            </a:p>
          </p:txBody>
        </p:sp>
        <p:sp>
          <p:nvSpPr>
            <p:cNvPr id="49" name="TextBox 49"/>
            <p:cNvSpPr txBox="1"/>
            <p:nvPr/>
          </p:nvSpPr>
          <p:spPr>
            <a:xfrm>
              <a:off x="1468725" y="912213"/>
              <a:ext cx="1363235" cy="283233"/>
            </a:xfrm>
            <a:prstGeom prst="rect">
              <a:avLst/>
            </a:prstGeom>
          </p:spPr>
          <p:txBody>
            <a:bodyPr lIns="0" tIns="0" rIns="0" bIns="0" rtlCol="0" anchor="t">
              <a:spAutoFit/>
            </a:bodyPr>
            <a:lstStyle/>
            <a:p>
              <a:pPr algn="ctr">
                <a:lnSpc>
                  <a:spcPts val="1527"/>
                </a:lnSpc>
                <a:spcBef>
                  <a:spcPct val="0"/>
                </a:spcBef>
              </a:pPr>
              <a:r>
                <a:rPr lang="en-US" sz="1272" b="1">
                  <a:solidFill>
                    <a:srgbClr val="FFFFFF"/>
                  </a:solidFill>
                  <a:latin typeface="Calibri (MS) Bold"/>
                  <a:ea typeface="Calibri (MS) Bold"/>
                  <a:cs typeface="Calibri (MS) Bold"/>
                  <a:sym typeface="Calibri (MS) Bold"/>
                </a:rPr>
                <a:t>SUN Oct 18</a:t>
              </a:r>
            </a:p>
          </p:txBody>
        </p:sp>
        <p:sp>
          <p:nvSpPr>
            <p:cNvPr id="50" name="TextBox 50"/>
            <p:cNvSpPr txBox="1"/>
            <p:nvPr/>
          </p:nvSpPr>
          <p:spPr>
            <a:xfrm>
              <a:off x="830051" y="1172713"/>
              <a:ext cx="2640582" cy="1035527"/>
            </a:xfrm>
            <a:prstGeom prst="rect">
              <a:avLst/>
            </a:prstGeom>
          </p:spPr>
          <p:txBody>
            <a:bodyPr lIns="0" tIns="0" rIns="0" bIns="0" rtlCol="0" anchor="t">
              <a:spAutoFit/>
            </a:bodyPr>
            <a:lstStyle/>
            <a:p>
              <a:pPr algn="ctr">
                <a:lnSpc>
                  <a:spcPts val="5598"/>
                </a:lnSpc>
                <a:spcBef>
                  <a:spcPct val="0"/>
                </a:spcBef>
              </a:pPr>
              <a:r>
                <a:rPr lang="en-US" sz="4665" b="1">
                  <a:solidFill>
                    <a:srgbClr val="FFFFFF"/>
                  </a:solidFill>
                  <a:latin typeface="Calibri (MS) Bold"/>
                  <a:ea typeface="Calibri (MS) Bold"/>
                  <a:cs typeface="Calibri (MS) Bold"/>
                  <a:sym typeface="Calibri (MS) Bold"/>
                </a:rPr>
                <a:t>8:33</a:t>
              </a:r>
            </a:p>
          </p:txBody>
        </p:sp>
        <p:sp>
          <p:nvSpPr>
            <p:cNvPr id="51" name="TextBox 51"/>
            <p:cNvSpPr txBox="1"/>
            <p:nvPr/>
          </p:nvSpPr>
          <p:spPr>
            <a:xfrm>
              <a:off x="520946" y="3564277"/>
              <a:ext cx="3258792" cy="468791"/>
            </a:xfrm>
            <a:prstGeom prst="rect">
              <a:avLst/>
            </a:prstGeom>
          </p:spPr>
          <p:txBody>
            <a:bodyPr lIns="0" tIns="0" rIns="0" bIns="0" rtlCol="0" anchor="t">
              <a:spAutoFit/>
            </a:bodyPr>
            <a:lstStyle/>
            <a:p>
              <a:pPr algn="ctr">
                <a:lnSpc>
                  <a:spcPts val="2545"/>
                </a:lnSpc>
                <a:spcBef>
                  <a:spcPct val="0"/>
                </a:spcBef>
              </a:pPr>
              <a:r>
                <a:rPr lang="en-US" sz="2120" b="1">
                  <a:solidFill>
                    <a:srgbClr val="FFFFFF"/>
                  </a:solidFill>
                  <a:latin typeface="Calibri (MS) Bold"/>
                  <a:ea typeface="Calibri (MS) Bold"/>
                  <a:cs typeface="Calibri (MS) Bold"/>
                  <a:sym typeface="Calibri (MS) Bold"/>
                </a:rPr>
                <a:t>Notification Center</a:t>
              </a:r>
            </a:p>
          </p:txBody>
        </p:sp>
      </p:grpSp>
      <p:grpSp>
        <p:nvGrpSpPr>
          <p:cNvPr id="52" name="Group 52"/>
          <p:cNvGrpSpPr/>
          <p:nvPr/>
        </p:nvGrpSpPr>
        <p:grpSpPr>
          <a:xfrm>
            <a:off x="8819246" y="982848"/>
            <a:ext cx="4182327" cy="8275452"/>
            <a:chOff x="0" y="0"/>
            <a:chExt cx="5576435" cy="11033936"/>
          </a:xfrm>
        </p:grpSpPr>
        <p:grpSp>
          <p:nvGrpSpPr>
            <p:cNvPr id="53" name="Group 53"/>
            <p:cNvGrpSpPr>
              <a:grpSpLocks noChangeAspect="1"/>
            </p:cNvGrpSpPr>
            <p:nvPr/>
          </p:nvGrpSpPr>
          <p:grpSpPr>
            <a:xfrm>
              <a:off x="0" y="0"/>
              <a:ext cx="5576435" cy="11033936"/>
              <a:chOff x="0" y="0"/>
              <a:chExt cx="2620010" cy="5184140"/>
            </a:xfrm>
          </p:grpSpPr>
          <p:sp>
            <p:nvSpPr>
              <p:cNvPr id="54" name="Freeform 54"/>
              <p:cNvSpPr/>
              <p:nvPr/>
            </p:nvSpPr>
            <p:spPr>
              <a:xfrm>
                <a:off x="53340" y="25400"/>
                <a:ext cx="2513330" cy="5132070"/>
              </a:xfrm>
              <a:custGeom>
                <a:avLst/>
                <a:gdLst/>
                <a:ahLst/>
                <a:cxnLst/>
                <a:rect l="l" t="t" r="r" b="b"/>
                <a:pathLst>
                  <a:path w="2513330" h="5132070">
                    <a:moveTo>
                      <a:pt x="2159000" y="0"/>
                    </a:moveTo>
                    <a:lnTo>
                      <a:pt x="354330" y="0"/>
                    </a:lnTo>
                    <a:cubicBezTo>
                      <a:pt x="158750" y="0"/>
                      <a:pt x="0" y="158750"/>
                      <a:pt x="0" y="354330"/>
                    </a:cubicBezTo>
                    <a:lnTo>
                      <a:pt x="0" y="4777740"/>
                    </a:lnTo>
                    <a:cubicBezTo>
                      <a:pt x="0" y="4973320"/>
                      <a:pt x="158750" y="5132070"/>
                      <a:pt x="354330" y="5132070"/>
                    </a:cubicBezTo>
                    <a:lnTo>
                      <a:pt x="2159000" y="5132070"/>
                    </a:lnTo>
                    <a:cubicBezTo>
                      <a:pt x="2354580" y="5132070"/>
                      <a:pt x="2513330" y="4973320"/>
                      <a:pt x="2513330" y="4777740"/>
                    </a:cubicBezTo>
                    <a:lnTo>
                      <a:pt x="2513330" y="354330"/>
                    </a:lnTo>
                    <a:cubicBezTo>
                      <a:pt x="2513330" y="158750"/>
                      <a:pt x="2354580" y="0"/>
                      <a:pt x="2159000" y="0"/>
                    </a:cubicBezTo>
                    <a:close/>
                    <a:moveTo>
                      <a:pt x="1558290" y="162560"/>
                    </a:moveTo>
                    <a:cubicBezTo>
                      <a:pt x="1576070" y="162560"/>
                      <a:pt x="1590040" y="176530"/>
                      <a:pt x="1590040" y="194310"/>
                    </a:cubicBezTo>
                    <a:cubicBezTo>
                      <a:pt x="1590040" y="212090"/>
                      <a:pt x="1576070" y="226060"/>
                      <a:pt x="1558290" y="226060"/>
                    </a:cubicBezTo>
                    <a:cubicBezTo>
                      <a:pt x="1540510" y="226060"/>
                      <a:pt x="1526540" y="212090"/>
                      <a:pt x="1526540" y="194310"/>
                    </a:cubicBezTo>
                    <a:cubicBezTo>
                      <a:pt x="1526540" y="176530"/>
                      <a:pt x="1541780" y="162560"/>
                      <a:pt x="1558290" y="162560"/>
                    </a:cubicBezTo>
                    <a:close/>
                    <a:moveTo>
                      <a:pt x="1089660" y="172720"/>
                    </a:moveTo>
                    <a:lnTo>
                      <a:pt x="1394460" y="172720"/>
                    </a:lnTo>
                    <a:cubicBezTo>
                      <a:pt x="1405890" y="172720"/>
                      <a:pt x="1416050" y="181610"/>
                      <a:pt x="1416050" y="194310"/>
                    </a:cubicBezTo>
                    <a:cubicBezTo>
                      <a:pt x="1416050" y="207010"/>
                      <a:pt x="1405890" y="215900"/>
                      <a:pt x="1394460" y="215900"/>
                    </a:cubicBezTo>
                    <a:lnTo>
                      <a:pt x="1089660" y="215900"/>
                    </a:lnTo>
                    <a:cubicBezTo>
                      <a:pt x="1078230" y="215900"/>
                      <a:pt x="1068070" y="207010"/>
                      <a:pt x="1068070" y="194310"/>
                    </a:cubicBezTo>
                    <a:cubicBezTo>
                      <a:pt x="1068070" y="181610"/>
                      <a:pt x="1078230" y="172720"/>
                      <a:pt x="1089660" y="172720"/>
                    </a:cubicBezTo>
                    <a:close/>
                    <a:moveTo>
                      <a:pt x="2383790" y="4798060"/>
                    </a:moveTo>
                    <a:cubicBezTo>
                      <a:pt x="2383790" y="4913630"/>
                      <a:pt x="2289810" y="5007610"/>
                      <a:pt x="2174240" y="5007610"/>
                    </a:cubicBezTo>
                    <a:lnTo>
                      <a:pt x="341630" y="5007610"/>
                    </a:lnTo>
                    <a:cubicBezTo>
                      <a:pt x="226060" y="5007610"/>
                      <a:pt x="132080" y="4913630"/>
                      <a:pt x="132080" y="4798060"/>
                    </a:cubicBezTo>
                    <a:lnTo>
                      <a:pt x="132080" y="340360"/>
                    </a:lnTo>
                    <a:cubicBezTo>
                      <a:pt x="132080" y="224790"/>
                      <a:pt x="226060" y="130810"/>
                      <a:pt x="341630" y="130810"/>
                    </a:cubicBezTo>
                    <a:lnTo>
                      <a:pt x="614680" y="130810"/>
                    </a:lnTo>
                    <a:lnTo>
                      <a:pt x="614680" y="187960"/>
                    </a:lnTo>
                    <a:cubicBezTo>
                      <a:pt x="614680" y="252730"/>
                      <a:pt x="668020" y="306070"/>
                      <a:pt x="732790" y="306070"/>
                    </a:cubicBezTo>
                    <a:lnTo>
                      <a:pt x="1783080" y="306070"/>
                    </a:lnTo>
                    <a:cubicBezTo>
                      <a:pt x="1847850" y="306070"/>
                      <a:pt x="1901190" y="252730"/>
                      <a:pt x="1901190" y="187960"/>
                    </a:cubicBezTo>
                    <a:lnTo>
                      <a:pt x="1901190" y="130810"/>
                    </a:lnTo>
                    <a:lnTo>
                      <a:pt x="2172970" y="130810"/>
                    </a:lnTo>
                    <a:cubicBezTo>
                      <a:pt x="2288540" y="130810"/>
                      <a:pt x="2382520" y="224790"/>
                      <a:pt x="2382520" y="340360"/>
                    </a:cubicBezTo>
                    <a:lnTo>
                      <a:pt x="2382520" y="4798060"/>
                    </a:lnTo>
                    <a:close/>
                  </a:path>
                </a:pathLst>
              </a:custGeom>
              <a:solidFill>
                <a:srgbClr val="000000"/>
              </a:solidFill>
            </p:spPr>
            <p:txBody>
              <a:bodyPr/>
              <a:lstStyle/>
              <a:p>
                <a:endParaRPr lang="en-US"/>
              </a:p>
            </p:txBody>
          </p:sp>
          <p:sp>
            <p:nvSpPr>
              <p:cNvPr id="55" name="Freeform 55"/>
              <p:cNvSpPr/>
              <p:nvPr/>
            </p:nvSpPr>
            <p:spPr>
              <a:xfrm>
                <a:off x="185420" y="156210"/>
                <a:ext cx="2250453" cy="4876800"/>
              </a:xfrm>
              <a:custGeom>
                <a:avLst/>
                <a:gdLst/>
                <a:ahLst/>
                <a:cxnLst/>
                <a:rect l="l" t="t" r="r" b="b"/>
                <a:pathLst>
                  <a:path w="2250453" h="4876800">
                    <a:moveTo>
                      <a:pt x="2040890" y="0"/>
                    </a:moveTo>
                    <a:lnTo>
                      <a:pt x="1769110" y="0"/>
                    </a:lnTo>
                    <a:lnTo>
                      <a:pt x="1769110" y="57150"/>
                    </a:lnTo>
                    <a:cubicBezTo>
                      <a:pt x="1769110" y="121920"/>
                      <a:pt x="1715770" y="175260"/>
                      <a:pt x="1651000" y="175260"/>
                    </a:cubicBezTo>
                    <a:lnTo>
                      <a:pt x="601980" y="175260"/>
                    </a:lnTo>
                    <a:cubicBezTo>
                      <a:pt x="537210" y="175260"/>
                      <a:pt x="483870" y="121920"/>
                      <a:pt x="483870" y="57150"/>
                    </a:cubicBezTo>
                    <a:lnTo>
                      <a:pt x="483870" y="0"/>
                    </a:lnTo>
                    <a:lnTo>
                      <a:pt x="209550" y="0"/>
                    </a:lnTo>
                    <a:cubicBezTo>
                      <a:pt x="93980" y="0"/>
                      <a:pt x="0" y="93980"/>
                      <a:pt x="0" y="209550"/>
                    </a:cubicBezTo>
                    <a:lnTo>
                      <a:pt x="0" y="4667250"/>
                    </a:lnTo>
                    <a:cubicBezTo>
                      <a:pt x="0" y="4782820"/>
                      <a:pt x="93980" y="4876800"/>
                      <a:pt x="209550" y="4876800"/>
                    </a:cubicBezTo>
                    <a:lnTo>
                      <a:pt x="2040890" y="4876800"/>
                    </a:lnTo>
                    <a:cubicBezTo>
                      <a:pt x="2156460" y="4876800"/>
                      <a:pt x="2250440" y="4782820"/>
                      <a:pt x="2250440" y="4667250"/>
                    </a:cubicBezTo>
                    <a:lnTo>
                      <a:pt x="2250440" y="209550"/>
                    </a:lnTo>
                    <a:cubicBezTo>
                      <a:pt x="2251710" y="93980"/>
                      <a:pt x="2157730" y="0"/>
                      <a:pt x="2040890" y="0"/>
                    </a:cubicBezTo>
                    <a:close/>
                  </a:path>
                </a:pathLst>
              </a:custGeom>
              <a:blipFill>
                <a:blip r:embed="rId3"/>
                <a:stretch>
                  <a:fillRect l="-245588" t="-3203" r="-245531" b="-3098"/>
                </a:stretch>
              </a:blipFill>
            </p:spPr>
            <p:txBody>
              <a:bodyPr/>
              <a:lstStyle/>
              <a:p>
                <a:endParaRPr lang="en-US"/>
              </a:p>
            </p:txBody>
          </p:sp>
          <p:sp>
            <p:nvSpPr>
              <p:cNvPr id="56" name="Freeform 56"/>
              <p:cNvSpPr/>
              <p:nvPr/>
            </p:nvSpPr>
            <p:spPr>
              <a:xfrm>
                <a:off x="1121410" y="198120"/>
                <a:ext cx="347980" cy="43180"/>
              </a:xfrm>
              <a:custGeom>
                <a:avLst/>
                <a:gdLst/>
                <a:ahLst/>
                <a:cxnLst/>
                <a:rect l="l" t="t" r="r" b="b"/>
                <a:pathLst>
                  <a:path w="347980" h="43180">
                    <a:moveTo>
                      <a:pt x="326390" y="0"/>
                    </a:moveTo>
                    <a:lnTo>
                      <a:pt x="21590" y="0"/>
                    </a:lnTo>
                    <a:cubicBezTo>
                      <a:pt x="10160" y="0"/>
                      <a:pt x="0" y="8890"/>
                      <a:pt x="0" y="21590"/>
                    </a:cubicBezTo>
                    <a:cubicBezTo>
                      <a:pt x="0" y="34290"/>
                      <a:pt x="10160" y="43180"/>
                      <a:pt x="21590" y="43180"/>
                    </a:cubicBezTo>
                    <a:lnTo>
                      <a:pt x="326390" y="43180"/>
                    </a:lnTo>
                    <a:cubicBezTo>
                      <a:pt x="337820" y="43180"/>
                      <a:pt x="347980" y="34290"/>
                      <a:pt x="347980" y="21590"/>
                    </a:cubicBezTo>
                    <a:cubicBezTo>
                      <a:pt x="347980" y="8890"/>
                      <a:pt x="337820" y="0"/>
                      <a:pt x="326390" y="0"/>
                    </a:cubicBezTo>
                    <a:close/>
                  </a:path>
                </a:pathLst>
              </a:custGeom>
              <a:solidFill>
                <a:srgbClr val="606060"/>
              </a:solidFill>
            </p:spPr>
            <p:txBody>
              <a:bodyPr/>
              <a:lstStyle/>
              <a:p>
                <a:endParaRPr lang="en-US"/>
              </a:p>
            </p:txBody>
          </p:sp>
          <p:sp>
            <p:nvSpPr>
              <p:cNvPr id="57" name="Freeform 57"/>
              <p:cNvSpPr/>
              <p:nvPr/>
            </p:nvSpPr>
            <p:spPr>
              <a:xfrm>
                <a:off x="1579738" y="187960"/>
                <a:ext cx="63785" cy="63501"/>
              </a:xfrm>
              <a:custGeom>
                <a:avLst/>
                <a:gdLst/>
                <a:ahLst/>
                <a:cxnLst/>
                <a:rect l="l" t="t" r="r" b="b"/>
                <a:pathLst>
                  <a:path w="63785" h="63501">
                    <a:moveTo>
                      <a:pt x="31892" y="0"/>
                    </a:moveTo>
                    <a:cubicBezTo>
                      <a:pt x="20515" y="-51"/>
                      <a:pt x="9980" y="5989"/>
                      <a:pt x="4277" y="15834"/>
                    </a:cubicBezTo>
                    <a:cubicBezTo>
                      <a:pt x="-1426" y="25678"/>
                      <a:pt x="-1426" y="37822"/>
                      <a:pt x="4277" y="47666"/>
                    </a:cubicBezTo>
                    <a:cubicBezTo>
                      <a:pt x="9980" y="57511"/>
                      <a:pt x="20515" y="63551"/>
                      <a:pt x="31892" y="63500"/>
                    </a:cubicBezTo>
                    <a:cubicBezTo>
                      <a:pt x="43269" y="63551"/>
                      <a:pt x="53804" y="57511"/>
                      <a:pt x="59507" y="47666"/>
                    </a:cubicBezTo>
                    <a:cubicBezTo>
                      <a:pt x="65210" y="37822"/>
                      <a:pt x="65210" y="25678"/>
                      <a:pt x="59507" y="15834"/>
                    </a:cubicBezTo>
                    <a:cubicBezTo>
                      <a:pt x="53804" y="5989"/>
                      <a:pt x="43269" y="-51"/>
                      <a:pt x="31892" y="0"/>
                    </a:cubicBezTo>
                    <a:close/>
                  </a:path>
                </a:pathLst>
              </a:custGeom>
              <a:solidFill>
                <a:srgbClr val="606060"/>
              </a:solidFill>
            </p:spPr>
            <p:txBody>
              <a:bodyPr/>
              <a:lstStyle/>
              <a:p>
                <a:endParaRPr lang="en-US"/>
              </a:p>
            </p:txBody>
          </p:sp>
          <p:sp>
            <p:nvSpPr>
              <p:cNvPr id="58" name="Freeform 58"/>
              <p:cNvSpPr/>
              <p:nvPr/>
            </p:nvSpPr>
            <p:spPr>
              <a:xfrm>
                <a:off x="0" y="685800"/>
                <a:ext cx="27940" cy="213360"/>
              </a:xfrm>
              <a:custGeom>
                <a:avLst/>
                <a:gdLst/>
                <a:ahLst/>
                <a:cxnLst/>
                <a:rect l="l" t="t" r="r" b="b"/>
                <a:pathLst>
                  <a:path w="27940" h="213360">
                    <a:moveTo>
                      <a:pt x="0" y="26670"/>
                    </a:moveTo>
                    <a:lnTo>
                      <a:pt x="0" y="185420"/>
                    </a:lnTo>
                    <a:cubicBezTo>
                      <a:pt x="0" y="200660"/>
                      <a:pt x="12700" y="213360"/>
                      <a:pt x="27940" y="213360"/>
                    </a:cubicBezTo>
                    <a:lnTo>
                      <a:pt x="27940" y="0"/>
                    </a:lnTo>
                    <a:cubicBezTo>
                      <a:pt x="12700" y="0"/>
                      <a:pt x="0" y="11430"/>
                      <a:pt x="0" y="26670"/>
                    </a:cubicBezTo>
                    <a:close/>
                  </a:path>
                </a:pathLst>
              </a:custGeom>
              <a:solidFill>
                <a:srgbClr val="B8B8B8"/>
              </a:solidFill>
            </p:spPr>
            <p:txBody>
              <a:bodyPr/>
              <a:lstStyle/>
              <a:p>
                <a:endParaRPr lang="en-US"/>
              </a:p>
            </p:txBody>
          </p:sp>
          <p:sp>
            <p:nvSpPr>
              <p:cNvPr id="59" name="Freeform 59"/>
              <p:cNvSpPr/>
              <p:nvPr/>
            </p:nvSpPr>
            <p:spPr>
              <a:xfrm>
                <a:off x="0" y="1057910"/>
                <a:ext cx="27940" cy="384810"/>
              </a:xfrm>
              <a:custGeom>
                <a:avLst/>
                <a:gdLst/>
                <a:ahLst/>
                <a:cxnLst/>
                <a:rect l="l" t="t" r="r" b="b"/>
                <a:pathLst>
                  <a:path w="27940" h="384810">
                    <a:moveTo>
                      <a:pt x="0" y="26670"/>
                    </a:moveTo>
                    <a:lnTo>
                      <a:pt x="0" y="356870"/>
                    </a:lnTo>
                    <a:cubicBezTo>
                      <a:pt x="0" y="372110"/>
                      <a:pt x="12700" y="384810"/>
                      <a:pt x="27940" y="384810"/>
                    </a:cubicBezTo>
                    <a:lnTo>
                      <a:pt x="27940" y="0"/>
                    </a:lnTo>
                    <a:cubicBezTo>
                      <a:pt x="12700" y="0"/>
                      <a:pt x="0" y="11430"/>
                      <a:pt x="0" y="26670"/>
                    </a:cubicBezTo>
                    <a:close/>
                  </a:path>
                </a:pathLst>
              </a:custGeom>
              <a:solidFill>
                <a:srgbClr val="B8B8B8"/>
              </a:solidFill>
            </p:spPr>
            <p:txBody>
              <a:bodyPr/>
              <a:lstStyle/>
              <a:p>
                <a:endParaRPr lang="en-US"/>
              </a:p>
            </p:txBody>
          </p:sp>
          <p:sp>
            <p:nvSpPr>
              <p:cNvPr id="60" name="Freeform 60"/>
              <p:cNvSpPr/>
              <p:nvPr/>
            </p:nvSpPr>
            <p:spPr>
              <a:xfrm>
                <a:off x="0" y="1526540"/>
                <a:ext cx="27940" cy="386080"/>
              </a:xfrm>
              <a:custGeom>
                <a:avLst/>
                <a:gdLst/>
                <a:ahLst/>
                <a:cxnLst/>
                <a:rect l="l" t="t" r="r" b="b"/>
                <a:pathLst>
                  <a:path w="27940" h="386080">
                    <a:moveTo>
                      <a:pt x="0" y="27940"/>
                    </a:moveTo>
                    <a:lnTo>
                      <a:pt x="0" y="358140"/>
                    </a:lnTo>
                    <a:cubicBezTo>
                      <a:pt x="0" y="373380"/>
                      <a:pt x="12700" y="386080"/>
                      <a:pt x="27940" y="386080"/>
                    </a:cubicBezTo>
                    <a:lnTo>
                      <a:pt x="27940" y="0"/>
                    </a:lnTo>
                    <a:cubicBezTo>
                      <a:pt x="12700" y="0"/>
                      <a:pt x="0" y="12700"/>
                      <a:pt x="0" y="27940"/>
                    </a:cubicBezTo>
                    <a:close/>
                  </a:path>
                </a:pathLst>
              </a:custGeom>
              <a:solidFill>
                <a:srgbClr val="B8B8B8"/>
              </a:solidFill>
            </p:spPr>
            <p:txBody>
              <a:bodyPr/>
              <a:lstStyle/>
              <a:p>
                <a:endParaRPr lang="en-US"/>
              </a:p>
            </p:txBody>
          </p:sp>
          <p:sp>
            <p:nvSpPr>
              <p:cNvPr id="61" name="Freeform 61"/>
              <p:cNvSpPr/>
              <p:nvPr/>
            </p:nvSpPr>
            <p:spPr>
              <a:xfrm>
                <a:off x="2592070" y="1184910"/>
                <a:ext cx="27940" cy="618490"/>
              </a:xfrm>
              <a:custGeom>
                <a:avLst/>
                <a:gdLst/>
                <a:ahLst/>
                <a:cxnLst/>
                <a:rect l="l" t="t" r="r" b="b"/>
                <a:pathLst>
                  <a:path w="27940" h="618490">
                    <a:moveTo>
                      <a:pt x="0" y="0"/>
                    </a:moveTo>
                    <a:lnTo>
                      <a:pt x="0" y="618490"/>
                    </a:lnTo>
                    <a:cubicBezTo>
                      <a:pt x="15240" y="618490"/>
                      <a:pt x="27940" y="605790"/>
                      <a:pt x="27940" y="590550"/>
                    </a:cubicBezTo>
                    <a:lnTo>
                      <a:pt x="27940" y="27940"/>
                    </a:lnTo>
                    <a:cubicBezTo>
                      <a:pt x="27940" y="12700"/>
                      <a:pt x="15240" y="0"/>
                      <a:pt x="0" y="0"/>
                    </a:cubicBezTo>
                    <a:close/>
                  </a:path>
                </a:pathLst>
              </a:custGeom>
              <a:solidFill>
                <a:srgbClr val="B8B8B8"/>
              </a:solidFill>
            </p:spPr>
            <p:txBody>
              <a:bodyPr/>
              <a:lstStyle/>
              <a:p>
                <a:endParaRPr lang="en-US"/>
              </a:p>
            </p:txBody>
          </p:sp>
          <p:sp>
            <p:nvSpPr>
              <p:cNvPr id="62" name="Freeform 62"/>
              <p:cNvSpPr/>
              <p:nvPr/>
            </p:nvSpPr>
            <p:spPr>
              <a:xfrm>
                <a:off x="27940" y="0"/>
                <a:ext cx="2564130" cy="5182870"/>
              </a:xfrm>
              <a:custGeom>
                <a:avLst/>
                <a:gdLst/>
                <a:ahLst/>
                <a:cxnLst/>
                <a:rect l="l" t="t" r="r" b="b"/>
                <a:pathLst>
                  <a:path w="2564130" h="5182870">
                    <a:moveTo>
                      <a:pt x="2564130" y="1184910"/>
                    </a:moveTo>
                    <a:lnTo>
                      <a:pt x="2564130" y="379730"/>
                    </a:lnTo>
                    <a:cubicBezTo>
                      <a:pt x="2564130" y="353060"/>
                      <a:pt x="2561590" y="327660"/>
                      <a:pt x="2556510" y="303530"/>
                    </a:cubicBezTo>
                    <a:cubicBezTo>
                      <a:pt x="2553970" y="290830"/>
                      <a:pt x="2551430" y="279400"/>
                      <a:pt x="2547620" y="266700"/>
                    </a:cubicBezTo>
                    <a:cubicBezTo>
                      <a:pt x="2542540" y="248920"/>
                      <a:pt x="2534920" y="231140"/>
                      <a:pt x="2527300" y="214630"/>
                    </a:cubicBezTo>
                    <a:cubicBezTo>
                      <a:pt x="2522220" y="203200"/>
                      <a:pt x="2515870" y="193040"/>
                      <a:pt x="2509520" y="182880"/>
                    </a:cubicBezTo>
                    <a:cubicBezTo>
                      <a:pt x="2503170" y="172720"/>
                      <a:pt x="2496820" y="162560"/>
                      <a:pt x="2489200" y="152400"/>
                    </a:cubicBezTo>
                    <a:cubicBezTo>
                      <a:pt x="2477770" y="137160"/>
                      <a:pt x="2466340" y="124460"/>
                      <a:pt x="2453640" y="110490"/>
                    </a:cubicBezTo>
                    <a:cubicBezTo>
                      <a:pt x="2444750" y="101600"/>
                      <a:pt x="2435860" y="93980"/>
                      <a:pt x="2426970" y="86360"/>
                    </a:cubicBezTo>
                    <a:cubicBezTo>
                      <a:pt x="2360930" y="31750"/>
                      <a:pt x="2277110" y="0"/>
                      <a:pt x="2185670" y="0"/>
                    </a:cubicBezTo>
                    <a:lnTo>
                      <a:pt x="379730" y="0"/>
                    </a:lnTo>
                    <a:cubicBezTo>
                      <a:pt x="288290" y="0"/>
                      <a:pt x="203200" y="33020"/>
                      <a:pt x="138430" y="86360"/>
                    </a:cubicBezTo>
                    <a:cubicBezTo>
                      <a:pt x="129540" y="93980"/>
                      <a:pt x="120650" y="102870"/>
                      <a:pt x="111760" y="110490"/>
                    </a:cubicBezTo>
                    <a:cubicBezTo>
                      <a:pt x="99060" y="123190"/>
                      <a:pt x="86360" y="137160"/>
                      <a:pt x="76200" y="152400"/>
                    </a:cubicBezTo>
                    <a:cubicBezTo>
                      <a:pt x="68580" y="162560"/>
                      <a:pt x="62230" y="172720"/>
                      <a:pt x="55880" y="182880"/>
                    </a:cubicBezTo>
                    <a:cubicBezTo>
                      <a:pt x="49530" y="193040"/>
                      <a:pt x="43180" y="204470"/>
                      <a:pt x="38100" y="214630"/>
                    </a:cubicBezTo>
                    <a:cubicBezTo>
                      <a:pt x="29210" y="232410"/>
                      <a:pt x="22860" y="248920"/>
                      <a:pt x="16510" y="266700"/>
                    </a:cubicBezTo>
                    <a:cubicBezTo>
                      <a:pt x="12700" y="279400"/>
                      <a:pt x="10160" y="290830"/>
                      <a:pt x="7620" y="303530"/>
                    </a:cubicBezTo>
                    <a:cubicBezTo>
                      <a:pt x="2540" y="327660"/>
                      <a:pt x="0" y="354330"/>
                      <a:pt x="0" y="379730"/>
                    </a:cubicBezTo>
                    <a:lnTo>
                      <a:pt x="0" y="4803140"/>
                    </a:lnTo>
                    <a:cubicBezTo>
                      <a:pt x="0" y="5012690"/>
                      <a:pt x="170180" y="5182870"/>
                      <a:pt x="379730" y="5182870"/>
                    </a:cubicBezTo>
                    <a:lnTo>
                      <a:pt x="2184400" y="5182870"/>
                    </a:lnTo>
                    <a:cubicBezTo>
                      <a:pt x="2393950" y="5182870"/>
                      <a:pt x="2564130" y="5012690"/>
                      <a:pt x="2564130" y="4803140"/>
                    </a:cubicBezTo>
                    <a:lnTo>
                      <a:pt x="2564130" y="1184910"/>
                    </a:lnTo>
                    <a:close/>
                    <a:moveTo>
                      <a:pt x="2538730" y="1184910"/>
                    </a:moveTo>
                    <a:lnTo>
                      <a:pt x="2538730" y="4804410"/>
                    </a:lnTo>
                    <a:cubicBezTo>
                      <a:pt x="2538730" y="4999990"/>
                      <a:pt x="2379980" y="5158740"/>
                      <a:pt x="2184400" y="5158740"/>
                    </a:cubicBezTo>
                    <a:lnTo>
                      <a:pt x="379730" y="5158740"/>
                    </a:lnTo>
                    <a:cubicBezTo>
                      <a:pt x="184150" y="5158740"/>
                      <a:pt x="25400" y="4999990"/>
                      <a:pt x="25400" y="4804410"/>
                    </a:cubicBezTo>
                    <a:lnTo>
                      <a:pt x="25400" y="381000"/>
                    </a:lnTo>
                    <a:cubicBezTo>
                      <a:pt x="25400" y="184150"/>
                      <a:pt x="184150" y="25400"/>
                      <a:pt x="379730" y="25400"/>
                    </a:cubicBezTo>
                    <a:lnTo>
                      <a:pt x="2184400" y="25400"/>
                    </a:lnTo>
                    <a:cubicBezTo>
                      <a:pt x="2379980" y="25400"/>
                      <a:pt x="2538730" y="184150"/>
                      <a:pt x="2538730" y="379730"/>
                    </a:cubicBezTo>
                    <a:lnTo>
                      <a:pt x="2538730" y="1184910"/>
                    </a:lnTo>
                    <a:close/>
                  </a:path>
                </a:pathLst>
              </a:custGeom>
              <a:solidFill>
                <a:srgbClr val="E9E9E9"/>
              </a:solidFill>
            </p:spPr>
            <p:txBody>
              <a:bodyPr/>
              <a:lstStyle/>
              <a:p>
                <a:endParaRPr lang="en-US"/>
              </a:p>
            </p:txBody>
          </p:sp>
        </p:grpSp>
        <p:grpSp>
          <p:nvGrpSpPr>
            <p:cNvPr id="63" name="Group 63"/>
            <p:cNvGrpSpPr/>
            <p:nvPr/>
          </p:nvGrpSpPr>
          <p:grpSpPr>
            <a:xfrm>
              <a:off x="132110" y="161647"/>
              <a:ext cx="5089955" cy="10658674"/>
              <a:chOff x="0" y="0"/>
              <a:chExt cx="1005423" cy="2105417"/>
            </a:xfrm>
          </p:grpSpPr>
          <p:sp>
            <p:nvSpPr>
              <p:cNvPr id="64" name="Freeform 64"/>
              <p:cNvSpPr/>
              <p:nvPr/>
            </p:nvSpPr>
            <p:spPr>
              <a:xfrm>
                <a:off x="0" y="0"/>
                <a:ext cx="1005423" cy="2105417"/>
              </a:xfrm>
              <a:custGeom>
                <a:avLst/>
                <a:gdLst/>
                <a:ahLst/>
                <a:cxnLst/>
                <a:rect l="l" t="t" r="r" b="b"/>
                <a:pathLst>
                  <a:path w="1005423" h="2105417">
                    <a:moveTo>
                      <a:pt x="103429" y="0"/>
                    </a:moveTo>
                    <a:lnTo>
                      <a:pt x="901994" y="0"/>
                    </a:lnTo>
                    <a:cubicBezTo>
                      <a:pt x="959116" y="0"/>
                      <a:pt x="1005423" y="46307"/>
                      <a:pt x="1005423" y="103429"/>
                    </a:cubicBezTo>
                    <a:lnTo>
                      <a:pt x="1005423" y="2001988"/>
                    </a:lnTo>
                    <a:cubicBezTo>
                      <a:pt x="1005423" y="2059110"/>
                      <a:pt x="959116" y="2105417"/>
                      <a:pt x="901994" y="2105417"/>
                    </a:cubicBezTo>
                    <a:lnTo>
                      <a:pt x="103429" y="2105417"/>
                    </a:lnTo>
                    <a:cubicBezTo>
                      <a:pt x="46307" y="2105417"/>
                      <a:pt x="0" y="2059110"/>
                      <a:pt x="0" y="2001988"/>
                    </a:cubicBezTo>
                    <a:lnTo>
                      <a:pt x="0" y="103429"/>
                    </a:lnTo>
                    <a:cubicBezTo>
                      <a:pt x="0" y="46307"/>
                      <a:pt x="46307" y="0"/>
                      <a:pt x="103429" y="0"/>
                    </a:cubicBezTo>
                    <a:close/>
                  </a:path>
                </a:pathLst>
              </a:custGeom>
              <a:solidFill>
                <a:srgbClr val="141414"/>
              </a:solidFill>
            </p:spPr>
            <p:txBody>
              <a:bodyPr/>
              <a:lstStyle/>
              <a:p>
                <a:endParaRPr lang="en-US"/>
              </a:p>
            </p:txBody>
          </p:sp>
          <p:sp>
            <p:nvSpPr>
              <p:cNvPr id="65" name="TextBox 65"/>
              <p:cNvSpPr txBox="1"/>
              <p:nvPr/>
            </p:nvSpPr>
            <p:spPr>
              <a:xfrm>
                <a:off x="0" y="-47625"/>
                <a:ext cx="1005423" cy="2153042"/>
              </a:xfrm>
              <a:prstGeom prst="rect">
                <a:avLst/>
              </a:prstGeom>
            </p:spPr>
            <p:txBody>
              <a:bodyPr lIns="50800" tIns="50800" rIns="50800" bIns="50800" rtlCol="0" anchor="ctr"/>
              <a:lstStyle/>
              <a:p>
                <a:pPr algn="ctr">
                  <a:lnSpc>
                    <a:spcPts val="2340"/>
                  </a:lnSpc>
                </a:pPr>
                <a:endParaRPr/>
              </a:p>
            </p:txBody>
          </p:sp>
        </p:grpSp>
        <p:sp>
          <p:nvSpPr>
            <p:cNvPr id="66" name="Freeform 66"/>
            <p:cNvSpPr/>
            <p:nvPr/>
          </p:nvSpPr>
          <p:spPr>
            <a:xfrm>
              <a:off x="345184" y="605946"/>
              <a:ext cx="942673" cy="942673"/>
            </a:xfrm>
            <a:custGeom>
              <a:avLst/>
              <a:gdLst/>
              <a:ahLst/>
              <a:cxnLst/>
              <a:rect l="l" t="t" r="r" b="b"/>
              <a:pathLst>
                <a:path w="942673" h="942673">
                  <a:moveTo>
                    <a:pt x="0" y="0"/>
                  </a:moveTo>
                  <a:lnTo>
                    <a:pt x="942673" y="0"/>
                  </a:lnTo>
                  <a:lnTo>
                    <a:pt x="942673" y="942673"/>
                  </a:lnTo>
                  <a:lnTo>
                    <a:pt x="0" y="942673"/>
                  </a:lnTo>
                  <a:lnTo>
                    <a:pt x="0" y="0"/>
                  </a:lnTo>
                  <a:close/>
                </a:path>
              </a:pathLst>
            </a:custGeom>
            <a:blipFill>
              <a:blip>
                <a:extLst>
                  <a:ext uri="{96DAC541-7B7A-43D3-8B79-37D633B846F1}">
                    <asvg:svgBlip xmlns:asvg="http://schemas.microsoft.com/office/drawing/2016/SVG/main" r:embed="rId14"/>
                  </a:ext>
                </a:extLst>
              </a:blip>
              <a:stretch>
                <a:fillRect/>
              </a:stretch>
            </a:blipFill>
          </p:spPr>
          <p:txBody>
            <a:bodyPr/>
            <a:lstStyle/>
            <a:p>
              <a:endParaRPr lang="en-US"/>
            </a:p>
          </p:txBody>
        </p:sp>
        <p:sp>
          <p:nvSpPr>
            <p:cNvPr id="67" name="Freeform 67"/>
            <p:cNvSpPr/>
            <p:nvPr/>
          </p:nvSpPr>
          <p:spPr>
            <a:xfrm>
              <a:off x="607468" y="812658"/>
              <a:ext cx="418106" cy="529248"/>
            </a:xfrm>
            <a:custGeom>
              <a:avLst/>
              <a:gdLst/>
              <a:ahLst/>
              <a:cxnLst/>
              <a:rect l="l" t="t" r="r" b="b"/>
              <a:pathLst>
                <a:path w="418106" h="529248">
                  <a:moveTo>
                    <a:pt x="0" y="0"/>
                  </a:moveTo>
                  <a:lnTo>
                    <a:pt x="418106" y="0"/>
                  </a:lnTo>
                  <a:lnTo>
                    <a:pt x="418106" y="529248"/>
                  </a:lnTo>
                  <a:lnTo>
                    <a:pt x="0" y="529248"/>
                  </a:lnTo>
                  <a:lnTo>
                    <a:pt x="0" y="0"/>
                  </a:lnTo>
                  <a:close/>
                </a:path>
              </a:pathLst>
            </a:custGeom>
            <a:blipFill>
              <a:blip>
                <a:extLst>
                  <a:ext uri="{96DAC541-7B7A-43D3-8B79-37D633B846F1}">
                    <asvg:svgBlip xmlns:asvg="http://schemas.microsoft.com/office/drawing/2016/SVG/main" r:embed="rId15"/>
                  </a:ext>
                </a:extLst>
              </a:blip>
              <a:stretch>
                <a:fillRect/>
              </a:stretch>
            </a:blipFill>
          </p:spPr>
          <p:txBody>
            <a:bodyPr/>
            <a:lstStyle/>
            <a:p>
              <a:endParaRPr lang="en-US"/>
            </a:p>
          </p:txBody>
        </p:sp>
        <p:sp>
          <p:nvSpPr>
            <p:cNvPr id="68" name="Freeform 68"/>
            <p:cNvSpPr/>
            <p:nvPr/>
          </p:nvSpPr>
          <p:spPr>
            <a:xfrm>
              <a:off x="4020713" y="605946"/>
              <a:ext cx="942673" cy="942673"/>
            </a:xfrm>
            <a:custGeom>
              <a:avLst/>
              <a:gdLst/>
              <a:ahLst/>
              <a:cxnLst/>
              <a:rect l="l" t="t" r="r" b="b"/>
              <a:pathLst>
                <a:path w="942673" h="942673">
                  <a:moveTo>
                    <a:pt x="0" y="0"/>
                  </a:moveTo>
                  <a:lnTo>
                    <a:pt x="942672" y="0"/>
                  </a:lnTo>
                  <a:lnTo>
                    <a:pt x="942672" y="942673"/>
                  </a:lnTo>
                  <a:lnTo>
                    <a:pt x="0" y="942673"/>
                  </a:lnTo>
                  <a:lnTo>
                    <a:pt x="0" y="0"/>
                  </a:lnTo>
                  <a:close/>
                </a:path>
              </a:pathLst>
            </a:custGeom>
            <a:blipFill>
              <a:blip>
                <a:extLst>
                  <a:ext uri="{96DAC541-7B7A-43D3-8B79-37D633B846F1}">
                    <asvg:svgBlip xmlns:asvg="http://schemas.microsoft.com/office/drawing/2016/SVG/main" r:embed="rId8"/>
                  </a:ext>
                </a:extLst>
              </a:blip>
              <a:stretch>
                <a:fillRect/>
              </a:stretch>
            </a:blipFill>
          </p:spPr>
          <p:txBody>
            <a:bodyPr/>
            <a:lstStyle/>
            <a:p>
              <a:endParaRPr lang="en-US"/>
            </a:p>
          </p:txBody>
        </p:sp>
        <p:sp>
          <p:nvSpPr>
            <p:cNvPr id="69" name="Freeform 69"/>
            <p:cNvSpPr/>
            <p:nvPr/>
          </p:nvSpPr>
          <p:spPr>
            <a:xfrm>
              <a:off x="4252646" y="795632"/>
              <a:ext cx="478806" cy="563301"/>
            </a:xfrm>
            <a:custGeom>
              <a:avLst/>
              <a:gdLst/>
              <a:ahLst/>
              <a:cxnLst/>
              <a:rect l="l" t="t" r="r" b="b"/>
              <a:pathLst>
                <a:path w="478806" h="563301">
                  <a:moveTo>
                    <a:pt x="0" y="0"/>
                  </a:moveTo>
                  <a:lnTo>
                    <a:pt x="478806" y="0"/>
                  </a:lnTo>
                  <a:lnTo>
                    <a:pt x="478806" y="563301"/>
                  </a:lnTo>
                  <a:lnTo>
                    <a:pt x="0" y="563301"/>
                  </a:lnTo>
                  <a:lnTo>
                    <a:pt x="0" y="0"/>
                  </a:lnTo>
                  <a:close/>
                </a:path>
              </a:pathLst>
            </a:custGeom>
            <a:blipFill>
              <a:blip>
                <a:extLst>
                  <a:ext uri="{96DAC541-7B7A-43D3-8B79-37D633B846F1}">
                    <asvg:svgBlip xmlns:asvg="http://schemas.microsoft.com/office/drawing/2016/SVG/main" r:embed="rId16"/>
                  </a:ext>
                </a:extLst>
              </a:blip>
              <a:stretch>
                <a:fillRect/>
              </a:stretch>
            </a:blipFill>
          </p:spPr>
          <p:txBody>
            <a:bodyPr/>
            <a:lstStyle/>
            <a:p>
              <a:endParaRPr lang="en-US"/>
            </a:p>
          </p:txBody>
        </p:sp>
        <p:grpSp>
          <p:nvGrpSpPr>
            <p:cNvPr id="70" name="Group 70"/>
            <p:cNvGrpSpPr/>
            <p:nvPr/>
          </p:nvGrpSpPr>
          <p:grpSpPr>
            <a:xfrm>
              <a:off x="2913191" y="1850275"/>
              <a:ext cx="2318060" cy="798756"/>
              <a:chOff x="0" y="0"/>
              <a:chExt cx="2778550" cy="957431"/>
            </a:xfrm>
          </p:grpSpPr>
          <p:sp>
            <p:nvSpPr>
              <p:cNvPr id="71" name="Freeform 71"/>
              <p:cNvSpPr/>
              <p:nvPr/>
            </p:nvSpPr>
            <p:spPr>
              <a:xfrm>
                <a:off x="0" y="0"/>
                <a:ext cx="2778550" cy="957431"/>
              </a:xfrm>
              <a:custGeom>
                <a:avLst/>
                <a:gdLst/>
                <a:ahLst/>
                <a:cxnLst/>
                <a:rect l="l" t="t" r="r" b="b"/>
                <a:pathLst>
                  <a:path w="2778550" h="957431">
                    <a:moveTo>
                      <a:pt x="0" y="0"/>
                    </a:moveTo>
                    <a:lnTo>
                      <a:pt x="2778550" y="0"/>
                    </a:lnTo>
                    <a:lnTo>
                      <a:pt x="2778550" y="957431"/>
                    </a:lnTo>
                    <a:lnTo>
                      <a:pt x="0" y="957431"/>
                    </a:lnTo>
                    <a:close/>
                  </a:path>
                </a:pathLst>
              </a:custGeom>
              <a:blipFill>
                <a:blip r:embed="rId3">
                  <a:alphaModFix amt="0"/>
                </a:blip>
                <a:stretch>
                  <a:fillRect t="-300064" r="-591094" b="-381525"/>
                </a:stretch>
              </a:blipFill>
            </p:spPr>
            <p:txBody>
              <a:bodyPr/>
              <a:lstStyle/>
              <a:p>
                <a:endParaRPr lang="en-US"/>
              </a:p>
            </p:txBody>
          </p:sp>
          <p:sp>
            <p:nvSpPr>
              <p:cNvPr id="72" name="TextBox 72"/>
              <p:cNvSpPr txBox="1"/>
              <p:nvPr/>
            </p:nvSpPr>
            <p:spPr>
              <a:xfrm>
                <a:off x="0" y="0"/>
                <a:ext cx="2778550" cy="957431"/>
              </a:xfrm>
              <a:prstGeom prst="rect">
                <a:avLst/>
              </a:prstGeom>
            </p:spPr>
            <p:txBody>
              <a:bodyPr lIns="0" tIns="0" rIns="0" bIns="0" rtlCol="0" anchor="ctr"/>
              <a:lstStyle/>
              <a:p>
                <a:pPr algn="l">
                  <a:lnSpc>
                    <a:spcPts val="1280"/>
                  </a:lnSpc>
                </a:pPr>
                <a:r>
                  <a:rPr lang="en-US" sz="1200" b="1">
                    <a:solidFill>
                      <a:srgbClr val="FFFFFF"/>
                    </a:solidFill>
                    <a:latin typeface="Arial Bold"/>
                    <a:ea typeface="Arial Bold"/>
                    <a:cs typeface="Arial Bold"/>
                    <a:sym typeface="Arial Bold"/>
                  </a:rPr>
                  <a:t>Friends of Friends</a:t>
                </a:r>
              </a:p>
            </p:txBody>
          </p:sp>
        </p:grpSp>
        <p:grpSp>
          <p:nvGrpSpPr>
            <p:cNvPr id="73" name="Group 73"/>
            <p:cNvGrpSpPr/>
            <p:nvPr/>
          </p:nvGrpSpPr>
          <p:grpSpPr>
            <a:xfrm>
              <a:off x="377249" y="9549613"/>
              <a:ext cx="4854002" cy="1062208"/>
              <a:chOff x="0" y="0"/>
              <a:chExt cx="958815" cy="209819"/>
            </a:xfrm>
          </p:grpSpPr>
          <p:sp>
            <p:nvSpPr>
              <p:cNvPr id="74" name="Freeform 74"/>
              <p:cNvSpPr/>
              <p:nvPr/>
            </p:nvSpPr>
            <p:spPr>
              <a:xfrm>
                <a:off x="0" y="0"/>
                <a:ext cx="958815" cy="209819"/>
              </a:xfrm>
              <a:custGeom>
                <a:avLst/>
                <a:gdLst/>
                <a:ahLst/>
                <a:cxnLst/>
                <a:rect l="l" t="t" r="r" b="b"/>
                <a:pathLst>
                  <a:path w="958815" h="209819">
                    <a:moveTo>
                      <a:pt x="104909" y="0"/>
                    </a:moveTo>
                    <a:lnTo>
                      <a:pt x="853906" y="0"/>
                    </a:lnTo>
                    <a:cubicBezTo>
                      <a:pt x="881730" y="0"/>
                      <a:pt x="908414" y="11053"/>
                      <a:pt x="928088" y="30727"/>
                    </a:cubicBezTo>
                    <a:cubicBezTo>
                      <a:pt x="947762" y="50402"/>
                      <a:pt x="958815" y="77086"/>
                      <a:pt x="958815" y="104909"/>
                    </a:cubicBezTo>
                    <a:lnTo>
                      <a:pt x="958815" y="104909"/>
                    </a:lnTo>
                    <a:cubicBezTo>
                      <a:pt x="958815" y="132733"/>
                      <a:pt x="947762" y="159417"/>
                      <a:pt x="928088" y="179092"/>
                    </a:cubicBezTo>
                    <a:cubicBezTo>
                      <a:pt x="908414" y="198766"/>
                      <a:pt x="881730" y="209819"/>
                      <a:pt x="853906" y="209819"/>
                    </a:cubicBezTo>
                    <a:lnTo>
                      <a:pt x="104909" y="209819"/>
                    </a:lnTo>
                    <a:cubicBezTo>
                      <a:pt x="77086" y="209819"/>
                      <a:pt x="50402" y="198766"/>
                      <a:pt x="30727" y="179092"/>
                    </a:cubicBezTo>
                    <a:cubicBezTo>
                      <a:pt x="11053" y="159417"/>
                      <a:pt x="0" y="132733"/>
                      <a:pt x="0" y="104909"/>
                    </a:cubicBezTo>
                    <a:lnTo>
                      <a:pt x="0" y="104909"/>
                    </a:lnTo>
                    <a:cubicBezTo>
                      <a:pt x="0" y="77086"/>
                      <a:pt x="11053" y="50402"/>
                      <a:pt x="30727" y="30727"/>
                    </a:cubicBezTo>
                    <a:cubicBezTo>
                      <a:pt x="50402" y="11053"/>
                      <a:pt x="77086" y="0"/>
                      <a:pt x="104909" y="0"/>
                    </a:cubicBezTo>
                    <a:close/>
                  </a:path>
                </a:pathLst>
              </a:custGeom>
              <a:solidFill>
                <a:srgbClr val="2B2B2B"/>
              </a:solidFill>
            </p:spPr>
            <p:txBody>
              <a:bodyPr/>
              <a:lstStyle/>
              <a:p>
                <a:endParaRPr lang="en-US"/>
              </a:p>
            </p:txBody>
          </p:sp>
          <p:sp>
            <p:nvSpPr>
              <p:cNvPr id="75" name="TextBox 75"/>
              <p:cNvSpPr txBox="1"/>
              <p:nvPr/>
            </p:nvSpPr>
            <p:spPr>
              <a:xfrm>
                <a:off x="0" y="-47625"/>
                <a:ext cx="958815" cy="257444"/>
              </a:xfrm>
              <a:prstGeom prst="rect">
                <a:avLst/>
              </a:prstGeom>
            </p:spPr>
            <p:txBody>
              <a:bodyPr lIns="50800" tIns="50800" rIns="50800" bIns="50800" rtlCol="0" anchor="ctr"/>
              <a:lstStyle/>
              <a:p>
                <a:pPr algn="ctr">
                  <a:lnSpc>
                    <a:spcPts val="2340"/>
                  </a:lnSpc>
                </a:pPr>
                <a:endParaRPr/>
              </a:p>
            </p:txBody>
          </p:sp>
        </p:grpSp>
        <p:grpSp>
          <p:nvGrpSpPr>
            <p:cNvPr id="76" name="Group 76"/>
            <p:cNvGrpSpPr/>
            <p:nvPr/>
          </p:nvGrpSpPr>
          <p:grpSpPr>
            <a:xfrm>
              <a:off x="1998789" y="605946"/>
              <a:ext cx="1578858" cy="957431"/>
              <a:chOff x="0" y="0"/>
              <a:chExt cx="1578858" cy="957431"/>
            </a:xfrm>
          </p:grpSpPr>
          <p:sp>
            <p:nvSpPr>
              <p:cNvPr id="77" name="Freeform 77"/>
              <p:cNvSpPr/>
              <p:nvPr/>
            </p:nvSpPr>
            <p:spPr>
              <a:xfrm>
                <a:off x="0" y="0"/>
                <a:ext cx="1578858" cy="957431"/>
              </a:xfrm>
              <a:custGeom>
                <a:avLst/>
                <a:gdLst/>
                <a:ahLst/>
                <a:cxnLst/>
                <a:rect l="l" t="t" r="r" b="b"/>
                <a:pathLst>
                  <a:path w="1578858" h="957431">
                    <a:moveTo>
                      <a:pt x="0" y="0"/>
                    </a:moveTo>
                    <a:lnTo>
                      <a:pt x="1578858" y="0"/>
                    </a:lnTo>
                    <a:lnTo>
                      <a:pt x="1578858" y="957431"/>
                    </a:lnTo>
                    <a:lnTo>
                      <a:pt x="0" y="957431"/>
                    </a:lnTo>
                    <a:close/>
                  </a:path>
                </a:pathLst>
              </a:custGeom>
              <a:blipFill>
                <a:blip r:embed="rId3">
                  <a:alphaModFix amt="0"/>
                </a:blip>
                <a:stretch>
                  <a:fillRect t="-300064" r="-1116220" b="-381525"/>
                </a:stretch>
              </a:blipFill>
            </p:spPr>
            <p:txBody>
              <a:bodyPr/>
              <a:lstStyle/>
              <a:p>
                <a:endParaRPr lang="en-US"/>
              </a:p>
            </p:txBody>
          </p:sp>
          <p:sp>
            <p:nvSpPr>
              <p:cNvPr id="78" name="TextBox 78"/>
              <p:cNvSpPr txBox="1"/>
              <p:nvPr/>
            </p:nvSpPr>
            <p:spPr>
              <a:xfrm>
                <a:off x="0" y="19050"/>
                <a:ext cx="1578858" cy="938381"/>
              </a:xfrm>
              <a:prstGeom prst="rect">
                <a:avLst/>
              </a:prstGeom>
            </p:spPr>
            <p:txBody>
              <a:bodyPr lIns="0" tIns="0" rIns="0" bIns="0" rtlCol="0" anchor="ctr"/>
              <a:lstStyle/>
              <a:p>
                <a:pPr algn="l">
                  <a:lnSpc>
                    <a:spcPts val="2240"/>
                  </a:lnSpc>
                </a:pPr>
                <a:r>
                  <a:rPr lang="en-US" sz="2100" b="1">
                    <a:solidFill>
                      <a:srgbClr val="FFFFFF"/>
                    </a:solidFill>
                    <a:latin typeface="Arial Bold"/>
                    <a:ea typeface="Arial Bold"/>
                    <a:cs typeface="Arial Bold"/>
                    <a:sym typeface="Arial Bold"/>
                  </a:rPr>
                  <a:t>BeReal.</a:t>
                </a:r>
              </a:p>
            </p:txBody>
          </p:sp>
        </p:grpSp>
        <p:sp>
          <p:nvSpPr>
            <p:cNvPr id="79" name="Freeform 79"/>
            <p:cNvSpPr/>
            <p:nvPr/>
          </p:nvSpPr>
          <p:spPr>
            <a:xfrm>
              <a:off x="713612" y="9888564"/>
              <a:ext cx="256494" cy="238539"/>
            </a:xfrm>
            <a:custGeom>
              <a:avLst/>
              <a:gdLst/>
              <a:ahLst/>
              <a:cxnLst/>
              <a:rect l="l" t="t" r="r" b="b"/>
              <a:pathLst>
                <a:path w="256494" h="238539">
                  <a:moveTo>
                    <a:pt x="0" y="0"/>
                  </a:moveTo>
                  <a:lnTo>
                    <a:pt x="256494" y="0"/>
                  </a:lnTo>
                  <a:lnTo>
                    <a:pt x="256494" y="238539"/>
                  </a:lnTo>
                  <a:lnTo>
                    <a:pt x="0" y="238539"/>
                  </a:lnTo>
                  <a:lnTo>
                    <a:pt x="0" y="0"/>
                  </a:lnTo>
                  <a:close/>
                </a:path>
              </a:pathLst>
            </a:custGeom>
            <a:blipFill>
              <a:blip>
                <a:extLst>
                  <a:ext uri="{96DAC541-7B7A-43D3-8B79-37D633B846F1}">
                    <asvg:svgBlip xmlns:asvg="http://schemas.microsoft.com/office/drawing/2016/SVG/main" r:embed="rId17"/>
                  </a:ext>
                </a:extLst>
              </a:blip>
              <a:stretch>
                <a:fillRect/>
              </a:stretch>
            </a:blipFill>
          </p:spPr>
          <p:txBody>
            <a:bodyPr/>
            <a:lstStyle/>
            <a:p>
              <a:endParaRPr lang="en-US"/>
            </a:p>
          </p:txBody>
        </p:sp>
        <p:sp>
          <p:nvSpPr>
            <p:cNvPr id="80" name="Freeform 80"/>
            <p:cNvSpPr/>
            <p:nvPr/>
          </p:nvSpPr>
          <p:spPr>
            <a:xfrm>
              <a:off x="1734675" y="9888564"/>
              <a:ext cx="265043" cy="238539"/>
            </a:xfrm>
            <a:custGeom>
              <a:avLst/>
              <a:gdLst/>
              <a:ahLst/>
              <a:cxnLst/>
              <a:rect l="l" t="t" r="r" b="b"/>
              <a:pathLst>
                <a:path w="265043" h="238539">
                  <a:moveTo>
                    <a:pt x="0" y="0"/>
                  </a:moveTo>
                  <a:lnTo>
                    <a:pt x="265043" y="0"/>
                  </a:lnTo>
                  <a:lnTo>
                    <a:pt x="265043" y="238539"/>
                  </a:lnTo>
                  <a:lnTo>
                    <a:pt x="0" y="238539"/>
                  </a:lnTo>
                  <a:lnTo>
                    <a:pt x="0" y="0"/>
                  </a:lnTo>
                  <a:close/>
                </a:path>
              </a:pathLst>
            </a:custGeom>
            <a:blipFill>
              <a:blip>
                <a:extLst>
                  <a:ext uri="{96DAC541-7B7A-43D3-8B79-37D633B846F1}">
                    <asvg:svgBlip xmlns:asvg="http://schemas.microsoft.com/office/drawing/2016/SVG/main" r:embed="rId18"/>
                  </a:ext>
                </a:extLst>
              </a:blip>
              <a:stretch>
                <a:fillRect/>
              </a:stretch>
            </a:blipFill>
          </p:spPr>
          <p:txBody>
            <a:bodyPr/>
            <a:lstStyle/>
            <a:p>
              <a:endParaRPr lang="en-US"/>
            </a:p>
          </p:txBody>
        </p:sp>
        <p:sp>
          <p:nvSpPr>
            <p:cNvPr id="81" name="Freeform 81"/>
            <p:cNvSpPr/>
            <p:nvPr/>
          </p:nvSpPr>
          <p:spPr>
            <a:xfrm>
              <a:off x="3577647" y="9765887"/>
              <a:ext cx="371258" cy="373124"/>
            </a:xfrm>
            <a:custGeom>
              <a:avLst/>
              <a:gdLst/>
              <a:ahLst/>
              <a:cxnLst/>
              <a:rect l="l" t="t" r="r" b="b"/>
              <a:pathLst>
                <a:path w="371258" h="373124">
                  <a:moveTo>
                    <a:pt x="0" y="0"/>
                  </a:moveTo>
                  <a:lnTo>
                    <a:pt x="371258" y="0"/>
                  </a:lnTo>
                  <a:lnTo>
                    <a:pt x="371258" y="373124"/>
                  </a:lnTo>
                  <a:lnTo>
                    <a:pt x="0" y="373124"/>
                  </a:lnTo>
                  <a:lnTo>
                    <a:pt x="0" y="0"/>
                  </a:lnTo>
                  <a:close/>
                </a:path>
              </a:pathLst>
            </a:custGeom>
            <a:blipFill>
              <a:blip>
                <a:extLst>
                  <a:ext uri="{96DAC541-7B7A-43D3-8B79-37D633B846F1}">
                    <asvg:svgBlip xmlns:asvg="http://schemas.microsoft.com/office/drawing/2016/SVG/main" r:embed="rId19"/>
                  </a:ext>
                </a:extLst>
              </a:blip>
              <a:stretch>
                <a:fillRect/>
              </a:stretch>
            </a:blipFill>
          </p:spPr>
          <p:txBody>
            <a:bodyPr/>
            <a:lstStyle/>
            <a:p>
              <a:endParaRPr lang="en-US"/>
            </a:p>
          </p:txBody>
        </p:sp>
        <p:grpSp>
          <p:nvGrpSpPr>
            <p:cNvPr id="82" name="Group 82"/>
            <p:cNvGrpSpPr/>
            <p:nvPr/>
          </p:nvGrpSpPr>
          <p:grpSpPr>
            <a:xfrm>
              <a:off x="4535455" y="9735621"/>
              <a:ext cx="433657" cy="433657"/>
              <a:chOff x="0" y="0"/>
              <a:chExt cx="812800" cy="812800"/>
            </a:xfrm>
          </p:grpSpPr>
          <p:sp>
            <p:nvSpPr>
              <p:cNvPr id="83" name="Freeform 83"/>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a:blip r:embed="rId20"/>
                <a:stretch>
                  <a:fillRect l="-155679" t="-15600" b="-54426"/>
                </a:stretch>
              </a:blipFill>
              <a:ln w="38100" cap="sq">
                <a:solidFill>
                  <a:srgbClr val="000000"/>
                </a:solidFill>
                <a:prstDash val="solid"/>
                <a:miter/>
              </a:ln>
            </p:spPr>
            <p:txBody>
              <a:bodyPr/>
              <a:lstStyle/>
              <a:p>
                <a:endParaRPr lang="en-US"/>
              </a:p>
            </p:txBody>
          </p:sp>
        </p:grpSp>
        <p:sp>
          <p:nvSpPr>
            <p:cNvPr id="84" name="Freeform 84"/>
            <p:cNvSpPr/>
            <p:nvPr/>
          </p:nvSpPr>
          <p:spPr>
            <a:xfrm>
              <a:off x="2464456" y="9747998"/>
              <a:ext cx="620166" cy="620166"/>
            </a:xfrm>
            <a:custGeom>
              <a:avLst/>
              <a:gdLst/>
              <a:ahLst/>
              <a:cxnLst/>
              <a:rect l="l" t="t" r="r" b="b"/>
              <a:pathLst>
                <a:path w="620166" h="620166">
                  <a:moveTo>
                    <a:pt x="0" y="0"/>
                  </a:moveTo>
                  <a:lnTo>
                    <a:pt x="620166" y="0"/>
                  </a:lnTo>
                  <a:lnTo>
                    <a:pt x="620166" y="620167"/>
                  </a:lnTo>
                  <a:lnTo>
                    <a:pt x="0" y="620167"/>
                  </a:lnTo>
                  <a:lnTo>
                    <a:pt x="0" y="0"/>
                  </a:lnTo>
                  <a:close/>
                </a:path>
              </a:pathLst>
            </a:custGeom>
            <a:blipFill>
              <a:blip>
                <a:extLst>
                  <a:ext uri="{96DAC541-7B7A-43D3-8B79-37D633B846F1}">
                    <asvg:svgBlip xmlns:asvg="http://schemas.microsoft.com/office/drawing/2016/SVG/main" r:embed="rId12"/>
                  </a:ext>
                </a:extLst>
              </a:blip>
              <a:stretch>
                <a:fillRect/>
              </a:stretch>
            </a:blipFill>
          </p:spPr>
          <p:txBody>
            <a:bodyPr/>
            <a:lstStyle/>
            <a:p>
              <a:endParaRPr lang="en-US"/>
            </a:p>
          </p:txBody>
        </p:sp>
        <p:sp>
          <p:nvSpPr>
            <p:cNvPr id="85" name="Freeform 85"/>
            <p:cNvSpPr/>
            <p:nvPr/>
          </p:nvSpPr>
          <p:spPr>
            <a:xfrm>
              <a:off x="2567835" y="9889618"/>
              <a:ext cx="413408" cy="336928"/>
            </a:xfrm>
            <a:custGeom>
              <a:avLst/>
              <a:gdLst/>
              <a:ahLst/>
              <a:cxnLst/>
              <a:rect l="l" t="t" r="r" b="b"/>
              <a:pathLst>
                <a:path w="413408" h="336928">
                  <a:moveTo>
                    <a:pt x="0" y="0"/>
                  </a:moveTo>
                  <a:lnTo>
                    <a:pt x="413408" y="0"/>
                  </a:lnTo>
                  <a:lnTo>
                    <a:pt x="413408" y="336927"/>
                  </a:lnTo>
                  <a:lnTo>
                    <a:pt x="0" y="336927"/>
                  </a:lnTo>
                  <a:lnTo>
                    <a:pt x="0" y="0"/>
                  </a:lnTo>
                  <a:close/>
                </a:path>
              </a:pathLst>
            </a:custGeom>
            <a:blipFill>
              <a:blip>
                <a:extLst>
                  <a:ext uri="{96DAC541-7B7A-43D3-8B79-37D633B846F1}">
                    <asvg:svgBlip xmlns:asvg="http://schemas.microsoft.com/office/drawing/2016/SVG/main" r:embed="rId21"/>
                  </a:ext>
                </a:extLst>
              </a:blip>
              <a:stretch>
                <a:fillRect/>
              </a:stretch>
            </a:blipFill>
          </p:spPr>
          <p:txBody>
            <a:bodyPr/>
            <a:lstStyle/>
            <a:p>
              <a:endParaRPr lang="en-US"/>
            </a:p>
          </p:txBody>
        </p:sp>
        <p:sp>
          <p:nvSpPr>
            <p:cNvPr id="86" name="TextBox 86"/>
            <p:cNvSpPr txBox="1"/>
            <p:nvPr/>
          </p:nvSpPr>
          <p:spPr>
            <a:xfrm>
              <a:off x="455305" y="10265151"/>
              <a:ext cx="773108" cy="186978"/>
            </a:xfrm>
            <a:prstGeom prst="rect">
              <a:avLst/>
            </a:prstGeom>
          </p:spPr>
          <p:txBody>
            <a:bodyPr lIns="0" tIns="0" rIns="0" bIns="0" rtlCol="0" anchor="t">
              <a:spAutoFit/>
            </a:bodyPr>
            <a:lstStyle/>
            <a:p>
              <a:pPr algn="ctr">
                <a:lnSpc>
                  <a:spcPts val="1020"/>
                </a:lnSpc>
                <a:spcBef>
                  <a:spcPct val="0"/>
                </a:spcBef>
              </a:pPr>
              <a:r>
                <a:rPr lang="en-US" sz="850" b="1">
                  <a:solidFill>
                    <a:srgbClr val="FFFFFF"/>
                  </a:solidFill>
                  <a:latin typeface="Calibri (MS) Bold"/>
                  <a:ea typeface="Calibri (MS) Bold"/>
                  <a:cs typeface="Calibri (MS) Bold"/>
                  <a:sym typeface="Calibri (MS) Bold"/>
                </a:rPr>
                <a:t>Home</a:t>
              </a:r>
            </a:p>
          </p:txBody>
        </p:sp>
        <p:sp>
          <p:nvSpPr>
            <p:cNvPr id="87" name="TextBox 87"/>
            <p:cNvSpPr txBox="1"/>
            <p:nvPr/>
          </p:nvSpPr>
          <p:spPr>
            <a:xfrm>
              <a:off x="1480643" y="10265151"/>
              <a:ext cx="773108" cy="186978"/>
            </a:xfrm>
            <a:prstGeom prst="rect">
              <a:avLst/>
            </a:prstGeom>
          </p:spPr>
          <p:txBody>
            <a:bodyPr lIns="0" tIns="0" rIns="0" bIns="0" rtlCol="0" anchor="t">
              <a:spAutoFit/>
            </a:bodyPr>
            <a:lstStyle/>
            <a:p>
              <a:pPr algn="ctr">
                <a:lnSpc>
                  <a:spcPts val="1020"/>
                </a:lnSpc>
                <a:spcBef>
                  <a:spcPct val="0"/>
                </a:spcBef>
              </a:pPr>
              <a:r>
                <a:rPr lang="en-US" sz="850" b="1">
                  <a:solidFill>
                    <a:srgbClr val="FFFFFF"/>
                  </a:solidFill>
                  <a:latin typeface="Calibri (MS) Bold"/>
                  <a:ea typeface="Calibri (MS) Bold"/>
                  <a:cs typeface="Calibri (MS) Bold"/>
                  <a:sym typeface="Calibri (MS) Bold"/>
                </a:rPr>
                <a:t>Chat</a:t>
              </a:r>
            </a:p>
          </p:txBody>
        </p:sp>
        <p:sp>
          <p:nvSpPr>
            <p:cNvPr id="88" name="TextBox 88"/>
            <p:cNvSpPr txBox="1"/>
            <p:nvPr/>
          </p:nvSpPr>
          <p:spPr>
            <a:xfrm>
              <a:off x="3376722" y="10265151"/>
              <a:ext cx="773108" cy="186978"/>
            </a:xfrm>
            <a:prstGeom prst="rect">
              <a:avLst/>
            </a:prstGeom>
          </p:spPr>
          <p:txBody>
            <a:bodyPr lIns="0" tIns="0" rIns="0" bIns="0" rtlCol="0" anchor="t">
              <a:spAutoFit/>
            </a:bodyPr>
            <a:lstStyle/>
            <a:p>
              <a:pPr algn="ctr">
                <a:lnSpc>
                  <a:spcPts val="1020"/>
                </a:lnSpc>
                <a:spcBef>
                  <a:spcPct val="0"/>
                </a:spcBef>
              </a:pPr>
              <a:r>
                <a:rPr lang="en-US" sz="850" b="1">
                  <a:solidFill>
                    <a:srgbClr val="FFFFFF"/>
                  </a:solidFill>
                  <a:latin typeface="Calibri (MS) Bold"/>
                  <a:ea typeface="Calibri (MS) Bold"/>
                  <a:cs typeface="Calibri (MS) Bold"/>
                  <a:sym typeface="Calibri (MS) Bold"/>
                </a:rPr>
                <a:t>Memories</a:t>
              </a:r>
            </a:p>
          </p:txBody>
        </p:sp>
        <p:sp>
          <p:nvSpPr>
            <p:cNvPr id="89" name="TextBox 89"/>
            <p:cNvSpPr txBox="1"/>
            <p:nvPr/>
          </p:nvSpPr>
          <p:spPr>
            <a:xfrm>
              <a:off x="4365730" y="10265151"/>
              <a:ext cx="773108" cy="186978"/>
            </a:xfrm>
            <a:prstGeom prst="rect">
              <a:avLst/>
            </a:prstGeom>
          </p:spPr>
          <p:txBody>
            <a:bodyPr lIns="0" tIns="0" rIns="0" bIns="0" rtlCol="0" anchor="t">
              <a:spAutoFit/>
            </a:bodyPr>
            <a:lstStyle/>
            <a:p>
              <a:pPr algn="ctr">
                <a:lnSpc>
                  <a:spcPts val="1020"/>
                </a:lnSpc>
                <a:spcBef>
                  <a:spcPct val="0"/>
                </a:spcBef>
              </a:pPr>
              <a:r>
                <a:rPr lang="en-US" sz="850" b="1">
                  <a:solidFill>
                    <a:srgbClr val="FFFFFF"/>
                  </a:solidFill>
                  <a:latin typeface="Calibri (MS) Bold"/>
                  <a:ea typeface="Calibri (MS) Bold"/>
                  <a:cs typeface="Calibri (MS) Bold"/>
                  <a:sym typeface="Calibri (MS) Bold"/>
                </a:rPr>
                <a:t>Profile</a:t>
              </a:r>
            </a:p>
          </p:txBody>
        </p:sp>
        <p:grpSp>
          <p:nvGrpSpPr>
            <p:cNvPr id="90" name="Group 90"/>
            <p:cNvGrpSpPr/>
            <p:nvPr/>
          </p:nvGrpSpPr>
          <p:grpSpPr>
            <a:xfrm>
              <a:off x="251597" y="2804708"/>
              <a:ext cx="1588850" cy="613535"/>
              <a:chOff x="0" y="0"/>
              <a:chExt cx="313847" cy="121192"/>
            </a:xfrm>
          </p:grpSpPr>
          <p:sp>
            <p:nvSpPr>
              <p:cNvPr id="91" name="Freeform 91"/>
              <p:cNvSpPr/>
              <p:nvPr/>
            </p:nvSpPr>
            <p:spPr>
              <a:xfrm>
                <a:off x="0" y="0"/>
                <a:ext cx="313847" cy="121192"/>
              </a:xfrm>
              <a:custGeom>
                <a:avLst/>
                <a:gdLst/>
                <a:ahLst/>
                <a:cxnLst/>
                <a:rect l="l" t="t" r="r" b="b"/>
                <a:pathLst>
                  <a:path w="313847" h="121192">
                    <a:moveTo>
                      <a:pt x="60596" y="0"/>
                    </a:moveTo>
                    <a:lnTo>
                      <a:pt x="253251" y="0"/>
                    </a:lnTo>
                    <a:cubicBezTo>
                      <a:pt x="286717" y="0"/>
                      <a:pt x="313847" y="27130"/>
                      <a:pt x="313847" y="60596"/>
                    </a:cubicBezTo>
                    <a:lnTo>
                      <a:pt x="313847" y="60596"/>
                    </a:lnTo>
                    <a:cubicBezTo>
                      <a:pt x="313847" y="76667"/>
                      <a:pt x="307463" y="92080"/>
                      <a:pt x="296099" y="103444"/>
                    </a:cubicBezTo>
                    <a:cubicBezTo>
                      <a:pt x="284735" y="114808"/>
                      <a:pt x="269322" y="121192"/>
                      <a:pt x="253251" y="121192"/>
                    </a:cubicBezTo>
                    <a:lnTo>
                      <a:pt x="60596" y="121192"/>
                    </a:lnTo>
                    <a:cubicBezTo>
                      <a:pt x="44525" y="121192"/>
                      <a:pt x="29112" y="114808"/>
                      <a:pt x="17748" y="103444"/>
                    </a:cubicBezTo>
                    <a:cubicBezTo>
                      <a:pt x="6384" y="92080"/>
                      <a:pt x="0" y="76667"/>
                      <a:pt x="0" y="60596"/>
                    </a:cubicBezTo>
                    <a:lnTo>
                      <a:pt x="0" y="60596"/>
                    </a:lnTo>
                    <a:cubicBezTo>
                      <a:pt x="0" y="44525"/>
                      <a:pt x="6384" y="29112"/>
                      <a:pt x="17748" y="17748"/>
                    </a:cubicBezTo>
                    <a:cubicBezTo>
                      <a:pt x="29112" y="6384"/>
                      <a:pt x="44525" y="0"/>
                      <a:pt x="60596" y="0"/>
                    </a:cubicBezTo>
                    <a:close/>
                  </a:path>
                </a:pathLst>
              </a:custGeom>
              <a:solidFill>
                <a:srgbClr val="FFFFFF"/>
              </a:solidFill>
            </p:spPr>
            <p:txBody>
              <a:bodyPr/>
              <a:lstStyle/>
              <a:p>
                <a:endParaRPr lang="en-US"/>
              </a:p>
            </p:txBody>
          </p:sp>
          <p:sp>
            <p:nvSpPr>
              <p:cNvPr id="92" name="TextBox 92"/>
              <p:cNvSpPr txBox="1"/>
              <p:nvPr/>
            </p:nvSpPr>
            <p:spPr>
              <a:xfrm>
                <a:off x="0" y="-47625"/>
                <a:ext cx="313847" cy="168817"/>
              </a:xfrm>
              <a:prstGeom prst="rect">
                <a:avLst/>
              </a:prstGeom>
            </p:spPr>
            <p:txBody>
              <a:bodyPr lIns="50800" tIns="50800" rIns="50800" bIns="50800" rtlCol="0" anchor="ctr"/>
              <a:lstStyle/>
              <a:p>
                <a:pPr algn="ctr">
                  <a:lnSpc>
                    <a:spcPts val="2340"/>
                  </a:lnSpc>
                </a:pPr>
                <a:endParaRPr/>
              </a:p>
            </p:txBody>
          </p:sp>
        </p:grpSp>
        <p:grpSp>
          <p:nvGrpSpPr>
            <p:cNvPr id="93" name="Group 93"/>
            <p:cNvGrpSpPr/>
            <p:nvPr/>
          </p:nvGrpSpPr>
          <p:grpSpPr>
            <a:xfrm>
              <a:off x="816521" y="1929613"/>
              <a:ext cx="1578858" cy="798756"/>
              <a:chOff x="0" y="0"/>
              <a:chExt cx="1892503" cy="957431"/>
            </a:xfrm>
          </p:grpSpPr>
          <p:sp>
            <p:nvSpPr>
              <p:cNvPr id="94" name="Freeform 94"/>
              <p:cNvSpPr/>
              <p:nvPr/>
            </p:nvSpPr>
            <p:spPr>
              <a:xfrm>
                <a:off x="0" y="0"/>
                <a:ext cx="1892503" cy="957431"/>
              </a:xfrm>
              <a:custGeom>
                <a:avLst/>
                <a:gdLst/>
                <a:ahLst/>
                <a:cxnLst/>
                <a:rect l="l" t="t" r="r" b="b"/>
                <a:pathLst>
                  <a:path w="1892503" h="957431">
                    <a:moveTo>
                      <a:pt x="0" y="0"/>
                    </a:moveTo>
                    <a:lnTo>
                      <a:pt x="1892503" y="0"/>
                    </a:lnTo>
                    <a:lnTo>
                      <a:pt x="1892503" y="957431"/>
                    </a:lnTo>
                    <a:lnTo>
                      <a:pt x="0" y="957431"/>
                    </a:lnTo>
                    <a:close/>
                  </a:path>
                </a:pathLst>
              </a:custGeom>
              <a:blipFill>
                <a:blip r:embed="rId3">
                  <a:alphaModFix amt="0"/>
                </a:blip>
                <a:stretch>
                  <a:fillRect t="-300064" r="-914656" b="-381525"/>
                </a:stretch>
              </a:blipFill>
            </p:spPr>
            <p:txBody>
              <a:bodyPr/>
              <a:lstStyle/>
              <a:p>
                <a:endParaRPr lang="en-US"/>
              </a:p>
            </p:txBody>
          </p:sp>
          <p:sp>
            <p:nvSpPr>
              <p:cNvPr id="95" name="TextBox 95"/>
              <p:cNvSpPr txBox="1"/>
              <p:nvPr/>
            </p:nvSpPr>
            <p:spPr>
              <a:xfrm>
                <a:off x="0" y="0"/>
                <a:ext cx="1892503" cy="957431"/>
              </a:xfrm>
              <a:prstGeom prst="rect">
                <a:avLst/>
              </a:prstGeom>
            </p:spPr>
            <p:txBody>
              <a:bodyPr lIns="0" tIns="0" rIns="0" bIns="0" rtlCol="0" anchor="ctr"/>
              <a:lstStyle/>
              <a:p>
                <a:pPr algn="l">
                  <a:lnSpc>
                    <a:spcPts val="1280"/>
                  </a:lnSpc>
                </a:pPr>
                <a:r>
                  <a:rPr lang="en-US" sz="1200" b="1">
                    <a:solidFill>
                      <a:srgbClr val="FFFFFF"/>
                    </a:solidFill>
                    <a:latin typeface="Arial Bold"/>
                    <a:ea typeface="Arial Bold"/>
                    <a:cs typeface="Arial Bold"/>
                    <a:sym typeface="Arial Bold"/>
                  </a:rPr>
                  <a:t>My Friends</a:t>
                </a:r>
              </a:p>
            </p:txBody>
          </p:sp>
        </p:grpSp>
        <p:grpSp>
          <p:nvGrpSpPr>
            <p:cNvPr id="96" name="Group 96"/>
            <p:cNvGrpSpPr/>
            <p:nvPr/>
          </p:nvGrpSpPr>
          <p:grpSpPr>
            <a:xfrm>
              <a:off x="582024" y="2797176"/>
              <a:ext cx="1023926" cy="628600"/>
              <a:chOff x="0" y="0"/>
              <a:chExt cx="1559557" cy="957431"/>
            </a:xfrm>
          </p:grpSpPr>
          <p:sp>
            <p:nvSpPr>
              <p:cNvPr id="97" name="Freeform 97"/>
              <p:cNvSpPr/>
              <p:nvPr/>
            </p:nvSpPr>
            <p:spPr>
              <a:xfrm>
                <a:off x="0" y="0"/>
                <a:ext cx="1559557" cy="957431"/>
              </a:xfrm>
              <a:custGeom>
                <a:avLst/>
                <a:gdLst/>
                <a:ahLst/>
                <a:cxnLst/>
                <a:rect l="l" t="t" r="r" b="b"/>
                <a:pathLst>
                  <a:path w="1559557" h="957431">
                    <a:moveTo>
                      <a:pt x="0" y="0"/>
                    </a:moveTo>
                    <a:lnTo>
                      <a:pt x="1559557" y="0"/>
                    </a:lnTo>
                    <a:lnTo>
                      <a:pt x="1559557" y="957431"/>
                    </a:lnTo>
                    <a:lnTo>
                      <a:pt x="0" y="957431"/>
                    </a:lnTo>
                    <a:close/>
                  </a:path>
                </a:pathLst>
              </a:custGeom>
              <a:blipFill>
                <a:blip r:embed="rId3">
                  <a:alphaModFix amt="0"/>
                </a:blip>
                <a:stretch>
                  <a:fillRect t="-300064" r="-1131272" b="-381525"/>
                </a:stretch>
              </a:blipFill>
            </p:spPr>
            <p:txBody>
              <a:bodyPr/>
              <a:lstStyle/>
              <a:p>
                <a:endParaRPr lang="en-US"/>
              </a:p>
            </p:txBody>
          </p:sp>
          <p:sp>
            <p:nvSpPr>
              <p:cNvPr id="98" name="TextBox 98"/>
              <p:cNvSpPr txBox="1"/>
              <p:nvPr/>
            </p:nvSpPr>
            <p:spPr>
              <a:xfrm>
                <a:off x="0" y="0"/>
                <a:ext cx="1559557" cy="957431"/>
              </a:xfrm>
              <a:prstGeom prst="rect">
                <a:avLst/>
              </a:prstGeom>
            </p:spPr>
            <p:txBody>
              <a:bodyPr lIns="0" tIns="0" rIns="0" bIns="0" rtlCol="0" anchor="ctr"/>
              <a:lstStyle/>
              <a:p>
                <a:pPr algn="ctr">
                  <a:lnSpc>
                    <a:spcPts val="1280"/>
                  </a:lnSpc>
                </a:pPr>
                <a:r>
                  <a:rPr lang="en-US" sz="1200" b="1">
                    <a:solidFill>
                      <a:srgbClr val="000000"/>
                    </a:solidFill>
                    <a:latin typeface="Arial Bold"/>
                    <a:ea typeface="Arial Bold"/>
                    <a:cs typeface="Arial Bold"/>
                    <a:sym typeface="Arial Bold"/>
                  </a:rPr>
                  <a:t>Today</a:t>
                </a:r>
              </a:p>
            </p:txBody>
          </p:sp>
        </p:grpSp>
        <p:grpSp>
          <p:nvGrpSpPr>
            <p:cNvPr id="99" name="Group 99"/>
            <p:cNvGrpSpPr/>
            <p:nvPr/>
          </p:nvGrpSpPr>
          <p:grpSpPr>
            <a:xfrm>
              <a:off x="1991405" y="2797176"/>
              <a:ext cx="1588850" cy="613535"/>
              <a:chOff x="0" y="0"/>
              <a:chExt cx="313847" cy="121192"/>
            </a:xfrm>
          </p:grpSpPr>
          <p:sp>
            <p:nvSpPr>
              <p:cNvPr id="100" name="Freeform 100"/>
              <p:cNvSpPr/>
              <p:nvPr/>
            </p:nvSpPr>
            <p:spPr>
              <a:xfrm>
                <a:off x="0" y="0"/>
                <a:ext cx="313847" cy="121192"/>
              </a:xfrm>
              <a:custGeom>
                <a:avLst/>
                <a:gdLst/>
                <a:ahLst/>
                <a:cxnLst/>
                <a:rect l="l" t="t" r="r" b="b"/>
                <a:pathLst>
                  <a:path w="313847" h="121192">
                    <a:moveTo>
                      <a:pt x="60596" y="0"/>
                    </a:moveTo>
                    <a:lnTo>
                      <a:pt x="253251" y="0"/>
                    </a:lnTo>
                    <a:cubicBezTo>
                      <a:pt x="286717" y="0"/>
                      <a:pt x="313847" y="27130"/>
                      <a:pt x="313847" y="60596"/>
                    </a:cubicBezTo>
                    <a:lnTo>
                      <a:pt x="313847" y="60596"/>
                    </a:lnTo>
                    <a:cubicBezTo>
                      <a:pt x="313847" y="76667"/>
                      <a:pt x="307463" y="92080"/>
                      <a:pt x="296099" y="103444"/>
                    </a:cubicBezTo>
                    <a:cubicBezTo>
                      <a:pt x="284735" y="114808"/>
                      <a:pt x="269322" y="121192"/>
                      <a:pt x="253251" y="121192"/>
                    </a:cubicBezTo>
                    <a:lnTo>
                      <a:pt x="60596" y="121192"/>
                    </a:lnTo>
                    <a:cubicBezTo>
                      <a:pt x="44525" y="121192"/>
                      <a:pt x="29112" y="114808"/>
                      <a:pt x="17748" y="103444"/>
                    </a:cubicBezTo>
                    <a:cubicBezTo>
                      <a:pt x="6384" y="92080"/>
                      <a:pt x="0" y="76667"/>
                      <a:pt x="0" y="60596"/>
                    </a:cubicBezTo>
                    <a:lnTo>
                      <a:pt x="0" y="60596"/>
                    </a:lnTo>
                    <a:cubicBezTo>
                      <a:pt x="0" y="44525"/>
                      <a:pt x="6384" y="29112"/>
                      <a:pt x="17748" y="17748"/>
                    </a:cubicBezTo>
                    <a:cubicBezTo>
                      <a:pt x="29112" y="6384"/>
                      <a:pt x="44525" y="0"/>
                      <a:pt x="60596" y="0"/>
                    </a:cubicBezTo>
                    <a:close/>
                  </a:path>
                </a:pathLst>
              </a:custGeom>
              <a:solidFill>
                <a:srgbClr val="363535"/>
              </a:solidFill>
            </p:spPr>
            <p:txBody>
              <a:bodyPr/>
              <a:lstStyle/>
              <a:p>
                <a:endParaRPr lang="en-US"/>
              </a:p>
            </p:txBody>
          </p:sp>
          <p:sp>
            <p:nvSpPr>
              <p:cNvPr id="101" name="TextBox 101"/>
              <p:cNvSpPr txBox="1"/>
              <p:nvPr/>
            </p:nvSpPr>
            <p:spPr>
              <a:xfrm>
                <a:off x="0" y="-47625"/>
                <a:ext cx="313847" cy="168817"/>
              </a:xfrm>
              <a:prstGeom prst="rect">
                <a:avLst/>
              </a:prstGeom>
            </p:spPr>
            <p:txBody>
              <a:bodyPr lIns="50800" tIns="50800" rIns="50800" bIns="50800" rtlCol="0" anchor="ctr"/>
              <a:lstStyle/>
              <a:p>
                <a:pPr algn="ctr">
                  <a:lnSpc>
                    <a:spcPts val="2340"/>
                  </a:lnSpc>
                </a:pPr>
                <a:endParaRPr/>
              </a:p>
            </p:txBody>
          </p:sp>
        </p:grpSp>
        <p:grpSp>
          <p:nvGrpSpPr>
            <p:cNvPr id="102" name="Group 102"/>
            <p:cNvGrpSpPr/>
            <p:nvPr/>
          </p:nvGrpSpPr>
          <p:grpSpPr>
            <a:xfrm>
              <a:off x="2323047" y="2797176"/>
              <a:ext cx="930342" cy="628600"/>
              <a:chOff x="0" y="0"/>
              <a:chExt cx="1417019" cy="957431"/>
            </a:xfrm>
          </p:grpSpPr>
          <p:sp>
            <p:nvSpPr>
              <p:cNvPr id="103" name="Freeform 103"/>
              <p:cNvSpPr/>
              <p:nvPr/>
            </p:nvSpPr>
            <p:spPr>
              <a:xfrm>
                <a:off x="0" y="0"/>
                <a:ext cx="1417019" cy="957431"/>
              </a:xfrm>
              <a:custGeom>
                <a:avLst/>
                <a:gdLst/>
                <a:ahLst/>
                <a:cxnLst/>
                <a:rect l="l" t="t" r="r" b="b"/>
                <a:pathLst>
                  <a:path w="1417019" h="957431">
                    <a:moveTo>
                      <a:pt x="0" y="0"/>
                    </a:moveTo>
                    <a:lnTo>
                      <a:pt x="1417019" y="0"/>
                    </a:lnTo>
                    <a:lnTo>
                      <a:pt x="1417019" y="957431"/>
                    </a:lnTo>
                    <a:lnTo>
                      <a:pt x="0" y="957431"/>
                    </a:lnTo>
                    <a:close/>
                  </a:path>
                </a:pathLst>
              </a:custGeom>
              <a:blipFill>
                <a:blip r:embed="rId3">
                  <a:alphaModFix amt="0"/>
                </a:blip>
                <a:stretch>
                  <a:fillRect t="-300064" r="-1255126" b="-381525"/>
                </a:stretch>
              </a:blipFill>
            </p:spPr>
            <p:txBody>
              <a:bodyPr/>
              <a:lstStyle/>
              <a:p>
                <a:endParaRPr lang="en-US"/>
              </a:p>
            </p:txBody>
          </p:sp>
          <p:sp>
            <p:nvSpPr>
              <p:cNvPr id="104" name="TextBox 104"/>
              <p:cNvSpPr txBox="1"/>
              <p:nvPr/>
            </p:nvSpPr>
            <p:spPr>
              <a:xfrm>
                <a:off x="0" y="0"/>
                <a:ext cx="1417019" cy="957431"/>
              </a:xfrm>
              <a:prstGeom prst="rect">
                <a:avLst/>
              </a:prstGeom>
            </p:spPr>
            <p:txBody>
              <a:bodyPr lIns="0" tIns="0" rIns="0" bIns="0" rtlCol="0" anchor="ctr"/>
              <a:lstStyle/>
              <a:p>
                <a:pPr algn="ctr">
                  <a:lnSpc>
                    <a:spcPts val="1280"/>
                  </a:lnSpc>
                </a:pPr>
                <a:r>
                  <a:rPr lang="en-US" sz="1200" b="1">
                    <a:solidFill>
                      <a:srgbClr val="FFFFFF"/>
                    </a:solidFill>
                    <a:latin typeface="Arial Bold"/>
                    <a:ea typeface="Arial Bold"/>
                    <a:cs typeface="Arial Bold"/>
                    <a:sym typeface="Arial Bold"/>
                  </a:rPr>
                  <a:t>Board</a:t>
                </a:r>
              </a:p>
            </p:txBody>
          </p:sp>
        </p:grpSp>
        <p:grpSp>
          <p:nvGrpSpPr>
            <p:cNvPr id="105" name="Group 105"/>
            <p:cNvGrpSpPr/>
            <p:nvPr/>
          </p:nvGrpSpPr>
          <p:grpSpPr>
            <a:xfrm>
              <a:off x="3731214" y="2789644"/>
              <a:ext cx="1588850" cy="613535"/>
              <a:chOff x="0" y="0"/>
              <a:chExt cx="313847" cy="121192"/>
            </a:xfrm>
          </p:grpSpPr>
          <p:sp>
            <p:nvSpPr>
              <p:cNvPr id="106" name="Freeform 106"/>
              <p:cNvSpPr/>
              <p:nvPr/>
            </p:nvSpPr>
            <p:spPr>
              <a:xfrm>
                <a:off x="0" y="0"/>
                <a:ext cx="313847" cy="121192"/>
              </a:xfrm>
              <a:custGeom>
                <a:avLst/>
                <a:gdLst/>
                <a:ahLst/>
                <a:cxnLst/>
                <a:rect l="l" t="t" r="r" b="b"/>
                <a:pathLst>
                  <a:path w="313847" h="121192">
                    <a:moveTo>
                      <a:pt x="60596" y="0"/>
                    </a:moveTo>
                    <a:lnTo>
                      <a:pt x="253251" y="0"/>
                    </a:lnTo>
                    <a:cubicBezTo>
                      <a:pt x="286717" y="0"/>
                      <a:pt x="313847" y="27130"/>
                      <a:pt x="313847" y="60596"/>
                    </a:cubicBezTo>
                    <a:lnTo>
                      <a:pt x="313847" y="60596"/>
                    </a:lnTo>
                    <a:cubicBezTo>
                      <a:pt x="313847" y="76667"/>
                      <a:pt x="307463" y="92080"/>
                      <a:pt x="296099" y="103444"/>
                    </a:cubicBezTo>
                    <a:cubicBezTo>
                      <a:pt x="284735" y="114808"/>
                      <a:pt x="269322" y="121192"/>
                      <a:pt x="253251" y="121192"/>
                    </a:cubicBezTo>
                    <a:lnTo>
                      <a:pt x="60596" y="121192"/>
                    </a:lnTo>
                    <a:cubicBezTo>
                      <a:pt x="44525" y="121192"/>
                      <a:pt x="29112" y="114808"/>
                      <a:pt x="17748" y="103444"/>
                    </a:cubicBezTo>
                    <a:cubicBezTo>
                      <a:pt x="6384" y="92080"/>
                      <a:pt x="0" y="76667"/>
                      <a:pt x="0" y="60596"/>
                    </a:cubicBezTo>
                    <a:lnTo>
                      <a:pt x="0" y="60596"/>
                    </a:lnTo>
                    <a:cubicBezTo>
                      <a:pt x="0" y="44525"/>
                      <a:pt x="6384" y="29112"/>
                      <a:pt x="17748" y="17748"/>
                    </a:cubicBezTo>
                    <a:cubicBezTo>
                      <a:pt x="29112" y="6384"/>
                      <a:pt x="44525" y="0"/>
                      <a:pt x="60596" y="0"/>
                    </a:cubicBezTo>
                    <a:close/>
                  </a:path>
                </a:pathLst>
              </a:custGeom>
              <a:solidFill>
                <a:srgbClr val="363535"/>
              </a:solidFill>
            </p:spPr>
            <p:txBody>
              <a:bodyPr/>
              <a:lstStyle/>
              <a:p>
                <a:endParaRPr lang="en-US"/>
              </a:p>
            </p:txBody>
          </p:sp>
          <p:sp>
            <p:nvSpPr>
              <p:cNvPr id="107" name="TextBox 107"/>
              <p:cNvSpPr txBox="1"/>
              <p:nvPr/>
            </p:nvSpPr>
            <p:spPr>
              <a:xfrm>
                <a:off x="0" y="-47625"/>
                <a:ext cx="313847" cy="168817"/>
              </a:xfrm>
              <a:prstGeom prst="rect">
                <a:avLst/>
              </a:prstGeom>
            </p:spPr>
            <p:txBody>
              <a:bodyPr lIns="50800" tIns="50800" rIns="50800" bIns="50800" rtlCol="0" anchor="ctr"/>
              <a:lstStyle/>
              <a:p>
                <a:pPr algn="ctr">
                  <a:lnSpc>
                    <a:spcPts val="2340"/>
                  </a:lnSpc>
                </a:pPr>
                <a:endParaRPr/>
              </a:p>
            </p:txBody>
          </p:sp>
        </p:grpSp>
        <p:grpSp>
          <p:nvGrpSpPr>
            <p:cNvPr id="108" name="Group 108"/>
            <p:cNvGrpSpPr/>
            <p:nvPr/>
          </p:nvGrpSpPr>
          <p:grpSpPr>
            <a:xfrm>
              <a:off x="4062855" y="2804708"/>
              <a:ext cx="928093" cy="628600"/>
              <a:chOff x="0" y="0"/>
              <a:chExt cx="1413593" cy="957431"/>
            </a:xfrm>
          </p:grpSpPr>
          <p:sp>
            <p:nvSpPr>
              <p:cNvPr id="109" name="Freeform 109"/>
              <p:cNvSpPr/>
              <p:nvPr/>
            </p:nvSpPr>
            <p:spPr>
              <a:xfrm>
                <a:off x="0" y="0"/>
                <a:ext cx="1413593" cy="957431"/>
              </a:xfrm>
              <a:custGeom>
                <a:avLst/>
                <a:gdLst/>
                <a:ahLst/>
                <a:cxnLst/>
                <a:rect l="l" t="t" r="r" b="b"/>
                <a:pathLst>
                  <a:path w="1413593" h="957431">
                    <a:moveTo>
                      <a:pt x="0" y="0"/>
                    </a:moveTo>
                    <a:lnTo>
                      <a:pt x="1413593" y="0"/>
                    </a:lnTo>
                    <a:lnTo>
                      <a:pt x="1413593" y="957431"/>
                    </a:lnTo>
                    <a:lnTo>
                      <a:pt x="0" y="957431"/>
                    </a:lnTo>
                    <a:close/>
                  </a:path>
                </a:pathLst>
              </a:custGeom>
              <a:blipFill>
                <a:blip r:embed="rId3">
                  <a:alphaModFix amt="0"/>
                </a:blip>
                <a:stretch>
                  <a:fillRect t="-300064" r="-1258411" b="-381525"/>
                </a:stretch>
              </a:blipFill>
            </p:spPr>
            <p:txBody>
              <a:bodyPr/>
              <a:lstStyle/>
              <a:p>
                <a:endParaRPr lang="en-US"/>
              </a:p>
            </p:txBody>
          </p:sp>
          <p:sp>
            <p:nvSpPr>
              <p:cNvPr id="110" name="TextBox 110"/>
              <p:cNvSpPr txBox="1"/>
              <p:nvPr/>
            </p:nvSpPr>
            <p:spPr>
              <a:xfrm>
                <a:off x="0" y="0"/>
                <a:ext cx="1413593" cy="957431"/>
              </a:xfrm>
              <a:prstGeom prst="rect">
                <a:avLst/>
              </a:prstGeom>
            </p:spPr>
            <p:txBody>
              <a:bodyPr lIns="0" tIns="0" rIns="0" bIns="0" rtlCol="0" anchor="ctr"/>
              <a:lstStyle/>
              <a:p>
                <a:pPr algn="ctr">
                  <a:lnSpc>
                    <a:spcPts val="1280"/>
                  </a:lnSpc>
                </a:pPr>
                <a:r>
                  <a:rPr lang="en-US" sz="1200" b="1">
                    <a:solidFill>
                      <a:srgbClr val="FFFFFF"/>
                    </a:solidFill>
                    <a:latin typeface="Arial Bold"/>
                    <a:ea typeface="Arial Bold"/>
                    <a:cs typeface="Arial Bold"/>
                    <a:sym typeface="Arial Bold"/>
                  </a:rPr>
                  <a:t>Passport</a:t>
                </a:r>
              </a:p>
            </p:txBody>
          </p:sp>
        </p:grpSp>
        <p:grpSp>
          <p:nvGrpSpPr>
            <p:cNvPr id="111" name="Group 111"/>
            <p:cNvGrpSpPr/>
            <p:nvPr/>
          </p:nvGrpSpPr>
          <p:grpSpPr>
            <a:xfrm>
              <a:off x="333920" y="3527760"/>
              <a:ext cx="2781418" cy="798756"/>
              <a:chOff x="0" y="0"/>
              <a:chExt cx="3333956" cy="957431"/>
            </a:xfrm>
          </p:grpSpPr>
          <p:sp>
            <p:nvSpPr>
              <p:cNvPr id="112" name="Freeform 112"/>
              <p:cNvSpPr/>
              <p:nvPr/>
            </p:nvSpPr>
            <p:spPr>
              <a:xfrm>
                <a:off x="0" y="0"/>
                <a:ext cx="3333956" cy="957431"/>
              </a:xfrm>
              <a:custGeom>
                <a:avLst/>
                <a:gdLst/>
                <a:ahLst/>
                <a:cxnLst/>
                <a:rect l="l" t="t" r="r" b="b"/>
                <a:pathLst>
                  <a:path w="3333956" h="957431">
                    <a:moveTo>
                      <a:pt x="0" y="0"/>
                    </a:moveTo>
                    <a:lnTo>
                      <a:pt x="3333956" y="0"/>
                    </a:lnTo>
                    <a:lnTo>
                      <a:pt x="3333956" y="957431"/>
                    </a:lnTo>
                    <a:lnTo>
                      <a:pt x="0" y="957431"/>
                    </a:lnTo>
                    <a:close/>
                  </a:path>
                </a:pathLst>
              </a:custGeom>
              <a:blipFill>
                <a:blip r:embed="rId3">
                  <a:alphaModFix amt="0"/>
                </a:blip>
                <a:stretch>
                  <a:fillRect t="-300064" r="-475964" b="-381525"/>
                </a:stretch>
              </a:blipFill>
            </p:spPr>
            <p:txBody>
              <a:bodyPr/>
              <a:lstStyle/>
              <a:p>
                <a:endParaRPr lang="en-US"/>
              </a:p>
            </p:txBody>
          </p:sp>
          <p:sp>
            <p:nvSpPr>
              <p:cNvPr id="113" name="TextBox 113"/>
              <p:cNvSpPr txBox="1"/>
              <p:nvPr/>
            </p:nvSpPr>
            <p:spPr>
              <a:xfrm>
                <a:off x="0" y="0"/>
                <a:ext cx="3333956" cy="957431"/>
              </a:xfrm>
              <a:prstGeom prst="rect">
                <a:avLst/>
              </a:prstGeom>
            </p:spPr>
            <p:txBody>
              <a:bodyPr lIns="0" tIns="0" rIns="0" bIns="0" rtlCol="0" anchor="ctr"/>
              <a:lstStyle/>
              <a:p>
                <a:pPr algn="l">
                  <a:lnSpc>
                    <a:spcPts val="1813"/>
                  </a:lnSpc>
                </a:pPr>
                <a:r>
                  <a:rPr lang="en-US" sz="1700" b="1">
                    <a:solidFill>
                      <a:srgbClr val="FFFFFF"/>
                    </a:solidFill>
                    <a:latin typeface="Arial Bold"/>
                    <a:ea typeface="Arial Bold"/>
                    <a:cs typeface="Arial Bold"/>
                    <a:sym typeface="Arial Bold"/>
                  </a:rPr>
                  <a:t>October 2026 Board</a:t>
                </a:r>
              </a:p>
            </p:txBody>
          </p:sp>
        </p:grpSp>
        <p:grpSp>
          <p:nvGrpSpPr>
            <p:cNvPr id="114" name="Group 114"/>
            <p:cNvGrpSpPr/>
            <p:nvPr/>
          </p:nvGrpSpPr>
          <p:grpSpPr>
            <a:xfrm>
              <a:off x="3866747" y="3727448"/>
              <a:ext cx="1259734" cy="399378"/>
              <a:chOff x="0" y="0"/>
              <a:chExt cx="1509985" cy="478716"/>
            </a:xfrm>
          </p:grpSpPr>
          <p:sp>
            <p:nvSpPr>
              <p:cNvPr id="115" name="Freeform 115"/>
              <p:cNvSpPr/>
              <p:nvPr/>
            </p:nvSpPr>
            <p:spPr>
              <a:xfrm>
                <a:off x="0" y="0"/>
                <a:ext cx="1509985" cy="478716"/>
              </a:xfrm>
              <a:custGeom>
                <a:avLst/>
                <a:gdLst/>
                <a:ahLst/>
                <a:cxnLst/>
                <a:rect l="l" t="t" r="r" b="b"/>
                <a:pathLst>
                  <a:path w="1509985" h="478716">
                    <a:moveTo>
                      <a:pt x="0" y="0"/>
                    </a:moveTo>
                    <a:lnTo>
                      <a:pt x="1509985" y="0"/>
                    </a:lnTo>
                    <a:lnTo>
                      <a:pt x="1509985" y="478716"/>
                    </a:lnTo>
                    <a:lnTo>
                      <a:pt x="0" y="478716"/>
                    </a:lnTo>
                    <a:close/>
                  </a:path>
                </a:pathLst>
              </a:custGeom>
              <a:blipFill>
                <a:blip r:embed="rId3">
                  <a:alphaModFix amt="0"/>
                </a:blip>
                <a:stretch>
                  <a:fillRect t="-600129" r="-1171694" b="-863051"/>
                </a:stretch>
              </a:blipFill>
            </p:spPr>
            <p:txBody>
              <a:bodyPr/>
              <a:lstStyle/>
              <a:p>
                <a:endParaRPr lang="en-US"/>
              </a:p>
            </p:txBody>
          </p:sp>
          <p:sp>
            <p:nvSpPr>
              <p:cNvPr id="116" name="TextBox 116"/>
              <p:cNvSpPr txBox="1"/>
              <p:nvPr/>
            </p:nvSpPr>
            <p:spPr>
              <a:xfrm>
                <a:off x="0" y="0"/>
                <a:ext cx="1509985" cy="478716"/>
              </a:xfrm>
              <a:prstGeom prst="rect">
                <a:avLst/>
              </a:prstGeom>
            </p:spPr>
            <p:txBody>
              <a:bodyPr lIns="0" tIns="0" rIns="0" bIns="0" rtlCol="0" anchor="ctr"/>
              <a:lstStyle/>
              <a:p>
                <a:pPr algn="l">
                  <a:lnSpc>
                    <a:spcPts val="1280"/>
                  </a:lnSpc>
                </a:pPr>
                <a:r>
                  <a:rPr lang="en-US" sz="1200">
                    <a:solidFill>
                      <a:srgbClr val="FFFFFF"/>
                    </a:solidFill>
                    <a:latin typeface="Arial"/>
                    <a:ea typeface="Arial"/>
                    <a:cs typeface="Arial"/>
                    <a:sym typeface="Arial"/>
                  </a:rPr>
                  <a:t>6 FRIENDS</a:t>
                </a:r>
              </a:p>
            </p:txBody>
          </p:sp>
        </p:grpSp>
        <p:grpSp>
          <p:nvGrpSpPr>
            <p:cNvPr id="117" name="Group 117"/>
            <p:cNvGrpSpPr/>
            <p:nvPr/>
          </p:nvGrpSpPr>
          <p:grpSpPr>
            <a:xfrm>
              <a:off x="333920" y="4326515"/>
              <a:ext cx="4850948" cy="914564"/>
              <a:chOff x="0" y="0"/>
              <a:chExt cx="958212" cy="180655"/>
            </a:xfrm>
          </p:grpSpPr>
          <p:sp>
            <p:nvSpPr>
              <p:cNvPr id="118" name="Freeform 118"/>
              <p:cNvSpPr/>
              <p:nvPr/>
            </p:nvSpPr>
            <p:spPr>
              <a:xfrm>
                <a:off x="0" y="0"/>
                <a:ext cx="958212" cy="180655"/>
              </a:xfrm>
              <a:custGeom>
                <a:avLst/>
                <a:gdLst/>
                <a:ahLst/>
                <a:cxnLst/>
                <a:rect l="l" t="t" r="r" b="b"/>
                <a:pathLst>
                  <a:path w="958212" h="180655">
                    <a:moveTo>
                      <a:pt x="90327" y="0"/>
                    </a:moveTo>
                    <a:lnTo>
                      <a:pt x="867885" y="0"/>
                    </a:lnTo>
                    <a:cubicBezTo>
                      <a:pt x="891841" y="0"/>
                      <a:pt x="914816" y="9517"/>
                      <a:pt x="931756" y="26456"/>
                    </a:cubicBezTo>
                    <a:cubicBezTo>
                      <a:pt x="948695" y="43396"/>
                      <a:pt x="958212" y="66371"/>
                      <a:pt x="958212" y="90327"/>
                    </a:cubicBezTo>
                    <a:lnTo>
                      <a:pt x="958212" y="90327"/>
                    </a:lnTo>
                    <a:cubicBezTo>
                      <a:pt x="958212" y="140214"/>
                      <a:pt x="917771" y="180655"/>
                      <a:pt x="867885" y="180655"/>
                    </a:cubicBezTo>
                    <a:lnTo>
                      <a:pt x="90327" y="180655"/>
                    </a:lnTo>
                    <a:cubicBezTo>
                      <a:pt x="40441" y="180655"/>
                      <a:pt x="0" y="140214"/>
                      <a:pt x="0" y="90327"/>
                    </a:cubicBezTo>
                    <a:lnTo>
                      <a:pt x="0" y="90327"/>
                    </a:lnTo>
                    <a:cubicBezTo>
                      <a:pt x="0" y="40441"/>
                      <a:pt x="40441" y="0"/>
                      <a:pt x="90327" y="0"/>
                    </a:cubicBezTo>
                    <a:close/>
                  </a:path>
                </a:pathLst>
              </a:custGeom>
              <a:solidFill>
                <a:srgbClr val="363535"/>
              </a:solidFill>
            </p:spPr>
            <p:txBody>
              <a:bodyPr/>
              <a:lstStyle/>
              <a:p>
                <a:endParaRPr lang="en-US"/>
              </a:p>
            </p:txBody>
          </p:sp>
          <p:sp>
            <p:nvSpPr>
              <p:cNvPr id="119" name="TextBox 119"/>
              <p:cNvSpPr txBox="1"/>
              <p:nvPr/>
            </p:nvSpPr>
            <p:spPr>
              <a:xfrm>
                <a:off x="0" y="-28575"/>
                <a:ext cx="958212" cy="209230"/>
              </a:xfrm>
              <a:prstGeom prst="rect">
                <a:avLst/>
              </a:prstGeom>
            </p:spPr>
            <p:txBody>
              <a:bodyPr lIns="50800" tIns="50800" rIns="50800" bIns="50800" rtlCol="0" anchor="ctr"/>
              <a:lstStyle/>
              <a:p>
                <a:pPr algn="ctr">
                  <a:lnSpc>
                    <a:spcPts val="1980"/>
                  </a:lnSpc>
                </a:pPr>
                <a:r>
                  <a:rPr lang="en-US" sz="1650" b="1">
                    <a:solidFill>
                      <a:srgbClr val="FFFFFF"/>
                    </a:solidFill>
                    <a:latin typeface="Calibri (MS) Bold"/>
                    <a:ea typeface="Calibri (MS) Bold"/>
                    <a:cs typeface="Calibri (MS) Bold"/>
                    <a:sym typeface="Calibri (MS) Bold"/>
                  </a:rPr>
                  <a:t>Powered by Iced Coffee &amp; Delusion</a:t>
                </a:r>
                <a:r>
                  <a:rPr lang="en-US" sz="1650" b="1">
                    <a:solidFill>
                      <a:srgbClr val="000000"/>
                    </a:solidFill>
                    <a:latin typeface="Calibri (MS) Bold"/>
                    <a:ea typeface="Calibri (MS) Bold"/>
                    <a:cs typeface="Calibri (MS) Bold"/>
                    <a:sym typeface="Calibri (MS) Bold"/>
                  </a:rPr>
                  <a:t> ☕️</a:t>
                </a:r>
              </a:p>
              <a:p>
                <a:pPr algn="ctr">
                  <a:lnSpc>
                    <a:spcPts val="1020"/>
                  </a:lnSpc>
                </a:pPr>
                <a:r>
                  <a:rPr lang="en-US" sz="850" b="1">
                    <a:solidFill>
                      <a:srgbClr val="FFFFFF"/>
                    </a:solidFill>
                    <a:latin typeface="Calibri (MS) Bold"/>
                    <a:ea typeface="Calibri (MS) Bold"/>
                    <a:cs typeface="Calibri (MS) Bold"/>
                    <a:sym typeface="Calibri (MS) Bold"/>
                  </a:rPr>
                  <a:t>Shared monthly collage • Boards locks 10/31/2026</a:t>
                </a:r>
              </a:p>
            </p:txBody>
          </p:sp>
        </p:grpSp>
        <p:grpSp>
          <p:nvGrpSpPr>
            <p:cNvPr id="120" name="Group 120"/>
            <p:cNvGrpSpPr/>
            <p:nvPr/>
          </p:nvGrpSpPr>
          <p:grpSpPr>
            <a:xfrm>
              <a:off x="333920" y="5355379"/>
              <a:ext cx="1553317" cy="1866579"/>
              <a:chOff x="0" y="0"/>
              <a:chExt cx="306828" cy="368707"/>
            </a:xfrm>
          </p:grpSpPr>
          <p:sp>
            <p:nvSpPr>
              <p:cNvPr id="121" name="Freeform 121"/>
              <p:cNvSpPr/>
              <p:nvPr/>
            </p:nvSpPr>
            <p:spPr>
              <a:xfrm>
                <a:off x="0" y="0"/>
                <a:ext cx="306828" cy="368707"/>
              </a:xfrm>
              <a:custGeom>
                <a:avLst/>
                <a:gdLst/>
                <a:ahLst/>
                <a:cxnLst/>
                <a:rect l="l" t="t" r="r" b="b"/>
                <a:pathLst>
                  <a:path w="306828" h="368707">
                    <a:moveTo>
                      <a:pt x="119619" y="0"/>
                    </a:moveTo>
                    <a:lnTo>
                      <a:pt x="187209" y="0"/>
                    </a:lnTo>
                    <a:cubicBezTo>
                      <a:pt x="253273" y="0"/>
                      <a:pt x="306828" y="53555"/>
                      <a:pt x="306828" y="119619"/>
                    </a:cubicBezTo>
                    <a:lnTo>
                      <a:pt x="306828" y="249088"/>
                    </a:lnTo>
                    <a:cubicBezTo>
                      <a:pt x="306828" y="315152"/>
                      <a:pt x="253273" y="368707"/>
                      <a:pt x="187209" y="368707"/>
                    </a:cubicBezTo>
                    <a:lnTo>
                      <a:pt x="119619" y="368707"/>
                    </a:lnTo>
                    <a:cubicBezTo>
                      <a:pt x="53555" y="368707"/>
                      <a:pt x="0" y="315152"/>
                      <a:pt x="0" y="249088"/>
                    </a:cubicBezTo>
                    <a:lnTo>
                      <a:pt x="0" y="119619"/>
                    </a:lnTo>
                    <a:cubicBezTo>
                      <a:pt x="0" y="53555"/>
                      <a:pt x="53555" y="0"/>
                      <a:pt x="119619" y="0"/>
                    </a:cubicBezTo>
                    <a:close/>
                  </a:path>
                </a:pathLst>
              </a:custGeom>
              <a:solidFill>
                <a:srgbClr val="484747"/>
              </a:solidFill>
              <a:ln w="38100" cap="sq">
                <a:solidFill>
                  <a:srgbClr val="FFFFFF"/>
                </a:solidFill>
                <a:prstDash val="solid"/>
                <a:miter/>
              </a:ln>
            </p:spPr>
            <p:txBody>
              <a:bodyPr/>
              <a:lstStyle/>
              <a:p>
                <a:endParaRPr lang="en-US"/>
              </a:p>
            </p:txBody>
          </p:sp>
          <p:sp>
            <p:nvSpPr>
              <p:cNvPr id="122" name="TextBox 122"/>
              <p:cNvSpPr txBox="1"/>
              <p:nvPr/>
            </p:nvSpPr>
            <p:spPr>
              <a:xfrm>
                <a:off x="0" y="-47625"/>
                <a:ext cx="306828" cy="416332"/>
              </a:xfrm>
              <a:prstGeom prst="rect">
                <a:avLst/>
              </a:prstGeom>
            </p:spPr>
            <p:txBody>
              <a:bodyPr lIns="50800" tIns="50800" rIns="50800" bIns="50800" rtlCol="0" anchor="ctr"/>
              <a:lstStyle/>
              <a:p>
                <a:pPr algn="ctr">
                  <a:lnSpc>
                    <a:spcPts val="2340"/>
                  </a:lnSpc>
                </a:pPr>
                <a:endParaRPr/>
              </a:p>
            </p:txBody>
          </p:sp>
        </p:grpSp>
        <p:sp>
          <p:nvSpPr>
            <p:cNvPr id="123" name="Freeform 123"/>
            <p:cNvSpPr/>
            <p:nvPr/>
          </p:nvSpPr>
          <p:spPr>
            <a:xfrm>
              <a:off x="667093" y="5648629"/>
              <a:ext cx="826397" cy="826397"/>
            </a:xfrm>
            <a:custGeom>
              <a:avLst/>
              <a:gdLst/>
              <a:ahLst/>
              <a:cxnLst/>
              <a:rect l="l" t="t" r="r" b="b"/>
              <a:pathLst>
                <a:path w="826397" h="826397">
                  <a:moveTo>
                    <a:pt x="0" y="0"/>
                  </a:moveTo>
                  <a:lnTo>
                    <a:pt x="826397" y="0"/>
                  </a:lnTo>
                  <a:lnTo>
                    <a:pt x="826397" y="826397"/>
                  </a:lnTo>
                  <a:lnTo>
                    <a:pt x="0" y="826397"/>
                  </a:lnTo>
                  <a:lnTo>
                    <a:pt x="0" y="0"/>
                  </a:lnTo>
                  <a:close/>
                </a:path>
              </a:pathLst>
            </a:custGeom>
            <a:blipFill>
              <a:blip>
                <a:extLst>
                  <a:ext uri="{96DAC541-7B7A-43D3-8B79-37D633B846F1}">
                    <asvg:svgBlip xmlns:asvg="http://schemas.microsoft.com/office/drawing/2016/SVG/main" r:embed="rId22"/>
                  </a:ext>
                </a:extLst>
              </a:blip>
              <a:stretch>
                <a:fillRect/>
              </a:stretch>
            </a:blipFill>
          </p:spPr>
          <p:txBody>
            <a:bodyPr/>
            <a:lstStyle/>
            <a:p>
              <a:endParaRPr lang="en-US"/>
            </a:p>
          </p:txBody>
        </p:sp>
        <p:sp>
          <p:nvSpPr>
            <p:cNvPr id="124" name="Freeform 124"/>
            <p:cNvSpPr/>
            <p:nvPr/>
          </p:nvSpPr>
          <p:spPr>
            <a:xfrm>
              <a:off x="833419" y="5818134"/>
              <a:ext cx="515045" cy="275549"/>
            </a:xfrm>
            <a:custGeom>
              <a:avLst/>
              <a:gdLst/>
              <a:ahLst/>
              <a:cxnLst/>
              <a:rect l="l" t="t" r="r" b="b"/>
              <a:pathLst>
                <a:path w="515045" h="275549">
                  <a:moveTo>
                    <a:pt x="0" y="0"/>
                  </a:moveTo>
                  <a:lnTo>
                    <a:pt x="515045" y="0"/>
                  </a:lnTo>
                  <a:lnTo>
                    <a:pt x="515045" y="275549"/>
                  </a:lnTo>
                  <a:lnTo>
                    <a:pt x="0" y="275549"/>
                  </a:lnTo>
                  <a:lnTo>
                    <a:pt x="0" y="0"/>
                  </a:lnTo>
                  <a:close/>
                </a:path>
              </a:pathLst>
            </a:custGeom>
            <a:blipFill>
              <a:blip>
                <a:extLst>
                  <a:ext uri="{96DAC541-7B7A-43D3-8B79-37D633B846F1}">
                    <asvg:svgBlip xmlns:asvg="http://schemas.microsoft.com/office/drawing/2016/SVG/main" r:embed="rId23"/>
                  </a:ext>
                </a:extLst>
              </a:blip>
              <a:stretch>
                <a:fillRect/>
              </a:stretch>
            </a:blipFill>
          </p:spPr>
          <p:txBody>
            <a:bodyPr/>
            <a:lstStyle/>
            <a:p>
              <a:endParaRPr lang="en-US"/>
            </a:p>
          </p:txBody>
        </p:sp>
        <p:sp>
          <p:nvSpPr>
            <p:cNvPr id="125" name="TextBox 125"/>
            <p:cNvSpPr txBox="1"/>
            <p:nvPr/>
          </p:nvSpPr>
          <p:spPr>
            <a:xfrm>
              <a:off x="766666" y="5674239"/>
              <a:ext cx="648552" cy="290822"/>
            </a:xfrm>
            <a:prstGeom prst="rect">
              <a:avLst/>
            </a:prstGeom>
          </p:spPr>
          <p:txBody>
            <a:bodyPr lIns="0" tIns="0" rIns="0" bIns="0" rtlCol="0" anchor="t">
              <a:spAutoFit/>
            </a:bodyPr>
            <a:lstStyle/>
            <a:p>
              <a:pPr algn="ctr">
                <a:lnSpc>
                  <a:spcPts val="789"/>
                </a:lnSpc>
                <a:spcBef>
                  <a:spcPct val="0"/>
                </a:spcBef>
              </a:pPr>
              <a:r>
                <a:rPr lang="en-US" sz="657" b="1" spc="89">
                  <a:solidFill>
                    <a:srgbClr val="FFFFFF"/>
                  </a:solidFill>
                  <a:latin typeface="Calibri (MS) Bold"/>
                  <a:ea typeface="Calibri (MS) Bold"/>
                  <a:cs typeface="Calibri (MS) Bold"/>
                  <a:sym typeface="Calibri (MS) Bold"/>
                </a:rPr>
                <a:t>CRAMMING</a:t>
              </a:r>
            </a:p>
          </p:txBody>
        </p:sp>
        <p:sp>
          <p:nvSpPr>
            <p:cNvPr id="126" name="Freeform 126"/>
            <p:cNvSpPr/>
            <p:nvPr/>
          </p:nvSpPr>
          <p:spPr>
            <a:xfrm rot="-3394830" flipV="1">
              <a:off x="717926" y="5989543"/>
              <a:ext cx="127396" cy="40044"/>
            </a:xfrm>
            <a:custGeom>
              <a:avLst/>
              <a:gdLst/>
              <a:ahLst/>
              <a:cxnLst/>
              <a:rect l="l" t="t" r="r" b="b"/>
              <a:pathLst>
                <a:path w="127396" h="40044">
                  <a:moveTo>
                    <a:pt x="0" y="40044"/>
                  </a:moveTo>
                  <a:lnTo>
                    <a:pt x="127397" y="40044"/>
                  </a:lnTo>
                  <a:lnTo>
                    <a:pt x="127397" y="0"/>
                  </a:lnTo>
                  <a:lnTo>
                    <a:pt x="0" y="0"/>
                  </a:lnTo>
                  <a:lnTo>
                    <a:pt x="0" y="40044"/>
                  </a:lnTo>
                  <a:close/>
                </a:path>
              </a:pathLst>
            </a:custGeom>
            <a:blipFill>
              <a:blip>
                <a:extLst>
                  <a:ext uri="{96DAC541-7B7A-43D3-8B79-37D633B846F1}">
                    <asvg:svgBlip xmlns:asvg="http://schemas.microsoft.com/office/drawing/2016/SVG/main" r:embed="rId24"/>
                  </a:ext>
                </a:extLst>
              </a:blip>
              <a:stretch>
                <a:fillRect l="-116778"/>
              </a:stretch>
            </a:blipFill>
          </p:spPr>
          <p:txBody>
            <a:bodyPr/>
            <a:lstStyle/>
            <a:p>
              <a:endParaRPr lang="en-US"/>
            </a:p>
          </p:txBody>
        </p:sp>
        <p:sp>
          <p:nvSpPr>
            <p:cNvPr id="127" name="Freeform 127"/>
            <p:cNvSpPr/>
            <p:nvPr/>
          </p:nvSpPr>
          <p:spPr>
            <a:xfrm rot="-6716943">
              <a:off x="1337250" y="5991172"/>
              <a:ext cx="117029" cy="36785"/>
            </a:xfrm>
            <a:custGeom>
              <a:avLst/>
              <a:gdLst/>
              <a:ahLst/>
              <a:cxnLst/>
              <a:rect l="l" t="t" r="r" b="b"/>
              <a:pathLst>
                <a:path w="117029" h="36785">
                  <a:moveTo>
                    <a:pt x="0" y="0"/>
                  </a:moveTo>
                  <a:lnTo>
                    <a:pt x="117028" y="0"/>
                  </a:lnTo>
                  <a:lnTo>
                    <a:pt x="117028" y="36786"/>
                  </a:lnTo>
                  <a:lnTo>
                    <a:pt x="0" y="36786"/>
                  </a:lnTo>
                  <a:lnTo>
                    <a:pt x="0" y="0"/>
                  </a:lnTo>
                  <a:close/>
                </a:path>
              </a:pathLst>
            </a:custGeom>
            <a:blipFill>
              <a:blip>
                <a:extLst>
                  <a:ext uri="{96DAC541-7B7A-43D3-8B79-37D633B846F1}">
                    <asvg:svgBlip xmlns:asvg="http://schemas.microsoft.com/office/drawing/2016/SVG/main" r:embed="rId24"/>
                  </a:ext>
                </a:extLst>
              </a:blip>
              <a:stretch>
                <a:fillRect l="-116778"/>
              </a:stretch>
            </a:blipFill>
          </p:spPr>
          <p:txBody>
            <a:bodyPr/>
            <a:lstStyle/>
            <a:p>
              <a:endParaRPr lang="en-US"/>
            </a:p>
          </p:txBody>
        </p:sp>
        <p:sp>
          <p:nvSpPr>
            <p:cNvPr id="128" name="Freeform 128"/>
            <p:cNvSpPr/>
            <p:nvPr/>
          </p:nvSpPr>
          <p:spPr>
            <a:xfrm rot="2699999">
              <a:off x="816100" y="5899924"/>
              <a:ext cx="534627" cy="534627"/>
            </a:xfrm>
            <a:custGeom>
              <a:avLst/>
              <a:gdLst/>
              <a:ahLst/>
              <a:cxnLst/>
              <a:rect l="l" t="t" r="r" b="b"/>
              <a:pathLst>
                <a:path w="534627" h="534627">
                  <a:moveTo>
                    <a:pt x="0" y="0"/>
                  </a:moveTo>
                  <a:lnTo>
                    <a:pt x="534626" y="0"/>
                  </a:lnTo>
                  <a:lnTo>
                    <a:pt x="534626" y="534626"/>
                  </a:lnTo>
                  <a:lnTo>
                    <a:pt x="0" y="534626"/>
                  </a:lnTo>
                  <a:lnTo>
                    <a:pt x="0" y="0"/>
                  </a:lnTo>
                  <a:close/>
                </a:path>
              </a:pathLst>
            </a:custGeom>
            <a:blipFill>
              <a:blip>
                <a:extLst>
                  <a:ext uri="{96DAC541-7B7A-43D3-8B79-37D633B846F1}">
                    <asvg:svgBlip xmlns:asvg="http://schemas.microsoft.com/office/drawing/2016/SVG/main" r:embed="rId25"/>
                  </a:ext>
                </a:extLst>
              </a:blip>
              <a:stretch>
                <a:fillRect/>
              </a:stretch>
            </a:blipFill>
          </p:spPr>
          <p:txBody>
            <a:bodyPr/>
            <a:lstStyle/>
            <a:p>
              <a:endParaRPr lang="en-US"/>
            </a:p>
          </p:txBody>
        </p:sp>
        <p:sp>
          <p:nvSpPr>
            <p:cNvPr id="129" name="TextBox 129"/>
            <p:cNvSpPr txBox="1"/>
            <p:nvPr/>
          </p:nvSpPr>
          <p:spPr>
            <a:xfrm>
              <a:off x="962894" y="6340736"/>
              <a:ext cx="234794" cy="50829"/>
            </a:xfrm>
            <a:prstGeom prst="rect">
              <a:avLst/>
            </a:prstGeom>
          </p:spPr>
          <p:txBody>
            <a:bodyPr lIns="0" tIns="0" rIns="0" bIns="0" rtlCol="0" anchor="t">
              <a:spAutoFit/>
            </a:bodyPr>
            <a:lstStyle/>
            <a:p>
              <a:pPr algn="ctr">
                <a:lnSpc>
                  <a:spcPts val="246"/>
                </a:lnSpc>
                <a:spcBef>
                  <a:spcPct val="0"/>
                </a:spcBef>
              </a:pPr>
              <a:r>
                <a:rPr lang="en-US" sz="205" b="1" spc="27">
                  <a:solidFill>
                    <a:srgbClr val="FFFFFF"/>
                  </a:solidFill>
                  <a:latin typeface="Calibri (MS) Bold"/>
                  <a:ea typeface="Calibri (MS) Bold"/>
                  <a:cs typeface="Calibri (MS) Bold"/>
                  <a:sym typeface="Calibri (MS) Bold"/>
                </a:rPr>
                <a:t>October2026</a:t>
              </a:r>
            </a:p>
          </p:txBody>
        </p:sp>
        <p:sp>
          <p:nvSpPr>
            <p:cNvPr id="130" name="Freeform 130"/>
            <p:cNvSpPr/>
            <p:nvPr/>
          </p:nvSpPr>
          <p:spPr>
            <a:xfrm rot="2699999">
              <a:off x="879758" y="6095442"/>
              <a:ext cx="401067" cy="401067"/>
            </a:xfrm>
            <a:custGeom>
              <a:avLst/>
              <a:gdLst/>
              <a:ahLst/>
              <a:cxnLst/>
              <a:rect l="l" t="t" r="r" b="b"/>
              <a:pathLst>
                <a:path w="401067" h="401067">
                  <a:moveTo>
                    <a:pt x="0" y="0"/>
                  </a:moveTo>
                  <a:lnTo>
                    <a:pt x="401067" y="0"/>
                  </a:lnTo>
                  <a:lnTo>
                    <a:pt x="401067" y="401067"/>
                  </a:lnTo>
                  <a:lnTo>
                    <a:pt x="0" y="401067"/>
                  </a:lnTo>
                  <a:lnTo>
                    <a:pt x="0" y="0"/>
                  </a:lnTo>
                  <a:close/>
                </a:path>
              </a:pathLst>
            </a:custGeom>
            <a:blipFill>
              <a:blip>
                <a:extLst>
                  <a:ext uri="{96DAC541-7B7A-43D3-8B79-37D633B846F1}">
                    <asvg:svgBlip xmlns:asvg="http://schemas.microsoft.com/office/drawing/2016/SVG/main" r:embed="rId25"/>
                  </a:ext>
                </a:extLst>
              </a:blip>
              <a:stretch>
                <a:fillRect/>
              </a:stretch>
            </a:blipFill>
          </p:spPr>
          <p:txBody>
            <a:bodyPr/>
            <a:lstStyle/>
            <a:p>
              <a:endParaRPr lang="en-US"/>
            </a:p>
          </p:txBody>
        </p:sp>
        <p:sp>
          <p:nvSpPr>
            <p:cNvPr id="131" name="Freeform 131"/>
            <p:cNvSpPr/>
            <p:nvPr/>
          </p:nvSpPr>
          <p:spPr>
            <a:xfrm>
              <a:off x="999513" y="5907411"/>
              <a:ext cx="182857" cy="179200"/>
            </a:xfrm>
            <a:custGeom>
              <a:avLst/>
              <a:gdLst/>
              <a:ahLst/>
              <a:cxnLst/>
              <a:rect l="l" t="t" r="r" b="b"/>
              <a:pathLst>
                <a:path w="182857" h="179200">
                  <a:moveTo>
                    <a:pt x="0" y="0"/>
                  </a:moveTo>
                  <a:lnTo>
                    <a:pt x="182857" y="0"/>
                  </a:lnTo>
                  <a:lnTo>
                    <a:pt x="182857" y="179199"/>
                  </a:lnTo>
                  <a:lnTo>
                    <a:pt x="0" y="179199"/>
                  </a:lnTo>
                  <a:lnTo>
                    <a:pt x="0" y="0"/>
                  </a:lnTo>
                  <a:close/>
                </a:path>
              </a:pathLst>
            </a:custGeom>
            <a:blipFill>
              <a:blip r:embed="rId26"/>
              <a:stretch>
                <a:fillRect/>
              </a:stretch>
            </a:blipFill>
          </p:spPr>
          <p:txBody>
            <a:bodyPr/>
            <a:lstStyle/>
            <a:p>
              <a:endParaRPr lang="en-US"/>
            </a:p>
          </p:txBody>
        </p:sp>
        <p:sp>
          <p:nvSpPr>
            <p:cNvPr id="132" name="TextBox 132"/>
            <p:cNvSpPr txBox="1"/>
            <p:nvPr/>
          </p:nvSpPr>
          <p:spPr>
            <a:xfrm>
              <a:off x="892311" y="6200830"/>
              <a:ext cx="382204" cy="75971"/>
            </a:xfrm>
            <a:prstGeom prst="rect">
              <a:avLst/>
            </a:prstGeom>
          </p:spPr>
          <p:txBody>
            <a:bodyPr lIns="0" tIns="0" rIns="0" bIns="0" rtlCol="0" anchor="t">
              <a:spAutoFit/>
            </a:bodyPr>
            <a:lstStyle/>
            <a:p>
              <a:pPr algn="ctr">
                <a:lnSpc>
                  <a:spcPts val="398"/>
                </a:lnSpc>
                <a:spcBef>
                  <a:spcPct val="0"/>
                </a:spcBef>
              </a:pPr>
              <a:r>
                <a:rPr lang="en-US" sz="332" b="1">
                  <a:solidFill>
                    <a:srgbClr val="FFFFFF"/>
                  </a:solidFill>
                  <a:latin typeface="Calibri (MS) Bold"/>
                  <a:ea typeface="Calibri (MS) Bold"/>
                  <a:cs typeface="Calibri (MS) Bold"/>
                  <a:sym typeface="Calibri (MS) Bold"/>
                </a:rPr>
                <a:t> REAL PASSPORT</a:t>
              </a:r>
            </a:p>
          </p:txBody>
        </p:sp>
        <p:sp>
          <p:nvSpPr>
            <p:cNvPr id="133" name="TextBox 133"/>
            <p:cNvSpPr txBox="1"/>
            <p:nvPr/>
          </p:nvSpPr>
          <p:spPr>
            <a:xfrm>
              <a:off x="721719" y="6083924"/>
              <a:ext cx="181292" cy="50829"/>
            </a:xfrm>
            <a:prstGeom prst="rect">
              <a:avLst/>
            </a:prstGeom>
          </p:spPr>
          <p:txBody>
            <a:bodyPr lIns="0" tIns="0" rIns="0" bIns="0" rtlCol="0" anchor="t">
              <a:spAutoFit/>
            </a:bodyPr>
            <a:lstStyle/>
            <a:p>
              <a:pPr algn="ctr">
                <a:lnSpc>
                  <a:spcPts val="246"/>
                </a:lnSpc>
                <a:spcBef>
                  <a:spcPct val="0"/>
                </a:spcBef>
              </a:pPr>
              <a:r>
                <a:rPr lang="en-US" sz="205" b="1">
                  <a:solidFill>
                    <a:srgbClr val="FFDE59"/>
                  </a:solidFill>
                  <a:latin typeface="Calibri (MS) Bold"/>
                  <a:ea typeface="Calibri (MS) Bold"/>
                  <a:cs typeface="Calibri (MS) Bold"/>
                  <a:sym typeface="Calibri (MS) Bold"/>
                </a:rPr>
                <a:t>BeReal.</a:t>
              </a:r>
            </a:p>
          </p:txBody>
        </p:sp>
        <p:sp>
          <p:nvSpPr>
            <p:cNvPr id="134" name="TextBox 134"/>
            <p:cNvSpPr txBox="1"/>
            <p:nvPr/>
          </p:nvSpPr>
          <p:spPr>
            <a:xfrm>
              <a:off x="1253403" y="6083924"/>
              <a:ext cx="181292" cy="50829"/>
            </a:xfrm>
            <a:prstGeom prst="rect">
              <a:avLst/>
            </a:prstGeom>
          </p:spPr>
          <p:txBody>
            <a:bodyPr lIns="0" tIns="0" rIns="0" bIns="0" rtlCol="0" anchor="t">
              <a:spAutoFit/>
            </a:bodyPr>
            <a:lstStyle/>
            <a:p>
              <a:pPr algn="ctr">
                <a:lnSpc>
                  <a:spcPts val="246"/>
                </a:lnSpc>
                <a:spcBef>
                  <a:spcPct val="0"/>
                </a:spcBef>
              </a:pPr>
              <a:r>
                <a:rPr lang="en-US" sz="205" b="1">
                  <a:solidFill>
                    <a:srgbClr val="FFDE59"/>
                  </a:solidFill>
                  <a:latin typeface="Calibri (MS) Bold"/>
                  <a:ea typeface="Calibri (MS) Bold"/>
                  <a:cs typeface="Calibri (MS) Bold"/>
                  <a:sym typeface="Calibri (MS) Bold"/>
                </a:rPr>
                <a:t>Unfiltered</a:t>
              </a:r>
            </a:p>
          </p:txBody>
        </p:sp>
        <p:grpSp>
          <p:nvGrpSpPr>
            <p:cNvPr id="135" name="Group 135"/>
            <p:cNvGrpSpPr/>
            <p:nvPr/>
          </p:nvGrpSpPr>
          <p:grpSpPr>
            <a:xfrm>
              <a:off x="2026938" y="5355379"/>
              <a:ext cx="1553317" cy="1866579"/>
              <a:chOff x="0" y="0"/>
              <a:chExt cx="306828" cy="368707"/>
            </a:xfrm>
          </p:grpSpPr>
          <p:sp>
            <p:nvSpPr>
              <p:cNvPr id="136" name="Freeform 136"/>
              <p:cNvSpPr/>
              <p:nvPr/>
            </p:nvSpPr>
            <p:spPr>
              <a:xfrm>
                <a:off x="0" y="0"/>
                <a:ext cx="306828" cy="368707"/>
              </a:xfrm>
              <a:custGeom>
                <a:avLst/>
                <a:gdLst/>
                <a:ahLst/>
                <a:cxnLst/>
                <a:rect l="l" t="t" r="r" b="b"/>
                <a:pathLst>
                  <a:path w="306828" h="368707">
                    <a:moveTo>
                      <a:pt x="119619" y="0"/>
                    </a:moveTo>
                    <a:lnTo>
                      <a:pt x="187209" y="0"/>
                    </a:lnTo>
                    <a:cubicBezTo>
                      <a:pt x="253273" y="0"/>
                      <a:pt x="306828" y="53555"/>
                      <a:pt x="306828" y="119619"/>
                    </a:cubicBezTo>
                    <a:lnTo>
                      <a:pt x="306828" y="249088"/>
                    </a:lnTo>
                    <a:cubicBezTo>
                      <a:pt x="306828" y="315152"/>
                      <a:pt x="253273" y="368707"/>
                      <a:pt x="187209" y="368707"/>
                    </a:cubicBezTo>
                    <a:lnTo>
                      <a:pt x="119619" y="368707"/>
                    </a:lnTo>
                    <a:cubicBezTo>
                      <a:pt x="53555" y="368707"/>
                      <a:pt x="0" y="315152"/>
                      <a:pt x="0" y="249088"/>
                    </a:cubicBezTo>
                    <a:lnTo>
                      <a:pt x="0" y="119619"/>
                    </a:lnTo>
                    <a:cubicBezTo>
                      <a:pt x="0" y="53555"/>
                      <a:pt x="53555" y="0"/>
                      <a:pt x="119619" y="0"/>
                    </a:cubicBezTo>
                    <a:close/>
                  </a:path>
                </a:pathLst>
              </a:custGeom>
              <a:solidFill>
                <a:srgbClr val="484747"/>
              </a:solidFill>
              <a:ln w="38100" cap="sq">
                <a:solidFill>
                  <a:srgbClr val="FFFFFF"/>
                </a:solidFill>
                <a:prstDash val="solid"/>
                <a:miter/>
              </a:ln>
            </p:spPr>
            <p:txBody>
              <a:bodyPr/>
              <a:lstStyle/>
              <a:p>
                <a:endParaRPr lang="en-US"/>
              </a:p>
            </p:txBody>
          </p:sp>
          <p:sp>
            <p:nvSpPr>
              <p:cNvPr id="137" name="TextBox 137"/>
              <p:cNvSpPr txBox="1"/>
              <p:nvPr/>
            </p:nvSpPr>
            <p:spPr>
              <a:xfrm>
                <a:off x="0" y="-47625"/>
                <a:ext cx="306828" cy="416332"/>
              </a:xfrm>
              <a:prstGeom prst="rect">
                <a:avLst/>
              </a:prstGeom>
            </p:spPr>
            <p:txBody>
              <a:bodyPr lIns="50800" tIns="50800" rIns="50800" bIns="50800" rtlCol="0" anchor="ctr"/>
              <a:lstStyle/>
              <a:p>
                <a:pPr algn="ctr">
                  <a:lnSpc>
                    <a:spcPts val="2340"/>
                  </a:lnSpc>
                </a:pPr>
                <a:endParaRPr/>
              </a:p>
            </p:txBody>
          </p:sp>
        </p:grpSp>
        <p:grpSp>
          <p:nvGrpSpPr>
            <p:cNvPr id="138" name="Group 138"/>
            <p:cNvGrpSpPr/>
            <p:nvPr/>
          </p:nvGrpSpPr>
          <p:grpSpPr>
            <a:xfrm>
              <a:off x="3719955" y="5399587"/>
              <a:ext cx="1553317" cy="1822371"/>
              <a:chOff x="0" y="0"/>
              <a:chExt cx="306828" cy="359975"/>
            </a:xfrm>
          </p:grpSpPr>
          <p:sp>
            <p:nvSpPr>
              <p:cNvPr id="139" name="Freeform 139"/>
              <p:cNvSpPr/>
              <p:nvPr/>
            </p:nvSpPr>
            <p:spPr>
              <a:xfrm>
                <a:off x="0" y="0"/>
                <a:ext cx="306828" cy="359975"/>
              </a:xfrm>
              <a:custGeom>
                <a:avLst/>
                <a:gdLst/>
                <a:ahLst/>
                <a:cxnLst/>
                <a:rect l="l" t="t" r="r" b="b"/>
                <a:pathLst>
                  <a:path w="306828" h="359975">
                    <a:moveTo>
                      <a:pt x="119619" y="0"/>
                    </a:moveTo>
                    <a:lnTo>
                      <a:pt x="187209" y="0"/>
                    </a:lnTo>
                    <a:cubicBezTo>
                      <a:pt x="253273" y="0"/>
                      <a:pt x="306828" y="53555"/>
                      <a:pt x="306828" y="119619"/>
                    </a:cubicBezTo>
                    <a:lnTo>
                      <a:pt x="306828" y="240356"/>
                    </a:lnTo>
                    <a:cubicBezTo>
                      <a:pt x="306828" y="306419"/>
                      <a:pt x="253273" y="359975"/>
                      <a:pt x="187209" y="359975"/>
                    </a:cubicBezTo>
                    <a:lnTo>
                      <a:pt x="119619" y="359975"/>
                    </a:lnTo>
                    <a:cubicBezTo>
                      <a:pt x="53555" y="359975"/>
                      <a:pt x="0" y="306419"/>
                      <a:pt x="0" y="240356"/>
                    </a:cubicBezTo>
                    <a:lnTo>
                      <a:pt x="0" y="119619"/>
                    </a:lnTo>
                    <a:cubicBezTo>
                      <a:pt x="0" y="53555"/>
                      <a:pt x="53555" y="0"/>
                      <a:pt x="119619" y="0"/>
                    </a:cubicBezTo>
                    <a:close/>
                  </a:path>
                </a:pathLst>
              </a:custGeom>
              <a:solidFill>
                <a:srgbClr val="484747"/>
              </a:solidFill>
              <a:ln w="38100" cap="sq">
                <a:solidFill>
                  <a:srgbClr val="FFFFFF"/>
                </a:solidFill>
                <a:prstDash val="solid"/>
                <a:miter/>
              </a:ln>
            </p:spPr>
            <p:txBody>
              <a:bodyPr/>
              <a:lstStyle/>
              <a:p>
                <a:endParaRPr lang="en-US"/>
              </a:p>
            </p:txBody>
          </p:sp>
          <p:sp>
            <p:nvSpPr>
              <p:cNvPr id="140" name="TextBox 140"/>
              <p:cNvSpPr txBox="1"/>
              <p:nvPr/>
            </p:nvSpPr>
            <p:spPr>
              <a:xfrm>
                <a:off x="0" y="-47625"/>
                <a:ext cx="306828" cy="407600"/>
              </a:xfrm>
              <a:prstGeom prst="rect">
                <a:avLst/>
              </a:prstGeom>
            </p:spPr>
            <p:txBody>
              <a:bodyPr lIns="50800" tIns="50800" rIns="50800" bIns="50800" rtlCol="0" anchor="ctr"/>
              <a:lstStyle/>
              <a:p>
                <a:pPr algn="ctr">
                  <a:lnSpc>
                    <a:spcPts val="2340"/>
                  </a:lnSpc>
                </a:pPr>
                <a:endParaRPr/>
              </a:p>
            </p:txBody>
          </p:sp>
        </p:grpSp>
        <p:sp>
          <p:nvSpPr>
            <p:cNvPr id="141" name="Freeform 141"/>
            <p:cNvSpPr/>
            <p:nvPr/>
          </p:nvSpPr>
          <p:spPr>
            <a:xfrm>
              <a:off x="2390398" y="5633907"/>
              <a:ext cx="826397" cy="826397"/>
            </a:xfrm>
            <a:custGeom>
              <a:avLst/>
              <a:gdLst/>
              <a:ahLst/>
              <a:cxnLst/>
              <a:rect l="l" t="t" r="r" b="b"/>
              <a:pathLst>
                <a:path w="826397" h="826397">
                  <a:moveTo>
                    <a:pt x="0" y="0"/>
                  </a:moveTo>
                  <a:lnTo>
                    <a:pt x="826397" y="0"/>
                  </a:lnTo>
                  <a:lnTo>
                    <a:pt x="826397" y="826397"/>
                  </a:lnTo>
                  <a:lnTo>
                    <a:pt x="0" y="826397"/>
                  </a:lnTo>
                  <a:lnTo>
                    <a:pt x="0" y="0"/>
                  </a:lnTo>
                  <a:close/>
                </a:path>
              </a:pathLst>
            </a:custGeom>
            <a:blipFill>
              <a:blip>
                <a:extLst>
                  <a:ext uri="{96DAC541-7B7A-43D3-8B79-37D633B846F1}">
                    <asvg:svgBlip xmlns:asvg="http://schemas.microsoft.com/office/drawing/2016/SVG/main" r:embed="rId27"/>
                  </a:ext>
                </a:extLst>
              </a:blip>
              <a:stretch>
                <a:fillRect/>
              </a:stretch>
            </a:blipFill>
          </p:spPr>
          <p:txBody>
            <a:bodyPr/>
            <a:lstStyle/>
            <a:p>
              <a:endParaRPr lang="en-US"/>
            </a:p>
          </p:txBody>
        </p:sp>
        <p:sp>
          <p:nvSpPr>
            <p:cNvPr id="142" name="Freeform 142"/>
            <p:cNvSpPr/>
            <p:nvPr/>
          </p:nvSpPr>
          <p:spPr>
            <a:xfrm>
              <a:off x="2556724" y="5803412"/>
              <a:ext cx="515045" cy="275549"/>
            </a:xfrm>
            <a:custGeom>
              <a:avLst/>
              <a:gdLst/>
              <a:ahLst/>
              <a:cxnLst/>
              <a:rect l="l" t="t" r="r" b="b"/>
              <a:pathLst>
                <a:path w="515045" h="275549">
                  <a:moveTo>
                    <a:pt x="0" y="0"/>
                  </a:moveTo>
                  <a:lnTo>
                    <a:pt x="515045" y="0"/>
                  </a:lnTo>
                  <a:lnTo>
                    <a:pt x="515045" y="275549"/>
                  </a:lnTo>
                  <a:lnTo>
                    <a:pt x="0" y="275549"/>
                  </a:lnTo>
                  <a:lnTo>
                    <a:pt x="0" y="0"/>
                  </a:lnTo>
                  <a:close/>
                </a:path>
              </a:pathLst>
            </a:custGeom>
            <a:blipFill>
              <a:blip>
                <a:extLst>
                  <a:ext uri="{96DAC541-7B7A-43D3-8B79-37D633B846F1}">
                    <asvg:svgBlip xmlns:asvg="http://schemas.microsoft.com/office/drawing/2016/SVG/main" r:embed="rId28"/>
                  </a:ext>
                </a:extLst>
              </a:blip>
              <a:stretch>
                <a:fillRect/>
              </a:stretch>
            </a:blipFill>
          </p:spPr>
          <p:txBody>
            <a:bodyPr/>
            <a:lstStyle/>
            <a:p>
              <a:endParaRPr lang="en-US"/>
            </a:p>
          </p:txBody>
        </p:sp>
        <p:sp>
          <p:nvSpPr>
            <p:cNvPr id="143" name="TextBox 143"/>
            <p:cNvSpPr txBox="1"/>
            <p:nvPr/>
          </p:nvSpPr>
          <p:spPr>
            <a:xfrm>
              <a:off x="2665665" y="5659517"/>
              <a:ext cx="297164" cy="176176"/>
            </a:xfrm>
            <a:prstGeom prst="rect">
              <a:avLst/>
            </a:prstGeom>
          </p:spPr>
          <p:txBody>
            <a:bodyPr lIns="0" tIns="0" rIns="0" bIns="0" rtlCol="0" anchor="t">
              <a:spAutoFit/>
            </a:bodyPr>
            <a:lstStyle/>
            <a:p>
              <a:pPr algn="ctr">
                <a:lnSpc>
                  <a:spcPts val="789"/>
                </a:lnSpc>
                <a:spcBef>
                  <a:spcPct val="0"/>
                </a:spcBef>
              </a:pPr>
              <a:r>
                <a:rPr lang="en-US" sz="657" b="1" spc="89">
                  <a:solidFill>
                    <a:srgbClr val="FFFFFF"/>
                  </a:solidFill>
                  <a:latin typeface="Calibri (MS) Bold"/>
                  <a:ea typeface="Calibri (MS) Bold"/>
                  <a:cs typeface="Calibri (MS) Bold"/>
                  <a:sym typeface="Calibri (MS) Bold"/>
                </a:rPr>
                <a:t>HIKE</a:t>
              </a:r>
            </a:p>
          </p:txBody>
        </p:sp>
        <p:sp>
          <p:nvSpPr>
            <p:cNvPr id="144" name="Freeform 144"/>
            <p:cNvSpPr/>
            <p:nvPr/>
          </p:nvSpPr>
          <p:spPr>
            <a:xfrm rot="-3394830" flipV="1">
              <a:off x="2441231" y="5974821"/>
              <a:ext cx="127396" cy="40044"/>
            </a:xfrm>
            <a:custGeom>
              <a:avLst/>
              <a:gdLst/>
              <a:ahLst/>
              <a:cxnLst/>
              <a:rect l="l" t="t" r="r" b="b"/>
              <a:pathLst>
                <a:path w="127396" h="40044">
                  <a:moveTo>
                    <a:pt x="0" y="40044"/>
                  </a:moveTo>
                  <a:lnTo>
                    <a:pt x="127397" y="40044"/>
                  </a:lnTo>
                  <a:lnTo>
                    <a:pt x="127397" y="0"/>
                  </a:lnTo>
                  <a:lnTo>
                    <a:pt x="0" y="0"/>
                  </a:lnTo>
                  <a:lnTo>
                    <a:pt x="0" y="40044"/>
                  </a:lnTo>
                  <a:close/>
                </a:path>
              </a:pathLst>
            </a:custGeom>
            <a:blipFill>
              <a:blip>
                <a:extLst>
                  <a:ext uri="{96DAC541-7B7A-43D3-8B79-37D633B846F1}">
                    <asvg:svgBlip xmlns:asvg="http://schemas.microsoft.com/office/drawing/2016/SVG/main" r:embed="rId24"/>
                  </a:ext>
                </a:extLst>
              </a:blip>
              <a:stretch>
                <a:fillRect l="-116778"/>
              </a:stretch>
            </a:blipFill>
          </p:spPr>
          <p:txBody>
            <a:bodyPr/>
            <a:lstStyle/>
            <a:p>
              <a:endParaRPr lang="en-US"/>
            </a:p>
          </p:txBody>
        </p:sp>
        <p:sp>
          <p:nvSpPr>
            <p:cNvPr id="145" name="Freeform 145"/>
            <p:cNvSpPr/>
            <p:nvPr/>
          </p:nvSpPr>
          <p:spPr>
            <a:xfrm rot="-6716943">
              <a:off x="3060555" y="5976451"/>
              <a:ext cx="117029" cy="36785"/>
            </a:xfrm>
            <a:custGeom>
              <a:avLst/>
              <a:gdLst/>
              <a:ahLst/>
              <a:cxnLst/>
              <a:rect l="l" t="t" r="r" b="b"/>
              <a:pathLst>
                <a:path w="117029" h="36785">
                  <a:moveTo>
                    <a:pt x="0" y="0"/>
                  </a:moveTo>
                  <a:lnTo>
                    <a:pt x="117028" y="0"/>
                  </a:lnTo>
                  <a:lnTo>
                    <a:pt x="117028" y="36785"/>
                  </a:lnTo>
                  <a:lnTo>
                    <a:pt x="0" y="36785"/>
                  </a:lnTo>
                  <a:lnTo>
                    <a:pt x="0" y="0"/>
                  </a:lnTo>
                  <a:close/>
                </a:path>
              </a:pathLst>
            </a:custGeom>
            <a:blipFill>
              <a:blip>
                <a:extLst>
                  <a:ext uri="{96DAC541-7B7A-43D3-8B79-37D633B846F1}">
                    <asvg:svgBlip xmlns:asvg="http://schemas.microsoft.com/office/drawing/2016/SVG/main" r:embed="rId24"/>
                  </a:ext>
                </a:extLst>
              </a:blip>
              <a:stretch>
                <a:fillRect l="-116778"/>
              </a:stretch>
            </a:blipFill>
          </p:spPr>
          <p:txBody>
            <a:bodyPr/>
            <a:lstStyle/>
            <a:p>
              <a:endParaRPr lang="en-US"/>
            </a:p>
          </p:txBody>
        </p:sp>
        <p:sp>
          <p:nvSpPr>
            <p:cNvPr id="146" name="Freeform 146"/>
            <p:cNvSpPr/>
            <p:nvPr/>
          </p:nvSpPr>
          <p:spPr>
            <a:xfrm rot="2699999">
              <a:off x="2539405" y="5885202"/>
              <a:ext cx="534627" cy="534627"/>
            </a:xfrm>
            <a:custGeom>
              <a:avLst/>
              <a:gdLst/>
              <a:ahLst/>
              <a:cxnLst/>
              <a:rect l="l" t="t" r="r" b="b"/>
              <a:pathLst>
                <a:path w="534627" h="534627">
                  <a:moveTo>
                    <a:pt x="0" y="0"/>
                  </a:moveTo>
                  <a:lnTo>
                    <a:pt x="534626" y="0"/>
                  </a:lnTo>
                  <a:lnTo>
                    <a:pt x="534626" y="534626"/>
                  </a:lnTo>
                  <a:lnTo>
                    <a:pt x="0" y="534626"/>
                  </a:lnTo>
                  <a:lnTo>
                    <a:pt x="0" y="0"/>
                  </a:lnTo>
                  <a:close/>
                </a:path>
              </a:pathLst>
            </a:custGeom>
            <a:blipFill>
              <a:blip>
                <a:extLst>
                  <a:ext uri="{96DAC541-7B7A-43D3-8B79-37D633B846F1}">
                    <asvg:svgBlip xmlns:asvg="http://schemas.microsoft.com/office/drawing/2016/SVG/main" r:embed="rId29"/>
                  </a:ext>
                </a:extLst>
              </a:blip>
              <a:stretch>
                <a:fillRect/>
              </a:stretch>
            </a:blipFill>
          </p:spPr>
          <p:txBody>
            <a:bodyPr/>
            <a:lstStyle/>
            <a:p>
              <a:endParaRPr lang="en-US"/>
            </a:p>
          </p:txBody>
        </p:sp>
        <p:sp>
          <p:nvSpPr>
            <p:cNvPr id="147" name="TextBox 147"/>
            <p:cNvSpPr txBox="1"/>
            <p:nvPr/>
          </p:nvSpPr>
          <p:spPr>
            <a:xfrm>
              <a:off x="2686199" y="6326014"/>
              <a:ext cx="234794" cy="50829"/>
            </a:xfrm>
            <a:prstGeom prst="rect">
              <a:avLst/>
            </a:prstGeom>
          </p:spPr>
          <p:txBody>
            <a:bodyPr lIns="0" tIns="0" rIns="0" bIns="0" rtlCol="0" anchor="t">
              <a:spAutoFit/>
            </a:bodyPr>
            <a:lstStyle/>
            <a:p>
              <a:pPr algn="ctr">
                <a:lnSpc>
                  <a:spcPts val="246"/>
                </a:lnSpc>
                <a:spcBef>
                  <a:spcPct val="0"/>
                </a:spcBef>
              </a:pPr>
              <a:r>
                <a:rPr lang="en-US" sz="205" b="1" spc="27">
                  <a:solidFill>
                    <a:srgbClr val="FFFFFF"/>
                  </a:solidFill>
                  <a:latin typeface="Calibri (MS) Bold"/>
                  <a:ea typeface="Calibri (MS) Bold"/>
                  <a:cs typeface="Calibri (MS) Bold"/>
                  <a:sym typeface="Calibri (MS) Bold"/>
                </a:rPr>
                <a:t>October2026</a:t>
              </a:r>
            </a:p>
          </p:txBody>
        </p:sp>
        <p:sp>
          <p:nvSpPr>
            <p:cNvPr id="148" name="Freeform 148"/>
            <p:cNvSpPr/>
            <p:nvPr/>
          </p:nvSpPr>
          <p:spPr>
            <a:xfrm rot="2699999">
              <a:off x="2603063" y="6080720"/>
              <a:ext cx="401067" cy="401067"/>
            </a:xfrm>
            <a:custGeom>
              <a:avLst/>
              <a:gdLst/>
              <a:ahLst/>
              <a:cxnLst/>
              <a:rect l="l" t="t" r="r" b="b"/>
              <a:pathLst>
                <a:path w="401067" h="401067">
                  <a:moveTo>
                    <a:pt x="0" y="0"/>
                  </a:moveTo>
                  <a:lnTo>
                    <a:pt x="401067" y="0"/>
                  </a:lnTo>
                  <a:lnTo>
                    <a:pt x="401067" y="401067"/>
                  </a:lnTo>
                  <a:lnTo>
                    <a:pt x="0" y="401067"/>
                  </a:lnTo>
                  <a:lnTo>
                    <a:pt x="0" y="0"/>
                  </a:lnTo>
                  <a:close/>
                </a:path>
              </a:pathLst>
            </a:custGeom>
            <a:blipFill>
              <a:blip>
                <a:extLst>
                  <a:ext uri="{96DAC541-7B7A-43D3-8B79-37D633B846F1}">
                    <asvg:svgBlip xmlns:asvg="http://schemas.microsoft.com/office/drawing/2016/SVG/main" r:embed="rId29"/>
                  </a:ext>
                </a:extLst>
              </a:blip>
              <a:stretch>
                <a:fillRect/>
              </a:stretch>
            </a:blipFill>
          </p:spPr>
          <p:txBody>
            <a:bodyPr/>
            <a:lstStyle/>
            <a:p>
              <a:endParaRPr lang="en-US"/>
            </a:p>
          </p:txBody>
        </p:sp>
        <p:sp>
          <p:nvSpPr>
            <p:cNvPr id="149" name="TextBox 149"/>
            <p:cNvSpPr txBox="1"/>
            <p:nvPr/>
          </p:nvSpPr>
          <p:spPr>
            <a:xfrm>
              <a:off x="2615616" y="6186108"/>
              <a:ext cx="382204" cy="75971"/>
            </a:xfrm>
            <a:prstGeom prst="rect">
              <a:avLst/>
            </a:prstGeom>
          </p:spPr>
          <p:txBody>
            <a:bodyPr lIns="0" tIns="0" rIns="0" bIns="0" rtlCol="0" anchor="t">
              <a:spAutoFit/>
            </a:bodyPr>
            <a:lstStyle/>
            <a:p>
              <a:pPr algn="ctr">
                <a:lnSpc>
                  <a:spcPts val="398"/>
                </a:lnSpc>
                <a:spcBef>
                  <a:spcPct val="0"/>
                </a:spcBef>
              </a:pPr>
              <a:r>
                <a:rPr lang="en-US" sz="332" b="1">
                  <a:solidFill>
                    <a:srgbClr val="FFFFFF"/>
                  </a:solidFill>
                  <a:latin typeface="Calibri (MS) Bold"/>
                  <a:ea typeface="Calibri (MS) Bold"/>
                  <a:cs typeface="Calibri (MS) Bold"/>
                  <a:sym typeface="Calibri (MS) Bold"/>
                </a:rPr>
                <a:t> REAL PASSPORT</a:t>
              </a:r>
            </a:p>
          </p:txBody>
        </p:sp>
        <p:sp>
          <p:nvSpPr>
            <p:cNvPr id="150" name="TextBox 150"/>
            <p:cNvSpPr txBox="1"/>
            <p:nvPr/>
          </p:nvSpPr>
          <p:spPr>
            <a:xfrm>
              <a:off x="2445024" y="6069202"/>
              <a:ext cx="181292" cy="50829"/>
            </a:xfrm>
            <a:prstGeom prst="rect">
              <a:avLst/>
            </a:prstGeom>
          </p:spPr>
          <p:txBody>
            <a:bodyPr lIns="0" tIns="0" rIns="0" bIns="0" rtlCol="0" anchor="t">
              <a:spAutoFit/>
            </a:bodyPr>
            <a:lstStyle/>
            <a:p>
              <a:pPr algn="ctr">
                <a:lnSpc>
                  <a:spcPts val="246"/>
                </a:lnSpc>
                <a:spcBef>
                  <a:spcPct val="0"/>
                </a:spcBef>
              </a:pPr>
              <a:r>
                <a:rPr lang="en-US" sz="205" b="1">
                  <a:solidFill>
                    <a:srgbClr val="FFDE59"/>
                  </a:solidFill>
                  <a:latin typeface="Calibri (MS) Bold"/>
                  <a:ea typeface="Calibri (MS) Bold"/>
                  <a:cs typeface="Calibri (MS) Bold"/>
                  <a:sym typeface="Calibri (MS) Bold"/>
                </a:rPr>
                <a:t>BeReal.</a:t>
              </a:r>
            </a:p>
          </p:txBody>
        </p:sp>
        <p:sp>
          <p:nvSpPr>
            <p:cNvPr id="151" name="TextBox 151"/>
            <p:cNvSpPr txBox="1"/>
            <p:nvPr/>
          </p:nvSpPr>
          <p:spPr>
            <a:xfrm>
              <a:off x="2976708" y="6069202"/>
              <a:ext cx="181292" cy="50829"/>
            </a:xfrm>
            <a:prstGeom prst="rect">
              <a:avLst/>
            </a:prstGeom>
          </p:spPr>
          <p:txBody>
            <a:bodyPr lIns="0" tIns="0" rIns="0" bIns="0" rtlCol="0" anchor="t">
              <a:spAutoFit/>
            </a:bodyPr>
            <a:lstStyle/>
            <a:p>
              <a:pPr algn="ctr">
                <a:lnSpc>
                  <a:spcPts val="246"/>
                </a:lnSpc>
                <a:spcBef>
                  <a:spcPct val="0"/>
                </a:spcBef>
              </a:pPr>
              <a:r>
                <a:rPr lang="en-US" sz="205" b="1">
                  <a:solidFill>
                    <a:srgbClr val="FFDE59"/>
                  </a:solidFill>
                  <a:latin typeface="Calibri (MS) Bold"/>
                  <a:ea typeface="Calibri (MS) Bold"/>
                  <a:cs typeface="Calibri (MS) Bold"/>
                  <a:sym typeface="Calibri (MS) Bold"/>
                </a:rPr>
                <a:t>Unfiltered</a:t>
              </a:r>
            </a:p>
          </p:txBody>
        </p:sp>
        <p:sp>
          <p:nvSpPr>
            <p:cNvPr id="152" name="Freeform 152"/>
            <p:cNvSpPr/>
            <p:nvPr/>
          </p:nvSpPr>
          <p:spPr>
            <a:xfrm>
              <a:off x="2673645" y="5910240"/>
              <a:ext cx="259903" cy="159841"/>
            </a:xfrm>
            <a:custGeom>
              <a:avLst/>
              <a:gdLst/>
              <a:ahLst/>
              <a:cxnLst/>
              <a:rect l="l" t="t" r="r" b="b"/>
              <a:pathLst>
                <a:path w="259903" h="159841">
                  <a:moveTo>
                    <a:pt x="0" y="0"/>
                  </a:moveTo>
                  <a:lnTo>
                    <a:pt x="259903" y="0"/>
                  </a:lnTo>
                  <a:lnTo>
                    <a:pt x="259903" y="159841"/>
                  </a:lnTo>
                  <a:lnTo>
                    <a:pt x="0" y="159841"/>
                  </a:lnTo>
                  <a:lnTo>
                    <a:pt x="0" y="0"/>
                  </a:lnTo>
                  <a:close/>
                </a:path>
              </a:pathLst>
            </a:custGeom>
            <a:blipFill>
              <a:blip>
                <a:extLst>
                  <a:ext uri="{96DAC541-7B7A-43D3-8B79-37D633B846F1}">
                    <asvg:svgBlip xmlns:asvg="http://schemas.microsoft.com/office/drawing/2016/SVG/main" r:embed="rId30"/>
                  </a:ext>
                </a:extLst>
              </a:blip>
              <a:stretch>
                <a:fillRect/>
              </a:stretch>
            </a:blipFill>
          </p:spPr>
          <p:txBody>
            <a:bodyPr/>
            <a:lstStyle/>
            <a:p>
              <a:endParaRPr lang="en-US"/>
            </a:p>
          </p:txBody>
        </p:sp>
        <p:grpSp>
          <p:nvGrpSpPr>
            <p:cNvPr id="153" name="Group 153"/>
            <p:cNvGrpSpPr/>
            <p:nvPr/>
          </p:nvGrpSpPr>
          <p:grpSpPr>
            <a:xfrm>
              <a:off x="3750243" y="7425158"/>
              <a:ext cx="1553317" cy="1822371"/>
              <a:chOff x="0" y="0"/>
              <a:chExt cx="306828" cy="359975"/>
            </a:xfrm>
          </p:grpSpPr>
          <p:sp>
            <p:nvSpPr>
              <p:cNvPr id="154" name="Freeform 154"/>
              <p:cNvSpPr/>
              <p:nvPr/>
            </p:nvSpPr>
            <p:spPr>
              <a:xfrm>
                <a:off x="0" y="0"/>
                <a:ext cx="306828" cy="359975"/>
              </a:xfrm>
              <a:custGeom>
                <a:avLst/>
                <a:gdLst/>
                <a:ahLst/>
                <a:cxnLst/>
                <a:rect l="l" t="t" r="r" b="b"/>
                <a:pathLst>
                  <a:path w="306828" h="359975">
                    <a:moveTo>
                      <a:pt x="119619" y="0"/>
                    </a:moveTo>
                    <a:lnTo>
                      <a:pt x="187209" y="0"/>
                    </a:lnTo>
                    <a:cubicBezTo>
                      <a:pt x="253273" y="0"/>
                      <a:pt x="306828" y="53555"/>
                      <a:pt x="306828" y="119619"/>
                    </a:cubicBezTo>
                    <a:lnTo>
                      <a:pt x="306828" y="240356"/>
                    </a:lnTo>
                    <a:cubicBezTo>
                      <a:pt x="306828" y="306419"/>
                      <a:pt x="253273" y="359975"/>
                      <a:pt x="187209" y="359975"/>
                    </a:cubicBezTo>
                    <a:lnTo>
                      <a:pt x="119619" y="359975"/>
                    </a:lnTo>
                    <a:cubicBezTo>
                      <a:pt x="53555" y="359975"/>
                      <a:pt x="0" y="306419"/>
                      <a:pt x="0" y="240356"/>
                    </a:cubicBezTo>
                    <a:lnTo>
                      <a:pt x="0" y="119619"/>
                    </a:lnTo>
                    <a:cubicBezTo>
                      <a:pt x="0" y="53555"/>
                      <a:pt x="53555" y="0"/>
                      <a:pt x="119619" y="0"/>
                    </a:cubicBezTo>
                    <a:close/>
                  </a:path>
                </a:pathLst>
              </a:custGeom>
              <a:solidFill>
                <a:srgbClr val="484747"/>
              </a:solidFill>
              <a:ln w="38100" cap="sq">
                <a:solidFill>
                  <a:srgbClr val="FFFFFF"/>
                </a:solidFill>
                <a:prstDash val="solid"/>
                <a:miter/>
              </a:ln>
            </p:spPr>
            <p:txBody>
              <a:bodyPr/>
              <a:lstStyle/>
              <a:p>
                <a:endParaRPr lang="en-US"/>
              </a:p>
            </p:txBody>
          </p:sp>
          <p:sp>
            <p:nvSpPr>
              <p:cNvPr id="155" name="TextBox 155"/>
              <p:cNvSpPr txBox="1"/>
              <p:nvPr/>
            </p:nvSpPr>
            <p:spPr>
              <a:xfrm>
                <a:off x="0" y="-47625"/>
                <a:ext cx="306828" cy="407600"/>
              </a:xfrm>
              <a:prstGeom prst="rect">
                <a:avLst/>
              </a:prstGeom>
            </p:spPr>
            <p:txBody>
              <a:bodyPr lIns="50800" tIns="50800" rIns="50800" bIns="50800" rtlCol="0" anchor="ctr"/>
              <a:lstStyle/>
              <a:p>
                <a:pPr algn="ctr">
                  <a:lnSpc>
                    <a:spcPts val="2340"/>
                  </a:lnSpc>
                </a:pPr>
                <a:endParaRPr/>
              </a:p>
            </p:txBody>
          </p:sp>
        </p:grpSp>
        <p:grpSp>
          <p:nvGrpSpPr>
            <p:cNvPr id="156" name="Group 156"/>
            <p:cNvGrpSpPr/>
            <p:nvPr/>
          </p:nvGrpSpPr>
          <p:grpSpPr>
            <a:xfrm>
              <a:off x="2026938" y="7425158"/>
              <a:ext cx="1553317" cy="1822371"/>
              <a:chOff x="0" y="0"/>
              <a:chExt cx="306828" cy="359975"/>
            </a:xfrm>
          </p:grpSpPr>
          <p:sp>
            <p:nvSpPr>
              <p:cNvPr id="157" name="Freeform 157"/>
              <p:cNvSpPr/>
              <p:nvPr/>
            </p:nvSpPr>
            <p:spPr>
              <a:xfrm>
                <a:off x="0" y="0"/>
                <a:ext cx="306828" cy="359975"/>
              </a:xfrm>
              <a:custGeom>
                <a:avLst/>
                <a:gdLst/>
                <a:ahLst/>
                <a:cxnLst/>
                <a:rect l="l" t="t" r="r" b="b"/>
                <a:pathLst>
                  <a:path w="306828" h="359975">
                    <a:moveTo>
                      <a:pt x="119619" y="0"/>
                    </a:moveTo>
                    <a:lnTo>
                      <a:pt x="187209" y="0"/>
                    </a:lnTo>
                    <a:cubicBezTo>
                      <a:pt x="253273" y="0"/>
                      <a:pt x="306828" y="53555"/>
                      <a:pt x="306828" y="119619"/>
                    </a:cubicBezTo>
                    <a:lnTo>
                      <a:pt x="306828" y="240356"/>
                    </a:lnTo>
                    <a:cubicBezTo>
                      <a:pt x="306828" y="306419"/>
                      <a:pt x="253273" y="359975"/>
                      <a:pt x="187209" y="359975"/>
                    </a:cubicBezTo>
                    <a:lnTo>
                      <a:pt x="119619" y="359975"/>
                    </a:lnTo>
                    <a:cubicBezTo>
                      <a:pt x="53555" y="359975"/>
                      <a:pt x="0" y="306419"/>
                      <a:pt x="0" y="240356"/>
                    </a:cubicBezTo>
                    <a:lnTo>
                      <a:pt x="0" y="119619"/>
                    </a:lnTo>
                    <a:cubicBezTo>
                      <a:pt x="0" y="53555"/>
                      <a:pt x="53555" y="0"/>
                      <a:pt x="119619" y="0"/>
                    </a:cubicBezTo>
                    <a:close/>
                  </a:path>
                </a:pathLst>
              </a:custGeom>
              <a:solidFill>
                <a:srgbClr val="484747"/>
              </a:solidFill>
              <a:ln w="38100" cap="sq">
                <a:solidFill>
                  <a:srgbClr val="FFFFFF"/>
                </a:solidFill>
                <a:prstDash val="solid"/>
                <a:miter/>
              </a:ln>
            </p:spPr>
            <p:txBody>
              <a:bodyPr/>
              <a:lstStyle/>
              <a:p>
                <a:endParaRPr lang="en-US"/>
              </a:p>
            </p:txBody>
          </p:sp>
          <p:sp>
            <p:nvSpPr>
              <p:cNvPr id="158" name="TextBox 158"/>
              <p:cNvSpPr txBox="1"/>
              <p:nvPr/>
            </p:nvSpPr>
            <p:spPr>
              <a:xfrm>
                <a:off x="0" y="-47625"/>
                <a:ext cx="306828" cy="407600"/>
              </a:xfrm>
              <a:prstGeom prst="rect">
                <a:avLst/>
              </a:prstGeom>
            </p:spPr>
            <p:txBody>
              <a:bodyPr lIns="50800" tIns="50800" rIns="50800" bIns="50800" rtlCol="0" anchor="ctr"/>
              <a:lstStyle/>
              <a:p>
                <a:pPr algn="ctr">
                  <a:lnSpc>
                    <a:spcPts val="2340"/>
                  </a:lnSpc>
                </a:pPr>
                <a:endParaRPr/>
              </a:p>
            </p:txBody>
          </p:sp>
        </p:grpSp>
        <p:grpSp>
          <p:nvGrpSpPr>
            <p:cNvPr id="159" name="Group 159"/>
            <p:cNvGrpSpPr/>
            <p:nvPr/>
          </p:nvGrpSpPr>
          <p:grpSpPr>
            <a:xfrm>
              <a:off x="303632" y="7425158"/>
              <a:ext cx="1553317" cy="1822371"/>
              <a:chOff x="0" y="0"/>
              <a:chExt cx="306828" cy="359975"/>
            </a:xfrm>
          </p:grpSpPr>
          <p:sp>
            <p:nvSpPr>
              <p:cNvPr id="160" name="Freeform 160"/>
              <p:cNvSpPr/>
              <p:nvPr/>
            </p:nvSpPr>
            <p:spPr>
              <a:xfrm>
                <a:off x="0" y="0"/>
                <a:ext cx="306828" cy="359975"/>
              </a:xfrm>
              <a:custGeom>
                <a:avLst/>
                <a:gdLst/>
                <a:ahLst/>
                <a:cxnLst/>
                <a:rect l="l" t="t" r="r" b="b"/>
                <a:pathLst>
                  <a:path w="306828" h="359975">
                    <a:moveTo>
                      <a:pt x="119619" y="0"/>
                    </a:moveTo>
                    <a:lnTo>
                      <a:pt x="187209" y="0"/>
                    </a:lnTo>
                    <a:cubicBezTo>
                      <a:pt x="253273" y="0"/>
                      <a:pt x="306828" y="53555"/>
                      <a:pt x="306828" y="119619"/>
                    </a:cubicBezTo>
                    <a:lnTo>
                      <a:pt x="306828" y="240356"/>
                    </a:lnTo>
                    <a:cubicBezTo>
                      <a:pt x="306828" y="306419"/>
                      <a:pt x="253273" y="359975"/>
                      <a:pt x="187209" y="359975"/>
                    </a:cubicBezTo>
                    <a:lnTo>
                      <a:pt x="119619" y="359975"/>
                    </a:lnTo>
                    <a:cubicBezTo>
                      <a:pt x="53555" y="359975"/>
                      <a:pt x="0" y="306419"/>
                      <a:pt x="0" y="240356"/>
                    </a:cubicBezTo>
                    <a:lnTo>
                      <a:pt x="0" y="119619"/>
                    </a:lnTo>
                    <a:cubicBezTo>
                      <a:pt x="0" y="53555"/>
                      <a:pt x="53555" y="0"/>
                      <a:pt x="119619" y="0"/>
                    </a:cubicBezTo>
                    <a:close/>
                  </a:path>
                </a:pathLst>
              </a:custGeom>
              <a:solidFill>
                <a:srgbClr val="484747"/>
              </a:solidFill>
              <a:ln w="38100" cap="sq">
                <a:solidFill>
                  <a:srgbClr val="FFFFFF"/>
                </a:solidFill>
                <a:prstDash val="solid"/>
                <a:miter/>
              </a:ln>
            </p:spPr>
            <p:txBody>
              <a:bodyPr/>
              <a:lstStyle/>
              <a:p>
                <a:endParaRPr lang="en-US"/>
              </a:p>
            </p:txBody>
          </p:sp>
          <p:sp>
            <p:nvSpPr>
              <p:cNvPr id="161" name="TextBox 161"/>
              <p:cNvSpPr txBox="1"/>
              <p:nvPr/>
            </p:nvSpPr>
            <p:spPr>
              <a:xfrm>
                <a:off x="0" y="-47625"/>
                <a:ext cx="306828" cy="407600"/>
              </a:xfrm>
              <a:prstGeom prst="rect">
                <a:avLst/>
              </a:prstGeom>
            </p:spPr>
            <p:txBody>
              <a:bodyPr lIns="50800" tIns="50800" rIns="50800" bIns="50800" rtlCol="0" anchor="ctr"/>
              <a:lstStyle/>
              <a:p>
                <a:pPr algn="ctr">
                  <a:lnSpc>
                    <a:spcPts val="2340"/>
                  </a:lnSpc>
                </a:pPr>
                <a:endParaRPr/>
              </a:p>
            </p:txBody>
          </p:sp>
        </p:grpSp>
        <p:sp>
          <p:nvSpPr>
            <p:cNvPr id="162" name="Freeform 162"/>
            <p:cNvSpPr/>
            <p:nvPr/>
          </p:nvSpPr>
          <p:spPr>
            <a:xfrm>
              <a:off x="4096484" y="5663351"/>
              <a:ext cx="800260" cy="800260"/>
            </a:xfrm>
            <a:custGeom>
              <a:avLst/>
              <a:gdLst/>
              <a:ahLst/>
              <a:cxnLst/>
              <a:rect l="l" t="t" r="r" b="b"/>
              <a:pathLst>
                <a:path w="800260" h="800260">
                  <a:moveTo>
                    <a:pt x="0" y="0"/>
                  </a:moveTo>
                  <a:lnTo>
                    <a:pt x="800260" y="0"/>
                  </a:lnTo>
                  <a:lnTo>
                    <a:pt x="800260" y="800259"/>
                  </a:lnTo>
                  <a:lnTo>
                    <a:pt x="0" y="800259"/>
                  </a:lnTo>
                  <a:lnTo>
                    <a:pt x="0" y="0"/>
                  </a:lnTo>
                  <a:close/>
                </a:path>
              </a:pathLst>
            </a:custGeom>
            <a:blipFill>
              <a:blip>
                <a:extLst>
                  <a:ext uri="{96DAC541-7B7A-43D3-8B79-37D633B846F1}">
                    <asvg:svgBlip xmlns:asvg="http://schemas.microsoft.com/office/drawing/2016/SVG/main" r:embed="rId31"/>
                  </a:ext>
                </a:extLst>
              </a:blip>
              <a:stretch>
                <a:fillRect/>
              </a:stretch>
            </a:blipFill>
          </p:spPr>
          <p:txBody>
            <a:bodyPr/>
            <a:lstStyle/>
            <a:p>
              <a:endParaRPr lang="en-US"/>
            </a:p>
          </p:txBody>
        </p:sp>
        <p:sp>
          <p:nvSpPr>
            <p:cNvPr id="163" name="Freeform 163"/>
            <p:cNvSpPr/>
            <p:nvPr/>
          </p:nvSpPr>
          <p:spPr>
            <a:xfrm>
              <a:off x="4257550" y="5827494"/>
              <a:ext cx="498756" cy="266834"/>
            </a:xfrm>
            <a:custGeom>
              <a:avLst/>
              <a:gdLst/>
              <a:ahLst/>
              <a:cxnLst/>
              <a:rect l="l" t="t" r="r" b="b"/>
              <a:pathLst>
                <a:path w="498756" h="266834">
                  <a:moveTo>
                    <a:pt x="0" y="0"/>
                  </a:moveTo>
                  <a:lnTo>
                    <a:pt x="498755" y="0"/>
                  </a:lnTo>
                  <a:lnTo>
                    <a:pt x="498755" y="266835"/>
                  </a:lnTo>
                  <a:lnTo>
                    <a:pt x="0" y="266835"/>
                  </a:lnTo>
                  <a:lnTo>
                    <a:pt x="0" y="0"/>
                  </a:lnTo>
                  <a:close/>
                </a:path>
              </a:pathLst>
            </a:custGeom>
            <a:blipFill>
              <a:blip>
                <a:extLst>
                  <a:ext uri="{96DAC541-7B7A-43D3-8B79-37D633B846F1}">
                    <asvg:svgBlip xmlns:asvg="http://schemas.microsoft.com/office/drawing/2016/SVG/main" r:embed="rId32"/>
                  </a:ext>
                </a:extLst>
              </a:blip>
              <a:stretch>
                <a:fillRect/>
              </a:stretch>
            </a:blipFill>
          </p:spPr>
          <p:txBody>
            <a:bodyPr/>
            <a:lstStyle/>
            <a:p>
              <a:endParaRPr lang="en-US"/>
            </a:p>
          </p:txBody>
        </p:sp>
        <p:sp>
          <p:nvSpPr>
            <p:cNvPr id="164" name="TextBox 164"/>
            <p:cNvSpPr txBox="1"/>
            <p:nvPr/>
          </p:nvSpPr>
          <p:spPr>
            <a:xfrm>
              <a:off x="4281988" y="5687548"/>
              <a:ext cx="449879" cy="205379"/>
            </a:xfrm>
            <a:prstGeom prst="rect">
              <a:avLst/>
            </a:prstGeom>
          </p:spPr>
          <p:txBody>
            <a:bodyPr lIns="0" tIns="0" rIns="0" bIns="0" rtlCol="0" anchor="t">
              <a:spAutoFit/>
            </a:bodyPr>
            <a:lstStyle/>
            <a:p>
              <a:pPr algn="ctr">
                <a:lnSpc>
                  <a:spcPts val="764"/>
                </a:lnSpc>
                <a:spcBef>
                  <a:spcPct val="0"/>
                </a:spcBef>
              </a:pPr>
              <a:r>
                <a:rPr lang="en-US" sz="636" b="1" spc="86">
                  <a:solidFill>
                    <a:srgbClr val="FFFFFF"/>
                  </a:solidFill>
                  <a:latin typeface="Calibri (MS) Bold"/>
                  <a:ea typeface="Calibri (MS) Bold"/>
                  <a:cs typeface="Calibri (MS) Bold"/>
                  <a:sym typeface="Calibri (MS) Bold"/>
                </a:rPr>
                <a:t>COFFEE</a:t>
              </a:r>
            </a:p>
          </p:txBody>
        </p:sp>
        <p:sp>
          <p:nvSpPr>
            <p:cNvPr id="165" name="Freeform 165"/>
            <p:cNvSpPr/>
            <p:nvPr/>
          </p:nvSpPr>
          <p:spPr>
            <a:xfrm rot="-3394830" flipV="1">
              <a:off x="4145710" y="5993482"/>
              <a:ext cx="123367" cy="38778"/>
            </a:xfrm>
            <a:custGeom>
              <a:avLst/>
              <a:gdLst/>
              <a:ahLst/>
              <a:cxnLst/>
              <a:rect l="l" t="t" r="r" b="b"/>
              <a:pathLst>
                <a:path w="123367" h="38778">
                  <a:moveTo>
                    <a:pt x="0" y="38778"/>
                  </a:moveTo>
                  <a:lnTo>
                    <a:pt x="123367" y="38778"/>
                  </a:lnTo>
                  <a:lnTo>
                    <a:pt x="123367" y="0"/>
                  </a:lnTo>
                  <a:lnTo>
                    <a:pt x="0" y="0"/>
                  </a:lnTo>
                  <a:lnTo>
                    <a:pt x="0" y="38778"/>
                  </a:lnTo>
                  <a:close/>
                </a:path>
              </a:pathLst>
            </a:custGeom>
            <a:blipFill>
              <a:blip>
                <a:extLst>
                  <a:ext uri="{96DAC541-7B7A-43D3-8B79-37D633B846F1}">
                    <asvg:svgBlip xmlns:asvg="http://schemas.microsoft.com/office/drawing/2016/SVG/main" r:embed="rId24"/>
                  </a:ext>
                </a:extLst>
              </a:blip>
              <a:stretch>
                <a:fillRect l="-116778"/>
              </a:stretch>
            </a:blipFill>
          </p:spPr>
          <p:txBody>
            <a:bodyPr/>
            <a:lstStyle/>
            <a:p>
              <a:endParaRPr lang="en-US"/>
            </a:p>
          </p:txBody>
        </p:sp>
        <p:sp>
          <p:nvSpPr>
            <p:cNvPr id="166" name="Freeform 166"/>
            <p:cNvSpPr/>
            <p:nvPr/>
          </p:nvSpPr>
          <p:spPr>
            <a:xfrm rot="-6716943">
              <a:off x="4745445" y="5995060"/>
              <a:ext cx="113327" cy="35622"/>
            </a:xfrm>
            <a:custGeom>
              <a:avLst/>
              <a:gdLst/>
              <a:ahLst/>
              <a:cxnLst/>
              <a:rect l="l" t="t" r="r" b="b"/>
              <a:pathLst>
                <a:path w="113327" h="35622">
                  <a:moveTo>
                    <a:pt x="0" y="0"/>
                  </a:moveTo>
                  <a:lnTo>
                    <a:pt x="113327" y="0"/>
                  </a:lnTo>
                  <a:lnTo>
                    <a:pt x="113327" y="35622"/>
                  </a:lnTo>
                  <a:lnTo>
                    <a:pt x="0" y="35622"/>
                  </a:lnTo>
                  <a:lnTo>
                    <a:pt x="0" y="0"/>
                  </a:lnTo>
                  <a:close/>
                </a:path>
              </a:pathLst>
            </a:custGeom>
            <a:blipFill>
              <a:blip>
                <a:extLst>
                  <a:ext uri="{96DAC541-7B7A-43D3-8B79-37D633B846F1}">
                    <asvg:svgBlip xmlns:asvg="http://schemas.microsoft.com/office/drawing/2016/SVG/main" r:embed="rId24"/>
                  </a:ext>
                </a:extLst>
              </a:blip>
              <a:stretch>
                <a:fillRect l="-116778"/>
              </a:stretch>
            </a:blipFill>
          </p:spPr>
          <p:txBody>
            <a:bodyPr/>
            <a:lstStyle/>
            <a:p>
              <a:endParaRPr lang="en-US"/>
            </a:p>
          </p:txBody>
        </p:sp>
        <p:sp>
          <p:nvSpPr>
            <p:cNvPr id="167" name="Freeform 167"/>
            <p:cNvSpPr/>
            <p:nvPr/>
          </p:nvSpPr>
          <p:spPr>
            <a:xfrm rot="2699999">
              <a:off x="4240778" y="5906698"/>
              <a:ext cx="517718" cy="517718"/>
            </a:xfrm>
            <a:custGeom>
              <a:avLst/>
              <a:gdLst/>
              <a:ahLst/>
              <a:cxnLst/>
              <a:rect l="l" t="t" r="r" b="b"/>
              <a:pathLst>
                <a:path w="517718" h="517718">
                  <a:moveTo>
                    <a:pt x="0" y="0"/>
                  </a:moveTo>
                  <a:lnTo>
                    <a:pt x="517718" y="0"/>
                  </a:lnTo>
                  <a:lnTo>
                    <a:pt x="517718" y="517717"/>
                  </a:lnTo>
                  <a:lnTo>
                    <a:pt x="0" y="517717"/>
                  </a:lnTo>
                  <a:lnTo>
                    <a:pt x="0" y="0"/>
                  </a:lnTo>
                  <a:close/>
                </a:path>
              </a:pathLst>
            </a:custGeom>
            <a:blipFill>
              <a:blip>
                <a:extLst>
                  <a:ext uri="{96DAC541-7B7A-43D3-8B79-37D633B846F1}">
                    <asvg:svgBlip xmlns:asvg="http://schemas.microsoft.com/office/drawing/2016/SVG/main" r:embed="rId33"/>
                  </a:ext>
                </a:extLst>
              </a:blip>
              <a:stretch>
                <a:fillRect/>
              </a:stretch>
            </a:blipFill>
          </p:spPr>
          <p:txBody>
            <a:bodyPr/>
            <a:lstStyle/>
            <a:p>
              <a:endParaRPr lang="en-US"/>
            </a:p>
          </p:txBody>
        </p:sp>
        <p:sp>
          <p:nvSpPr>
            <p:cNvPr id="168" name="TextBox 168"/>
            <p:cNvSpPr txBox="1"/>
            <p:nvPr/>
          </p:nvSpPr>
          <p:spPr>
            <a:xfrm>
              <a:off x="4382930" y="6333267"/>
              <a:ext cx="227368" cy="49523"/>
            </a:xfrm>
            <a:prstGeom prst="rect">
              <a:avLst/>
            </a:prstGeom>
          </p:spPr>
          <p:txBody>
            <a:bodyPr lIns="0" tIns="0" rIns="0" bIns="0" rtlCol="0" anchor="t">
              <a:spAutoFit/>
            </a:bodyPr>
            <a:lstStyle/>
            <a:p>
              <a:pPr algn="ctr">
                <a:lnSpc>
                  <a:spcPts val="238"/>
                </a:lnSpc>
                <a:spcBef>
                  <a:spcPct val="0"/>
                </a:spcBef>
              </a:pPr>
              <a:r>
                <a:rPr lang="en-US" sz="198" b="1" spc="27">
                  <a:solidFill>
                    <a:srgbClr val="FFFFFF"/>
                  </a:solidFill>
                  <a:latin typeface="Calibri (MS) Bold"/>
                  <a:ea typeface="Calibri (MS) Bold"/>
                  <a:cs typeface="Calibri (MS) Bold"/>
                  <a:sym typeface="Calibri (MS) Bold"/>
                </a:rPr>
                <a:t>October2026</a:t>
              </a:r>
            </a:p>
          </p:txBody>
        </p:sp>
        <p:sp>
          <p:nvSpPr>
            <p:cNvPr id="169" name="Freeform 169"/>
            <p:cNvSpPr/>
            <p:nvPr/>
          </p:nvSpPr>
          <p:spPr>
            <a:xfrm rot="2699999">
              <a:off x="4302423" y="6096032"/>
              <a:ext cx="388382" cy="388382"/>
            </a:xfrm>
            <a:custGeom>
              <a:avLst/>
              <a:gdLst/>
              <a:ahLst/>
              <a:cxnLst/>
              <a:rect l="l" t="t" r="r" b="b"/>
              <a:pathLst>
                <a:path w="388382" h="388382">
                  <a:moveTo>
                    <a:pt x="0" y="0"/>
                  </a:moveTo>
                  <a:lnTo>
                    <a:pt x="388382" y="0"/>
                  </a:lnTo>
                  <a:lnTo>
                    <a:pt x="388382" y="388382"/>
                  </a:lnTo>
                  <a:lnTo>
                    <a:pt x="0" y="388382"/>
                  </a:lnTo>
                  <a:lnTo>
                    <a:pt x="0" y="0"/>
                  </a:lnTo>
                  <a:close/>
                </a:path>
              </a:pathLst>
            </a:custGeom>
            <a:blipFill>
              <a:blip>
                <a:extLst>
                  <a:ext uri="{96DAC541-7B7A-43D3-8B79-37D633B846F1}">
                    <asvg:svgBlip xmlns:asvg="http://schemas.microsoft.com/office/drawing/2016/SVG/main" r:embed="rId33"/>
                  </a:ext>
                </a:extLst>
              </a:blip>
              <a:stretch>
                <a:fillRect/>
              </a:stretch>
            </a:blipFill>
          </p:spPr>
          <p:txBody>
            <a:bodyPr/>
            <a:lstStyle/>
            <a:p>
              <a:endParaRPr lang="en-US"/>
            </a:p>
          </p:txBody>
        </p:sp>
        <p:sp>
          <p:nvSpPr>
            <p:cNvPr id="170" name="TextBox 170"/>
            <p:cNvSpPr txBox="1"/>
            <p:nvPr/>
          </p:nvSpPr>
          <p:spPr>
            <a:xfrm>
              <a:off x="4314579" y="6197785"/>
              <a:ext cx="370116" cy="73869"/>
            </a:xfrm>
            <a:prstGeom prst="rect">
              <a:avLst/>
            </a:prstGeom>
          </p:spPr>
          <p:txBody>
            <a:bodyPr lIns="0" tIns="0" rIns="0" bIns="0" rtlCol="0" anchor="t">
              <a:spAutoFit/>
            </a:bodyPr>
            <a:lstStyle/>
            <a:p>
              <a:pPr algn="ctr">
                <a:lnSpc>
                  <a:spcPts val="386"/>
                </a:lnSpc>
                <a:spcBef>
                  <a:spcPct val="0"/>
                </a:spcBef>
              </a:pPr>
              <a:r>
                <a:rPr lang="en-US" sz="321" b="1">
                  <a:solidFill>
                    <a:srgbClr val="FFFFFF"/>
                  </a:solidFill>
                  <a:latin typeface="Calibri (MS) Bold"/>
                  <a:ea typeface="Calibri (MS) Bold"/>
                  <a:cs typeface="Calibri (MS) Bold"/>
                  <a:sym typeface="Calibri (MS) Bold"/>
                </a:rPr>
                <a:t> REAL PASSPORT</a:t>
              </a:r>
            </a:p>
          </p:txBody>
        </p:sp>
        <p:sp>
          <p:nvSpPr>
            <p:cNvPr id="171" name="TextBox 171"/>
            <p:cNvSpPr txBox="1"/>
            <p:nvPr/>
          </p:nvSpPr>
          <p:spPr>
            <a:xfrm>
              <a:off x="4149383" y="6084577"/>
              <a:ext cx="175558" cy="49523"/>
            </a:xfrm>
            <a:prstGeom prst="rect">
              <a:avLst/>
            </a:prstGeom>
          </p:spPr>
          <p:txBody>
            <a:bodyPr lIns="0" tIns="0" rIns="0" bIns="0" rtlCol="0" anchor="t">
              <a:spAutoFit/>
            </a:bodyPr>
            <a:lstStyle/>
            <a:p>
              <a:pPr algn="ctr">
                <a:lnSpc>
                  <a:spcPts val="238"/>
                </a:lnSpc>
                <a:spcBef>
                  <a:spcPct val="0"/>
                </a:spcBef>
              </a:pPr>
              <a:r>
                <a:rPr lang="en-US" sz="198" b="1">
                  <a:solidFill>
                    <a:srgbClr val="FFDE59"/>
                  </a:solidFill>
                  <a:latin typeface="Calibri (MS) Bold"/>
                  <a:ea typeface="Calibri (MS) Bold"/>
                  <a:cs typeface="Calibri (MS) Bold"/>
                  <a:sym typeface="Calibri (MS) Bold"/>
                </a:rPr>
                <a:t>BeReal.</a:t>
              </a:r>
            </a:p>
          </p:txBody>
        </p:sp>
        <p:sp>
          <p:nvSpPr>
            <p:cNvPr id="172" name="TextBox 172"/>
            <p:cNvSpPr txBox="1"/>
            <p:nvPr/>
          </p:nvSpPr>
          <p:spPr>
            <a:xfrm>
              <a:off x="4664250" y="6084577"/>
              <a:ext cx="175558" cy="49523"/>
            </a:xfrm>
            <a:prstGeom prst="rect">
              <a:avLst/>
            </a:prstGeom>
          </p:spPr>
          <p:txBody>
            <a:bodyPr lIns="0" tIns="0" rIns="0" bIns="0" rtlCol="0" anchor="t">
              <a:spAutoFit/>
            </a:bodyPr>
            <a:lstStyle/>
            <a:p>
              <a:pPr algn="ctr">
                <a:lnSpc>
                  <a:spcPts val="238"/>
                </a:lnSpc>
                <a:spcBef>
                  <a:spcPct val="0"/>
                </a:spcBef>
              </a:pPr>
              <a:r>
                <a:rPr lang="en-US" sz="198" b="1">
                  <a:solidFill>
                    <a:srgbClr val="FFDE59"/>
                  </a:solidFill>
                  <a:latin typeface="Calibri (MS) Bold"/>
                  <a:ea typeface="Calibri (MS) Bold"/>
                  <a:cs typeface="Calibri (MS) Bold"/>
                  <a:sym typeface="Calibri (MS) Bold"/>
                </a:rPr>
                <a:t>Unfiltered</a:t>
              </a:r>
            </a:p>
          </p:txBody>
        </p:sp>
        <p:sp>
          <p:nvSpPr>
            <p:cNvPr id="173" name="Freeform 173"/>
            <p:cNvSpPr/>
            <p:nvPr/>
          </p:nvSpPr>
          <p:spPr>
            <a:xfrm>
              <a:off x="4422402" y="5945438"/>
              <a:ext cx="148424" cy="168663"/>
            </a:xfrm>
            <a:custGeom>
              <a:avLst/>
              <a:gdLst/>
              <a:ahLst/>
              <a:cxnLst/>
              <a:rect l="l" t="t" r="r" b="b"/>
              <a:pathLst>
                <a:path w="148424" h="168663">
                  <a:moveTo>
                    <a:pt x="0" y="0"/>
                  </a:moveTo>
                  <a:lnTo>
                    <a:pt x="148424" y="0"/>
                  </a:lnTo>
                  <a:lnTo>
                    <a:pt x="148424" y="168663"/>
                  </a:lnTo>
                  <a:lnTo>
                    <a:pt x="0" y="168663"/>
                  </a:lnTo>
                  <a:lnTo>
                    <a:pt x="0" y="0"/>
                  </a:lnTo>
                  <a:close/>
                </a:path>
              </a:pathLst>
            </a:custGeom>
            <a:blipFill>
              <a:blip>
                <a:extLst>
                  <a:ext uri="{96DAC541-7B7A-43D3-8B79-37D633B846F1}">
                    <asvg:svgBlip xmlns:asvg="http://schemas.microsoft.com/office/drawing/2016/SVG/main" r:embed="rId34"/>
                  </a:ext>
                </a:extLst>
              </a:blip>
              <a:stretch>
                <a:fillRect/>
              </a:stretch>
            </a:blipFill>
          </p:spPr>
          <p:txBody>
            <a:bodyPr/>
            <a:lstStyle/>
            <a:p>
              <a:endParaRPr lang="en-US"/>
            </a:p>
          </p:txBody>
        </p:sp>
        <p:sp>
          <p:nvSpPr>
            <p:cNvPr id="174" name="Freeform 174"/>
            <p:cNvSpPr/>
            <p:nvPr/>
          </p:nvSpPr>
          <p:spPr>
            <a:xfrm>
              <a:off x="713165" y="7722413"/>
              <a:ext cx="761643" cy="761643"/>
            </a:xfrm>
            <a:custGeom>
              <a:avLst/>
              <a:gdLst/>
              <a:ahLst/>
              <a:cxnLst/>
              <a:rect l="l" t="t" r="r" b="b"/>
              <a:pathLst>
                <a:path w="761643" h="761643">
                  <a:moveTo>
                    <a:pt x="0" y="0"/>
                  </a:moveTo>
                  <a:lnTo>
                    <a:pt x="761644" y="0"/>
                  </a:lnTo>
                  <a:lnTo>
                    <a:pt x="761644" y="761643"/>
                  </a:lnTo>
                  <a:lnTo>
                    <a:pt x="0" y="761643"/>
                  </a:lnTo>
                  <a:lnTo>
                    <a:pt x="0" y="0"/>
                  </a:lnTo>
                  <a:close/>
                </a:path>
              </a:pathLst>
            </a:custGeom>
            <a:blipFill>
              <a:blip>
                <a:extLst>
                  <a:ext uri="{96DAC541-7B7A-43D3-8B79-37D633B846F1}">
                    <asvg:svgBlip xmlns:asvg="http://schemas.microsoft.com/office/drawing/2016/SVG/main" r:embed="rId35"/>
                  </a:ext>
                </a:extLst>
              </a:blip>
              <a:stretch>
                <a:fillRect/>
              </a:stretch>
            </a:blipFill>
          </p:spPr>
          <p:txBody>
            <a:bodyPr/>
            <a:lstStyle/>
            <a:p>
              <a:endParaRPr lang="en-US"/>
            </a:p>
          </p:txBody>
        </p:sp>
        <p:sp>
          <p:nvSpPr>
            <p:cNvPr id="175" name="Freeform 175"/>
            <p:cNvSpPr/>
            <p:nvPr/>
          </p:nvSpPr>
          <p:spPr>
            <a:xfrm>
              <a:off x="866459" y="7878636"/>
              <a:ext cx="474688" cy="253958"/>
            </a:xfrm>
            <a:custGeom>
              <a:avLst/>
              <a:gdLst/>
              <a:ahLst/>
              <a:cxnLst/>
              <a:rect l="l" t="t" r="r" b="b"/>
              <a:pathLst>
                <a:path w="474688" h="253958">
                  <a:moveTo>
                    <a:pt x="0" y="0"/>
                  </a:moveTo>
                  <a:lnTo>
                    <a:pt x="474688" y="0"/>
                  </a:lnTo>
                  <a:lnTo>
                    <a:pt x="474688" y="253958"/>
                  </a:lnTo>
                  <a:lnTo>
                    <a:pt x="0" y="253958"/>
                  </a:lnTo>
                  <a:lnTo>
                    <a:pt x="0" y="0"/>
                  </a:lnTo>
                  <a:close/>
                </a:path>
              </a:pathLst>
            </a:custGeom>
            <a:blipFill>
              <a:blip>
                <a:extLst>
                  <a:ext uri="{96DAC541-7B7A-43D3-8B79-37D633B846F1}">
                    <asvg:svgBlip xmlns:asvg="http://schemas.microsoft.com/office/drawing/2016/SVG/main" r:embed="rId36"/>
                  </a:ext>
                </a:extLst>
              </a:blip>
              <a:stretch>
                <a:fillRect/>
              </a:stretch>
            </a:blipFill>
          </p:spPr>
          <p:txBody>
            <a:bodyPr/>
            <a:lstStyle/>
            <a:p>
              <a:endParaRPr lang="en-US"/>
            </a:p>
          </p:txBody>
        </p:sp>
        <p:sp>
          <p:nvSpPr>
            <p:cNvPr id="176" name="Freeform 176"/>
            <p:cNvSpPr/>
            <p:nvPr/>
          </p:nvSpPr>
          <p:spPr>
            <a:xfrm>
              <a:off x="1003894" y="7942902"/>
              <a:ext cx="211156" cy="229518"/>
            </a:xfrm>
            <a:custGeom>
              <a:avLst/>
              <a:gdLst/>
              <a:ahLst/>
              <a:cxnLst/>
              <a:rect l="l" t="t" r="r" b="b"/>
              <a:pathLst>
                <a:path w="211156" h="229518">
                  <a:moveTo>
                    <a:pt x="0" y="0"/>
                  </a:moveTo>
                  <a:lnTo>
                    <a:pt x="211156" y="0"/>
                  </a:lnTo>
                  <a:lnTo>
                    <a:pt x="211156" y="229517"/>
                  </a:lnTo>
                  <a:lnTo>
                    <a:pt x="0" y="229517"/>
                  </a:lnTo>
                  <a:lnTo>
                    <a:pt x="0" y="0"/>
                  </a:lnTo>
                  <a:close/>
                </a:path>
              </a:pathLst>
            </a:custGeom>
            <a:blipFill>
              <a:blip>
                <a:extLst>
                  <a:ext uri="{96DAC541-7B7A-43D3-8B79-37D633B846F1}">
                    <asvg:svgBlip xmlns:asvg="http://schemas.microsoft.com/office/drawing/2016/SVG/main" r:embed="rId37"/>
                  </a:ext>
                </a:extLst>
              </a:blip>
              <a:stretch>
                <a:fillRect/>
              </a:stretch>
            </a:blipFill>
          </p:spPr>
          <p:txBody>
            <a:bodyPr/>
            <a:lstStyle/>
            <a:p>
              <a:endParaRPr lang="en-US"/>
            </a:p>
          </p:txBody>
        </p:sp>
        <p:sp>
          <p:nvSpPr>
            <p:cNvPr id="177" name="TextBox 177"/>
            <p:cNvSpPr txBox="1"/>
            <p:nvPr/>
          </p:nvSpPr>
          <p:spPr>
            <a:xfrm>
              <a:off x="838028" y="7744524"/>
              <a:ext cx="531551" cy="233449"/>
            </a:xfrm>
            <a:prstGeom prst="rect">
              <a:avLst/>
            </a:prstGeom>
          </p:spPr>
          <p:txBody>
            <a:bodyPr lIns="0" tIns="0" rIns="0" bIns="0" rtlCol="0" anchor="t">
              <a:spAutoFit/>
            </a:bodyPr>
            <a:lstStyle/>
            <a:p>
              <a:pPr algn="ctr">
                <a:lnSpc>
                  <a:spcPts val="727"/>
                </a:lnSpc>
                <a:spcBef>
                  <a:spcPct val="0"/>
                </a:spcBef>
              </a:pPr>
              <a:r>
                <a:rPr lang="en-US" sz="605" b="1" spc="82">
                  <a:solidFill>
                    <a:srgbClr val="FFFFFF"/>
                  </a:solidFill>
                  <a:latin typeface="Calibri (MS) Bold"/>
                  <a:ea typeface="Calibri (MS) Bold"/>
                  <a:cs typeface="Calibri (MS) Bold"/>
                  <a:sym typeface="Calibri (MS) Bold"/>
                </a:rPr>
                <a:t>HAUNTED</a:t>
              </a:r>
            </a:p>
          </p:txBody>
        </p:sp>
        <p:sp>
          <p:nvSpPr>
            <p:cNvPr id="178" name="Freeform 178"/>
            <p:cNvSpPr/>
            <p:nvPr/>
          </p:nvSpPr>
          <p:spPr>
            <a:xfrm rot="-3394830" flipV="1">
              <a:off x="761314" y="7998955"/>
              <a:ext cx="153428" cy="48227"/>
            </a:xfrm>
            <a:custGeom>
              <a:avLst/>
              <a:gdLst/>
              <a:ahLst/>
              <a:cxnLst/>
              <a:rect l="l" t="t" r="r" b="b"/>
              <a:pathLst>
                <a:path w="153428" h="48227">
                  <a:moveTo>
                    <a:pt x="0" y="48227"/>
                  </a:moveTo>
                  <a:lnTo>
                    <a:pt x="153427" y="48227"/>
                  </a:lnTo>
                  <a:lnTo>
                    <a:pt x="153427" y="0"/>
                  </a:lnTo>
                  <a:lnTo>
                    <a:pt x="0" y="0"/>
                  </a:lnTo>
                  <a:lnTo>
                    <a:pt x="0" y="48227"/>
                  </a:lnTo>
                  <a:close/>
                </a:path>
              </a:pathLst>
            </a:custGeom>
            <a:blipFill>
              <a:blip>
                <a:extLst>
                  <a:ext uri="{96DAC541-7B7A-43D3-8B79-37D633B846F1}">
                    <asvg:svgBlip xmlns:asvg="http://schemas.microsoft.com/office/drawing/2016/SVG/main" r:embed="rId24"/>
                  </a:ext>
                </a:extLst>
              </a:blip>
              <a:stretch>
                <a:fillRect l="-116778"/>
              </a:stretch>
            </a:blipFill>
          </p:spPr>
          <p:txBody>
            <a:bodyPr/>
            <a:lstStyle/>
            <a:p>
              <a:endParaRPr lang="en-US"/>
            </a:p>
          </p:txBody>
        </p:sp>
        <p:sp>
          <p:nvSpPr>
            <p:cNvPr id="179" name="Freeform 179"/>
            <p:cNvSpPr/>
            <p:nvPr/>
          </p:nvSpPr>
          <p:spPr>
            <a:xfrm rot="-6716943">
              <a:off x="1292864" y="7998955"/>
              <a:ext cx="153428" cy="48227"/>
            </a:xfrm>
            <a:custGeom>
              <a:avLst/>
              <a:gdLst/>
              <a:ahLst/>
              <a:cxnLst/>
              <a:rect l="l" t="t" r="r" b="b"/>
              <a:pathLst>
                <a:path w="153428" h="48227">
                  <a:moveTo>
                    <a:pt x="0" y="0"/>
                  </a:moveTo>
                  <a:lnTo>
                    <a:pt x="153428" y="0"/>
                  </a:lnTo>
                  <a:lnTo>
                    <a:pt x="153428" y="48227"/>
                  </a:lnTo>
                  <a:lnTo>
                    <a:pt x="0" y="48227"/>
                  </a:lnTo>
                  <a:lnTo>
                    <a:pt x="0" y="0"/>
                  </a:lnTo>
                  <a:close/>
                </a:path>
              </a:pathLst>
            </a:custGeom>
            <a:blipFill>
              <a:blip>
                <a:extLst>
                  <a:ext uri="{96DAC541-7B7A-43D3-8B79-37D633B846F1}">
                    <asvg:svgBlip xmlns:asvg="http://schemas.microsoft.com/office/drawing/2016/SVG/main" r:embed="rId24"/>
                  </a:ext>
                </a:extLst>
              </a:blip>
              <a:stretch>
                <a:fillRect l="-116778"/>
              </a:stretch>
            </a:blipFill>
          </p:spPr>
          <p:txBody>
            <a:bodyPr/>
            <a:lstStyle/>
            <a:p>
              <a:endParaRPr lang="en-US"/>
            </a:p>
          </p:txBody>
        </p:sp>
        <p:sp>
          <p:nvSpPr>
            <p:cNvPr id="180" name="Freeform 180"/>
            <p:cNvSpPr/>
            <p:nvPr/>
          </p:nvSpPr>
          <p:spPr>
            <a:xfrm rot="2699999">
              <a:off x="850497" y="7963616"/>
              <a:ext cx="492735" cy="492735"/>
            </a:xfrm>
            <a:custGeom>
              <a:avLst/>
              <a:gdLst/>
              <a:ahLst/>
              <a:cxnLst/>
              <a:rect l="l" t="t" r="r" b="b"/>
              <a:pathLst>
                <a:path w="492735" h="492735">
                  <a:moveTo>
                    <a:pt x="0" y="0"/>
                  </a:moveTo>
                  <a:lnTo>
                    <a:pt x="492735" y="0"/>
                  </a:lnTo>
                  <a:lnTo>
                    <a:pt x="492735" y="492736"/>
                  </a:lnTo>
                  <a:lnTo>
                    <a:pt x="0" y="492736"/>
                  </a:lnTo>
                  <a:lnTo>
                    <a:pt x="0" y="0"/>
                  </a:lnTo>
                  <a:close/>
                </a:path>
              </a:pathLst>
            </a:custGeom>
            <a:blipFill>
              <a:blip>
                <a:extLst>
                  <a:ext uri="{96DAC541-7B7A-43D3-8B79-37D633B846F1}">
                    <asvg:svgBlip xmlns:asvg="http://schemas.microsoft.com/office/drawing/2016/SVG/main" r:embed="rId38"/>
                  </a:ext>
                </a:extLst>
              </a:blip>
              <a:stretch>
                <a:fillRect/>
              </a:stretch>
            </a:blipFill>
          </p:spPr>
          <p:txBody>
            <a:bodyPr/>
            <a:lstStyle/>
            <a:p>
              <a:endParaRPr lang="en-US"/>
            </a:p>
          </p:txBody>
        </p:sp>
        <p:sp>
          <p:nvSpPr>
            <p:cNvPr id="181" name="TextBox 181"/>
            <p:cNvSpPr txBox="1"/>
            <p:nvPr/>
          </p:nvSpPr>
          <p:spPr>
            <a:xfrm>
              <a:off x="985789" y="8359543"/>
              <a:ext cx="216396" cy="47593"/>
            </a:xfrm>
            <a:prstGeom prst="rect">
              <a:avLst/>
            </a:prstGeom>
          </p:spPr>
          <p:txBody>
            <a:bodyPr lIns="0" tIns="0" rIns="0" bIns="0" rtlCol="0" anchor="t">
              <a:spAutoFit/>
            </a:bodyPr>
            <a:lstStyle/>
            <a:p>
              <a:pPr algn="ctr">
                <a:lnSpc>
                  <a:spcPts val="226"/>
                </a:lnSpc>
                <a:spcBef>
                  <a:spcPct val="0"/>
                </a:spcBef>
              </a:pPr>
              <a:r>
                <a:rPr lang="en-US" sz="188" b="1" spc="25">
                  <a:solidFill>
                    <a:srgbClr val="FFFFFF"/>
                  </a:solidFill>
                  <a:latin typeface="Calibri (MS) Bold"/>
                  <a:ea typeface="Calibri (MS) Bold"/>
                  <a:cs typeface="Calibri (MS) Bold"/>
                  <a:sym typeface="Calibri (MS) Bold"/>
                </a:rPr>
                <a:t>October2026</a:t>
              </a:r>
            </a:p>
          </p:txBody>
        </p:sp>
        <p:sp>
          <p:nvSpPr>
            <p:cNvPr id="182" name="Freeform 182"/>
            <p:cNvSpPr/>
            <p:nvPr/>
          </p:nvSpPr>
          <p:spPr>
            <a:xfrm rot="2699999">
              <a:off x="909166" y="8134216"/>
              <a:ext cx="369641" cy="369641"/>
            </a:xfrm>
            <a:custGeom>
              <a:avLst/>
              <a:gdLst/>
              <a:ahLst/>
              <a:cxnLst/>
              <a:rect l="l" t="t" r="r" b="b"/>
              <a:pathLst>
                <a:path w="369641" h="369641">
                  <a:moveTo>
                    <a:pt x="0" y="0"/>
                  </a:moveTo>
                  <a:lnTo>
                    <a:pt x="369641" y="0"/>
                  </a:lnTo>
                  <a:lnTo>
                    <a:pt x="369641" y="369641"/>
                  </a:lnTo>
                  <a:lnTo>
                    <a:pt x="0" y="369641"/>
                  </a:lnTo>
                  <a:lnTo>
                    <a:pt x="0" y="0"/>
                  </a:lnTo>
                  <a:close/>
                </a:path>
              </a:pathLst>
            </a:custGeom>
            <a:blipFill>
              <a:blip>
                <a:extLst>
                  <a:ext uri="{96DAC541-7B7A-43D3-8B79-37D633B846F1}">
                    <asvg:svgBlip xmlns:asvg="http://schemas.microsoft.com/office/drawing/2016/SVG/main" r:embed="rId38"/>
                  </a:ext>
                </a:extLst>
              </a:blip>
              <a:stretch>
                <a:fillRect/>
              </a:stretch>
            </a:blipFill>
          </p:spPr>
          <p:txBody>
            <a:bodyPr/>
            <a:lstStyle/>
            <a:p>
              <a:endParaRPr lang="en-US"/>
            </a:p>
          </p:txBody>
        </p:sp>
        <p:sp>
          <p:nvSpPr>
            <p:cNvPr id="183" name="TextBox 183"/>
            <p:cNvSpPr txBox="1"/>
            <p:nvPr/>
          </p:nvSpPr>
          <p:spPr>
            <a:xfrm>
              <a:off x="920736" y="8230599"/>
              <a:ext cx="352256" cy="70764"/>
            </a:xfrm>
            <a:prstGeom prst="rect">
              <a:avLst/>
            </a:prstGeom>
          </p:spPr>
          <p:txBody>
            <a:bodyPr lIns="0" tIns="0" rIns="0" bIns="0" rtlCol="0" anchor="t">
              <a:spAutoFit/>
            </a:bodyPr>
            <a:lstStyle/>
            <a:p>
              <a:pPr algn="ctr">
                <a:lnSpc>
                  <a:spcPts val="367"/>
                </a:lnSpc>
                <a:spcBef>
                  <a:spcPct val="0"/>
                </a:spcBef>
              </a:pPr>
              <a:r>
                <a:rPr lang="en-US" sz="306" b="1">
                  <a:solidFill>
                    <a:srgbClr val="FFFFFF"/>
                  </a:solidFill>
                  <a:latin typeface="Calibri (MS) Bold"/>
                  <a:ea typeface="Calibri (MS) Bold"/>
                  <a:cs typeface="Calibri (MS) Bold"/>
                  <a:sym typeface="Calibri (MS) Bold"/>
                </a:rPr>
                <a:t> REAL PASSPORT</a:t>
              </a:r>
            </a:p>
          </p:txBody>
        </p:sp>
        <p:sp>
          <p:nvSpPr>
            <p:cNvPr id="184" name="TextBox 184"/>
            <p:cNvSpPr txBox="1"/>
            <p:nvPr/>
          </p:nvSpPr>
          <p:spPr>
            <a:xfrm>
              <a:off x="763512" y="8122854"/>
              <a:ext cx="167087" cy="47593"/>
            </a:xfrm>
            <a:prstGeom prst="rect">
              <a:avLst/>
            </a:prstGeom>
          </p:spPr>
          <p:txBody>
            <a:bodyPr lIns="0" tIns="0" rIns="0" bIns="0" rtlCol="0" anchor="t">
              <a:spAutoFit/>
            </a:bodyPr>
            <a:lstStyle/>
            <a:p>
              <a:pPr algn="ctr">
                <a:lnSpc>
                  <a:spcPts val="226"/>
                </a:lnSpc>
                <a:spcBef>
                  <a:spcPct val="0"/>
                </a:spcBef>
              </a:pPr>
              <a:r>
                <a:rPr lang="en-US" sz="188" b="1">
                  <a:solidFill>
                    <a:srgbClr val="FFDE59"/>
                  </a:solidFill>
                  <a:latin typeface="Calibri (MS) Bold"/>
                  <a:ea typeface="Calibri (MS) Bold"/>
                  <a:cs typeface="Calibri (MS) Bold"/>
                  <a:sym typeface="Calibri (MS) Bold"/>
                </a:rPr>
                <a:t>BeReal.</a:t>
              </a:r>
            </a:p>
          </p:txBody>
        </p:sp>
        <p:sp>
          <p:nvSpPr>
            <p:cNvPr id="185" name="TextBox 185"/>
            <p:cNvSpPr txBox="1"/>
            <p:nvPr/>
          </p:nvSpPr>
          <p:spPr>
            <a:xfrm>
              <a:off x="1253534" y="8122854"/>
              <a:ext cx="167087" cy="47593"/>
            </a:xfrm>
            <a:prstGeom prst="rect">
              <a:avLst/>
            </a:prstGeom>
          </p:spPr>
          <p:txBody>
            <a:bodyPr lIns="0" tIns="0" rIns="0" bIns="0" rtlCol="0" anchor="t">
              <a:spAutoFit/>
            </a:bodyPr>
            <a:lstStyle/>
            <a:p>
              <a:pPr algn="ctr">
                <a:lnSpc>
                  <a:spcPts val="226"/>
                </a:lnSpc>
                <a:spcBef>
                  <a:spcPct val="0"/>
                </a:spcBef>
              </a:pPr>
              <a:r>
                <a:rPr lang="en-US" sz="188" b="1">
                  <a:solidFill>
                    <a:srgbClr val="FFDE59"/>
                  </a:solidFill>
                  <a:latin typeface="Calibri (MS) Bold"/>
                  <a:ea typeface="Calibri (MS) Bold"/>
                  <a:cs typeface="Calibri (MS) Bold"/>
                  <a:sym typeface="Calibri (MS) Bold"/>
                </a:rPr>
                <a:t>Unfiltered</a:t>
              </a:r>
            </a:p>
          </p:txBody>
        </p:sp>
        <p:sp>
          <p:nvSpPr>
            <p:cNvPr id="186" name="Freeform 186"/>
            <p:cNvSpPr/>
            <p:nvPr/>
          </p:nvSpPr>
          <p:spPr>
            <a:xfrm>
              <a:off x="477549" y="5516968"/>
              <a:ext cx="155873" cy="186675"/>
            </a:xfrm>
            <a:custGeom>
              <a:avLst/>
              <a:gdLst/>
              <a:ahLst/>
              <a:cxnLst/>
              <a:rect l="l" t="t" r="r" b="b"/>
              <a:pathLst>
                <a:path w="155873" h="186675">
                  <a:moveTo>
                    <a:pt x="0" y="0"/>
                  </a:moveTo>
                  <a:lnTo>
                    <a:pt x="155873" y="0"/>
                  </a:lnTo>
                  <a:lnTo>
                    <a:pt x="155873" y="186674"/>
                  </a:lnTo>
                  <a:lnTo>
                    <a:pt x="0" y="186674"/>
                  </a:lnTo>
                  <a:lnTo>
                    <a:pt x="0" y="0"/>
                  </a:lnTo>
                  <a:close/>
                </a:path>
              </a:pathLst>
            </a:custGeom>
            <a:blipFill>
              <a:blip>
                <a:extLst>
                  <a:ext uri="{96DAC541-7B7A-43D3-8B79-37D633B846F1}">
                    <asvg:svgBlip xmlns:asvg="http://schemas.microsoft.com/office/drawing/2016/SVG/main" r:embed="rId39"/>
                  </a:ext>
                </a:extLst>
              </a:blip>
              <a:stretch>
                <a:fillRect/>
              </a:stretch>
            </a:blipFill>
          </p:spPr>
          <p:txBody>
            <a:bodyPr/>
            <a:lstStyle/>
            <a:p>
              <a:endParaRPr lang="en-US"/>
            </a:p>
          </p:txBody>
        </p:sp>
        <p:sp>
          <p:nvSpPr>
            <p:cNvPr id="187" name="Freeform 187"/>
            <p:cNvSpPr/>
            <p:nvPr/>
          </p:nvSpPr>
          <p:spPr>
            <a:xfrm>
              <a:off x="2167173" y="5516968"/>
              <a:ext cx="155873" cy="186675"/>
            </a:xfrm>
            <a:custGeom>
              <a:avLst/>
              <a:gdLst/>
              <a:ahLst/>
              <a:cxnLst/>
              <a:rect l="l" t="t" r="r" b="b"/>
              <a:pathLst>
                <a:path w="155873" h="186675">
                  <a:moveTo>
                    <a:pt x="0" y="0"/>
                  </a:moveTo>
                  <a:lnTo>
                    <a:pt x="155874" y="0"/>
                  </a:lnTo>
                  <a:lnTo>
                    <a:pt x="155874" y="186674"/>
                  </a:lnTo>
                  <a:lnTo>
                    <a:pt x="0" y="186674"/>
                  </a:lnTo>
                  <a:lnTo>
                    <a:pt x="0" y="0"/>
                  </a:lnTo>
                  <a:close/>
                </a:path>
              </a:pathLst>
            </a:custGeom>
            <a:blipFill>
              <a:blip>
                <a:extLst>
                  <a:ext uri="{96DAC541-7B7A-43D3-8B79-37D633B846F1}">
                    <asvg:svgBlip xmlns:asvg="http://schemas.microsoft.com/office/drawing/2016/SVG/main" r:embed="rId39"/>
                  </a:ext>
                </a:extLst>
              </a:blip>
              <a:stretch>
                <a:fillRect/>
              </a:stretch>
            </a:blipFill>
          </p:spPr>
          <p:txBody>
            <a:bodyPr/>
            <a:lstStyle/>
            <a:p>
              <a:endParaRPr lang="en-US"/>
            </a:p>
          </p:txBody>
        </p:sp>
        <p:sp>
          <p:nvSpPr>
            <p:cNvPr id="188" name="Freeform 188"/>
            <p:cNvSpPr/>
            <p:nvPr/>
          </p:nvSpPr>
          <p:spPr>
            <a:xfrm>
              <a:off x="3906982" y="5571279"/>
              <a:ext cx="155873" cy="186675"/>
            </a:xfrm>
            <a:custGeom>
              <a:avLst/>
              <a:gdLst/>
              <a:ahLst/>
              <a:cxnLst/>
              <a:rect l="l" t="t" r="r" b="b"/>
              <a:pathLst>
                <a:path w="155873" h="186675">
                  <a:moveTo>
                    <a:pt x="0" y="0"/>
                  </a:moveTo>
                  <a:lnTo>
                    <a:pt x="155873" y="0"/>
                  </a:lnTo>
                  <a:lnTo>
                    <a:pt x="155873" y="186675"/>
                  </a:lnTo>
                  <a:lnTo>
                    <a:pt x="0" y="186675"/>
                  </a:lnTo>
                  <a:lnTo>
                    <a:pt x="0" y="0"/>
                  </a:lnTo>
                  <a:close/>
                </a:path>
              </a:pathLst>
            </a:custGeom>
            <a:blipFill>
              <a:blip>
                <a:extLst>
                  <a:ext uri="{96DAC541-7B7A-43D3-8B79-37D633B846F1}">
                    <asvg:svgBlip xmlns:asvg="http://schemas.microsoft.com/office/drawing/2016/SVG/main" r:embed="rId39"/>
                  </a:ext>
                </a:extLst>
              </a:blip>
              <a:stretch>
                <a:fillRect/>
              </a:stretch>
            </a:blipFill>
          </p:spPr>
          <p:txBody>
            <a:bodyPr/>
            <a:lstStyle/>
            <a:p>
              <a:endParaRPr lang="en-US"/>
            </a:p>
          </p:txBody>
        </p:sp>
        <p:sp>
          <p:nvSpPr>
            <p:cNvPr id="189" name="Freeform 189"/>
            <p:cNvSpPr/>
            <p:nvPr/>
          </p:nvSpPr>
          <p:spPr>
            <a:xfrm>
              <a:off x="426151" y="7641058"/>
              <a:ext cx="155873" cy="186675"/>
            </a:xfrm>
            <a:custGeom>
              <a:avLst/>
              <a:gdLst/>
              <a:ahLst/>
              <a:cxnLst/>
              <a:rect l="l" t="t" r="r" b="b"/>
              <a:pathLst>
                <a:path w="155873" h="186675">
                  <a:moveTo>
                    <a:pt x="0" y="0"/>
                  </a:moveTo>
                  <a:lnTo>
                    <a:pt x="155873" y="0"/>
                  </a:lnTo>
                  <a:lnTo>
                    <a:pt x="155873" y="186675"/>
                  </a:lnTo>
                  <a:lnTo>
                    <a:pt x="0" y="186675"/>
                  </a:lnTo>
                  <a:lnTo>
                    <a:pt x="0" y="0"/>
                  </a:lnTo>
                  <a:close/>
                </a:path>
              </a:pathLst>
            </a:custGeom>
            <a:blipFill>
              <a:blip>
                <a:extLst>
                  <a:ext uri="{96DAC541-7B7A-43D3-8B79-37D633B846F1}">
                    <asvg:svgBlip xmlns:asvg="http://schemas.microsoft.com/office/drawing/2016/SVG/main" r:embed="rId39"/>
                  </a:ext>
                </a:extLst>
              </a:blip>
              <a:stretch>
                <a:fillRect/>
              </a:stretch>
            </a:blipFill>
          </p:spPr>
          <p:txBody>
            <a:bodyPr/>
            <a:lstStyle/>
            <a:p>
              <a:endParaRPr lang="en-US"/>
            </a:p>
          </p:txBody>
        </p:sp>
        <p:sp>
          <p:nvSpPr>
            <p:cNvPr id="190" name="Freeform 190"/>
            <p:cNvSpPr/>
            <p:nvPr/>
          </p:nvSpPr>
          <p:spPr>
            <a:xfrm>
              <a:off x="2196535" y="7641058"/>
              <a:ext cx="155873" cy="210640"/>
            </a:xfrm>
            <a:custGeom>
              <a:avLst/>
              <a:gdLst/>
              <a:ahLst/>
              <a:cxnLst/>
              <a:rect l="l" t="t" r="r" b="b"/>
              <a:pathLst>
                <a:path w="155873" h="210640">
                  <a:moveTo>
                    <a:pt x="0" y="0"/>
                  </a:moveTo>
                  <a:lnTo>
                    <a:pt x="155874" y="0"/>
                  </a:lnTo>
                  <a:lnTo>
                    <a:pt x="155874" y="210640"/>
                  </a:lnTo>
                  <a:lnTo>
                    <a:pt x="0" y="210640"/>
                  </a:lnTo>
                  <a:lnTo>
                    <a:pt x="0" y="0"/>
                  </a:lnTo>
                  <a:close/>
                </a:path>
              </a:pathLst>
            </a:custGeom>
            <a:blipFill>
              <a:blip>
                <a:extLst>
                  <a:ext uri="{96DAC541-7B7A-43D3-8B79-37D633B846F1}">
                    <asvg:svgBlip xmlns:asvg="http://schemas.microsoft.com/office/drawing/2016/SVG/main" r:embed="rId40"/>
                  </a:ext>
                </a:extLst>
              </a:blip>
              <a:stretch>
                <a:fillRect/>
              </a:stretch>
            </a:blipFill>
          </p:spPr>
          <p:txBody>
            <a:bodyPr/>
            <a:lstStyle/>
            <a:p>
              <a:endParaRPr lang="en-US"/>
            </a:p>
          </p:txBody>
        </p:sp>
        <p:sp>
          <p:nvSpPr>
            <p:cNvPr id="191" name="Freeform 191"/>
            <p:cNvSpPr/>
            <p:nvPr/>
          </p:nvSpPr>
          <p:spPr>
            <a:xfrm>
              <a:off x="3923155" y="7617093"/>
              <a:ext cx="155873" cy="210640"/>
            </a:xfrm>
            <a:custGeom>
              <a:avLst/>
              <a:gdLst/>
              <a:ahLst/>
              <a:cxnLst/>
              <a:rect l="l" t="t" r="r" b="b"/>
              <a:pathLst>
                <a:path w="155873" h="210640">
                  <a:moveTo>
                    <a:pt x="0" y="0"/>
                  </a:moveTo>
                  <a:lnTo>
                    <a:pt x="155873" y="0"/>
                  </a:lnTo>
                  <a:lnTo>
                    <a:pt x="155873" y="210640"/>
                  </a:lnTo>
                  <a:lnTo>
                    <a:pt x="0" y="210640"/>
                  </a:lnTo>
                  <a:lnTo>
                    <a:pt x="0" y="0"/>
                  </a:lnTo>
                  <a:close/>
                </a:path>
              </a:pathLst>
            </a:custGeom>
            <a:blipFill>
              <a:blip>
                <a:extLst>
                  <a:ext uri="{96DAC541-7B7A-43D3-8B79-37D633B846F1}">
                    <asvg:svgBlip xmlns:asvg="http://schemas.microsoft.com/office/drawing/2016/SVG/main" r:embed="rId40"/>
                  </a:ext>
                </a:extLst>
              </a:blip>
              <a:stretch>
                <a:fillRect/>
              </a:stretch>
            </a:blipFill>
          </p:spPr>
          <p:txBody>
            <a:bodyPr/>
            <a:lstStyle/>
            <a:p>
              <a:endParaRPr lang="en-US"/>
            </a:p>
          </p:txBody>
        </p:sp>
        <p:grpSp>
          <p:nvGrpSpPr>
            <p:cNvPr id="192" name="Group 192"/>
            <p:cNvGrpSpPr/>
            <p:nvPr/>
          </p:nvGrpSpPr>
          <p:grpSpPr>
            <a:xfrm>
              <a:off x="3839474" y="6846836"/>
              <a:ext cx="167362" cy="167362"/>
              <a:chOff x="0" y="0"/>
              <a:chExt cx="812800" cy="812800"/>
            </a:xfrm>
          </p:grpSpPr>
          <p:sp>
            <p:nvSpPr>
              <p:cNvPr id="193" name="Freeform 193"/>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a:blip r:embed="rId41"/>
                <a:stretch>
                  <a:fillRect t="-38495" b="-38495"/>
                </a:stretch>
              </a:blipFill>
              <a:ln w="9525" cap="sq">
                <a:solidFill>
                  <a:srgbClr val="000000"/>
                </a:solidFill>
                <a:prstDash val="solid"/>
                <a:miter/>
              </a:ln>
            </p:spPr>
            <p:txBody>
              <a:bodyPr/>
              <a:lstStyle/>
              <a:p>
                <a:endParaRPr lang="en-US"/>
              </a:p>
            </p:txBody>
          </p:sp>
        </p:grpSp>
        <p:grpSp>
          <p:nvGrpSpPr>
            <p:cNvPr id="194" name="Group 194"/>
            <p:cNvGrpSpPr/>
            <p:nvPr/>
          </p:nvGrpSpPr>
          <p:grpSpPr>
            <a:xfrm>
              <a:off x="3943582" y="6854066"/>
              <a:ext cx="152902" cy="152902"/>
              <a:chOff x="0" y="0"/>
              <a:chExt cx="812800" cy="812800"/>
            </a:xfrm>
          </p:grpSpPr>
          <p:sp>
            <p:nvSpPr>
              <p:cNvPr id="195" name="Freeform 195"/>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a:blip r:embed="rId42"/>
                <a:stretch>
                  <a:fillRect l="-15789" r="-15789"/>
                </a:stretch>
              </a:blipFill>
              <a:ln cap="sq">
                <a:noFill/>
                <a:prstDash val="solid"/>
                <a:miter/>
              </a:ln>
            </p:spPr>
            <p:txBody>
              <a:bodyPr/>
              <a:lstStyle/>
              <a:p>
                <a:endParaRPr lang="en-US"/>
              </a:p>
            </p:txBody>
          </p:sp>
        </p:grpSp>
        <p:grpSp>
          <p:nvGrpSpPr>
            <p:cNvPr id="196" name="Group 196"/>
            <p:cNvGrpSpPr/>
            <p:nvPr/>
          </p:nvGrpSpPr>
          <p:grpSpPr>
            <a:xfrm>
              <a:off x="4667728" y="6822362"/>
              <a:ext cx="458032" cy="216310"/>
              <a:chOff x="0" y="0"/>
              <a:chExt cx="641670" cy="303034"/>
            </a:xfrm>
          </p:grpSpPr>
          <p:sp>
            <p:nvSpPr>
              <p:cNvPr id="197" name="Freeform 197"/>
              <p:cNvSpPr/>
              <p:nvPr/>
            </p:nvSpPr>
            <p:spPr>
              <a:xfrm>
                <a:off x="0" y="0"/>
                <a:ext cx="641670" cy="303034"/>
              </a:xfrm>
              <a:custGeom>
                <a:avLst/>
                <a:gdLst/>
                <a:ahLst/>
                <a:cxnLst/>
                <a:rect l="l" t="t" r="r" b="b"/>
                <a:pathLst>
                  <a:path w="641670" h="303034">
                    <a:moveTo>
                      <a:pt x="0" y="0"/>
                    </a:moveTo>
                    <a:lnTo>
                      <a:pt x="641670" y="0"/>
                    </a:lnTo>
                    <a:lnTo>
                      <a:pt x="641670" y="303034"/>
                    </a:lnTo>
                    <a:lnTo>
                      <a:pt x="0" y="303034"/>
                    </a:lnTo>
                    <a:close/>
                  </a:path>
                </a:pathLst>
              </a:custGeom>
              <a:blipFill>
                <a:blip r:embed="rId3">
                  <a:alphaModFix amt="0"/>
                </a:blip>
                <a:stretch>
                  <a:fillRect t="-948048" r="-2892565" b="-1421369"/>
                </a:stretch>
              </a:blipFill>
            </p:spPr>
            <p:txBody>
              <a:bodyPr/>
              <a:lstStyle/>
              <a:p>
                <a:endParaRPr lang="en-US"/>
              </a:p>
            </p:txBody>
          </p:sp>
          <p:sp>
            <p:nvSpPr>
              <p:cNvPr id="198" name="TextBox 198"/>
              <p:cNvSpPr txBox="1"/>
              <p:nvPr/>
            </p:nvSpPr>
            <p:spPr>
              <a:xfrm>
                <a:off x="0" y="0"/>
                <a:ext cx="641670" cy="303034"/>
              </a:xfrm>
              <a:prstGeom prst="rect">
                <a:avLst/>
              </a:prstGeom>
            </p:spPr>
            <p:txBody>
              <a:bodyPr lIns="0" tIns="0" rIns="0" bIns="0" rtlCol="0" anchor="ctr"/>
              <a:lstStyle/>
              <a:p>
                <a:pPr algn="l">
                  <a:lnSpc>
                    <a:spcPts val="853"/>
                  </a:lnSpc>
                </a:pPr>
                <a:r>
                  <a:rPr lang="en-US" sz="800" b="1">
                    <a:solidFill>
                      <a:srgbClr val="FFFFFF"/>
                    </a:solidFill>
                    <a:latin typeface="Arial Bold"/>
                    <a:ea typeface="Arial Bold"/>
                    <a:cs typeface="Arial Bold"/>
                    <a:sym typeface="Arial Bold"/>
                  </a:rPr>
                  <a:t>2 Post</a:t>
                </a:r>
              </a:p>
            </p:txBody>
          </p:sp>
        </p:grpSp>
        <p:grpSp>
          <p:nvGrpSpPr>
            <p:cNvPr id="199" name="Group 199"/>
            <p:cNvGrpSpPr/>
            <p:nvPr/>
          </p:nvGrpSpPr>
          <p:grpSpPr>
            <a:xfrm>
              <a:off x="455683" y="6836458"/>
              <a:ext cx="177740" cy="177740"/>
              <a:chOff x="0" y="0"/>
              <a:chExt cx="812800" cy="812800"/>
            </a:xfrm>
          </p:grpSpPr>
          <p:sp>
            <p:nvSpPr>
              <p:cNvPr id="200" name="Freeform 200"/>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a:blip r:embed="rId43"/>
                <a:stretch>
                  <a:fillRect t="-25187" b="-25187"/>
                </a:stretch>
              </a:blipFill>
              <a:ln w="9525" cap="sq">
                <a:solidFill>
                  <a:srgbClr val="000000"/>
                </a:solidFill>
                <a:prstDash val="solid"/>
                <a:miter/>
              </a:ln>
            </p:spPr>
            <p:txBody>
              <a:bodyPr/>
              <a:lstStyle/>
              <a:p>
                <a:endParaRPr lang="en-US"/>
              </a:p>
            </p:txBody>
          </p:sp>
        </p:grpSp>
        <p:grpSp>
          <p:nvGrpSpPr>
            <p:cNvPr id="201" name="Group 201"/>
            <p:cNvGrpSpPr/>
            <p:nvPr/>
          </p:nvGrpSpPr>
          <p:grpSpPr>
            <a:xfrm>
              <a:off x="549741" y="6846836"/>
              <a:ext cx="167362" cy="167362"/>
              <a:chOff x="0" y="0"/>
              <a:chExt cx="812800" cy="812800"/>
            </a:xfrm>
          </p:grpSpPr>
          <p:sp>
            <p:nvSpPr>
              <p:cNvPr id="202" name="Freeform 202"/>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a:blip r:embed="rId44"/>
                <a:stretch>
                  <a:fillRect t="-16666" b="-16666"/>
                </a:stretch>
              </a:blipFill>
              <a:ln w="9525" cap="sq">
                <a:solidFill>
                  <a:srgbClr val="000000"/>
                </a:solidFill>
                <a:prstDash val="solid"/>
                <a:miter/>
              </a:ln>
            </p:spPr>
            <p:txBody>
              <a:bodyPr/>
              <a:lstStyle/>
              <a:p>
                <a:endParaRPr lang="en-US"/>
              </a:p>
            </p:txBody>
          </p:sp>
        </p:grpSp>
        <p:grpSp>
          <p:nvGrpSpPr>
            <p:cNvPr id="203" name="Group 203"/>
            <p:cNvGrpSpPr/>
            <p:nvPr/>
          </p:nvGrpSpPr>
          <p:grpSpPr>
            <a:xfrm>
              <a:off x="633422" y="6834335"/>
              <a:ext cx="179863" cy="179863"/>
              <a:chOff x="0" y="0"/>
              <a:chExt cx="812800" cy="812800"/>
            </a:xfrm>
          </p:grpSpPr>
          <p:sp>
            <p:nvSpPr>
              <p:cNvPr id="204" name="Freeform 204"/>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a:blip r:embed="rId45"/>
                <a:stretch>
                  <a:fillRect l="-74702" t="-17386" r="-22279" b="-13606"/>
                </a:stretch>
              </a:blipFill>
              <a:ln cap="sq">
                <a:noFill/>
                <a:prstDash val="solid"/>
                <a:miter/>
              </a:ln>
            </p:spPr>
            <p:txBody>
              <a:bodyPr/>
              <a:lstStyle/>
              <a:p>
                <a:endParaRPr lang="en-US"/>
              </a:p>
            </p:txBody>
          </p:sp>
        </p:grpSp>
        <p:grpSp>
          <p:nvGrpSpPr>
            <p:cNvPr id="205" name="Group 205"/>
            <p:cNvGrpSpPr/>
            <p:nvPr/>
          </p:nvGrpSpPr>
          <p:grpSpPr>
            <a:xfrm>
              <a:off x="426151" y="8879513"/>
              <a:ext cx="155873" cy="155873"/>
              <a:chOff x="0" y="0"/>
              <a:chExt cx="812800" cy="812800"/>
            </a:xfrm>
          </p:grpSpPr>
          <p:sp>
            <p:nvSpPr>
              <p:cNvPr id="206" name="Freeform 20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a:blip r:embed="rId46"/>
                <a:stretch>
                  <a:fillRect t="-12500" b="-12500"/>
                </a:stretch>
              </a:blipFill>
              <a:ln w="9525" cap="sq">
                <a:solidFill>
                  <a:srgbClr val="000000"/>
                </a:solidFill>
                <a:prstDash val="solid"/>
                <a:miter/>
              </a:ln>
            </p:spPr>
            <p:txBody>
              <a:bodyPr/>
              <a:lstStyle/>
              <a:p>
                <a:endParaRPr lang="en-US"/>
              </a:p>
            </p:txBody>
          </p:sp>
        </p:grpSp>
        <p:grpSp>
          <p:nvGrpSpPr>
            <p:cNvPr id="207" name="Group 207"/>
            <p:cNvGrpSpPr/>
            <p:nvPr/>
          </p:nvGrpSpPr>
          <p:grpSpPr>
            <a:xfrm>
              <a:off x="1192839" y="8831892"/>
              <a:ext cx="470587" cy="251116"/>
              <a:chOff x="0" y="0"/>
              <a:chExt cx="659259" cy="351796"/>
            </a:xfrm>
          </p:grpSpPr>
          <p:sp>
            <p:nvSpPr>
              <p:cNvPr id="208" name="Freeform 208"/>
              <p:cNvSpPr/>
              <p:nvPr/>
            </p:nvSpPr>
            <p:spPr>
              <a:xfrm>
                <a:off x="0" y="0"/>
                <a:ext cx="659259" cy="351796"/>
              </a:xfrm>
              <a:custGeom>
                <a:avLst/>
                <a:gdLst/>
                <a:ahLst/>
                <a:cxnLst/>
                <a:rect l="l" t="t" r="r" b="b"/>
                <a:pathLst>
                  <a:path w="659259" h="351796">
                    <a:moveTo>
                      <a:pt x="0" y="0"/>
                    </a:moveTo>
                    <a:lnTo>
                      <a:pt x="659259" y="0"/>
                    </a:lnTo>
                    <a:lnTo>
                      <a:pt x="659259" y="351796"/>
                    </a:lnTo>
                    <a:lnTo>
                      <a:pt x="0" y="351796"/>
                    </a:lnTo>
                    <a:close/>
                  </a:path>
                </a:pathLst>
              </a:custGeom>
              <a:blipFill>
                <a:blip r:embed="rId3">
                  <a:alphaModFix amt="0"/>
                </a:blip>
                <a:stretch>
                  <a:fillRect t="-816642" r="-2812724" b="-1210497"/>
                </a:stretch>
              </a:blipFill>
            </p:spPr>
            <p:txBody>
              <a:bodyPr/>
              <a:lstStyle/>
              <a:p>
                <a:endParaRPr lang="en-US"/>
              </a:p>
            </p:txBody>
          </p:sp>
          <p:sp>
            <p:nvSpPr>
              <p:cNvPr id="209" name="TextBox 209"/>
              <p:cNvSpPr txBox="1"/>
              <p:nvPr/>
            </p:nvSpPr>
            <p:spPr>
              <a:xfrm>
                <a:off x="0" y="0"/>
                <a:ext cx="659259" cy="351796"/>
              </a:xfrm>
              <a:prstGeom prst="rect">
                <a:avLst/>
              </a:prstGeom>
            </p:spPr>
            <p:txBody>
              <a:bodyPr lIns="0" tIns="0" rIns="0" bIns="0" rtlCol="0" anchor="ctr"/>
              <a:lstStyle/>
              <a:p>
                <a:pPr algn="l">
                  <a:lnSpc>
                    <a:spcPts val="853"/>
                  </a:lnSpc>
                </a:pPr>
                <a:r>
                  <a:rPr lang="en-US" sz="800" b="1">
                    <a:solidFill>
                      <a:srgbClr val="FFFFFF"/>
                    </a:solidFill>
                    <a:latin typeface="Arial Bold"/>
                    <a:ea typeface="Arial Bold"/>
                    <a:cs typeface="Arial Bold"/>
                    <a:sym typeface="Arial Bold"/>
                  </a:rPr>
                  <a:t>5 Post</a:t>
                </a:r>
              </a:p>
            </p:txBody>
          </p:sp>
        </p:grpSp>
        <p:grpSp>
          <p:nvGrpSpPr>
            <p:cNvPr id="210" name="Group 210"/>
            <p:cNvGrpSpPr/>
            <p:nvPr/>
          </p:nvGrpSpPr>
          <p:grpSpPr>
            <a:xfrm>
              <a:off x="1239515" y="6816112"/>
              <a:ext cx="470587" cy="216310"/>
              <a:chOff x="0" y="0"/>
              <a:chExt cx="659259" cy="303034"/>
            </a:xfrm>
          </p:grpSpPr>
          <p:sp>
            <p:nvSpPr>
              <p:cNvPr id="211" name="Freeform 211"/>
              <p:cNvSpPr/>
              <p:nvPr/>
            </p:nvSpPr>
            <p:spPr>
              <a:xfrm>
                <a:off x="0" y="0"/>
                <a:ext cx="659259" cy="303034"/>
              </a:xfrm>
              <a:custGeom>
                <a:avLst/>
                <a:gdLst/>
                <a:ahLst/>
                <a:cxnLst/>
                <a:rect l="l" t="t" r="r" b="b"/>
                <a:pathLst>
                  <a:path w="659259" h="303034">
                    <a:moveTo>
                      <a:pt x="0" y="0"/>
                    </a:moveTo>
                    <a:lnTo>
                      <a:pt x="659259" y="0"/>
                    </a:lnTo>
                    <a:lnTo>
                      <a:pt x="659259" y="303034"/>
                    </a:lnTo>
                    <a:lnTo>
                      <a:pt x="0" y="303034"/>
                    </a:lnTo>
                    <a:close/>
                  </a:path>
                </a:pathLst>
              </a:custGeom>
              <a:blipFill>
                <a:blip r:embed="rId3">
                  <a:alphaModFix amt="0"/>
                </a:blip>
                <a:stretch>
                  <a:fillRect t="-948048" r="-2812724" b="-1421369"/>
                </a:stretch>
              </a:blipFill>
            </p:spPr>
            <p:txBody>
              <a:bodyPr/>
              <a:lstStyle/>
              <a:p>
                <a:endParaRPr lang="en-US"/>
              </a:p>
            </p:txBody>
          </p:sp>
          <p:sp>
            <p:nvSpPr>
              <p:cNvPr id="212" name="TextBox 212"/>
              <p:cNvSpPr txBox="1"/>
              <p:nvPr/>
            </p:nvSpPr>
            <p:spPr>
              <a:xfrm>
                <a:off x="0" y="0"/>
                <a:ext cx="659259" cy="303034"/>
              </a:xfrm>
              <a:prstGeom prst="rect">
                <a:avLst/>
              </a:prstGeom>
            </p:spPr>
            <p:txBody>
              <a:bodyPr lIns="0" tIns="0" rIns="0" bIns="0" rtlCol="0" anchor="ctr"/>
              <a:lstStyle/>
              <a:p>
                <a:pPr algn="l">
                  <a:lnSpc>
                    <a:spcPts val="853"/>
                  </a:lnSpc>
                </a:pPr>
                <a:r>
                  <a:rPr lang="en-US" sz="800" b="1">
                    <a:solidFill>
                      <a:srgbClr val="FFFFFF"/>
                    </a:solidFill>
                    <a:latin typeface="Arial Bold"/>
                    <a:ea typeface="Arial Bold"/>
                    <a:cs typeface="Arial Bold"/>
                    <a:sym typeface="Arial Bold"/>
                  </a:rPr>
                  <a:t>5 Post</a:t>
                </a:r>
              </a:p>
            </p:txBody>
          </p:sp>
        </p:grpSp>
        <p:grpSp>
          <p:nvGrpSpPr>
            <p:cNvPr id="213" name="Group 213"/>
            <p:cNvGrpSpPr/>
            <p:nvPr/>
          </p:nvGrpSpPr>
          <p:grpSpPr>
            <a:xfrm>
              <a:off x="2182075" y="6863330"/>
              <a:ext cx="169091" cy="169091"/>
              <a:chOff x="0" y="0"/>
              <a:chExt cx="812800" cy="812800"/>
            </a:xfrm>
          </p:grpSpPr>
          <p:sp>
            <p:nvSpPr>
              <p:cNvPr id="214" name="Freeform 214"/>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a:blip r:embed="rId47"/>
                <a:stretch>
                  <a:fillRect l="-96038" t="-77557" r="-95130" b="-40819"/>
                </a:stretch>
              </a:blipFill>
              <a:ln w="9525" cap="sq">
                <a:solidFill>
                  <a:srgbClr val="000000"/>
                </a:solidFill>
                <a:prstDash val="solid"/>
                <a:miter/>
              </a:ln>
            </p:spPr>
            <p:txBody>
              <a:bodyPr/>
              <a:lstStyle/>
              <a:p>
                <a:endParaRPr lang="en-US"/>
              </a:p>
            </p:txBody>
          </p:sp>
        </p:grpSp>
        <p:grpSp>
          <p:nvGrpSpPr>
            <p:cNvPr id="215" name="Group 215"/>
            <p:cNvGrpSpPr/>
            <p:nvPr/>
          </p:nvGrpSpPr>
          <p:grpSpPr>
            <a:xfrm>
              <a:off x="2981501" y="6817173"/>
              <a:ext cx="470587" cy="216310"/>
              <a:chOff x="0" y="0"/>
              <a:chExt cx="659259" cy="303034"/>
            </a:xfrm>
          </p:grpSpPr>
          <p:sp>
            <p:nvSpPr>
              <p:cNvPr id="216" name="Freeform 216"/>
              <p:cNvSpPr/>
              <p:nvPr/>
            </p:nvSpPr>
            <p:spPr>
              <a:xfrm>
                <a:off x="0" y="0"/>
                <a:ext cx="659259" cy="303034"/>
              </a:xfrm>
              <a:custGeom>
                <a:avLst/>
                <a:gdLst/>
                <a:ahLst/>
                <a:cxnLst/>
                <a:rect l="l" t="t" r="r" b="b"/>
                <a:pathLst>
                  <a:path w="659259" h="303034">
                    <a:moveTo>
                      <a:pt x="0" y="0"/>
                    </a:moveTo>
                    <a:lnTo>
                      <a:pt x="659259" y="0"/>
                    </a:lnTo>
                    <a:lnTo>
                      <a:pt x="659259" y="303034"/>
                    </a:lnTo>
                    <a:lnTo>
                      <a:pt x="0" y="303034"/>
                    </a:lnTo>
                    <a:close/>
                  </a:path>
                </a:pathLst>
              </a:custGeom>
              <a:blipFill>
                <a:blip r:embed="rId3">
                  <a:alphaModFix amt="0"/>
                </a:blip>
                <a:stretch>
                  <a:fillRect t="-948048" r="-2812724" b="-1421369"/>
                </a:stretch>
              </a:blipFill>
            </p:spPr>
            <p:txBody>
              <a:bodyPr/>
              <a:lstStyle/>
              <a:p>
                <a:endParaRPr lang="en-US"/>
              </a:p>
            </p:txBody>
          </p:sp>
          <p:sp>
            <p:nvSpPr>
              <p:cNvPr id="217" name="TextBox 217"/>
              <p:cNvSpPr txBox="1"/>
              <p:nvPr/>
            </p:nvSpPr>
            <p:spPr>
              <a:xfrm>
                <a:off x="0" y="0"/>
                <a:ext cx="659259" cy="303034"/>
              </a:xfrm>
              <a:prstGeom prst="rect">
                <a:avLst/>
              </a:prstGeom>
            </p:spPr>
            <p:txBody>
              <a:bodyPr lIns="0" tIns="0" rIns="0" bIns="0" rtlCol="0" anchor="ctr"/>
              <a:lstStyle/>
              <a:p>
                <a:pPr algn="l">
                  <a:lnSpc>
                    <a:spcPts val="853"/>
                  </a:lnSpc>
                </a:pPr>
                <a:r>
                  <a:rPr lang="en-US" sz="800" b="1">
                    <a:solidFill>
                      <a:srgbClr val="FFFFFF"/>
                    </a:solidFill>
                    <a:latin typeface="Arial Bold"/>
                    <a:ea typeface="Arial Bold"/>
                    <a:cs typeface="Arial Bold"/>
                    <a:sym typeface="Arial Bold"/>
                  </a:rPr>
                  <a:t>2 Post</a:t>
                </a:r>
              </a:p>
            </p:txBody>
          </p:sp>
        </p:grpSp>
        <p:grpSp>
          <p:nvGrpSpPr>
            <p:cNvPr id="218" name="Group 218"/>
            <p:cNvGrpSpPr/>
            <p:nvPr/>
          </p:nvGrpSpPr>
          <p:grpSpPr>
            <a:xfrm>
              <a:off x="2266620" y="6852558"/>
              <a:ext cx="179863" cy="179863"/>
              <a:chOff x="0" y="0"/>
              <a:chExt cx="812800" cy="812800"/>
            </a:xfrm>
          </p:grpSpPr>
          <p:sp>
            <p:nvSpPr>
              <p:cNvPr id="219" name="Freeform 219"/>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a:blip r:embed="rId45"/>
                <a:stretch>
                  <a:fillRect l="-74702" t="-17386" r="-22279" b="-13606"/>
                </a:stretch>
              </a:blipFill>
              <a:ln cap="sq">
                <a:noFill/>
                <a:prstDash val="solid"/>
                <a:miter/>
              </a:ln>
            </p:spPr>
            <p:txBody>
              <a:bodyPr/>
              <a:lstStyle/>
              <a:p>
                <a:endParaRPr lang="en-US"/>
              </a:p>
            </p:txBody>
          </p:sp>
        </p:grpSp>
        <p:sp>
          <p:nvSpPr>
            <p:cNvPr id="220" name="Freeform 220"/>
            <p:cNvSpPr/>
            <p:nvPr/>
          </p:nvSpPr>
          <p:spPr>
            <a:xfrm>
              <a:off x="2489976" y="7720419"/>
              <a:ext cx="763413" cy="763413"/>
            </a:xfrm>
            <a:custGeom>
              <a:avLst/>
              <a:gdLst/>
              <a:ahLst/>
              <a:cxnLst/>
              <a:rect l="l" t="t" r="r" b="b"/>
              <a:pathLst>
                <a:path w="763413" h="763413">
                  <a:moveTo>
                    <a:pt x="0" y="0"/>
                  </a:moveTo>
                  <a:lnTo>
                    <a:pt x="763413" y="0"/>
                  </a:lnTo>
                  <a:lnTo>
                    <a:pt x="763413" y="763413"/>
                  </a:lnTo>
                  <a:lnTo>
                    <a:pt x="0" y="763413"/>
                  </a:lnTo>
                  <a:lnTo>
                    <a:pt x="0" y="0"/>
                  </a:lnTo>
                  <a:close/>
                </a:path>
              </a:pathLst>
            </a:custGeom>
            <a:blipFill>
              <a:blip>
                <a:extLst>
                  <a:ext uri="{96DAC541-7B7A-43D3-8B79-37D633B846F1}">
                    <asvg:svgBlip xmlns:asvg="http://schemas.microsoft.com/office/drawing/2016/SVG/main" r:embed="rId22"/>
                  </a:ext>
                </a:extLst>
              </a:blip>
              <a:stretch>
                <a:fillRect/>
              </a:stretch>
            </a:blipFill>
          </p:spPr>
          <p:txBody>
            <a:bodyPr/>
            <a:lstStyle/>
            <a:p>
              <a:endParaRPr lang="en-US"/>
            </a:p>
          </p:txBody>
        </p:sp>
        <p:sp>
          <p:nvSpPr>
            <p:cNvPr id="221" name="Freeform 221"/>
            <p:cNvSpPr/>
            <p:nvPr/>
          </p:nvSpPr>
          <p:spPr>
            <a:xfrm>
              <a:off x="2643625" y="7877005"/>
              <a:ext cx="475791" cy="254548"/>
            </a:xfrm>
            <a:custGeom>
              <a:avLst/>
              <a:gdLst/>
              <a:ahLst/>
              <a:cxnLst/>
              <a:rect l="l" t="t" r="r" b="b"/>
              <a:pathLst>
                <a:path w="475791" h="254548">
                  <a:moveTo>
                    <a:pt x="0" y="0"/>
                  </a:moveTo>
                  <a:lnTo>
                    <a:pt x="475792" y="0"/>
                  </a:lnTo>
                  <a:lnTo>
                    <a:pt x="475792" y="254549"/>
                  </a:lnTo>
                  <a:lnTo>
                    <a:pt x="0" y="254549"/>
                  </a:lnTo>
                  <a:lnTo>
                    <a:pt x="0" y="0"/>
                  </a:lnTo>
                  <a:close/>
                </a:path>
              </a:pathLst>
            </a:custGeom>
            <a:blipFill>
              <a:blip>
                <a:extLst>
                  <a:ext uri="{96DAC541-7B7A-43D3-8B79-37D633B846F1}">
                    <asvg:svgBlip xmlns:asvg="http://schemas.microsoft.com/office/drawing/2016/SVG/main" r:embed="rId23"/>
                  </a:ext>
                </a:extLst>
              </a:blip>
              <a:stretch>
                <a:fillRect/>
              </a:stretch>
            </a:blipFill>
          </p:spPr>
          <p:txBody>
            <a:bodyPr/>
            <a:lstStyle/>
            <a:p>
              <a:endParaRPr lang="en-US"/>
            </a:p>
          </p:txBody>
        </p:sp>
        <p:sp>
          <p:nvSpPr>
            <p:cNvPr id="222" name="TextBox 222"/>
            <p:cNvSpPr txBox="1"/>
            <p:nvPr/>
          </p:nvSpPr>
          <p:spPr>
            <a:xfrm>
              <a:off x="2568379" y="7742626"/>
              <a:ext cx="626283" cy="286256"/>
            </a:xfrm>
            <a:prstGeom prst="rect">
              <a:avLst/>
            </a:prstGeom>
          </p:spPr>
          <p:txBody>
            <a:bodyPr lIns="0" tIns="0" rIns="0" bIns="0" rtlCol="0" anchor="t">
              <a:spAutoFit/>
            </a:bodyPr>
            <a:lstStyle/>
            <a:p>
              <a:pPr algn="ctr">
                <a:lnSpc>
                  <a:spcPts val="728"/>
                </a:lnSpc>
                <a:spcBef>
                  <a:spcPct val="0"/>
                </a:spcBef>
              </a:pPr>
              <a:r>
                <a:rPr lang="en-US" sz="607" b="1" spc="82">
                  <a:solidFill>
                    <a:srgbClr val="FFFFFF"/>
                  </a:solidFill>
                  <a:latin typeface="Calibri (MS) Bold"/>
                  <a:ea typeface="Calibri (MS) Bold"/>
                  <a:cs typeface="Calibri (MS) Bold"/>
                  <a:sym typeface="Calibri (MS) Bold"/>
                </a:rPr>
                <a:t>LITTLE WINS</a:t>
              </a:r>
            </a:p>
          </p:txBody>
        </p:sp>
        <p:sp>
          <p:nvSpPr>
            <p:cNvPr id="223" name="Freeform 223"/>
            <p:cNvSpPr/>
            <p:nvPr/>
          </p:nvSpPr>
          <p:spPr>
            <a:xfrm rot="2699999">
              <a:off x="2627626" y="7952562"/>
              <a:ext cx="493880" cy="493880"/>
            </a:xfrm>
            <a:custGeom>
              <a:avLst/>
              <a:gdLst/>
              <a:ahLst/>
              <a:cxnLst/>
              <a:rect l="l" t="t" r="r" b="b"/>
              <a:pathLst>
                <a:path w="493880" h="493880">
                  <a:moveTo>
                    <a:pt x="0" y="0"/>
                  </a:moveTo>
                  <a:lnTo>
                    <a:pt x="493880" y="0"/>
                  </a:lnTo>
                  <a:lnTo>
                    <a:pt x="493880" y="493880"/>
                  </a:lnTo>
                  <a:lnTo>
                    <a:pt x="0" y="493880"/>
                  </a:lnTo>
                  <a:lnTo>
                    <a:pt x="0" y="0"/>
                  </a:lnTo>
                  <a:close/>
                </a:path>
              </a:pathLst>
            </a:custGeom>
            <a:blipFill>
              <a:blip>
                <a:extLst>
                  <a:ext uri="{96DAC541-7B7A-43D3-8B79-37D633B846F1}">
                    <asvg:svgBlip xmlns:asvg="http://schemas.microsoft.com/office/drawing/2016/SVG/main" r:embed="rId25"/>
                  </a:ext>
                </a:extLst>
              </a:blip>
              <a:stretch>
                <a:fillRect/>
              </a:stretch>
            </a:blipFill>
          </p:spPr>
          <p:txBody>
            <a:bodyPr/>
            <a:lstStyle/>
            <a:p>
              <a:endParaRPr lang="en-US"/>
            </a:p>
          </p:txBody>
        </p:sp>
        <p:sp>
          <p:nvSpPr>
            <p:cNvPr id="224" name="TextBox 224"/>
            <p:cNvSpPr txBox="1"/>
            <p:nvPr/>
          </p:nvSpPr>
          <p:spPr>
            <a:xfrm>
              <a:off x="2763233" y="8359052"/>
              <a:ext cx="216899" cy="47681"/>
            </a:xfrm>
            <a:prstGeom prst="rect">
              <a:avLst/>
            </a:prstGeom>
          </p:spPr>
          <p:txBody>
            <a:bodyPr lIns="0" tIns="0" rIns="0" bIns="0" rtlCol="0" anchor="t">
              <a:spAutoFit/>
            </a:bodyPr>
            <a:lstStyle/>
            <a:p>
              <a:pPr algn="ctr">
                <a:lnSpc>
                  <a:spcPts val="227"/>
                </a:lnSpc>
                <a:spcBef>
                  <a:spcPct val="0"/>
                </a:spcBef>
              </a:pPr>
              <a:r>
                <a:rPr lang="en-US" sz="189" b="1" spc="25">
                  <a:solidFill>
                    <a:srgbClr val="FFFFFF"/>
                  </a:solidFill>
                  <a:latin typeface="Calibri (MS) Bold"/>
                  <a:ea typeface="Calibri (MS) Bold"/>
                  <a:cs typeface="Calibri (MS) Bold"/>
                  <a:sym typeface="Calibri (MS) Bold"/>
                </a:rPr>
                <a:t>October2026</a:t>
              </a:r>
            </a:p>
          </p:txBody>
        </p:sp>
        <p:sp>
          <p:nvSpPr>
            <p:cNvPr id="225" name="Freeform 225"/>
            <p:cNvSpPr/>
            <p:nvPr/>
          </p:nvSpPr>
          <p:spPr>
            <a:xfrm rot="2699999">
              <a:off x="2686432" y="8133179"/>
              <a:ext cx="370500" cy="370500"/>
            </a:xfrm>
            <a:custGeom>
              <a:avLst/>
              <a:gdLst/>
              <a:ahLst/>
              <a:cxnLst/>
              <a:rect l="l" t="t" r="r" b="b"/>
              <a:pathLst>
                <a:path w="370500" h="370500">
                  <a:moveTo>
                    <a:pt x="0" y="0"/>
                  </a:moveTo>
                  <a:lnTo>
                    <a:pt x="370500" y="0"/>
                  </a:lnTo>
                  <a:lnTo>
                    <a:pt x="370500" y="370500"/>
                  </a:lnTo>
                  <a:lnTo>
                    <a:pt x="0" y="370500"/>
                  </a:lnTo>
                  <a:lnTo>
                    <a:pt x="0" y="0"/>
                  </a:lnTo>
                  <a:close/>
                </a:path>
              </a:pathLst>
            </a:custGeom>
            <a:blipFill>
              <a:blip>
                <a:extLst>
                  <a:ext uri="{96DAC541-7B7A-43D3-8B79-37D633B846F1}">
                    <asvg:svgBlip xmlns:asvg="http://schemas.microsoft.com/office/drawing/2016/SVG/main" r:embed="rId25"/>
                  </a:ext>
                </a:extLst>
              </a:blip>
              <a:stretch>
                <a:fillRect/>
              </a:stretch>
            </a:blipFill>
          </p:spPr>
          <p:txBody>
            <a:bodyPr/>
            <a:lstStyle/>
            <a:p>
              <a:endParaRPr lang="en-US"/>
            </a:p>
          </p:txBody>
        </p:sp>
        <p:sp>
          <p:nvSpPr>
            <p:cNvPr id="226" name="TextBox 226"/>
            <p:cNvSpPr txBox="1"/>
            <p:nvPr/>
          </p:nvSpPr>
          <p:spPr>
            <a:xfrm>
              <a:off x="2698029" y="8229808"/>
              <a:ext cx="353074" cy="70907"/>
            </a:xfrm>
            <a:prstGeom prst="rect">
              <a:avLst/>
            </a:prstGeom>
          </p:spPr>
          <p:txBody>
            <a:bodyPr lIns="0" tIns="0" rIns="0" bIns="0" rtlCol="0" anchor="t">
              <a:spAutoFit/>
            </a:bodyPr>
            <a:lstStyle/>
            <a:p>
              <a:pPr algn="ctr">
                <a:lnSpc>
                  <a:spcPts val="368"/>
                </a:lnSpc>
                <a:spcBef>
                  <a:spcPct val="0"/>
                </a:spcBef>
              </a:pPr>
              <a:r>
                <a:rPr lang="en-US" sz="306" b="1">
                  <a:solidFill>
                    <a:srgbClr val="FFFFFF"/>
                  </a:solidFill>
                  <a:latin typeface="Calibri (MS) Bold"/>
                  <a:ea typeface="Calibri (MS) Bold"/>
                  <a:cs typeface="Calibri (MS) Bold"/>
                  <a:sym typeface="Calibri (MS) Bold"/>
                </a:rPr>
                <a:t> REAL PASSPORT</a:t>
              </a:r>
            </a:p>
          </p:txBody>
        </p:sp>
        <p:sp>
          <p:nvSpPr>
            <p:cNvPr id="227" name="TextBox 227"/>
            <p:cNvSpPr txBox="1"/>
            <p:nvPr/>
          </p:nvSpPr>
          <p:spPr>
            <a:xfrm>
              <a:off x="2540439" y="8121812"/>
              <a:ext cx="167475" cy="47681"/>
            </a:xfrm>
            <a:prstGeom prst="rect">
              <a:avLst/>
            </a:prstGeom>
          </p:spPr>
          <p:txBody>
            <a:bodyPr lIns="0" tIns="0" rIns="0" bIns="0" rtlCol="0" anchor="t">
              <a:spAutoFit/>
            </a:bodyPr>
            <a:lstStyle/>
            <a:p>
              <a:pPr algn="ctr">
                <a:lnSpc>
                  <a:spcPts val="227"/>
                </a:lnSpc>
                <a:spcBef>
                  <a:spcPct val="0"/>
                </a:spcBef>
              </a:pPr>
              <a:r>
                <a:rPr lang="en-US" sz="189" b="1">
                  <a:solidFill>
                    <a:srgbClr val="FFDE59"/>
                  </a:solidFill>
                  <a:latin typeface="Calibri (MS) Bold"/>
                  <a:ea typeface="Calibri (MS) Bold"/>
                  <a:cs typeface="Calibri (MS) Bold"/>
                  <a:sym typeface="Calibri (MS) Bold"/>
                </a:rPr>
                <a:t>BeReal.</a:t>
              </a:r>
            </a:p>
          </p:txBody>
        </p:sp>
        <p:sp>
          <p:nvSpPr>
            <p:cNvPr id="228" name="TextBox 228"/>
            <p:cNvSpPr txBox="1"/>
            <p:nvPr/>
          </p:nvSpPr>
          <p:spPr>
            <a:xfrm>
              <a:off x="3031600" y="8121812"/>
              <a:ext cx="167475" cy="47681"/>
            </a:xfrm>
            <a:prstGeom prst="rect">
              <a:avLst/>
            </a:prstGeom>
          </p:spPr>
          <p:txBody>
            <a:bodyPr lIns="0" tIns="0" rIns="0" bIns="0" rtlCol="0" anchor="t">
              <a:spAutoFit/>
            </a:bodyPr>
            <a:lstStyle/>
            <a:p>
              <a:pPr algn="ctr">
                <a:lnSpc>
                  <a:spcPts val="227"/>
                </a:lnSpc>
                <a:spcBef>
                  <a:spcPct val="0"/>
                </a:spcBef>
              </a:pPr>
              <a:r>
                <a:rPr lang="en-US" sz="189" b="1">
                  <a:solidFill>
                    <a:srgbClr val="FFDE59"/>
                  </a:solidFill>
                  <a:latin typeface="Calibri (MS) Bold"/>
                  <a:ea typeface="Calibri (MS) Bold"/>
                  <a:cs typeface="Calibri (MS) Bold"/>
                  <a:sym typeface="Calibri (MS) Bold"/>
                </a:rPr>
                <a:t>Unfiltered</a:t>
              </a:r>
            </a:p>
          </p:txBody>
        </p:sp>
        <p:sp>
          <p:nvSpPr>
            <p:cNvPr id="229" name="Freeform 229"/>
            <p:cNvSpPr/>
            <p:nvPr/>
          </p:nvSpPr>
          <p:spPr>
            <a:xfrm>
              <a:off x="2767263" y="7993787"/>
              <a:ext cx="208839" cy="156629"/>
            </a:xfrm>
            <a:custGeom>
              <a:avLst/>
              <a:gdLst/>
              <a:ahLst/>
              <a:cxnLst/>
              <a:rect l="l" t="t" r="r" b="b"/>
              <a:pathLst>
                <a:path w="208839" h="156629">
                  <a:moveTo>
                    <a:pt x="0" y="0"/>
                  </a:moveTo>
                  <a:lnTo>
                    <a:pt x="208839" y="0"/>
                  </a:lnTo>
                  <a:lnTo>
                    <a:pt x="208839" y="156628"/>
                  </a:lnTo>
                  <a:lnTo>
                    <a:pt x="0" y="156628"/>
                  </a:lnTo>
                  <a:lnTo>
                    <a:pt x="0" y="0"/>
                  </a:lnTo>
                  <a:close/>
                </a:path>
              </a:pathLst>
            </a:custGeom>
            <a:blipFill>
              <a:blip>
                <a:extLst>
                  <a:ext uri="{96DAC541-7B7A-43D3-8B79-37D633B846F1}">
                    <asvg:svgBlip xmlns:asvg="http://schemas.microsoft.com/office/drawing/2016/SVG/main" r:embed="rId48"/>
                  </a:ext>
                </a:extLst>
              </a:blip>
              <a:stretch>
                <a:fillRect/>
              </a:stretch>
            </a:blipFill>
          </p:spPr>
          <p:txBody>
            <a:bodyPr/>
            <a:lstStyle/>
            <a:p>
              <a:endParaRPr lang="en-US"/>
            </a:p>
          </p:txBody>
        </p:sp>
        <p:sp>
          <p:nvSpPr>
            <p:cNvPr id="230" name="Freeform 230"/>
            <p:cNvSpPr/>
            <p:nvPr/>
          </p:nvSpPr>
          <p:spPr>
            <a:xfrm rot="-4941124">
              <a:off x="2512780" y="8033571"/>
              <a:ext cx="117650" cy="77061"/>
            </a:xfrm>
            <a:custGeom>
              <a:avLst/>
              <a:gdLst/>
              <a:ahLst/>
              <a:cxnLst/>
              <a:rect l="l" t="t" r="r" b="b"/>
              <a:pathLst>
                <a:path w="117650" h="77061">
                  <a:moveTo>
                    <a:pt x="0" y="0"/>
                  </a:moveTo>
                  <a:lnTo>
                    <a:pt x="117650" y="0"/>
                  </a:lnTo>
                  <a:lnTo>
                    <a:pt x="117650" y="77060"/>
                  </a:lnTo>
                  <a:lnTo>
                    <a:pt x="0" y="77060"/>
                  </a:lnTo>
                  <a:lnTo>
                    <a:pt x="0" y="0"/>
                  </a:lnTo>
                  <a:close/>
                </a:path>
              </a:pathLst>
            </a:custGeom>
            <a:blipFill>
              <a:blip>
                <a:extLst>
                  <a:ext uri="{96DAC541-7B7A-43D3-8B79-37D633B846F1}">
                    <asvg:svgBlip xmlns:asvg="http://schemas.microsoft.com/office/drawing/2016/SVG/main" r:embed="rId49"/>
                  </a:ext>
                </a:extLst>
              </a:blip>
              <a:stretch>
                <a:fillRect/>
              </a:stretch>
            </a:blipFill>
          </p:spPr>
          <p:txBody>
            <a:bodyPr/>
            <a:lstStyle/>
            <a:p>
              <a:endParaRPr lang="en-US"/>
            </a:p>
          </p:txBody>
        </p:sp>
        <p:sp>
          <p:nvSpPr>
            <p:cNvPr id="231" name="Freeform 231"/>
            <p:cNvSpPr/>
            <p:nvPr/>
          </p:nvSpPr>
          <p:spPr>
            <a:xfrm rot="5120367" flipH="1">
              <a:off x="3109766" y="8031902"/>
              <a:ext cx="117650" cy="77061"/>
            </a:xfrm>
            <a:custGeom>
              <a:avLst/>
              <a:gdLst/>
              <a:ahLst/>
              <a:cxnLst/>
              <a:rect l="l" t="t" r="r" b="b"/>
              <a:pathLst>
                <a:path w="117650" h="77061">
                  <a:moveTo>
                    <a:pt x="117650" y="0"/>
                  </a:moveTo>
                  <a:lnTo>
                    <a:pt x="0" y="0"/>
                  </a:lnTo>
                  <a:lnTo>
                    <a:pt x="0" y="77061"/>
                  </a:lnTo>
                  <a:lnTo>
                    <a:pt x="117650" y="77061"/>
                  </a:lnTo>
                  <a:lnTo>
                    <a:pt x="117650" y="0"/>
                  </a:lnTo>
                  <a:close/>
                </a:path>
              </a:pathLst>
            </a:custGeom>
            <a:blipFill>
              <a:blip>
                <a:extLst>
                  <a:ext uri="{96DAC541-7B7A-43D3-8B79-37D633B846F1}">
                    <asvg:svgBlip xmlns:asvg="http://schemas.microsoft.com/office/drawing/2016/SVG/main" r:embed="rId49"/>
                  </a:ext>
                </a:extLst>
              </a:blip>
              <a:stretch>
                <a:fillRect/>
              </a:stretch>
            </a:blipFill>
          </p:spPr>
          <p:txBody>
            <a:bodyPr/>
            <a:lstStyle/>
            <a:p>
              <a:endParaRPr lang="en-US"/>
            </a:p>
          </p:txBody>
        </p:sp>
        <p:sp>
          <p:nvSpPr>
            <p:cNvPr id="232" name="Freeform 232"/>
            <p:cNvSpPr/>
            <p:nvPr/>
          </p:nvSpPr>
          <p:spPr>
            <a:xfrm>
              <a:off x="4184171" y="7766746"/>
              <a:ext cx="682935" cy="682935"/>
            </a:xfrm>
            <a:custGeom>
              <a:avLst/>
              <a:gdLst/>
              <a:ahLst/>
              <a:cxnLst/>
              <a:rect l="l" t="t" r="r" b="b"/>
              <a:pathLst>
                <a:path w="682935" h="682935">
                  <a:moveTo>
                    <a:pt x="0" y="0"/>
                  </a:moveTo>
                  <a:lnTo>
                    <a:pt x="682935" y="0"/>
                  </a:lnTo>
                  <a:lnTo>
                    <a:pt x="682935" y="682935"/>
                  </a:lnTo>
                  <a:lnTo>
                    <a:pt x="0" y="682935"/>
                  </a:lnTo>
                  <a:lnTo>
                    <a:pt x="0" y="0"/>
                  </a:lnTo>
                  <a:close/>
                </a:path>
              </a:pathLst>
            </a:custGeom>
            <a:blipFill>
              <a:blip>
                <a:extLst>
                  <a:ext uri="{96DAC541-7B7A-43D3-8B79-37D633B846F1}">
                    <asvg:svgBlip xmlns:asvg="http://schemas.microsoft.com/office/drawing/2016/SVG/main" r:embed="rId50"/>
                  </a:ext>
                </a:extLst>
              </a:blip>
              <a:stretch>
                <a:fillRect/>
              </a:stretch>
            </a:blipFill>
          </p:spPr>
          <p:txBody>
            <a:bodyPr/>
            <a:lstStyle/>
            <a:p>
              <a:endParaRPr lang="en-US"/>
            </a:p>
          </p:txBody>
        </p:sp>
        <p:sp>
          <p:nvSpPr>
            <p:cNvPr id="233" name="Freeform 233"/>
            <p:cNvSpPr/>
            <p:nvPr/>
          </p:nvSpPr>
          <p:spPr>
            <a:xfrm>
              <a:off x="4321623" y="7906825"/>
              <a:ext cx="425634" cy="227714"/>
            </a:xfrm>
            <a:custGeom>
              <a:avLst/>
              <a:gdLst/>
              <a:ahLst/>
              <a:cxnLst/>
              <a:rect l="l" t="t" r="r" b="b"/>
              <a:pathLst>
                <a:path w="425634" h="227714">
                  <a:moveTo>
                    <a:pt x="0" y="0"/>
                  </a:moveTo>
                  <a:lnTo>
                    <a:pt x="425634" y="0"/>
                  </a:lnTo>
                  <a:lnTo>
                    <a:pt x="425634" y="227714"/>
                  </a:lnTo>
                  <a:lnTo>
                    <a:pt x="0" y="227714"/>
                  </a:lnTo>
                  <a:lnTo>
                    <a:pt x="0" y="0"/>
                  </a:lnTo>
                  <a:close/>
                </a:path>
              </a:pathLst>
            </a:custGeom>
            <a:blipFill>
              <a:blip>
                <a:extLst>
                  <a:ext uri="{96DAC541-7B7A-43D3-8B79-37D633B846F1}">
                    <asvg:svgBlip xmlns:asvg="http://schemas.microsoft.com/office/drawing/2016/SVG/main" r:embed="rId51"/>
                  </a:ext>
                </a:extLst>
              </a:blip>
              <a:stretch>
                <a:fillRect/>
              </a:stretch>
            </a:blipFill>
          </p:spPr>
          <p:txBody>
            <a:bodyPr/>
            <a:lstStyle/>
            <a:p>
              <a:endParaRPr lang="en-US"/>
            </a:p>
          </p:txBody>
        </p:sp>
        <p:sp>
          <p:nvSpPr>
            <p:cNvPr id="234" name="TextBox 234"/>
            <p:cNvSpPr txBox="1"/>
            <p:nvPr/>
          </p:nvSpPr>
          <p:spPr>
            <a:xfrm>
              <a:off x="4264290" y="7794128"/>
              <a:ext cx="540300" cy="235001"/>
            </a:xfrm>
            <a:prstGeom prst="rect">
              <a:avLst/>
            </a:prstGeom>
          </p:spPr>
          <p:txBody>
            <a:bodyPr lIns="0" tIns="0" rIns="0" bIns="0" rtlCol="0" anchor="t">
              <a:spAutoFit/>
            </a:bodyPr>
            <a:lstStyle/>
            <a:p>
              <a:pPr algn="ctr">
                <a:lnSpc>
                  <a:spcPts val="652"/>
                </a:lnSpc>
                <a:spcBef>
                  <a:spcPct val="0"/>
                </a:spcBef>
              </a:pPr>
              <a:r>
                <a:rPr lang="en-US" sz="543" b="1" spc="73">
                  <a:solidFill>
                    <a:srgbClr val="FFFFFF"/>
                  </a:solidFill>
                  <a:latin typeface="Calibri (MS) Bold"/>
                  <a:ea typeface="Calibri (MS) Bold"/>
                  <a:cs typeface="Calibri (MS) Bold"/>
                  <a:sym typeface="Calibri (MS) Bold"/>
                </a:rPr>
                <a:t>GAME TIME</a:t>
              </a:r>
            </a:p>
          </p:txBody>
        </p:sp>
        <p:sp>
          <p:nvSpPr>
            <p:cNvPr id="235" name="Freeform 235"/>
            <p:cNvSpPr/>
            <p:nvPr/>
          </p:nvSpPr>
          <p:spPr>
            <a:xfrm rot="2699999">
              <a:off x="4307311" y="7974416"/>
              <a:ext cx="441816" cy="441816"/>
            </a:xfrm>
            <a:custGeom>
              <a:avLst/>
              <a:gdLst/>
              <a:ahLst/>
              <a:cxnLst/>
              <a:rect l="l" t="t" r="r" b="b"/>
              <a:pathLst>
                <a:path w="441816" h="441816">
                  <a:moveTo>
                    <a:pt x="0" y="0"/>
                  </a:moveTo>
                  <a:lnTo>
                    <a:pt x="441815" y="0"/>
                  </a:lnTo>
                  <a:lnTo>
                    <a:pt x="441815" y="441816"/>
                  </a:lnTo>
                  <a:lnTo>
                    <a:pt x="0" y="441816"/>
                  </a:lnTo>
                  <a:lnTo>
                    <a:pt x="0" y="0"/>
                  </a:lnTo>
                  <a:close/>
                </a:path>
              </a:pathLst>
            </a:custGeom>
            <a:blipFill>
              <a:blip>
                <a:extLst>
                  <a:ext uri="{96DAC541-7B7A-43D3-8B79-37D633B846F1}">
                    <asvg:svgBlip xmlns:asvg="http://schemas.microsoft.com/office/drawing/2016/SVG/main" r:embed="rId52"/>
                  </a:ext>
                </a:extLst>
              </a:blip>
              <a:stretch>
                <a:fillRect/>
              </a:stretch>
            </a:blipFill>
          </p:spPr>
          <p:txBody>
            <a:bodyPr/>
            <a:lstStyle/>
            <a:p>
              <a:endParaRPr lang="en-US"/>
            </a:p>
          </p:txBody>
        </p:sp>
        <p:sp>
          <p:nvSpPr>
            <p:cNvPr id="236" name="TextBox 236"/>
            <p:cNvSpPr txBox="1"/>
            <p:nvPr/>
          </p:nvSpPr>
          <p:spPr>
            <a:xfrm>
              <a:off x="4428622" y="8337051"/>
              <a:ext cx="194034" cy="43659"/>
            </a:xfrm>
            <a:prstGeom prst="rect">
              <a:avLst/>
            </a:prstGeom>
          </p:spPr>
          <p:txBody>
            <a:bodyPr lIns="0" tIns="0" rIns="0" bIns="0" rtlCol="0" anchor="t">
              <a:spAutoFit/>
            </a:bodyPr>
            <a:lstStyle/>
            <a:p>
              <a:pPr algn="ctr">
                <a:lnSpc>
                  <a:spcPts val="203"/>
                </a:lnSpc>
                <a:spcBef>
                  <a:spcPct val="0"/>
                </a:spcBef>
              </a:pPr>
              <a:r>
                <a:rPr lang="en-US" sz="169" b="1" spc="23">
                  <a:solidFill>
                    <a:srgbClr val="FFFFFF"/>
                  </a:solidFill>
                  <a:latin typeface="Calibri (MS) Bold"/>
                  <a:ea typeface="Calibri (MS) Bold"/>
                  <a:cs typeface="Calibri (MS) Bold"/>
                  <a:sym typeface="Calibri (MS) Bold"/>
                </a:rPr>
                <a:t>October2026</a:t>
              </a:r>
            </a:p>
          </p:txBody>
        </p:sp>
        <p:sp>
          <p:nvSpPr>
            <p:cNvPr id="237" name="Freeform 237"/>
            <p:cNvSpPr/>
            <p:nvPr/>
          </p:nvSpPr>
          <p:spPr>
            <a:xfrm rot="2699999">
              <a:off x="4359917" y="8135993"/>
              <a:ext cx="331442" cy="331442"/>
            </a:xfrm>
            <a:custGeom>
              <a:avLst/>
              <a:gdLst/>
              <a:ahLst/>
              <a:cxnLst/>
              <a:rect l="l" t="t" r="r" b="b"/>
              <a:pathLst>
                <a:path w="331442" h="331442">
                  <a:moveTo>
                    <a:pt x="0" y="0"/>
                  </a:moveTo>
                  <a:lnTo>
                    <a:pt x="331443" y="0"/>
                  </a:lnTo>
                  <a:lnTo>
                    <a:pt x="331443" y="331442"/>
                  </a:lnTo>
                  <a:lnTo>
                    <a:pt x="0" y="331442"/>
                  </a:lnTo>
                  <a:lnTo>
                    <a:pt x="0" y="0"/>
                  </a:lnTo>
                  <a:close/>
                </a:path>
              </a:pathLst>
            </a:custGeom>
            <a:blipFill>
              <a:blip>
                <a:extLst>
                  <a:ext uri="{96DAC541-7B7A-43D3-8B79-37D633B846F1}">
                    <asvg:svgBlip xmlns:asvg="http://schemas.microsoft.com/office/drawing/2016/SVG/main" r:embed="rId52"/>
                  </a:ext>
                </a:extLst>
              </a:blip>
              <a:stretch>
                <a:fillRect/>
              </a:stretch>
            </a:blipFill>
          </p:spPr>
          <p:txBody>
            <a:bodyPr/>
            <a:lstStyle/>
            <a:p>
              <a:endParaRPr lang="en-US"/>
            </a:p>
          </p:txBody>
        </p:sp>
        <p:sp>
          <p:nvSpPr>
            <p:cNvPr id="238" name="TextBox 238"/>
            <p:cNvSpPr txBox="1"/>
            <p:nvPr/>
          </p:nvSpPr>
          <p:spPr>
            <a:xfrm>
              <a:off x="4370292" y="8221431"/>
              <a:ext cx="315854" cy="64436"/>
            </a:xfrm>
            <a:prstGeom prst="rect">
              <a:avLst/>
            </a:prstGeom>
          </p:spPr>
          <p:txBody>
            <a:bodyPr lIns="0" tIns="0" rIns="0" bIns="0" rtlCol="0" anchor="t">
              <a:spAutoFit/>
            </a:bodyPr>
            <a:lstStyle/>
            <a:p>
              <a:pPr algn="ctr">
                <a:lnSpc>
                  <a:spcPts val="329"/>
                </a:lnSpc>
                <a:spcBef>
                  <a:spcPct val="0"/>
                </a:spcBef>
              </a:pPr>
              <a:r>
                <a:rPr lang="en-US" sz="274" b="1">
                  <a:solidFill>
                    <a:srgbClr val="FFFFFF"/>
                  </a:solidFill>
                  <a:latin typeface="Calibri (MS) Bold"/>
                  <a:ea typeface="Calibri (MS) Bold"/>
                  <a:cs typeface="Calibri (MS) Bold"/>
                  <a:sym typeface="Calibri (MS) Bold"/>
                </a:rPr>
                <a:t> REAL PASSPORT</a:t>
              </a:r>
            </a:p>
          </p:txBody>
        </p:sp>
        <p:sp>
          <p:nvSpPr>
            <p:cNvPr id="239" name="TextBox 239"/>
            <p:cNvSpPr txBox="1"/>
            <p:nvPr/>
          </p:nvSpPr>
          <p:spPr>
            <a:xfrm>
              <a:off x="4229315" y="8124820"/>
              <a:ext cx="149820" cy="43659"/>
            </a:xfrm>
            <a:prstGeom prst="rect">
              <a:avLst/>
            </a:prstGeom>
          </p:spPr>
          <p:txBody>
            <a:bodyPr lIns="0" tIns="0" rIns="0" bIns="0" rtlCol="0" anchor="t">
              <a:spAutoFit/>
            </a:bodyPr>
            <a:lstStyle/>
            <a:p>
              <a:pPr algn="ctr">
                <a:lnSpc>
                  <a:spcPts val="203"/>
                </a:lnSpc>
                <a:spcBef>
                  <a:spcPct val="0"/>
                </a:spcBef>
              </a:pPr>
              <a:r>
                <a:rPr lang="en-US" sz="169" b="1">
                  <a:solidFill>
                    <a:srgbClr val="FFDE59"/>
                  </a:solidFill>
                  <a:latin typeface="Calibri (MS) Bold"/>
                  <a:ea typeface="Calibri (MS) Bold"/>
                  <a:cs typeface="Calibri (MS) Bold"/>
                  <a:sym typeface="Calibri (MS) Bold"/>
                </a:rPr>
                <a:t>BeReal.</a:t>
              </a:r>
            </a:p>
          </p:txBody>
        </p:sp>
        <p:sp>
          <p:nvSpPr>
            <p:cNvPr id="240" name="TextBox 240"/>
            <p:cNvSpPr txBox="1"/>
            <p:nvPr/>
          </p:nvSpPr>
          <p:spPr>
            <a:xfrm>
              <a:off x="4668698" y="8124820"/>
              <a:ext cx="149820" cy="43659"/>
            </a:xfrm>
            <a:prstGeom prst="rect">
              <a:avLst/>
            </a:prstGeom>
          </p:spPr>
          <p:txBody>
            <a:bodyPr lIns="0" tIns="0" rIns="0" bIns="0" rtlCol="0" anchor="t">
              <a:spAutoFit/>
            </a:bodyPr>
            <a:lstStyle/>
            <a:p>
              <a:pPr algn="ctr">
                <a:lnSpc>
                  <a:spcPts val="203"/>
                </a:lnSpc>
                <a:spcBef>
                  <a:spcPct val="0"/>
                </a:spcBef>
              </a:pPr>
              <a:r>
                <a:rPr lang="en-US" sz="169" b="1">
                  <a:solidFill>
                    <a:srgbClr val="FFDE59"/>
                  </a:solidFill>
                  <a:latin typeface="Calibri (MS) Bold"/>
                  <a:ea typeface="Calibri (MS) Bold"/>
                  <a:cs typeface="Calibri (MS) Bold"/>
                  <a:sym typeface="Calibri (MS) Bold"/>
                </a:rPr>
                <a:t>Unfiltered</a:t>
              </a:r>
            </a:p>
          </p:txBody>
        </p:sp>
        <p:sp>
          <p:nvSpPr>
            <p:cNvPr id="241" name="Freeform 241"/>
            <p:cNvSpPr/>
            <p:nvPr/>
          </p:nvSpPr>
          <p:spPr>
            <a:xfrm rot="-4941124">
              <a:off x="4204571" y="8046885"/>
              <a:ext cx="105247" cy="68937"/>
            </a:xfrm>
            <a:custGeom>
              <a:avLst/>
              <a:gdLst/>
              <a:ahLst/>
              <a:cxnLst/>
              <a:rect l="l" t="t" r="r" b="b"/>
              <a:pathLst>
                <a:path w="105247" h="68937">
                  <a:moveTo>
                    <a:pt x="0" y="0"/>
                  </a:moveTo>
                  <a:lnTo>
                    <a:pt x="105248" y="0"/>
                  </a:lnTo>
                  <a:lnTo>
                    <a:pt x="105248" y="68937"/>
                  </a:lnTo>
                  <a:lnTo>
                    <a:pt x="0" y="68937"/>
                  </a:lnTo>
                  <a:lnTo>
                    <a:pt x="0" y="0"/>
                  </a:lnTo>
                  <a:close/>
                </a:path>
              </a:pathLst>
            </a:custGeom>
            <a:blipFill>
              <a:blip>
                <a:extLst>
                  <a:ext uri="{96DAC541-7B7A-43D3-8B79-37D633B846F1}">
                    <asvg:svgBlip xmlns:asvg="http://schemas.microsoft.com/office/drawing/2016/SVG/main" r:embed="rId49"/>
                  </a:ext>
                </a:extLst>
              </a:blip>
              <a:stretch>
                <a:fillRect/>
              </a:stretch>
            </a:blipFill>
          </p:spPr>
          <p:txBody>
            <a:bodyPr/>
            <a:lstStyle/>
            <a:p>
              <a:endParaRPr lang="en-US"/>
            </a:p>
          </p:txBody>
        </p:sp>
        <p:sp>
          <p:nvSpPr>
            <p:cNvPr id="242" name="Freeform 242"/>
            <p:cNvSpPr/>
            <p:nvPr/>
          </p:nvSpPr>
          <p:spPr>
            <a:xfrm rot="5120367" flipH="1">
              <a:off x="4738624" y="8045393"/>
              <a:ext cx="105247" cy="68937"/>
            </a:xfrm>
            <a:custGeom>
              <a:avLst/>
              <a:gdLst/>
              <a:ahLst/>
              <a:cxnLst/>
              <a:rect l="l" t="t" r="r" b="b"/>
              <a:pathLst>
                <a:path w="105247" h="68937">
                  <a:moveTo>
                    <a:pt x="105247" y="0"/>
                  </a:moveTo>
                  <a:lnTo>
                    <a:pt x="0" y="0"/>
                  </a:lnTo>
                  <a:lnTo>
                    <a:pt x="0" y="68937"/>
                  </a:lnTo>
                  <a:lnTo>
                    <a:pt x="105247" y="68937"/>
                  </a:lnTo>
                  <a:lnTo>
                    <a:pt x="105247" y="0"/>
                  </a:lnTo>
                  <a:close/>
                </a:path>
              </a:pathLst>
            </a:custGeom>
            <a:blipFill>
              <a:blip>
                <a:extLst>
                  <a:ext uri="{96DAC541-7B7A-43D3-8B79-37D633B846F1}">
                    <asvg:svgBlip xmlns:asvg="http://schemas.microsoft.com/office/drawing/2016/SVG/main" r:embed="rId49"/>
                  </a:ext>
                </a:extLst>
              </a:blip>
              <a:stretch>
                <a:fillRect/>
              </a:stretch>
            </a:blipFill>
          </p:spPr>
          <p:txBody>
            <a:bodyPr/>
            <a:lstStyle/>
            <a:p>
              <a:endParaRPr lang="en-US"/>
            </a:p>
          </p:txBody>
        </p:sp>
        <p:sp>
          <p:nvSpPr>
            <p:cNvPr id="243" name="Freeform 243"/>
            <p:cNvSpPr/>
            <p:nvPr/>
          </p:nvSpPr>
          <p:spPr>
            <a:xfrm rot="-971120">
              <a:off x="4376049" y="8030820"/>
              <a:ext cx="68550" cy="64094"/>
            </a:xfrm>
            <a:custGeom>
              <a:avLst/>
              <a:gdLst/>
              <a:ahLst/>
              <a:cxnLst/>
              <a:rect l="l" t="t" r="r" b="b"/>
              <a:pathLst>
                <a:path w="68550" h="64094">
                  <a:moveTo>
                    <a:pt x="0" y="0"/>
                  </a:moveTo>
                  <a:lnTo>
                    <a:pt x="68549" y="0"/>
                  </a:lnTo>
                  <a:lnTo>
                    <a:pt x="68549" y="64094"/>
                  </a:lnTo>
                  <a:lnTo>
                    <a:pt x="0" y="64094"/>
                  </a:lnTo>
                  <a:lnTo>
                    <a:pt x="0" y="0"/>
                  </a:lnTo>
                  <a:close/>
                </a:path>
              </a:pathLst>
            </a:custGeom>
            <a:blipFill>
              <a:blip>
                <a:extLst>
                  <a:ext uri="{96DAC541-7B7A-43D3-8B79-37D633B846F1}">
                    <asvg:svgBlip xmlns:asvg="http://schemas.microsoft.com/office/drawing/2016/SVG/main" r:embed="rId53"/>
                  </a:ext>
                </a:extLst>
              </a:blip>
              <a:stretch>
                <a:fillRect/>
              </a:stretch>
            </a:blipFill>
          </p:spPr>
          <p:txBody>
            <a:bodyPr/>
            <a:lstStyle/>
            <a:p>
              <a:endParaRPr lang="en-US"/>
            </a:p>
          </p:txBody>
        </p:sp>
        <p:sp>
          <p:nvSpPr>
            <p:cNvPr id="244" name="Freeform 244"/>
            <p:cNvSpPr/>
            <p:nvPr/>
          </p:nvSpPr>
          <p:spPr>
            <a:xfrm>
              <a:off x="4628961" y="8039814"/>
              <a:ext cx="69189" cy="68497"/>
            </a:xfrm>
            <a:custGeom>
              <a:avLst/>
              <a:gdLst/>
              <a:ahLst/>
              <a:cxnLst/>
              <a:rect l="l" t="t" r="r" b="b"/>
              <a:pathLst>
                <a:path w="69189" h="68497">
                  <a:moveTo>
                    <a:pt x="0" y="0"/>
                  </a:moveTo>
                  <a:lnTo>
                    <a:pt x="69189" y="0"/>
                  </a:lnTo>
                  <a:lnTo>
                    <a:pt x="69189" y="68497"/>
                  </a:lnTo>
                  <a:lnTo>
                    <a:pt x="0" y="68497"/>
                  </a:lnTo>
                  <a:lnTo>
                    <a:pt x="0" y="0"/>
                  </a:lnTo>
                  <a:close/>
                </a:path>
              </a:pathLst>
            </a:custGeom>
            <a:blipFill>
              <a:blip>
                <a:extLst>
                  <a:ext uri="{96DAC541-7B7A-43D3-8B79-37D633B846F1}">
                    <asvg:svgBlip xmlns:asvg="http://schemas.microsoft.com/office/drawing/2016/SVG/main" r:embed="rId54"/>
                  </a:ext>
                </a:extLst>
              </a:blip>
              <a:stretch>
                <a:fillRect/>
              </a:stretch>
            </a:blipFill>
          </p:spPr>
          <p:txBody>
            <a:bodyPr/>
            <a:lstStyle/>
            <a:p>
              <a:endParaRPr lang="en-US"/>
            </a:p>
          </p:txBody>
        </p:sp>
        <p:sp>
          <p:nvSpPr>
            <p:cNvPr id="245" name="Freeform 245"/>
            <p:cNvSpPr/>
            <p:nvPr/>
          </p:nvSpPr>
          <p:spPr>
            <a:xfrm>
              <a:off x="4491044" y="7951207"/>
              <a:ext cx="69189" cy="71329"/>
            </a:xfrm>
            <a:custGeom>
              <a:avLst/>
              <a:gdLst/>
              <a:ahLst/>
              <a:cxnLst/>
              <a:rect l="l" t="t" r="r" b="b"/>
              <a:pathLst>
                <a:path w="69189" h="71329">
                  <a:moveTo>
                    <a:pt x="0" y="0"/>
                  </a:moveTo>
                  <a:lnTo>
                    <a:pt x="69189" y="0"/>
                  </a:lnTo>
                  <a:lnTo>
                    <a:pt x="69189" y="71329"/>
                  </a:lnTo>
                  <a:lnTo>
                    <a:pt x="0" y="71329"/>
                  </a:lnTo>
                  <a:lnTo>
                    <a:pt x="0" y="0"/>
                  </a:lnTo>
                  <a:close/>
                </a:path>
              </a:pathLst>
            </a:custGeom>
            <a:blipFill>
              <a:blip>
                <a:extLst>
                  <a:ext uri="{96DAC541-7B7A-43D3-8B79-37D633B846F1}">
                    <asvg:svgBlip xmlns:asvg="http://schemas.microsoft.com/office/drawing/2016/SVG/main" r:embed="rId55"/>
                  </a:ext>
                </a:extLst>
              </a:blip>
              <a:stretch>
                <a:fillRect/>
              </a:stretch>
            </a:blipFill>
          </p:spPr>
          <p:txBody>
            <a:bodyPr/>
            <a:lstStyle/>
            <a:p>
              <a:endParaRPr lang="en-US"/>
            </a:p>
          </p:txBody>
        </p:sp>
        <p:sp>
          <p:nvSpPr>
            <p:cNvPr id="246" name="Freeform 246"/>
            <p:cNvSpPr/>
            <p:nvPr/>
          </p:nvSpPr>
          <p:spPr>
            <a:xfrm>
              <a:off x="4471378" y="8062867"/>
              <a:ext cx="138378" cy="103092"/>
            </a:xfrm>
            <a:custGeom>
              <a:avLst/>
              <a:gdLst/>
              <a:ahLst/>
              <a:cxnLst/>
              <a:rect l="l" t="t" r="r" b="b"/>
              <a:pathLst>
                <a:path w="138378" h="103092">
                  <a:moveTo>
                    <a:pt x="0" y="0"/>
                  </a:moveTo>
                  <a:lnTo>
                    <a:pt x="138378" y="0"/>
                  </a:lnTo>
                  <a:lnTo>
                    <a:pt x="138378" y="103092"/>
                  </a:lnTo>
                  <a:lnTo>
                    <a:pt x="0" y="103092"/>
                  </a:lnTo>
                  <a:lnTo>
                    <a:pt x="0" y="0"/>
                  </a:lnTo>
                  <a:close/>
                </a:path>
              </a:pathLst>
            </a:custGeom>
            <a:blipFill>
              <a:blip>
                <a:extLst>
                  <a:ext uri="{96DAC541-7B7A-43D3-8B79-37D633B846F1}">
                    <asvg:svgBlip xmlns:asvg="http://schemas.microsoft.com/office/drawing/2016/SVG/main" r:embed="rId56"/>
                  </a:ext>
                </a:extLst>
              </a:blip>
              <a:stretch>
                <a:fillRect/>
              </a:stretch>
            </a:blipFill>
          </p:spPr>
          <p:txBody>
            <a:bodyPr/>
            <a:lstStyle/>
            <a:p>
              <a:endParaRPr lang="en-US"/>
            </a:p>
          </p:txBody>
        </p:sp>
        <p:grpSp>
          <p:nvGrpSpPr>
            <p:cNvPr id="247" name="Group 247"/>
            <p:cNvGrpSpPr/>
            <p:nvPr/>
          </p:nvGrpSpPr>
          <p:grpSpPr>
            <a:xfrm>
              <a:off x="2245110" y="8683630"/>
              <a:ext cx="1109525" cy="351756"/>
              <a:chOff x="0" y="0"/>
              <a:chExt cx="1509985" cy="478716"/>
            </a:xfrm>
          </p:grpSpPr>
          <p:sp>
            <p:nvSpPr>
              <p:cNvPr id="248" name="Freeform 248"/>
              <p:cNvSpPr/>
              <p:nvPr/>
            </p:nvSpPr>
            <p:spPr>
              <a:xfrm>
                <a:off x="0" y="0"/>
                <a:ext cx="1509985" cy="478716"/>
              </a:xfrm>
              <a:custGeom>
                <a:avLst/>
                <a:gdLst/>
                <a:ahLst/>
                <a:cxnLst/>
                <a:rect l="l" t="t" r="r" b="b"/>
                <a:pathLst>
                  <a:path w="1509985" h="478716">
                    <a:moveTo>
                      <a:pt x="0" y="0"/>
                    </a:moveTo>
                    <a:lnTo>
                      <a:pt x="1509985" y="0"/>
                    </a:lnTo>
                    <a:lnTo>
                      <a:pt x="1509985" y="478716"/>
                    </a:lnTo>
                    <a:lnTo>
                      <a:pt x="0" y="478716"/>
                    </a:lnTo>
                    <a:close/>
                  </a:path>
                </a:pathLst>
              </a:custGeom>
              <a:blipFill>
                <a:blip r:embed="rId3">
                  <a:alphaModFix amt="0"/>
                </a:blip>
                <a:stretch>
                  <a:fillRect t="-600129" r="-1171694" b="-863051"/>
                </a:stretch>
              </a:blipFill>
            </p:spPr>
            <p:txBody>
              <a:bodyPr/>
              <a:lstStyle/>
              <a:p>
                <a:endParaRPr lang="en-US"/>
              </a:p>
            </p:txBody>
          </p:sp>
          <p:sp>
            <p:nvSpPr>
              <p:cNvPr id="249" name="TextBox 249"/>
              <p:cNvSpPr txBox="1"/>
              <p:nvPr/>
            </p:nvSpPr>
            <p:spPr>
              <a:xfrm>
                <a:off x="0" y="0"/>
                <a:ext cx="1509985" cy="478716"/>
              </a:xfrm>
              <a:prstGeom prst="rect">
                <a:avLst/>
              </a:prstGeom>
            </p:spPr>
            <p:txBody>
              <a:bodyPr lIns="0" tIns="0" rIns="0" bIns="0" rtlCol="0" anchor="ctr"/>
              <a:lstStyle/>
              <a:p>
                <a:pPr algn="ctr">
                  <a:lnSpc>
                    <a:spcPts val="533"/>
                  </a:lnSpc>
                </a:pPr>
                <a:r>
                  <a:rPr lang="en-US" sz="500">
                    <a:solidFill>
                      <a:srgbClr val="FFFFFF"/>
                    </a:solidFill>
                    <a:latin typeface="Arial"/>
                    <a:ea typeface="Arial"/>
                    <a:cs typeface="Arial"/>
                    <a:sym typeface="Arial"/>
                  </a:rPr>
                  <a:t>Sponsored Passport unlocks on 10/15/2026</a:t>
                </a:r>
              </a:p>
            </p:txBody>
          </p:sp>
        </p:grpSp>
        <p:grpSp>
          <p:nvGrpSpPr>
            <p:cNvPr id="250" name="Group 250"/>
            <p:cNvGrpSpPr/>
            <p:nvPr/>
          </p:nvGrpSpPr>
          <p:grpSpPr>
            <a:xfrm>
              <a:off x="3984918" y="8703635"/>
              <a:ext cx="1109525" cy="351756"/>
              <a:chOff x="0" y="0"/>
              <a:chExt cx="1509985" cy="478716"/>
            </a:xfrm>
          </p:grpSpPr>
          <p:sp>
            <p:nvSpPr>
              <p:cNvPr id="251" name="Freeform 251"/>
              <p:cNvSpPr/>
              <p:nvPr/>
            </p:nvSpPr>
            <p:spPr>
              <a:xfrm>
                <a:off x="0" y="0"/>
                <a:ext cx="1509985" cy="478716"/>
              </a:xfrm>
              <a:custGeom>
                <a:avLst/>
                <a:gdLst/>
                <a:ahLst/>
                <a:cxnLst/>
                <a:rect l="l" t="t" r="r" b="b"/>
                <a:pathLst>
                  <a:path w="1509985" h="478716">
                    <a:moveTo>
                      <a:pt x="0" y="0"/>
                    </a:moveTo>
                    <a:lnTo>
                      <a:pt x="1509985" y="0"/>
                    </a:lnTo>
                    <a:lnTo>
                      <a:pt x="1509985" y="478716"/>
                    </a:lnTo>
                    <a:lnTo>
                      <a:pt x="0" y="478716"/>
                    </a:lnTo>
                    <a:close/>
                  </a:path>
                </a:pathLst>
              </a:custGeom>
              <a:blipFill>
                <a:blip r:embed="rId3">
                  <a:alphaModFix amt="0"/>
                </a:blip>
                <a:stretch>
                  <a:fillRect t="-600129" r="-1171694" b="-863051"/>
                </a:stretch>
              </a:blipFill>
            </p:spPr>
            <p:txBody>
              <a:bodyPr/>
              <a:lstStyle/>
              <a:p>
                <a:endParaRPr lang="en-US"/>
              </a:p>
            </p:txBody>
          </p:sp>
          <p:sp>
            <p:nvSpPr>
              <p:cNvPr id="252" name="TextBox 252"/>
              <p:cNvSpPr txBox="1"/>
              <p:nvPr/>
            </p:nvSpPr>
            <p:spPr>
              <a:xfrm>
                <a:off x="0" y="0"/>
                <a:ext cx="1509985" cy="478716"/>
              </a:xfrm>
              <a:prstGeom prst="rect">
                <a:avLst/>
              </a:prstGeom>
            </p:spPr>
            <p:txBody>
              <a:bodyPr lIns="0" tIns="0" rIns="0" bIns="0" rtlCol="0" anchor="ctr"/>
              <a:lstStyle/>
              <a:p>
                <a:pPr algn="ctr">
                  <a:lnSpc>
                    <a:spcPts val="533"/>
                  </a:lnSpc>
                </a:pPr>
                <a:r>
                  <a:rPr lang="en-US" sz="500">
                    <a:solidFill>
                      <a:srgbClr val="FFFFFF"/>
                    </a:solidFill>
                    <a:latin typeface="Arial"/>
                    <a:ea typeface="Arial"/>
                    <a:cs typeface="Arial"/>
                    <a:sym typeface="Arial"/>
                  </a:rPr>
                  <a:t>Sponsored Passport unlocks on 10/20/2026</a:t>
                </a:r>
              </a:p>
            </p:txBody>
          </p:sp>
        </p:grpSp>
        <p:grpSp>
          <p:nvGrpSpPr>
            <p:cNvPr id="253" name="Group 253"/>
            <p:cNvGrpSpPr/>
            <p:nvPr/>
          </p:nvGrpSpPr>
          <p:grpSpPr>
            <a:xfrm>
              <a:off x="162847" y="155073"/>
              <a:ext cx="5250741" cy="10723789"/>
              <a:chOff x="0" y="0"/>
              <a:chExt cx="666980" cy="1362199"/>
            </a:xfrm>
          </p:grpSpPr>
          <p:sp>
            <p:nvSpPr>
              <p:cNvPr id="254" name="Freeform 254"/>
              <p:cNvSpPr/>
              <p:nvPr/>
            </p:nvSpPr>
            <p:spPr>
              <a:xfrm>
                <a:off x="0" y="0"/>
                <a:ext cx="666980" cy="1362199"/>
              </a:xfrm>
              <a:custGeom>
                <a:avLst/>
                <a:gdLst/>
                <a:ahLst/>
                <a:cxnLst/>
                <a:rect l="l" t="t" r="r" b="b"/>
                <a:pathLst>
                  <a:path w="666980" h="1362199">
                    <a:moveTo>
                      <a:pt x="125819" y="0"/>
                    </a:moveTo>
                    <a:lnTo>
                      <a:pt x="541161" y="0"/>
                    </a:lnTo>
                    <a:cubicBezTo>
                      <a:pt x="610649" y="0"/>
                      <a:pt x="666980" y="56331"/>
                      <a:pt x="666980" y="125819"/>
                    </a:cubicBezTo>
                    <a:lnTo>
                      <a:pt x="666980" y="1236380"/>
                    </a:lnTo>
                    <a:cubicBezTo>
                      <a:pt x="666980" y="1305868"/>
                      <a:pt x="610649" y="1362199"/>
                      <a:pt x="541161" y="1362199"/>
                    </a:cubicBezTo>
                    <a:lnTo>
                      <a:pt x="125819" y="1362199"/>
                    </a:lnTo>
                    <a:cubicBezTo>
                      <a:pt x="56331" y="1362199"/>
                      <a:pt x="0" y="1305868"/>
                      <a:pt x="0" y="1236380"/>
                    </a:cubicBezTo>
                    <a:lnTo>
                      <a:pt x="0" y="125819"/>
                    </a:lnTo>
                    <a:cubicBezTo>
                      <a:pt x="0" y="56331"/>
                      <a:pt x="56331" y="0"/>
                      <a:pt x="125819" y="0"/>
                    </a:cubicBezTo>
                    <a:close/>
                  </a:path>
                </a:pathLst>
              </a:custGeom>
              <a:blipFill>
                <a:blip r:embed="rId57"/>
                <a:stretch>
                  <a:fillRect l="-1569" r="-1569"/>
                </a:stretch>
              </a:blipFill>
            </p:spPr>
            <p:txBody>
              <a:bodyPr/>
              <a:lstStyle/>
              <a:p>
                <a:endParaRPr lang="en-US"/>
              </a:p>
            </p:txBody>
          </p:sp>
        </p:grpSp>
        <p:grpSp>
          <p:nvGrpSpPr>
            <p:cNvPr id="255" name="Group 255"/>
            <p:cNvGrpSpPr/>
            <p:nvPr/>
          </p:nvGrpSpPr>
          <p:grpSpPr>
            <a:xfrm>
              <a:off x="758031" y="4524768"/>
              <a:ext cx="4060374" cy="1927520"/>
              <a:chOff x="0" y="0"/>
              <a:chExt cx="802049" cy="380745"/>
            </a:xfrm>
          </p:grpSpPr>
          <p:sp>
            <p:nvSpPr>
              <p:cNvPr id="256" name="Freeform 256"/>
              <p:cNvSpPr/>
              <p:nvPr/>
            </p:nvSpPr>
            <p:spPr>
              <a:xfrm>
                <a:off x="0" y="0"/>
                <a:ext cx="802049" cy="380745"/>
              </a:xfrm>
              <a:custGeom>
                <a:avLst/>
                <a:gdLst/>
                <a:ahLst/>
                <a:cxnLst/>
                <a:rect l="l" t="t" r="r" b="b"/>
                <a:pathLst>
                  <a:path w="802049" h="380745">
                    <a:moveTo>
                      <a:pt x="63557" y="0"/>
                    </a:moveTo>
                    <a:lnTo>
                      <a:pt x="738492" y="0"/>
                    </a:lnTo>
                    <a:cubicBezTo>
                      <a:pt x="755349" y="0"/>
                      <a:pt x="771515" y="6696"/>
                      <a:pt x="783434" y="18615"/>
                    </a:cubicBezTo>
                    <a:cubicBezTo>
                      <a:pt x="795353" y="30535"/>
                      <a:pt x="802049" y="46700"/>
                      <a:pt x="802049" y="63557"/>
                    </a:cubicBezTo>
                    <a:lnTo>
                      <a:pt x="802049" y="317188"/>
                    </a:lnTo>
                    <a:cubicBezTo>
                      <a:pt x="802049" y="334044"/>
                      <a:pt x="795353" y="350210"/>
                      <a:pt x="783434" y="362129"/>
                    </a:cubicBezTo>
                    <a:cubicBezTo>
                      <a:pt x="771515" y="374048"/>
                      <a:pt x="755349" y="380745"/>
                      <a:pt x="738492" y="380745"/>
                    </a:cubicBezTo>
                    <a:lnTo>
                      <a:pt x="63557" y="380745"/>
                    </a:lnTo>
                    <a:cubicBezTo>
                      <a:pt x="46700" y="380745"/>
                      <a:pt x="30535" y="374048"/>
                      <a:pt x="18615" y="362129"/>
                    </a:cubicBezTo>
                    <a:cubicBezTo>
                      <a:pt x="6696" y="350210"/>
                      <a:pt x="0" y="334044"/>
                      <a:pt x="0" y="317188"/>
                    </a:cubicBezTo>
                    <a:lnTo>
                      <a:pt x="0" y="63557"/>
                    </a:lnTo>
                    <a:cubicBezTo>
                      <a:pt x="0" y="46700"/>
                      <a:pt x="6696" y="30535"/>
                      <a:pt x="18615" y="18615"/>
                    </a:cubicBezTo>
                    <a:cubicBezTo>
                      <a:pt x="30535" y="6696"/>
                      <a:pt x="46700" y="0"/>
                      <a:pt x="63557" y="0"/>
                    </a:cubicBezTo>
                    <a:close/>
                  </a:path>
                </a:pathLst>
              </a:custGeom>
              <a:solidFill>
                <a:srgbClr val="484747"/>
              </a:solidFill>
            </p:spPr>
            <p:txBody>
              <a:bodyPr/>
              <a:lstStyle/>
              <a:p>
                <a:endParaRPr lang="en-US"/>
              </a:p>
            </p:txBody>
          </p:sp>
          <p:sp>
            <p:nvSpPr>
              <p:cNvPr id="257" name="TextBox 257"/>
              <p:cNvSpPr txBox="1"/>
              <p:nvPr/>
            </p:nvSpPr>
            <p:spPr>
              <a:xfrm>
                <a:off x="0" y="-47625"/>
                <a:ext cx="802049" cy="428370"/>
              </a:xfrm>
              <a:prstGeom prst="rect">
                <a:avLst/>
              </a:prstGeom>
            </p:spPr>
            <p:txBody>
              <a:bodyPr lIns="50800" tIns="50800" rIns="50800" bIns="50800" rtlCol="0" anchor="ctr"/>
              <a:lstStyle/>
              <a:p>
                <a:pPr algn="ctr">
                  <a:lnSpc>
                    <a:spcPts val="2340"/>
                  </a:lnSpc>
                </a:pPr>
                <a:r>
                  <a:rPr lang="en-US" sz="1950" b="1">
                    <a:solidFill>
                      <a:srgbClr val="FFFFFF"/>
                    </a:solidFill>
                    <a:latin typeface="Calibri (MS) Bold"/>
                    <a:ea typeface="Calibri (MS) Bold"/>
                    <a:cs typeface="Calibri (MS) Bold"/>
                    <a:sym typeface="Calibri (MS) Bold"/>
                  </a:rPr>
                  <a:t>☀️</a:t>
                </a:r>
              </a:p>
              <a:p>
                <a:pPr algn="ctr">
                  <a:lnSpc>
                    <a:spcPts val="2340"/>
                  </a:lnSpc>
                </a:pPr>
                <a:r>
                  <a:rPr lang="en-US" sz="1950" b="1">
                    <a:solidFill>
                      <a:srgbClr val="FFFFFF"/>
                    </a:solidFill>
                    <a:latin typeface="Calibri (MS) Bold"/>
                    <a:ea typeface="Calibri (MS) Bold"/>
                    <a:cs typeface="Calibri (MS) Bold"/>
                    <a:sym typeface="Calibri (MS) Bold"/>
                  </a:rPr>
                  <a:t>You’ve been real 3 days in a row</a:t>
                </a:r>
              </a:p>
            </p:txBody>
          </p:sp>
        </p:grpSp>
      </p:grpSp>
      <p:grpSp>
        <p:nvGrpSpPr>
          <p:cNvPr id="258" name="Group 258"/>
          <p:cNvGrpSpPr/>
          <p:nvPr/>
        </p:nvGrpSpPr>
        <p:grpSpPr>
          <a:xfrm>
            <a:off x="5440683" y="9623975"/>
            <a:ext cx="2951606" cy="580191"/>
            <a:chOff x="0" y="0"/>
            <a:chExt cx="4698390" cy="923552"/>
          </a:xfrm>
        </p:grpSpPr>
        <p:sp>
          <p:nvSpPr>
            <p:cNvPr id="259" name="Freeform 259"/>
            <p:cNvSpPr/>
            <p:nvPr/>
          </p:nvSpPr>
          <p:spPr>
            <a:xfrm>
              <a:off x="0" y="0"/>
              <a:ext cx="4698390" cy="923552"/>
            </a:xfrm>
            <a:custGeom>
              <a:avLst/>
              <a:gdLst/>
              <a:ahLst/>
              <a:cxnLst/>
              <a:rect l="l" t="t" r="r" b="b"/>
              <a:pathLst>
                <a:path w="4698390" h="923552">
                  <a:moveTo>
                    <a:pt x="0" y="0"/>
                  </a:moveTo>
                  <a:lnTo>
                    <a:pt x="4698390" y="0"/>
                  </a:lnTo>
                  <a:lnTo>
                    <a:pt x="4698390" y="923552"/>
                  </a:lnTo>
                  <a:lnTo>
                    <a:pt x="0" y="923552"/>
                  </a:lnTo>
                  <a:close/>
                </a:path>
              </a:pathLst>
            </a:custGeom>
            <a:blipFill>
              <a:blip r:embed="rId3">
                <a:alphaModFix amt="0"/>
              </a:blip>
              <a:stretch>
                <a:fillRect t="-311072" r="-308701" b="-399189"/>
              </a:stretch>
            </a:blipFill>
          </p:spPr>
          <p:txBody>
            <a:bodyPr/>
            <a:lstStyle/>
            <a:p>
              <a:endParaRPr lang="en-US"/>
            </a:p>
          </p:txBody>
        </p:sp>
        <p:sp>
          <p:nvSpPr>
            <p:cNvPr id="260" name="TextBox 260"/>
            <p:cNvSpPr txBox="1"/>
            <p:nvPr/>
          </p:nvSpPr>
          <p:spPr>
            <a:xfrm>
              <a:off x="0" y="0"/>
              <a:ext cx="4698390" cy="923552"/>
            </a:xfrm>
            <a:prstGeom prst="rect">
              <a:avLst/>
            </a:prstGeom>
          </p:spPr>
          <p:txBody>
            <a:bodyPr lIns="0" tIns="0" rIns="0" bIns="0" rtlCol="0" anchor="ctr"/>
            <a:lstStyle/>
            <a:p>
              <a:pPr algn="ctr">
                <a:lnSpc>
                  <a:spcPts val="1920"/>
                </a:lnSpc>
              </a:pPr>
              <a:r>
                <a:rPr lang="en-US" sz="1800" b="1">
                  <a:solidFill>
                    <a:srgbClr val="FFFFFF"/>
                  </a:solidFill>
                  <a:latin typeface="Arial Bold"/>
                  <a:ea typeface="Arial Bold"/>
                  <a:cs typeface="Arial Bold"/>
                  <a:sym typeface="Arial Bold"/>
                </a:rPr>
                <a:t>Reminder Bubble</a:t>
              </a:r>
            </a:p>
          </p:txBody>
        </p:sp>
      </p:grpSp>
      <p:grpSp>
        <p:nvGrpSpPr>
          <p:cNvPr id="261" name="Group 261"/>
          <p:cNvGrpSpPr/>
          <p:nvPr/>
        </p:nvGrpSpPr>
        <p:grpSpPr>
          <a:xfrm>
            <a:off x="9144000" y="9452525"/>
            <a:ext cx="3532819" cy="580191"/>
            <a:chOff x="0" y="0"/>
            <a:chExt cx="5623571" cy="923552"/>
          </a:xfrm>
        </p:grpSpPr>
        <p:sp>
          <p:nvSpPr>
            <p:cNvPr id="262" name="Freeform 262"/>
            <p:cNvSpPr/>
            <p:nvPr/>
          </p:nvSpPr>
          <p:spPr>
            <a:xfrm>
              <a:off x="0" y="0"/>
              <a:ext cx="5623571" cy="923552"/>
            </a:xfrm>
            <a:custGeom>
              <a:avLst/>
              <a:gdLst/>
              <a:ahLst/>
              <a:cxnLst/>
              <a:rect l="l" t="t" r="r" b="b"/>
              <a:pathLst>
                <a:path w="5623571" h="923552">
                  <a:moveTo>
                    <a:pt x="0" y="0"/>
                  </a:moveTo>
                  <a:lnTo>
                    <a:pt x="5623571" y="0"/>
                  </a:lnTo>
                  <a:lnTo>
                    <a:pt x="5623571" y="923552"/>
                  </a:lnTo>
                  <a:lnTo>
                    <a:pt x="0" y="923552"/>
                  </a:lnTo>
                  <a:close/>
                </a:path>
              </a:pathLst>
            </a:custGeom>
            <a:blipFill>
              <a:blip r:embed="rId3">
                <a:alphaModFix amt="0"/>
              </a:blip>
              <a:stretch>
                <a:fillRect t="-311072" r="-241462" b="-399189"/>
              </a:stretch>
            </a:blipFill>
          </p:spPr>
          <p:txBody>
            <a:bodyPr/>
            <a:lstStyle/>
            <a:p>
              <a:endParaRPr lang="en-US"/>
            </a:p>
          </p:txBody>
        </p:sp>
        <p:sp>
          <p:nvSpPr>
            <p:cNvPr id="263" name="TextBox 263"/>
            <p:cNvSpPr txBox="1"/>
            <p:nvPr/>
          </p:nvSpPr>
          <p:spPr>
            <a:xfrm>
              <a:off x="0" y="0"/>
              <a:ext cx="5623571" cy="923552"/>
            </a:xfrm>
            <a:prstGeom prst="rect">
              <a:avLst/>
            </a:prstGeom>
          </p:spPr>
          <p:txBody>
            <a:bodyPr lIns="0" tIns="0" rIns="0" bIns="0" rtlCol="0" anchor="ctr"/>
            <a:lstStyle/>
            <a:p>
              <a:pPr algn="ctr">
                <a:lnSpc>
                  <a:spcPts val="1920"/>
                </a:lnSpc>
              </a:pPr>
              <a:r>
                <a:rPr lang="en-US" sz="1800" b="1">
                  <a:solidFill>
                    <a:srgbClr val="FFFFFF"/>
                  </a:solidFill>
                  <a:latin typeface="Arial Bold"/>
                  <a:ea typeface="Arial Bold"/>
                  <a:cs typeface="Arial Bold"/>
                  <a:sym typeface="Arial Bold"/>
                </a:rPr>
                <a:t>Soft Streak Cue  </a:t>
              </a:r>
            </a:p>
          </p:txBody>
        </p:sp>
      </p:grpSp>
      <p:grpSp>
        <p:nvGrpSpPr>
          <p:cNvPr id="470" name="Group 470"/>
          <p:cNvGrpSpPr/>
          <p:nvPr/>
        </p:nvGrpSpPr>
        <p:grpSpPr>
          <a:xfrm>
            <a:off x="13726481" y="9333880"/>
            <a:ext cx="3532819" cy="580191"/>
            <a:chOff x="0" y="0"/>
            <a:chExt cx="5623571" cy="923552"/>
          </a:xfrm>
        </p:grpSpPr>
        <p:sp>
          <p:nvSpPr>
            <p:cNvPr id="471" name="Freeform 471"/>
            <p:cNvSpPr/>
            <p:nvPr/>
          </p:nvSpPr>
          <p:spPr>
            <a:xfrm>
              <a:off x="0" y="0"/>
              <a:ext cx="5623571" cy="923552"/>
            </a:xfrm>
            <a:custGeom>
              <a:avLst/>
              <a:gdLst/>
              <a:ahLst/>
              <a:cxnLst/>
              <a:rect l="l" t="t" r="r" b="b"/>
              <a:pathLst>
                <a:path w="5623571" h="923552">
                  <a:moveTo>
                    <a:pt x="0" y="0"/>
                  </a:moveTo>
                  <a:lnTo>
                    <a:pt x="5623571" y="0"/>
                  </a:lnTo>
                  <a:lnTo>
                    <a:pt x="5623571" y="923552"/>
                  </a:lnTo>
                  <a:lnTo>
                    <a:pt x="0" y="923552"/>
                  </a:lnTo>
                  <a:close/>
                </a:path>
              </a:pathLst>
            </a:custGeom>
            <a:blipFill>
              <a:blip r:embed="rId3">
                <a:alphaModFix amt="0"/>
              </a:blip>
              <a:stretch>
                <a:fillRect t="-311072" r="-241462" b="-399189"/>
              </a:stretch>
            </a:blipFill>
          </p:spPr>
          <p:txBody>
            <a:bodyPr/>
            <a:lstStyle/>
            <a:p>
              <a:endParaRPr lang="en-US"/>
            </a:p>
          </p:txBody>
        </p:sp>
        <p:sp>
          <p:nvSpPr>
            <p:cNvPr id="472" name="TextBox 472"/>
            <p:cNvSpPr txBox="1"/>
            <p:nvPr/>
          </p:nvSpPr>
          <p:spPr>
            <a:xfrm>
              <a:off x="0" y="0"/>
              <a:ext cx="5623571" cy="923552"/>
            </a:xfrm>
            <a:prstGeom prst="rect">
              <a:avLst/>
            </a:prstGeom>
          </p:spPr>
          <p:txBody>
            <a:bodyPr lIns="0" tIns="0" rIns="0" bIns="0" rtlCol="0" anchor="ctr"/>
            <a:lstStyle/>
            <a:p>
              <a:pPr algn="ctr">
                <a:lnSpc>
                  <a:spcPts val="1920"/>
                </a:lnSpc>
              </a:pPr>
              <a:r>
                <a:rPr lang="en-US" sz="1800" b="1">
                  <a:solidFill>
                    <a:srgbClr val="FFFFFF"/>
                  </a:solidFill>
                  <a:latin typeface="Arial Bold"/>
                  <a:ea typeface="Arial Bold"/>
                  <a:cs typeface="Arial Bold"/>
                  <a:sym typeface="Arial Bold"/>
                </a:rPr>
                <a:t>Come-back Banner</a:t>
              </a:r>
            </a:p>
          </p:txBody>
        </p:sp>
      </p:grpSp>
      <p:grpSp>
        <p:nvGrpSpPr>
          <p:cNvPr id="473" name="Group 264">
            <a:extLst>
              <a:ext uri="{FF2B5EF4-FFF2-40B4-BE49-F238E27FC236}">
                <a16:creationId xmlns:a16="http://schemas.microsoft.com/office/drawing/2014/main" id="{4D1CA566-30BC-2C44-D996-75CC5239C1E7}"/>
              </a:ext>
            </a:extLst>
          </p:cNvPr>
          <p:cNvGrpSpPr/>
          <p:nvPr/>
        </p:nvGrpSpPr>
        <p:grpSpPr>
          <a:xfrm>
            <a:off x="13287323" y="933450"/>
            <a:ext cx="4182327" cy="8275452"/>
            <a:chOff x="0" y="0"/>
            <a:chExt cx="5576435" cy="11033936"/>
          </a:xfrm>
        </p:grpSpPr>
        <p:grpSp>
          <p:nvGrpSpPr>
            <p:cNvPr id="474" name="Group 265">
              <a:extLst>
                <a:ext uri="{FF2B5EF4-FFF2-40B4-BE49-F238E27FC236}">
                  <a16:creationId xmlns:a16="http://schemas.microsoft.com/office/drawing/2014/main" id="{1EE8C427-3E0C-6BB6-A568-CA7FD88AA9E9}"/>
                </a:ext>
              </a:extLst>
            </p:cNvPr>
            <p:cNvGrpSpPr>
              <a:grpSpLocks noChangeAspect="1"/>
            </p:cNvGrpSpPr>
            <p:nvPr/>
          </p:nvGrpSpPr>
          <p:grpSpPr>
            <a:xfrm>
              <a:off x="0" y="0"/>
              <a:ext cx="5576435" cy="11033936"/>
              <a:chOff x="0" y="0"/>
              <a:chExt cx="2620010" cy="5184140"/>
            </a:xfrm>
          </p:grpSpPr>
          <p:sp>
            <p:nvSpPr>
              <p:cNvPr id="670" name="Freeform 266">
                <a:extLst>
                  <a:ext uri="{FF2B5EF4-FFF2-40B4-BE49-F238E27FC236}">
                    <a16:creationId xmlns:a16="http://schemas.microsoft.com/office/drawing/2014/main" id="{7C0C98E8-2A66-A869-3275-47C1E521BC0E}"/>
                  </a:ext>
                </a:extLst>
              </p:cNvPr>
              <p:cNvSpPr/>
              <p:nvPr/>
            </p:nvSpPr>
            <p:spPr>
              <a:xfrm>
                <a:off x="53340" y="25400"/>
                <a:ext cx="2513330" cy="5132070"/>
              </a:xfrm>
              <a:custGeom>
                <a:avLst/>
                <a:gdLst/>
                <a:ahLst/>
                <a:cxnLst/>
                <a:rect l="l" t="t" r="r" b="b"/>
                <a:pathLst>
                  <a:path w="2513330" h="5132070">
                    <a:moveTo>
                      <a:pt x="2159000" y="0"/>
                    </a:moveTo>
                    <a:lnTo>
                      <a:pt x="354330" y="0"/>
                    </a:lnTo>
                    <a:cubicBezTo>
                      <a:pt x="158750" y="0"/>
                      <a:pt x="0" y="158750"/>
                      <a:pt x="0" y="354330"/>
                    </a:cubicBezTo>
                    <a:lnTo>
                      <a:pt x="0" y="4777740"/>
                    </a:lnTo>
                    <a:cubicBezTo>
                      <a:pt x="0" y="4973320"/>
                      <a:pt x="158750" y="5132070"/>
                      <a:pt x="354330" y="5132070"/>
                    </a:cubicBezTo>
                    <a:lnTo>
                      <a:pt x="2159000" y="5132070"/>
                    </a:lnTo>
                    <a:cubicBezTo>
                      <a:pt x="2354580" y="5132070"/>
                      <a:pt x="2513330" y="4973320"/>
                      <a:pt x="2513330" y="4777740"/>
                    </a:cubicBezTo>
                    <a:lnTo>
                      <a:pt x="2513330" y="354330"/>
                    </a:lnTo>
                    <a:cubicBezTo>
                      <a:pt x="2513330" y="158750"/>
                      <a:pt x="2354580" y="0"/>
                      <a:pt x="2159000" y="0"/>
                    </a:cubicBezTo>
                    <a:close/>
                    <a:moveTo>
                      <a:pt x="1558290" y="162560"/>
                    </a:moveTo>
                    <a:cubicBezTo>
                      <a:pt x="1576070" y="162560"/>
                      <a:pt x="1590040" y="176530"/>
                      <a:pt x="1590040" y="194310"/>
                    </a:cubicBezTo>
                    <a:cubicBezTo>
                      <a:pt x="1590040" y="212090"/>
                      <a:pt x="1576070" y="226060"/>
                      <a:pt x="1558290" y="226060"/>
                    </a:cubicBezTo>
                    <a:cubicBezTo>
                      <a:pt x="1540510" y="226060"/>
                      <a:pt x="1526540" y="212090"/>
                      <a:pt x="1526540" y="194310"/>
                    </a:cubicBezTo>
                    <a:cubicBezTo>
                      <a:pt x="1526540" y="176530"/>
                      <a:pt x="1541780" y="162560"/>
                      <a:pt x="1558290" y="162560"/>
                    </a:cubicBezTo>
                    <a:close/>
                    <a:moveTo>
                      <a:pt x="1089660" y="172720"/>
                    </a:moveTo>
                    <a:lnTo>
                      <a:pt x="1394460" y="172720"/>
                    </a:lnTo>
                    <a:cubicBezTo>
                      <a:pt x="1405890" y="172720"/>
                      <a:pt x="1416050" y="181610"/>
                      <a:pt x="1416050" y="194310"/>
                    </a:cubicBezTo>
                    <a:cubicBezTo>
                      <a:pt x="1416050" y="207010"/>
                      <a:pt x="1405890" y="215900"/>
                      <a:pt x="1394460" y="215900"/>
                    </a:cubicBezTo>
                    <a:lnTo>
                      <a:pt x="1089660" y="215900"/>
                    </a:lnTo>
                    <a:cubicBezTo>
                      <a:pt x="1078230" y="215900"/>
                      <a:pt x="1068070" y="207010"/>
                      <a:pt x="1068070" y="194310"/>
                    </a:cubicBezTo>
                    <a:cubicBezTo>
                      <a:pt x="1068070" y="181610"/>
                      <a:pt x="1078230" y="172720"/>
                      <a:pt x="1089660" y="172720"/>
                    </a:cubicBezTo>
                    <a:close/>
                    <a:moveTo>
                      <a:pt x="2383790" y="4798060"/>
                    </a:moveTo>
                    <a:cubicBezTo>
                      <a:pt x="2383790" y="4913630"/>
                      <a:pt x="2289810" y="5007610"/>
                      <a:pt x="2174240" y="5007610"/>
                    </a:cubicBezTo>
                    <a:lnTo>
                      <a:pt x="341630" y="5007610"/>
                    </a:lnTo>
                    <a:cubicBezTo>
                      <a:pt x="226060" y="5007610"/>
                      <a:pt x="132080" y="4913630"/>
                      <a:pt x="132080" y="4798060"/>
                    </a:cubicBezTo>
                    <a:lnTo>
                      <a:pt x="132080" y="340360"/>
                    </a:lnTo>
                    <a:cubicBezTo>
                      <a:pt x="132080" y="224790"/>
                      <a:pt x="226060" y="130810"/>
                      <a:pt x="341630" y="130810"/>
                    </a:cubicBezTo>
                    <a:lnTo>
                      <a:pt x="614680" y="130810"/>
                    </a:lnTo>
                    <a:lnTo>
                      <a:pt x="614680" y="187960"/>
                    </a:lnTo>
                    <a:cubicBezTo>
                      <a:pt x="614680" y="252730"/>
                      <a:pt x="668020" y="306070"/>
                      <a:pt x="732790" y="306070"/>
                    </a:cubicBezTo>
                    <a:lnTo>
                      <a:pt x="1783080" y="306070"/>
                    </a:lnTo>
                    <a:cubicBezTo>
                      <a:pt x="1847850" y="306070"/>
                      <a:pt x="1901190" y="252730"/>
                      <a:pt x="1901190" y="187960"/>
                    </a:cubicBezTo>
                    <a:lnTo>
                      <a:pt x="1901190" y="130810"/>
                    </a:lnTo>
                    <a:lnTo>
                      <a:pt x="2172970" y="130810"/>
                    </a:lnTo>
                    <a:cubicBezTo>
                      <a:pt x="2288540" y="130810"/>
                      <a:pt x="2382520" y="224790"/>
                      <a:pt x="2382520" y="340360"/>
                    </a:cubicBezTo>
                    <a:lnTo>
                      <a:pt x="2382520" y="4798060"/>
                    </a:lnTo>
                    <a:close/>
                  </a:path>
                </a:pathLst>
              </a:custGeom>
              <a:solidFill>
                <a:srgbClr val="000000"/>
              </a:solidFill>
            </p:spPr>
            <p:txBody>
              <a:bodyPr/>
              <a:lstStyle/>
              <a:p>
                <a:endParaRPr lang="en-US"/>
              </a:p>
            </p:txBody>
          </p:sp>
          <p:sp>
            <p:nvSpPr>
              <p:cNvPr id="671" name="Freeform 267">
                <a:extLst>
                  <a:ext uri="{FF2B5EF4-FFF2-40B4-BE49-F238E27FC236}">
                    <a16:creationId xmlns:a16="http://schemas.microsoft.com/office/drawing/2014/main" id="{2FD08B73-1186-B5A5-0302-37D916A9946F}"/>
                  </a:ext>
                </a:extLst>
              </p:cNvPr>
              <p:cNvSpPr/>
              <p:nvPr/>
            </p:nvSpPr>
            <p:spPr>
              <a:xfrm>
                <a:off x="185420" y="156210"/>
                <a:ext cx="2250453" cy="4876800"/>
              </a:xfrm>
              <a:custGeom>
                <a:avLst/>
                <a:gdLst/>
                <a:ahLst/>
                <a:cxnLst/>
                <a:rect l="l" t="t" r="r" b="b"/>
                <a:pathLst>
                  <a:path w="2250453" h="4876800">
                    <a:moveTo>
                      <a:pt x="2040890" y="0"/>
                    </a:moveTo>
                    <a:lnTo>
                      <a:pt x="1769110" y="0"/>
                    </a:lnTo>
                    <a:lnTo>
                      <a:pt x="1769110" y="57150"/>
                    </a:lnTo>
                    <a:cubicBezTo>
                      <a:pt x="1769110" y="121920"/>
                      <a:pt x="1715770" y="175260"/>
                      <a:pt x="1651000" y="175260"/>
                    </a:cubicBezTo>
                    <a:lnTo>
                      <a:pt x="601980" y="175260"/>
                    </a:lnTo>
                    <a:cubicBezTo>
                      <a:pt x="537210" y="175260"/>
                      <a:pt x="483870" y="121920"/>
                      <a:pt x="483870" y="57150"/>
                    </a:cubicBezTo>
                    <a:lnTo>
                      <a:pt x="483870" y="0"/>
                    </a:lnTo>
                    <a:lnTo>
                      <a:pt x="209550" y="0"/>
                    </a:lnTo>
                    <a:cubicBezTo>
                      <a:pt x="93980" y="0"/>
                      <a:pt x="0" y="93980"/>
                      <a:pt x="0" y="209550"/>
                    </a:cubicBezTo>
                    <a:lnTo>
                      <a:pt x="0" y="4667250"/>
                    </a:lnTo>
                    <a:cubicBezTo>
                      <a:pt x="0" y="4782820"/>
                      <a:pt x="93980" y="4876800"/>
                      <a:pt x="209550" y="4876800"/>
                    </a:cubicBezTo>
                    <a:lnTo>
                      <a:pt x="2040890" y="4876800"/>
                    </a:lnTo>
                    <a:cubicBezTo>
                      <a:pt x="2156460" y="4876800"/>
                      <a:pt x="2250440" y="4782820"/>
                      <a:pt x="2250440" y="4667250"/>
                    </a:cubicBezTo>
                    <a:lnTo>
                      <a:pt x="2250440" y="209550"/>
                    </a:lnTo>
                    <a:cubicBezTo>
                      <a:pt x="2251710" y="93980"/>
                      <a:pt x="2157730" y="0"/>
                      <a:pt x="2040890" y="0"/>
                    </a:cubicBezTo>
                    <a:close/>
                  </a:path>
                </a:pathLst>
              </a:custGeom>
              <a:blipFill>
                <a:blip r:embed="rId3"/>
                <a:stretch>
                  <a:fillRect l="-245588" t="-3203" r="-245531" b="-3098"/>
                </a:stretch>
              </a:blipFill>
            </p:spPr>
            <p:txBody>
              <a:bodyPr/>
              <a:lstStyle/>
              <a:p>
                <a:endParaRPr lang="en-US"/>
              </a:p>
            </p:txBody>
          </p:sp>
          <p:sp>
            <p:nvSpPr>
              <p:cNvPr id="672" name="Freeform 268">
                <a:extLst>
                  <a:ext uri="{FF2B5EF4-FFF2-40B4-BE49-F238E27FC236}">
                    <a16:creationId xmlns:a16="http://schemas.microsoft.com/office/drawing/2014/main" id="{AC0CEF4D-9B60-2B7B-A7F7-10F17681CB3A}"/>
                  </a:ext>
                </a:extLst>
              </p:cNvPr>
              <p:cNvSpPr/>
              <p:nvPr/>
            </p:nvSpPr>
            <p:spPr>
              <a:xfrm>
                <a:off x="1121410" y="198120"/>
                <a:ext cx="347980" cy="43180"/>
              </a:xfrm>
              <a:custGeom>
                <a:avLst/>
                <a:gdLst/>
                <a:ahLst/>
                <a:cxnLst/>
                <a:rect l="l" t="t" r="r" b="b"/>
                <a:pathLst>
                  <a:path w="347980" h="43180">
                    <a:moveTo>
                      <a:pt x="326390" y="0"/>
                    </a:moveTo>
                    <a:lnTo>
                      <a:pt x="21590" y="0"/>
                    </a:lnTo>
                    <a:cubicBezTo>
                      <a:pt x="10160" y="0"/>
                      <a:pt x="0" y="8890"/>
                      <a:pt x="0" y="21590"/>
                    </a:cubicBezTo>
                    <a:cubicBezTo>
                      <a:pt x="0" y="34290"/>
                      <a:pt x="10160" y="43180"/>
                      <a:pt x="21590" y="43180"/>
                    </a:cubicBezTo>
                    <a:lnTo>
                      <a:pt x="326390" y="43180"/>
                    </a:lnTo>
                    <a:cubicBezTo>
                      <a:pt x="337820" y="43180"/>
                      <a:pt x="347980" y="34290"/>
                      <a:pt x="347980" y="21590"/>
                    </a:cubicBezTo>
                    <a:cubicBezTo>
                      <a:pt x="347980" y="8890"/>
                      <a:pt x="337820" y="0"/>
                      <a:pt x="326390" y="0"/>
                    </a:cubicBezTo>
                    <a:close/>
                  </a:path>
                </a:pathLst>
              </a:custGeom>
              <a:solidFill>
                <a:srgbClr val="606060"/>
              </a:solidFill>
            </p:spPr>
            <p:txBody>
              <a:bodyPr/>
              <a:lstStyle/>
              <a:p>
                <a:endParaRPr lang="en-US"/>
              </a:p>
            </p:txBody>
          </p:sp>
          <p:sp>
            <p:nvSpPr>
              <p:cNvPr id="673" name="Freeform 269">
                <a:extLst>
                  <a:ext uri="{FF2B5EF4-FFF2-40B4-BE49-F238E27FC236}">
                    <a16:creationId xmlns:a16="http://schemas.microsoft.com/office/drawing/2014/main" id="{15705061-6B8D-2BA2-9234-D240C9D6F86C}"/>
                  </a:ext>
                </a:extLst>
              </p:cNvPr>
              <p:cNvSpPr/>
              <p:nvPr/>
            </p:nvSpPr>
            <p:spPr>
              <a:xfrm>
                <a:off x="1579738" y="187960"/>
                <a:ext cx="63785" cy="63501"/>
              </a:xfrm>
              <a:custGeom>
                <a:avLst/>
                <a:gdLst/>
                <a:ahLst/>
                <a:cxnLst/>
                <a:rect l="l" t="t" r="r" b="b"/>
                <a:pathLst>
                  <a:path w="63785" h="63501">
                    <a:moveTo>
                      <a:pt x="31892" y="0"/>
                    </a:moveTo>
                    <a:cubicBezTo>
                      <a:pt x="20515" y="-51"/>
                      <a:pt x="9980" y="5989"/>
                      <a:pt x="4277" y="15834"/>
                    </a:cubicBezTo>
                    <a:cubicBezTo>
                      <a:pt x="-1426" y="25678"/>
                      <a:pt x="-1426" y="37822"/>
                      <a:pt x="4277" y="47666"/>
                    </a:cubicBezTo>
                    <a:cubicBezTo>
                      <a:pt x="9980" y="57511"/>
                      <a:pt x="20515" y="63551"/>
                      <a:pt x="31892" y="63500"/>
                    </a:cubicBezTo>
                    <a:cubicBezTo>
                      <a:pt x="43269" y="63551"/>
                      <a:pt x="53804" y="57511"/>
                      <a:pt x="59507" y="47666"/>
                    </a:cubicBezTo>
                    <a:cubicBezTo>
                      <a:pt x="65210" y="37822"/>
                      <a:pt x="65210" y="25678"/>
                      <a:pt x="59507" y="15834"/>
                    </a:cubicBezTo>
                    <a:cubicBezTo>
                      <a:pt x="53804" y="5989"/>
                      <a:pt x="43269" y="-51"/>
                      <a:pt x="31892" y="0"/>
                    </a:cubicBezTo>
                    <a:close/>
                  </a:path>
                </a:pathLst>
              </a:custGeom>
              <a:solidFill>
                <a:srgbClr val="606060"/>
              </a:solidFill>
            </p:spPr>
            <p:txBody>
              <a:bodyPr/>
              <a:lstStyle/>
              <a:p>
                <a:endParaRPr lang="en-US"/>
              </a:p>
            </p:txBody>
          </p:sp>
          <p:sp>
            <p:nvSpPr>
              <p:cNvPr id="674" name="Freeform 270">
                <a:extLst>
                  <a:ext uri="{FF2B5EF4-FFF2-40B4-BE49-F238E27FC236}">
                    <a16:creationId xmlns:a16="http://schemas.microsoft.com/office/drawing/2014/main" id="{4E7AF351-71F1-BDAF-6B3A-5448BF3CC833}"/>
                  </a:ext>
                </a:extLst>
              </p:cNvPr>
              <p:cNvSpPr/>
              <p:nvPr/>
            </p:nvSpPr>
            <p:spPr>
              <a:xfrm>
                <a:off x="0" y="685800"/>
                <a:ext cx="27940" cy="213360"/>
              </a:xfrm>
              <a:custGeom>
                <a:avLst/>
                <a:gdLst/>
                <a:ahLst/>
                <a:cxnLst/>
                <a:rect l="l" t="t" r="r" b="b"/>
                <a:pathLst>
                  <a:path w="27940" h="213360">
                    <a:moveTo>
                      <a:pt x="0" y="26670"/>
                    </a:moveTo>
                    <a:lnTo>
                      <a:pt x="0" y="185420"/>
                    </a:lnTo>
                    <a:cubicBezTo>
                      <a:pt x="0" y="200660"/>
                      <a:pt x="12700" y="213360"/>
                      <a:pt x="27940" y="213360"/>
                    </a:cubicBezTo>
                    <a:lnTo>
                      <a:pt x="27940" y="0"/>
                    </a:lnTo>
                    <a:cubicBezTo>
                      <a:pt x="12700" y="0"/>
                      <a:pt x="0" y="11430"/>
                      <a:pt x="0" y="26670"/>
                    </a:cubicBezTo>
                    <a:close/>
                  </a:path>
                </a:pathLst>
              </a:custGeom>
              <a:solidFill>
                <a:srgbClr val="B8B8B8"/>
              </a:solidFill>
            </p:spPr>
            <p:txBody>
              <a:bodyPr/>
              <a:lstStyle/>
              <a:p>
                <a:endParaRPr lang="en-US"/>
              </a:p>
            </p:txBody>
          </p:sp>
          <p:sp>
            <p:nvSpPr>
              <p:cNvPr id="675" name="Freeform 271">
                <a:extLst>
                  <a:ext uri="{FF2B5EF4-FFF2-40B4-BE49-F238E27FC236}">
                    <a16:creationId xmlns:a16="http://schemas.microsoft.com/office/drawing/2014/main" id="{4D55CDE8-FABC-8C23-65FA-C1412A433861}"/>
                  </a:ext>
                </a:extLst>
              </p:cNvPr>
              <p:cNvSpPr/>
              <p:nvPr/>
            </p:nvSpPr>
            <p:spPr>
              <a:xfrm>
                <a:off x="0" y="1057910"/>
                <a:ext cx="27940" cy="384810"/>
              </a:xfrm>
              <a:custGeom>
                <a:avLst/>
                <a:gdLst/>
                <a:ahLst/>
                <a:cxnLst/>
                <a:rect l="l" t="t" r="r" b="b"/>
                <a:pathLst>
                  <a:path w="27940" h="384810">
                    <a:moveTo>
                      <a:pt x="0" y="26670"/>
                    </a:moveTo>
                    <a:lnTo>
                      <a:pt x="0" y="356870"/>
                    </a:lnTo>
                    <a:cubicBezTo>
                      <a:pt x="0" y="372110"/>
                      <a:pt x="12700" y="384810"/>
                      <a:pt x="27940" y="384810"/>
                    </a:cubicBezTo>
                    <a:lnTo>
                      <a:pt x="27940" y="0"/>
                    </a:lnTo>
                    <a:cubicBezTo>
                      <a:pt x="12700" y="0"/>
                      <a:pt x="0" y="11430"/>
                      <a:pt x="0" y="26670"/>
                    </a:cubicBezTo>
                    <a:close/>
                  </a:path>
                </a:pathLst>
              </a:custGeom>
              <a:solidFill>
                <a:srgbClr val="B8B8B8"/>
              </a:solidFill>
            </p:spPr>
            <p:txBody>
              <a:bodyPr/>
              <a:lstStyle/>
              <a:p>
                <a:endParaRPr lang="en-US"/>
              </a:p>
            </p:txBody>
          </p:sp>
          <p:sp>
            <p:nvSpPr>
              <p:cNvPr id="676" name="Freeform 272">
                <a:extLst>
                  <a:ext uri="{FF2B5EF4-FFF2-40B4-BE49-F238E27FC236}">
                    <a16:creationId xmlns:a16="http://schemas.microsoft.com/office/drawing/2014/main" id="{921738F9-EAAA-ACD3-9AD5-A4489BD26DB1}"/>
                  </a:ext>
                </a:extLst>
              </p:cNvPr>
              <p:cNvSpPr/>
              <p:nvPr/>
            </p:nvSpPr>
            <p:spPr>
              <a:xfrm>
                <a:off x="0" y="1526540"/>
                <a:ext cx="27940" cy="386080"/>
              </a:xfrm>
              <a:custGeom>
                <a:avLst/>
                <a:gdLst/>
                <a:ahLst/>
                <a:cxnLst/>
                <a:rect l="l" t="t" r="r" b="b"/>
                <a:pathLst>
                  <a:path w="27940" h="386080">
                    <a:moveTo>
                      <a:pt x="0" y="27940"/>
                    </a:moveTo>
                    <a:lnTo>
                      <a:pt x="0" y="358140"/>
                    </a:lnTo>
                    <a:cubicBezTo>
                      <a:pt x="0" y="373380"/>
                      <a:pt x="12700" y="386080"/>
                      <a:pt x="27940" y="386080"/>
                    </a:cubicBezTo>
                    <a:lnTo>
                      <a:pt x="27940" y="0"/>
                    </a:lnTo>
                    <a:cubicBezTo>
                      <a:pt x="12700" y="0"/>
                      <a:pt x="0" y="12700"/>
                      <a:pt x="0" y="27940"/>
                    </a:cubicBezTo>
                    <a:close/>
                  </a:path>
                </a:pathLst>
              </a:custGeom>
              <a:solidFill>
                <a:srgbClr val="B8B8B8"/>
              </a:solidFill>
            </p:spPr>
            <p:txBody>
              <a:bodyPr/>
              <a:lstStyle/>
              <a:p>
                <a:endParaRPr lang="en-US"/>
              </a:p>
            </p:txBody>
          </p:sp>
          <p:sp>
            <p:nvSpPr>
              <p:cNvPr id="677" name="Freeform 273">
                <a:extLst>
                  <a:ext uri="{FF2B5EF4-FFF2-40B4-BE49-F238E27FC236}">
                    <a16:creationId xmlns:a16="http://schemas.microsoft.com/office/drawing/2014/main" id="{17858146-60EE-7599-AB92-FC14155CA239}"/>
                  </a:ext>
                </a:extLst>
              </p:cNvPr>
              <p:cNvSpPr/>
              <p:nvPr/>
            </p:nvSpPr>
            <p:spPr>
              <a:xfrm>
                <a:off x="2592070" y="1184910"/>
                <a:ext cx="27940" cy="618490"/>
              </a:xfrm>
              <a:custGeom>
                <a:avLst/>
                <a:gdLst/>
                <a:ahLst/>
                <a:cxnLst/>
                <a:rect l="l" t="t" r="r" b="b"/>
                <a:pathLst>
                  <a:path w="27940" h="618490">
                    <a:moveTo>
                      <a:pt x="0" y="0"/>
                    </a:moveTo>
                    <a:lnTo>
                      <a:pt x="0" y="618490"/>
                    </a:lnTo>
                    <a:cubicBezTo>
                      <a:pt x="15240" y="618490"/>
                      <a:pt x="27940" y="605790"/>
                      <a:pt x="27940" y="590550"/>
                    </a:cubicBezTo>
                    <a:lnTo>
                      <a:pt x="27940" y="27940"/>
                    </a:lnTo>
                    <a:cubicBezTo>
                      <a:pt x="27940" y="12700"/>
                      <a:pt x="15240" y="0"/>
                      <a:pt x="0" y="0"/>
                    </a:cubicBezTo>
                    <a:close/>
                  </a:path>
                </a:pathLst>
              </a:custGeom>
              <a:solidFill>
                <a:srgbClr val="B8B8B8"/>
              </a:solidFill>
            </p:spPr>
            <p:txBody>
              <a:bodyPr/>
              <a:lstStyle/>
              <a:p>
                <a:endParaRPr lang="en-US"/>
              </a:p>
            </p:txBody>
          </p:sp>
          <p:sp>
            <p:nvSpPr>
              <p:cNvPr id="678" name="Freeform 274">
                <a:extLst>
                  <a:ext uri="{FF2B5EF4-FFF2-40B4-BE49-F238E27FC236}">
                    <a16:creationId xmlns:a16="http://schemas.microsoft.com/office/drawing/2014/main" id="{BBCBC01D-560F-9B2D-1C71-F1E79103415E}"/>
                  </a:ext>
                </a:extLst>
              </p:cNvPr>
              <p:cNvSpPr/>
              <p:nvPr/>
            </p:nvSpPr>
            <p:spPr>
              <a:xfrm>
                <a:off x="27940" y="0"/>
                <a:ext cx="2564130" cy="5182870"/>
              </a:xfrm>
              <a:custGeom>
                <a:avLst/>
                <a:gdLst/>
                <a:ahLst/>
                <a:cxnLst/>
                <a:rect l="l" t="t" r="r" b="b"/>
                <a:pathLst>
                  <a:path w="2564130" h="5182870">
                    <a:moveTo>
                      <a:pt x="2564130" y="1184910"/>
                    </a:moveTo>
                    <a:lnTo>
                      <a:pt x="2564130" y="379730"/>
                    </a:lnTo>
                    <a:cubicBezTo>
                      <a:pt x="2564130" y="353060"/>
                      <a:pt x="2561590" y="327660"/>
                      <a:pt x="2556510" y="303530"/>
                    </a:cubicBezTo>
                    <a:cubicBezTo>
                      <a:pt x="2553970" y="290830"/>
                      <a:pt x="2551430" y="279400"/>
                      <a:pt x="2547620" y="266700"/>
                    </a:cubicBezTo>
                    <a:cubicBezTo>
                      <a:pt x="2542540" y="248920"/>
                      <a:pt x="2534920" y="231140"/>
                      <a:pt x="2527300" y="214630"/>
                    </a:cubicBezTo>
                    <a:cubicBezTo>
                      <a:pt x="2522220" y="203200"/>
                      <a:pt x="2515870" y="193040"/>
                      <a:pt x="2509520" y="182880"/>
                    </a:cubicBezTo>
                    <a:cubicBezTo>
                      <a:pt x="2503170" y="172720"/>
                      <a:pt x="2496820" y="162560"/>
                      <a:pt x="2489200" y="152400"/>
                    </a:cubicBezTo>
                    <a:cubicBezTo>
                      <a:pt x="2477770" y="137160"/>
                      <a:pt x="2466340" y="124460"/>
                      <a:pt x="2453640" y="110490"/>
                    </a:cubicBezTo>
                    <a:cubicBezTo>
                      <a:pt x="2444750" y="101600"/>
                      <a:pt x="2435860" y="93980"/>
                      <a:pt x="2426970" y="86360"/>
                    </a:cubicBezTo>
                    <a:cubicBezTo>
                      <a:pt x="2360930" y="31750"/>
                      <a:pt x="2277110" y="0"/>
                      <a:pt x="2185670" y="0"/>
                    </a:cubicBezTo>
                    <a:lnTo>
                      <a:pt x="379730" y="0"/>
                    </a:lnTo>
                    <a:cubicBezTo>
                      <a:pt x="288290" y="0"/>
                      <a:pt x="203200" y="33020"/>
                      <a:pt x="138430" y="86360"/>
                    </a:cubicBezTo>
                    <a:cubicBezTo>
                      <a:pt x="129540" y="93980"/>
                      <a:pt x="120650" y="102870"/>
                      <a:pt x="111760" y="110490"/>
                    </a:cubicBezTo>
                    <a:cubicBezTo>
                      <a:pt x="99060" y="123190"/>
                      <a:pt x="86360" y="137160"/>
                      <a:pt x="76200" y="152400"/>
                    </a:cubicBezTo>
                    <a:cubicBezTo>
                      <a:pt x="68580" y="162560"/>
                      <a:pt x="62230" y="172720"/>
                      <a:pt x="55880" y="182880"/>
                    </a:cubicBezTo>
                    <a:cubicBezTo>
                      <a:pt x="49530" y="193040"/>
                      <a:pt x="43180" y="204470"/>
                      <a:pt x="38100" y="214630"/>
                    </a:cubicBezTo>
                    <a:cubicBezTo>
                      <a:pt x="29210" y="232410"/>
                      <a:pt x="22860" y="248920"/>
                      <a:pt x="16510" y="266700"/>
                    </a:cubicBezTo>
                    <a:cubicBezTo>
                      <a:pt x="12700" y="279400"/>
                      <a:pt x="10160" y="290830"/>
                      <a:pt x="7620" y="303530"/>
                    </a:cubicBezTo>
                    <a:cubicBezTo>
                      <a:pt x="2540" y="327660"/>
                      <a:pt x="0" y="354330"/>
                      <a:pt x="0" y="379730"/>
                    </a:cubicBezTo>
                    <a:lnTo>
                      <a:pt x="0" y="4803140"/>
                    </a:lnTo>
                    <a:cubicBezTo>
                      <a:pt x="0" y="5012690"/>
                      <a:pt x="170180" y="5182870"/>
                      <a:pt x="379730" y="5182870"/>
                    </a:cubicBezTo>
                    <a:lnTo>
                      <a:pt x="2184400" y="5182870"/>
                    </a:lnTo>
                    <a:cubicBezTo>
                      <a:pt x="2393950" y="5182870"/>
                      <a:pt x="2564130" y="5012690"/>
                      <a:pt x="2564130" y="4803140"/>
                    </a:cubicBezTo>
                    <a:lnTo>
                      <a:pt x="2564130" y="1184910"/>
                    </a:lnTo>
                    <a:close/>
                    <a:moveTo>
                      <a:pt x="2538730" y="1184910"/>
                    </a:moveTo>
                    <a:lnTo>
                      <a:pt x="2538730" y="4804410"/>
                    </a:lnTo>
                    <a:cubicBezTo>
                      <a:pt x="2538730" y="4999990"/>
                      <a:pt x="2379980" y="5158740"/>
                      <a:pt x="2184400" y="5158740"/>
                    </a:cubicBezTo>
                    <a:lnTo>
                      <a:pt x="379730" y="5158740"/>
                    </a:lnTo>
                    <a:cubicBezTo>
                      <a:pt x="184150" y="5158740"/>
                      <a:pt x="25400" y="4999990"/>
                      <a:pt x="25400" y="4804410"/>
                    </a:cubicBezTo>
                    <a:lnTo>
                      <a:pt x="25400" y="381000"/>
                    </a:lnTo>
                    <a:cubicBezTo>
                      <a:pt x="25400" y="184150"/>
                      <a:pt x="184150" y="25400"/>
                      <a:pt x="379730" y="25400"/>
                    </a:cubicBezTo>
                    <a:lnTo>
                      <a:pt x="2184400" y="25400"/>
                    </a:lnTo>
                    <a:cubicBezTo>
                      <a:pt x="2379980" y="25400"/>
                      <a:pt x="2538730" y="184150"/>
                      <a:pt x="2538730" y="379730"/>
                    </a:cubicBezTo>
                    <a:lnTo>
                      <a:pt x="2538730" y="1184910"/>
                    </a:lnTo>
                    <a:close/>
                  </a:path>
                </a:pathLst>
              </a:custGeom>
              <a:solidFill>
                <a:srgbClr val="E9E9E9"/>
              </a:solidFill>
            </p:spPr>
            <p:txBody>
              <a:bodyPr/>
              <a:lstStyle/>
              <a:p>
                <a:endParaRPr lang="en-US"/>
              </a:p>
            </p:txBody>
          </p:sp>
        </p:grpSp>
        <p:grpSp>
          <p:nvGrpSpPr>
            <p:cNvPr id="475" name="Group 275">
              <a:extLst>
                <a:ext uri="{FF2B5EF4-FFF2-40B4-BE49-F238E27FC236}">
                  <a16:creationId xmlns:a16="http://schemas.microsoft.com/office/drawing/2014/main" id="{0F609725-EFEF-9782-2E85-CDC195FDB2CB}"/>
                </a:ext>
              </a:extLst>
            </p:cNvPr>
            <p:cNvGrpSpPr/>
            <p:nvPr/>
          </p:nvGrpSpPr>
          <p:grpSpPr>
            <a:xfrm>
              <a:off x="132110" y="161647"/>
              <a:ext cx="5089955" cy="10658674"/>
              <a:chOff x="0" y="0"/>
              <a:chExt cx="1005423" cy="2105417"/>
            </a:xfrm>
          </p:grpSpPr>
          <p:sp>
            <p:nvSpPr>
              <p:cNvPr id="668" name="Freeform 276">
                <a:extLst>
                  <a:ext uri="{FF2B5EF4-FFF2-40B4-BE49-F238E27FC236}">
                    <a16:creationId xmlns:a16="http://schemas.microsoft.com/office/drawing/2014/main" id="{93D22EA7-E7D6-7675-292B-A9B416A5C134}"/>
                  </a:ext>
                </a:extLst>
              </p:cNvPr>
              <p:cNvSpPr/>
              <p:nvPr/>
            </p:nvSpPr>
            <p:spPr>
              <a:xfrm>
                <a:off x="0" y="0"/>
                <a:ext cx="1005423" cy="2105417"/>
              </a:xfrm>
              <a:custGeom>
                <a:avLst/>
                <a:gdLst/>
                <a:ahLst/>
                <a:cxnLst/>
                <a:rect l="l" t="t" r="r" b="b"/>
                <a:pathLst>
                  <a:path w="1005423" h="2105417">
                    <a:moveTo>
                      <a:pt x="103429" y="0"/>
                    </a:moveTo>
                    <a:lnTo>
                      <a:pt x="901994" y="0"/>
                    </a:lnTo>
                    <a:cubicBezTo>
                      <a:pt x="959116" y="0"/>
                      <a:pt x="1005423" y="46307"/>
                      <a:pt x="1005423" y="103429"/>
                    </a:cubicBezTo>
                    <a:lnTo>
                      <a:pt x="1005423" y="2001988"/>
                    </a:lnTo>
                    <a:cubicBezTo>
                      <a:pt x="1005423" y="2059110"/>
                      <a:pt x="959116" y="2105417"/>
                      <a:pt x="901994" y="2105417"/>
                    </a:cubicBezTo>
                    <a:lnTo>
                      <a:pt x="103429" y="2105417"/>
                    </a:lnTo>
                    <a:cubicBezTo>
                      <a:pt x="46307" y="2105417"/>
                      <a:pt x="0" y="2059110"/>
                      <a:pt x="0" y="2001988"/>
                    </a:cubicBezTo>
                    <a:lnTo>
                      <a:pt x="0" y="103429"/>
                    </a:lnTo>
                    <a:cubicBezTo>
                      <a:pt x="0" y="46307"/>
                      <a:pt x="46307" y="0"/>
                      <a:pt x="103429" y="0"/>
                    </a:cubicBezTo>
                    <a:close/>
                  </a:path>
                </a:pathLst>
              </a:custGeom>
              <a:solidFill>
                <a:srgbClr val="141414"/>
              </a:solidFill>
            </p:spPr>
            <p:txBody>
              <a:bodyPr/>
              <a:lstStyle/>
              <a:p>
                <a:endParaRPr lang="en-US"/>
              </a:p>
            </p:txBody>
          </p:sp>
          <p:sp>
            <p:nvSpPr>
              <p:cNvPr id="669" name="TextBox 277">
                <a:extLst>
                  <a:ext uri="{FF2B5EF4-FFF2-40B4-BE49-F238E27FC236}">
                    <a16:creationId xmlns:a16="http://schemas.microsoft.com/office/drawing/2014/main" id="{2D7A3A95-14BC-AABC-A6D2-FDC0C0BF8354}"/>
                  </a:ext>
                </a:extLst>
              </p:cNvPr>
              <p:cNvSpPr txBox="1"/>
              <p:nvPr/>
            </p:nvSpPr>
            <p:spPr>
              <a:xfrm>
                <a:off x="0" y="-47625"/>
                <a:ext cx="1005423" cy="2153042"/>
              </a:xfrm>
              <a:prstGeom prst="rect">
                <a:avLst/>
              </a:prstGeom>
            </p:spPr>
            <p:txBody>
              <a:bodyPr lIns="50800" tIns="50800" rIns="50800" bIns="50800" rtlCol="0" anchor="ctr"/>
              <a:lstStyle/>
              <a:p>
                <a:pPr algn="ctr">
                  <a:lnSpc>
                    <a:spcPts val="2340"/>
                  </a:lnSpc>
                </a:pPr>
                <a:endParaRPr/>
              </a:p>
            </p:txBody>
          </p:sp>
        </p:grpSp>
        <p:sp>
          <p:nvSpPr>
            <p:cNvPr id="476" name="Freeform 278">
              <a:extLst>
                <a:ext uri="{FF2B5EF4-FFF2-40B4-BE49-F238E27FC236}">
                  <a16:creationId xmlns:a16="http://schemas.microsoft.com/office/drawing/2014/main" id="{38401664-F88C-618A-A741-88EF3DA1BF92}"/>
                </a:ext>
              </a:extLst>
            </p:cNvPr>
            <p:cNvSpPr/>
            <p:nvPr/>
          </p:nvSpPr>
          <p:spPr>
            <a:xfrm>
              <a:off x="345184" y="605946"/>
              <a:ext cx="942673" cy="942673"/>
            </a:xfrm>
            <a:custGeom>
              <a:avLst/>
              <a:gdLst/>
              <a:ahLst/>
              <a:cxnLst/>
              <a:rect l="l" t="t" r="r" b="b"/>
              <a:pathLst>
                <a:path w="942673" h="942673">
                  <a:moveTo>
                    <a:pt x="0" y="0"/>
                  </a:moveTo>
                  <a:lnTo>
                    <a:pt x="942673" y="0"/>
                  </a:lnTo>
                  <a:lnTo>
                    <a:pt x="942673" y="942673"/>
                  </a:lnTo>
                  <a:lnTo>
                    <a:pt x="0" y="942673"/>
                  </a:lnTo>
                  <a:lnTo>
                    <a:pt x="0" y="0"/>
                  </a:lnTo>
                  <a:close/>
                </a:path>
              </a:pathLst>
            </a:custGeom>
            <a:blipFill>
              <a:blip>
                <a:extLst>
                  <a:ext uri="{96DAC541-7B7A-43D3-8B79-37D633B846F1}">
                    <asvg:svgBlip xmlns:asvg="http://schemas.microsoft.com/office/drawing/2016/SVG/main" r:embed="rId14"/>
                  </a:ext>
                </a:extLst>
              </a:blip>
              <a:stretch>
                <a:fillRect/>
              </a:stretch>
            </a:blipFill>
          </p:spPr>
          <p:txBody>
            <a:bodyPr/>
            <a:lstStyle/>
            <a:p>
              <a:endParaRPr lang="en-US"/>
            </a:p>
          </p:txBody>
        </p:sp>
        <p:sp>
          <p:nvSpPr>
            <p:cNvPr id="477" name="Freeform 279">
              <a:extLst>
                <a:ext uri="{FF2B5EF4-FFF2-40B4-BE49-F238E27FC236}">
                  <a16:creationId xmlns:a16="http://schemas.microsoft.com/office/drawing/2014/main" id="{235E8E37-3DD5-25AE-2233-1E4D939FE9C9}"/>
                </a:ext>
              </a:extLst>
            </p:cNvPr>
            <p:cNvSpPr/>
            <p:nvPr/>
          </p:nvSpPr>
          <p:spPr>
            <a:xfrm>
              <a:off x="607468" y="812658"/>
              <a:ext cx="418106" cy="529248"/>
            </a:xfrm>
            <a:custGeom>
              <a:avLst/>
              <a:gdLst/>
              <a:ahLst/>
              <a:cxnLst/>
              <a:rect l="l" t="t" r="r" b="b"/>
              <a:pathLst>
                <a:path w="418106" h="529248">
                  <a:moveTo>
                    <a:pt x="0" y="0"/>
                  </a:moveTo>
                  <a:lnTo>
                    <a:pt x="418106" y="0"/>
                  </a:lnTo>
                  <a:lnTo>
                    <a:pt x="418106" y="529248"/>
                  </a:lnTo>
                  <a:lnTo>
                    <a:pt x="0" y="529248"/>
                  </a:lnTo>
                  <a:lnTo>
                    <a:pt x="0" y="0"/>
                  </a:lnTo>
                  <a:close/>
                </a:path>
              </a:pathLst>
            </a:custGeom>
            <a:blipFill>
              <a:blip>
                <a:extLst>
                  <a:ext uri="{96DAC541-7B7A-43D3-8B79-37D633B846F1}">
                    <asvg:svgBlip xmlns:asvg="http://schemas.microsoft.com/office/drawing/2016/SVG/main" r:embed="rId15"/>
                  </a:ext>
                </a:extLst>
              </a:blip>
              <a:stretch>
                <a:fillRect/>
              </a:stretch>
            </a:blipFill>
          </p:spPr>
          <p:txBody>
            <a:bodyPr/>
            <a:lstStyle/>
            <a:p>
              <a:endParaRPr lang="en-US"/>
            </a:p>
          </p:txBody>
        </p:sp>
        <p:sp>
          <p:nvSpPr>
            <p:cNvPr id="478" name="Freeform 280">
              <a:extLst>
                <a:ext uri="{FF2B5EF4-FFF2-40B4-BE49-F238E27FC236}">
                  <a16:creationId xmlns:a16="http://schemas.microsoft.com/office/drawing/2014/main" id="{50C03D1D-57FC-AECB-F45E-D9A794F62258}"/>
                </a:ext>
              </a:extLst>
            </p:cNvPr>
            <p:cNvSpPr/>
            <p:nvPr/>
          </p:nvSpPr>
          <p:spPr>
            <a:xfrm>
              <a:off x="4020713" y="605946"/>
              <a:ext cx="942673" cy="942673"/>
            </a:xfrm>
            <a:custGeom>
              <a:avLst/>
              <a:gdLst/>
              <a:ahLst/>
              <a:cxnLst/>
              <a:rect l="l" t="t" r="r" b="b"/>
              <a:pathLst>
                <a:path w="942673" h="942673">
                  <a:moveTo>
                    <a:pt x="0" y="0"/>
                  </a:moveTo>
                  <a:lnTo>
                    <a:pt x="942672" y="0"/>
                  </a:lnTo>
                  <a:lnTo>
                    <a:pt x="942672" y="942673"/>
                  </a:lnTo>
                  <a:lnTo>
                    <a:pt x="0" y="942673"/>
                  </a:lnTo>
                  <a:lnTo>
                    <a:pt x="0" y="0"/>
                  </a:lnTo>
                  <a:close/>
                </a:path>
              </a:pathLst>
            </a:custGeom>
            <a:blipFill>
              <a:blip>
                <a:extLst>
                  <a:ext uri="{96DAC541-7B7A-43D3-8B79-37D633B846F1}">
                    <asvg:svgBlip xmlns:asvg="http://schemas.microsoft.com/office/drawing/2016/SVG/main" r:embed="rId8"/>
                  </a:ext>
                </a:extLst>
              </a:blip>
              <a:stretch>
                <a:fillRect/>
              </a:stretch>
            </a:blipFill>
          </p:spPr>
          <p:txBody>
            <a:bodyPr/>
            <a:lstStyle/>
            <a:p>
              <a:endParaRPr lang="en-US"/>
            </a:p>
          </p:txBody>
        </p:sp>
        <p:sp>
          <p:nvSpPr>
            <p:cNvPr id="479" name="Freeform 281">
              <a:extLst>
                <a:ext uri="{FF2B5EF4-FFF2-40B4-BE49-F238E27FC236}">
                  <a16:creationId xmlns:a16="http://schemas.microsoft.com/office/drawing/2014/main" id="{9674779A-3993-0AC2-6960-81A9E1618D3F}"/>
                </a:ext>
              </a:extLst>
            </p:cNvPr>
            <p:cNvSpPr/>
            <p:nvPr/>
          </p:nvSpPr>
          <p:spPr>
            <a:xfrm>
              <a:off x="4252646" y="795632"/>
              <a:ext cx="478806" cy="563301"/>
            </a:xfrm>
            <a:custGeom>
              <a:avLst/>
              <a:gdLst/>
              <a:ahLst/>
              <a:cxnLst/>
              <a:rect l="l" t="t" r="r" b="b"/>
              <a:pathLst>
                <a:path w="478806" h="563301">
                  <a:moveTo>
                    <a:pt x="0" y="0"/>
                  </a:moveTo>
                  <a:lnTo>
                    <a:pt x="478806" y="0"/>
                  </a:lnTo>
                  <a:lnTo>
                    <a:pt x="478806" y="563301"/>
                  </a:lnTo>
                  <a:lnTo>
                    <a:pt x="0" y="563301"/>
                  </a:lnTo>
                  <a:lnTo>
                    <a:pt x="0" y="0"/>
                  </a:lnTo>
                  <a:close/>
                </a:path>
              </a:pathLst>
            </a:custGeom>
            <a:blipFill>
              <a:blip>
                <a:extLst>
                  <a:ext uri="{96DAC541-7B7A-43D3-8B79-37D633B846F1}">
                    <asvg:svgBlip xmlns:asvg="http://schemas.microsoft.com/office/drawing/2016/SVG/main" r:embed="rId16"/>
                  </a:ext>
                </a:extLst>
              </a:blip>
              <a:stretch>
                <a:fillRect/>
              </a:stretch>
            </a:blipFill>
          </p:spPr>
          <p:txBody>
            <a:bodyPr/>
            <a:lstStyle/>
            <a:p>
              <a:endParaRPr lang="en-US"/>
            </a:p>
          </p:txBody>
        </p:sp>
        <p:grpSp>
          <p:nvGrpSpPr>
            <p:cNvPr id="480" name="Group 282">
              <a:extLst>
                <a:ext uri="{FF2B5EF4-FFF2-40B4-BE49-F238E27FC236}">
                  <a16:creationId xmlns:a16="http://schemas.microsoft.com/office/drawing/2014/main" id="{3D296740-5E60-33BF-4692-4724B8C86785}"/>
                </a:ext>
              </a:extLst>
            </p:cNvPr>
            <p:cNvGrpSpPr/>
            <p:nvPr/>
          </p:nvGrpSpPr>
          <p:grpSpPr>
            <a:xfrm>
              <a:off x="2913191" y="1850275"/>
              <a:ext cx="2318060" cy="798756"/>
              <a:chOff x="0" y="0"/>
              <a:chExt cx="2778550" cy="957431"/>
            </a:xfrm>
          </p:grpSpPr>
          <p:sp>
            <p:nvSpPr>
              <p:cNvPr id="666" name="Freeform 283">
                <a:extLst>
                  <a:ext uri="{FF2B5EF4-FFF2-40B4-BE49-F238E27FC236}">
                    <a16:creationId xmlns:a16="http://schemas.microsoft.com/office/drawing/2014/main" id="{5C6C9A45-4A60-8698-DF6B-0F5E11FD4606}"/>
                  </a:ext>
                </a:extLst>
              </p:cNvPr>
              <p:cNvSpPr/>
              <p:nvPr/>
            </p:nvSpPr>
            <p:spPr>
              <a:xfrm>
                <a:off x="0" y="0"/>
                <a:ext cx="2778550" cy="957431"/>
              </a:xfrm>
              <a:custGeom>
                <a:avLst/>
                <a:gdLst/>
                <a:ahLst/>
                <a:cxnLst/>
                <a:rect l="l" t="t" r="r" b="b"/>
                <a:pathLst>
                  <a:path w="2778550" h="957431">
                    <a:moveTo>
                      <a:pt x="0" y="0"/>
                    </a:moveTo>
                    <a:lnTo>
                      <a:pt x="2778550" y="0"/>
                    </a:lnTo>
                    <a:lnTo>
                      <a:pt x="2778550" y="957431"/>
                    </a:lnTo>
                    <a:lnTo>
                      <a:pt x="0" y="957431"/>
                    </a:lnTo>
                    <a:close/>
                  </a:path>
                </a:pathLst>
              </a:custGeom>
              <a:blipFill>
                <a:blip r:embed="rId3">
                  <a:alphaModFix amt="0"/>
                </a:blip>
                <a:stretch>
                  <a:fillRect t="-300064" r="-591094" b="-381525"/>
                </a:stretch>
              </a:blipFill>
            </p:spPr>
            <p:txBody>
              <a:bodyPr/>
              <a:lstStyle/>
              <a:p>
                <a:endParaRPr lang="en-US"/>
              </a:p>
            </p:txBody>
          </p:sp>
          <p:sp>
            <p:nvSpPr>
              <p:cNvPr id="667" name="TextBox 284">
                <a:extLst>
                  <a:ext uri="{FF2B5EF4-FFF2-40B4-BE49-F238E27FC236}">
                    <a16:creationId xmlns:a16="http://schemas.microsoft.com/office/drawing/2014/main" id="{37BA1736-3847-F6A5-6728-2DE807A9CC08}"/>
                  </a:ext>
                </a:extLst>
              </p:cNvPr>
              <p:cNvSpPr txBox="1"/>
              <p:nvPr/>
            </p:nvSpPr>
            <p:spPr>
              <a:xfrm>
                <a:off x="0" y="0"/>
                <a:ext cx="2778550" cy="957431"/>
              </a:xfrm>
              <a:prstGeom prst="rect">
                <a:avLst/>
              </a:prstGeom>
            </p:spPr>
            <p:txBody>
              <a:bodyPr lIns="0" tIns="0" rIns="0" bIns="0" rtlCol="0" anchor="ctr"/>
              <a:lstStyle/>
              <a:p>
                <a:pPr algn="l">
                  <a:lnSpc>
                    <a:spcPts val="1280"/>
                  </a:lnSpc>
                </a:pPr>
                <a:r>
                  <a:rPr lang="en-US" sz="1200" b="1">
                    <a:solidFill>
                      <a:srgbClr val="FFFFFF"/>
                    </a:solidFill>
                    <a:latin typeface="Arial Bold"/>
                    <a:ea typeface="Arial Bold"/>
                    <a:cs typeface="Arial Bold"/>
                    <a:sym typeface="Arial Bold"/>
                  </a:rPr>
                  <a:t>Friends of Friends</a:t>
                </a:r>
              </a:p>
            </p:txBody>
          </p:sp>
        </p:grpSp>
        <p:grpSp>
          <p:nvGrpSpPr>
            <p:cNvPr id="481" name="Group 285">
              <a:extLst>
                <a:ext uri="{FF2B5EF4-FFF2-40B4-BE49-F238E27FC236}">
                  <a16:creationId xmlns:a16="http://schemas.microsoft.com/office/drawing/2014/main" id="{030A93AC-D261-9431-423F-7FE73CB99190}"/>
                </a:ext>
              </a:extLst>
            </p:cNvPr>
            <p:cNvGrpSpPr/>
            <p:nvPr/>
          </p:nvGrpSpPr>
          <p:grpSpPr>
            <a:xfrm>
              <a:off x="377249" y="9549613"/>
              <a:ext cx="4854002" cy="1062208"/>
              <a:chOff x="0" y="0"/>
              <a:chExt cx="958815" cy="209819"/>
            </a:xfrm>
          </p:grpSpPr>
          <p:sp>
            <p:nvSpPr>
              <p:cNvPr id="664" name="Freeform 286">
                <a:extLst>
                  <a:ext uri="{FF2B5EF4-FFF2-40B4-BE49-F238E27FC236}">
                    <a16:creationId xmlns:a16="http://schemas.microsoft.com/office/drawing/2014/main" id="{7985CE1F-9D3F-8DB8-48EB-CBD796DA54D5}"/>
                  </a:ext>
                </a:extLst>
              </p:cNvPr>
              <p:cNvSpPr/>
              <p:nvPr/>
            </p:nvSpPr>
            <p:spPr>
              <a:xfrm>
                <a:off x="0" y="0"/>
                <a:ext cx="958815" cy="209819"/>
              </a:xfrm>
              <a:custGeom>
                <a:avLst/>
                <a:gdLst/>
                <a:ahLst/>
                <a:cxnLst/>
                <a:rect l="l" t="t" r="r" b="b"/>
                <a:pathLst>
                  <a:path w="958815" h="209819">
                    <a:moveTo>
                      <a:pt x="104909" y="0"/>
                    </a:moveTo>
                    <a:lnTo>
                      <a:pt x="853906" y="0"/>
                    </a:lnTo>
                    <a:cubicBezTo>
                      <a:pt x="881730" y="0"/>
                      <a:pt x="908414" y="11053"/>
                      <a:pt x="928088" y="30727"/>
                    </a:cubicBezTo>
                    <a:cubicBezTo>
                      <a:pt x="947762" y="50402"/>
                      <a:pt x="958815" y="77086"/>
                      <a:pt x="958815" y="104909"/>
                    </a:cubicBezTo>
                    <a:lnTo>
                      <a:pt x="958815" y="104909"/>
                    </a:lnTo>
                    <a:cubicBezTo>
                      <a:pt x="958815" y="132733"/>
                      <a:pt x="947762" y="159417"/>
                      <a:pt x="928088" y="179092"/>
                    </a:cubicBezTo>
                    <a:cubicBezTo>
                      <a:pt x="908414" y="198766"/>
                      <a:pt x="881730" y="209819"/>
                      <a:pt x="853906" y="209819"/>
                    </a:cubicBezTo>
                    <a:lnTo>
                      <a:pt x="104909" y="209819"/>
                    </a:lnTo>
                    <a:cubicBezTo>
                      <a:pt x="77086" y="209819"/>
                      <a:pt x="50402" y="198766"/>
                      <a:pt x="30727" y="179092"/>
                    </a:cubicBezTo>
                    <a:cubicBezTo>
                      <a:pt x="11053" y="159417"/>
                      <a:pt x="0" y="132733"/>
                      <a:pt x="0" y="104909"/>
                    </a:cubicBezTo>
                    <a:lnTo>
                      <a:pt x="0" y="104909"/>
                    </a:lnTo>
                    <a:cubicBezTo>
                      <a:pt x="0" y="77086"/>
                      <a:pt x="11053" y="50402"/>
                      <a:pt x="30727" y="30727"/>
                    </a:cubicBezTo>
                    <a:cubicBezTo>
                      <a:pt x="50402" y="11053"/>
                      <a:pt x="77086" y="0"/>
                      <a:pt x="104909" y="0"/>
                    </a:cubicBezTo>
                    <a:close/>
                  </a:path>
                </a:pathLst>
              </a:custGeom>
              <a:solidFill>
                <a:srgbClr val="2B2B2B"/>
              </a:solidFill>
            </p:spPr>
            <p:txBody>
              <a:bodyPr/>
              <a:lstStyle/>
              <a:p>
                <a:endParaRPr lang="en-US"/>
              </a:p>
            </p:txBody>
          </p:sp>
          <p:sp>
            <p:nvSpPr>
              <p:cNvPr id="665" name="TextBox 287">
                <a:extLst>
                  <a:ext uri="{FF2B5EF4-FFF2-40B4-BE49-F238E27FC236}">
                    <a16:creationId xmlns:a16="http://schemas.microsoft.com/office/drawing/2014/main" id="{528343CE-0044-630C-5ACD-7A5C9864D6DC}"/>
                  </a:ext>
                </a:extLst>
              </p:cNvPr>
              <p:cNvSpPr txBox="1"/>
              <p:nvPr/>
            </p:nvSpPr>
            <p:spPr>
              <a:xfrm>
                <a:off x="0" y="-47625"/>
                <a:ext cx="958815" cy="257444"/>
              </a:xfrm>
              <a:prstGeom prst="rect">
                <a:avLst/>
              </a:prstGeom>
            </p:spPr>
            <p:txBody>
              <a:bodyPr lIns="50800" tIns="50800" rIns="50800" bIns="50800" rtlCol="0" anchor="ctr"/>
              <a:lstStyle/>
              <a:p>
                <a:pPr algn="ctr">
                  <a:lnSpc>
                    <a:spcPts val="2340"/>
                  </a:lnSpc>
                </a:pPr>
                <a:endParaRPr/>
              </a:p>
            </p:txBody>
          </p:sp>
        </p:grpSp>
        <p:grpSp>
          <p:nvGrpSpPr>
            <p:cNvPr id="482" name="Group 288">
              <a:extLst>
                <a:ext uri="{FF2B5EF4-FFF2-40B4-BE49-F238E27FC236}">
                  <a16:creationId xmlns:a16="http://schemas.microsoft.com/office/drawing/2014/main" id="{080C2DDC-CA2D-54B4-B567-D02150C17D3F}"/>
                </a:ext>
              </a:extLst>
            </p:cNvPr>
            <p:cNvGrpSpPr/>
            <p:nvPr/>
          </p:nvGrpSpPr>
          <p:grpSpPr>
            <a:xfrm>
              <a:off x="1998789" y="605946"/>
              <a:ext cx="1578858" cy="957431"/>
              <a:chOff x="0" y="0"/>
              <a:chExt cx="1578858" cy="957431"/>
            </a:xfrm>
          </p:grpSpPr>
          <p:sp>
            <p:nvSpPr>
              <p:cNvPr id="662" name="Freeform 289">
                <a:extLst>
                  <a:ext uri="{FF2B5EF4-FFF2-40B4-BE49-F238E27FC236}">
                    <a16:creationId xmlns:a16="http://schemas.microsoft.com/office/drawing/2014/main" id="{AD7B58F4-1ED9-036E-70BA-C23E6759A446}"/>
                  </a:ext>
                </a:extLst>
              </p:cNvPr>
              <p:cNvSpPr/>
              <p:nvPr/>
            </p:nvSpPr>
            <p:spPr>
              <a:xfrm>
                <a:off x="0" y="0"/>
                <a:ext cx="1578858" cy="957431"/>
              </a:xfrm>
              <a:custGeom>
                <a:avLst/>
                <a:gdLst/>
                <a:ahLst/>
                <a:cxnLst/>
                <a:rect l="l" t="t" r="r" b="b"/>
                <a:pathLst>
                  <a:path w="1578858" h="957431">
                    <a:moveTo>
                      <a:pt x="0" y="0"/>
                    </a:moveTo>
                    <a:lnTo>
                      <a:pt x="1578858" y="0"/>
                    </a:lnTo>
                    <a:lnTo>
                      <a:pt x="1578858" y="957431"/>
                    </a:lnTo>
                    <a:lnTo>
                      <a:pt x="0" y="957431"/>
                    </a:lnTo>
                    <a:close/>
                  </a:path>
                </a:pathLst>
              </a:custGeom>
              <a:blipFill>
                <a:blip r:embed="rId3">
                  <a:alphaModFix amt="0"/>
                </a:blip>
                <a:stretch>
                  <a:fillRect t="-300064" r="-1116220" b="-381525"/>
                </a:stretch>
              </a:blipFill>
            </p:spPr>
            <p:txBody>
              <a:bodyPr/>
              <a:lstStyle/>
              <a:p>
                <a:endParaRPr lang="en-US"/>
              </a:p>
            </p:txBody>
          </p:sp>
          <p:sp>
            <p:nvSpPr>
              <p:cNvPr id="663" name="TextBox 290">
                <a:extLst>
                  <a:ext uri="{FF2B5EF4-FFF2-40B4-BE49-F238E27FC236}">
                    <a16:creationId xmlns:a16="http://schemas.microsoft.com/office/drawing/2014/main" id="{C8093362-8647-E4C1-CB8A-8F5AACCCF078}"/>
                  </a:ext>
                </a:extLst>
              </p:cNvPr>
              <p:cNvSpPr txBox="1"/>
              <p:nvPr/>
            </p:nvSpPr>
            <p:spPr>
              <a:xfrm>
                <a:off x="0" y="19050"/>
                <a:ext cx="1578858" cy="938381"/>
              </a:xfrm>
              <a:prstGeom prst="rect">
                <a:avLst/>
              </a:prstGeom>
            </p:spPr>
            <p:txBody>
              <a:bodyPr lIns="0" tIns="0" rIns="0" bIns="0" rtlCol="0" anchor="ctr"/>
              <a:lstStyle/>
              <a:p>
                <a:pPr algn="l">
                  <a:lnSpc>
                    <a:spcPts val="2240"/>
                  </a:lnSpc>
                </a:pPr>
                <a:r>
                  <a:rPr lang="en-US" sz="2100" b="1">
                    <a:solidFill>
                      <a:srgbClr val="FFFFFF"/>
                    </a:solidFill>
                    <a:latin typeface="Arial Bold"/>
                    <a:ea typeface="Arial Bold"/>
                    <a:cs typeface="Arial Bold"/>
                    <a:sym typeface="Arial Bold"/>
                  </a:rPr>
                  <a:t>BeReal.</a:t>
                </a:r>
              </a:p>
            </p:txBody>
          </p:sp>
        </p:grpSp>
        <p:sp>
          <p:nvSpPr>
            <p:cNvPr id="483" name="Freeform 291">
              <a:extLst>
                <a:ext uri="{FF2B5EF4-FFF2-40B4-BE49-F238E27FC236}">
                  <a16:creationId xmlns:a16="http://schemas.microsoft.com/office/drawing/2014/main" id="{C330A2B4-2A52-2504-2FED-C189873B6614}"/>
                </a:ext>
              </a:extLst>
            </p:cNvPr>
            <p:cNvSpPr/>
            <p:nvPr/>
          </p:nvSpPr>
          <p:spPr>
            <a:xfrm>
              <a:off x="713612" y="9888564"/>
              <a:ext cx="256494" cy="238539"/>
            </a:xfrm>
            <a:custGeom>
              <a:avLst/>
              <a:gdLst/>
              <a:ahLst/>
              <a:cxnLst/>
              <a:rect l="l" t="t" r="r" b="b"/>
              <a:pathLst>
                <a:path w="256494" h="238539">
                  <a:moveTo>
                    <a:pt x="0" y="0"/>
                  </a:moveTo>
                  <a:lnTo>
                    <a:pt x="256494" y="0"/>
                  </a:lnTo>
                  <a:lnTo>
                    <a:pt x="256494" y="238539"/>
                  </a:lnTo>
                  <a:lnTo>
                    <a:pt x="0" y="238539"/>
                  </a:lnTo>
                  <a:lnTo>
                    <a:pt x="0" y="0"/>
                  </a:lnTo>
                  <a:close/>
                </a:path>
              </a:pathLst>
            </a:custGeom>
            <a:blipFill>
              <a:blip>
                <a:extLst>
                  <a:ext uri="{96DAC541-7B7A-43D3-8B79-37D633B846F1}">
                    <asvg:svgBlip xmlns:asvg="http://schemas.microsoft.com/office/drawing/2016/SVG/main" r:embed="rId17"/>
                  </a:ext>
                </a:extLst>
              </a:blip>
              <a:stretch>
                <a:fillRect/>
              </a:stretch>
            </a:blipFill>
          </p:spPr>
          <p:txBody>
            <a:bodyPr/>
            <a:lstStyle/>
            <a:p>
              <a:endParaRPr lang="en-US"/>
            </a:p>
          </p:txBody>
        </p:sp>
        <p:sp>
          <p:nvSpPr>
            <p:cNvPr id="484" name="Freeform 292">
              <a:extLst>
                <a:ext uri="{FF2B5EF4-FFF2-40B4-BE49-F238E27FC236}">
                  <a16:creationId xmlns:a16="http://schemas.microsoft.com/office/drawing/2014/main" id="{2FEF3C5D-45A3-9212-82EE-715BAB0E545D}"/>
                </a:ext>
              </a:extLst>
            </p:cNvPr>
            <p:cNvSpPr/>
            <p:nvPr/>
          </p:nvSpPr>
          <p:spPr>
            <a:xfrm>
              <a:off x="1734675" y="9888564"/>
              <a:ext cx="265043" cy="238539"/>
            </a:xfrm>
            <a:custGeom>
              <a:avLst/>
              <a:gdLst/>
              <a:ahLst/>
              <a:cxnLst/>
              <a:rect l="l" t="t" r="r" b="b"/>
              <a:pathLst>
                <a:path w="265043" h="238539">
                  <a:moveTo>
                    <a:pt x="0" y="0"/>
                  </a:moveTo>
                  <a:lnTo>
                    <a:pt x="265043" y="0"/>
                  </a:lnTo>
                  <a:lnTo>
                    <a:pt x="265043" y="238539"/>
                  </a:lnTo>
                  <a:lnTo>
                    <a:pt x="0" y="238539"/>
                  </a:lnTo>
                  <a:lnTo>
                    <a:pt x="0" y="0"/>
                  </a:lnTo>
                  <a:close/>
                </a:path>
              </a:pathLst>
            </a:custGeom>
            <a:blipFill>
              <a:blip>
                <a:extLst>
                  <a:ext uri="{96DAC541-7B7A-43D3-8B79-37D633B846F1}">
                    <asvg:svgBlip xmlns:asvg="http://schemas.microsoft.com/office/drawing/2016/SVG/main" r:embed="rId18"/>
                  </a:ext>
                </a:extLst>
              </a:blip>
              <a:stretch>
                <a:fillRect/>
              </a:stretch>
            </a:blipFill>
          </p:spPr>
          <p:txBody>
            <a:bodyPr/>
            <a:lstStyle/>
            <a:p>
              <a:endParaRPr lang="en-US"/>
            </a:p>
          </p:txBody>
        </p:sp>
        <p:sp>
          <p:nvSpPr>
            <p:cNvPr id="485" name="Freeform 293">
              <a:extLst>
                <a:ext uri="{FF2B5EF4-FFF2-40B4-BE49-F238E27FC236}">
                  <a16:creationId xmlns:a16="http://schemas.microsoft.com/office/drawing/2014/main" id="{53E70E93-618E-B2C7-F486-2C6BBE0D746C}"/>
                </a:ext>
              </a:extLst>
            </p:cNvPr>
            <p:cNvSpPr/>
            <p:nvPr/>
          </p:nvSpPr>
          <p:spPr>
            <a:xfrm>
              <a:off x="3577647" y="9765887"/>
              <a:ext cx="371258" cy="373124"/>
            </a:xfrm>
            <a:custGeom>
              <a:avLst/>
              <a:gdLst/>
              <a:ahLst/>
              <a:cxnLst/>
              <a:rect l="l" t="t" r="r" b="b"/>
              <a:pathLst>
                <a:path w="371258" h="373124">
                  <a:moveTo>
                    <a:pt x="0" y="0"/>
                  </a:moveTo>
                  <a:lnTo>
                    <a:pt x="371258" y="0"/>
                  </a:lnTo>
                  <a:lnTo>
                    <a:pt x="371258" y="373124"/>
                  </a:lnTo>
                  <a:lnTo>
                    <a:pt x="0" y="373124"/>
                  </a:lnTo>
                  <a:lnTo>
                    <a:pt x="0" y="0"/>
                  </a:lnTo>
                  <a:close/>
                </a:path>
              </a:pathLst>
            </a:custGeom>
            <a:blipFill>
              <a:blip>
                <a:extLst>
                  <a:ext uri="{96DAC541-7B7A-43D3-8B79-37D633B846F1}">
                    <asvg:svgBlip xmlns:asvg="http://schemas.microsoft.com/office/drawing/2016/SVG/main" r:embed="rId19"/>
                  </a:ext>
                </a:extLst>
              </a:blip>
              <a:stretch>
                <a:fillRect/>
              </a:stretch>
            </a:blipFill>
          </p:spPr>
          <p:txBody>
            <a:bodyPr/>
            <a:lstStyle/>
            <a:p>
              <a:endParaRPr lang="en-US"/>
            </a:p>
          </p:txBody>
        </p:sp>
        <p:grpSp>
          <p:nvGrpSpPr>
            <p:cNvPr id="486" name="Group 294">
              <a:extLst>
                <a:ext uri="{FF2B5EF4-FFF2-40B4-BE49-F238E27FC236}">
                  <a16:creationId xmlns:a16="http://schemas.microsoft.com/office/drawing/2014/main" id="{79B41EC6-79D4-59A0-0283-EC3B18C784DD}"/>
                </a:ext>
              </a:extLst>
            </p:cNvPr>
            <p:cNvGrpSpPr/>
            <p:nvPr/>
          </p:nvGrpSpPr>
          <p:grpSpPr>
            <a:xfrm>
              <a:off x="4535455" y="9735621"/>
              <a:ext cx="433657" cy="433657"/>
              <a:chOff x="0" y="0"/>
              <a:chExt cx="812800" cy="812800"/>
            </a:xfrm>
          </p:grpSpPr>
          <p:sp>
            <p:nvSpPr>
              <p:cNvPr id="661" name="Freeform 295">
                <a:extLst>
                  <a:ext uri="{FF2B5EF4-FFF2-40B4-BE49-F238E27FC236}">
                    <a16:creationId xmlns:a16="http://schemas.microsoft.com/office/drawing/2014/main" id="{18CFA0CE-53BA-E3AE-4F3F-0840779384F8}"/>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a:blip r:embed="rId20"/>
                <a:stretch>
                  <a:fillRect l="-155679" t="-15600" b="-54426"/>
                </a:stretch>
              </a:blipFill>
              <a:ln w="38100" cap="sq">
                <a:solidFill>
                  <a:srgbClr val="000000"/>
                </a:solidFill>
                <a:prstDash val="solid"/>
                <a:miter/>
              </a:ln>
            </p:spPr>
            <p:txBody>
              <a:bodyPr/>
              <a:lstStyle/>
              <a:p>
                <a:endParaRPr lang="en-US"/>
              </a:p>
            </p:txBody>
          </p:sp>
        </p:grpSp>
        <p:sp>
          <p:nvSpPr>
            <p:cNvPr id="487" name="Freeform 296">
              <a:extLst>
                <a:ext uri="{FF2B5EF4-FFF2-40B4-BE49-F238E27FC236}">
                  <a16:creationId xmlns:a16="http://schemas.microsoft.com/office/drawing/2014/main" id="{62F8E04B-7ED4-DE5A-37B2-5C630E8E9BE8}"/>
                </a:ext>
              </a:extLst>
            </p:cNvPr>
            <p:cNvSpPr/>
            <p:nvPr/>
          </p:nvSpPr>
          <p:spPr>
            <a:xfrm>
              <a:off x="2464456" y="9747998"/>
              <a:ext cx="620166" cy="620166"/>
            </a:xfrm>
            <a:custGeom>
              <a:avLst/>
              <a:gdLst/>
              <a:ahLst/>
              <a:cxnLst/>
              <a:rect l="l" t="t" r="r" b="b"/>
              <a:pathLst>
                <a:path w="620166" h="620166">
                  <a:moveTo>
                    <a:pt x="0" y="0"/>
                  </a:moveTo>
                  <a:lnTo>
                    <a:pt x="620166" y="0"/>
                  </a:lnTo>
                  <a:lnTo>
                    <a:pt x="620166" y="620167"/>
                  </a:lnTo>
                  <a:lnTo>
                    <a:pt x="0" y="620167"/>
                  </a:lnTo>
                  <a:lnTo>
                    <a:pt x="0" y="0"/>
                  </a:lnTo>
                  <a:close/>
                </a:path>
              </a:pathLst>
            </a:custGeom>
            <a:blipFill>
              <a:blip>
                <a:extLst>
                  <a:ext uri="{96DAC541-7B7A-43D3-8B79-37D633B846F1}">
                    <asvg:svgBlip xmlns:asvg="http://schemas.microsoft.com/office/drawing/2016/SVG/main" r:embed="rId12"/>
                  </a:ext>
                </a:extLst>
              </a:blip>
              <a:stretch>
                <a:fillRect/>
              </a:stretch>
            </a:blipFill>
          </p:spPr>
          <p:txBody>
            <a:bodyPr/>
            <a:lstStyle/>
            <a:p>
              <a:endParaRPr lang="en-US"/>
            </a:p>
          </p:txBody>
        </p:sp>
        <p:sp>
          <p:nvSpPr>
            <p:cNvPr id="488" name="Freeform 297">
              <a:extLst>
                <a:ext uri="{FF2B5EF4-FFF2-40B4-BE49-F238E27FC236}">
                  <a16:creationId xmlns:a16="http://schemas.microsoft.com/office/drawing/2014/main" id="{C23664F7-8E72-CBD5-6AF1-575EF33132DB}"/>
                </a:ext>
              </a:extLst>
            </p:cNvPr>
            <p:cNvSpPr/>
            <p:nvPr/>
          </p:nvSpPr>
          <p:spPr>
            <a:xfrm>
              <a:off x="2567835" y="9889618"/>
              <a:ext cx="413408" cy="336928"/>
            </a:xfrm>
            <a:custGeom>
              <a:avLst/>
              <a:gdLst/>
              <a:ahLst/>
              <a:cxnLst/>
              <a:rect l="l" t="t" r="r" b="b"/>
              <a:pathLst>
                <a:path w="413408" h="336928">
                  <a:moveTo>
                    <a:pt x="0" y="0"/>
                  </a:moveTo>
                  <a:lnTo>
                    <a:pt x="413408" y="0"/>
                  </a:lnTo>
                  <a:lnTo>
                    <a:pt x="413408" y="336927"/>
                  </a:lnTo>
                  <a:lnTo>
                    <a:pt x="0" y="336927"/>
                  </a:lnTo>
                  <a:lnTo>
                    <a:pt x="0" y="0"/>
                  </a:lnTo>
                  <a:close/>
                </a:path>
              </a:pathLst>
            </a:custGeom>
            <a:blipFill>
              <a:blip>
                <a:extLst>
                  <a:ext uri="{96DAC541-7B7A-43D3-8B79-37D633B846F1}">
                    <asvg:svgBlip xmlns:asvg="http://schemas.microsoft.com/office/drawing/2016/SVG/main" r:embed="rId21"/>
                  </a:ext>
                </a:extLst>
              </a:blip>
              <a:stretch>
                <a:fillRect/>
              </a:stretch>
            </a:blipFill>
          </p:spPr>
          <p:txBody>
            <a:bodyPr/>
            <a:lstStyle/>
            <a:p>
              <a:endParaRPr lang="en-US"/>
            </a:p>
          </p:txBody>
        </p:sp>
        <p:sp>
          <p:nvSpPr>
            <p:cNvPr id="489" name="TextBox 298">
              <a:extLst>
                <a:ext uri="{FF2B5EF4-FFF2-40B4-BE49-F238E27FC236}">
                  <a16:creationId xmlns:a16="http://schemas.microsoft.com/office/drawing/2014/main" id="{A9B4157D-1A47-F7BE-D29A-2429C2601A81}"/>
                </a:ext>
              </a:extLst>
            </p:cNvPr>
            <p:cNvSpPr txBox="1"/>
            <p:nvPr/>
          </p:nvSpPr>
          <p:spPr>
            <a:xfrm>
              <a:off x="455305" y="10265151"/>
              <a:ext cx="773108" cy="186978"/>
            </a:xfrm>
            <a:prstGeom prst="rect">
              <a:avLst/>
            </a:prstGeom>
          </p:spPr>
          <p:txBody>
            <a:bodyPr lIns="0" tIns="0" rIns="0" bIns="0" rtlCol="0" anchor="t">
              <a:spAutoFit/>
            </a:bodyPr>
            <a:lstStyle/>
            <a:p>
              <a:pPr algn="ctr">
                <a:lnSpc>
                  <a:spcPts val="1020"/>
                </a:lnSpc>
                <a:spcBef>
                  <a:spcPct val="0"/>
                </a:spcBef>
              </a:pPr>
              <a:r>
                <a:rPr lang="en-US" sz="850" b="1">
                  <a:solidFill>
                    <a:srgbClr val="FFFFFF"/>
                  </a:solidFill>
                  <a:latin typeface="Calibri (MS) Bold"/>
                  <a:ea typeface="Calibri (MS) Bold"/>
                  <a:cs typeface="Calibri (MS) Bold"/>
                  <a:sym typeface="Calibri (MS) Bold"/>
                </a:rPr>
                <a:t>Home</a:t>
              </a:r>
            </a:p>
          </p:txBody>
        </p:sp>
        <p:sp>
          <p:nvSpPr>
            <p:cNvPr id="490" name="TextBox 299">
              <a:extLst>
                <a:ext uri="{FF2B5EF4-FFF2-40B4-BE49-F238E27FC236}">
                  <a16:creationId xmlns:a16="http://schemas.microsoft.com/office/drawing/2014/main" id="{12B3F255-D080-13BA-0EC4-6779D3919B11}"/>
                </a:ext>
              </a:extLst>
            </p:cNvPr>
            <p:cNvSpPr txBox="1"/>
            <p:nvPr/>
          </p:nvSpPr>
          <p:spPr>
            <a:xfrm>
              <a:off x="1480643" y="10265151"/>
              <a:ext cx="773108" cy="186978"/>
            </a:xfrm>
            <a:prstGeom prst="rect">
              <a:avLst/>
            </a:prstGeom>
          </p:spPr>
          <p:txBody>
            <a:bodyPr lIns="0" tIns="0" rIns="0" bIns="0" rtlCol="0" anchor="t">
              <a:spAutoFit/>
            </a:bodyPr>
            <a:lstStyle/>
            <a:p>
              <a:pPr algn="ctr">
                <a:lnSpc>
                  <a:spcPts val="1020"/>
                </a:lnSpc>
                <a:spcBef>
                  <a:spcPct val="0"/>
                </a:spcBef>
              </a:pPr>
              <a:r>
                <a:rPr lang="en-US" sz="850" b="1">
                  <a:solidFill>
                    <a:srgbClr val="FFFFFF"/>
                  </a:solidFill>
                  <a:latin typeface="Calibri (MS) Bold"/>
                  <a:ea typeface="Calibri (MS) Bold"/>
                  <a:cs typeface="Calibri (MS) Bold"/>
                  <a:sym typeface="Calibri (MS) Bold"/>
                </a:rPr>
                <a:t>Chat</a:t>
              </a:r>
            </a:p>
          </p:txBody>
        </p:sp>
        <p:sp>
          <p:nvSpPr>
            <p:cNvPr id="491" name="TextBox 300">
              <a:extLst>
                <a:ext uri="{FF2B5EF4-FFF2-40B4-BE49-F238E27FC236}">
                  <a16:creationId xmlns:a16="http://schemas.microsoft.com/office/drawing/2014/main" id="{81639B49-3F22-B525-A7B0-F7EDD6BA6203}"/>
                </a:ext>
              </a:extLst>
            </p:cNvPr>
            <p:cNvSpPr txBox="1"/>
            <p:nvPr/>
          </p:nvSpPr>
          <p:spPr>
            <a:xfrm>
              <a:off x="3376722" y="10265151"/>
              <a:ext cx="773108" cy="186978"/>
            </a:xfrm>
            <a:prstGeom prst="rect">
              <a:avLst/>
            </a:prstGeom>
          </p:spPr>
          <p:txBody>
            <a:bodyPr lIns="0" tIns="0" rIns="0" bIns="0" rtlCol="0" anchor="t">
              <a:spAutoFit/>
            </a:bodyPr>
            <a:lstStyle/>
            <a:p>
              <a:pPr algn="ctr">
                <a:lnSpc>
                  <a:spcPts val="1020"/>
                </a:lnSpc>
                <a:spcBef>
                  <a:spcPct val="0"/>
                </a:spcBef>
              </a:pPr>
              <a:r>
                <a:rPr lang="en-US" sz="850" b="1">
                  <a:solidFill>
                    <a:srgbClr val="FFFFFF"/>
                  </a:solidFill>
                  <a:latin typeface="Calibri (MS) Bold"/>
                  <a:ea typeface="Calibri (MS) Bold"/>
                  <a:cs typeface="Calibri (MS) Bold"/>
                  <a:sym typeface="Calibri (MS) Bold"/>
                </a:rPr>
                <a:t>Memories</a:t>
              </a:r>
            </a:p>
          </p:txBody>
        </p:sp>
        <p:sp>
          <p:nvSpPr>
            <p:cNvPr id="492" name="TextBox 301">
              <a:extLst>
                <a:ext uri="{FF2B5EF4-FFF2-40B4-BE49-F238E27FC236}">
                  <a16:creationId xmlns:a16="http://schemas.microsoft.com/office/drawing/2014/main" id="{444878C5-4AAA-9E36-75DB-689D48076447}"/>
                </a:ext>
              </a:extLst>
            </p:cNvPr>
            <p:cNvSpPr txBox="1"/>
            <p:nvPr/>
          </p:nvSpPr>
          <p:spPr>
            <a:xfrm>
              <a:off x="4365730" y="10265151"/>
              <a:ext cx="773108" cy="186978"/>
            </a:xfrm>
            <a:prstGeom prst="rect">
              <a:avLst/>
            </a:prstGeom>
          </p:spPr>
          <p:txBody>
            <a:bodyPr lIns="0" tIns="0" rIns="0" bIns="0" rtlCol="0" anchor="t">
              <a:spAutoFit/>
            </a:bodyPr>
            <a:lstStyle/>
            <a:p>
              <a:pPr algn="ctr">
                <a:lnSpc>
                  <a:spcPts val="1020"/>
                </a:lnSpc>
                <a:spcBef>
                  <a:spcPct val="0"/>
                </a:spcBef>
              </a:pPr>
              <a:r>
                <a:rPr lang="en-US" sz="850" b="1">
                  <a:solidFill>
                    <a:srgbClr val="FFFFFF"/>
                  </a:solidFill>
                  <a:latin typeface="Calibri (MS) Bold"/>
                  <a:ea typeface="Calibri (MS) Bold"/>
                  <a:cs typeface="Calibri (MS) Bold"/>
                  <a:sym typeface="Calibri (MS) Bold"/>
                </a:rPr>
                <a:t>Profile</a:t>
              </a:r>
            </a:p>
          </p:txBody>
        </p:sp>
        <p:grpSp>
          <p:nvGrpSpPr>
            <p:cNvPr id="493" name="Group 302">
              <a:extLst>
                <a:ext uri="{FF2B5EF4-FFF2-40B4-BE49-F238E27FC236}">
                  <a16:creationId xmlns:a16="http://schemas.microsoft.com/office/drawing/2014/main" id="{C8FA1C40-7D8A-20AB-0052-78F628612088}"/>
                </a:ext>
              </a:extLst>
            </p:cNvPr>
            <p:cNvGrpSpPr/>
            <p:nvPr/>
          </p:nvGrpSpPr>
          <p:grpSpPr>
            <a:xfrm>
              <a:off x="251597" y="2804708"/>
              <a:ext cx="1588850" cy="613535"/>
              <a:chOff x="0" y="0"/>
              <a:chExt cx="313847" cy="121192"/>
            </a:xfrm>
          </p:grpSpPr>
          <p:sp>
            <p:nvSpPr>
              <p:cNvPr id="659" name="Freeform 303">
                <a:extLst>
                  <a:ext uri="{FF2B5EF4-FFF2-40B4-BE49-F238E27FC236}">
                    <a16:creationId xmlns:a16="http://schemas.microsoft.com/office/drawing/2014/main" id="{92C473E7-C5C0-2C5B-9FB6-DA2C2E411EF9}"/>
                  </a:ext>
                </a:extLst>
              </p:cNvPr>
              <p:cNvSpPr/>
              <p:nvPr/>
            </p:nvSpPr>
            <p:spPr>
              <a:xfrm>
                <a:off x="0" y="0"/>
                <a:ext cx="313847" cy="121192"/>
              </a:xfrm>
              <a:custGeom>
                <a:avLst/>
                <a:gdLst/>
                <a:ahLst/>
                <a:cxnLst/>
                <a:rect l="l" t="t" r="r" b="b"/>
                <a:pathLst>
                  <a:path w="313847" h="121192">
                    <a:moveTo>
                      <a:pt x="60596" y="0"/>
                    </a:moveTo>
                    <a:lnTo>
                      <a:pt x="253251" y="0"/>
                    </a:lnTo>
                    <a:cubicBezTo>
                      <a:pt x="286717" y="0"/>
                      <a:pt x="313847" y="27130"/>
                      <a:pt x="313847" y="60596"/>
                    </a:cubicBezTo>
                    <a:lnTo>
                      <a:pt x="313847" y="60596"/>
                    </a:lnTo>
                    <a:cubicBezTo>
                      <a:pt x="313847" y="76667"/>
                      <a:pt x="307463" y="92080"/>
                      <a:pt x="296099" y="103444"/>
                    </a:cubicBezTo>
                    <a:cubicBezTo>
                      <a:pt x="284735" y="114808"/>
                      <a:pt x="269322" y="121192"/>
                      <a:pt x="253251" y="121192"/>
                    </a:cubicBezTo>
                    <a:lnTo>
                      <a:pt x="60596" y="121192"/>
                    </a:lnTo>
                    <a:cubicBezTo>
                      <a:pt x="44525" y="121192"/>
                      <a:pt x="29112" y="114808"/>
                      <a:pt x="17748" y="103444"/>
                    </a:cubicBezTo>
                    <a:cubicBezTo>
                      <a:pt x="6384" y="92080"/>
                      <a:pt x="0" y="76667"/>
                      <a:pt x="0" y="60596"/>
                    </a:cubicBezTo>
                    <a:lnTo>
                      <a:pt x="0" y="60596"/>
                    </a:lnTo>
                    <a:cubicBezTo>
                      <a:pt x="0" y="44525"/>
                      <a:pt x="6384" y="29112"/>
                      <a:pt x="17748" y="17748"/>
                    </a:cubicBezTo>
                    <a:cubicBezTo>
                      <a:pt x="29112" y="6384"/>
                      <a:pt x="44525" y="0"/>
                      <a:pt x="60596" y="0"/>
                    </a:cubicBezTo>
                    <a:close/>
                  </a:path>
                </a:pathLst>
              </a:custGeom>
              <a:solidFill>
                <a:srgbClr val="FFFFFF"/>
              </a:solidFill>
            </p:spPr>
            <p:txBody>
              <a:bodyPr/>
              <a:lstStyle/>
              <a:p>
                <a:endParaRPr lang="en-US"/>
              </a:p>
            </p:txBody>
          </p:sp>
          <p:sp>
            <p:nvSpPr>
              <p:cNvPr id="660" name="TextBox 304">
                <a:extLst>
                  <a:ext uri="{FF2B5EF4-FFF2-40B4-BE49-F238E27FC236}">
                    <a16:creationId xmlns:a16="http://schemas.microsoft.com/office/drawing/2014/main" id="{722F1A90-1880-3D5F-9B1C-33763B801469}"/>
                  </a:ext>
                </a:extLst>
              </p:cNvPr>
              <p:cNvSpPr txBox="1"/>
              <p:nvPr/>
            </p:nvSpPr>
            <p:spPr>
              <a:xfrm>
                <a:off x="0" y="-47625"/>
                <a:ext cx="313847" cy="168817"/>
              </a:xfrm>
              <a:prstGeom prst="rect">
                <a:avLst/>
              </a:prstGeom>
            </p:spPr>
            <p:txBody>
              <a:bodyPr lIns="50800" tIns="50800" rIns="50800" bIns="50800" rtlCol="0" anchor="ctr"/>
              <a:lstStyle/>
              <a:p>
                <a:pPr algn="ctr">
                  <a:lnSpc>
                    <a:spcPts val="2340"/>
                  </a:lnSpc>
                </a:pPr>
                <a:endParaRPr/>
              </a:p>
            </p:txBody>
          </p:sp>
        </p:grpSp>
        <p:grpSp>
          <p:nvGrpSpPr>
            <p:cNvPr id="494" name="Group 305">
              <a:extLst>
                <a:ext uri="{FF2B5EF4-FFF2-40B4-BE49-F238E27FC236}">
                  <a16:creationId xmlns:a16="http://schemas.microsoft.com/office/drawing/2014/main" id="{B462D17B-6193-C5CD-5637-DB57ACE34C2B}"/>
                </a:ext>
              </a:extLst>
            </p:cNvPr>
            <p:cNvGrpSpPr/>
            <p:nvPr/>
          </p:nvGrpSpPr>
          <p:grpSpPr>
            <a:xfrm>
              <a:off x="816521" y="1929613"/>
              <a:ext cx="1578858" cy="798756"/>
              <a:chOff x="0" y="0"/>
              <a:chExt cx="1892503" cy="957431"/>
            </a:xfrm>
          </p:grpSpPr>
          <p:sp>
            <p:nvSpPr>
              <p:cNvPr id="657" name="Freeform 306">
                <a:extLst>
                  <a:ext uri="{FF2B5EF4-FFF2-40B4-BE49-F238E27FC236}">
                    <a16:creationId xmlns:a16="http://schemas.microsoft.com/office/drawing/2014/main" id="{75BB583B-1755-E1D9-6505-7E454EA5D19C}"/>
                  </a:ext>
                </a:extLst>
              </p:cNvPr>
              <p:cNvSpPr/>
              <p:nvPr/>
            </p:nvSpPr>
            <p:spPr>
              <a:xfrm>
                <a:off x="0" y="0"/>
                <a:ext cx="1892503" cy="957431"/>
              </a:xfrm>
              <a:custGeom>
                <a:avLst/>
                <a:gdLst/>
                <a:ahLst/>
                <a:cxnLst/>
                <a:rect l="l" t="t" r="r" b="b"/>
                <a:pathLst>
                  <a:path w="1892503" h="957431">
                    <a:moveTo>
                      <a:pt x="0" y="0"/>
                    </a:moveTo>
                    <a:lnTo>
                      <a:pt x="1892503" y="0"/>
                    </a:lnTo>
                    <a:lnTo>
                      <a:pt x="1892503" y="957431"/>
                    </a:lnTo>
                    <a:lnTo>
                      <a:pt x="0" y="957431"/>
                    </a:lnTo>
                    <a:close/>
                  </a:path>
                </a:pathLst>
              </a:custGeom>
              <a:blipFill>
                <a:blip r:embed="rId3">
                  <a:alphaModFix amt="0"/>
                </a:blip>
                <a:stretch>
                  <a:fillRect t="-300064" r="-914656" b="-381525"/>
                </a:stretch>
              </a:blipFill>
            </p:spPr>
            <p:txBody>
              <a:bodyPr/>
              <a:lstStyle/>
              <a:p>
                <a:endParaRPr lang="en-US"/>
              </a:p>
            </p:txBody>
          </p:sp>
          <p:sp>
            <p:nvSpPr>
              <p:cNvPr id="658" name="TextBox 307">
                <a:extLst>
                  <a:ext uri="{FF2B5EF4-FFF2-40B4-BE49-F238E27FC236}">
                    <a16:creationId xmlns:a16="http://schemas.microsoft.com/office/drawing/2014/main" id="{65A214D7-EAB6-C26C-8864-B9C137B45E61}"/>
                  </a:ext>
                </a:extLst>
              </p:cNvPr>
              <p:cNvSpPr txBox="1"/>
              <p:nvPr/>
            </p:nvSpPr>
            <p:spPr>
              <a:xfrm>
                <a:off x="0" y="0"/>
                <a:ext cx="1892503" cy="957431"/>
              </a:xfrm>
              <a:prstGeom prst="rect">
                <a:avLst/>
              </a:prstGeom>
            </p:spPr>
            <p:txBody>
              <a:bodyPr lIns="0" tIns="0" rIns="0" bIns="0" rtlCol="0" anchor="ctr"/>
              <a:lstStyle/>
              <a:p>
                <a:pPr algn="l">
                  <a:lnSpc>
                    <a:spcPts val="1280"/>
                  </a:lnSpc>
                </a:pPr>
                <a:r>
                  <a:rPr lang="en-US" sz="1200" b="1">
                    <a:solidFill>
                      <a:srgbClr val="FFFFFF"/>
                    </a:solidFill>
                    <a:latin typeface="Arial Bold"/>
                    <a:ea typeface="Arial Bold"/>
                    <a:cs typeface="Arial Bold"/>
                    <a:sym typeface="Arial Bold"/>
                  </a:rPr>
                  <a:t>My Friends</a:t>
                </a:r>
              </a:p>
            </p:txBody>
          </p:sp>
        </p:grpSp>
        <p:grpSp>
          <p:nvGrpSpPr>
            <p:cNvPr id="495" name="Group 308">
              <a:extLst>
                <a:ext uri="{FF2B5EF4-FFF2-40B4-BE49-F238E27FC236}">
                  <a16:creationId xmlns:a16="http://schemas.microsoft.com/office/drawing/2014/main" id="{2C0A82FB-C288-DA67-7B19-00B541B1E748}"/>
                </a:ext>
              </a:extLst>
            </p:cNvPr>
            <p:cNvGrpSpPr/>
            <p:nvPr/>
          </p:nvGrpSpPr>
          <p:grpSpPr>
            <a:xfrm>
              <a:off x="582024" y="2797176"/>
              <a:ext cx="1023926" cy="628600"/>
              <a:chOff x="0" y="0"/>
              <a:chExt cx="1559557" cy="957431"/>
            </a:xfrm>
          </p:grpSpPr>
          <p:sp>
            <p:nvSpPr>
              <p:cNvPr id="655" name="Freeform 309">
                <a:extLst>
                  <a:ext uri="{FF2B5EF4-FFF2-40B4-BE49-F238E27FC236}">
                    <a16:creationId xmlns:a16="http://schemas.microsoft.com/office/drawing/2014/main" id="{A25D3074-5D1D-717A-BE1A-B0D113656EF1}"/>
                  </a:ext>
                </a:extLst>
              </p:cNvPr>
              <p:cNvSpPr/>
              <p:nvPr/>
            </p:nvSpPr>
            <p:spPr>
              <a:xfrm>
                <a:off x="0" y="0"/>
                <a:ext cx="1559557" cy="957431"/>
              </a:xfrm>
              <a:custGeom>
                <a:avLst/>
                <a:gdLst/>
                <a:ahLst/>
                <a:cxnLst/>
                <a:rect l="l" t="t" r="r" b="b"/>
                <a:pathLst>
                  <a:path w="1559557" h="957431">
                    <a:moveTo>
                      <a:pt x="0" y="0"/>
                    </a:moveTo>
                    <a:lnTo>
                      <a:pt x="1559557" y="0"/>
                    </a:lnTo>
                    <a:lnTo>
                      <a:pt x="1559557" y="957431"/>
                    </a:lnTo>
                    <a:lnTo>
                      <a:pt x="0" y="957431"/>
                    </a:lnTo>
                    <a:close/>
                  </a:path>
                </a:pathLst>
              </a:custGeom>
              <a:blipFill>
                <a:blip r:embed="rId3">
                  <a:alphaModFix amt="0"/>
                </a:blip>
                <a:stretch>
                  <a:fillRect t="-300064" r="-1131272" b="-381525"/>
                </a:stretch>
              </a:blipFill>
            </p:spPr>
            <p:txBody>
              <a:bodyPr/>
              <a:lstStyle/>
              <a:p>
                <a:endParaRPr lang="en-US"/>
              </a:p>
            </p:txBody>
          </p:sp>
          <p:sp>
            <p:nvSpPr>
              <p:cNvPr id="656" name="TextBox 310">
                <a:extLst>
                  <a:ext uri="{FF2B5EF4-FFF2-40B4-BE49-F238E27FC236}">
                    <a16:creationId xmlns:a16="http://schemas.microsoft.com/office/drawing/2014/main" id="{75A7DF3E-925D-B026-7C91-DED6B31895DC}"/>
                  </a:ext>
                </a:extLst>
              </p:cNvPr>
              <p:cNvSpPr txBox="1"/>
              <p:nvPr/>
            </p:nvSpPr>
            <p:spPr>
              <a:xfrm>
                <a:off x="0" y="0"/>
                <a:ext cx="1559557" cy="957431"/>
              </a:xfrm>
              <a:prstGeom prst="rect">
                <a:avLst/>
              </a:prstGeom>
            </p:spPr>
            <p:txBody>
              <a:bodyPr lIns="0" tIns="0" rIns="0" bIns="0" rtlCol="0" anchor="ctr"/>
              <a:lstStyle/>
              <a:p>
                <a:pPr algn="ctr">
                  <a:lnSpc>
                    <a:spcPts val="1280"/>
                  </a:lnSpc>
                </a:pPr>
                <a:r>
                  <a:rPr lang="en-US" sz="1200" b="1">
                    <a:solidFill>
                      <a:srgbClr val="000000"/>
                    </a:solidFill>
                    <a:latin typeface="Arial Bold"/>
                    <a:ea typeface="Arial Bold"/>
                    <a:cs typeface="Arial Bold"/>
                    <a:sym typeface="Arial Bold"/>
                  </a:rPr>
                  <a:t>Today</a:t>
                </a:r>
              </a:p>
            </p:txBody>
          </p:sp>
        </p:grpSp>
        <p:grpSp>
          <p:nvGrpSpPr>
            <p:cNvPr id="496" name="Group 311">
              <a:extLst>
                <a:ext uri="{FF2B5EF4-FFF2-40B4-BE49-F238E27FC236}">
                  <a16:creationId xmlns:a16="http://schemas.microsoft.com/office/drawing/2014/main" id="{D2F86E5B-54CA-8463-224C-30756BE93D71}"/>
                </a:ext>
              </a:extLst>
            </p:cNvPr>
            <p:cNvGrpSpPr/>
            <p:nvPr/>
          </p:nvGrpSpPr>
          <p:grpSpPr>
            <a:xfrm>
              <a:off x="1991405" y="2797176"/>
              <a:ext cx="1588850" cy="613535"/>
              <a:chOff x="0" y="0"/>
              <a:chExt cx="313847" cy="121192"/>
            </a:xfrm>
          </p:grpSpPr>
          <p:sp>
            <p:nvSpPr>
              <p:cNvPr id="653" name="Freeform 312">
                <a:extLst>
                  <a:ext uri="{FF2B5EF4-FFF2-40B4-BE49-F238E27FC236}">
                    <a16:creationId xmlns:a16="http://schemas.microsoft.com/office/drawing/2014/main" id="{A946DA2C-81BF-041F-9EA4-8665466879B6}"/>
                  </a:ext>
                </a:extLst>
              </p:cNvPr>
              <p:cNvSpPr/>
              <p:nvPr/>
            </p:nvSpPr>
            <p:spPr>
              <a:xfrm>
                <a:off x="0" y="0"/>
                <a:ext cx="313847" cy="121192"/>
              </a:xfrm>
              <a:custGeom>
                <a:avLst/>
                <a:gdLst/>
                <a:ahLst/>
                <a:cxnLst/>
                <a:rect l="l" t="t" r="r" b="b"/>
                <a:pathLst>
                  <a:path w="313847" h="121192">
                    <a:moveTo>
                      <a:pt x="60596" y="0"/>
                    </a:moveTo>
                    <a:lnTo>
                      <a:pt x="253251" y="0"/>
                    </a:lnTo>
                    <a:cubicBezTo>
                      <a:pt x="286717" y="0"/>
                      <a:pt x="313847" y="27130"/>
                      <a:pt x="313847" y="60596"/>
                    </a:cubicBezTo>
                    <a:lnTo>
                      <a:pt x="313847" y="60596"/>
                    </a:lnTo>
                    <a:cubicBezTo>
                      <a:pt x="313847" y="76667"/>
                      <a:pt x="307463" y="92080"/>
                      <a:pt x="296099" y="103444"/>
                    </a:cubicBezTo>
                    <a:cubicBezTo>
                      <a:pt x="284735" y="114808"/>
                      <a:pt x="269322" y="121192"/>
                      <a:pt x="253251" y="121192"/>
                    </a:cubicBezTo>
                    <a:lnTo>
                      <a:pt x="60596" y="121192"/>
                    </a:lnTo>
                    <a:cubicBezTo>
                      <a:pt x="44525" y="121192"/>
                      <a:pt x="29112" y="114808"/>
                      <a:pt x="17748" y="103444"/>
                    </a:cubicBezTo>
                    <a:cubicBezTo>
                      <a:pt x="6384" y="92080"/>
                      <a:pt x="0" y="76667"/>
                      <a:pt x="0" y="60596"/>
                    </a:cubicBezTo>
                    <a:lnTo>
                      <a:pt x="0" y="60596"/>
                    </a:lnTo>
                    <a:cubicBezTo>
                      <a:pt x="0" y="44525"/>
                      <a:pt x="6384" y="29112"/>
                      <a:pt x="17748" y="17748"/>
                    </a:cubicBezTo>
                    <a:cubicBezTo>
                      <a:pt x="29112" y="6384"/>
                      <a:pt x="44525" y="0"/>
                      <a:pt x="60596" y="0"/>
                    </a:cubicBezTo>
                    <a:close/>
                  </a:path>
                </a:pathLst>
              </a:custGeom>
              <a:solidFill>
                <a:srgbClr val="363535"/>
              </a:solidFill>
            </p:spPr>
            <p:txBody>
              <a:bodyPr/>
              <a:lstStyle/>
              <a:p>
                <a:endParaRPr lang="en-US"/>
              </a:p>
            </p:txBody>
          </p:sp>
          <p:sp>
            <p:nvSpPr>
              <p:cNvPr id="654" name="TextBox 313">
                <a:extLst>
                  <a:ext uri="{FF2B5EF4-FFF2-40B4-BE49-F238E27FC236}">
                    <a16:creationId xmlns:a16="http://schemas.microsoft.com/office/drawing/2014/main" id="{9E1BA76E-CE66-F279-9FB0-662AF7C6A11D}"/>
                  </a:ext>
                </a:extLst>
              </p:cNvPr>
              <p:cNvSpPr txBox="1"/>
              <p:nvPr/>
            </p:nvSpPr>
            <p:spPr>
              <a:xfrm>
                <a:off x="0" y="-47625"/>
                <a:ext cx="313847" cy="168817"/>
              </a:xfrm>
              <a:prstGeom prst="rect">
                <a:avLst/>
              </a:prstGeom>
            </p:spPr>
            <p:txBody>
              <a:bodyPr lIns="50800" tIns="50800" rIns="50800" bIns="50800" rtlCol="0" anchor="ctr"/>
              <a:lstStyle/>
              <a:p>
                <a:pPr algn="ctr">
                  <a:lnSpc>
                    <a:spcPts val="2340"/>
                  </a:lnSpc>
                </a:pPr>
                <a:endParaRPr/>
              </a:p>
            </p:txBody>
          </p:sp>
        </p:grpSp>
        <p:grpSp>
          <p:nvGrpSpPr>
            <p:cNvPr id="497" name="Group 314">
              <a:extLst>
                <a:ext uri="{FF2B5EF4-FFF2-40B4-BE49-F238E27FC236}">
                  <a16:creationId xmlns:a16="http://schemas.microsoft.com/office/drawing/2014/main" id="{6DA83731-369D-3730-FE66-64424A51DAEB}"/>
                </a:ext>
              </a:extLst>
            </p:cNvPr>
            <p:cNvGrpSpPr/>
            <p:nvPr/>
          </p:nvGrpSpPr>
          <p:grpSpPr>
            <a:xfrm>
              <a:off x="2323047" y="2797176"/>
              <a:ext cx="930342" cy="628600"/>
              <a:chOff x="0" y="0"/>
              <a:chExt cx="1417019" cy="957431"/>
            </a:xfrm>
          </p:grpSpPr>
          <p:sp>
            <p:nvSpPr>
              <p:cNvPr id="651" name="Freeform 315">
                <a:extLst>
                  <a:ext uri="{FF2B5EF4-FFF2-40B4-BE49-F238E27FC236}">
                    <a16:creationId xmlns:a16="http://schemas.microsoft.com/office/drawing/2014/main" id="{EDDD0911-414C-75E1-9F55-24FD6D7859F1}"/>
                  </a:ext>
                </a:extLst>
              </p:cNvPr>
              <p:cNvSpPr/>
              <p:nvPr/>
            </p:nvSpPr>
            <p:spPr>
              <a:xfrm>
                <a:off x="0" y="0"/>
                <a:ext cx="1417019" cy="957431"/>
              </a:xfrm>
              <a:custGeom>
                <a:avLst/>
                <a:gdLst/>
                <a:ahLst/>
                <a:cxnLst/>
                <a:rect l="l" t="t" r="r" b="b"/>
                <a:pathLst>
                  <a:path w="1417019" h="957431">
                    <a:moveTo>
                      <a:pt x="0" y="0"/>
                    </a:moveTo>
                    <a:lnTo>
                      <a:pt x="1417019" y="0"/>
                    </a:lnTo>
                    <a:lnTo>
                      <a:pt x="1417019" y="957431"/>
                    </a:lnTo>
                    <a:lnTo>
                      <a:pt x="0" y="957431"/>
                    </a:lnTo>
                    <a:close/>
                  </a:path>
                </a:pathLst>
              </a:custGeom>
              <a:blipFill>
                <a:blip r:embed="rId3">
                  <a:alphaModFix amt="0"/>
                </a:blip>
                <a:stretch>
                  <a:fillRect t="-300064" r="-1255126" b="-381525"/>
                </a:stretch>
              </a:blipFill>
            </p:spPr>
            <p:txBody>
              <a:bodyPr/>
              <a:lstStyle/>
              <a:p>
                <a:endParaRPr lang="en-US"/>
              </a:p>
            </p:txBody>
          </p:sp>
          <p:sp>
            <p:nvSpPr>
              <p:cNvPr id="652" name="TextBox 316">
                <a:extLst>
                  <a:ext uri="{FF2B5EF4-FFF2-40B4-BE49-F238E27FC236}">
                    <a16:creationId xmlns:a16="http://schemas.microsoft.com/office/drawing/2014/main" id="{B24302B9-FEDF-A803-2443-F39F667A6B8A}"/>
                  </a:ext>
                </a:extLst>
              </p:cNvPr>
              <p:cNvSpPr txBox="1"/>
              <p:nvPr/>
            </p:nvSpPr>
            <p:spPr>
              <a:xfrm>
                <a:off x="0" y="0"/>
                <a:ext cx="1417019" cy="957431"/>
              </a:xfrm>
              <a:prstGeom prst="rect">
                <a:avLst/>
              </a:prstGeom>
            </p:spPr>
            <p:txBody>
              <a:bodyPr lIns="0" tIns="0" rIns="0" bIns="0" rtlCol="0" anchor="ctr"/>
              <a:lstStyle/>
              <a:p>
                <a:pPr algn="ctr">
                  <a:lnSpc>
                    <a:spcPts val="1280"/>
                  </a:lnSpc>
                </a:pPr>
                <a:r>
                  <a:rPr lang="en-US" sz="1200" b="1">
                    <a:solidFill>
                      <a:srgbClr val="FFFFFF"/>
                    </a:solidFill>
                    <a:latin typeface="Arial Bold"/>
                    <a:ea typeface="Arial Bold"/>
                    <a:cs typeface="Arial Bold"/>
                    <a:sym typeface="Arial Bold"/>
                  </a:rPr>
                  <a:t>Board</a:t>
                </a:r>
              </a:p>
            </p:txBody>
          </p:sp>
        </p:grpSp>
        <p:grpSp>
          <p:nvGrpSpPr>
            <p:cNvPr id="498" name="Group 317">
              <a:extLst>
                <a:ext uri="{FF2B5EF4-FFF2-40B4-BE49-F238E27FC236}">
                  <a16:creationId xmlns:a16="http://schemas.microsoft.com/office/drawing/2014/main" id="{2789D64F-9A85-E11A-F44A-E38B167FAFB8}"/>
                </a:ext>
              </a:extLst>
            </p:cNvPr>
            <p:cNvGrpSpPr/>
            <p:nvPr/>
          </p:nvGrpSpPr>
          <p:grpSpPr>
            <a:xfrm>
              <a:off x="3731214" y="2789644"/>
              <a:ext cx="1588850" cy="613535"/>
              <a:chOff x="0" y="0"/>
              <a:chExt cx="313847" cy="121192"/>
            </a:xfrm>
          </p:grpSpPr>
          <p:sp>
            <p:nvSpPr>
              <p:cNvPr id="649" name="Freeform 318">
                <a:extLst>
                  <a:ext uri="{FF2B5EF4-FFF2-40B4-BE49-F238E27FC236}">
                    <a16:creationId xmlns:a16="http://schemas.microsoft.com/office/drawing/2014/main" id="{7686CDDB-53BC-2D48-3EA4-1EBB73506E8B}"/>
                  </a:ext>
                </a:extLst>
              </p:cNvPr>
              <p:cNvSpPr/>
              <p:nvPr/>
            </p:nvSpPr>
            <p:spPr>
              <a:xfrm>
                <a:off x="0" y="0"/>
                <a:ext cx="313847" cy="121192"/>
              </a:xfrm>
              <a:custGeom>
                <a:avLst/>
                <a:gdLst/>
                <a:ahLst/>
                <a:cxnLst/>
                <a:rect l="l" t="t" r="r" b="b"/>
                <a:pathLst>
                  <a:path w="313847" h="121192">
                    <a:moveTo>
                      <a:pt x="60596" y="0"/>
                    </a:moveTo>
                    <a:lnTo>
                      <a:pt x="253251" y="0"/>
                    </a:lnTo>
                    <a:cubicBezTo>
                      <a:pt x="286717" y="0"/>
                      <a:pt x="313847" y="27130"/>
                      <a:pt x="313847" y="60596"/>
                    </a:cubicBezTo>
                    <a:lnTo>
                      <a:pt x="313847" y="60596"/>
                    </a:lnTo>
                    <a:cubicBezTo>
                      <a:pt x="313847" y="76667"/>
                      <a:pt x="307463" y="92080"/>
                      <a:pt x="296099" y="103444"/>
                    </a:cubicBezTo>
                    <a:cubicBezTo>
                      <a:pt x="284735" y="114808"/>
                      <a:pt x="269322" y="121192"/>
                      <a:pt x="253251" y="121192"/>
                    </a:cubicBezTo>
                    <a:lnTo>
                      <a:pt x="60596" y="121192"/>
                    </a:lnTo>
                    <a:cubicBezTo>
                      <a:pt x="44525" y="121192"/>
                      <a:pt x="29112" y="114808"/>
                      <a:pt x="17748" y="103444"/>
                    </a:cubicBezTo>
                    <a:cubicBezTo>
                      <a:pt x="6384" y="92080"/>
                      <a:pt x="0" y="76667"/>
                      <a:pt x="0" y="60596"/>
                    </a:cubicBezTo>
                    <a:lnTo>
                      <a:pt x="0" y="60596"/>
                    </a:lnTo>
                    <a:cubicBezTo>
                      <a:pt x="0" y="44525"/>
                      <a:pt x="6384" y="29112"/>
                      <a:pt x="17748" y="17748"/>
                    </a:cubicBezTo>
                    <a:cubicBezTo>
                      <a:pt x="29112" y="6384"/>
                      <a:pt x="44525" y="0"/>
                      <a:pt x="60596" y="0"/>
                    </a:cubicBezTo>
                    <a:close/>
                  </a:path>
                </a:pathLst>
              </a:custGeom>
              <a:solidFill>
                <a:srgbClr val="363535"/>
              </a:solidFill>
            </p:spPr>
            <p:txBody>
              <a:bodyPr/>
              <a:lstStyle/>
              <a:p>
                <a:endParaRPr lang="en-US"/>
              </a:p>
            </p:txBody>
          </p:sp>
          <p:sp>
            <p:nvSpPr>
              <p:cNvPr id="650" name="TextBox 319">
                <a:extLst>
                  <a:ext uri="{FF2B5EF4-FFF2-40B4-BE49-F238E27FC236}">
                    <a16:creationId xmlns:a16="http://schemas.microsoft.com/office/drawing/2014/main" id="{A5E4B2DE-E3D0-CC3F-B3B9-6934C8BC7A73}"/>
                  </a:ext>
                </a:extLst>
              </p:cNvPr>
              <p:cNvSpPr txBox="1"/>
              <p:nvPr/>
            </p:nvSpPr>
            <p:spPr>
              <a:xfrm>
                <a:off x="0" y="-47625"/>
                <a:ext cx="313847" cy="168817"/>
              </a:xfrm>
              <a:prstGeom prst="rect">
                <a:avLst/>
              </a:prstGeom>
            </p:spPr>
            <p:txBody>
              <a:bodyPr lIns="50800" tIns="50800" rIns="50800" bIns="50800" rtlCol="0" anchor="ctr"/>
              <a:lstStyle/>
              <a:p>
                <a:pPr algn="ctr">
                  <a:lnSpc>
                    <a:spcPts val="2340"/>
                  </a:lnSpc>
                </a:pPr>
                <a:endParaRPr/>
              </a:p>
            </p:txBody>
          </p:sp>
        </p:grpSp>
        <p:grpSp>
          <p:nvGrpSpPr>
            <p:cNvPr id="499" name="Group 320">
              <a:extLst>
                <a:ext uri="{FF2B5EF4-FFF2-40B4-BE49-F238E27FC236}">
                  <a16:creationId xmlns:a16="http://schemas.microsoft.com/office/drawing/2014/main" id="{700752BA-3796-0E3F-80BD-75EE12A21A28}"/>
                </a:ext>
              </a:extLst>
            </p:cNvPr>
            <p:cNvGrpSpPr/>
            <p:nvPr/>
          </p:nvGrpSpPr>
          <p:grpSpPr>
            <a:xfrm>
              <a:off x="4062855" y="2804708"/>
              <a:ext cx="928093" cy="628600"/>
              <a:chOff x="0" y="0"/>
              <a:chExt cx="1413593" cy="957431"/>
            </a:xfrm>
          </p:grpSpPr>
          <p:sp>
            <p:nvSpPr>
              <p:cNvPr id="647" name="Freeform 321">
                <a:extLst>
                  <a:ext uri="{FF2B5EF4-FFF2-40B4-BE49-F238E27FC236}">
                    <a16:creationId xmlns:a16="http://schemas.microsoft.com/office/drawing/2014/main" id="{F03101FD-54A4-3709-F14E-2F497F65A162}"/>
                  </a:ext>
                </a:extLst>
              </p:cNvPr>
              <p:cNvSpPr/>
              <p:nvPr/>
            </p:nvSpPr>
            <p:spPr>
              <a:xfrm>
                <a:off x="0" y="0"/>
                <a:ext cx="1413593" cy="957431"/>
              </a:xfrm>
              <a:custGeom>
                <a:avLst/>
                <a:gdLst/>
                <a:ahLst/>
                <a:cxnLst/>
                <a:rect l="l" t="t" r="r" b="b"/>
                <a:pathLst>
                  <a:path w="1413593" h="957431">
                    <a:moveTo>
                      <a:pt x="0" y="0"/>
                    </a:moveTo>
                    <a:lnTo>
                      <a:pt x="1413593" y="0"/>
                    </a:lnTo>
                    <a:lnTo>
                      <a:pt x="1413593" y="957431"/>
                    </a:lnTo>
                    <a:lnTo>
                      <a:pt x="0" y="957431"/>
                    </a:lnTo>
                    <a:close/>
                  </a:path>
                </a:pathLst>
              </a:custGeom>
              <a:blipFill>
                <a:blip r:embed="rId3">
                  <a:alphaModFix amt="0"/>
                </a:blip>
                <a:stretch>
                  <a:fillRect t="-300064" r="-1258411" b="-381525"/>
                </a:stretch>
              </a:blipFill>
            </p:spPr>
            <p:txBody>
              <a:bodyPr/>
              <a:lstStyle/>
              <a:p>
                <a:endParaRPr lang="en-US"/>
              </a:p>
            </p:txBody>
          </p:sp>
          <p:sp>
            <p:nvSpPr>
              <p:cNvPr id="648" name="TextBox 322">
                <a:extLst>
                  <a:ext uri="{FF2B5EF4-FFF2-40B4-BE49-F238E27FC236}">
                    <a16:creationId xmlns:a16="http://schemas.microsoft.com/office/drawing/2014/main" id="{16F5E072-EF7C-E6C0-D7D9-493DD06D7BBE}"/>
                  </a:ext>
                </a:extLst>
              </p:cNvPr>
              <p:cNvSpPr txBox="1"/>
              <p:nvPr/>
            </p:nvSpPr>
            <p:spPr>
              <a:xfrm>
                <a:off x="0" y="0"/>
                <a:ext cx="1413593" cy="957431"/>
              </a:xfrm>
              <a:prstGeom prst="rect">
                <a:avLst/>
              </a:prstGeom>
            </p:spPr>
            <p:txBody>
              <a:bodyPr lIns="0" tIns="0" rIns="0" bIns="0" rtlCol="0" anchor="ctr"/>
              <a:lstStyle/>
              <a:p>
                <a:pPr algn="ctr">
                  <a:lnSpc>
                    <a:spcPts val="1280"/>
                  </a:lnSpc>
                </a:pPr>
                <a:r>
                  <a:rPr lang="en-US" sz="1200" b="1">
                    <a:solidFill>
                      <a:srgbClr val="FFFFFF"/>
                    </a:solidFill>
                    <a:latin typeface="Arial Bold"/>
                    <a:ea typeface="Arial Bold"/>
                    <a:cs typeface="Arial Bold"/>
                    <a:sym typeface="Arial Bold"/>
                  </a:rPr>
                  <a:t>Passport</a:t>
                </a:r>
              </a:p>
            </p:txBody>
          </p:sp>
        </p:grpSp>
        <p:grpSp>
          <p:nvGrpSpPr>
            <p:cNvPr id="500" name="Group 323">
              <a:extLst>
                <a:ext uri="{FF2B5EF4-FFF2-40B4-BE49-F238E27FC236}">
                  <a16:creationId xmlns:a16="http://schemas.microsoft.com/office/drawing/2014/main" id="{FE11459B-038B-CC5E-6D45-5B30A8E9683D}"/>
                </a:ext>
              </a:extLst>
            </p:cNvPr>
            <p:cNvGrpSpPr/>
            <p:nvPr/>
          </p:nvGrpSpPr>
          <p:grpSpPr>
            <a:xfrm>
              <a:off x="333920" y="3527760"/>
              <a:ext cx="2781418" cy="798756"/>
              <a:chOff x="0" y="0"/>
              <a:chExt cx="3333956" cy="957431"/>
            </a:xfrm>
          </p:grpSpPr>
          <p:sp>
            <p:nvSpPr>
              <p:cNvPr id="645" name="Freeform 324">
                <a:extLst>
                  <a:ext uri="{FF2B5EF4-FFF2-40B4-BE49-F238E27FC236}">
                    <a16:creationId xmlns:a16="http://schemas.microsoft.com/office/drawing/2014/main" id="{B1CED8AB-313A-1228-77FE-EFD747B38E7C}"/>
                  </a:ext>
                </a:extLst>
              </p:cNvPr>
              <p:cNvSpPr/>
              <p:nvPr/>
            </p:nvSpPr>
            <p:spPr>
              <a:xfrm>
                <a:off x="0" y="0"/>
                <a:ext cx="3333956" cy="957431"/>
              </a:xfrm>
              <a:custGeom>
                <a:avLst/>
                <a:gdLst/>
                <a:ahLst/>
                <a:cxnLst/>
                <a:rect l="l" t="t" r="r" b="b"/>
                <a:pathLst>
                  <a:path w="3333956" h="957431">
                    <a:moveTo>
                      <a:pt x="0" y="0"/>
                    </a:moveTo>
                    <a:lnTo>
                      <a:pt x="3333956" y="0"/>
                    </a:lnTo>
                    <a:lnTo>
                      <a:pt x="3333956" y="957431"/>
                    </a:lnTo>
                    <a:lnTo>
                      <a:pt x="0" y="957431"/>
                    </a:lnTo>
                    <a:close/>
                  </a:path>
                </a:pathLst>
              </a:custGeom>
              <a:blipFill>
                <a:blip r:embed="rId3">
                  <a:alphaModFix amt="0"/>
                </a:blip>
                <a:stretch>
                  <a:fillRect t="-300064" r="-475964" b="-381525"/>
                </a:stretch>
              </a:blipFill>
            </p:spPr>
            <p:txBody>
              <a:bodyPr/>
              <a:lstStyle/>
              <a:p>
                <a:endParaRPr lang="en-US"/>
              </a:p>
            </p:txBody>
          </p:sp>
          <p:sp>
            <p:nvSpPr>
              <p:cNvPr id="646" name="TextBox 325">
                <a:extLst>
                  <a:ext uri="{FF2B5EF4-FFF2-40B4-BE49-F238E27FC236}">
                    <a16:creationId xmlns:a16="http://schemas.microsoft.com/office/drawing/2014/main" id="{3AA202BE-F394-9349-D6E8-BAE215E31526}"/>
                  </a:ext>
                </a:extLst>
              </p:cNvPr>
              <p:cNvSpPr txBox="1"/>
              <p:nvPr/>
            </p:nvSpPr>
            <p:spPr>
              <a:xfrm>
                <a:off x="0" y="0"/>
                <a:ext cx="3333956" cy="957431"/>
              </a:xfrm>
              <a:prstGeom prst="rect">
                <a:avLst/>
              </a:prstGeom>
            </p:spPr>
            <p:txBody>
              <a:bodyPr lIns="0" tIns="0" rIns="0" bIns="0" rtlCol="0" anchor="ctr"/>
              <a:lstStyle/>
              <a:p>
                <a:pPr algn="l">
                  <a:lnSpc>
                    <a:spcPts val="1813"/>
                  </a:lnSpc>
                </a:pPr>
                <a:r>
                  <a:rPr lang="en-US" sz="1700" b="1">
                    <a:solidFill>
                      <a:srgbClr val="FFFFFF"/>
                    </a:solidFill>
                    <a:latin typeface="Arial Bold"/>
                    <a:ea typeface="Arial Bold"/>
                    <a:cs typeface="Arial Bold"/>
                    <a:sym typeface="Arial Bold"/>
                  </a:rPr>
                  <a:t>October 2026 Board</a:t>
                </a:r>
              </a:p>
            </p:txBody>
          </p:sp>
        </p:grpSp>
        <p:grpSp>
          <p:nvGrpSpPr>
            <p:cNvPr id="501" name="Group 326">
              <a:extLst>
                <a:ext uri="{FF2B5EF4-FFF2-40B4-BE49-F238E27FC236}">
                  <a16:creationId xmlns:a16="http://schemas.microsoft.com/office/drawing/2014/main" id="{BBE4511A-4C3F-910E-20B9-72CD22C2131A}"/>
                </a:ext>
              </a:extLst>
            </p:cNvPr>
            <p:cNvGrpSpPr/>
            <p:nvPr/>
          </p:nvGrpSpPr>
          <p:grpSpPr>
            <a:xfrm>
              <a:off x="3866747" y="3727448"/>
              <a:ext cx="1259734" cy="399378"/>
              <a:chOff x="0" y="0"/>
              <a:chExt cx="1509985" cy="478716"/>
            </a:xfrm>
          </p:grpSpPr>
          <p:sp>
            <p:nvSpPr>
              <p:cNvPr id="643" name="Freeform 327">
                <a:extLst>
                  <a:ext uri="{FF2B5EF4-FFF2-40B4-BE49-F238E27FC236}">
                    <a16:creationId xmlns:a16="http://schemas.microsoft.com/office/drawing/2014/main" id="{166D8103-6092-90A9-E650-CD4FD98915FF}"/>
                  </a:ext>
                </a:extLst>
              </p:cNvPr>
              <p:cNvSpPr/>
              <p:nvPr/>
            </p:nvSpPr>
            <p:spPr>
              <a:xfrm>
                <a:off x="0" y="0"/>
                <a:ext cx="1509985" cy="478716"/>
              </a:xfrm>
              <a:custGeom>
                <a:avLst/>
                <a:gdLst/>
                <a:ahLst/>
                <a:cxnLst/>
                <a:rect l="l" t="t" r="r" b="b"/>
                <a:pathLst>
                  <a:path w="1509985" h="478716">
                    <a:moveTo>
                      <a:pt x="0" y="0"/>
                    </a:moveTo>
                    <a:lnTo>
                      <a:pt x="1509985" y="0"/>
                    </a:lnTo>
                    <a:lnTo>
                      <a:pt x="1509985" y="478716"/>
                    </a:lnTo>
                    <a:lnTo>
                      <a:pt x="0" y="478716"/>
                    </a:lnTo>
                    <a:close/>
                  </a:path>
                </a:pathLst>
              </a:custGeom>
              <a:blipFill>
                <a:blip r:embed="rId3">
                  <a:alphaModFix amt="0"/>
                </a:blip>
                <a:stretch>
                  <a:fillRect t="-600129" r="-1171694" b="-863051"/>
                </a:stretch>
              </a:blipFill>
            </p:spPr>
            <p:txBody>
              <a:bodyPr/>
              <a:lstStyle/>
              <a:p>
                <a:endParaRPr lang="en-US"/>
              </a:p>
            </p:txBody>
          </p:sp>
          <p:sp>
            <p:nvSpPr>
              <p:cNvPr id="644" name="TextBox 328">
                <a:extLst>
                  <a:ext uri="{FF2B5EF4-FFF2-40B4-BE49-F238E27FC236}">
                    <a16:creationId xmlns:a16="http://schemas.microsoft.com/office/drawing/2014/main" id="{01041195-1AD4-C189-70EC-57065975EC7F}"/>
                  </a:ext>
                </a:extLst>
              </p:cNvPr>
              <p:cNvSpPr txBox="1"/>
              <p:nvPr/>
            </p:nvSpPr>
            <p:spPr>
              <a:xfrm>
                <a:off x="0" y="0"/>
                <a:ext cx="1509985" cy="478716"/>
              </a:xfrm>
              <a:prstGeom prst="rect">
                <a:avLst/>
              </a:prstGeom>
            </p:spPr>
            <p:txBody>
              <a:bodyPr lIns="0" tIns="0" rIns="0" bIns="0" rtlCol="0" anchor="ctr"/>
              <a:lstStyle/>
              <a:p>
                <a:pPr algn="l">
                  <a:lnSpc>
                    <a:spcPts val="1280"/>
                  </a:lnSpc>
                </a:pPr>
                <a:r>
                  <a:rPr lang="en-US" sz="1200">
                    <a:solidFill>
                      <a:srgbClr val="FFFFFF"/>
                    </a:solidFill>
                    <a:latin typeface="Arial"/>
                    <a:ea typeface="Arial"/>
                    <a:cs typeface="Arial"/>
                    <a:sym typeface="Arial"/>
                  </a:rPr>
                  <a:t>6 FRIENDS</a:t>
                </a:r>
              </a:p>
            </p:txBody>
          </p:sp>
        </p:grpSp>
        <p:grpSp>
          <p:nvGrpSpPr>
            <p:cNvPr id="502" name="Group 329">
              <a:extLst>
                <a:ext uri="{FF2B5EF4-FFF2-40B4-BE49-F238E27FC236}">
                  <a16:creationId xmlns:a16="http://schemas.microsoft.com/office/drawing/2014/main" id="{DC3858D3-A6AA-6478-E3E2-F7A7B8FD84BF}"/>
                </a:ext>
              </a:extLst>
            </p:cNvPr>
            <p:cNvGrpSpPr/>
            <p:nvPr/>
          </p:nvGrpSpPr>
          <p:grpSpPr>
            <a:xfrm>
              <a:off x="333920" y="4326515"/>
              <a:ext cx="4850948" cy="914564"/>
              <a:chOff x="0" y="0"/>
              <a:chExt cx="958212" cy="180655"/>
            </a:xfrm>
          </p:grpSpPr>
          <p:sp>
            <p:nvSpPr>
              <p:cNvPr id="641" name="Freeform 330">
                <a:extLst>
                  <a:ext uri="{FF2B5EF4-FFF2-40B4-BE49-F238E27FC236}">
                    <a16:creationId xmlns:a16="http://schemas.microsoft.com/office/drawing/2014/main" id="{CB73B44C-B0B5-A68F-10BD-EE54C234F4B8}"/>
                  </a:ext>
                </a:extLst>
              </p:cNvPr>
              <p:cNvSpPr/>
              <p:nvPr/>
            </p:nvSpPr>
            <p:spPr>
              <a:xfrm>
                <a:off x="0" y="0"/>
                <a:ext cx="958212" cy="180655"/>
              </a:xfrm>
              <a:custGeom>
                <a:avLst/>
                <a:gdLst/>
                <a:ahLst/>
                <a:cxnLst/>
                <a:rect l="l" t="t" r="r" b="b"/>
                <a:pathLst>
                  <a:path w="958212" h="180655">
                    <a:moveTo>
                      <a:pt x="90327" y="0"/>
                    </a:moveTo>
                    <a:lnTo>
                      <a:pt x="867885" y="0"/>
                    </a:lnTo>
                    <a:cubicBezTo>
                      <a:pt x="891841" y="0"/>
                      <a:pt x="914816" y="9517"/>
                      <a:pt x="931756" y="26456"/>
                    </a:cubicBezTo>
                    <a:cubicBezTo>
                      <a:pt x="948695" y="43396"/>
                      <a:pt x="958212" y="66371"/>
                      <a:pt x="958212" y="90327"/>
                    </a:cubicBezTo>
                    <a:lnTo>
                      <a:pt x="958212" y="90327"/>
                    </a:lnTo>
                    <a:cubicBezTo>
                      <a:pt x="958212" y="140214"/>
                      <a:pt x="917771" y="180655"/>
                      <a:pt x="867885" y="180655"/>
                    </a:cubicBezTo>
                    <a:lnTo>
                      <a:pt x="90327" y="180655"/>
                    </a:lnTo>
                    <a:cubicBezTo>
                      <a:pt x="40441" y="180655"/>
                      <a:pt x="0" y="140214"/>
                      <a:pt x="0" y="90327"/>
                    </a:cubicBezTo>
                    <a:lnTo>
                      <a:pt x="0" y="90327"/>
                    </a:lnTo>
                    <a:cubicBezTo>
                      <a:pt x="0" y="40441"/>
                      <a:pt x="40441" y="0"/>
                      <a:pt x="90327" y="0"/>
                    </a:cubicBezTo>
                    <a:close/>
                  </a:path>
                </a:pathLst>
              </a:custGeom>
              <a:solidFill>
                <a:srgbClr val="363535"/>
              </a:solidFill>
            </p:spPr>
            <p:txBody>
              <a:bodyPr/>
              <a:lstStyle/>
              <a:p>
                <a:endParaRPr lang="en-US"/>
              </a:p>
            </p:txBody>
          </p:sp>
          <p:sp>
            <p:nvSpPr>
              <p:cNvPr id="642" name="TextBox 331">
                <a:extLst>
                  <a:ext uri="{FF2B5EF4-FFF2-40B4-BE49-F238E27FC236}">
                    <a16:creationId xmlns:a16="http://schemas.microsoft.com/office/drawing/2014/main" id="{08100C47-2923-CEAD-0CFC-531E30FE568B}"/>
                  </a:ext>
                </a:extLst>
              </p:cNvPr>
              <p:cNvSpPr txBox="1"/>
              <p:nvPr/>
            </p:nvSpPr>
            <p:spPr>
              <a:xfrm>
                <a:off x="0" y="-28575"/>
                <a:ext cx="958212" cy="209230"/>
              </a:xfrm>
              <a:prstGeom prst="rect">
                <a:avLst/>
              </a:prstGeom>
            </p:spPr>
            <p:txBody>
              <a:bodyPr lIns="50800" tIns="50800" rIns="50800" bIns="50800" rtlCol="0" anchor="ctr"/>
              <a:lstStyle/>
              <a:p>
                <a:pPr algn="ctr">
                  <a:lnSpc>
                    <a:spcPts val="1980"/>
                  </a:lnSpc>
                </a:pPr>
                <a:r>
                  <a:rPr lang="en-US" sz="1650" b="1">
                    <a:solidFill>
                      <a:srgbClr val="FFFFFF"/>
                    </a:solidFill>
                    <a:latin typeface="Calibri (MS) Bold"/>
                    <a:ea typeface="Calibri (MS) Bold"/>
                    <a:cs typeface="Calibri (MS) Bold"/>
                    <a:sym typeface="Calibri (MS) Bold"/>
                  </a:rPr>
                  <a:t>Powered by Iced Coffee &amp; Delusion</a:t>
                </a:r>
                <a:r>
                  <a:rPr lang="en-US" sz="1650" b="1">
                    <a:solidFill>
                      <a:srgbClr val="000000"/>
                    </a:solidFill>
                    <a:latin typeface="Calibri (MS) Bold"/>
                    <a:ea typeface="Calibri (MS) Bold"/>
                    <a:cs typeface="Calibri (MS) Bold"/>
                    <a:sym typeface="Calibri (MS) Bold"/>
                  </a:rPr>
                  <a:t> ☕️</a:t>
                </a:r>
              </a:p>
              <a:p>
                <a:pPr algn="ctr">
                  <a:lnSpc>
                    <a:spcPts val="1020"/>
                  </a:lnSpc>
                </a:pPr>
                <a:r>
                  <a:rPr lang="en-US" sz="850" b="1">
                    <a:solidFill>
                      <a:srgbClr val="FFFFFF"/>
                    </a:solidFill>
                    <a:latin typeface="Calibri (MS) Bold"/>
                    <a:ea typeface="Calibri (MS) Bold"/>
                    <a:cs typeface="Calibri (MS) Bold"/>
                    <a:sym typeface="Calibri (MS) Bold"/>
                  </a:rPr>
                  <a:t>Shared monthly collage • Boards locks 10/31/2026</a:t>
                </a:r>
              </a:p>
            </p:txBody>
          </p:sp>
        </p:grpSp>
        <p:grpSp>
          <p:nvGrpSpPr>
            <p:cNvPr id="503" name="Group 332">
              <a:extLst>
                <a:ext uri="{FF2B5EF4-FFF2-40B4-BE49-F238E27FC236}">
                  <a16:creationId xmlns:a16="http://schemas.microsoft.com/office/drawing/2014/main" id="{2B59184D-D65F-BAE9-28C0-7E241E916EFE}"/>
                </a:ext>
              </a:extLst>
            </p:cNvPr>
            <p:cNvGrpSpPr/>
            <p:nvPr/>
          </p:nvGrpSpPr>
          <p:grpSpPr>
            <a:xfrm>
              <a:off x="333920" y="5355379"/>
              <a:ext cx="1553317" cy="1866579"/>
              <a:chOff x="0" y="0"/>
              <a:chExt cx="306828" cy="368707"/>
            </a:xfrm>
          </p:grpSpPr>
          <p:sp>
            <p:nvSpPr>
              <p:cNvPr id="639" name="Freeform 333">
                <a:extLst>
                  <a:ext uri="{FF2B5EF4-FFF2-40B4-BE49-F238E27FC236}">
                    <a16:creationId xmlns:a16="http://schemas.microsoft.com/office/drawing/2014/main" id="{7582CB1C-08A7-0229-FEBF-1941CA5822D3}"/>
                  </a:ext>
                </a:extLst>
              </p:cNvPr>
              <p:cNvSpPr/>
              <p:nvPr/>
            </p:nvSpPr>
            <p:spPr>
              <a:xfrm>
                <a:off x="0" y="0"/>
                <a:ext cx="306828" cy="368707"/>
              </a:xfrm>
              <a:custGeom>
                <a:avLst/>
                <a:gdLst/>
                <a:ahLst/>
                <a:cxnLst/>
                <a:rect l="l" t="t" r="r" b="b"/>
                <a:pathLst>
                  <a:path w="306828" h="368707">
                    <a:moveTo>
                      <a:pt x="119619" y="0"/>
                    </a:moveTo>
                    <a:lnTo>
                      <a:pt x="187209" y="0"/>
                    </a:lnTo>
                    <a:cubicBezTo>
                      <a:pt x="253273" y="0"/>
                      <a:pt x="306828" y="53555"/>
                      <a:pt x="306828" y="119619"/>
                    </a:cubicBezTo>
                    <a:lnTo>
                      <a:pt x="306828" y="249088"/>
                    </a:lnTo>
                    <a:cubicBezTo>
                      <a:pt x="306828" y="315152"/>
                      <a:pt x="253273" y="368707"/>
                      <a:pt x="187209" y="368707"/>
                    </a:cubicBezTo>
                    <a:lnTo>
                      <a:pt x="119619" y="368707"/>
                    </a:lnTo>
                    <a:cubicBezTo>
                      <a:pt x="53555" y="368707"/>
                      <a:pt x="0" y="315152"/>
                      <a:pt x="0" y="249088"/>
                    </a:cubicBezTo>
                    <a:lnTo>
                      <a:pt x="0" y="119619"/>
                    </a:lnTo>
                    <a:cubicBezTo>
                      <a:pt x="0" y="53555"/>
                      <a:pt x="53555" y="0"/>
                      <a:pt x="119619" y="0"/>
                    </a:cubicBezTo>
                    <a:close/>
                  </a:path>
                </a:pathLst>
              </a:custGeom>
              <a:solidFill>
                <a:srgbClr val="484747"/>
              </a:solidFill>
              <a:ln w="38100" cap="sq">
                <a:solidFill>
                  <a:srgbClr val="FFFFFF"/>
                </a:solidFill>
                <a:prstDash val="solid"/>
                <a:miter/>
              </a:ln>
            </p:spPr>
            <p:txBody>
              <a:bodyPr/>
              <a:lstStyle/>
              <a:p>
                <a:endParaRPr lang="en-US"/>
              </a:p>
            </p:txBody>
          </p:sp>
          <p:sp>
            <p:nvSpPr>
              <p:cNvPr id="640" name="TextBox 334">
                <a:extLst>
                  <a:ext uri="{FF2B5EF4-FFF2-40B4-BE49-F238E27FC236}">
                    <a16:creationId xmlns:a16="http://schemas.microsoft.com/office/drawing/2014/main" id="{FB86D57B-0494-B3C2-F74B-A7A23D544931}"/>
                  </a:ext>
                </a:extLst>
              </p:cNvPr>
              <p:cNvSpPr txBox="1"/>
              <p:nvPr/>
            </p:nvSpPr>
            <p:spPr>
              <a:xfrm>
                <a:off x="0" y="-47625"/>
                <a:ext cx="306828" cy="416332"/>
              </a:xfrm>
              <a:prstGeom prst="rect">
                <a:avLst/>
              </a:prstGeom>
            </p:spPr>
            <p:txBody>
              <a:bodyPr lIns="50800" tIns="50800" rIns="50800" bIns="50800" rtlCol="0" anchor="ctr"/>
              <a:lstStyle/>
              <a:p>
                <a:pPr algn="ctr">
                  <a:lnSpc>
                    <a:spcPts val="2340"/>
                  </a:lnSpc>
                </a:pPr>
                <a:endParaRPr/>
              </a:p>
            </p:txBody>
          </p:sp>
        </p:grpSp>
        <p:sp>
          <p:nvSpPr>
            <p:cNvPr id="504" name="Freeform 335">
              <a:extLst>
                <a:ext uri="{FF2B5EF4-FFF2-40B4-BE49-F238E27FC236}">
                  <a16:creationId xmlns:a16="http://schemas.microsoft.com/office/drawing/2014/main" id="{C5432CF9-0756-5337-EC40-907E69ABC5E2}"/>
                </a:ext>
              </a:extLst>
            </p:cNvPr>
            <p:cNvSpPr/>
            <p:nvPr/>
          </p:nvSpPr>
          <p:spPr>
            <a:xfrm>
              <a:off x="667093" y="5648629"/>
              <a:ext cx="826397" cy="826397"/>
            </a:xfrm>
            <a:custGeom>
              <a:avLst/>
              <a:gdLst/>
              <a:ahLst/>
              <a:cxnLst/>
              <a:rect l="l" t="t" r="r" b="b"/>
              <a:pathLst>
                <a:path w="826397" h="826397">
                  <a:moveTo>
                    <a:pt x="0" y="0"/>
                  </a:moveTo>
                  <a:lnTo>
                    <a:pt x="826397" y="0"/>
                  </a:lnTo>
                  <a:lnTo>
                    <a:pt x="826397" y="826397"/>
                  </a:lnTo>
                  <a:lnTo>
                    <a:pt x="0" y="826397"/>
                  </a:lnTo>
                  <a:lnTo>
                    <a:pt x="0" y="0"/>
                  </a:lnTo>
                  <a:close/>
                </a:path>
              </a:pathLst>
            </a:custGeom>
            <a:blipFill>
              <a:blip>
                <a:extLst>
                  <a:ext uri="{96DAC541-7B7A-43D3-8B79-37D633B846F1}">
                    <asvg:svgBlip xmlns:asvg="http://schemas.microsoft.com/office/drawing/2016/SVG/main" r:embed="rId22"/>
                  </a:ext>
                </a:extLst>
              </a:blip>
              <a:stretch>
                <a:fillRect/>
              </a:stretch>
            </a:blipFill>
          </p:spPr>
          <p:txBody>
            <a:bodyPr/>
            <a:lstStyle/>
            <a:p>
              <a:endParaRPr lang="en-US"/>
            </a:p>
          </p:txBody>
        </p:sp>
        <p:sp>
          <p:nvSpPr>
            <p:cNvPr id="505" name="Freeform 336">
              <a:extLst>
                <a:ext uri="{FF2B5EF4-FFF2-40B4-BE49-F238E27FC236}">
                  <a16:creationId xmlns:a16="http://schemas.microsoft.com/office/drawing/2014/main" id="{CCAD89C4-0CDD-EA5D-D7FB-579DE9849F40}"/>
                </a:ext>
              </a:extLst>
            </p:cNvPr>
            <p:cNvSpPr/>
            <p:nvPr/>
          </p:nvSpPr>
          <p:spPr>
            <a:xfrm>
              <a:off x="833419" y="5818134"/>
              <a:ext cx="515045" cy="275549"/>
            </a:xfrm>
            <a:custGeom>
              <a:avLst/>
              <a:gdLst/>
              <a:ahLst/>
              <a:cxnLst/>
              <a:rect l="l" t="t" r="r" b="b"/>
              <a:pathLst>
                <a:path w="515045" h="275549">
                  <a:moveTo>
                    <a:pt x="0" y="0"/>
                  </a:moveTo>
                  <a:lnTo>
                    <a:pt x="515045" y="0"/>
                  </a:lnTo>
                  <a:lnTo>
                    <a:pt x="515045" y="275549"/>
                  </a:lnTo>
                  <a:lnTo>
                    <a:pt x="0" y="275549"/>
                  </a:lnTo>
                  <a:lnTo>
                    <a:pt x="0" y="0"/>
                  </a:lnTo>
                  <a:close/>
                </a:path>
              </a:pathLst>
            </a:custGeom>
            <a:blipFill>
              <a:blip>
                <a:extLst>
                  <a:ext uri="{96DAC541-7B7A-43D3-8B79-37D633B846F1}">
                    <asvg:svgBlip xmlns:asvg="http://schemas.microsoft.com/office/drawing/2016/SVG/main" r:embed="rId23"/>
                  </a:ext>
                </a:extLst>
              </a:blip>
              <a:stretch>
                <a:fillRect/>
              </a:stretch>
            </a:blipFill>
          </p:spPr>
          <p:txBody>
            <a:bodyPr/>
            <a:lstStyle/>
            <a:p>
              <a:endParaRPr lang="en-US"/>
            </a:p>
          </p:txBody>
        </p:sp>
        <p:sp>
          <p:nvSpPr>
            <p:cNvPr id="506" name="TextBox 337">
              <a:extLst>
                <a:ext uri="{FF2B5EF4-FFF2-40B4-BE49-F238E27FC236}">
                  <a16:creationId xmlns:a16="http://schemas.microsoft.com/office/drawing/2014/main" id="{EE146D5D-134B-9358-5C1B-3A17E1B12445}"/>
                </a:ext>
              </a:extLst>
            </p:cNvPr>
            <p:cNvSpPr txBox="1"/>
            <p:nvPr/>
          </p:nvSpPr>
          <p:spPr>
            <a:xfrm>
              <a:off x="766666" y="5674239"/>
              <a:ext cx="648552" cy="290822"/>
            </a:xfrm>
            <a:prstGeom prst="rect">
              <a:avLst/>
            </a:prstGeom>
          </p:spPr>
          <p:txBody>
            <a:bodyPr lIns="0" tIns="0" rIns="0" bIns="0" rtlCol="0" anchor="t">
              <a:spAutoFit/>
            </a:bodyPr>
            <a:lstStyle/>
            <a:p>
              <a:pPr algn="ctr">
                <a:lnSpc>
                  <a:spcPts val="789"/>
                </a:lnSpc>
                <a:spcBef>
                  <a:spcPct val="0"/>
                </a:spcBef>
              </a:pPr>
              <a:r>
                <a:rPr lang="en-US" sz="657" b="1" spc="89">
                  <a:solidFill>
                    <a:srgbClr val="FFFFFF"/>
                  </a:solidFill>
                  <a:latin typeface="Calibri (MS) Bold"/>
                  <a:ea typeface="Calibri (MS) Bold"/>
                  <a:cs typeface="Calibri (MS) Bold"/>
                  <a:sym typeface="Calibri (MS) Bold"/>
                </a:rPr>
                <a:t>CRAMMING</a:t>
              </a:r>
            </a:p>
          </p:txBody>
        </p:sp>
        <p:sp>
          <p:nvSpPr>
            <p:cNvPr id="507" name="Freeform 338">
              <a:extLst>
                <a:ext uri="{FF2B5EF4-FFF2-40B4-BE49-F238E27FC236}">
                  <a16:creationId xmlns:a16="http://schemas.microsoft.com/office/drawing/2014/main" id="{2AD6B5E0-A78C-193D-A8EE-0E6D7BB4D87E}"/>
                </a:ext>
              </a:extLst>
            </p:cNvPr>
            <p:cNvSpPr/>
            <p:nvPr/>
          </p:nvSpPr>
          <p:spPr>
            <a:xfrm rot="-3394830" flipV="1">
              <a:off x="717926" y="5989543"/>
              <a:ext cx="127396" cy="40044"/>
            </a:xfrm>
            <a:custGeom>
              <a:avLst/>
              <a:gdLst/>
              <a:ahLst/>
              <a:cxnLst/>
              <a:rect l="l" t="t" r="r" b="b"/>
              <a:pathLst>
                <a:path w="127396" h="40044">
                  <a:moveTo>
                    <a:pt x="0" y="40044"/>
                  </a:moveTo>
                  <a:lnTo>
                    <a:pt x="127397" y="40044"/>
                  </a:lnTo>
                  <a:lnTo>
                    <a:pt x="127397" y="0"/>
                  </a:lnTo>
                  <a:lnTo>
                    <a:pt x="0" y="0"/>
                  </a:lnTo>
                  <a:lnTo>
                    <a:pt x="0" y="40044"/>
                  </a:lnTo>
                  <a:close/>
                </a:path>
              </a:pathLst>
            </a:custGeom>
            <a:blipFill>
              <a:blip>
                <a:extLst>
                  <a:ext uri="{96DAC541-7B7A-43D3-8B79-37D633B846F1}">
                    <asvg:svgBlip xmlns:asvg="http://schemas.microsoft.com/office/drawing/2016/SVG/main" r:embed="rId24"/>
                  </a:ext>
                </a:extLst>
              </a:blip>
              <a:stretch>
                <a:fillRect l="-116778"/>
              </a:stretch>
            </a:blipFill>
          </p:spPr>
          <p:txBody>
            <a:bodyPr/>
            <a:lstStyle/>
            <a:p>
              <a:endParaRPr lang="en-US"/>
            </a:p>
          </p:txBody>
        </p:sp>
        <p:sp>
          <p:nvSpPr>
            <p:cNvPr id="508" name="Freeform 339">
              <a:extLst>
                <a:ext uri="{FF2B5EF4-FFF2-40B4-BE49-F238E27FC236}">
                  <a16:creationId xmlns:a16="http://schemas.microsoft.com/office/drawing/2014/main" id="{F786E8A3-15DE-AD70-26F1-4B8AAC43A8A8}"/>
                </a:ext>
              </a:extLst>
            </p:cNvPr>
            <p:cNvSpPr/>
            <p:nvPr/>
          </p:nvSpPr>
          <p:spPr>
            <a:xfrm rot="-6716943">
              <a:off x="1337250" y="5991172"/>
              <a:ext cx="117029" cy="36785"/>
            </a:xfrm>
            <a:custGeom>
              <a:avLst/>
              <a:gdLst/>
              <a:ahLst/>
              <a:cxnLst/>
              <a:rect l="l" t="t" r="r" b="b"/>
              <a:pathLst>
                <a:path w="117029" h="36785">
                  <a:moveTo>
                    <a:pt x="0" y="0"/>
                  </a:moveTo>
                  <a:lnTo>
                    <a:pt x="117028" y="0"/>
                  </a:lnTo>
                  <a:lnTo>
                    <a:pt x="117028" y="36786"/>
                  </a:lnTo>
                  <a:lnTo>
                    <a:pt x="0" y="36786"/>
                  </a:lnTo>
                  <a:lnTo>
                    <a:pt x="0" y="0"/>
                  </a:lnTo>
                  <a:close/>
                </a:path>
              </a:pathLst>
            </a:custGeom>
            <a:blipFill>
              <a:blip>
                <a:extLst>
                  <a:ext uri="{96DAC541-7B7A-43D3-8B79-37D633B846F1}">
                    <asvg:svgBlip xmlns:asvg="http://schemas.microsoft.com/office/drawing/2016/SVG/main" r:embed="rId24"/>
                  </a:ext>
                </a:extLst>
              </a:blip>
              <a:stretch>
                <a:fillRect l="-116778"/>
              </a:stretch>
            </a:blipFill>
          </p:spPr>
          <p:txBody>
            <a:bodyPr/>
            <a:lstStyle/>
            <a:p>
              <a:endParaRPr lang="en-US"/>
            </a:p>
          </p:txBody>
        </p:sp>
        <p:sp>
          <p:nvSpPr>
            <p:cNvPr id="509" name="Freeform 340">
              <a:extLst>
                <a:ext uri="{FF2B5EF4-FFF2-40B4-BE49-F238E27FC236}">
                  <a16:creationId xmlns:a16="http://schemas.microsoft.com/office/drawing/2014/main" id="{B41E8DB9-58FA-EC3C-F2D3-1CACEF31AF06}"/>
                </a:ext>
              </a:extLst>
            </p:cNvPr>
            <p:cNvSpPr/>
            <p:nvPr/>
          </p:nvSpPr>
          <p:spPr>
            <a:xfrm rot="2699999">
              <a:off x="816100" y="5899924"/>
              <a:ext cx="534627" cy="534627"/>
            </a:xfrm>
            <a:custGeom>
              <a:avLst/>
              <a:gdLst/>
              <a:ahLst/>
              <a:cxnLst/>
              <a:rect l="l" t="t" r="r" b="b"/>
              <a:pathLst>
                <a:path w="534627" h="534627">
                  <a:moveTo>
                    <a:pt x="0" y="0"/>
                  </a:moveTo>
                  <a:lnTo>
                    <a:pt x="534626" y="0"/>
                  </a:lnTo>
                  <a:lnTo>
                    <a:pt x="534626" y="534626"/>
                  </a:lnTo>
                  <a:lnTo>
                    <a:pt x="0" y="534626"/>
                  </a:lnTo>
                  <a:lnTo>
                    <a:pt x="0" y="0"/>
                  </a:lnTo>
                  <a:close/>
                </a:path>
              </a:pathLst>
            </a:custGeom>
            <a:blipFill>
              <a:blip>
                <a:extLst>
                  <a:ext uri="{96DAC541-7B7A-43D3-8B79-37D633B846F1}">
                    <asvg:svgBlip xmlns:asvg="http://schemas.microsoft.com/office/drawing/2016/SVG/main" r:embed="rId25"/>
                  </a:ext>
                </a:extLst>
              </a:blip>
              <a:stretch>
                <a:fillRect/>
              </a:stretch>
            </a:blipFill>
          </p:spPr>
          <p:txBody>
            <a:bodyPr/>
            <a:lstStyle/>
            <a:p>
              <a:endParaRPr lang="en-US"/>
            </a:p>
          </p:txBody>
        </p:sp>
        <p:sp>
          <p:nvSpPr>
            <p:cNvPr id="510" name="TextBox 341">
              <a:extLst>
                <a:ext uri="{FF2B5EF4-FFF2-40B4-BE49-F238E27FC236}">
                  <a16:creationId xmlns:a16="http://schemas.microsoft.com/office/drawing/2014/main" id="{6CA834EF-C872-F241-75D6-FBFE970FBDCF}"/>
                </a:ext>
              </a:extLst>
            </p:cNvPr>
            <p:cNvSpPr txBox="1"/>
            <p:nvPr/>
          </p:nvSpPr>
          <p:spPr>
            <a:xfrm>
              <a:off x="962894" y="6340736"/>
              <a:ext cx="234794" cy="50829"/>
            </a:xfrm>
            <a:prstGeom prst="rect">
              <a:avLst/>
            </a:prstGeom>
          </p:spPr>
          <p:txBody>
            <a:bodyPr lIns="0" tIns="0" rIns="0" bIns="0" rtlCol="0" anchor="t">
              <a:spAutoFit/>
            </a:bodyPr>
            <a:lstStyle/>
            <a:p>
              <a:pPr algn="ctr">
                <a:lnSpc>
                  <a:spcPts val="246"/>
                </a:lnSpc>
                <a:spcBef>
                  <a:spcPct val="0"/>
                </a:spcBef>
              </a:pPr>
              <a:r>
                <a:rPr lang="en-US" sz="205" b="1" spc="27">
                  <a:solidFill>
                    <a:srgbClr val="FFFFFF"/>
                  </a:solidFill>
                  <a:latin typeface="Calibri (MS) Bold"/>
                  <a:ea typeface="Calibri (MS) Bold"/>
                  <a:cs typeface="Calibri (MS) Bold"/>
                  <a:sym typeface="Calibri (MS) Bold"/>
                </a:rPr>
                <a:t>October2026</a:t>
              </a:r>
            </a:p>
          </p:txBody>
        </p:sp>
        <p:sp>
          <p:nvSpPr>
            <p:cNvPr id="511" name="Freeform 342">
              <a:extLst>
                <a:ext uri="{FF2B5EF4-FFF2-40B4-BE49-F238E27FC236}">
                  <a16:creationId xmlns:a16="http://schemas.microsoft.com/office/drawing/2014/main" id="{01B8C187-B9D4-6C61-6809-55B0A562FFE4}"/>
                </a:ext>
              </a:extLst>
            </p:cNvPr>
            <p:cNvSpPr/>
            <p:nvPr/>
          </p:nvSpPr>
          <p:spPr>
            <a:xfrm rot="2699999">
              <a:off x="879758" y="6095442"/>
              <a:ext cx="401067" cy="401067"/>
            </a:xfrm>
            <a:custGeom>
              <a:avLst/>
              <a:gdLst/>
              <a:ahLst/>
              <a:cxnLst/>
              <a:rect l="l" t="t" r="r" b="b"/>
              <a:pathLst>
                <a:path w="401067" h="401067">
                  <a:moveTo>
                    <a:pt x="0" y="0"/>
                  </a:moveTo>
                  <a:lnTo>
                    <a:pt x="401067" y="0"/>
                  </a:lnTo>
                  <a:lnTo>
                    <a:pt x="401067" y="401067"/>
                  </a:lnTo>
                  <a:lnTo>
                    <a:pt x="0" y="401067"/>
                  </a:lnTo>
                  <a:lnTo>
                    <a:pt x="0" y="0"/>
                  </a:lnTo>
                  <a:close/>
                </a:path>
              </a:pathLst>
            </a:custGeom>
            <a:blipFill>
              <a:blip>
                <a:extLst>
                  <a:ext uri="{96DAC541-7B7A-43D3-8B79-37D633B846F1}">
                    <asvg:svgBlip xmlns:asvg="http://schemas.microsoft.com/office/drawing/2016/SVG/main" r:embed="rId25"/>
                  </a:ext>
                </a:extLst>
              </a:blip>
              <a:stretch>
                <a:fillRect/>
              </a:stretch>
            </a:blipFill>
          </p:spPr>
          <p:txBody>
            <a:bodyPr/>
            <a:lstStyle/>
            <a:p>
              <a:endParaRPr lang="en-US"/>
            </a:p>
          </p:txBody>
        </p:sp>
        <p:sp>
          <p:nvSpPr>
            <p:cNvPr id="512" name="Freeform 343">
              <a:extLst>
                <a:ext uri="{FF2B5EF4-FFF2-40B4-BE49-F238E27FC236}">
                  <a16:creationId xmlns:a16="http://schemas.microsoft.com/office/drawing/2014/main" id="{C18C6C1B-D8B1-C49B-51C4-570AB68AA401}"/>
                </a:ext>
              </a:extLst>
            </p:cNvPr>
            <p:cNvSpPr/>
            <p:nvPr/>
          </p:nvSpPr>
          <p:spPr>
            <a:xfrm>
              <a:off x="999513" y="5907411"/>
              <a:ext cx="182857" cy="179200"/>
            </a:xfrm>
            <a:custGeom>
              <a:avLst/>
              <a:gdLst/>
              <a:ahLst/>
              <a:cxnLst/>
              <a:rect l="l" t="t" r="r" b="b"/>
              <a:pathLst>
                <a:path w="182857" h="179200">
                  <a:moveTo>
                    <a:pt x="0" y="0"/>
                  </a:moveTo>
                  <a:lnTo>
                    <a:pt x="182857" y="0"/>
                  </a:lnTo>
                  <a:lnTo>
                    <a:pt x="182857" y="179199"/>
                  </a:lnTo>
                  <a:lnTo>
                    <a:pt x="0" y="179199"/>
                  </a:lnTo>
                  <a:lnTo>
                    <a:pt x="0" y="0"/>
                  </a:lnTo>
                  <a:close/>
                </a:path>
              </a:pathLst>
            </a:custGeom>
            <a:blipFill>
              <a:blip r:embed="rId26"/>
              <a:stretch>
                <a:fillRect/>
              </a:stretch>
            </a:blipFill>
          </p:spPr>
          <p:txBody>
            <a:bodyPr/>
            <a:lstStyle/>
            <a:p>
              <a:endParaRPr lang="en-US"/>
            </a:p>
          </p:txBody>
        </p:sp>
        <p:sp>
          <p:nvSpPr>
            <p:cNvPr id="513" name="TextBox 344">
              <a:extLst>
                <a:ext uri="{FF2B5EF4-FFF2-40B4-BE49-F238E27FC236}">
                  <a16:creationId xmlns:a16="http://schemas.microsoft.com/office/drawing/2014/main" id="{47A57DB8-F3A1-8EC3-7C3B-81CA25EBC331}"/>
                </a:ext>
              </a:extLst>
            </p:cNvPr>
            <p:cNvSpPr txBox="1"/>
            <p:nvPr/>
          </p:nvSpPr>
          <p:spPr>
            <a:xfrm>
              <a:off x="892311" y="6200830"/>
              <a:ext cx="382204" cy="75971"/>
            </a:xfrm>
            <a:prstGeom prst="rect">
              <a:avLst/>
            </a:prstGeom>
          </p:spPr>
          <p:txBody>
            <a:bodyPr lIns="0" tIns="0" rIns="0" bIns="0" rtlCol="0" anchor="t">
              <a:spAutoFit/>
            </a:bodyPr>
            <a:lstStyle/>
            <a:p>
              <a:pPr algn="ctr">
                <a:lnSpc>
                  <a:spcPts val="398"/>
                </a:lnSpc>
                <a:spcBef>
                  <a:spcPct val="0"/>
                </a:spcBef>
              </a:pPr>
              <a:r>
                <a:rPr lang="en-US" sz="332" b="1">
                  <a:solidFill>
                    <a:srgbClr val="FFFFFF"/>
                  </a:solidFill>
                  <a:latin typeface="Calibri (MS) Bold"/>
                  <a:ea typeface="Calibri (MS) Bold"/>
                  <a:cs typeface="Calibri (MS) Bold"/>
                  <a:sym typeface="Calibri (MS) Bold"/>
                </a:rPr>
                <a:t> REAL PASSPORT</a:t>
              </a:r>
            </a:p>
          </p:txBody>
        </p:sp>
        <p:sp>
          <p:nvSpPr>
            <p:cNvPr id="514" name="TextBox 345">
              <a:extLst>
                <a:ext uri="{FF2B5EF4-FFF2-40B4-BE49-F238E27FC236}">
                  <a16:creationId xmlns:a16="http://schemas.microsoft.com/office/drawing/2014/main" id="{273E388D-5006-9228-164C-00CA6ED97D93}"/>
                </a:ext>
              </a:extLst>
            </p:cNvPr>
            <p:cNvSpPr txBox="1"/>
            <p:nvPr/>
          </p:nvSpPr>
          <p:spPr>
            <a:xfrm>
              <a:off x="721719" y="6083924"/>
              <a:ext cx="181292" cy="50829"/>
            </a:xfrm>
            <a:prstGeom prst="rect">
              <a:avLst/>
            </a:prstGeom>
          </p:spPr>
          <p:txBody>
            <a:bodyPr lIns="0" tIns="0" rIns="0" bIns="0" rtlCol="0" anchor="t">
              <a:spAutoFit/>
            </a:bodyPr>
            <a:lstStyle/>
            <a:p>
              <a:pPr algn="ctr">
                <a:lnSpc>
                  <a:spcPts val="246"/>
                </a:lnSpc>
                <a:spcBef>
                  <a:spcPct val="0"/>
                </a:spcBef>
              </a:pPr>
              <a:r>
                <a:rPr lang="en-US" sz="205" b="1">
                  <a:solidFill>
                    <a:srgbClr val="FFDE59"/>
                  </a:solidFill>
                  <a:latin typeface="Calibri (MS) Bold"/>
                  <a:ea typeface="Calibri (MS) Bold"/>
                  <a:cs typeface="Calibri (MS) Bold"/>
                  <a:sym typeface="Calibri (MS) Bold"/>
                </a:rPr>
                <a:t>BeReal.</a:t>
              </a:r>
            </a:p>
          </p:txBody>
        </p:sp>
        <p:sp>
          <p:nvSpPr>
            <p:cNvPr id="515" name="TextBox 346">
              <a:extLst>
                <a:ext uri="{FF2B5EF4-FFF2-40B4-BE49-F238E27FC236}">
                  <a16:creationId xmlns:a16="http://schemas.microsoft.com/office/drawing/2014/main" id="{40FA1EAC-2B10-77FC-6491-658A89BB01B4}"/>
                </a:ext>
              </a:extLst>
            </p:cNvPr>
            <p:cNvSpPr txBox="1"/>
            <p:nvPr/>
          </p:nvSpPr>
          <p:spPr>
            <a:xfrm>
              <a:off x="1253403" y="6083924"/>
              <a:ext cx="181292" cy="50829"/>
            </a:xfrm>
            <a:prstGeom prst="rect">
              <a:avLst/>
            </a:prstGeom>
          </p:spPr>
          <p:txBody>
            <a:bodyPr lIns="0" tIns="0" rIns="0" bIns="0" rtlCol="0" anchor="t">
              <a:spAutoFit/>
            </a:bodyPr>
            <a:lstStyle/>
            <a:p>
              <a:pPr algn="ctr">
                <a:lnSpc>
                  <a:spcPts val="246"/>
                </a:lnSpc>
                <a:spcBef>
                  <a:spcPct val="0"/>
                </a:spcBef>
              </a:pPr>
              <a:r>
                <a:rPr lang="en-US" sz="205" b="1">
                  <a:solidFill>
                    <a:srgbClr val="FFDE59"/>
                  </a:solidFill>
                  <a:latin typeface="Calibri (MS) Bold"/>
                  <a:ea typeface="Calibri (MS) Bold"/>
                  <a:cs typeface="Calibri (MS) Bold"/>
                  <a:sym typeface="Calibri (MS) Bold"/>
                </a:rPr>
                <a:t>Unfiltered</a:t>
              </a:r>
            </a:p>
          </p:txBody>
        </p:sp>
        <p:grpSp>
          <p:nvGrpSpPr>
            <p:cNvPr id="516" name="Group 347">
              <a:extLst>
                <a:ext uri="{FF2B5EF4-FFF2-40B4-BE49-F238E27FC236}">
                  <a16:creationId xmlns:a16="http://schemas.microsoft.com/office/drawing/2014/main" id="{065472D8-6D2E-1E6A-B740-1CFA8A494883}"/>
                </a:ext>
              </a:extLst>
            </p:cNvPr>
            <p:cNvGrpSpPr/>
            <p:nvPr/>
          </p:nvGrpSpPr>
          <p:grpSpPr>
            <a:xfrm>
              <a:off x="2026938" y="5355379"/>
              <a:ext cx="1553317" cy="1866579"/>
              <a:chOff x="0" y="0"/>
              <a:chExt cx="306828" cy="368707"/>
            </a:xfrm>
          </p:grpSpPr>
          <p:sp>
            <p:nvSpPr>
              <p:cNvPr id="637" name="Freeform 348">
                <a:extLst>
                  <a:ext uri="{FF2B5EF4-FFF2-40B4-BE49-F238E27FC236}">
                    <a16:creationId xmlns:a16="http://schemas.microsoft.com/office/drawing/2014/main" id="{929F4664-E47D-5AAF-77F6-5771718A3499}"/>
                  </a:ext>
                </a:extLst>
              </p:cNvPr>
              <p:cNvSpPr/>
              <p:nvPr/>
            </p:nvSpPr>
            <p:spPr>
              <a:xfrm>
                <a:off x="0" y="0"/>
                <a:ext cx="306828" cy="368707"/>
              </a:xfrm>
              <a:custGeom>
                <a:avLst/>
                <a:gdLst/>
                <a:ahLst/>
                <a:cxnLst/>
                <a:rect l="l" t="t" r="r" b="b"/>
                <a:pathLst>
                  <a:path w="306828" h="368707">
                    <a:moveTo>
                      <a:pt x="119619" y="0"/>
                    </a:moveTo>
                    <a:lnTo>
                      <a:pt x="187209" y="0"/>
                    </a:lnTo>
                    <a:cubicBezTo>
                      <a:pt x="253273" y="0"/>
                      <a:pt x="306828" y="53555"/>
                      <a:pt x="306828" y="119619"/>
                    </a:cubicBezTo>
                    <a:lnTo>
                      <a:pt x="306828" y="249088"/>
                    </a:lnTo>
                    <a:cubicBezTo>
                      <a:pt x="306828" y="315152"/>
                      <a:pt x="253273" y="368707"/>
                      <a:pt x="187209" y="368707"/>
                    </a:cubicBezTo>
                    <a:lnTo>
                      <a:pt x="119619" y="368707"/>
                    </a:lnTo>
                    <a:cubicBezTo>
                      <a:pt x="53555" y="368707"/>
                      <a:pt x="0" y="315152"/>
                      <a:pt x="0" y="249088"/>
                    </a:cubicBezTo>
                    <a:lnTo>
                      <a:pt x="0" y="119619"/>
                    </a:lnTo>
                    <a:cubicBezTo>
                      <a:pt x="0" y="53555"/>
                      <a:pt x="53555" y="0"/>
                      <a:pt x="119619" y="0"/>
                    </a:cubicBezTo>
                    <a:close/>
                  </a:path>
                </a:pathLst>
              </a:custGeom>
              <a:solidFill>
                <a:srgbClr val="484747"/>
              </a:solidFill>
              <a:ln w="38100" cap="sq">
                <a:solidFill>
                  <a:srgbClr val="FFFFFF"/>
                </a:solidFill>
                <a:prstDash val="solid"/>
                <a:miter/>
              </a:ln>
            </p:spPr>
            <p:txBody>
              <a:bodyPr/>
              <a:lstStyle/>
              <a:p>
                <a:endParaRPr lang="en-US"/>
              </a:p>
            </p:txBody>
          </p:sp>
          <p:sp>
            <p:nvSpPr>
              <p:cNvPr id="638" name="TextBox 349">
                <a:extLst>
                  <a:ext uri="{FF2B5EF4-FFF2-40B4-BE49-F238E27FC236}">
                    <a16:creationId xmlns:a16="http://schemas.microsoft.com/office/drawing/2014/main" id="{2BC547EC-CE01-1571-ED42-FF47F7ACE525}"/>
                  </a:ext>
                </a:extLst>
              </p:cNvPr>
              <p:cNvSpPr txBox="1"/>
              <p:nvPr/>
            </p:nvSpPr>
            <p:spPr>
              <a:xfrm>
                <a:off x="0" y="-47625"/>
                <a:ext cx="306828" cy="416332"/>
              </a:xfrm>
              <a:prstGeom prst="rect">
                <a:avLst/>
              </a:prstGeom>
            </p:spPr>
            <p:txBody>
              <a:bodyPr lIns="50800" tIns="50800" rIns="50800" bIns="50800" rtlCol="0" anchor="ctr"/>
              <a:lstStyle/>
              <a:p>
                <a:pPr algn="ctr">
                  <a:lnSpc>
                    <a:spcPts val="2340"/>
                  </a:lnSpc>
                </a:pPr>
                <a:endParaRPr/>
              </a:p>
            </p:txBody>
          </p:sp>
        </p:grpSp>
        <p:grpSp>
          <p:nvGrpSpPr>
            <p:cNvPr id="517" name="Group 350">
              <a:extLst>
                <a:ext uri="{FF2B5EF4-FFF2-40B4-BE49-F238E27FC236}">
                  <a16:creationId xmlns:a16="http://schemas.microsoft.com/office/drawing/2014/main" id="{608677B7-31CE-93B7-5196-C8F1FD81925B}"/>
                </a:ext>
              </a:extLst>
            </p:cNvPr>
            <p:cNvGrpSpPr/>
            <p:nvPr/>
          </p:nvGrpSpPr>
          <p:grpSpPr>
            <a:xfrm>
              <a:off x="3719955" y="5399587"/>
              <a:ext cx="1553317" cy="1822371"/>
              <a:chOff x="0" y="0"/>
              <a:chExt cx="306828" cy="359975"/>
            </a:xfrm>
          </p:grpSpPr>
          <p:sp>
            <p:nvSpPr>
              <p:cNvPr id="635" name="Freeform 351">
                <a:extLst>
                  <a:ext uri="{FF2B5EF4-FFF2-40B4-BE49-F238E27FC236}">
                    <a16:creationId xmlns:a16="http://schemas.microsoft.com/office/drawing/2014/main" id="{9168C7A3-1A12-BD8C-F5BD-A120BE2B4370}"/>
                  </a:ext>
                </a:extLst>
              </p:cNvPr>
              <p:cNvSpPr/>
              <p:nvPr/>
            </p:nvSpPr>
            <p:spPr>
              <a:xfrm>
                <a:off x="0" y="0"/>
                <a:ext cx="306828" cy="359975"/>
              </a:xfrm>
              <a:custGeom>
                <a:avLst/>
                <a:gdLst/>
                <a:ahLst/>
                <a:cxnLst/>
                <a:rect l="l" t="t" r="r" b="b"/>
                <a:pathLst>
                  <a:path w="306828" h="359975">
                    <a:moveTo>
                      <a:pt x="119619" y="0"/>
                    </a:moveTo>
                    <a:lnTo>
                      <a:pt x="187209" y="0"/>
                    </a:lnTo>
                    <a:cubicBezTo>
                      <a:pt x="253273" y="0"/>
                      <a:pt x="306828" y="53555"/>
                      <a:pt x="306828" y="119619"/>
                    </a:cubicBezTo>
                    <a:lnTo>
                      <a:pt x="306828" y="240356"/>
                    </a:lnTo>
                    <a:cubicBezTo>
                      <a:pt x="306828" y="306419"/>
                      <a:pt x="253273" y="359975"/>
                      <a:pt x="187209" y="359975"/>
                    </a:cubicBezTo>
                    <a:lnTo>
                      <a:pt x="119619" y="359975"/>
                    </a:lnTo>
                    <a:cubicBezTo>
                      <a:pt x="53555" y="359975"/>
                      <a:pt x="0" y="306419"/>
                      <a:pt x="0" y="240356"/>
                    </a:cubicBezTo>
                    <a:lnTo>
                      <a:pt x="0" y="119619"/>
                    </a:lnTo>
                    <a:cubicBezTo>
                      <a:pt x="0" y="53555"/>
                      <a:pt x="53555" y="0"/>
                      <a:pt x="119619" y="0"/>
                    </a:cubicBezTo>
                    <a:close/>
                  </a:path>
                </a:pathLst>
              </a:custGeom>
              <a:solidFill>
                <a:srgbClr val="484747"/>
              </a:solidFill>
              <a:ln w="38100" cap="sq">
                <a:solidFill>
                  <a:srgbClr val="FFFFFF"/>
                </a:solidFill>
                <a:prstDash val="solid"/>
                <a:miter/>
              </a:ln>
            </p:spPr>
            <p:txBody>
              <a:bodyPr/>
              <a:lstStyle/>
              <a:p>
                <a:endParaRPr lang="en-US"/>
              </a:p>
            </p:txBody>
          </p:sp>
          <p:sp>
            <p:nvSpPr>
              <p:cNvPr id="636" name="TextBox 352">
                <a:extLst>
                  <a:ext uri="{FF2B5EF4-FFF2-40B4-BE49-F238E27FC236}">
                    <a16:creationId xmlns:a16="http://schemas.microsoft.com/office/drawing/2014/main" id="{F2B1D0A4-0548-9E86-A1A1-FEEE49743A22}"/>
                  </a:ext>
                </a:extLst>
              </p:cNvPr>
              <p:cNvSpPr txBox="1"/>
              <p:nvPr/>
            </p:nvSpPr>
            <p:spPr>
              <a:xfrm>
                <a:off x="0" y="-47625"/>
                <a:ext cx="306828" cy="407600"/>
              </a:xfrm>
              <a:prstGeom prst="rect">
                <a:avLst/>
              </a:prstGeom>
            </p:spPr>
            <p:txBody>
              <a:bodyPr lIns="50800" tIns="50800" rIns="50800" bIns="50800" rtlCol="0" anchor="ctr"/>
              <a:lstStyle/>
              <a:p>
                <a:pPr algn="ctr">
                  <a:lnSpc>
                    <a:spcPts val="2340"/>
                  </a:lnSpc>
                </a:pPr>
                <a:endParaRPr/>
              </a:p>
            </p:txBody>
          </p:sp>
        </p:grpSp>
        <p:sp>
          <p:nvSpPr>
            <p:cNvPr id="518" name="Freeform 353">
              <a:extLst>
                <a:ext uri="{FF2B5EF4-FFF2-40B4-BE49-F238E27FC236}">
                  <a16:creationId xmlns:a16="http://schemas.microsoft.com/office/drawing/2014/main" id="{EB3EC072-0D6C-294C-1265-EF540AB299F6}"/>
                </a:ext>
              </a:extLst>
            </p:cNvPr>
            <p:cNvSpPr/>
            <p:nvPr/>
          </p:nvSpPr>
          <p:spPr>
            <a:xfrm>
              <a:off x="2390398" y="5633907"/>
              <a:ext cx="826397" cy="826397"/>
            </a:xfrm>
            <a:custGeom>
              <a:avLst/>
              <a:gdLst/>
              <a:ahLst/>
              <a:cxnLst/>
              <a:rect l="l" t="t" r="r" b="b"/>
              <a:pathLst>
                <a:path w="826397" h="826397">
                  <a:moveTo>
                    <a:pt x="0" y="0"/>
                  </a:moveTo>
                  <a:lnTo>
                    <a:pt x="826397" y="0"/>
                  </a:lnTo>
                  <a:lnTo>
                    <a:pt x="826397" y="826397"/>
                  </a:lnTo>
                  <a:lnTo>
                    <a:pt x="0" y="826397"/>
                  </a:lnTo>
                  <a:lnTo>
                    <a:pt x="0" y="0"/>
                  </a:lnTo>
                  <a:close/>
                </a:path>
              </a:pathLst>
            </a:custGeom>
            <a:blipFill>
              <a:blip>
                <a:extLst>
                  <a:ext uri="{96DAC541-7B7A-43D3-8B79-37D633B846F1}">
                    <asvg:svgBlip xmlns:asvg="http://schemas.microsoft.com/office/drawing/2016/SVG/main" r:embed="rId27"/>
                  </a:ext>
                </a:extLst>
              </a:blip>
              <a:stretch>
                <a:fillRect/>
              </a:stretch>
            </a:blipFill>
          </p:spPr>
          <p:txBody>
            <a:bodyPr/>
            <a:lstStyle/>
            <a:p>
              <a:endParaRPr lang="en-US"/>
            </a:p>
          </p:txBody>
        </p:sp>
        <p:sp>
          <p:nvSpPr>
            <p:cNvPr id="519" name="Freeform 354">
              <a:extLst>
                <a:ext uri="{FF2B5EF4-FFF2-40B4-BE49-F238E27FC236}">
                  <a16:creationId xmlns:a16="http://schemas.microsoft.com/office/drawing/2014/main" id="{A41032ED-94B1-8EF6-D782-D75B7FC25427}"/>
                </a:ext>
              </a:extLst>
            </p:cNvPr>
            <p:cNvSpPr/>
            <p:nvPr/>
          </p:nvSpPr>
          <p:spPr>
            <a:xfrm>
              <a:off x="2556724" y="5803412"/>
              <a:ext cx="515045" cy="275549"/>
            </a:xfrm>
            <a:custGeom>
              <a:avLst/>
              <a:gdLst/>
              <a:ahLst/>
              <a:cxnLst/>
              <a:rect l="l" t="t" r="r" b="b"/>
              <a:pathLst>
                <a:path w="515045" h="275549">
                  <a:moveTo>
                    <a:pt x="0" y="0"/>
                  </a:moveTo>
                  <a:lnTo>
                    <a:pt x="515045" y="0"/>
                  </a:lnTo>
                  <a:lnTo>
                    <a:pt x="515045" y="275549"/>
                  </a:lnTo>
                  <a:lnTo>
                    <a:pt x="0" y="275549"/>
                  </a:lnTo>
                  <a:lnTo>
                    <a:pt x="0" y="0"/>
                  </a:lnTo>
                  <a:close/>
                </a:path>
              </a:pathLst>
            </a:custGeom>
            <a:blipFill>
              <a:blip>
                <a:extLst>
                  <a:ext uri="{96DAC541-7B7A-43D3-8B79-37D633B846F1}">
                    <asvg:svgBlip xmlns:asvg="http://schemas.microsoft.com/office/drawing/2016/SVG/main" r:embed="rId28"/>
                  </a:ext>
                </a:extLst>
              </a:blip>
              <a:stretch>
                <a:fillRect/>
              </a:stretch>
            </a:blipFill>
          </p:spPr>
          <p:txBody>
            <a:bodyPr/>
            <a:lstStyle/>
            <a:p>
              <a:endParaRPr lang="en-US"/>
            </a:p>
          </p:txBody>
        </p:sp>
        <p:sp>
          <p:nvSpPr>
            <p:cNvPr id="520" name="TextBox 355">
              <a:extLst>
                <a:ext uri="{FF2B5EF4-FFF2-40B4-BE49-F238E27FC236}">
                  <a16:creationId xmlns:a16="http://schemas.microsoft.com/office/drawing/2014/main" id="{D1AC57FB-FC91-2CCE-08CE-28C77622F963}"/>
                </a:ext>
              </a:extLst>
            </p:cNvPr>
            <p:cNvSpPr txBox="1"/>
            <p:nvPr/>
          </p:nvSpPr>
          <p:spPr>
            <a:xfrm>
              <a:off x="2665665" y="5659517"/>
              <a:ext cx="297164" cy="176176"/>
            </a:xfrm>
            <a:prstGeom prst="rect">
              <a:avLst/>
            </a:prstGeom>
          </p:spPr>
          <p:txBody>
            <a:bodyPr lIns="0" tIns="0" rIns="0" bIns="0" rtlCol="0" anchor="t">
              <a:spAutoFit/>
            </a:bodyPr>
            <a:lstStyle/>
            <a:p>
              <a:pPr algn="ctr">
                <a:lnSpc>
                  <a:spcPts val="789"/>
                </a:lnSpc>
                <a:spcBef>
                  <a:spcPct val="0"/>
                </a:spcBef>
              </a:pPr>
              <a:r>
                <a:rPr lang="en-US" sz="657" b="1" spc="89">
                  <a:solidFill>
                    <a:srgbClr val="FFFFFF"/>
                  </a:solidFill>
                  <a:latin typeface="Calibri (MS) Bold"/>
                  <a:ea typeface="Calibri (MS) Bold"/>
                  <a:cs typeface="Calibri (MS) Bold"/>
                  <a:sym typeface="Calibri (MS) Bold"/>
                </a:rPr>
                <a:t>HIKE</a:t>
              </a:r>
            </a:p>
          </p:txBody>
        </p:sp>
        <p:sp>
          <p:nvSpPr>
            <p:cNvPr id="521" name="Freeform 356">
              <a:extLst>
                <a:ext uri="{FF2B5EF4-FFF2-40B4-BE49-F238E27FC236}">
                  <a16:creationId xmlns:a16="http://schemas.microsoft.com/office/drawing/2014/main" id="{D63B7D71-00D2-D204-F58B-81F5A986ADDE}"/>
                </a:ext>
              </a:extLst>
            </p:cNvPr>
            <p:cNvSpPr/>
            <p:nvPr/>
          </p:nvSpPr>
          <p:spPr>
            <a:xfrm rot="-3394830" flipV="1">
              <a:off x="2441231" y="5974821"/>
              <a:ext cx="127396" cy="40044"/>
            </a:xfrm>
            <a:custGeom>
              <a:avLst/>
              <a:gdLst/>
              <a:ahLst/>
              <a:cxnLst/>
              <a:rect l="l" t="t" r="r" b="b"/>
              <a:pathLst>
                <a:path w="127396" h="40044">
                  <a:moveTo>
                    <a:pt x="0" y="40044"/>
                  </a:moveTo>
                  <a:lnTo>
                    <a:pt x="127397" y="40044"/>
                  </a:lnTo>
                  <a:lnTo>
                    <a:pt x="127397" y="0"/>
                  </a:lnTo>
                  <a:lnTo>
                    <a:pt x="0" y="0"/>
                  </a:lnTo>
                  <a:lnTo>
                    <a:pt x="0" y="40044"/>
                  </a:lnTo>
                  <a:close/>
                </a:path>
              </a:pathLst>
            </a:custGeom>
            <a:blipFill>
              <a:blip>
                <a:extLst>
                  <a:ext uri="{96DAC541-7B7A-43D3-8B79-37D633B846F1}">
                    <asvg:svgBlip xmlns:asvg="http://schemas.microsoft.com/office/drawing/2016/SVG/main" r:embed="rId24"/>
                  </a:ext>
                </a:extLst>
              </a:blip>
              <a:stretch>
                <a:fillRect l="-116778"/>
              </a:stretch>
            </a:blipFill>
          </p:spPr>
          <p:txBody>
            <a:bodyPr/>
            <a:lstStyle/>
            <a:p>
              <a:endParaRPr lang="en-US"/>
            </a:p>
          </p:txBody>
        </p:sp>
        <p:sp>
          <p:nvSpPr>
            <p:cNvPr id="522" name="Freeform 357">
              <a:extLst>
                <a:ext uri="{FF2B5EF4-FFF2-40B4-BE49-F238E27FC236}">
                  <a16:creationId xmlns:a16="http://schemas.microsoft.com/office/drawing/2014/main" id="{C49F95CA-8405-B0C3-4602-E3115E81299E}"/>
                </a:ext>
              </a:extLst>
            </p:cNvPr>
            <p:cNvSpPr/>
            <p:nvPr/>
          </p:nvSpPr>
          <p:spPr>
            <a:xfrm rot="-6716943">
              <a:off x="3060555" y="5976451"/>
              <a:ext cx="117029" cy="36785"/>
            </a:xfrm>
            <a:custGeom>
              <a:avLst/>
              <a:gdLst/>
              <a:ahLst/>
              <a:cxnLst/>
              <a:rect l="l" t="t" r="r" b="b"/>
              <a:pathLst>
                <a:path w="117029" h="36785">
                  <a:moveTo>
                    <a:pt x="0" y="0"/>
                  </a:moveTo>
                  <a:lnTo>
                    <a:pt x="117028" y="0"/>
                  </a:lnTo>
                  <a:lnTo>
                    <a:pt x="117028" y="36785"/>
                  </a:lnTo>
                  <a:lnTo>
                    <a:pt x="0" y="36785"/>
                  </a:lnTo>
                  <a:lnTo>
                    <a:pt x="0" y="0"/>
                  </a:lnTo>
                  <a:close/>
                </a:path>
              </a:pathLst>
            </a:custGeom>
            <a:blipFill>
              <a:blip>
                <a:extLst>
                  <a:ext uri="{96DAC541-7B7A-43D3-8B79-37D633B846F1}">
                    <asvg:svgBlip xmlns:asvg="http://schemas.microsoft.com/office/drawing/2016/SVG/main" r:embed="rId24"/>
                  </a:ext>
                </a:extLst>
              </a:blip>
              <a:stretch>
                <a:fillRect l="-116778"/>
              </a:stretch>
            </a:blipFill>
          </p:spPr>
          <p:txBody>
            <a:bodyPr/>
            <a:lstStyle/>
            <a:p>
              <a:endParaRPr lang="en-US"/>
            </a:p>
          </p:txBody>
        </p:sp>
        <p:sp>
          <p:nvSpPr>
            <p:cNvPr id="523" name="Freeform 358">
              <a:extLst>
                <a:ext uri="{FF2B5EF4-FFF2-40B4-BE49-F238E27FC236}">
                  <a16:creationId xmlns:a16="http://schemas.microsoft.com/office/drawing/2014/main" id="{1DB2E48D-18EC-B50F-F066-7D87AFC6A44D}"/>
                </a:ext>
              </a:extLst>
            </p:cNvPr>
            <p:cNvSpPr/>
            <p:nvPr/>
          </p:nvSpPr>
          <p:spPr>
            <a:xfrm rot="2699999">
              <a:off x="2539405" y="5885202"/>
              <a:ext cx="534627" cy="534627"/>
            </a:xfrm>
            <a:custGeom>
              <a:avLst/>
              <a:gdLst/>
              <a:ahLst/>
              <a:cxnLst/>
              <a:rect l="l" t="t" r="r" b="b"/>
              <a:pathLst>
                <a:path w="534627" h="534627">
                  <a:moveTo>
                    <a:pt x="0" y="0"/>
                  </a:moveTo>
                  <a:lnTo>
                    <a:pt x="534626" y="0"/>
                  </a:lnTo>
                  <a:lnTo>
                    <a:pt x="534626" y="534626"/>
                  </a:lnTo>
                  <a:lnTo>
                    <a:pt x="0" y="534626"/>
                  </a:lnTo>
                  <a:lnTo>
                    <a:pt x="0" y="0"/>
                  </a:lnTo>
                  <a:close/>
                </a:path>
              </a:pathLst>
            </a:custGeom>
            <a:blipFill>
              <a:blip>
                <a:extLst>
                  <a:ext uri="{96DAC541-7B7A-43D3-8B79-37D633B846F1}">
                    <asvg:svgBlip xmlns:asvg="http://schemas.microsoft.com/office/drawing/2016/SVG/main" r:embed="rId29"/>
                  </a:ext>
                </a:extLst>
              </a:blip>
              <a:stretch>
                <a:fillRect/>
              </a:stretch>
            </a:blipFill>
          </p:spPr>
          <p:txBody>
            <a:bodyPr/>
            <a:lstStyle/>
            <a:p>
              <a:endParaRPr lang="en-US"/>
            </a:p>
          </p:txBody>
        </p:sp>
        <p:sp>
          <p:nvSpPr>
            <p:cNvPr id="524" name="TextBox 359">
              <a:extLst>
                <a:ext uri="{FF2B5EF4-FFF2-40B4-BE49-F238E27FC236}">
                  <a16:creationId xmlns:a16="http://schemas.microsoft.com/office/drawing/2014/main" id="{1A662DA6-4EA3-BF44-2055-43D8F630C3E8}"/>
                </a:ext>
              </a:extLst>
            </p:cNvPr>
            <p:cNvSpPr txBox="1"/>
            <p:nvPr/>
          </p:nvSpPr>
          <p:spPr>
            <a:xfrm>
              <a:off x="2686199" y="6326014"/>
              <a:ext cx="234794" cy="50829"/>
            </a:xfrm>
            <a:prstGeom prst="rect">
              <a:avLst/>
            </a:prstGeom>
          </p:spPr>
          <p:txBody>
            <a:bodyPr lIns="0" tIns="0" rIns="0" bIns="0" rtlCol="0" anchor="t">
              <a:spAutoFit/>
            </a:bodyPr>
            <a:lstStyle/>
            <a:p>
              <a:pPr algn="ctr">
                <a:lnSpc>
                  <a:spcPts val="246"/>
                </a:lnSpc>
                <a:spcBef>
                  <a:spcPct val="0"/>
                </a:spcBef>
              </a:pPr>
              <a:r>
                <a:rPr lang="en-US" sz="205" b="1" spc="27">
                  <a:solidFill>
                    <a:srgbClr val="FFFFFF"/>
                  </a:solidFill>
                  <a:latin typeface="Calibri (MS) Bold"/>
                  <a:ea typeface="Calibri (MS) Bold"/>
                  <a:cs typeface="Calibri (MS) Bold"/>
                  <a:sym typeface="Calibri (MS) Bold"/>
                </a:rPr>
                <a:t>October2026</a:t>
              </a:r>
            </a:p>
          </p:txBody>
        </p:sp>
        <p:sp>
          <p:nvSpPr>
            <p:cNvPr id="525" name="Freeform 360">
              <a:extLst>
                <a:ext uri="{FF2B5EF4-FFF2-40B4-BE49-F238E27FC236}">
                  <a16:creationId xmlns:a16="http://schemas.microsoft.com/office/drawing/2014/main" id="{0996567C-F825-630B-9C60-5FC8162B62A2}"/>
                </a:ext>
              </a:extLst>
            </p:cNvPr>
            <p:cNvSpPr/>
            <p:nvPr/>
          </p:nvSpPr>
          <p:spPr>
            <a:xfrm rot="2699999">
              <a:off x="2603063" y="6080720"/>
              <a:ext cx="401067" cy="401067"/>
            </a:xfrm>
            <a:custGeom>
              <a:avLst/>
              <a:gdLst/>
              <a:ahLst/>
              <a:cxnLst/>
              <a:rect l="l" t="t" r="r" b="b"/>
              <a:pathLst>
                <a:path w="401067" h="401067">
                  <a:moveTo>
                    <a:pt x="0" y="0"/>
                  </a:moveTo>
                  <a:lnTo>
                    <a:pt x="401067" y="0"/>
                  </a:lnTo>
                  <a:lnTo>
                    <a:pt x="401067" y="401067"/>
                  </a:lnTo>
                  <a:lnTo>
                    <a:pt x="0" y="401067"/>
                  </a:lnTo>
                  <a:lnTo>
                    <a:pt x="0" y="0"/>
                  </a:lnTo>
                  <a:close/>
                </a:path>
              </a:pathLst>
            </a:custGeom>
            <a:blipFill>
              <a:blip>
                <a:extLst>
                  <a:ext uri="{96DAC541-7B7A-43D3-8B79-37D633B846F1}">
                    <asvg:svgBlip xmlns:asvg="http://schemas.microsoft.com/office/drawing/2016/SVG/main" r:embed="rId29"/>
                  </a:ext>
                </a:extLst>
              </a:blip>
              <a:stretch>
                <a:fillRect/>
              </a:stretch>
            </a:blipFill>
          </p:spPr>
          <p:txBody>
            <a:bodyPr/>
            <a:lstStyle/>
            <a:p>
              <a:endParaRPr lang="en-US"/>
            </a:p>
          </p:txBody>
        </p:sp>
        <p:sp>
          <p:nvSpPr>
            <p:cNvPr id="526" name="TextBox 361">
              <a:extLst>
                <a:ext uri="{FF2B5EF4-FFF2-40B4-BE49-F238E27FC236}">
                  <a16:creationId xmlns:a16="http://schemas.microsoft.com/office/drawing/2014/main" id="{5E779101-5548-3BD6-A26E-214BF7C9D2A2}"/>
                </a:ext>
              </a:extLst>
            </p:cNvPr>
            <p:cNvSpPr txBox="1"/>
            <p:nvPr/>
          </p:nvSpPr>
          <p:spPr>
            <a:xfrm>
              <a:off x="2615616" y="6186108"/>
              <a:ext cx="382204" cy="75971"/>
            </a:xfrm>
            <a:prstGeom prst="rect">
              <a:avLst/>
            </a:prstGeom>
          </p:spPr>
          <p:txBody>
            <a:bodyPr lIns="0" tIns="0" rIns="0" bIns="0" rtlCol="0" anchor="t">
              <a:spAutoFit/>
            </a:bodyPr>
            <a:lstStyle/>
            <a:p>
              <a:pPr algn="ctr">
                <a:lnSpc>
                  <a:spcPts val="398"/>
                </a:lnSpc>
                <a:spcBef>
                  <a:spcPct val="0"/>
                </a:spcBef>
              </a:pPr>
              <a:r>
                <a:rPr lang="en-US" sz="332" b="1">
                  <a:solidFill>
                    <a:srgbClr val="FFFFFF"/>
                  </a:solidFill>
                  <a:latin typeface="Calibri (MS) Bold"/>
                  <a:ea typeface="Calibri (MS) Bold"/>
                  <a:cs typeface="Calibri (MS) Bold"/>
                  <a:sym typeface="Calibri (MS) Bold"/>
                </a:rPr>
                <a:t> REAL PASSPORT</a:t>
              </a:r>
            </a:p>
          </p:txBody>
        </p:sp>
        <p:sp>
          <p:nvSpPr>
            <p:cNvPr id="527" name="TextBox 362">
              <a:extLst>
                <a:ext uri="{FF2B5EF4-FFF2-40B4-BE49-F238E27FC236}">
                  <a16:creationId xmlns:a16="http://schemas.microsoft.com/office/drawing/2014/main" id="{B2CA2AA8-D75B-EADA-FA24-DA4D7C510479}"/>
                </a:ext>
              </a:extLst>
            </p:cNvPr>
            <p:cNvSpPr txBox="1"/>
            <p:nvPr/>
          </p:nvSpPr>
          <p:spPr>
            <a:xfrm>
              <a:off x="2445024" y="6069202"/>
              <a:ext cx="181292" cy="50829"/>
            </a:xfrm>
            <a:prstGeom prst="rect">
              <a:avLst/>
            </a:prstGeom>
          </p:spPr>
          <p:txBody>
            <a:bodyPr lIns="0" tIns="0" rIns="0" bIns="0" rtlCol="0" anchor="t">
              <a:spAutoFit/>
            </a:bodyPr>
            <a:lstStyle/>
            <a:p>
              <a:pPr algn="ctr">
                <a:lnSpc>
                  <a:spcPts val="246"/>
                </a:lnSpc>
                <a:spcBef>
                  <a:spcPct val="0"/>
                </a:spcBef>
              </a:pPr>
              <a:r>
                <a:rPr lang="en-US" sz="205" b="1">
                  <a:solidFill>
                    <a:srgbClr val="FFDE59"/>
                  </a:solidFill>
                  <a:latin typeface="Calibri (MS) Bold"/>
                  <a:ea typeface="Calibri (MS) Bold"/>
                  <a:cs typeface="Calibri (MS) Bold"/>
                  <a:sym typeface="Calibri (MS) Bold"/>
                </a:rPr>
                <a:t>BeReal.</a:t>
              </a:r>
            </a:p>
          </p:txBody>
        </p:sp>
        <p:sp>
          <p:nvSpPr>
            <p:cNvPr id="528" name="TextBox 363">
              <a:extLst>
                <a:ext uri="{FF2B5EF4-FFF2-40B4-BE49-F238E27FC236}">
                  <a16:creationId xmlns:a16="http://schemas.microsoft.com/office/drawing/2014/main" id="{D3BD36B7-D4C9-1D0E-0CA6-B4447E5F4B52}"/>
                </a:ext>
              </a:extLst>
            </p:cNvPr>
            <p:cNvSpPr txBox="1"/>
            <p:nvPr/>
          </p:nvSpPr>
          <p:spPr>
            <a:xfrm>
              <a:off x="2976708" y="6069202"/>
              <a:ext cx="181292" cy="50829"/>
            </a:xfrm>
            <a:prstGeom prst="rect">
              <a:avLst/>
            </a:prstGeom>
          </p:spPr>
          <p:txBody>
            <a:bodyPr lIns="0" tIns="0" rIns="0" bIns="0" rtlCol="0" anchor="t">
              <a:spAutoFit/>
            </a:bodyPr>
            <a:lstStyle/>
            <a:p>
              <a:pPr algn="ctr">
                <a:lnSpc>
                  <a:spcPts val="246"/>
                </a:lnSpc>
                <a:spcBef>
                  <a:spcPct val="0"/>
                </a:spcBef>
              </a:pPr>
              <a:r>
                <a:rPr lang="en-US" sz="205" b="1">
                  <a:solidFill>
                    <a:srgbClr val="FFDE59"/>
                  </a:solidFill>
                  <a:latin typeface="Calibri (MS) Bold"/>
                  <a:ea typeface="Calibri (MS) Bold"/>
                  <a:cs typeface="Calibri (MS) Bold"/>
                  <a:sym typeface="Calibri (MS) Bold"/>
                </a:rPr>
                <a:t>Unfiltered</a:t>
              </a:r>
            </a:p>
          </p:txBody>
        </p:sp>
        <p:sp>
          <p:nvSpPr>
            <p:cNvPr id="529" name="Freeform 364">
              <a:extLst>
                <a:ext uri="{FF2B5EF4-FFF2-40B4-BE49-F238E27FC236}">
                  <a16:creationId xmlns:a16="http://schemas.microsoft.com/office/drawing/2014/main" id="{DF55E678-4223-C199-B3E2-BD3A44B3C35F}"/>
                </a:ext>
              </a:extLst>
            </p:cNvPr>
            <p:cNvSpPr/>
            <p:nvPr/>
          </p:nvSpPr>
          <p:spPr>
            <a:xfrm>
              <a:off x="2673645" y="5910240"/>
              <a:ext cx="259903" cy="159841"/>
            </a:xfrm>
            <a:custGeom>
              <a:avLst/>
              <a:gdLst/>
              <a:ahLst/>
              <a:cxnLst/>
              <a:rect l="l" t="t" r="r" b="b"/>
              <a:pathLst>
                <a:path w="259903" h="159841">
                  <a:moveTo>
                    <a:pt x="0" y="0"/>
                  </a:moveTo>
                  <a:lnTo>
                    <a:pt x="259903" y="0"/>
                  </a:lnTo>
                  <a:lnTo>
                    <a:pt x="259903" y="159841"/>
                  </a:lnTo>
                  <a:lnTo>
                    <a:pt x="0" y="159841"/>
                  </a:lnTo>
                  <a:lnTo>
                    <a:pt x="0" y="0"/>
                  </a:lnTo>
                  <a:close/>
                </a:path>
              </a:pathLst>
            </a:custGeom>
            <a:blipFill>
              <a:blip>
                <a:extLst>
                  <a:ext uri="{96DAC541-7B7A-43D3-8B79-37D633B846F1}">
                    <asvg:svgBlip xmlns:asvg="http://schemas.microsoft.com/office/drawing/2016/SVG/main" r:embed="rId30"/>
                  </a:ext>
                </a:extLst>
              </a:blip>
              <a:stretch>
                <a:fillRect/>
              </a:stretch>
            </a:blipFill>
          </p:spPr>
          <p:txBody>
            <a:bodyPr/>
            <a:lstStyle/>
            <a:p>
              <a:endParaRPr lang="en-US"/>
            </a:p>
          </p:txBody>
        </p:sp>
        <p:grpSp>
          <p:nvGrpSpPr>
            <p:cNvPr id="530" name="Group 365">
              <a:extLst>
                <a:ext uri="{FF2B5EF4-FFF2-40B4-BE49-F238E27FC236}">
                  <a16:creationId xmlns:a16="http://schemas.microsoft.com/office/drawing/2014/main" id="{E465447F-20F1-2EBF-60DA-48DCB9949978}"/>
                </a:ext>
              </a:extLst>
            </p:cNvPr>
            <p:cNvGrpSpPr/>
            <p:nvPr/>
          </p:nvGrpSpPr>
          <p:grpSpPr>
            <a:xfrm>
              <a:off x="3750243" y="7425158"/>
              <a:ext cx="1553317" cy="1822371"/>
              <a:chOff x="0" y="0"/>
              <a:chExt cx="306828" cy="359975"/>
            </a:xfrm>
          </p:grpSpPr>
          <p:sp>
            <p:nvSpPr>
              <p:cNvPr id="633" name="Freeform 366">
                <a:extLst>
                  <a:ext uri="{FF2B5EF4-FFF2-40B4-BE49-F238E27FC236}">
                    <a16:creationId xmlns:a16="http://schemas.microsoft.com/office/drawing/2014/main" id="{21F4E587-5ED5-564C-D243-733766ED4DAD}"/>
                  </a:ext>
                </a:extLst>
              </p:cNvPr>
              <p:cNvSpPr/>
              <p:nvPr/>
            </p:nvSpPr>
            <p:spPr>
              <a:xfrm>
                <a:off x="0" y="0"/>
                <a:ext cx="306828" cy="359975"/>
              </a:xfrm>
              <a:custGeom>
                <a:avLst/>
                <a:gdLst/>
                <a:ahLst/>
                <a:cxnLst/>
                <a:rect l="l" t="t" r="r" b="b"/>
                <a:pathLst>
                  <a:path w="306828" h="359975">
                    <a:moveTo>
                      <a:pt x="119619" y="0"/>
                    </a:moveTo>
                    <a:lnTo>
                      <a:pt x="187209" y="0"/>
                    </a:lnTo>
                    <a:cubicBezTo>
                      <a:pt x="253273" y="0"/>
                      <a:pt x="306828" y="53555"/>
                      <a:pt x="306828" y="119619"/>
                    </a:cubicBezTo>
                    <a:lnTo>
                      <a:pt x="306828" y="240356"/>
                    </a:lnTo>
                    <a:cubicBezTo>
                      <a:pt x="306828" y="306419"/>
                      <a:pt x="253273" y="359975"/>
                      <a:pt x="187209" y="359975"/>
                    </a:cubicBezTo>
                    <a:lnTo>
                      <a:pt x="119619" y="359975"/>
                    </a:lnTo>
                    <a:cubicBezTo>
                      <a:pt x="53555" y="359975"/>
                      <a:pt x="0" y="306419"/>
                      <a:pt x="0" y="240356"/>
                    </a:cubicBezTo>
                    <a:lnTo>
                      <a:pt x="0" y="119619"/>
                    </a:lnTo>
                    <a:cubicBezTo>
                      <a:pt x="0" y="53555"/>
                      <a:pt x="53555" y="0"/>
                      <a:pt x="119619" y="0"/>
                    </a:cubicBezTo>
                    <a:close/>
                  </a:path>
                </a:pathLst>
              </a:custGeom>
              <a:solidFill>
                <a:srgbClr val="484747"/>
              </a:solidFill>
              <a:ln w="38100" cap="sq">
                <a:solidFill>
                  <a:srgbClr val="FFFFFF"/>
                </a:solidFill>
                <a:prstDash val="solid"/>
                <a:miter/>
              </a:ln>
            </p:spPr>
            <p:txBody>
              <a:bodyPr/>
              <a:lstStyle/>
              <a:p>
                <a:endParaRPr lang="en-US"/>
              </a:p>
            </p:txBody>
          </p:sp>
          <p:sp>
            <p:nvSpPr>
              <p:cNvPr id="634" name="TextBox 367">
                <a:extLst>
                  <a:ext uri="{FF2B5EF4-FFF2-40B4-BE49-F238E27FC236}">
                    <a16:creationId xmlns:a16="http://schemas.microsoft.com/office/drawing/2014/main" id="{E03E8D9F-AD30-DB72-83D8-4492CC28DDC1}"/>
                  </a:ext>
                </a:extLst>
              </p:cNvPr>
              <p:cNvSpPr txBox="1"/>
              <p:nvPr/>
            </p:nvSpPr>
            <p:spPr>
              <a:xfrm>
                <a:off x="0" y="-47625"/>
                <a:ext cx="306828" cy="407600"/>
              </a:xfrm>
              <a:prstGeom prst="rect">
                <a:avLst/>
              </a:prstGeom>
            </p:spPr>
            <p:txBody>
              <a:bodyPr lIns="50800" tIns="50800" rIns="50800" bIns="50800" rtlCol="0" anchor="ctr"/>
              <a:lstStyle/>
              <a:p>
                <a:pPr algn="ctr">
                  <a:lnSpc>
                    <a:spcPts val="2340"/>
                  </a:lnSpc>
                </a:pPr>
                <a:endParaRPr/>
              </a:p>
            </p:txBody>
          </p:sp>
        </p:grpSp>
        <p:grpSp>
          <p:nvGrpSpPr>
            <p:cNvPr id="531" name="Group 368">
              <a:extLst>
                <a:ext uri="{FF2B5EF4-FFF2-40B4-BE49-F238E27FC236}">
                  <a16:creationId xmlns:a16="http://schemas.microsoft.com/office/drawing/2014/main" id="{7A042BF3-B1D9-A1E6-6891-49F4DB49B014}"/>
                </a:ext>
              </a:extLst>
            </p:cNvPr>
            <p:cNvGrpSpPr/>
            <p:nvPr/>
          </p:nvGrpSpPr>
          <p:grpSpPr>
            <a:xfrm>
              <a:off x="2026938" y="7425158"/>
              <a:ext cx="1553317" cy="1822371"/>
              <a:chOff x="0" y="0"/>
              <a:chExt cx="306828" cy="359975"/>
            </a:xfrm>
          </p:grpSpPr>
          <p:sp>
            <p:nvSpPr>
              <p:cNvPr id="631" name="Freeform 369">
                <a:extLst>
                  <a:ext uri="{FF2B5EF4-FFF2-40B4-BE49-F238E27FC236}">
                    <a16:creationId xmlns:a16="http://schemas.microsoft.com/office/drawing/2014/main" id="{3294A8CE-A87C-7AF0-F00B-1299AAFB4460}"/>
                  </a:ext>
                </a:extLst>
              </p:cNvPr>
              <p:cNvSpPr/>
              <p:nvPr/>
            </p:nvSpPr>
            <p:spPr>
              <a:xfrm>
                <a:off x="0" y="0"/>
                <a:ext cx="306828" cy="359975"/>
              </a:xfrm>
              <a:custGeom>
                <a:avLst/>
                <a:gdLst/>
                <a:ahLst/>
                <a:cxnLst/>
                <a:rect l="l" t="t" r="r" b="b"/>
                <a:pathLst>
                  <a:path w="306828" h="359975">
                    <a:moveTo>
                      <a:pt x="119619" y="0"/>
                    </a:moveTo>
                    <a:lnTo>
                      <a:pt x="187209" y="0"/>
                    </a:lnTo>
                    <a:cubicBezTo>
                      <a:pt x="253273" y="0"/>
                      <a:pt x="306828" y="53555"/>
                      <a:pt x="306828" y="119619"/>
                    </a:cubicBezTo>
                    <a:lnTo>
                      <a:pt x="306828" y="240356"/>
                    </a:lnTo>
                    <a:cubicBezTo>
                      <a:pt x="306828" y="306419"/>
                      <a:pt x="253273" y="359975"/>
                      <a:pt x="187209" y="359975"/>
                    </a:cubicBezTo>
                    <a:lnTo>
                      <a:pt x="119619" y="359975"/>
                    </a:lnTo>
                    <a:cubicBezTo>
                      <a:pt x="53555" y="359975"/>
                      <a:pt x="0" y="306419"/>
                      <a:pt x="0" y="240356"/>
                    </a:cubicBezTo>
                    <a:lnTo>
                      <a:pt x="0" y="119619"/>
                    </a:lnTo>
                    <a:cubicBezTo>
                      <a:pt x="0" y="53555"/>
                      <a:pt x="53555" y="0"/>
                      <a:pt x="119619" y="0"/>
                    </a:cubicBezTo>
                    <a:close/>
                  </a:path>
                </a:pathLst>
              </a:custGeom>
              <a:solidFill>
                <a:srgbClr val="484747"/>
              </a:solidFill>
              <a:ln w="38100" cap="sq">
                <a:solidFill>
                  <a:srgbClr val="FFFFFF"/>
                </a:solidFill>
                <a:prstDash val="solid"/>
                <a:miter/>
              </a:ln>
            </p:spPr>
            <p:txBody>
              <a:bodyPr/>
              <a:lstStyle/>
              <a:p>
                <a:endParaRPr lang="en-US"/>
              </a:p>
            </p:txBody>
          </p:sp>
          <p:sp>
            <p:nvSpPr>
              <p:cNvPr id="632" name="TextBox 370">
                <a:extLst>
                  <a:ext uri="{FF2B5EF4-FFF2-40B4-BE49-F238E27FC236}">
                    <a16:creationId xmlns:a16="http://schemas.microsoft.com/office/drawing/2014/main" id="{79ED8AAD-C572-C687-0B5B-8FB313CD319A}"/>
                  </a:ext>
                </a:extLst>
              </p:cNvPr>
              <p:cNvSpPr txBox="1"/>
              <p:nvPr/>
            </p:nvSpPr>
            <p:spPr>
              <a:xfrm>
                <a:off x="0" y="-47625"/>
                <a:ext cx="306828" cy="407600"/>
              </a:xfrm>
              <a:prstGeom prst="rect">
                <a:avLst/>
              </a:prstGeom>
            </p:spPr>
            <p:txBody>
              <a:bodyPr lIns="50800" tIns="50800" rIns="50800" bIns="50800" rtlCol="0" anchor="ctr"/>
              <a:lstStyle/>
              <a:p>
                <a:pPr algn="ctr">
                  <a:lnSpc>
                    <a:spcPts val="2340"/>
                  </a:lnSpc>
                </a:pPr>
                <a:endParaRPr/>
              </a:p>
            </p:txBody>
          </p:sp>
        </p:grpSp>
        <p:grpSp>
          <p:nvGrpSpPr>
            <p:cNvPr id="532" name="Group 371">
              <a:extLst>
                <a:ext uri="{FF2B5EF4-FFF2-40B4-BE49-F238E27FC236}">
                  <a16:creationId xmlns:a16="http://schemas.microsoft.com/office/drawing/2014/main" id="{B2E88518-47E7-45F0-2160-FA932798B712}"/>
                </a:ext>
              </a:extLst>
            </p:cNvPr>
            <p:cNvGrpSpPr/>
            <p:nvPr/>
          </p:nvGrpSpPr>
          <p:grpSpPr>
            <a:xfrm>
              <a:off x="303632" y="7425158"/>
              <a:ext cx="1553317" cy="1822371"/>
              <a:chOff x="0" y="0"/>
              <a:chExt cx="306828" cy="359975"/>
            </a:xfrm>
          </p:grpSpPr>
          <p:sp>
            <p:nvSpPr>
              <p:cNvPr id="629" name="Freeform 372">
                <a:extLst>
                  <a:ext uri="{FF2B5EF4-FFF2-40B4-BE49-F238E27FC236}">
                    <a16:creationId xmlns:a16="http://schemas.microsoft.com/office/drawing/2014/main" id="{3AEE183F-8124-C41E-038F-02F44CAC345C}"/>
                  </a:ext>
                </a:extLst>
              </p:cNvPr>
              <p:cNvSpPr/>
              <p:nvPr/>
            </p:nvSpPr>
            <p:spPr>
              <a:xfrm>
                <a:off x="0" y="0"/>
                <a:ext cx="306828" cy="359975"/>
              </a:xfrm>
              <a:custGeom>
                <a:avLst/>
                <a:gdLst/>
                <a:ahLst/>
                <a:cxnLst/>
                <a:rect l="l" t="t" r="r" b="b"/>
                <a:pathLst>
                  <a:path w="306828" h="359975">
                    <a:moveTo>
                      <a:pt x="119619" y="0"/>
                    </a:moveTo>
                    <a:lnTo>
                      <a:pt x="187209" y="0"/>
                    </a:lnTo>
                    <a:cubicBezTo>
                      <a:pt x="253273" y="0"/>
                      <a:pt x="306828" y="53555"/>
                      <a:pt x="306828" y="119619"/>
                    </a:cubicBezTo>
                    <a:lnTo>
                      <a:pt x="306828" y="240356"/>
                    </a:lnTo>
                    <a:cubicBezTo>
                      <a:pt x="306828" y="306419"/>
                      <a:pt x="253273" y="359975"/>
                      <a:pt x="187209" y="359975"/>
                    </a:cubicBezTo>
                    <a:lnTo>
                      <a:pt x="119619" y="359975"/>
                    </a:lnTo>
                    <a:cubicBezTo>
                      <a:pt x="53555" y="359975"/>
                      <a:pt x="0" y="306419"/>
                      <a:pt x="0" y="240356"/>
                    </a:cubicBezTo>
                    <a:lnTo>
                      <a:pt x="0" y="119619"/>
                    </a:lnTo>
                    <a:cubicBezTo>
                      <a:pt x="0" y="53555"/>
                      <a:pt x="53555" y="0"/>
                      <a:pt x="119619" y="0"/>
                    </a:cubicBezTo>
                    <a:close/>
                  </a:path>
                </a:pathLst>
              </a:custGeom>
              <a:solidFill>
                <a:srgbClr val="484747"/>
              </a:solidFill>
              <a:ln w="38100" cap="sq">
                <a:solidFill>
                  <a:srgbClr val="FFFFFF"/>
                </a:solidFill>
                <a:prstDash val="solid"/>
                <a:miter/>
              </a:ln>
            </p:spPr>
            <p:txBody>
              <a:bodyPr/>
              <a:lstStyle/>
              <a:p>
                <a:endParaRPr lang="en-US"/>
              </a:p>
            </p:txBody>
          </p:sp>
          <p:sp>
            <p:nvSpPr>
              <p:cNvPr id="630" name="TextBox 373">
                <a:extLst>
                  <a:ext uri="{FF2B5EF4-FFF2-40B4-BE49-F238E27FC236}">
                    <a16:creationId xmlns:a16="http://schemas.microsoft.com/office/drawing/2014/main" id="{12E7D534-87C0-DE1B-6F2F-6CF8A2E87A77}"/>
                  </a:ext>
                </a:extLst>
              </p:cNvPr>
              <p:cNvSpPr txBox="1"/>
              <p:nvPr/>
            </p:nvSpPr>
            <p:spPr>
              <a:xfrm>
                <a:off x="0" y="-47625"/>
                <a:ext cx="306828" cy="407600"/>
              </a:xfrm>
              <a:prstGeom prst="rect">
                <a:avLst/>
              </a:prstGeom>
            </p:spPr>
            <p:txBody>
              <a:bodyPr lIns="50800" tIns="50800" rIns="50800" bIns="50800" rtlCol="0" anchor="ctr"/>
              <a:lstStyle/>
              <a:p>
                <a:pPr algn="ctr">
                  <a:lnSpc>
                    <a:spcPts val="2340"/>
                  </a:lnSpc>
                </a:pPr>
                <a:endParaRPr/>
              </a:p>
            </p:txBody>
          </p:sp>
        </p:grpSp>
        <p:sp>
          <p:nvSpPr>
            <p:cNvPr id="533" name="Freeform 374">
              <a:extLst>
                <a:ext uri="{FF2B5EF4-FFF2-40B4-BE49-F238E27FC236}">
                  <a16:creationId xmlns:a16="http://schemas.microsoft.com/office/drawing/2014/main" id="{70BB30AC-B4EE-7C08-3092-EED998A2BA60}"/>
                </a:ext>
              </a:extLst>
            </p:cNvPr>
            <p:cNvSpPr/>
            <p:nvPr/>
          </p:nvSpPr>
          <p:spPr>
            <a:xfrm>
              <a:off x="4096484" y="5663351"/>
              <a:ext cx="800260" cy="800260"/>
            </a:xfrm>
            <a:custGeom>
              <a:avLst/>
              <a:gdLst/>
              <a:ahLst/>
              <a:cxnLst/>
              <a:rect l="l" t="t" r="r" b="b"/>
              <a:pathLst>
                <a:path w="800260" h="800260">
                  <a:moveTo>
                    <a:pt x="0" y="0"/>
                  </a:moveTo>
                  <a:lnTo>
                    <a:pt x="800260" y="0"/>
                  </a:lnTo>
                  <a:lnTo>
                    <a:pt x="800260" y="800259"/>
                  </a:lnTo>
                  <a:lnTo>
                    <a:pt x="0" y="800259"/>
                  </a:lnTo>
                  <a:lnTo>
                    <a:pt x="0" y="0"/>
                  </a:lnTo>
                  <a:close/>
                </a:path>
              </a:pathLst>
            </a:custGeom>
            <a:blipFill>
              <a:blip>
                <a:extLst>
                  <a:ext uri="{96DAC541-7B7A-43D3-8B79-37D633B846F1}">
                    <asvg:svgBlip xmlns:asvg="http://schemas.microsoft.com/office/drawing/2016/SVG/main" r:embed="rId31"/>
                  </a:ext>
                </a:extLst>
              </a:blip>
              <a:stretch>
                <a:fillRect/>
              </a:stretch>
            </a:blipFill>
          </p:spPr>
          <p:txBody>
            <a:bodyPr/>
            <a:lstStyle/>
            <a:p>
              <a:endParaRPr lang="en-US"/>
            </a:p>
          </p:txBody>
        </p:sp>
        <p:sp>
          <p:nvSpPr>
            <p:cNvPr id="534" name="Freeform 375">
              <a:extLst>
                <a:ext uri="{FF2B5EF4-FFF2-40B4-BE49-F238E27FC236}">
                  <a16:creationId xmlns:a16="http://schemas.microsoft.com/office/drawing/2014/main" id="{B0A82563-822F-03E9-6B81-DFFD71855895}"/>
                </a:ext>
              </a:extLst>
            </p:cNvPr>
            <p:cNvSpPr/>
            <p:nvPr/>
          </p:nvSpPr>
          <p:spPr>
            <a:xfrm>
              <a:off x="4257550" y="5827494"/>
              <a:ext cx="498756" cy="266834"/>
            </a:xfrm>
            <a:custGeom>
              <a:avLst/>
              <a:gdLst/>
              <a:ahLst/>
              <a:cxnLst/>
              <a:rect l="l" t="t" r="r" b="b"/>
              <a:pathLst>
                <a:path w="498756" h="266834">
                  <a:moveTo>
                    <a:pt x="0" y="0"/>
                  </a:moveTo>
                  <a:lnTo>
                    <a:pt x="498755" y="0"/>
                  </a:lnTo>
                  <a:lnTo>
                    <a:pt x="498755" y="266835"/>
                  </a:lnTo>
                  <a:lnTo>
                    <a:pt x="0" y="266835"/>
                  </a:lnTo>
                  <a:lnTo>
                    <a:pt x="0" y="0"/>
                  </a:lnTo>
                  <a:close/>
                </a:path>
              </a:pathLst>
            </a:custGeom>
            <a:blipFill>
              <a:blip>
                <a:extLst>
                  <a:ext uri="{96DAC541-7B7A-43D3-8B79-37D633B846F1}">
                    <asvg:svgBlip xmlns:asvg="http://schemas.microsoft.com/office/drawing/2016/SVG/main" r:embed="rId32"/>
                  </a:ext>
                </a:extLst>
              </a:blip>
              <a:stretch>
                <a:fillRect/>
              </a:stretch>
            </a:blipFill>
          </p:spPr>
          <p:txBody>
            <a:bodyPr/>
            <a:lstStyle/>
            <a:p>
              <a:endParaRPr lang="en-US"/>
            </a:p>
          </p:txBody>
        </p:sp>
        <p:sp>
          <p:nvSpPr>
            <p:cNvPr id="535" name="TextBox 376">
              <a:extLst>
                <a:ext uri="{FF2B5EF4-FFF2-40B4-BE49-F238E27FC236}">
                  <a16:creationId xmlns:a16="http://schemas.microsoft.com/office/drawing/2014/main" id="{AC7D30A9-8FA6-E062-2F17-1486221D43A1}"/>
                </a:ext>
              </a:extLst>
            </p:cNvPr>
            <p:cNvSpPr txBox="1"/>
            <p:nvPr/>
          </p:nvSpPr>
          <p:spPr>
            <a:xfrm>
              <a:off x="4281988" y="5687548"/>
              <a:ext cx="449879" cy="205379"/>
            </a:xfrm>
            <a:prstGeom prst="rect">
              <a:avLst/>
            </a:prstGeom>
          </p:spPr>
          <p:txBody>
            <a:bodyPr lIns="0" tIns="0" rIns="0" bIns="0" rtlCol="0" anchor="t">
              <a:spAutoFit/>
            </a:bodyPr>
            <a:lstStyle/>
            <a:p>
              <a:pPr algn="ctr">
                <a:lnSpc>
                  <a:spcPts val="764"/>
                </a:lnSpc>
                <a:spcBef>
                  <a:spcPct val="0"/>
                </a:spcBef>
              </a:pPr>
              <a:r>
                <a:rPr lang="en-US" sz="636" b="1" spc="86">
                  <a:solidFill>
                    <a:srgbClr val="FFFFFF"/>
                  </a:solidFill>
                  <a:latin typeface="Calibri (MS) Bold"/>
                  <a:ea typeface="Calibri (MS) Bold"/>
                  <a:cs typeface="Calibri (MS) Bold"/>
                  <a:sym typeface="Calibri (MS) Bold"/>
                </a:rPr>
                <a:t>COFFEE</a:t>
              </a:r>
            </a:p>
          </p:txBody>
        </p:sp>
        <p:sp>
          <p:nvSpPr>
            <p:cNvPr id="536" name="Freeform 377">
              <a:extLst>
                <a:ext uri="{FF2B5EF4-FFF2-40B4-BE49-F238E27FC236}">
                  <a16:creationId xmlns:a16="http://schemas.microsoft.com/office/drawing/2014/main" id="{C0AD11D4-0A58-11E4-6937-1049145FD049}"/>
                </a:ext>
              </a:extLst>
            </p:cNvPr>
            <p:cNvSpPr/>
            <p:nvPr/>
          </p:nvSpPr>
          <p:spPr>
            <a:xfrm rot="-3394830" flipV="1">
              <a:off x="4145710" y="5993482"/>
              <a:ext cx="123367" cy="38778"/>
            </a:xfrm>
            <a:custGeom>
              <a:avLst/>
              <a:gdLst/>
              <a:ahLst/>
              <a:cxnLst/>
              <a:rect l="l" t="t" r="r" b="b"/>
              <a:pathLst>
                <a:path w="123367" h="38778">
                  <a:moveTo>
                    <a:pt x="0" y="38778"/>
                  </a:moveTo>
                  <a:lnTo>
                    <a:pt x="123367" y="38778"/>
                  </a:lnTo>
                  <a:lnTo>
                    <a:pt x="123367" y="0"/>
                  </a:lnTo>
                  <a:lnTo>
                    <a:pt x="0" y="0"/>
                  </a:lnTo>
                  <a:lnTo>
                    <a:pt x="0" y="38778"/>
                  </a:lnTo>
                  <a:close/>
                </a:path>
              </a:pathLst>
            </a:custGeom>
            <a:blipFill>
              <a:blip>
                <a:extLst>
                  <a:ext uri="{96DAC541-7B7A-43D3-8B79-37D633B846F1}">
                    <asvg:svgBlip xmlns:asvg="http://schemas.microsoft.com/office/drawing/2016/SVG/main" r:embed="rId24"/>
                  </a:ext>
                </a:extLst>
              </a:blip>
              <a:stretch>
                <a:fillRect l="-116778"/>
              </a:stretch>
            </a:blipFill>
          </p:spPr>
          <p:txBody>
            <a:bodyPr/>
            <a:lstStyle/>
            <a:p>
              <a:endParaRPr lang="en-US"/>
            </a:p>
          </p:txBody>
        </p:sp>
        <p:sp>
          <p:nvSpPr>
            <p:cNvPr id="537" name="Freeform 378">
              <a:extLst>
                <a:ext uri="{FF2B5EF4-FFF2-40B4-BE49-F238E27FC236}">
                  <a16:creationId xmlns:a16="http://schemas.microsoft.com/office/drawing/2014/main" id="{B8670C7F-14B0-CCE3-C05B-BD5519C66028}"/>
                </a:ext>
              </a:extLst>
            </p:cNvPr>
            <p:cNvSpPr/>
            <p:nvPr/>
          </p:nvSpPr>
          <p:spPr>
            <a:xfrm rot="-6716943">
              <a:off x="4745445" y="5995060"/>
              <a:ext cx="113327" cy="35622"/>
            </a:xfrm>
            <a:custGeom>
              <a:avLst/>
              <a:gdLst/>
              <a:ahLst/>
              <a:cxnLst/>
              <a:rect l="l" t="t" r="r" b="b"/>
              <a:pathLst>
                <a:path w="113327" h="35622">
                  <a:moveTo>
                    <a:pt x="0" y="0"/>
                  </a:moveTo>
                  <a:lnTo>
                    <a:pt x="113327" y="0"/>
                  </a:lnTo>
                  <a:lnTo>
                    <a:pt x="113327" y="35622"/>
                  </a:lnTo>
                  <a:lnTo>
                    <a:pt x="0" y="35622"/>
                  </a:lnTo>
                  <a:lnTo>
                    <a:pt x="0" y="0"/>
                  </a:lnTo>
                  <a:close/>
                </a:path>
              </a:pathLst>
            </a:custGeom>
            <a:blipFill>
              <a:blip>
                <a:extLst>
                  <a:ext uri="{96DAC541-7B7A-43D3-8B79-37D633B846F1}">
                    <asvg:svgBlip xmlns:asvg="http://schemas.microsoft.com/office/drawing/2016/SVG/main" r:embed="rId24"/>
                  </a:ext>
                </a:extLst>
              </a:blip>
              <a:stretch>
                <a:fillRect l="-116778"/>
              </a:stretch>
            </a:blipFill>
          </p:spPr>
          <p:txBody>
            <a:bodyPr/>
            <a:lstStyle/>
            <a:p>
              <a:endParaRPr lang="en-US"/>
            </a:p>
          </p:txBody>
        </p:sp>
        <p:sp>
          <p:nvSpPr>
            <p:cNvPr id="538" name="Freeform 379">
              <a:extLst>
                <a:ext uri="{FF2B5EF4-FFF2-40B4-BE49-F238E27FC236}">
                  <a16:creationId xmlns:a16="http://schemas.microsoft.com/office/drawing/2014/main" id="{60F4CAE6-9E52-8141-963F-82E65C0EFCAC}"/>
                </a:ext>
              </a:extLst>
            </p:cNvPr>
            <p:cNvSpPr/>
            <p:nvPr/>
          </p:nvSpPr>
          <p:spPr>
            <a:xfrm rot="2699999">
              <a:off x="4240778" y="5906698"/>
              <a:ext cx="517718" cy="517718"/>
            </a:xfrm>
            <a:custGeom>
              <a:avLst/>
              <a:gdLst/>
              <a:ahLst/>
              <a:cxnLst/>
              <a:rect l="l" t="t" r="r" b="b"/>
              <a:pathLst>
                <a:path w="517718" h="517718">
                  <a:moveTo>
                    <a:pt x="0" y="0"/>
                  </a:moveTo>
                  <a:lnTo>
                    <a:pt x="517718" y="0"/>
                  </a:lnTo>
                  <a:lnTo>
                    <a:pt x="517718" y="517717"/>
                  </a:lnTo>
                  <a:lnTo>
                    <a:pt x="0" y="517717"/>
                  </a:lnTo>
                  <a:lnTo>
                    <a:pt x="0" y="0"/>
                  </a:lnTo>
                  <a:close/>
                </a:path>
              </a:pathLst>
            </a:custGeom>
            <a:blipFill>
              <a:blip>
                <a:extLst>
                  <a:ext uri="{96DAC541-7B7A-43D3-8B79-37D633B846F1}">
                    <asvg:svgBlip xmlns:asvg="http://schemas.microsoft.com/office/drawing/2016/SVG/main" r:embed="rId33"/>
                  </a:ext>
                </a:extLst>
              </a:blip>
              <a:stretch>
                <a:fillRect/>
              </a:stretch>
            </a:blipFill>
          </p:spPr>
          <p:txBody>
            <a:bodyPr/>
            <a:lstStyle/>
            <a:p>
              <a:endParaRPr lang="en-US"/>
            </a:p>
          </p:txBody>
        </p:sp>
        <p:sp>
          <p:nvSpPr>
            <p:cNvPr id="539" name="TextBox 380">
              <a:extLst>
                <a:ext uri="{FF2B5EF4-FFF2-40B4-BE49-F238E27FC236}">
                  <a16:creationId xmlns:a16="http://schemas.microsoft.com/office/drawing/2014/main" id="{644F9E47-609B-7FF6-93D7-01CA641D6B15}"/>
                </a:ext>
              </a:extLst>
            </p:cNvPr>
            <p:cNvSpPr txBox="1"/>
            <p:nvPr/>
          </p:nvSpPr>
          <p:spPr>
            <a:xfrm>
              <a:off x="4382930" y="6333267"/>
              <a:ext cx="227368" cy="49523"/>
            </a:xfrm>
            <a:prstGeom prst="rect">
              <a:avLst/>
            </a:prstGeom>
          </p:spPr>
          <p:txBody>
            <a:bodyPr lIns="0" tIns="0" rIns="0" bIns="0" rtlCol="0" anchor="t">
              <a:spAutoFit/>
            </a:bodyPr>
            <a:lstStyle/>
            <a:p>
              <a:pPr algn="ctr">
                <a:lnSpc>
                  <a:spcPts val="238"/>
                </a:lnSpc>
                <a:spcBef>
                  <a:spcPct val="0"/>
                </a:spcBef>
              </a:pPr>
              <a:r>
                <a:rPr lang="en-US" sz="198" b="1" spc="27">
                  <a:solidFill>
                    <a:srgbClr val="FFFFFF"/>
                  </a:solidFill>
                  <a:latin typeface="Calibri (MS) Bold"/>
                  <a:ea typeface="Calibri (MS) Bold"/>
                  <a:cs typeface="Calibri (MS) Bold"/>
                  <a:sym typeface="Calibri (MS) Bold"/>
                </a:rPr>
                <a:t>October2026</a:t>
              </a:r>
            </a:p>
          </p:txBody>
        </p:sp>
        <p:sp>
          <p:nvSpPr>
            <p:cNvPr id="540" name="Freeform 381">
              <a:extLst>
                <a:ext uri="{FF2B5EF4-FFF2-40B4-BE49-F238E27FC236}">
                  <a16:creationId xmlns:a16="http://schemas.microsoft.com/office/drawing/2014/main" id="{5E59604C-BC9A-1B4E-EA6A-41E0AC3B1352}"/>
                </a:ext>
              </a:extLst>
            </p:cNvPr>
            <p:cNvSpPr/>
            <p:nvPr/>
          </p:nvSpPr>
          <p:spPr>
            <a:xfrm rot="2699999">
              <a:off x="4302423" y="6096032"/>
              <a:ext cx="388382" cy="388382"/>
            </a:xfrm>
            <a:custGeom>
              <a:avLst/>
              <a:gdLst/>
              <a:ahLst/>
              <a:cxnLst/>
              <a:rect l="l" t="t" r="r" b="b"/>
              <a:pathLst>
                <a:path w="388382" h="388382">
                  <a:moveTo>
                    <a:pt x="0" y="0"/>
                  </a:moveTo>
                  <a:lnTo>
                    <a:pt x="388382" y="0"/>
                  </a:lnTo>
                  <a:lnTo>
                    <a:pt x="388382" y="388382"/>
                  </a:lnTo>
                  <a:lnTo>
                    <a:pt x="0" y="388382"/>
                  </a:lnTo>
                  <a:lnTo>
                    <a:pt x="0" y="0"/>
                  </a:lnTo>
                  <a:close/>
                </a:path>
              </a:pathLst>
            </a:custGeom>
            <a:blipFill>
              <a:blip>
                <a:extLst>
                  <a:ext uri="{96DAC541-7B7A-43D3-8B79-37D633B846F1}">
                    <asvg:svgBlip xmlns:asvg="http://schemas.microsoft.com/office/drawing/2016/SVG/main" r:embed="rId33"/>
                  </a:ext>
                </a:extLst>
              </a:blip>
              <a:stretch>
                <a:fillRect/>
              </a:stretch>
            </a:blipFill>
          </p:spPr>
          <p:txBody>
            <a:bodyPr/>
            <a:lstStyle/>
            <a:p>
              <a:endParaRPr lang="en-US"/>
            </a:p>
          </p:txBody>
        </p:sp>
        <p:sp>
          <p:nvSpPr>
            <p:cNvPr id="541" name="TextBox 382">
              <a:extLst>
                <a:ext uri="{FF2B5EF4-FFF2-40B4-BE49-F238E27FC236}">
                  <a16:creationId xmlns:a16="http://schemas.microsoft.com/office/drawing/2014/main" id="{0AF0F642-D17E-0435-7521-F5DB6F601F7E}"/>
                </a:ext>
              </a:extLst>
            </p:cNvPr>
            <p:cNvSpPr txBox="1"/>
            <p:nvPr/>
          </p:nvSpPr>
          <p:spPr>
            <a:xfrm>
              <a:off x="4314579" y="6197785"/>
              <a:ext cx="370116" cy="73869"/>
            </a:xfrm>
            <a:prstGeom prst="rect">
              <a:avLst/>
            </a:prstGeom>
          </p:spPr>
          <p:txBody>
            <a:bodyPr lIns="0" tIns="0" rIns="0" bIns="0" rtlCol="0" anchor="t">
              <a:spAutoFit/>
            </a:bodyPr>
            <a:lstStyle/>
            <a:p>
              <a:pPr algn="ctr">
                <a:lnSpc>
                  <a:spcPts val="386"/>
                </a:lnSpc>
                <a:spcBef>
                  <a:spcPct val="0"/>
                </a:spcBef>
              </a:pPr>
              <a:r>
                <a:rPr lang="en-US" sz="321" b="1">
                  <a:solidFill>
                    <a:srgbClr val="FFFFFF"/>
                  </a:solidFill>
                  <a:latin typeface="Calibri (MS) Bold"/>
                  <a:ea typeface="Calibri (MS) Bold"/>
                  <a:cs typeface="Calibri (MS) Bold"/>
                  <a:sym typeface="Calibri (MS) Bold"/>
                </a:rPr>
                <a:t> REAL PASSPORT</a:t>
              </a:r>
            </a:p>
          </p:txBody>
        </p:sp>
        <p:sp>
          <p:nvSpPr>
            <p:cNvPr id="542" name="TextBox 383">
              <a:extLst>
                <a:ext uri="{FF2B5EF4-FFF2-40B4-BE49-F238E27FC236}">
                  <a16:creationId xmlns:a16="http://schemas.microsoft.com/office/drawing/2014/main" id="{FDF6B4C2-0477-DE50-A9B7-22C9BD3BE633}"/>
                </a:ext>
              </a:extLst>
            </p:cNvPr>
            <p:cNvSpPr txBox="1"/>
            <p:nvPr/>
          </p:nvSpPr>
          <p:spPr>
            <a:xfrm>
              <a:off x="4149383" y="6084577"/>
              <a:ext cx="175558" cy="49523"/>
            </a:xfrm>
            <a:prstGeom prst="rect">
              <a:avLst/>
            </a:prstGeom>
          </p:spPr>
          <p:txBody>
            <a:bodyPr lIns="0" tIns="0" rIns="0" bIns="0" rtlCol="0" anchor="t">
              <a:spAutoFit/>
            </a:bodyPr>
            <a:lstStyle/>
            <a:p>
              <a:pPr algn="ctr">
                <a:lnSpc>
                  <a:spcPts val="238"/>
                </a:lnSpc>
                <a:spcBef>
                  <a:spcPct val="0"/>
                </a:spcBef>
              </a:pPr>
              <a:r>
                <a:rPr lang="en-US" sz="198" b="1">
                  <a:solidFill>
                    <a:srgbClr val="FFDE59"/>
                  </a:solidFill>
                  <a:latin typeface="Calibri (MS) Bold"/>
                  <a:ea typeface="Calibri (MS) Bold"/>
                  <a:cs typeface="Calibri (MS) Bold"/>
                  <a:sym typeface="Calibri (MS) Bold"/>
                </a:rPr>
                <a:t>BeReal.</a:t>
              </a:r>
            </a:p>
          </p:txBody>
        </p:sp>
        <p:sp>
          <p:nvSpPr>
            <p:cNvPr id="543" name="TextBox 384">
              <a:extLst>
                <a:ext uri="{FF2B5EF4-FFF2-40B4-BE49-F238E27FC236}">
                  <a16:creationId xmlns:a16="http://schemas.microsoft.com/office/drawing/2014/main" id="{1801017C-597A-745A-B4BC-C20FEE84DE29}"/>
                </a:ext>
              </a:extLst>
            </p:cNvPr>
            <p:cNvSpPr txBox="1"/>
            <p:nvPr/>
          </p:nvSpPr>
          <p:spPr>
            <a:xfrm>
              <a:off x="4664250" y="6084577"/>
              <a:ext cx="175558" cy="49523"/>
            </a:xfrm>
            <a:prstGeom prst="rect">
              <a:avLst/>
            </a:prstGeom>
          </p:spPr>
          <p:txBody>
            <a:bodyPr lIns="0" tIns="0" rIns="0" bIns="0" rtlCol="0" anchor="t">
              <a:spAutoFit/>
            </a:bodyPr>
            <a:lstStyle/>
            <a:p>
              <a:pPr algn="ctr">
                <a:lnSpc>
                  <a:spcPts val="238"/>
                </a:lnSpc>
                <a:spcBef>
                  <a:spcPct val="0"/>
                </a:spcBef>
              </a:pPr>
              <a:r>
                <a:rPr lang="en-US" sz="198" b="1">
                  <a:solidFill>
                    <a:srgbClr val="FFDE59"/>
                  </a:solidFill>
                  <a:latin typeface="Calibri (MS) Bold"/>
                  <a:ea typeface="Calibri (MS) Bold"/>
                  <a:cs typeface="Calibri (MS) Bold"/>
                  <a:sym typeface="Calibri (MS) Bold"/>
                </a:rPr>
                <a:t>Unfiltered</a:t>
              </a:r>
            </a:p>
          </p:txBody>
        </p:sp>
        <p:sp>
          <p:nvSpPr>
            <p:cNvPr id="544" name="Freeform 385">
              <a:extLst>
                <a:ext uri="{FF2B5EF4-FFF2-40B4-BE49-F238E27FC236}">
                  <a16:creationId xmlns:a16="http://schemas.microsoft.com/office/drawing/2014/main" id="{7446460D-DC3D-92BC-5678-961F6AAAD5FA}"/>
                </a:ext>
              </a:extLst>
            </p:cNvPr>
            <p:cNvSpPr/>
            <p:nvPr/>
          </p:nvSpPr>
          <p:spPr>
            <a:xfrm>
              <a:off x="4422402" y="5945438"/>
              <a:ext cx="148424" cy="168663"/>
            </a:xfrm>
            <a:custGeom>
              <a:avLst/>
              <a:gdLst/>
              <a:ahLst/>
              <a:cxnLst/>
              <a:rect l="l" t="t" r="r" b="b"/>
              <a:pathLst>
                <a:path w="148424" h="168663">
                  <a:moveTo>
                    <a:pt x="0" y="0"/>
                  </a:moveTo>
                  <a:lnTo>
                    <a:pt x="148424" y="0"/>
                  </a:lnTo>
                  <a:lnTo>
                    <a:pt x="148424" y="168663"/>
                  </a:lnTo>
                  <a:lnTo>
                    <a:pt x="0" y="168663"/>
                  </a:lnTo>
                  <a:lnTo>
                    <a:pt x="0" y="0"/>
                  </a:lnTo>
                  <a:close/>
                </a:path>
              </a:pathLst>
            </a:custGeom>
            <a:blipFill>
              <a:blip>
                <a:extLst>
                  <a:ext uri="{96DAC541-7B7A-43D3-8B79-37D633B846F1}">
                    <asvg:svgBlip xmlns:asvg="http://schemas.microsoft.com/office/drawing/2016/SVG/main" r:embed="rId34"/>
                  </a:ext>
                </a:extLst>
              </a:blip>
              <a:stretch>
                <a:fillRect/>
              </a:stretch>
            </a:blipFill>
          </p:spPr>
          <p:txBody>
            <a:bodyPr/>
            <a:lstStyle/>
            <a:p>
              <a:endParaRPr lang="en-US"/>
            </a:p>
          </p:txBody>
        </p:sp>
        <p:sp>
          <p:nvSpPr>
            <p:cNvPr id="545" name="Freeform 386">
              <a:extLst>
                <a:ext uri="{FF2B5EF4-FFF2-40B4-BE49-F238E27FC236}">
                  <a16:creationId xmlns:a16="http://schemas.microsoft.com/office/drawing/2014/main" id="{7E2F4774-A366-1F5A-B176-CDB2922830DC}"/>
                </a:ext>
              </a:extLst>
            </p:cNvPr>
            <p:cNvSpPr/>
            <p:nvPr/>
          </p:nvSpPr>
          <p:spPr>
            <a:xfrm>
              <a:off x="713165" y="7722413"/>
              <a:ext cx="761643" cy="761643"/>
            </a:xfrm>
            <a:custGeom>
              <a:avLst/>
              <a:gdLst/>
              <a:ahLst/>
              <a:cxnLst/>
              <a:rect l="l" t="t" r="r" b="b"/>
              <a:pathLst>
                <a:path w="761643" h="761643">
                  <a:moveTo>
                    <a:pt x="0" y="0"/>
                  </a:moveTo>
                  <a:lnTo>
                    <a:pt x="761644" y="0"/>
                  </a:lnTo>
                  <a:lnTo>
                    <a:pt x="761644" y="761643"/>
                  </a:lnTo>
                  <a:lnTo>
                    <a:pt x="0" y="761643"/>
                  </a:lnTo>
                  <a:lnTo>
                    <a:pt x="0" y="0"/>
                  </a:lnTo>
                  <a:close/>
                </a:path>
              </a:pathLst>
            </a:custGeom>
            <a:blipFill>
              <a:blip>
                <a:extLst>
                  <a:ext uri="{96DAC541-7B7A-43D3-8B79-37D633B846F1}">
                    <asvg:svgBlip xmlns:asvg="http://schemas.microsoft.com/office/drawing/2016/SVG/main" r:embed="rId35"/>
                  </a:ext>
                </a:extLst>
              </a:blip>
              <a:stretch>
                <a:fillRect/>
              </a:stretch>
            </a:blipFill>
          </p:spPr>
          <p:txBody>
            <a:bodyPr/>
            <a:lstStyle/>
            <a:p>
              <a:endParaRPr lang="en-US"/>
            </a:p>
          </p:txBody>
        </p:sp>
        <p:sp>
          <p:nvSpPr>
            <p:cNvPr id="546" name="Freeform 387">
              <a:extLst>
                <a:ext uri="{FF2B5EF4-FFF2-40B4-BE49-F238E27FC236}">
                  <a16:creationId xmlns:a16="http://schemas.microsoft.com/office/drawing/2014/main" id="{D3CF1EAC-89EE-8B32-07DD-2B4128ECEF6A}"/>
                </a:ext>
              </a:extLst>
            </p:cNvPr>
            <p:cNvSpPr/>
            <p:nvPr/>
          </p:nvSpPr>
          <p:spPr>
            <a:xfrm>
              <a:off x="866459" y="7878636"/>
              <a:ext cx="474688" cy="253958"/>
            </a:xfrm>
            <a:custGeom>
              <a:avLst/>
              <a:gdLst/>
              <a:ahLst/>
              <a:cxnLst/>
              <a:rect l="l" t="t" r="r" b="b"/>
              <a:pathLst>
                <a:path w="474688" h="253958">
                  <a:moveTo>
                    <a:pt x="0" y="0"/>
                  </a:moveTo>
                  <a:lnTo>
                    <a:pt x="474688" y="0"/>
                  </a:lnTo>
                  <a:lnTo>
                    <a:pt x="474688" y="253958"/>
                  </a:lnTo>
                  <a:lnTo>
                    <a:pt x="0" y="253958"/>
                  </a:lnTo>
                  <a:lnTo>
                    <a:pt x="0" y="0"/>
                  </a:lnTo>
                  <a:close/>
                </a:path>
              </a:pathLst>
            </a:custGeom>
            <a:blipFill>
              <a:blip>
                <a:extLst>
                  <a:ext uri="{96DAC541-7B7A-43D3-8B79-37D633B846F1}">
                    <asvg:svgBlip xmlns:asvg="http://schemas.microsoft.com/office/drawing/2016/SVG/main" r:embed="rId36"/>
                  </a:ext>
                </a:extLst>
              </a:blip>
              <a:stretch>
                <a:fillRect/>
              </a:stretch>
            </a:blipFill>
          </p:spPr>
          <p:txBody>
            <a:bodyPr/>
            <a:lstStyle/>
            <a:p>
              <a:endParaRPr lang="en-US"/>
            </a:p>
          </p:txBody>
        </p:sp>
        <p:sp>
          <p:nvSpPr>
            <p:cNvPr id="547" name="Freeform 388">
              <a:extLst>
                <a:ext uri="{FF2B5EF4-FFF2-40B4-BE49-F238E27FC236}">
                  <a16:creationId xmlns:a16="http://schemas.microsoft.com/office/drawing/2014/main" id="{D14ED19A-313C-24D5-32E0-B770BDFB71BE}"/>
                </a:ext>
              </a:extLst>
            </p:cNvPr>
            <p:cNvSpPr/>
            <p:nvPr/>
          </p:nvSpPr>
          <p:spPr>
            <a:xfrm>
              <a:off x="1003894" y="7942902"/>
              <a:ext cx="211156" cy="229518"/>
            </a:xfrm>
            <a:custGeom>
              <a:avLst/>
              <a:gdLst/>
              <a:ahLst/>
              <a:cxnLst/>
              <a:rect l="l" t="t" r="r" b="b"/>
              <a:pathLst>
                <a:path w="211156" h="229518">
                  <a:moveTo>
                    <a:pt x="0" y="0"/>
                  </a:moveTo>
                  <a:lnTo>
                    <a:pt x="211156" y="0"/>
                  </a:lnTo>
                  <a:lnTo>
                    <a:pt x="211156" y="229517"/>
                  </a:lnTo>
                  <a:lnTo>
                    <a:pt x="0" y="229517"/>
                  </a:lnTo>
                  <a:lnTo>
                    <a:pt x="0" y="0"/>
                  </a:lnTo>
                  <a:close/>
                </a:path>
              </a:pathLst>
            </a:custGeom>
            <a:blipFill>
              <a:blip>
                <a:extLst>
                  <a:ext uri="{96DAC541-7B7A-43D3-8B79-37D633B846F1}">
                    <asvg:svgBlip xmlns:asvg="http://schemas.microsoft.com/office/drawing/2016/SVG/main" r:embed="rId37"/>
                  </a:ext>
                </a:extLst>
              </a:blip>
              <a:stretch>
                <a:fillRect/>
              </a:stretch>
            </a:blipFill>
          </p:spPr>
          <p:txBody>
            <a:bodyPr/>
            <a:lstStyle/>
            <a:p>
              <a:endParaRPr lang="en-US"/>
            </a:p>
          </p:txBody>
        </p:sp>
        <p:sp>
          <p:nvSpPr>
            <p:cNvPr id="548" name="TextBox 389">
              <a:extLst>
                <a:ext uri="{FF2B5EF4-FFF2-40B4-BE49-F238E27FC236}">
                  <a16:creationId xmlns:a16="http://schemas.microsoft.com/office/drawing/2014/main" id="{EB6CCE7B-E983-C9AB-C204-6771B6C2121F}"/>
                </a:ext>
              </a:extLst>
            </p:cNvPr>
            <p:cNvSpPr txBox="1"/>
            <p:nvPr/>
          </p:nvSpPr>
          <p:spPr>
            <a:xfrm>
              <a:off x="838028" y="7744524"/>
              <a:ext cx="531551" cy="233449"/>
            </a:xfrm>
            <a:prstGeom prst="rect">
              <a:avLst/>
            </a:prstGeom>
          </p:spPr>
          <p:txBody>
            <a:bodyPr lIns="0" tIns="0" rIns="0" bIns="0" rtlCol="0" anchor="t">
              <a:spAutoFit/>
            </a:bodyPr>
            <a:lstStyle/>
            <a:p>
              <a:pPr algn="ctr">
                <a:lnSpc>
                  <a:spcPts val="727"/>
                </a:lnSpc>
                <a:spcBef>
                  <a:spcPct val="0"/>
                </a:spcBef>
              </a:pPr>
              <a:r>
                <a:rPr lang="en-US" sz="605" b="1" spc="82">
                  <a:solidFill>
                    <a:srgbClr val="FFFFFF"/>
                  </a:solidFill>
                  <a:latin typeface="Calibri (MS) Bold"/>
                  <a:ea typeface="Calibri (MS) Bold"/>
                  <a:cs typeface="Calibri (MS) Bold"/>
                  <a:sym typeface="Calibri (MS) Bold"/>
                </a:rPr>
                <a:t>HAUNTED</a:t>
              </a:r>
            </a:p>
          </p:txBody>
        </p:sp>
        <p:sp>
          <p:nvSpPr>
            <p:cNvPr id="549" name="Freeform 390">
              <a:extLst>
                <a:ext uri="{FF2B5EF4-FFF2-40B4-BE49-F238E27FC236}">
                  <a16:creationId xmlns:a16="http://schemas.microsoft.com/office/drawing/2014/main" id="{312DF88C-8AEA-A6C7-73DF-3D717C25017D}"/>
                </a:ext>
              </a:extLst>
            </p:cNvPr>
            <p:cNvSpPr/>
            <p:nvPr/>
          </p:nvSpPr>
          <p:spPr>
            <a:xfrm rot="-3394830" flipV="1">
              <a:off x="761314" y="7998955"/>
              <a:ext cx="153428" cy="48227"/>
            </a:xfrm>
            <a:custGeom>
              <a:avLst/>
              <a:gdLst/>
              <a:ahLst/>
              <a:cxnLst/>
              <a:rect l="l" t="t" r="r" b="b"/>
              <a:pathLst>
                <a:path w="153428" h="48227">
                  <a:moveTo>
                    <a:pt x="0" y="48227"/>
                  </a:moveTo>
                  <a:lnTo>
                    <a:pt x="153427" y="48227"/>
                  </a:lnTo>
                  <a:lnTo>
                    <a:pt x="153427" y="0"/>
                  </a:lnTo>
                  <a:lnTo>
                    <a:pt x="0" y="0"/>
                  </a:lnTo>
                  <a:lnTo>
                    <a:pt x="0" y="48227"/>
                  </a:lnTo>
                  <a:close/>
                </a:path>
              </a:pathLst>
            </a:custGeom>
            <a:blipFill>
              <a:blip>
                <a:extLst>
                  <a:ext uri="{96DAC541-7B7A-43D3-8B79-37D633B846F1}">
                    <asvg:svgBlip xmlns:asvg="http://schemas.microsoft.com/office/drawing/2016/SVG/main" r:embed="rId24"/>
                  </a:ext>
                </a:extLst>
              </a:blip>
              <a:stretch>
                <a:fillRect l="-116778"/>
              </a:stretch>
            </a:blipFill>
          </p:spPr>
          <p:txBody>
            <a:bodyPr/>
            <a:lstStyle/>
            <a:p>
              <a:endParaRPr lang="en-US"/>
            </a:p>
          </p:txBody>
        </p:sp>
        <p:sp>
          <p:nvSpPr>
            <p:cNvPr id="550" name="Freeform 391">
              <a:extLst>
                <a:ext uri="{FF2B5EF4-FFF2-40B4-BE49-F238E27FC236}">
                  <a16:creationId xmlns:a16="http://schemas.microsoft.com/office/drawing/2014/main" id="{AC921B3E-88DB-B010-8EF1-D173454EF61B}"/>
                </a:ext>
              </a:extLst>
            </p:cNvPr>
            <p:cNvSpPr/>
            <p:nvPr/>
          </p:nvSpPr>
          <p:spPr>
            <a:xfrm rot="-6716943">
              <a:off x="1292864" y="7998955"/>
              <a:ext cx="153428" cy="48227"/>
            </a:xfrm>
            <a:custGeom>
              <a:avLst/>
              <a:gdLst/>
              <a:ahLst/>
              <a:cxnLst/>
              <a:rect l="l" t="t" r="r" b="b"/>
              <a:pathLst>
                <a:path w="153428" h="48227">
                  <a:moveTo>
                    <a:pt x="0" y="0"/>
                  </a:moveTo>
                  <a:lnTo>
                    <a:pt x="153428" y="0"/>
                  </a:lnTo>
                  <a:lnTo>
                    <a:pt x="153428" y="48227"/>
                  </a:lnTo>
                  <a:lnTo>
                    <a:pt x="0" y="48227"/>
                  </a:lnTo>
                  <a:lnTo>
                    <a:pt x="0" y="0"/>
                  </a:lnTo>
                  <a:close/>
                </a:path>
              </a:pathLst>
            </a:custGeom>
            <a:blipFill>
              <a:blip>
                <a:extLst>
                  <a:ext uri="{96DAC541-7B7A-43D3-8B79-37D633B846F1}">
                    <asvg:svgBlip xmlns:asvg="http://schemas.microsoft.com/office/drawing/2016/SVG/main" r:embed="rId24"/>
                  </a:ext>
                </a:extLst>
              </a:blip>
              <a:stretch>
                <a:fillRect l="-116778"/>
              </a:stretch>
            </a:blipFill>
          </p:spPr>
          <p:txBody>
            <a:bodyPr/>
            <a:lstStyle/>
            <a:p>
              <a:endParaRPr lang="en-US"/>
            </a:p>
          </p:txBody>
        </p:sp>
        <p:sp>
          <p:nvSpPr>
            <p:cNvPr id="551" name="Freeform 392">
              <a:extLst>
                <a:ext uri="{FF2B5EF4-FFF2-40B4-BE49-F238E27FC236}">
                  <a16:creationId xmlns:a16="http://schemas.microsoft.com/office/drawing/2014/main" id="{1AE31253-7C72-1082-E6C4-E07BF890ECE5}"/>
                </a:ext>
              </a:extLst>
            </p:cNvPr>
            <p:cNvSpPr/>
            <p:nvPr/>
          </p:nvSpPr>
          <p:spPr>
            <a:xfrm rot="2699999">
              <a:off x="850497" y="7963616"/>
              <a:ext cx="492735" cy="492735"/>
            </a:xfrm>
            <a:custGeom>
              <a:avLst/>
              <a:gdLst/>
              <a:ahLst/>
              <a:cxnLst/>
              <a:rect l="l" t="t" r="r" b="b"/>
              <a:pathLst>
                <a:path w="492735" h="492735">
                  <a:moveTo>
                    <a:pt x="0" y="0"/>
                  </a:moveTo>
                  <a:lnTo>
                    <a:pt x="492735" y="0"/>
                  </a:lnTo>
                  <a:lnTo>
                    <a:pt x="492735" y="492736"/>
                  </a:lnTo>
                  <a:lnTo>
                    <a:pt x="0" y="492736"/>
                  </a:lnTo>
                  <a:lnTo>
                    <a:pt x="0" y="0"/>
                  </a:lnTo>
                  <a:close/>
                </a:path>
              </a:pathLst>
            </a:custGeom>
            <a:blipFill>
              <a:blip>
                <a:extLst>
                  <a:ext uri="{96DAC541-7B7A-43D3-8B79-37D633B846F1}">
                    <asvg:svgBlip xmlns:asvg="http://schemas.microsoft.com/office/drawing/2016/SVG/main" r:embed="rId38"/>
                  </a:ext>
                </a:extLst>
              </a:blip>
              <a:stretch>
                <a:fillRect/>
              </a:stretch>
            </a:blipFill>
          </p:spPr>
          <p:txBody>
            <a:bodyPr/>
            <a:lstStyle/>
            <a:p>
              <a:endParaRPr lang="en-US"/>
            </a:p>
          </p:txBody>
        </p:sp>
        <p:sp>
          <p:nvSpPr>
            <p:cNvPr id="552" name="TextBox 393">
              <a:extLst>
                <a:ext uri="{FF2B5EF4-FFF2-40B4-BE49-F238E27FC236}">
                  <a16:creationId xmlns:a16="http://schemas.microsoft.com/office/drawing/2014/main" id="{EA77528D-5D4B-600B-018E-2CF60E9964F6}"/>
                </a:ext>
              </a:extLst>
            </p:cNvPr>
            <p:cNvSpPr txBox="1"/>
            <p:nvPr/>
          </p:nvSpPr>
          <p:spPr>
            <a:xfrm>
              <a:off x="985789" y="8359543"/>
              <a:ext cx="216396" cy="47593"/>
            </a:xfrm>
            <a:prstGeom prst="rect">
              <a:avLst/>
            </a:prstGeom>
          </p:spPr>
          <p:txBody>
            <a:bodyPr lIns="0" tIns="0" rIns="0" bIns="0" rtlCol="0" anchor="t">
              <a:spAutoFit/>
            </a:bodyPr>
            <a:lstStyle/>
            <a:p>
              <a:pPr algn="ctr">
                <a:lnSpc>
                  <a:spcPts val="226"/>
                </a:lnSpc>
                <a:spcBef>
                  <a:spcPct val="0"/>
                </a:spcBef>
              </a:pPr>
              <a:r>
                <a:rPr lang="en-US" sz="188" b="1" spc="25">
                  <a:solidFill>
                    <a:srgbClr val="FFFFFF"/>
                  </a:solidFill>
                  <a:latin typeface="Calibri (MS) Bold"/>
                  <a:ea typeface="Calibri (MS) Bold"/>
                  <a:cs typeface="Calibri (MS) Bold"/>
                  <a:sym typeface="Calibri (MS) Bold"/>
                </a:rPr>
                <a:t>October2026</a:t>
              </a:r>
            </a:p>
          </p:txBody>
        </p:sp>
        <p:sp>
          <p:nvSpPr>
            <p:cNvPr id="553" name="Freeform 394">
              <a:extLst>
                <a:ext uri="{FF2B5EF4-FFF2-40B4-BE49-F238E27FC236}">
                  <a16:creationId xmlns:a16="http://schemas.microsoft.com/office/drawing/2014/main" id="{DBB948D1-F656-1DFC-757A-A6FEA0FDC0F3}"/>
                </a:ext>
              </a:extLst>
            </p:cNvPr>
            <p:cNvSpPr/>
            <p:nvPr/>
          </p:nvSpPr>
          <p:spPr>
            <a:xfrm rot="2699999">
              <a:off x="909166" y="8134216"/>
              <a:ext cx="369641" cy="369641"/>
            </a:xfrm>
            <a:custGeom>
              <a:avLst/>
              <a:gdLst/>
              <a:ahLst/>
              <a:cxnLst/>
              <a:rect l="l" t="t" r="r" b="b"/>
              <a:pathLst>
                <a:path w="369641" h="369641">
                  <a:moveTo>
                    <a:pt x="0" y="0"/>
                  </a:moveTo>
                  <a:lnTo>
                    <a:pt x="369641" y="0"/>
                  </a:lnTo>
                  <a:lnTo>
                    <a:pt x="369641" y="369641"/>
                  </a:lnTo>
                  <a:lnTo>
                    <a:pt x="0" y="369641"/>
                  </a:lnTo>
                  <a:lnTo>
                    <a:pt x="0" y="0"/>
                  </a:lnTo>
                  <a:close/>
                </a:path>
              </a:pathLst>
            </a:custGeom>
            <a:blipFill>
              <a:blip>
                <a:extLst>
                  <a:ext uri="{96DAC541-7B7A-43D3-8B79-37D633B846F1}">
                    <asvg:svgBlip xmlns:asvg="http://schemas.microsoft.com/office/drawing/2016/SVG/main" r:embed="rId38"/>
                  </a:ext>
                </a:extLst>
              </a:blip>
              <a:stretch>
                <a:fillRect/>
              </a:stretch>
            </a:blipFill>
          </p:spPr>
          <p:txBody>
            <a:bodyPr/>
            <a:lstStyle/>
            <a:p>
              <a:endParaRPr lang="en-US"/>
            </a:p>
          </p:txBody>
        </p:sp>
        <p:sp>
          <p:nvSpPr>
            <p:cNvPr id="554" name="TextBox 395">
              <a:extLst>
                <a:ext uri="{FF2B5EF4-FFF2-40B4-BE49-F238E27FC236}">
                  <a16:creationId xmlns:a16="http://schemas.microsoft.com/office/drawing/2014/main" id="{A0B8EC83-9DA2-F477-D977-85C3E00E5221}"/>
                </a:ext>
              </a:extLst>
            </p:cNvPr>
            <p:cNvSpPr txBox="1"/>
            <p:nvPr/>
          </p:nvSpPr>
          <p:spPr>
            <a:xfrm>
              <a:off x="920736" y="8230599"/>
              <a:ext cx="352256" cy="70764"/>
            </a:xfrm>
            <a:prstGeom prst="rect">
              <a:avLst/>
            </a:prstGeom>
          </p:spPr>
          <p:txBody>
            <a:bodyPr lIns="0" tIns="0" rIns="0" bIns="0" rtlCol="0" anchor="t">
              <a:spAutoFit/>
            </a:bodyPr>
            <a:lstStyle/>
            <a:p>
              <a:pPr algn="ctr">
                <a:lnSpc>
                  <a:spcPts val="367"/>
                </a:lnSpc>
                <a:spcBef>
                  <a:spcPct val="0"/>
                </a:spcBef>
              </a:pPr>
              <a:r>
                <a:rPr lang="en-US" sz="306" b="1">
                  <a:solidFill>
                    <a:srgbClr val="FFFFFF"/>
                  </a:solidFill>
                  <a:latin typeface="Calibri (MS) Bold"/>
                  <a:ea typeface="Calibri (MS) Bold"/>
                  <a:cs typeface="Calibri (MS) Bold"/>
                  <a:sym typeface="Calibri (MS) Bold"/>
                </a:rPr>
                <a:t> REAL PASSPORT</a:t>
              </a:r>
            </a:p>
          </p:txBody>
        </p:sp>
        <p:sp>
          <p:nvSpPr>
            <p:cNvPr id="555" name="TextBox 396">
              <a:extLst>
                <a:ext uri="{FF2B5EF4-FFF2-40B4-BE49-F238E27FC236}">
                  <a16:creationId xmlns:a16="http://schemas.microsoft.com/office/drawing/2014/main" id="{646F21C8-42D3-ECA6-53F1-D8C6EA01022E}"/>
                </a:ext>
              </a:extLst>
            </p:cNvPr>
            <p:cNvSpPr txBox="1"/>
            <p:nvPr/>
          </p:nvSpPr>
          <p:spPr>
            <a:xfrm>
              <a:off x="763512" y="8122854"/>
              <a:ext cx="167087" cy="47593"/>
            </a:xfrm>
            <a:prstGeom prst="rect">
              <a:avLst/>
            </a:prstGeom>
          </p:spPr>
          <p:txBody>
            <a:bodyPr lIns="0" tIns="0" rIns="0" bIns="0" rtlCol="0" anchor="t">
              <a:spAutoFit/>
            </a:bodyPr>
            <a:lstStyle/>
            <a:p>
              <a:pPr algn="ctr">
                <a:lnSpc>
                  <a:spcPts val="226"/>
                </a:lnSpc>
                <a:spcBef>
                  <a:spcPct val="0"/>
                </a:spcBef>
              </a:pPr>
              <a:r>
                <a:rPr lang="en-US" sz="188" b="1">
                  <a:solidFill>
                    <a:srgbClr val="FFDE59"/>
                  </a:solidFill>
                  <a:latin typeface="Calibri (MS) Bold"/>
                  <a:ea typeface="Calibri (MS) Bold"/>
                  <a:cs typeface="Calibri (MS) Bold"/>
                  <a:sym typeface="Calibri (MS) Bold"/>
                </a:rPr>
                <a:t>BeReal.</a:t>
              </a:r>
            </a:p>
          </p:txBody>
        </p:sp>
        <p:sp>
          <p:nvSpPr>
            <p:cNvPr id="556" name="TextBox 397">
              <a:extLst>
                <a:ext uri="{FF2B5EF4-FFF2-40B4-BE49-F238E27FC236}">
                  <a16:creationId xmlns:a16="http://schemas.microsoft.com/office/drawing/2014/main" id="{2BD19547-CDE7-C0CE-06A1-C2FC49A9038E}"/>
                </a:ext>
              </a:extLst>
            </p:cNvPr>
            <p:cNvSpPr txBox="1"/>
            <p:nvPr/>
          </p:nvSpPr>
          <p:spPr>
            <a:xfrm>
              <a:off x="1253534" y="8122854"/>
              <a:ext cx="167087" cy="47593"/>
            </a:xfrm>
            <a:prstGeom prst="rect">
              <a:avLst/>
            </a:prstGeom>
          </p:spPr>
          <p:txBody>
            <a:bodyPr lIns="0" tIns="0" rIns="0" bIns="0" rtlCol="0" anchor="t">
              <a:spAutoFit/>
            </a:bodyPr>
            <a:lstStyle/>
            <a:p>
              <a:pPr algn="ctr">
                <a:lnSpc>
                  <a:spcPts val="226"/>
                </a:lnSpc>
                <a:spcBef>
                  <a:spcPct val="0"/>
                </a:spcBef>
              </a:pPr>
              <a:r>
                <a:rPr lang="en-US" sz="188" b="1">
                  <a:solidFill>
                    <a:srgbClr val="FFDE59"/>
                  </a:solidFill>
                  <a:latin typeface="Calibri (MS) Bold"/>
                  <a:ea typeface="Calibri (MS) Bold"/>
                  <a:cs typeface="Calibri (MS) Bold"/>
                  <a:sym typeface="Calibri (MS) Bold"/>
                </a:rPr>
                <a:t>Unfiltered</a:t>
              </a:r>
            </a:p>
          </p:txBody>
        </p:sp>
        <p:sp>
          <p:nvSpPr>
            <p:cNvPr id="557" name="Freeform 398">
              <a:extLst>
                <a:ext uri="{FF2B5EF4-FFF2-40B4-BE49-F238E27FC236}">
                  <a16:creationId xmlns:a16="http://schemas.microsoft.com/office/drawing/2014/main" id="{DF986491-C09D-0645-717E-C3CF56DA9706}"/>
                </a:ext>
              </a:extLst>
            </p:cNvPr>
            <p:cNvSpPr/>
            <p:nvPr/>
          </p:nvSpPr>
          <p:spPr>
            <a:xfrm>
              <a:off x="477549" y="5516968"/>
              <a:ext cx="155873" cy="186675"/>
            </a:xfrm>
            <a:custGeom>
              <a:avLst/>
              <a:gdLst/>
              <a:ahLst/>
              <a:cxnLst/>
              <a:rect l="l" t="t" r="r" b="b"/>
              <a:pathLst>
                <a:path w="155873" h="186675">
                  <a:moveTo>
                    <a:pt x="0" y="0"/>
                  </a:moveTo>
                  <a:lnTo>
                    <a:pt x="155873" y="0"/>
                  </a:lnTo>
                  <a:lnTo>
                    <a:pt x="155873" y="186674"/>
                  </a:lnTo>
                  <a:lnTo>
                    <a:pt x="0" y="186674"/>
                  </a:lnTo>
                  <a:lnTo>
                    <a:pt x="0" y="0"/>
                  </a:lnTo>
                  <a:close/>
                </a:path>
              </a:pathLst>
            </a:custGeom>
            <a:blipFill>
              <a:blip>
                <a:extLst>
                  <a:ext uri="{96DAC541-7B7A-43D3-8B79-37D633B846F1}">
                    <asvg:svgBlip xmlns:asvg="http://schemas.microsoft.com/office/drawing/2016/SVG/main" r:embed="rId39"/>
                  </a:ext>
                </a:extLst>
              </a:blip>
              <a:stretch>
                <a:fillRect/>
              </a:stretch>
            </a:blipFill>
          </p:spPr>
          <p:txBody>
            <a:bodyPr/>
            <a:lstStyle/>
            <a:p>
              <a:endParaRPr lang="en-US"/>
            </a:p>
          </p:txBody>
        </p:sp>
        <p:sp>
          <p:nvSpPr>
            <p:cNvPr id="558" name="Freeform 399">
              <a:extLst>
                <a:ext uri="{FF2B5EF4-FFF2-40B4-BE49-F238E27FC236}">
                  <a16:creationId xmlns:a16="http://schemas.microsoft.com/office/drawing/2014/main" id="{B7B66372-97C8-2BC7-0679-07651E24ACAD}"/>
                </a:ext>
              </a:extLst>
            </p:cNvPr>
            <p:cNvSpPr/>
            <p:nvPr/>
          </p:nvSpPr>
          <p:spPr>
            <a:xfrm>
              <a:off x="2167173" y="5516968"/>
              <a:ext cx="155873" cy="186675"/>
            </a:xfrm>
            <a:custGeom>
              <a:avLst/>
              <a:gdLst/>
              <a:ahLst/>
              <a:cxnLst/>
              <a:rect l="l" t="t" r="r" b="b"/>
              <a:pathLst>
                <a:path w="155873" h="186675">
                  <a:moveTo>
                    <a:pt x="0" y="0"/>
                  </a:moveTo>
                  <a:lnTo>
                    <a:pt x="155874" y="0"/>
                  </a:lnTo>
                  <a:lnTo>
                    <a:pt x="155874" y="186674"/>
                  </a:lnTo>
                  <a:lnTo>
                    <a:pt x="0" y="186674"/>
                  </a:lnTo>
                  <a:lnTo>
                    <a:pt x="0" y="0"/>
                  </a:lnTo>
                  <a:close/>
                </a:path>
              </a:pathLst>
            </a:custGeom>
            <a:blipFill>
              <a:blip>
                <a:extLst>
                  <a:ext uri="{96DAC541-7B7A-43D3-8B79-37D633B846F1}">
                    <asvg:svgBlip xmlns:asvg="http://schemas.microsoft.com/office/drawing/2016/SVG/main" r:embed="rId39"/>
                  </a:ext>
                </a:extLst>
              </a:blip>
              <a:stretch>
                <a:fillRect/>
              </a:stretch>
            </a:blipFill>
          </p:spPr>
          <p:txBody>
            <a:bodyPr/>
            <a:lstStyle/>
            <a:p>
              <a:endParaRPr lang="en-US"/>
            </a:p>
          </p:txBody>
        </p:sp>
        <p:sp>
          <p:nvSpPr>
            <p:cNvPr id="559" name="Freeform 400">
              <a:extLst>
                <a:ext uri="{FF2B5EF4-FFF2-40B4-BE49-F238E27FC236}">
                  <a16:creationId xmlns:a16="http://schemas.microsoft.com/office/drawing/2014/main" id="{1FA6A2AF-1D39-85BA-464E-C28F684F6842}"/>
                </a:ext>
              </a:extLst>
            </p:cNvPr>
            <p:cNvSpPr/>
            <p:nvPr/>
          </p:nvSpPr>
          <p:spPr>
            <a:xfrm>
              <a:off x="3906982" y="5571279"/>
              <a:ext cx="155873" cy="186675"/>
            </a:xfrm>
            <a:custGeom>
              <a:avLst/>
              <a:gdLst/>
              <a:ahLst/>
              <a:cxnLst/>
              <a:rect l="l" t="t" r="r" b="b"/>
              <a:pathLst>
                <a:path w="155873" h="186675">
                  <a:moveTo>
                    <a:pt x="0" y="0"/>
                  </a:moveTo>
                  <a:lnTo>
                    <a:pt x="155873" y="0"/>
                  </a:lnTo>
                  <a:lnTo>
                    <a:pt x="155873" y="186675"/>
                  </a:lnTo>
                  <a:lnTo>
                    <a:pt x="0" y="186675"/>
                  </a:lnTo>
                  <a:lnTo>
                    <a:pt x="0" y="0"/>
                  </a:lnTo>
                  <a:close/>
                </a:path>
              </a:pathLst>
            </a:custGeom>
            <a:blipFill>
              <a:blip>
                <a:extLst>
                  <a:ext uri="{96DAC541-7B7A-43D3-8B79-37D633B846F1}">
                    <asvg:svgBlip xmlns:asvg="http://schemas.microsoft.com/office/drawing/2016/SVG/main" r:embed="rId39"/>
                  </a:ext>
                </a:extLst>
              </a:blip>
              <a:stretch>
                <a:fillRect/>
              </a:stretch>
            </a:blipFill>
          </p:spPr>
          <p:txBody>
            <a:bodyPr/>
            <a:lstStyle/>
            <a:p>
              <a:endParaRPr lang="en-US"/>
            </a:p>
          </p:txBody>
        </p:sp>
        <p:sp>
          <p:nvSpPr>
            <p:cNvPr id="560" name="Freeform 401">
              <a:extLst>
                <a:ext uri="{FF2B5EF4-FFF2-40B4-BE49-F238E27FC236}">
                  <a16:creationId xmlns:a16="http://schemas.microsoft.com/office/drawing/2014/main" id="{B8C383D2-2983-9C45-E049-20A296C5F983}"/>
                </a:ext>
              </a:extLst>
            </p:cNvPr>
            <p:cNvSpPr/>
            <p:nvPr/>
          </p:nvSpPr>
          <p:spPr>
            <a:xfrm>
              <a:off x="426151" y="7641058"/>
              <a:ext cx="155873" cy="186675"/>
            </a:xfrm>
            <a:custGeom>
              <a:avLst/>
              <a:gdLst/>
              <a:ahLst/>
              <a:cxnLst/>
              <a:rect l="l" t="t" r="r" b="b"/>
              <a:pathLst>
                <a:path w="155873" h="186675">
                  <a:moveTo>
                    <a:pt x="0" y="0"/>
                  </a:moveTo>
                  <a:lnTo>
                    <a:pt x="155873" y="0"/>
                  </a:lnTo>
                  <a:lnTo>
                    <a:pt x="155873" y="186675"/>
                  </a:lnTo>
                  <a:lnTo>
                    <a:pt x="0" y="186675"/>
                  </a:lnTo>
                  <a:lnTo>
                    <a:pt x="0" y="0"/>
                  </a:lnTo>
                  <a:close/>
                </a:path>
              </a:pathLst>
            </a:custGeom>
            <a:blipFill>
              <a:blip>
                <a:extLst>
                  <a:ext uri="{96DAC541-7B7A-43D3-8B79-37D633B846F1}">
                    <asvg:svgBlip xmlns:asvg="http://schemas.microsoft.com/office/drawing/2016/SVG/main" r:embed="rId39"/>
                  </a:ext>
                </a:extLst>
              </a:blip>
              <a:stretch>
                <a:fillRect/>
              </a:stretch>
            </a:blipFill>
          </p:spPr>
          <p:txBody>
            <a:bodyPr/>
            <a:lstStyle/>
            <a:p>
              <a:endParaRPr lang="en-US"/>
            </a:p>
          </p:txBody>
        </p:sp>
        <p:sp>
          <p:nvSpPr>
            <p:cNvPr id="561" name="Freeform 402">
              <a:extLst>
                <a:ext uri="{FF2B5EF4-FFF2-40B4-BE49-F238E27FC236}">
                  <a16:creationId xmlns:a16="http://schemas.microsoft.com/office/drawing/2014/main" id="{74CBEA3E-DC23-0EF2-9ED4-9BAC2A303840}"/>
                </a:ext>
              </a:extLst>
            </p:cNvPr>
            <p:cNvSpPr/>
            <p:nvPr/>
          </p:nvSpPr>
          <p:spPr>
            <a:xfrm>
              <a:off x="2196535" y="7641058"/>
              <a:ext cx="155873" cy="210640"/>
            </a:xfrm>
            <a:custGeom>
              <a:avLst/>
              <a:gdLst/>
              <a:ahLst/>
              <a:cxnLst/>
              <a:rect l="l" t="t" r="r" b="b"/>
              <a:pathLst>
                <a:path w="155873" h="210640">
                  <a:moveTo>
                    <a:pt x="0" y="0"/>
                  </a:moveTo>
                  <a:lnTo>
                    <a:pt x="155874" y="0"/>
                  </a:lnTo>
                  <a:lnTo>
                    <a:pt x="155874" y="210640"/>
                  </a:lnTo>
                  <a:lnTo>
                    <a:pt x="0" y="210640"/>
                  </a:lnTo>
                  <a:lnTo>
                    <a:pt x="0" y="0"/>
                  </a:lnTo>
                  <a:close/>
                </a:path>
              </a:pathLst>
            </a:custGeom>
            <a:blipFill>
              <a:blip>
                <a:extLst>
                  <a:ext uri="{96DAC541-7B7A-43D3-8B79-37D633B846F1}">
                    <asvg:svgBlip xmlns:asvg="http://schemas.microsoft.com/office/drawing/2016/SVG/main" r:embed="rId40"/>
                  </a:ext>
                </a:extLst>
              </a:blip>
              <a:stretch>
                <a:fillRect/>
              </a:stretch>
            </a:blipFill>
          </p:spPr>
          <p:txBody>
            <a:bodyPr/>
            <a:lstStyle/>
            <a:p>
              <a:endParaRPr lang="en-US"/>
            </a:p>
          </p:txBody>
        </p:sp>
        <p:sp>
          <p:nvSpPr>
            <p:cNvPr id="562" name="Freeform 403">
              <a:extLst>
                <a:ext uri="{FF2B5EF4-FFF2-40B4-BE49-F238E27FC236}">
                  <a16:creationId xmlns:a16="http://schemas.microsoft.com/office/drawing/2014/main" id="{E84A1AB9-5928-1DBB-BA70-C2B013CE7A8D}"/>
                </a:ext>
              </a:extLst>
            </p:cNvPr>
            <p:cNvSpPr/>
            <p:nvPr/>
          </p:nvSpPr>
          <p:spPr>
            <a:xfrm>
              <a:off x="3923155" y="7617093"/>
              <a:ext cx="155873" cy="210640"/>
            </a:xfrm>
            <a:custGeom>
              <a:avLst/>
              <a:gdLst/>
              <a:ahLst/>
              <a:cxnLst/>
              <a:rect l="l" t="t" r="r" b="b"/>
              <a:pathLst>
                <a:path w="155873" h="210640">
                  <a:moveTo>
                    <a:pt x="0" y="0"/>
                  </a:moveTo>
                  <a:lnTo>
                    <a:pt x="155873" y="0"/>
                  </a:lnTo>
                  <a:lnTo>
                    <a:pt x="155873" y="210640"/>
                  </a:lnTo>
                  <a:lnTo>
                    <a:pt x="0" y="210640"/>
                  </a:lnTo>
                  <a:lnTo>
                    <a:pt x="0" y="0"/>
                  </a:lnTo>
                  <a:close/>
                </a:path>
              </a:pathLst>
            </a:custGeom>
            <a:blipFill>
              <a:blip>
                <a:extLst>
                  <a:ext uri="{96DAC541-7B7A-43D3-8B79-37D633B846F1}">
                    <asvg:svgBlip xmlns:asvg="http://schemas.microsoft.com/office/drawing/2016/SVG/main" r:embed="rId40"/>
                  </a:ext>
                </a:extLst>
              </a:blip>
              <a:stretch>
                <a:fillRect/>
              </a:stretch>
            </a:blipFill>
          </p:spPr>
          <p:txBody>
            <a:bodyPr/>
            <a:lstStyle/>
            <a:p>
              <a:endParaRPr lang="en-US"/>
            </a:p>
          </p:txBody>
        </p:sp>
        <p:grpSp>
          <p:nvGrpSpPr>
            <p:cNvPr id="563" name="Group 404">
              <a:extLst>
                <a:ext uri="{FF2B5EF4-FFF2-40B4-BE49-F238E27FC236}">
                  <a16:creationId xmlns:a16="http://schemas.microsoft.com/office/drawing/2014/main" id="{98025333-29E7-FBDD-A147-5BE1829C3E39}"/>
                </a:ext>
              </a:extLst>
            </p:cNvPr>
            <p:cNvGrpSpPr/>
            <p:nvPr/>
          </p:nvGrpSpPr>
          <p:grpSpPr>
            <a:xfrm>
              <a:off x="3839474" y="6846836"/>
              <a:ext cx="167362" cy="167362"/>
              <a:chOff x="0" y="0"/>
              <a:chExt cx="812800" cy="812800"/>
            </a:xfrm>
          </p:grpSpPr>
          <p:sp>
            <p:nvSpPr>
              <p:cNvPr id="628" name="Freeform 405">
                <a:extLst>
                  <a:ext uri="{FF2B5EF4-FFF2-40B4-BE49-F238E27FC236}">
                    <a16:creationId xmlns:a16="http://schemas.microsoft.com/office/drawing/2014/main" id="{16AA3EFF-104A-AB6D-9855-BD4970DC7953}"/>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a:blip r:embed="rId41"/>
                <a:stretch>
                  <a:fillRect t="-38495" b="-38495"/>
                </a:stretch>
              </a:blipFill>
              <a:ln w="9525" cap="sq">
                <a:solidFill>
                  <a:srgbClr val="000000"/>
                </a:solidFill>
                <a:prstDash val="solid"/>
                <a:miter/>
              </a:ln>
            </p:spPr>
            <p:txBody>
              <a:bodyPr/>
              <a:lstStyle/>
              <a:p>
                <a:endParaRPr lang="en-US"/>
              </a:p>
            </p:txBody>
          </p:sp>
        </p:grpSp>
        <p:grpSp>
          <p:nvGrpSpPr>
            <p:cNvPr id="564" name="Group 406">
              <a:extLst>
                <a:ext uri="{FF2B5EF4-FFF2-40B4-BE49-F238E27FC236}">
                  <a16:creationId xmlns:a16="http://schemas.microsoft.com/office/drawing/2014/main" id="{1E78875C-A3AE-0B8B-38A3-898EA2BBF8A0}"/>
                </a:ext>
              </a:extLst>
            </p:cNvPr>
            <p:cNvGrpSpPr/>
            <p:nvPr/>
          </p:nvGrpSpPr>
          <p:grpSpPr>
            <a:xfrm>
              <a:off x="3943582" y="6854066"/>
              <a:ext cx="152902" cy="152902"/>
              <a:chOff x="0" y="0"/>
              <a:chExt cx="812800" cy="812800"/>
            </a:xfrm>
          </p:grpSpPr>
          <p:sp>
            <p:nvSpPr>
              <p:cNvPr id="627" name="Freeform 407">
                <a:extLst>
                  <a:ext uri="{FF2B5EF4-FFF2-40B4-BE49-F238E27FC236}">
                    <a16:creationId xmlns:a16="http://schemas.microsoft.com/office/drawing/2014/main" id="{DC39D6ED-4040-0F96-E534-184EF86D8903}"/>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a:blip r:embed="rId42"/>
                <a:stretch>
                  <a:fillRect l="-15789" r="-15789"/>
                </a:stretch>
              </a:blipFill>
              <a:ln cap="sq">
                <a:noFill/>
                <a:prstDash val="solid"/>
                <a:miter/>
              </a:ln>
            </p:spPr>
            <p:txBody>
              <a:bodyPr/>
              <a:lstStyle/>
              <a:p>
                <a:endParaRPr lang="en-US"/>
              </a:p>
            </p:txBody>
          </p:sp>
        </p:grpSp>
        <p:grpSp>
          <p:nvGrpSpPr>
            <p:cNvPr id="565" name="Group 408">
              <a:extLst>
                <a:ext uri="{FF2B5EF4-FFF2-40B4-BE49-F238E27FC236}">
                  <a16:creationId xmlns:a16="http://schemas.microsoft.com/office/drawing/2014/main" id="{8FA88F9E-41D3-A373-A3D7-98E4ADA3E5EF}"/>
                </a:ext>
              </a:extLst>
            </p:cNvPr>
            <p:cNvGrpSpPr/>
            <p:nvPr/>
          </p:nvGrpSpPr>
          <p:grpSpPr>
            <a:xfrm>
              <a:off x="4667728" y="6822362"/>
              <a:ext cx="458032" cy="216310"/>
              <a:chOff x="0" y="0"/>
              <a:chExt cx="641670" cy="303034"/>
            </a:xfrm>
          </p:grpSpPr>
          <p:sp>
            <p:nvSpPr>
              <p:cNvPr id="625" name="Freeform 409">
                <a:extLst>
                  <a:ext uri="{FF2B5EF4-FFF2-40B4-BE49-F238E27FC236}">
                    <a16:creationId xmlns:a16="http://schemas.microsoft.com/office/drawing/2014/main" id="{4A17E29B-3E37-BEA8-B6C7-72D074788B0B}"/>
                  </a:ext>
                </a:extLst>
              </p:cNvPr>
              <p:cNvSpPr/>
              <p:nvPr/>
            </p:nvSpPr>
            <p:spPr>
              <a:xfrm>
                <a:off x="0" y="0"/>
                <a:ext cx="641670" cy="303034"/>
              </a:xfrm>
              <a:custGeom>
                <a:avLst/>
                <a:gdLst/>
                <a:ahLst/>
                <a:cxnLst/>
                <a:rect l="l" t="t" r="r" b="b"/>
                <a:pathLst>
                  <a:path w="641670" h="303034">
                    <a:moveTo>
                      <a:pt x="0" y="0"/>
                    </a:moveTo>
                    <a:lnTo>
                      <a:pt x="641670" y="0"/>
                    </a:lnTo>
                    <a:lnTo>
                      <a:pt x="641670" y="303034"/>
                    </a:lnTo>
                    <a:lnTo>
                      <a:pt x="0" y="303034"/>
                    </a:lnTo>
                    <a:close/>
                  </a:path>
                </a:pathLst>
              </a:custGeom>
              <a:blipFill>
                <a:blip r:embed="rId3">
                  <a:alphaModFix amt="0"/>
                </a:blip>
                <a:stretch>
                  <a:fillRect t="-948048" r="-2892565" b="-1421369"/>
                </a:stretch>
              </a:blipFill>
            </p:spPr>
            <p:txBody>
              <a:bodyPr/>
              <a:lstStyle/>
              <a:p>
                <a:endParaRPr lang="en-US"/>
              </a:p>
            </p:txBody>
          </p:sp>
          <p:sp>
            <p:nvSpPr>
              <p:cNvPr id="626" name="TextBox 410">
                <a:extLst>
                  <a:ext uri="{FF2B5EF4-FFF2-40B4-BE49-F238E27FC236}">
                    <a16:creationId xmlns:a16="http://schemas.microsoft.com/office/drawing/2014/main" id="{B19EF202-F258-B80D-105A-F28D7A4F5761}"/>
                  </a:ext>
                </a:extLst>
              </p:cNvPr>
              <p:cNvSpPr txBox="1"/>
              <p:nvPr/>
            </p:nvSpPr>
            <p:spPr>
              <a:xfrm>
                <a:off x="0" y="0"/>
                <a:ext cx="641670" cy="303034"/>
              </a:xfrm>
              <a:prstGeom prst="rect">
                <a:avLst/>
              </a:prstGeom>
            </p:spPr>
            <p:txBody>
              <a:bodyPr lIns="0" tIns="0" rIns="0" bIns="0" rtlCol="0" anchor="ctr"/>
              <a:lstStyle/>
              <a:p>
                <a:pPr algn="l">
                  <a:lnSpc>
                    <a:spcPts val="853"/>
                  </a:lnSpc>
                </a:pPr>
                <a:r>
                  <a:rPr lang="en-US" sz="800" b="1">
                    <a:solidFill>
                      <a:srgbClr val="FFFFFF"/>
                    </a:solidFill>
                    <a:latin typeface="Arial Bold"/>
                    <a:ea typeface="Arial Bold"/>
                    <a:cs typeface="Arial Bold"/>
                    <a:sym typeface="Arial Bold"/>
                  </a:rPr>
                  <a:t>2 Post</a:t>
                </a:r>
              </a:p>
            </p:txBody>
          </p:sp>
        </p:grpSp>
        <p:grpSp>
          <p:nvGrpSpPr>
            <p:cNvPr id="566" name="Group 411">
              <a:extLst>
                <a:ext uri="{FF2B5EF4-FFF2-40B4-BE49-F238E27FC236}">
                  <a16:creationId xmlns:a16="http://schemas.microsoft.com/office/drawing/2014/main" id="{0FE900A0-69F1-B62E-FE49-8731C9EDE384}"/>
                </a:ext>
              </a:extLst>
            </p:cNvPr>
            <p:cNvGrpSpPr/>
            <p:nvPr/>
          </p:nvGrpSpPr>
          <p:grpSpPr>
            <a:xfrm>
              <a:off x="455683" y="6836458"/>
              <a:ext cx="177740" cy="177740"/>
              <a:chOff x="0" y="0"/>
              <a:chExt cx="812800" cy="812800"/>
            </a:xfrm>
          </p:grpSpPr>
          <p:sp>
            <p:nvSpPr>
              <p:cNvPr id="624" name="Freeform 412">
                <a:extLst>
                  <a:ext uri="{FF2B5EF4-FFF2-40B4-BE49-F238E27FC236}">
                    <a16:creationId xmlns:a16="http://schemas.microsoft.com/office/drawing/2014/main" id="{C31EA55F-B4AF-AD53-9EF2-203F70BA2035}"/>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a:blip r:embed="rId43"/>
                <a:stretch>
                  <a:fillRect t="-25187" b="-25187"/>
                </a:stretch>
              </a:blipFill>
              <a:ln w="9525" cap="sq">
                <a:solidFill>
                  <a:srgbClr val="000000"/>
                </a:solidFill>
                <a:prstDash val="solid"/>
                <a:miter/>
              </a:ln>
            </p:spPr>
            <p:txBody>
              <a:bodyPr/>
              <a:lstStyle/>
              <a:p>
                <a:endParaRPr lang="en-US"/>
              </a:p>
            </p:txBody>
          </p:sp>
        </p:grpSp>
        <p:grpSp>
          <p:nvGrpSpPr>
            <p:cNvPr id="567" name="Group 413">
              <a:extLst>
                <a:ext uri="{FF2B5EF4-FFF2-40B4-BE49-F238E27FC236}">
                  <a16:creationId xmlns:a16="http://schemas.microsoft.com/office/drawing/2014/main" id="{8CCC62CE-8F9C-CA6D-B01B-564F0A5CF60E}"/>
                </a:ext>
              </a:extLst>
            </p:cNvPr>
            <p:cNvGrpSpPr/>
            <p:nvPr/>
          </p:nvGrpSpPr>
          <p:grpSpPr>
            <a:xfrm>
              <a:off x="549741" y="6846836"/>
              <a:ext cx="167362" cy="167362"/>
              <a:chOff x="0" y="0"/>
              <a:chExt cx="812800" cy="812800"/>
            </a:xfrm>
          </p:grpSpPr>
          <p:sp>
            <p:nvSpPr>
              <p:cNvPr id="623" name="Freeform 414">
                <a:extLst>
                  <a:ext uri="{FF2B5EF4-FFF2-40B4-BE49-F238E27FC236}">
                    <a16:creationId xmlns:a16="http://schemas.microsoft.com/office/drawing/2014/main" id="{105D19EA-3C77-3029-E0E8-2B95FCB76389}"/>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a:blip r:embed="rId44"/>
                <a:stretch>
                  <a:fillRect t="-16666" b="-16666"/>
                </a:stretch>
              </a:blipFill>
              <a:ln w="9525" cap="sq">
                <a:solidFill>
                  <a:srgbClr val="000000"/>
                </a:solidFill>
                <a:prstDash val="solid"/>
                <a:miter/>
              </a:ln>
            </p:spPr>
            <p:txBody>
              <a:bodyPr/>
              <a:lstStyle/>
              <a:p>
                <a:endParaRPr lang="en-US"/>
              </a:p>
            </p:txBody>
          </p:sp>
        </p:grpSp>
        <p:grpSp>
          <p:nvGrpSpPr>
            <p:cNvPr id="568" name="Group 415">
              <a:extLst>
                <a:ext uri="{FF2B5EF4-FFF2-40B4-BE49-F238E27FC236}">
                  <a16:creationId xmlns:a16="http://schemas.microsoft.com/office/drawing/2014/main" id="{24227B1A-DD62-EFF2-621C-561D77E73ECD}"/>
                </a:ext>
              </a:extLst>
            </p:cNvPr>
            <p:cNvGrpSpPr/>
            <p:nvPr/>
          </p:nvGrpSpPr>
          <p:grpSpPr>
            <a:xfrm>
              <a:off x="633422" y="6834335"/>
              <a:ext cx="179863" cy="179863"/>
              <a:chOff x="0" y="0"/>
              <a:chExt cx="812800" cy="812800"/>
            </a:xfrm>
          </p:grpSpPr>
          <p:sp>
            <p:nvSpPr>
              <p:cNvPr id="622" name="Freeform 416">
                <a:extLst>
                  <a:ext uri="{FF2B5EF4-FFF2-40B4-BE49-F238E27FC236}">
                    <a16:creationId xmlns:a16="http://schemas.microsoft.com/office/drawing/2014/main" id="{7271FD2B-C6F9-CCDD-F627-40C57CEFD894}"/>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a:blip r:embed="rId45"/>
                <a:stretch>
                  <a:fillRect l="-74702" t="-17386" r="-22279" b="-13606"/>
                </a:stretch>
              </a:blipFill>
              <a:ln cap="sq">
                <a:noFill/>
                <a:prstDash val="solid"/>
                <a:miter/>
              </a:ln>
            </p:spPr>
            <p:txBody>
              <a:bodyPr/>
              <a:lstStyle/>
              <a:p>
                <a:endParaRPr lang="en-US"/>
              </a:p>
            </p:txBody>
          </p:sp>
        </p:grpSp>
        <p:grpSp>
          <p:nvGrpSpPr>
            <p:cNvPr id="569" name="Group 417">
              <a:extLst>
                <a:ext uri="{FF2B5EF4-FFF2-40B4-BE49-F238E27FC236}">
                  <a16:creationId xmlns:a16="http://schemas.microsoft.com/office/drawing/2014/main" id="{C5222254-C824-4C14-5671-25F958C5DC06}"/>
                </a:ext>
              </a:extLst>
            </p:cNvPr>
            <p:cNvGrpSpPr/>
            <p:nvPr/>
          </p:nvGrpSpPr>
          <p:grpSpPr>
            <a:xfrm>
              <a:off x="426151" y="8879513"/>
              <a:ext cx="155873" cy="155873"/>
              <a:chOff x="0" y="0"/>
              <a:chExt cx="812800" cy="812800"/>
            </a:xfrm>
          </p:grpSpPr>
          <p:sp>
            <p:nvSpPr>
              <p:cNvPr id="621" name="Freeform 418">
                <a:extLst>
                  <a:ext uri="{FF2B5EF4-FFF2-40B4-BE49-F238E27FC236}">
                    <a16:creationId xmlns:a16="http://schemas.microsoft.com/office/drawing/2014/main" id="{331DC878-86EF-2B0A-D6BD-F4BB408405B7}"/>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a:blip r:embed="rId46"/>
                <a:stretch>
                  <a:fillRect t="-12500" b="-12500"/>
                </a:stretch>
              </a:blipFill>
              <a:ln w="9525" cap="sq">
                <a:solidFill>
                  <a:srgbClr val="000000"/>
                </a:solidFill>
                <a:prstDash val="solid"/>
                <a:miter/>
              </a:ln>
            </p:spPr>
            <p:txBody>
              <a:bodyPr/>
              <a:lstStyle/>
              <a:p>
                <a:endParaRPr lang="en-US"/>
              </a:p>
            </p:txBody>
          </p:sp>
        </p:grpSp>
        <p:grpSp>
          <p:nvGrpSpPr>
            <p:cNvPr id="570" name="Group 419">
              <a:extLst>
                <a:ext uri="{FF2B5EF4-FFF2-40B4-BE49-F238E27FC236}">
                  <a16:creationId xmlns:a16="http://schemas.microsoft.com/office/drawing/2014/main" id="{0FD100CC-B8A7-2FE8-C0A9-795BD67EE1AD}"/>
                </a:ext>
              </a:extLst>
            </p:cNvPr>
            <p:cNvGrpSpPr/>
            <p:nvPr/>
          </p:nvGrpSpPr>
          <p:grpSpPr>
            <a:xfrm>
              <a:off x="1192839" y="8831892"/>
              <a:ext cx="470587" cy="251116"/>
              <a:chOff x="0" y="0"/>
              <a:chExt cx="659259" cy="351796"/>
            </a:xfrm>
          </p:grpSpPr>
          <p:sp>
            <p:nvSpPr>
              <p:cNvPr id="619" name="Freeform 420">
                <a:extLst>
                  <a:ext uri="{FF2B5EF4-FFF2-40B4-BE49-F238E27FC236}">
                    <a16:creationId xmlns:a16="http://schemas.microsoft.com/office/drawing/2014/main" id="{E4FF9FBC-4D23-C7A6-CC84-BAD48C63E9A1}"/>
                  </a:ext>
                </a:extLst>
              </p:cNvPr>
              <p:cNvSpPr/>
              <p:nvPr/>
            </p:nvSpPr>
            <p:spPr>
              <a:xfrm>
                <a:off x="0" y="0"/>
                <a:ext cx="659259" cy="351796"/>
              </a:xfrm>
              <a:custGeom>
                <a:avLst/>
                <a:gdLst/>
                <a:ahLst/>
                <a:cxnLst/>
                <a:rect l="l" t="t" r="r" b="b"/>
                <a:pathLst>
                  <a:path w="659259" h="351796">
                    <a:moveTo>
                      <a:pt x="0" y="0"/>
                    </a:moveTo>
                    <a:lnTo>
                      <a:pt x="659259" y="0"/>
                    </a:lnTo>
                    <a:lnTo>
                      <a:pt x="659259" y="351796"/>
                    </a:lnTo>
                    <a:lnTo>
                      <a:pt x="0" y="351796"/>
                    </a:lnTo>
                    <a:close/>
                  </a:path>
                </a:pathLst>
              </a:custGeom>
              <a:blipFill>
                <a:blip r:embed="rId3">
                  <a:alphaModFix amt="0"/>
                </a:blip>
                <a:stretch>
                  <a:fillRect t="-816642" r="-2812724" b="-1210497"/>
                </a:stretch>
              </a:blipFill>
            </p:spPr>
            <p:txBody>
              <a:bodyPr/>
              <a:lstStyle/>
              <a:p>
                <a:endParaRPr lang="en-US"/>
              </a:p>
            </p:txBody>
          </p:sp>
          <p:sp>
            <p:nvSpPr>
              <p:cNvPr id="620" name="TextBox 421">
                <a:extLst>
                  <a:ext uri="{FF2B5EF4-FFF2-40B4-BE49-F238E27FC236}">
                    <a16:creationId xmlns:a16="http://schemas.microsoft.com/office/drawing/2014/main" id="{6BE92696-6FE6-602B-82B9-A0D01E3B2D60}"/>
                  </a:ext>
                </a:extLst>
              </p:cNvPr>
              <p:cNvSpPr txBox="1"/>
              <p:nvPr/>
            </p:nvSpPr>
            <p:spPr>
              <a:xfrm>
                <a:off x="0" y="0"/>
                <a:ext cx="659259" cy="351796"/>
              </a:xfrm>
              <a:prstGeom prst="rect">
                <a:avLst/>
              </a:prstGeom>
            </p:spPr>
            <p:txBody>
              <a:bodyPr lIns="0" tIns="0" rIns="0" bIns="0" rtlCol="0" anchor="ctr"/>
              <a:lstStyle/>
              <a:p>
                <a:pPr algn="l">
                  <a:lnSpc>
                    <a:spcPts val="853"/>
                  </a:lnSpc>
                </a:pPr>
                <a:r>
                  <a:rPr lang="en-US" sz="800" b="1">
                    <a:solidFill>
                      <a:srgbClr val="FFFFFF"/>
                    </a:solidFill>
                    <a:latin typeface="Arial Bold"/>
                    <a:ea typeface="Arial Bold"/>
                    <a:cs typeface="Arial Bold"/>
                    <a:sym typeface="Arial Bold"/>
                  </a:rPr>
                  <a:t>5 Post</a:t>
                </a:r>
              </a:p>
            </p:txBody>
          </p:sp>
        </p:grpSp>
        <p:grpSp>
          <p:nvGrpSpPr>
            <p:cNvPr id="571" name="Group 422">
              <a:extLst>
                <a:ext uri="{FF2B5EF4-FFF2-40B4-BE49-F238E27FC236}">
                  <a16:creationId xmlns:a16="http://schemas.microsoft.com/office/drawing/2014/main" id="{C8AFFEB7-A534-B95C-4C3C-DF3C9FF22D8B}"/>
                </a:ext>
              </a:extLst>
            </p:cNvPr>
            <p:cNvGrpSpPr/>
            <p:nvPr/>
          </p:nvGrpSpPr>
          <p:grpSpPr>
            <a:xfrm>
              <a:off x="1239515" y="6816112"/>
              <a:ext cx="470587" cy="216310"/>
              <a:chOff x="0" y="0"/>
              <a:chExt cx="659259" cy="303034"/>
            </a:xfrm>
          </p:grpSpPr>
          <p:sp>
            <p:nvSpPr>
              <p:cNvPr id="617" name="Freeform 423">
                <a:extLst>
                  <a:ext uri="{FF2B5EF4-FFF2-40B4-BE49-F238E27FC236}">
                    <a16:creationId xmlns:a16="http://schemas.microsoft.com/office/drawing/2014/main" id="{C3164707-AEC2-DD5B-CC6B-48BB3FBFD154}"/>
                  </a:ext>
                </a:extLst>
              </p:cNvPr>
              <p:cNvSpPr/>
              <p:nvPr/>
            </p:nvSpPr>
            <p:spPr>
              <a:xfrm>
                <a:off x="0" y="0"/>
                <a:ext cx="659259" cy="303034"/>
              </a:xfrm>
              <a:custGeom>
                <a:avLst/>
                <a:gdLst/>
                <a:ahLst/>
                <a:cxnLst/>
                <a:rect l="l" t="t" r="r" b="b"/>
                <a:pathLst>
                  <a:path w="659259" h="303034">
                    <a:moveTo>
                      <a:pt x="0" y="0"/>
                    </a:moveTo>
                    <a:lnTo>
                      <a:pt x="659259" y="0"/>
                    </a:lnTo>
                    <a:lnTo>
                      <a:pt x="659259" y="303034"/>
                    </a:lnTo>
                    <a:lnTo>
                      <a:pt x="0" y="303034"/>
                    </a:lnTo>
                    <a:close/>
                  </a:path>
                </a:pathLst>
              </a:custGeom>
              <a:blipFill>
                <a:blip r:embed="rId3">
                  <a:alphaModFix amt="0"/>
                </a:blip>
                <a:stretch>
                  <a:fillRect t="-948048" r="-2812724" b="-1421369"/>
                </a:stretch>
              </a:blipFill>
            </p:spPr>
            <p:txBody>
              <a:bodyPr/>
              <a:lstStyle/>
              <a:p>
                <a:endParaRPr lang="en-US"/>
              </a:p>
            </p:txBody>
          </p:sp>
          <p:sp>
            <p:nvSpPr>
              <p:cNvPr id="618" name="TextBox 424">
                <a:extLst>
                  <a:ext uri="{FF2B5EF4-FFF2-40B4-BE49-F238E27FC236}">
                    <a16:creationId xmlns:a16="http://schemas.microsoft.com/office/drawing/2014/main" id="{CC0E265D-B3E9-8300-E8BC-3ED882DFCB3C}"/>
                  </a:ext>
                </a:extLst>
              </p:cNvPr>
              <p:cNvSpPr txBox="1"/>
              <p:nvPr/>
            </p:nvSpPr>
            <p:spPr>
              <a:xfrm>
                <a:off x="0" y="0"/>
                <a:ext cx="659259" cy="303034"/>
              </a:xfrm>
              <a:prstGeom prst="rect">
                <a:avLst/>
              </a:prstGeom>
            </p:spPr>
            <p:txBody>
              <a:bodyPr lIns="0" tIns="0" rIns="0" bIns="0" rtlCol="0" anchor="ctr"/>
              <a:lstStyle/>
              <a:p>
                <a:pPr algn="l">
                  <a:lnSpc>
                    <a:spcPts val="853"/>
                  </a:lnSpc>
                </a:pPr>
                <a:r>
                  <a:rPr lang="en-US" sz="800" b="1">
                    <a:solidFill>
                      <a:srgbClr val="FFFFFF"/>
                    </a:solidFill>
                    <a:latin typeface="Arial Bold"/>
                    <a:ea typeface="Arial Bold"/>
                    <a:cs typeface="Arial Bold"/>
                    <a:sym typeface="Arial Bold"/>
                  </a:rPr>
                  <a:t>5 Post</a:t>
                </a:r>
              </a:p>
            </p:txBody>
          </p:sp>
        </p:grpSp>
        <p:grpSp>
          <p:nvGrpSpPr>
            <p:cNvPr id="572" name="Group 425">
              <a:extLst>
                <a:ext uri="{FF2B5EF4-FFF2-40B4-BE49-F238E27FC236}">
                  <a16:creationId xmlns:a16="http://schemas.microsoft.com/office/drawing/2014/main" id="{BDD9F22F-CE4A-3749-AEB8-1DDDC47A0A91}"/>
                </a:ext>
              </a:extLst>
            </p:cNvPr>
            <p:cNvGrpSpPr/>
            <p:nvPr/>
          </p:nvGrpSpPr>
          <p:grpSpPr>
            <a:xfrm>
              <a:off x="2182075" y="6863330"/>
              <a:ext cx="169091" cy="169091"/>
              <a:chOff x="0" y="0"/>
              <a:chExt cx="812800" cy="812800"/>
            </a:xfrm>
          </p:grpSpPr>
          <p:sp>
            <p:nvSpPr>
              <p:cNvPr id="616" name="Freeform 426">
                <a:extLst>
                  <a:ext uri="{FF2B5EF4-FFF2-40B4-BE49-F238E27FC236}">
                    <a16:creationId xmlns:a16="http://schemas.microsoft.com/office/drawing/2014/main" id="{3748663C-4731-AE7C-4AC9-519A979B1619}"/>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a:blip r:embed="rId47"/>
                <a:stretch>
                  <a:fillRect l="-96038" t="-77557" r="-95130" b="-40819"/>
                </a:stretch>
              </a:blipFill>
              <a:ln w="9525" cap="sq">
                <a:solidFill>
                  <a:srgbClr val="000000"/>
                </a:solidFill>
                <a:prstDash val="solid"/>
                <a:miter/>
              </a:ln>
            </p:spPr>
            <p:txBody>
              <a:bodyPr/>
              <a:lstStyle/>
              <a:p>
                <a:endParaRPr lang="en-US"/>
              </a:p>
            </p:txBody>
          </p:sp>
        </p:grpSp>
        <p:grpSp>
          <p:nvGrpSpPr>
            <p:cNvPr id="573" name="Group 427">
              <a:extLst>
                <a:ext uri="{FF2B5EF4-FFF2-40B4-BE49-F238E27FC236}">
                  <a16:creationId xmlns:a16="http://schemas.microsoft.com/office/drawing/2014/main" id="{EE13C7AD-7134-6DDD-D345-C07971225EF7}"/>
                </a:ext>
              </a:extLst>
            </p:cNvPr>
            <p:cNvGrpSpPr/>
            <p:nvPr/>
          </p:nvGrpSpPr>
          <p:grpSpPr>
            <a:xfrm>
              <a:off x="2981501" y="6817173"/>
              <a:ext cx="470587" cy="216310"/>
              <a:chOff x="0" y="0"/>
              <a:chExt cx="659259" cy="303034"/>
            </a:xfrm>
          </p:grpSpPr>
          <p:sp>
            <p:nvSpPr>
              <p:cNvPr id="614" name="Freeform 428">
                <a:extLst>
                  <a:ext uri="{FF2B5EF4-FFF2-40B4-BE49-F238E27FC236}">
                    <a16:creationId xmlns:a16="http://schemas.microsoft.com/office/drawing/2014/main" id="{8B170B3F-3FB9-E457-7982-0F89ED2DFDA1}"/>
                  </a:ext>
                </a:extLst>
              </p:cNvPr>
              <p:cNvSpPr/>
              <p:nvPr/>
            </p:nvSpPr>
            <p:spPr>
              <a:xfrm>
                <a:off x="0" y="0"/>
                <a:ext cx="659259" cy="303034"/>
              </a:xfrm>
              <a:custGeom>
                <a:avLst/>
                <a:gdLst/>
                <a:ahLst/>
                <a:cxnLst/>
                <a:rect l="l" t="t" r="r" b="b"/>
                <a:pathLst>
                  <a:path w="659259" h="303034">
                    <a:moveTo>
                      <a:pt x="0" y="0"/>
                    </a:moveTo>
                    <a:lnTo>
                      <a:pt x="659259" y="0"/>
                    </a:lnTo>
                    <a:lnTo>
                      <a:pt x="659259" y="303034"/>
                    </a:lnTo>
                    <a:lnTo>
                      <a:pt x="0" y="303034"/>
                    </a:lnTo>
                    <a:close/>
                  </a:path>
                </a:pathLst>
              </a:custGeom>
              <a:blipFill>
                <a:blip r:embed="rId3">
                  <a:alphaModFix amt="0"/>
                </a:blip>
                <a:stretch>
                  <a:fillRect t="-948048" r="-2812724" b="-1421369"/>
                </a:stretch>
              </a:blipFill>
            </p:spPr>
            <p:txBody>
              <a:bodyPr/>
              <a:lstStyle/>
              <a:p>
                <a:endParaRPr lang="en-US"/>
              </a:p>
            </p:txBody>
          </p:sp>
          <p:sp>
            <p:nvSpPr>
              <p:cNvPr id="615" name="TextBox 429">
                <a:extLst>
                  <a:ext uri="{FF2B5EF4-FFF2-40B4-BE49-F238E27FC236}">
                    <a16:creationId xmlns:a16="http://schemas.microsoft.com/office/drawing/2014/main" id="{977A044E-B91D-555A-FE0B-20AF9DA69DC2}"/>
                  </a:ext>
                </a:extLst>
              </p:cNvPr>
              <p:cNvSpPr txBox="1"/>
              <p:nvPr/>
            </p:nvSpPr>
            <p:spPr>
              <a:xfrm>
                <a:off x="0" y="0"/>
                <a:ext cx="659259" cy="303034"/>
              </a:xfrm>
              <a:prstGeom prst="rect">
                <a:avLst/>
              </a:prstGeom>
            </p:spPr>
            <p:txBody>
              <a:bodyPr lIns="0" tIns="0" rIns="0" bIns="0" rtlCol="0" anchor="ctr"/>
              <a:lstStyle/>
              <a:p>
                <a:pPr algn="l">
                  <a:lnSpc>
                    <a:spcPts val="853"/>
                  </a:lnSpc>
                </a:pPr>
                <a:r>
                  <a:rPr lang="en-US" sz="800" b="1">
                    <a:solidFill>
                      <a:srgbClr val="FFFFFF"/>
                    </a:solidFill>
                    <a:latin typeface="Arial Bold"/>
                    <a:ea typeface="Arial Bold"/>
                    <a:cs typeface="Arial Bold"/>
                    <a:sym typeface="Arial Bold"/>
                  </a:rPr>
                  <a:t>2 Post</a:t>
                </a:r>
              </a:p>
            </p:txBody>
          </p:sp>
        </p:grpSp>
        <p:grpSp>
          <p:nvGrpSpPr>
            <p:cNvPr id="574" name="Group 430">
              <a:extLst>
                <a:ext uri="{FF2B5EF4-FFF2-40B4-BE49-F238E27FC236}">
                  <a16:creationId xmlns:a16="http://schemas.microsoft.com/office/drawing/2014/main" id="{9497B39D-2862-97C4-281F-7A58A9712C5C}"/>
                </a:ext>
              </a:extLst>
            </p:cNvPr>
            <p:cNvGrpSpPr/>
            <p:nvPr/>
          </p:nvGrpSpPr>
          <p:grpSpPr>
            <a:xfrm>
              <a:off x="2266620" y="6852558"/>
              <a:ext cx="179863" cy="179863"/>
              <a:chOff x="0" y="0"/>
              <a:chExt cx="812800" cy="812800"/>
            </a:xfrm>
          </p:grpSpPr>
          <p:sp>
            <p:nvSpPr>
              <p:cNvPr id="613" name="Freeform 431">
                <a:extLst>
                  <a:ext uri="{FF2B5EF4-FFF2-40B4-BE49-F238E27FC236}">
                    <a16:creationId xmlns:a16="http://schemas.microsoft.com/office/drawing/2014/main" id="{ECCCB671-98E0-9DC3-3A37-FE947BB2DF1B}"/>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a:blip r:embed="rId45"/>
                <a:stretch>
                  <a:fillRect l="-74702" t="-17386" r="-22279" b="-13606"/>
                </a:stretch>
              </a:blipFill>
              <a:ln cap="sq">
                <a:noFill/>
                <a:prstDash val="solid"/>
                <a:miter/>
              </a:ln>
            </p:spPr>
            <p:txBody>
              <a:bodyPr/>
              <a:lstStyle/>
              <a:p>
                <a:endParaRPr lang="en-US"/>
              </a:p>
            </p:txBody>
          </p:sp>
        </p:grpSp>
        <p:sp>
          <p:nvSpPr>
            <p:cNvPr id="575" name="Freeform 432">
              <a:extLst>
                <a:ext uri="{FF2B5EF4-FFF2-40B4-BE49-F238E27FC236}">
                  <a16:creationId xmlns:a16="http://schemas.microsoft.com/office/drawing/2014/main" id="{9A637882-726F-FA81-65D1-70F894B20BE7}"/>
                </a:ext>
              </a:extLst>
            </p:cNvPr>
            <p:cNvSpPr/>
            <p:nvPr/>
          </p:nvSpPr>
          <p:spPr>
            <a:xfrm>
              <a:off x="2489976" y="7720419"/>
              <a:ext cx="763413" cy="763413"/>
            </a:xfrm>
            <a:custGeom>
              <a:avLst/>
              <a:gdLst/>
              <a:ahLst/>
              <a:cxnLst/>
              <a:rect l="l" t="t" r="r" b="b"/>
              <a:pathLst>
                <a:path w="763413" h="763413">
                  <a:moveTo>
                    <a:pt x="0" y="0"/>
                  </a:moveTo>
                  <a:lnTo>
                    <a:pt x="763413" y="0"/>
                  </a:lnTo>
                  <a:lnTo>
                    <a:pt x="763413" y="763413"/>
                  </a:lnTo>
                  <a:lnTo>
                    <a:pt x="0" y="763413"/>
                  </a:lnTo>
                  <a:lnTo>
                    <a:pt x="0" y="0"/>
                  </a:lnTo>
                  <a:close/>
                </a:path>
              </a:pathLst>
            </a:custGeom>
            <a:blipFill>
              <a:blip>
                <a:extLst>
                  <a:ext uri="{96DAC541-7B7A-43D3-8B79-37D633B846F1}">
                    <asvg:svgBlip xmlns:asvg="http://schemas.microsoft.com/office/drawing/2016/SVG/main" r:embed="rId22"/>
                  </a:ext>
                </a:extLst>
              </a:blip>
              <a:stretch>
                <a:fillRect/>
              </a:stretch>
            </a:blipFill>
          </p:spPr>
          <p:txBody>
            <a:bodyPr/>
            <a:lstStyle/>
            <a:p>
              <a:endParaRPr lang="en-US"/>
            </a:p>
          </p:txBody>
        </p:sp>
        <p:sp>
          <p:nvSpPr>
            <p:cNvPr id="576" name="Freeform 433">
              <a:extLst>
                <a:ext uri="{FF2B5EF4-FFF2-40B4-BE49-F238E27FC236}">
                  <a16:creationId xmlns:a16="http://schemas.microsoft.com/office/drawing/2014/main" id="{295C9BBB-7C73-86AB-9CE9-3703A285037A}"/>
                </a:ext>
              </a:extLst>
            </p:cNvPr>
            <p:cNvSpPr/>
            <p:nvPr/>
          </p:nvSpPr>
          <p:spPr>
            <a:xfrm>
              <a:off x="2643625" y="7877005"/>
              <a:ext cx="475791" cy="254548"/>
            </a:xfrm>
            <a:custGeom>
              <a:avLst/>
              <a:gdLst/>
              <a:ahLst/>
              <a:cxnLst/>
              <a:rect l="l" t="t" r="r" b="b"/>
              <a:pathLst>
                <a:path w="475791" h="254548">
                  <a:moveTo>
                    <a:pt x="0" y="0"/>
                  </a:moveTo>
                  <a:lnTo>
                    <a:pt x="475792" y="0"/>
                  </a:lnTo>
                  <a:lnTo>
                    <a:pt x="475792" y="254549"/>
                  </a:lnTo>
                  <a:lnTo>
                    <a:pt x="0" y="254549"/>
                  </a:lnTo>
                  <a:lnTo>
                    <a:pt x="0" y="0"/>
                  </a:lnTo>
                  <a:close/>
                </a:path>
              </a:pathLst>
            </a:custGeom>
            <a:blipFill>
              <a:blip>
                <a:extLst>
                  <a:ext uri="{96DAC541-7B7A-43D3-8B79-37D633B846F1}">
                    <asvg:svgBlip xmlns:asvg="http://schemas.microsoft.com/office/drawing/2016/SVG/main" r:embed="rId23"/>
                  </a:ext>
                </a:extLst>
              </a:blip>
              <a:stretch>
                <a:fillRect/>
              </a:stretch>
            </a:blipFill>
          </p:spPr>
          <p:txBody>
            <a:bodyPr/>
            <a:lstStyle/>
            <a:p>
              <a:endParaRPr lang="en-US"/>
            </a:p>
          </p:txBody>
        </p:sp>
        <p:sp>
          <p:nvSpPr>
            <p:cNvPr id="577" name="TextBox 434">
              <a:extLst>
                <a:ext uri="{FF2B5EF4-FFF2-40B4-BE49-F238E27FC236}">
                  <a16:creationId xmlns:a16="http://schemas.microsoft.com/office/drawing/2014/main" id="{1BEC4CA7-87D2-92C5-B60C-039633188F0E}"/>
                </a:ext>
              </a:extLst>
            </p:cNvPr>
            <p:cNvSpPr txBox="1"/>
            <p:nvPr/>
          </p:nvSpPr>
          <p:spPr>
            <a:xfrm>
              <a:off x="2568379" y="7742626"/>
              <a:ext cx="626283" cy="286256"/>
            </a:xfrm>
            <a:prstGeom prst="rect">
              <a:avLst/>
            </a:prstGeom>
          </p:spPr>
          <p:txBody>
            <a:bodyPr lIns="0" tIns="0" rIns="0" bIns="0" rtlCol="0" anchor="t">
              <a:spAutoFit/>
            </a:bodyPr>
            <a:lstStyle/>
            <a:p>
              <a:pPr algn="ctr">
                <a:lnSpc>
                  <a:spcPts val="728"/>
                </a:lnSpc>
                <a:spcBef>
                  <a:spcPct val="0"/>
                </a:spcBef>
              </a:pPr>
              <a:r>
                <a:rPr lang="en-US" sz="607" b="1" spc="82">
                  <a:solidFill>
                    <a:srgbClr val="FFFFFF"/>
                  </a:solidFill>
                  <a:latin typeface="Calibri (MS) Bold"/>
                  <a:ea typeface="Calibri (MS) Bold"/>
                  <a:cs typeface="Calibri (MS) Bold"/>
                  <a:sym typeface="Calibri (MS) Bold"/>
                </a:rPr>
                <a:t>LITTLE WINS</a:t>
              </a:r>
            </a:p>
          </p:txBody>
        </p:sp>
        <p:sp>
          <p:nvSpPr>
            <p:cNvPr id="578" name="Freeform 435">
              <a:extLst>
                <a:ext uri="{FF2B5EF4-FFF2-40B4-BE49-F238E27FC236}">
                  <a16:creationId xmlns:a16="http://schemas.microsoft.com/office/drawing/2014/main" id="{B713C05F-1A9A-661C-C9AD-1530E4F3F627}"/>
                </a:ext>
              </a:extLst>
            </p:cNvPr>
            <p:cNvSpPr/>
            <p:nvPr/>
          </p:nvSpPr>
          <p:spPr>
            <a:xfrm rot="2699999">
              <a:off x="2627626" y="7952562"/>
              <a:ext cx="493880" cy="493880"/>
            </a:xfrm>
            <a:custGeom>
              <a:avLst/>
              <a:gdLst/>
              <a:ahLst/>
              <a:cxnLst/>
              <a:rect l="l" t="t" r="r" b="b"/>
              <a:pathLst>
                <a:path w="493880" h="493880">
                  <a:moveTo>
                    <a:pt x="0" y="0"/>
                  </a:moveTo>
                  <a:lnTo>
                    <a:pt x="493880" y="0"/>
                  </a:lnTo>
                  <a:lnTo>
                    <a:pt x="493880" y="493880"/>
                  </a:lnTo>
                  <a:lnTo>
                    <a:pt x="0" y="493880"/>
                  </a:lnTo>
                  <a:lnTo>
                    <a:pt x="0" y="0"/>
                  </a:lnTo>
                  <a:close/>
                </a:path>
              </a:pathLst>
            </a:custGeom>
            <a:blipFill>
              <a:blip>
                <a:extLst>
                  <a:ext uri="{96DAC541-7B7A-43D3-8B79-37D633B846F1}">
                    <asvg:svgBlip xmlns:asvg="http://schemas.microsoft.com/office/drawing/2016/SVG/main" r:embed="rId25"/>
                  </a:ext>
                </a:extLst>
              </a:blip>
              <a:stretch>
                <a:fillRect/>
              </a:stretch>
            </a:blipFill>
          </p:spPr>
          <p:txBody>
            <a:bodyPr/>
            <a:lstStyle/>
            <a:p>
              <a:endParaRPr lang="en-US"/>
            </a:p>
          </p:txBody>
        </p:sp>
        <p:sp>
          <p:nvSpPr>
            <p:cNvPr id="579" name="TextBox 436">
              <a:extLst>
                <a:ext uri="{FF2B5EF4-FFF2-40B4-BE49-F238E27FC236}">
                  <a16:creationId xmlns:a16="http://schemas.microsoft.com/office/drawing/2014/main" id="{9B0B4735-1B2A-FCC7-2D9F-3C04B0779510}"/>
                </a:ext>
              </a:extLst>
            </p:cNvPr>
            <p:cNvSpPr txBox="1"/>
            <p:nvPr/>
          </p:nvSpPr>
          <p:spPr>
            <a:xfrm>
              <a:off x="2763233" y="8359052"/>
              <a:ext cx="216899" cy="47681"/>
            </a:xfrm>
            <a:prstGeom prst="rect">
              <a:avLst/>
            </a:prstGeom>
          </p:spPr>
          <p:txBody>
            <a:bodyPr lIns="0" tIns="0" rIns="0" bIns="0" rtlCol="0" anchor="t">
              <a:spAutoFit/>
            </a:bodyPr>
            <a:lstStyle/>
            <a:p>
              <a:pPr algn="ctr">
                <a:lnSpc>
                  <a:spcPts val="227"/>
                </a:lnSpc>
                <a:spcBef>
                  <a:spcPct val="0"/>
                </a:spcBef>
              </a:pPr>
              <a:r>
                <a:rPr lang="en-US" sz="189" b="1" spc="25">
                  <a:solidFill>
                    <a:srgbClr val="FFFFFF"/>
                  </a:solidFill>
                  <a:latin typeface="Calibri (MS) Bold"/>
                  <a:ea typeface="Calibri (MS) Bold"/>
                  <a:cs typeface="Calibri (MS) Bold"/>
                  <a:sym typeface="Calibri (MS) Bold"/>
                </a:rPr>
                <a:t>October2026</a:t>
              </a:r>
            </a:p>
          </p:txBody>
        </p:sp>
        <p:sp>
          <p:nvSpPr>
            <p:cNvPr id="580" name="Freeform 437">
              <a:extLst>
                <a:ext uri="{FF2B5EF4-FFF2-40B4-BE49-F238E27FC236}">
                  <a16:creationId xmlns:a16="http://schemas.microsoft.com/office/drawing/2014/main" id="{212A2FCC-907E-FF42-1D98-580E59E31577}"/>
                </a:ext>
              </a:extLst>
            </p:cNvPr>
            <p:cNvSpPr/>
            <p:nvPr/>
          </p:nvSpPr>
          <p:spPr>
            <a:xfrm rot="2699999">
              <a:off x="2686432" y="8133179"/>
              <a:ext cx="370500" cy="370500"/>
            </a:xfrm>
            <a:custGeom>
              <a:avLst/>
              <a:gdLst/>
              <a:ahLst/>
              <a:cxnLst/>
              <a:rect l="l" t="t" r="r" b="b"/>
              <a:pathLst>
                <a:path w="370500" h="370500">
                  <a:moveTo>
                    <a:pt x="0" y="0"/>
                  </a:moveTo>
                  <a:lnTo>
                    <a:pt x="370500" y="0"/>
                  </a:lnTo>
                  <a:lnTo>
                    <a:pt x="370500" y="370500"/>
                  </a:lnTo>
                  <a:lnTo>
                    <a:pt x="0" y="370500"/>
                  </a:lnTo>
                  <a:lnTo>
                    <a:pt x="0" y="0"/>
                  </a:lnTo>
                  <a:close/>
                </a:path>
              </a:pathLst>
            </a:custGeom>
            <a:blipFill>
              <a:blip>
                <a:extLst>
                  <a:ext uri="{96DAC541-7B7A-43D3-8B79-37D633B846F1}">
                    <asvg:svgBlip xmlns:asvg="http://schemas.microsoft.com/office/drawing/2016/SVG/main" r:embed="rId25"/>
                  </a:ext>
                </a:extLst>
              </a:blip>
              <a:stretch>
                <a:fillRect/>
              </a:stretch>
            </a:blipFill>
          </p:spPr>
          <p:txBody>
            <a:bodyPr/>
            <a:lstStyle/>
            <a:p>
              <a:endParaRPr lang="en-US"/>
            </a:p>
          </p:txBody>
        </p:sp>
        <p:sp>
          <p:nvSpPr>
            <p:cNvPr id="581" name="TextBox 438">
              <a:extLst>
                <a:ext uri="{FF2B5EF4-FFF2-40B4-BE49-F238E27FC236}">
                  <a16:creationId xmlns:a16="http://schemas.microsoft.com/office/drawing/2014/main" id="{EFEBAA4E-8D1E-78BD-E619-7EB0DDC1A72B}"/>
                </a:ext>
              </a:extLst>
            </p:cNvPr>
            <p:cNvSpPr txBox="1"/>
            <p:nvPr/>
          </p:nvSpPr>
          <p:spPr>
            <a:xfrm>
              <a:off x="2698029" y="8229808"/>
              <a:ext cx="353074" cy="70907"/>
            </a:xfrm>
            <a:prstGeom prst="rect">
              <a:avLst/>
            </a:prstGeom>
          </p:spPr>
          <p:txBody>
            <a:bodyPr lIns="0" tIns="0" rIns="0" bIns="0" rtlCol="0" anchor="t">
              <a:spAutoFit/>
            </a:bodyPr>
            <a:lstStyle/>
            <a:p>
              <a:pPr algn="ctr">
                <a:lnSpc>
                  <a:spcPts val="368"/>
                </a:lnSpc>
                <a:spcBef>
                  <a:spcPct val="0"/>
                </a:spcBef>
              </a:pPr>
              <a:r>
                <a:rPr lang="en-US" sz="306" b="1">
                  <a:solidFill>
                    <a:srgbClr val="FFFFFF"/>
                  </a:solidFill>
                  <a:latin typeface="Calibri (MS) Bold"/>
                  <a:ea typeface="Calibri (MS) Bold"/>
                  <a:cs typeface="Calibri (MS) Bold"/>
                  <a:sym typeface="Calibri (MS) Bold"/>
                </a:rPr>
                <a:t> REAL PASSPORT</a:t>
              </a:r>
            </a:p>
          </p:txBody>
        </p:sp>
        <p:sp>
          <p:nvSpPr>
            <p:cNvPr id="582" name="TextBox 439">
              <a:extLst>
                <a:ext uri="{FF2B5EF4-FFF2-40B4-BE49-F238E27FC236}">
                  <a16:creationId xmlns:a16="http://schemas.microsoft.com/office/drawing/2014/main" id="{A36DDB0B-6E98-CF93-8A97-B40503C765FB}"/>
                </a:ext>
              </a:extLst>
            </p:cNvPr>
            <p:cNvSpPr txBox="1"/>
            <p:nvPr/>
          </p:nvSpPr>
          <p:spPr>
            <a:xfrm>
              <a:off x="2540439" y="8121812"/>
              <a:ext cx="167475" cy="47681"/>
            </a:xfrm>
            <a:prstGeom prst="rect">
              <a:avLst/>
            </a:prstGeom>
          </p:spPr>
          <p:txBody>
            <a:bodyPr lIns="0" tIns="0" rIns="0" bIns="0" rtlCol="0" anchor="t">
              <a:spAutoFit/>
            </a:bodyPr>
            <a:lstStyle/>
            <a:p>
              <a:pPr algn="ctr">
                <a:lnSpc>
                  <a:spcPts val="227"/>
                </a:lnSpc>
                <a:spcBef>
                  <a:spcPct val="0"/>
                </a:spcBef>
              </a:pPr>
              <a:r>
                <a:rPr lang="en-US" sz="189" b="1">
                  <a:solidFill>
                    <a:srgbClr val="FFDE59"/>
                  </a:solidFill>
                  <a:latin typeface="Calibri (MS) Bold"/>
                  <a:ea typeface="Calibri (MS) Bold"/>
                  <a:cs typeface="Calibri (MS) Bold"/>
                  <a:sym typeface="Calibri (MS) Bold"/>
                </a:rPr>
                <a:t>BeReal.</a:t>
              </a:r>
            </a:p>
          </p:txBody>
        </p:sp>
        <p:sp>
          <p:nvSpPr>
            <p:cNvPr id="583" name="TextBox 440">
              <a:extLst>
                <a:ext uri="{FF2B5EF4-FFF2-40B4-BE49-F238E27FC236}">
                  <a16:creationId xmlns:a16="http://schemas.microsoft.com/office/drawing/2014/main" id="{71E88319-7D2D-027A-1592-001D205C2CDE}"/>
                </a:ext>
              </a:extLst>
            </p:cNvPr>
            <p:cNvSpPr txBox="1"/>
            <p:nvPr/>
          </p:nvSpPr>
          <p:spPr>
            <a:xfrm>
              <a:off x="3031600" y="8121812"/>
              <a:ext cx="167475" cy="47681"/>
            </a:xfrm>
            <a:prstGeom prst="rect">
              <a:avLst/>
            </a:prstGeom>
          </p:spPr>
          <p:txBody>
            <a:bodyPr lIns="0" tIns="0" rIns="0" bIns="0" rtlCol="0" anchor="t">
              <a:spAutoFit/>
            </a:bodyPr>
            <a:lstStyle/>
            <a:p>
              <a:pPr algn="ctr">
                <a:lnSpc>
                  <a:spcPts val="227"/>
                </a:lnSpc>
                <a:spcBef>
                  <a:spcPct val="0"/>
                </a:spcBef>
              </a:pPr>
              <a:r>
                <a:rPr lang="en-US" sz="189" b="1">
                  <a:solidFill>
                    <a:srgbClr val="FFDE59"/>
                  </a:solidFill>
                  <a:latin typeface="Calibri (MS) Bold"/>
                  <a:ea typeface="Calibri (MS) Bold"/>
                  <a:cs typeface="Calibri (MS) Bold"/>
                  <a:sym typeface="Calibri (MS) Bold"/>
                </a:rPr>
                <a:t>Unfiltered</a:t>
              </a:r>
            </a:p>
          </p:txBody>
        </p:sp>
        <p:sp>
          <p:nvSpPr>
            <p:cNvPr id="584" name="Freeform 441">
              <a:extLst>
                <a:ext uri="{FF2B5EF4-FFF2-40B4-BE49-F238E27FC236}">
                  <a16:creationId xmlns:a16="http://schemas.microsoft.com/office/drawing/2014/main" id="{AC9C272E-B0AD-93B9-F5B2-05FE1B440150}"/>
                </a:ext>
              </a:extLst>
            </p:cNvPr>
            <p:cNvSpPr/>
            <p:nvPr/>
          </p:nvSpPr>
          <p:spPr>
            <a:xfrm>
              <a:off x="2767263" y="7993787"/>
              <a:ext cx="208839" cy="156629"/>
            </a:xfrm>
            <a:custGeom>
              <a:avLst/>
              <a:gdLst/>
              <a:ahLst/>
              <a:cxnLst/>
              <a:rect l="l" t="t" r="r" b="b"/>
              <a:pathLst>
                <a:path w="208839" h="156629">
                  <a:moveTo>
                    <a:pt x="0" y="0"/>
                  </a:moveTo>
                  <a:lnTo>
                    <a:pt x="208839" y="0"/>
                  </a:lnTo>
                  <a:lnTo>
                    <a:pt x="208839" y="156628"/>
                  </a:lnTo>
                  <a:lnTo>
                    <a:pt x="0" y="156628"/>
                  </a:lnTo>
                  <a:lnTo>
                    <a:pt x="0" y="0"/>
                  </a:lnTo>
                  <a:close/>
                </a:path>
              </a:pathLst>
            </a:custGeom>
            <a:blipFill>
              <a:blip>
                <a:extLst>
                  <a:ext uri="{96DAC541-7B7A-43D3-8B79-37D633B846F1}">
                    <asvg:svgBlip xmlns:asvg="http://schemas.microsoft.com/office/drawing/2016/SVG/main" r:embed="rId48"/>
                  </a:ext>
                </a:extLst>
              </a:blip>
              <a:stretch>
                <a:fillRect/>
              </a:stretch>
            </a:blipFill>
          </p:spPr>
          <p:txBody>
            <a:bodyPr/>
            <a:lstStyle/>
            <a:p>
              <a:endParaRPr lang="en-US"/>
            </a:p>
          </p:txBody>
        </p:sp>
        <p:sp>
          <p:nvSpPr>
            <p:cNvPr id="585" name="Freeform 442">
              <a:extLst>
                <a:ext uri="{FF2B5EF4-FFF2-40B4-BE49-F238E27FC236}">
                  <a16:creationId xmlns:a16="http://schemas.microsoft.com/office/drawing/2014/main" id="{9A1D7E14-DF3D-F5CD-803B-D1C8F2A025D4}"/>
                </a:ext>
              </a:extLst>
            </p:cNvPr>
            <p:cNvSpPr/>
            <p:nvPr/>
          </p:nvSpPr>
          <p:spPr>
            <a:xfrm rot="-4941124">
              <a:off x="2512780" y="8033571"/>
              <a:ext cx="117650" cy="77061"/>
            </a:xfrm>
            <a:custGeom>
              <a:avLst/>
              <a:gdLst/>
              <a:ahLst/>
              <a:cxnLst/>
              <a:rect l="l" t="t" r="r" b="b"/>
              <a:pathLst>
                <a:path w="117650" h="77061">
                  <a:moveTo>
                    <a:pt x="0" y="0"/>
                  </a:moveTo>
                  <a:lnTo>
                    <a:pt x="117650" y="0"/>
                  </a:lnTo>
                  <a:lnTo>
                    <a:pt x="117650" y="77060"/>
                  </a:lnTo>
                  <a:lnTo>
                    <a:pt x="0" y="77060"/>
                  </a:lnTo>
                  <a:lnTo>
                    <a:pt x="0" y="0"/>
                  </a:lnTo>
                  <a:close/>
                </a:path>
              </a:pathLst>
            </a:custGeom>
            <a:blipFill>
              <a:blip>
                <a:extLst>
                  <a:ext uri="{96DAC541-7B7A-43D3-8B79-37D633B846F1}">
                    <asvg:svgBlip xmlns:asvg="http://schemas.microsoft.com/office/drawing/2016/SVG/main" r:embed="rId49"/>
                  </a:ext>
                </a:extLst>
              </a:blip>
              <a:stretch>
                <a:fillRect/>
              </a:stretch>
            </a:blipFill>
          </p:spPr>
          <p:txBody>
            <a:bodyPr/>
            <a:lstStyle/>
            <a:p>
              <a:endParaRPr lang="en-US"/>
            </a:p>
          </p:txBody>
        </p:sp>
        <p:sp>
          <p:nvSpPr>
            <p:cNvPr id="586" name="Freeform 443">
              <a:extLst>
                <a:ext uri="{FF2B5EF4-FFF2-40B4-BE49-F238E27FC236}">
                  <a16:creationId xmlns:a16="http://schemas.microsoft.com/office/drawing/2014/main" id="{53D6E266-BFA1-6AC9-3C2F-D157968D2B29}"/>
                </a:ext>
              </a:extLst>
            </p:cNvPr>
            <p:cNvSpPr/>
            <p:nvPr/>
          </p:nvSpPr>
          <p:spPr>
            <a:xfrm rot="5120367" flipH="1">
              <a:off x="3109766" y="8031902"/>
              <a:ext cx="117650" cy="77061"/>
            </a:xfrm>
            <a:custGeom>
              <a:avLst/>
              <a:gdLst/>
              <a:ahLst/>
              <a:cxnLst/>
              <a:rect l="l" t="t" r="r" b="b"/>
              <a:pathLst>
                <a:path w="117650" h="77061">
                  <a:moveTo>
                    <a:pt x="117650" y="0"/>
                  </a:moveTo>
                  <a:lnTo>
                    <a:pt x="0" y="0"/>
                  </a:lnTo>
                  <a:lnTo>
                    <a:pt x="0" y="77061"/>
                  </a:lnTo>
                  <a:lnTo>
                    <a:pt x="117650" y="77061"/>
                  </a:lnTo>
                  <a:lnTo>
                    <a:pt x="117650" y="0"/>
                  </a:lnTo>
                  <a:close/>
                </a:path>
              </a:pathLst>
            </a:custGeom>
            <a:blipFill>
              <a:blip>
                <a:extLst>
                  <a:ext uri="{96DAC541-7B7A-43D3-8B79-37D633B846F1}">
                    <asvg:svgBlip xmlns:asvg="http://schemas.microsoft.com/office/drawing/2016/SVG/main" r:embed="rId49"/>
                  </a:ext>
                </a:extLst>
              </a:blip>
              <a:stretch>
                <a:fillRect/>
              </a:stretch>
            </a:blipFill>
          </p:spPr>
          <p:txBody>
            <a:bodyPr/>
            <a:lstStyle/>
            <a:p>
              <a:endParaRPr lang="en-US"/>
            </a:p>
          </p:txBody>
        </p:sp>
        <p:sp>
          <p:nvSpPr>
            <p:cNvPr id="587" name="Freeform 444">
              <a:extLst>
                <a:ext uri="{FF2B5EF4-FFF2-40B4-BE49-F238E27FC236}">
                  <a16:creationId xmlns:a16="http://schemas.microsoft.com/office/drawing/2014/main" id="{90775A67-DDF3-576F-3591-455F8CE64000}"/>
                </a:ext>
              </a:extLst>
            </p:cNvPr>
            <p:cNvSpPr/>
            <p:nvPr/>
          </p:nvSpPr>
          <p:spPr>
            <a:xfrm>
              <a:off x="4184171" y="7766746"/>
              <a:ext cx="682935" cy="682935"/>
            </a:xfrm>
            <a:custGeom>
              <a:avLst/>
              <a:gdLst/>
              <a:ahLst/>
              <a:cxnLst/>
              <a:rect l="l" t="t" r="r" b="b"/>
              <a:pathLst>
                <a:path w="682935" h="682935">
                  <a:moveTo>
                    <a:pt x="0" y="0"/>
                  </a:moveTo>
                  <a:lnTo>
                    <a:pt x="682935" y="0"/>
                  </a:lnTo>
                  <a:lnTo>
                    <a:pt x="682935" y="682935"/>
                  </a:lnTo>
                  <a:lnTo>
                    <a:pt x="0" y="682935"/>
                  </a:lnTo>
                  <a:lnTo>
                    <a:pt x="0" y="0"/>
                  </a:lnTo>
                  <a:close/>
                </a:path>
              </a:pathLst>
            </a:custGeom>
            <a:blipFill>
              <a:blip>
                <a:extLst>
                  <a:ext uri="{96DAC541-7B7A-43D3-8B79-37D633B846F1}">
                    <asvg:svgBlip xmlns:asvg="http://schemas.microsoft.com/office/drawing/2016/SVG/main" r:embed="rId50"/>
                  </a:ext>
                </a:extLst>
              </a:blip>
              <a:stretch>
                <a:fillRect/>
              </a:stretch>
            </a:blipFill>
          </p:spPr>
          <p:txBody>
            <a:bodyPr/>
            <a:lstStyle/>
            <a:p>
              <a:endParaRPr lang="en-US"/>
            </a:p>
          </p:txBody>
        </p:sp>
        <p:sp>
          <p:nvSpPr>
            <p:cNvPr id="588" name="Freeform 445">
              <a:extLst>
                <a:ext uri="{FF2B5EF4-FFF2-40B4-BE49-F238E27FC236}">
                  <a16:creationId xmlns:a16="http://schemas.microsoft.com/office/drawing/2014/main" id="{55547ADF-26D2-9859-C408-F2121964527F}"/>
                </a:ext>
              </a:extLst>
            </p:cNvPr>
            <p:cNvSpPr/>
            <p:nvPr/>
          </p:nvSpPr>
          <p:spPr>
            <a:xfrm>
              <a:off x="4321623" y="7906825"/>
              <a:ext cx="425634" cy="227714"/>
            </a:xfrm>
            <a:custGeom>
              <a:avLst/>
              <a:gdLst/>
              <a:ahLst/>
              <a:cxnLst/>
              <a:rect l="l" t="t" r="r" b="b"/>
              <a:pathLst>
                <a:path w="425634" h="227714">
                  <a:moveTo>
                    <a:pt x="0" y="0"/>
                  </a:moveTo>
                  <a:lnTo>
                    <a:pt x="425634" y="0"/>
                  </a:lnTo>
                  <a:lnTo>
                    <a:pt x="425634" y="227714"/>
                  </a:lnTo>
                  <a:lnTo>
                    <a:pt x="0" y="227714"/>
                  </a:lnTo>
                  <a:lnTo>
                    <a:pt x="0" y="0"/>
                  </a:lnTo>
                  <a:close/>
                </a:path>
              </a:pathLst>
            </a:custGeom>
            <a:blipFill>
              <a:blip>
                <a:extLst>
                  <a:ext uri="{96DAC541-7B7A-43D3-8B79-37D633B846F1}">
                    <asvg:svgBlip xmlns:asvg="http://schemas.microsoft.com/office/drawing/2016/SVG/main" r:embed="rId51"/>
                  </a:ext>
                </a:extLst>
              </a:blip>
              <a:stretch>
                <a:fillRect/>
              </a:stretch>
            </a:blipFill>
          </p:spPr>
          <p:txBody>
            <a:bodyPr/>
            <a:lstStyle/>
            <a:p>
              <a:endParaRPr lang="en-US"/>
            </a:p>
          </p:txBody>
        </p:sp>
        <p:sp>
          <p:nvSpPr>
            <p:cNvPr id="589" name="TextBox 446">
              <a:extLst>
                <a:ext uri="{FF2B5EF4-FFF2-40B4-BE49-F238E27FC236}">
                  <a16:creationId xmlns:a16="http://schemas.microsoft.com/office/drawing/2014/main" id="{EF738812-645D-9839-4C86-0AB08A82E96D}"/>
                </a:ext>
              </a:extLst>
            </p:cNvPr>
            <p:cNvSpPr txBox="1"/>
            <p:nvPr/>
          </p:nvSpPr>
          <p:spPr>
            <a:xfrm>
              <a:off x="4264290" y="7794128"/>
              <a:ext cx="540300" cy="235001"/>
            </a:xfrm>
            <a:prstGeom prst="rect">
              <a:avLst/>
            </a:prstGeom>
          </p:spPr>
          <p:txBody>
            <a:bodyPr lIns="0" tIns="0" rIns="0" bIns="0" rtlCol="0" anchor="t">
              <a:spAutoFit/>
            </a:bodyPr>
            <a:lstStyle/>
            <a:p>
              <a:pPr algn="ctr">
                <a:lnSpc>
                  <a:spcPts val="652"/>
                </a:lnSpc>
                <a:spcBef>
                  <a:spcPct val="0"/>
                </a:spcBef>
              </a:pPr>
              <a:r>
                <a:rPr lang="en-US" sz="543" b="1" spc="73">
                  <a:solidFill>
                    <a:srgbClr val="FFFFFF"/>
                  </a:solidFill>
                  <a:latin typeface="Calibri (MS) Bold"/>
                  <a:ea typeface="Calibri (MS) Bold"/>
                  <a:cs typeface="Calibri (MS) Bold"/>
                  <a:sym typeface="Calibri (MS) Bold"/>
                </a:rPr>
                <a:t>GAME TIME</a:t>
              </a:r>
            </a:p>
          </p:txBody>
        </p:sp>
        <p:sp>
          <p:nvSpPr>
            <p:cNvPr id="590" name="Freeform 447">
              <a:extLst>
                <a:ext uri="{FF2B5EF4-FFF2-40B4-BE49-F238E27FC236}">
                  <a16:creationId xmlns:a16="http://schemas.microsoft.com/office/drawing/2014/main" id="{65141AE8-F780-BE04-232A-E6078E326327}"/>
                </a:ext>
              </a:extLst>
            </p:cNvPr>
            <p:cNvSpPr/>
            <p:nvPr/>
          </p:nvSpPr>
          <p:spPr>
            <a:xfrm rot="2699999">
              <a:off x="4307311" y="7974416"/>
              <a:ext cx="441816" cy="441816"/>
            </a:xfrm>
            <a:custGeom>
              <a:avLst/>
              <a:gdLst/>
              <a:ahLst/>
              <a:cxnLst/>
              <a:rect l="l" t="t" r="r" b="b"/>
              <a:pathLst>
                <a:path w="441816" h="441816">
                  <a:moveTo>
                    <a:pt x="0" y="0"/>
                  </a:moveTo>
                  <a:lnTo>
                    <a:pt x="441815" y="0"/>
                  </a:lnTo>
                  <a:lnTo>
                    <a:pt x="441815" y="441816"/>
                  </a:lnTo>
                  <a:lnTo>
                    <a:pt x="0" y="441816"/>
                  </a:lnTo>
                  <a:lnTo>
                    <a:pt x="0" y="0"/>
                  </a:lnTo>
                  <a:close/>
                </a:path>
              </a:pathLst>
            </a:custGeom>
            <a:blipFill>
              <a:blip>
                <a:extLst>
                  <a:ext uri="{96DAC541-7B7A-43D3-8B79-37D633B846F1}">
                    <asvg:svgBlip xmlns:asvg="http://schemas.microsoft.com/office/drawing/2016/SVG/main" r:embed="rId52"/>
                  </a:ext>
                </a:extLst>
              </a:blip>
              <a:stretch>
                <a:fillRect/>
              </a:stretch>
            </a:blipFill>
          </p:spPr>
          <p:txBody>
            <a:bodyPr/>
            <a:lstStyle/>
            <a:p>
              <a:endParaRPr lang="en-US"/>
            </a:p>
          </p:txBody>
        </p:sp>
        <p:sp>
          <p:nvSpPr>
            <p:cNvPr id="591" name="TextBox 448">
              <a:extLst>
                <a:ext uri="{FF2B5EF4-FFF2-40B4-BE49-F238E27FC236}">
                  <a16:creationId xmlns:a16="http://schemas.microsoft.com/office/drawing/2014/main" id="{0C79C962-CCC7-7318-0280-D183B0F10A2D}"/>
                </a:ext>
              </a:extLst>
            </p:cNvPr>
            <p:cNvSpPr txBox="1"/>
            <p:nvPr/>
          </p:nvSpPr>
          <p:spPr>
            <a:xfrm>
              <a:off x="4428622" y="8337051"/>
              <a:ext cx="194034" cy="43659"/>
            </a:xfrm>
            <a:prstGeom prst="rect">
              <a:avLst/>
            </a:prstGeom>
          </p:spPr>
          <p:txBody>
            <a:bodyPr lIns="0" tIns="0" rIns="0" bIns="0" rtlCol="0" anchor="t">
              <a:spAutoFit/>
            </a:bodyPr>
            <a:lstStyle/>
            <a:p>
              <a:pPr algn="ctr">
                <a:lnSpc>
                  <a:spcPts val="203"/>
                </a:lnSpc>
                <a:spcBef>
                  <a:spcPct val="0"/>
                </a:spcBef>
              </a:pPr>
              <a:r>
                <a:rPr lang="en-US" sz="169" b="1" spc="23">
                  <a:solidFill>
                    <a:srgbClr val="FFFFFF"/>
                  </a:solidFill>
                  <a:latin typeface="Calibri (MS) Bold"/>
                  <a:ea typeface="Calibri (MS) Bold"/>
                  <a:cs typeface="Calibri (MS) Bold"/>
                  <a:sym typeface="Calibri (MS) Bold"/>
                </a:rPr>
                <a:t>October2026</a:t>
              </a:r>
            </a:p>
          </p:txBody>
        </p:sp>
        <p:sp>
          <p:nvSpPr>
            <p:cNvPr id="592" name="Freeform 449">
              <a:extLst>
                <a:ext uri="{FF2B5EF4-FFF2-40B4-BE49-F238E27FC236}">
                  <a16:creationId xmlns:a16="http://schemas.microsoft.com/office/drawing/2014/main" id="{6A4D31C2-E5BF-CE64-C355-0D6A44BC125A}"/>
                </a:ext>
              </a:extLst>
            </p:cNvPr>
            <p:cNvSpPr/>
            <p:nvPr/>
          </p:nvSpPr>
          <p:spPr>
            <a:xfrm rot="2699999">
              <a:off x="4359917" y="8135993"/>
              <a:ext cx="331442" cy="331442"/>
            </a:xfrm>
            <a:custGeom>
              <a:avLst/>
              <a:gdLst/>
              <a:ahLst/>
              <a:cxnLst/>
              <a:rect l="l" t="t" r="r" b="b"/>
              <a:pathLst>
                <a:path w="331442" h="331442">
                  <a:moveTo>
                    <a:pt x="0" y="0"/>
                  </a:moveTo>
                  <a:lnTo>
                    <a:pt x="331443" y="0"/>
                  </a:lnTo>
                  <a:lnTo>
                    <a:pt x="331443" y="331442"/>
                  </a:lnTo>
                  <a:lnTo>
                    <a:pt x="0" y="331442"/>
                  </a:lnTo>
                  <a:lnTo>
                    <a:pt x="0" y="0"/>
                  </a:lnTo>
                  <a:close/>
                </a:path>
              </a:pathLst>
            </a:custGeom>
            <a:blipFill>
              <a:blip>
                <a:extLst>
                  <a:ext uri="{96DAC541-7B7A-43D3-8B79-37D633B846F1}">
                    <asvg:svgBlip xmlns:asvg="http://schemas.microsoft.com/office/drawing/2016/SVG/main" r:embed="rId52"/>
                  </a:ext>
                </a:extLst>
              </a:blip>
              <a:stretch>
                <a:fillRect/>
              </a:stretch>
            </a:blipFill>
          </p:spPr>
          <p:txBody>
            <a:bodyPr/>
            <a:lstStyle/>
            <a:p>
              <a:endParaRPr lang="en-US"/>
            </a:p>
          </p:txBody>
        </p:sp>
        <p:sp>
          <p:nvSpPr>
            <p:cNvPr id="593" name="TextBox 450">
              <a:extLst>
                <a:ext uri="{FF2B5EF4-FFF2-40B4-BE49-F238E27FC236}">
                  <a16:creationId xmlns:a16="http://schemas.microsoft.com/office/drawing/2014/main" id="{BAB9C644-0071-8CB2-007B-85C91C1CBFBA}"/>
                </a:ext>
              </a:extLst>
            </p:cNvPr>
            <p:cNvSpPr txBox="1"/>
            <p:nvPr/>
          </p:nvSpPr>
          <p:spPr>
            <a:xfrm>
              <a:off x="4370292" y="8221431"/>
              <a:ext cx="315854" cy="64436"/>
            </a:xfrm>
            <a:prstGeom prst="rect">
              <a:avLst/>
            </a:prstGeom>
          </p:spPr>
          <p:txBody>
            <a:bodyPr lIns="0" tIns="0" rIns="0" bIns="0" rtlCol="0" anchor="t">
              <a:spAutoFit/>
            </a:bodyPr>
            <a:lstStyle/>
            <a:p>
              <a:pPr algn="ctr">
                <a:lnSpc>
                  <a:spcPts val="329"/>
                </a:lnSpc>
                <a:spcBef>
                  <a:spcPct val="0"/>
                </a:spcBef>
              </a:pPr>
              <a:r>
                <a:rPr lang="en-US" sz="274" b="1">
                  <a:solidFill>
                    <a:srgbClr val="FFFFFF"/>
                  </a:solidFill>
                  <a:latin typeface="Calibri (MS) Bold"/>
                  <a:ea typeface="Calibri (MS) Bold"/>
                  <a:cs typeface="Calibri (MS) Bold"/>
                  <a:sym typeface="Calibri (MS) Bold"/>
                </a:rPr>
                <a:t> REAL PASSPORT</a:t>
              </a:r>
            </a:p>
          </p:txBody>
        </p:sp>
        <p:sp>
          <p:nvSpPr>
            <p:cNvPr id="594" name="TextBox 451">
              <a:extLst>
                <a:ext uri="{FF2B5EF4-FFF2-40B4-BE49-F238E27FC236}">
                  <a16:creationId xmlns:a16="http://schemas.microsoft.com/office/drawing/2014/main" id="{33622DAB-B625-A495-8C8E-D0FEDCEF00C6}"/>
                </a:ext>
              </a:extLst>
            </p:cNvPr>
            <p:cNvSpPr txBox="1"/>
            <p:nvPr/>
          </p:nvSpPr>
          <p:spPr>
            <a:xfrm>
              <a:off x="4229315" y="8124820"/>
              <a:ext cx="149820" cy="43659"/>
            </a:xfrm>
            <a:prstGeom prst="rect">
              <a:avLst/>
            </a:prstGeom>
          </p:spPr>
          <p:txBody>
            <a:bodyPr lIns="0" tIns="0" rIns="0" bIns="0" rtlCol="0" anchor="t">
              <a:spAutoFit/>
            </a:bodyPr>
            <a:lstStyle/>
            <a:p>
              <a:pPr algn="ctr">
                <a:lnSpc>
                  <a:spcPts val="203"/>
                </a:lnSpc>
                <a:spcBef>
                  <a:spcPct val="0"/>
                </a:spcBef>
              </a:pPr>
              <a:r>
                <a:rPr lang="en-US" sz="169" b="1">
                  <a:solidFill>
                    <a:srgbClr val="FFDE59"/>
                  </a:solidFill>
                  <a:latin typeface="Calibri (MS) Bold"/>
                  <a:ea typeface="Calibri (MS) Bold"/>
                  <a:cs typeface="Calibri (MS) Bold"/>
                  <a:sym typeface="Calibri (MS) Bold"/>
                </a:rPr>
                <a:t>BeReal.</a:t>
              </a:r>
            </a:p>
          </p:txBody>
        </p:sp>
        <p:sp>
          <p:nvSpPr>
            <p:cNvPr id="595" name="TextBox 452">
              <a:extLst>
                <a:ext uri="{FF2B5EF4-FFF2-40B4-BE49-F238E27FC236}">
                  <a16:creationId xmlns:a16="http://schemas.microsoft.com/office/drawing/2014/main" id="{5F5D00D3-79EC-5A06-204B-AB0662B6CE4D}"/>
                </a:ext>
              </a:extLst>
            </p:cNvPr>
            <p:cNvSpPr txBox="1"/>
            <p:nvPr/>
          </p:nvSpPr>
          <p:spPr>
            <a:xfrm>
              <a:off x="4668698" y="8124820"/>
              <a:ext cx="149820" cy="43659"/>
            </a:xfrm>
            <a:prstGeom prst="rect">
              <a:avLst/>
            </a:prstGeom>
          </p:spPr>
          <p:txBody>
            <a:bodyPr lIns="0" tIns="0" rIns="0" bIns="0" rtlCol="0" anchor="t">
              <a:spAutoFit/>
            </a:bodyPr>
            <a:lstStyle/>
            <a:p>
              <a:pPr algn="ctr">
                <a:lnSpc>
                  <a:spcPts val="203"/>
                </a:lnSpc>
                <a:spcBef>
                  <a:spcPct val="0"/>
                </a:spcBef>
              </a:pPr>
              <a:r>
                <a:rPr lang="en-US" sz="169" b="1">
                  <a:solidFill>
                    <a:srgbClr val="FFDE59"/>
                  </a:solidFill>
                  <a:latin typeface="Calibri (MS) Bold"/>
                  <a:ea typeface="Calibri (MS) Bold"/>
                  <a:cs typeface="Calibri (MS) Bold"/>
                  <a:sym typeface="Calibri (MS) Bold"/>
                </a:rPr>
                <a:t>Unfiltered</a:t>
              </a:r>
            </a:p>
          </p:txBody>
        </p:sp>
        <p:sp>
          <p:nvSpPr>
            <p:cNvPr id="596" name="Freeform 453">
              <a:extLst>
                <a:ext uri="{FF2B5EF4-FFF2-40B4-BE49-F238E27FC236}">
                  <a16:creationId xmlns:a16="http://schemas.microsoft.com/office/drawing/2014/main" id="{AFACB140-3585-1B63-7BE7-1CFFA48E9040}"/>
                </a:ext>
              </a:extLst>
            </p:cNvPr>
            <p:cNvSpPr/>
            <p:nvPr/>
          </p:nvSpPr>
          <p:spPr>
            <a:xfrm rot="-4941124">
              <a:off x="4204571" y="8046885"/>
              <a:ext cx="105247" cy="68937"/>
            </a:xfrm>
            <a:custGeom>
              <a:avLst/>
              <a:gdLst/>
              <a:ahLst/>
              <a:cxnLst/>
              <a:rect l="l" t="t" r="r" b="b"/>
              <a:pathLst>
                <a:path w="105247" h="68937">
                  <a:moveTo>
                    <a:pt x="0" y="0"/>
                  </a:moveTo>
                  <a:lnTo>
                    <a:pt x="105248" y="0"/>
                  </a:lnTo>
                  <a:lnTo>
                    <a:pt x="105248" y="68937"/>
                  </a:lnTo>
                  <a:lnTo>
                    <a:pt x="0" y="68937"/>
                  </a:lnTo>
                  <a:lnTo>
                    <a:pt x="0" y="0"/>
                  </a:lnTo>
                  <a:close/>
                </a:path>
              </a:pathLst>
            </a:custGeom>
            <a:blipFill>
              <a:blip>
                <a:extLst>
                  <a:ext uri="{96DAC541-7B7A-43D3-8B79-37D633B846F1}">
                    <asvg:svgBlip xmlns:asvg="http://schemas.microsoft.com/office/drawing/2016/SVG/main" r:embed="rId49"/>
                  </a:ext>
                </a:extLst>
              </a:blip>
              <a:stretch>
                <a:fillRect/>
              </a:stretch>
            </a:blipFill>
          </p:spPr>
          <p:txBody>
            <a:bodyPr/>
            <a:lstStyle/>
            <a:p>
              <a:endParaRPr lang="en-US"/>
            </a:p>
          </p:txBody>
        </p:sp>
        <p:sp>
          <p:nvSpPr>
            <p:cNvPr id="597" name="Freeform 454">
              <a:extLst>
                <a:ext uri="{FF2B5EF4-FFF2-40B4-BE49-F238E27FC236}">
                  <a16:creationId xmlns:a16="http://schemas.microsoft.com/office/drawing/2014/main" id="{5106E770-9F2D-AAC9-5E4C-1A5BF6D61669}"/>
                </a:ext>
              </a:extLst>
            </p:cNvPr>
            <p:cNvSpPr/>
            <p:nvPr/>
          </p:nvSpPr>
          <p:spPr>
            <a:xfrm rot="5120367" flipH="1">
              <a:off x="4738624" y="8045393"/>
              <a:ext cx="105247" cy="68937"/>
            </a:xfrm>
            <a:custGeom>
              <a:avLst/>
              <a:gdLst/>
              <a:ahLst/>
              <a:cxnLst/>
              <a:rect l="l" t="t" r="r" b="b"/>
              <a:pathLst>
                <a:path w="105247" h="68937">
                  <a:moveTo>
                    <a:pt x="105247" y="0"/>
                  </a:moveTo>
                  <a:lnTo>
                    <a:pt x="0" y="0"/>
                  </a:lnTo>
                  <a:lnTo>
                    <a:pt x="0" y="68937"/>
                  </a:lnTo>
                  <a:lnTo>
                    <a:pt x="105247" y="68937"/>
                  </a:lnTo>
                  <a:lnTo>
                    <a:pt x="105247" y="0"/>
                  </a:lnTo>
                  <a:close/>
                </a:path>
              </a:pathLst>
            </a:custGeom>
            <a:blipFill>
              <a:blip>
                <a:extLst>
                  <a:ext uri="{96DAC541-7B7A-43D3-8B79-37D633B846F1}">
                    <asvg:svgBlip xmlns:asvg="http://schemas.microsoft.com/office/drawing/2016/SVG/main" r:embed="rId49"/>
                  </a:ext>
                </a:extLst>
              </a:blip>
              <a:stretch>
                <a:fillRect/>
              </a:stretch>
            </a:blipFill>
          </p:spPr>
          <p:txBody>
            <a:bodyPr/>
            <a:lstStyle/>
            <a:p>
              <a:endParaRPr lang="en-US"/>
            </a:p>
          </p:txBody>
        </p:sp>
        <p:sp>
          <p:nvSpPr>
            <p:cNvPr id="598" name="Freeform 455">
              <a:extLst>
                <a:ext uri="{FF2B5EF4-FFF2-40B4-BE49-F238E27FC236}">
                  <a16:creationId xmlns:a16="http://schemas.microsoft.com/office/drawing/2014/main" id="{B243CF3F-F56D-9836-C0C7-363B69E65B5E}"/>
                </a:ext>
              </a:extLst>
            </p:cNvPr>
            <p:cNvSpPr/>
            <p:nvPr/>
          </p:nvSpPr>
          <p:spPr>
            <a:xfrm rot="-971120">
              <a:off x="4376049" y="8030820"/>
              <a:ext cx="68550" cy="64094"/>
            </a:xfrm>
            <a:custGeom>
              <a:avLst/>
              <a:gdLst/>
              <a:ahLst/>
              <a:cxnLst/>
              <a:rect l="l" t="t" r="r" b="b"/>
              <a:pathLst>
                <a:path w="68550" h="64094">
                  <a:moveTo>
                    <a:pt x="0" y="0"/>
                  </a:moveTo>
                  <a:lnTo>
                    <a:pt x="68549" y="0"/>
                  </a:lnTo>
                  <a:lnTo>
                    <a:pt x="68549" y="64094"/>
                  </a:lnTo>
                  <a:lnTo>
                    <a:pt x="0" y="64094"/>
                  </a:lnTo>
                  <a:lnTo>
                    <a:pt x="0" y="0"/>
                  </a:lnTo>
                  <a:close/>
                </a:path>
              </a:pathLst>
            </a:custGeom>
            <a:blipFill>
              <a:blip>
                <a:extLst>
                  <a:ext uri="{96DAC541-7B7A-43D3-8B79-37D633B846F1}">
                    <asvg:svgBlip xmlns:asvg="http://schemas.microsoft.com/office/drawing/2016/SVG/main" r:embed="rId53"/>
                  </a:ext>
                </a:extLst>
              </a:blip>
              <a:stretch>
                <a:fillRect/>
              </a:stretch>
            </a:blipFill>
          </p:spPr>
          <p:txBody>
            <a:bodyPr/>
            <a:lstStyle/>
            <a:p>
              <a:endParaRPr lang="en-US"/>
            </a:p>
          </p:txBody>
        </p:sp>
        <p:sp>
          <p:nvSpPr>
            <p:cNvPr id="599" name="Freeform 456">
              <a:extLst>
                <a:ext uri="{FF2B5EF4-FFF2-40B4-BE49-F238E27FC236}">
                  <a16:creationId xmlns:a16="http://schemas.microsoft.com/office/drawing/2014/main" id="{27A057FE-9A7C-E258-BDEF-0AE0EFC83904}"/>
                </a:ext>
              </a:extLst>
            </p:cNvPr>
            <p:cNvSpPr/>
            <p:nvPr/>
          </p:nvSpPr>
          <p:spPr>
            <a:xfrm>
              <a:off x="4628961" y="8039814"/>
              <a:ext cx="69189" cy="68497"/>
            </a:xfrm>
            <a:custGeom>
              <a:avLst/>
              <a:gdLst/>
              <a:ahLst/>
              <a:cxnLst/>
              <a:rect l="l" t="t" r="r" b="b"/>
              <a:pathLst>
                <a:path w="69189" h="68497">
                  <a:moveTo>
                    <a:pt x="0" y="0"/>
                  </a:moveTo>
                  <a:lnTo>
                    <a:pt x="69189" y="0"/>
                  </a:lnTo>
                  <a:lnTo>
                    <a:pt x="69189" y="68497"/>
                  </a:lnTo>
                  <a:lnTo>
                    <a:pt x="0" y="68497"/>
                  </a:lnTo>
                  <a:lnTo>
                    <a:pt x="0" y="0"/>
                  </a:lnTo>
                  <a:close/>
                </a:path>
              </a:pathLst>
            </a:custGeom>
            <a:blipFill>
              <a:blip>
                <a:extLst>
                  <a:ext uri="{96DAC541-7B7A-43D3-8B79-37D633B846F1}">
                    <asvg:svgBlip xmlns:asvg="http://schemas.microsoft.com/office/drawing/2016/SVG/main" r:embed="rId54"/>
                  </a:ext>
                </a:extLst>
              </a:blip>
              <a:stretch>
                <a:fillRect/>
              </a:stretch>
            </a:blipFill>
          </p:spPr>
          <p:txBody>
            <a:bodyPr/>
            <a:lstStyle/>
            <a:p>
              <a:endParaRPr lang="en-US"/>
            </a:p>
          </p:txBody>
        </p:sp>
        <p:sp>
          <p:nvSpPr>
            <p:cNvPr id="600" name="Freeform 457">
              <a:extLst>
                <a:ext uri="{FF2B5EF4-FFF2-40B4-BE49-F238E27FC236}">
                  <a16:creationId xmlns:a16="http://schemas.microsoft.com/office/drawing/2014/main" id="{E739A092-A800-A6DD-5EEA-7743ED1CE0E5}"/>
                </a:ext>
              </a:extLst>
            </p:cNvPr>
            <p:cNvSpPr/>
            <p:nvPr/>
          </p:nvSpPr>
          <p:spPr>
            <a:xfrm>
              <a:off x="4491044" y="7951207"/>
              <a:ext cx="69189" cy="71329"/>
            </a:xfrm>
            <a:custGeom>
              <a:avLst/>
              <a:gdLst/>
              <a:ahLst/>
              <a:cxnLst/>
              <a:rect l="l" t="t" r="r" b="b"/>
              <a:pathLst>
                <a:path w="69189" h="71329">
                  <a:moveTo>
                    <a:pt x="0" y="0"/>
                  </a:moveTo>
                  <a:lnTo>
                    <a:pt x="69189" y="0"/>
                  </a:lnTo>
                  <a:lnTo>
                    <a:pt x="69189" y="71329"/>
                  </a:lnTo>
                  <a:lnTo>
                    <a:pt x="0" y="71329"/>
                  </a:lnTo>
                  <a:lnTo>
                    <a:pt x="0" y="0"/>
                  </a:lnTo>
                  <a:close/>
                </a:path>
              </a:pathLst>
            </a:custGeom>
            <a:blipFill>
              <a:blip>
                <a:extLst>
                  <a:ext uri="{96DAC541-7B7A-43D3-8B79-37D633B846F1}">
                    <asvg:svgBlip xmlns:asvg="http://schemas.microsoft.com/office/drawing/2016/SVG/main" r:embed="rId55"/>
                  </a:ext>
                </a:extLst>
              </a:blip>
              <a:stretch>
                <a:fillRect/>
              </a:stretch>
            </a:blipFill>
          </p:spPr>
          <p:txBody>
            <a:bodyPr/>
            <a:lstStyle/>
            <a:p>
              <a:endParaRPr lang="en-US"/>
            </a:p>
          </p:txBody>
        </p:sp>
        <p:sp>
          <p:nvSpPr>
            <p:cNvPr id="601" name="Freeform 458">
              <a:extLst>
                <a:ext uri="{FF2B5EF4-FFF2-40B4-BE49-F238E27FC236}">
                  <a16:creationId xmlns:a16="http://schemas.microsoft.com/office/drawing/2014/main" id="{670B6680-B10E-508B-3BD0-89C27DAB243F}"/>
                </a:ext>
              </a:extLst>
            </p:cNvPr>
            <p:cNvSpPr/>
            <p:nvPr/>
          </p:nvSpPr>
          <p:spPr>
            <a:xfrm>
              <a:off x="4471378" y="8062867"/>
              <a:ext cx="138378" cy="103092"/>
            </a:xfrm>
            <a:custGeom>
              <a:avLst/>
              <a:gdLst/>
              <a:ahLst/>
              <a:cxnLst/>
              <a:rect l="l" t="t" r="r" b="b"/>
              <a:pathLst>
                <a:path w="138378" h="103092">
                  <a:moveTo>
                    <a:pt x="0" y="0"/>
                  </a:moveTo>
                  <a:lnTo>
                    <a:pt x="138378" y="0"/>
                  </a:lnTo>
                  <a:lnTo>
                    <a:pt x="138378" y="103092"/>
                  </a:lnTo>
                  <a:lnTo>
                    <a:pt x="0" y="103092"/>
                  </a:lnTo>
                  <a:lnTo>
                    <a:pt x="0" y="0"/>
                  </a:lnTo>
                  <a:close/>
                </a:path>
              </a:pathLst>
            </a:custGeom>
            <a:blipFill>
              <a:blip>
                <a:extLst>
                  <a:ext uri="{96DAC541-7B7A-43D3-8B79-37D633B846F1}">
                    <asvg:svgBlip xmlns:asvg="http://schemas.microsoft.com/office/drawing/2016/SVG/main" r:embed="rId56"/>
                  </a:ext>
                </a:extLst>
              </a:blip>
              <a:stretch>
                <a:fillRect/>
              </a:stretch>
            </a:blipFill>
          </p:spPr>
          <p:txBody>
            <a:bodyPr/>
            <a:lstStyle/>
            <a:p>
              <a:endParaRPr lang="en-US"/>
            </a:p>
          </p:txBody>
        </p:sp>
        <p:grpSp>
          <p:nvGrpSpPr>
            <p:cNvPr id="602" name="Group 459">
              <a:extLst>
                <a:ext uri="{FF2B5EF4-FFF2-40B4-BE49-F238E27FC236}">
                  <a16:creationId xmlns:a16="http://schemas.microsoft.com/office/drawing/2014/main" id="{1B70985C-9948-C0EA-FEAE-A6C1B319370B}"/>
                </a:ext>
              </a:extLst>
            </p:cNvPr>
            <p:cNvGrpSpPr/>
            <p:nvPr/>
          </p:nvGrpSpPr>
          <p:grpSpPr>
            <a:xfrm>
              <a:off x="2245110" y="8683630"/>
              <a:ext cx="1109525" cy="351756"/>
              <a:chOff x="0" y="0"/>
              <a:chExt cx="1509985" cy="478716"/>
            </a:xfrm>
          </p:grpSpPr>
          <p:sp>
            <p:nvSpPr>
              <p:cNvPr id="611" name="Freeform 460">
                <a:extLst>
                  <a:ext uri="{FF2B5EF4-FFF2-40B4-BE49-F238E27FC236}">
                    <a16:creationId xmlns:a16="http://schemas.microsoft.com/office/drawing/2014/main" id="{01078A18-1BD9-751A-71B9-69DAAABC3319}"/>
                  </a:ext>
                </a:extLst>
              </p:cNvPr>
              <p:cNvSpPr/>
              <p:nvPr/>
            </p:nvSpPr>
            <p:spPr>
              <a:xfrm>
                <a:off x="0" y="0"/>
                <a:ext cx="1509985" cy="478716"/>
              </a:xfrm>
              <a:custGeom>
                <a:avLst/>
                <a:gdLst/>
                <a:ahLst/>
                <a:cxnLst/>
                <a:rect l="l" t="t" r="r" b="b"/>
                <a:pathLst>
                  <a:path w="1509985" h="478716">
                    <a:moveTo>
                      <a:pt x="0" y="0"/>
                    </a:moveTo>
                    <a:lnTo>
                      <a:pt x="1509985" y="0"/>
                    </a:lnTo>
                    <a:lnTo>
                      <a:pt x="1509985" y="478716"/>
                    </a:lnTo>
                    <a:lnTo>
                      <a:pt x="0" y="478716"/>
                    </a:lnTo>
                    <a:close/>
                  </a:path>
                </a:pathLst>
              </a:custGeom>
              <a:blipFill>
                <a:blip r:embed="rId3">
                  <a:alphaModFix amt="0"/>
                </a:blip>
                <a:stretch>
                  <a:fillRect t="-600129" r="-1171694" b="-863051"/>
                </a:stretch>
              </a:blipFill>
            </p:spPr>
            <p:txBody>
              <a:bodyPr/>
              <a:lstStyle/>
              <a:p>
                <a:endParaRPr lang="en-US"/>
              </a:p>
            </p:txBody>
          </p:sp>
          <p:sp>
            <p:nvSpPr>
              <p:cNvPr id="612" name="TextBox 461">
                <a:extLst>
                  <a:ext uri="{FF2B5EF4-FFF2-40B4-BE49-F238E27FC236}">
                    <a16:creationId xmlns:a16="http://schemas.microsoft.com/office/drawing/2014/main" id="{65F1AD23-8CF8-2024-B7B6-677B69625198}"/>
                  </a:ext>
                </a:extLst>
              </p:cNvPr>
              <p:cNvSpPr txBox="1"/>
              <p:nvPr/>
            </p:nvSpPr>
            <p:spPr>
              <a:xfrm>
                <a:off x="0" y="0"/>
                <a:ext cx="1509985" cy="478716"/>
              </a:xfrm>
              <a:prstGeom prst="rect">
                <a:avLst/>
              </a:prstGeom>
            </p:spPr>
            <p:txBody>
              <a:bodyPr lIns="0" tIns="0" rIns="0" bIns="0" rtlCol="0" anchor="ctr"/>
              <a:lstStyle/>
              <a:p>
                <a:pPr algn="ctr">
                  <a:lnSpc>
                    <a:spcPts val="533"/>
                  </a:lnSpc>
                </a:pPr>
                <a:r>
                  <a:rPr lang="en-US" sz="500">
                    <a:solidFill>
                      <a:srgbClr val="FFFFFF"/>
                    </a:solidFill>
                    <a:latin typeface="Arial"/>
                    <a:ea typeface="Arial"/>
                    <a:cs typeface="Arial"/>
                    <a:sym typeface="Arial"/>
                  </a:rPr>
                  <a:t>Sponsored Passport unlocks on 10/15/2026</a:t>
                </a:r>
              </a:p>
            </p:txBody>
          </p:sp>
        </p:grpSp>
        <p:grpSp>
          <p:nvGrpSpPr>
            <p:cNvPr id="603" name="Group 462">
              <a:extLst>
                <a:ext uri="{FF2B5EF4-FFF2-40B4-BE49-F238E27FC236}">
                  <a16:creationId xmlns:a16="http://schemas.microsoft.com/office/drawing/2014/main" id="{FB8C3378-C513-E817-5AE4-F92447EB7BC6}"/>
                </a:ext>
              </a:extLst>
            </p:cNvPr>
            <p:cNvGrpSpPr/>
            <p:nvPr/>
          </p:nvGrpSpPr>
          <p:grpSpPr>
            <a:xfrm>
              <a:off x="3984918" y="8703635"/>
              <a:ext cx="1109525" cy="351756"/>
              <a:chOff x="0" y="0"/>
              <a:chExt cx="1509985" cy="478716"/>
            </a:xfrm>
          </p:grpSpPr>
          <p:sp>
            <p:nvSpPr>
              <p:cNvPr id="609" name="Freeform 463">
                <a:extLst>
                  <a:ext uri="{FF2B5EF4-FFF2-40B4-BE49-F238E27FC236}">
                    <a16:creationId xmlns:a16="http://schemas.microsoft.com/office/drawing/2014/main" id="{581A592C-C4F8-FF1E-869C-A0E09311352F}"/>
                  </a:ext>
                </a:extLst>
              </p:cNvPr>
              <p:cNvSpPr/>
              <p:nvPr/>
            </p:nvSpPr>
            <p:spPr>
              <a:xfrm>
                <a:off x="0" y="0"/>
                <a:ext cx="1509985" cy="478716"/>
              </a:xfrm>
              <a:custGeom>
                <a:avLst/>
                <a:gdLst/>
                <a:ahLst/>
                <a:cxnLst/>
                <a:rect l="l" t="t" r="r" b="b"/>
                <a:pathLst>
                  <a:path w="1509985" h="478716">
                    <a:moveTo>
                      <a:pt x="0" y="0"/>
                    </a:moveTo>
                    <a:lnTo>
                      <a:pt x="1509985" y="0"/>
                    </a:lnTo>
                    <a:lnTo>
                      <a:pt x="1509985" y="478716"/>
                    </a:lnTo>
                    <a:lnTo>
                      <a:pt x="0" y="478716"/>
                    </a:lnTo>
                    <a:close/>
                  </a:path>
                </a:pathLst>
              </a:custGeom>
              <a:blipFill>
                <a:blip r:embed="rId3">
                  <a:alphaModFix amt="0"/>
                </a:blip>
                <a:stretch>
                  <a:fillRect t="-600129" r="-1171694" b="-863051"/>
                </a:stretch>
              </a:blipFill>
            </p:spPr>
            <p:txBody>
              <a:bodyPr/>
              <a:lstStyle/>
              <a:p>
                <a:endParaRPr lang="en-US"/>
              </a:p>
            </p:txBody>
          </p:sp>
          <p:sp>
            <p:nvSpPr>
              <p:cNvPr id="610" name="TextBox 464">
                <a:extLst>
                  <a:ext uri="{FF2B5EF4-FFF2-40B4-BE49-F238E27FC236}">
                    <a16:creationId xmlns:a16="http://schemas.microsoft.com/office/drawing/2014/main" id="{5957E210-E932-2530-F89D-D65CA98EFCFE}"/>
                  </a:ext>
                </a:extLst>
              </p:cNvPr>
              <p:cNvSpPr txBox="1"/>
              <p:nvPr/>
            </p:nvSpPr>
            <p:spPr>
              <a:xfrm>
                <a:off x="0" y="0"/>
                <a:ext cx="1509985" cy="478716"/>
              </a:xfrm>
              <a:prstGeom prst="rect">
                <a:avLst/>
              </a:prstGeom>
            </p:spPr>
            <p:txBody>
              <a:bodyPr lIns="0" tIns="0" rIns="0" bIns="0" rtlCol="0" anchor="ctr"/>
              <a:lstStyle/>
              <a:p>
                <a:pPr algn="ctr">
                  <a:lnSpc>
                    <a:spcPts val="533"/>
                  </a:lnSpc>
                </a:pPr>
                <a:r>
                  <a:rPr lang="en-US" sz="500">
                    <a:solidFill>
                      <a:srgbClr val="FFFFFF"/>
                    </a:solidFill>
                    <a:latin typeface="Arial"/>
                    <a:ea typeface="Arial"/>
                    <a:cs typeface="Arial"/>
                    <a:sym typeface="Arial"/>
                  </a:rPr>
                  <a:t>Sponsored Passport unlocks on 10/20/2026</a:t>
                </a:r>
              </a:p>
            </p:txBody>
          </p:sp>
        </p:grpSp>
        <p:grpSp>
          <p:nvGrpSpPr>
            <p:cNvPr id="604" name="Group 465">
              <a:extLst>
                <a:ext uri="{FF2B5EF4-FFF2-40B4-BE49-F238E27FC236}">
                  <a16:creationId xmlns:a16="http://schemas.microsoft.com/office/drawing/2014/main" id="{F1C4BFCB-F026-129C-387D-FF0070D0F0A7}"/>
                </a:ext>
              </a:extLst>
            </p:cNvPr>
            <p:cNvGrpSpPr/>
            <p:nvPr/>
          </p:nvGrpSpPr>
          <p:grpSpPr>
            <a:xfrm>
              <a:off x="162847" y="155073"/>
              <a:ext cx="5250741" cy="10723789"/>
              <a:chOff x="0" y="0"/>
              <a:chExt cx="666980" cy="1362199"/>
            </a:xfrm>
          </p:grpSpPr>
          <p:sp>
            <p:nvSpPr>
              <p:cNvPr id="608" name="Freeform 466">
                <a:extLst>
                  <a:ext uri="{FF2B5EF4-FFF2-40B4-BE49-F238E27FC236}">
                    <a16:creationId xmlns:a16="http://schemas.microsoft.com/office/drawing/2014/main" id="{AC4B0818-D677-AE78-AD22-9DE7EA3306AA}"/>
                  </a:ext>
                </a:extLst>
              </p:cNvPr>
              <p:cNvSpPr/>
              <p:nvPr/>
            </p:nvSpPr>
            <p:spPr>
              <a:xfrm>
                <a:off x="0" y="0"/>
                <a:ext cx="666980" cy="1362199"/>
              </a:xfrm>
              <a:custGeom>
                <a:avLst/>
                <a:gdLst/>
                <a:ahLst/>
                <a:cxnLst/>
                <a:rect l="l" t="t" r="r" b="b"/>
                <a:pathLst>
                  <a:path w="666980" h="1362199">
                    <a:moveTo>
                      <a:pt x="125819" y="0"/>
                    </a:moveTo>
                    <a:lnTo>
                      <a:pt x="541161" y="0"/>
                    </a:lnTo>
                    <a:cubicBezTo>
                      <a:pt x="610649" y="0"/>
                      <a:pt x="666980" y="56331"/>
                      <a:pt x="666980" y="125819"/>
                    </a:cubicBezTo>
                    <a:lnTo>
                      <a:pt x="666980" y="1236380"/>
                    </a:lnTo>
                    <a:cubicBezTo>
                      <a:pt x="666980" y="1305868"/>
                      <a:pt x="610649" y="1362199"/>
                      <a:pt x="541161" y="1362199"/>
                    </a:cubicBezTo>
                    <a:lnTo>
                      <a:pt x="125819" y="1362199"/>
                    </a:lnTo>
                    <a:cubicBezTo>
                      <a:pt x="56331" y="1362199"/>
                      <a:pt x="0" y="1305868"/>
                      <a:pt x="0" y="1236380"/>
                    </a:cubicBezTo>
                    <a:lnTo>
                      <a:pt x="0" y="125819"/>
                    </a:lnTo>
                    <a:cubicBezTo>
                      <a:pt x="0" y="56331"/>
                      <a:pt x="56331" y="0"/>
                      <a:pt x="125819" y="0"/>
                    </a:cubicBezTo>
                    <a:close/>
                  </a:path>
                </a:pathLst>
              </a:custGeom>
              <a:blipFill>
                <a:blip r:embed="rId58"/>
                <a:stretch>
                  <a:fillRect l="-27567" t="-46764" r="-29846" b="-5859"/>
                </a:stretch>
              </a:blipFill>
            </p:spPr>
            <p:txBody>
              <a:bodyPr/>
              <a:lstStyle/>
              <a:p>
                <a:endParaRPr lang="en-US"/>
              </a:p>
            </p:txBody>
          </p:sp>
        </p:grpSp>
        <p:grpSp>
          <p:nvGrpSpPr>
            <p:cNvPr id="605" name="Group 467">
              <a:extLst>
                <a:ext uri="{FF2B5EF4-FFF2-40B4-BE49-F238E27FC236}">
                  <a16:creationId xmlns:a16="http://schemas.microsoft.com/office/drawing/2014/main" id="{5C4DF138-0034-7D0A-03FD-649948165FF1}"/>
                </a:ext>
              </a:extLst>
            </p:cNvPr>
            <p:cNvGrpSpPr/>
            <p:nvPr/>
          </p:nvGrpSpPr>
          <p:grpSpPr>
            <a:xfrm>
              <a:off x="758031" y="4524768"/>
              <a:ext cx="4060374" cy="1927520"/>
              <a:chOff x="0" y="0"/>
              <a:chExt cx="802049" cy="380745"/>
            </a:xfrm>
          </p:grpSpPr>
          <p:sp>
            <p:nvSpPr>
              <p:cNvPr id="606" name="Freeform 468">
                <a:extLst>
                  <a:ext uri="{FF2B5EF4-FFF2-40B4-BE49-F238E27FC236}">
                    <a16:creationId xmlns:a16="http://schemas.microsoft.com/office/drawing/2014/main" id="{A5F1833D-02D4-E6DE-33A5-B104CFF4F181}"/>
                  </a:ext>
                </a:extLst>
              </p:cNvPr>
              <p:cNvSpPr/>
              <p:nvPr/>
            </p:nvSpPr>
            <p:spPr>
              <a:xfrm>
                <a:off x="0" y="0"/>
                <a:ext cx="802049" cy="380745"/>
              </a:xfrm>
              <a:custGeom>
                <a:avLst/>
                <a:gdLst/>
                <a:ahLst/>
                <a:cxnLst/>
                <a:rect l="l" t="t" r="r" b="b"/>
                <a:pathLst>
                  <a:path w="802049" h="380745">
                    <a:moveTo>
                      <a:pt x="63557" y="0"/>
                    </a:moveTo>
                    <a:lnTo>
                      <a:pt x="738492" y="0"/>
                    </a:lnTo>
                    <a:cubicBezTo>
                      <a:pt x="755349" y="0"/>
                      <a:pt x="771515" y="6696"/>
                      <a:pt x="783434" y="18615"/>
                    </a:cubicBezTo>
                    <a:cubicBezTo>
                      <a:pt x="795353" y="30535"/>
                      <a:pt x="802049" y="46700"/>
                      <a:pt x="802049" y="63557"/>
                    </a:cubicBezTo>
                    <a:lnTo>
                      <a:pt x="802049" y="317188"/>
                    </a:lnTo>
                    <a:cubicBezTo>
                      <a:pt x="802049" y="334044"/>
                      <a:pt x="795353" y="350210"/>
                      <a:pt x="783434" y="362129"/>
                    </a:cubicBezTo>
                    <a:cubicBezTo>
                      <a:pt x="771515" y="374048"/>
                      <a:pt x="755349" y="380745"/>
                      <a:pt x="738492" y="380745"/>
                    </a:cubicBezTo>
                    <a:lnTo>
                      <a:pt x="63557" y="380745"/>
                    </a:lnTo>
                    <a:cubicBezTo>
                      <a:pt x="46700" y="380745"/>
                      <a:pt x="30535" y="374048"/>
                      <a:pt x="18615" y="362129"/>
                    </a:cubicBezTo>
                    <a:cubicBezTo>
                      <a:pt x="6696" y="350210"/>
                      <a:pt x="0" y="334044"/>
                      <a:pt x="0" y="317188"/>
                    </a:cubicBezTo>
                    <a:lnTo>
                      <a:pt x="0" y="63557"/>
                    </a:lnTo>
                    <a:cubicBezTo>
                      <a:pt x="0" y="46700"/>
                      <a:pt x="6696" y="30535"/>
                      <a:pt x="18615" y="18615"/>
                    </a:cubicBezTo>
                    <a:cubicBezTo>
                      <a:pt x="30535" y="6696"/>
                      <a:pt x="46700" y="0"/>
                      <a:pt x="63557" y="0"/>
                    </a:cubicBezTo>
                    <a:close/>
                  </a:path>
                </a:pathLst>
              </a:custGeom>
              <a:solidFill>
                <a:srgbClr val="484747"/>
              </a:solidFill>
            </p:spPr>
            <p:txBody>
              <a:bodyPr/>
              <a:lstStyle/>
              <a:p>
                <a:endParaRPr lang="en-US"/>
              </a:p>
            </p:txBody>
          </p:sp>
          <p:sp>
            <p:nvSpPr>
              <p:cNvPr id="607" name="TextBox 469">
                <a:extLst>
                  <a:ext uri="{FF2B5EF4-FFF2-40B4-BE49-F238E27FC236}">
                    <a16:creationId xmlns:a16="http://schemas.microsoft.com/office/drawing/2014/main" id="{12FE93A7-92B2-3920-F6FF-87886954DA1D}"/>
                  </a:ext>
                </a:extLst>
              </p:cNvPr>
              <p:cNvSpPr txBox="1"/>
              <p:nvPr/>
            </p:nvSpPr>
            <p:spPr>
              <a:xfrm>
                <a:off x="0" y="-47625"/>
                <a:ext cx="802049" cy="428370"/>
              </a:xfrm>
              <a:prstGeom prst="rect">
                <a:avLst/>
              </a:prstGeom>
            </p:spPr>
            <p:txBody>
              <a:bodyPr lIns="50800" tIns="50800" rIns="50800" bIns="50800" rtlCol="0" anchor="ctr"/>
              <a:lstStyle/>
              <a:p>
                <a:pPr algn="ctr">
                  <a:lnSpc>
                    <a:spcPts val="2340"/>
                  </a:lnSpc>
                </a:pPr>
                <a:r>
                  <a:rPr lang="en-US" sz="1950" b="1">
                    <a:solidFill>
                      <a:srgbClr val="FFFFFF"/>
                    </a:solidFill>
                    <a:latin typeface="Calibri (MS) Bold"/>
                    <a:ea typeface="Calibri (MS) Bold"/>
                    <a:cs typeface="Calibri (MS) Bold"/>
                    <a:sym typeface="Calibri (MS) Bold"/>
                  </a:rPr>
                  <a:t>⏰</a:t>
                </a:r>
              </a:p>
              <a:p>
                <a:pPr algn="ctr">
                  <a:lnSpc>
                    <a:spcPts val="2340"/>
                  </a:lnSpc>
                </a:pPr>
                <a:r>
                  <a:rPr lang="en-US" sz="1950" b="1">
                    <a:solidFill>
                      <a:srgbClr val="FFFFFF"/>
                    </a:solidFill>
                    <a:latin typeface="Calibri (MS) Bold"/>
                    <a:ea typeface="Calibri (MS) Bold"/>
                    <a:cs typeface="Calibri (MS) Bold"/>
                    <a:sym typeface="Calibri (MS) Bold"/>
                  </a:rPr>
                  <a:t>Come back tomorrow for a new BeReal Passport</a:t>
                </a:r>
              </a:p>
            </p:txBody>
          </p:sp>
        </p:grpSp>
      </p:grpSp>
      <p:grpSp>
        <p:nvGrpSpPr>
          <p:cNvPr id="679" name="Group 2">
            <a:extLst>
              <a:ext uri="{FF2B5EF4-FFF2-40B4-BE49-F238E27FC236}">
                <a16:creationId xmlns:a16="http://schemas.microsoft.com/office/drawing/2014/main" id="{824F040F-1E58-1CB3-6013-A896B78AA398}"/>
              </a:ext>
            </a:extLst>
          </p:cNvPr>
          <p:cNvGrpSpPr/>
          <p:nvPr/>
        </p:nvGrpSpPr>
        <p:grpSpPr>
          <a:xfrm>
            <a:off x="960120" y="734066"/>
            <a:ext cx="10972800" cy="480060"/>
            <a:chOff x="0" y="0"/>
            <a:chExt cx="14630400" cy="640080"/>
          </a:xfrm>
        </p:grpSpPr>
        <p:sp>
          <p:nvSpPr>
            <p:cNvPr id="680" name="Freeform 3">
              <a:extLst>
                <a:ext uri="{FF2B5EF4-FFF2-40B4-BE49-F238E27FC236}">
                  <a16:creationId xmlns:a16="http://schemas.microsoft.com/office/drawing/2014/main" id="{23354704-DFA0-3527-0702-11C55EAD2370}"/>
                </a:ext>
              </a:extLst>
            </p:cNvPr>
            <p:cNvSpPr/>
            <p:nvPr/>
          </p:nvSpPr>
          <p:spPr>
            <a:xfrm>
              <a:off x="0" y="0"/>
              <a:ext cx="14630400" cy="640080"/>
            </a:xfrm>
            <a:custGeom>
              <a:avLst/>
              <a:gdLst/>
              <a:ahLst/>
              <a:cxnLst/>
              <a:rect l="l" t="t" r="r" b="b"/>
              <a:pathLst>
                <a:path w="14630400" h="640080">
                  <a:moveTo>
                    <a:pt x="0" y="0"/>
                  </a:moveTo>
                  <a:lnTo>
                    <a:pt x="14630400" y="0"/>
                  </a:lnTo>
                  <a:lnTo>
                    <a:pt x="14630400" y="640080"/>
                  </a:lnTo>
                  <a:lnTo>
                    <a:pt x="0" y="640080"/>
                  </a:lnTo>
                  <a:close/>
                </a:path>
              </a:pathLst>
            </a:custGeom>
            <a:blipFill>
              <a:blip r:embed="rId3">
                <a:alphaModFix amt="0"/>
              </a:blip>
              <a:stretch>
                <a:fillRect t="-395372" b="-395372"/>
              </a:stretch>
            </a:blipFill>
          </p:spPr>
          <p:txBody>
            <a:bodyPr/>
            <a:lstStyle/>
            <a:p>
              <a:endParaRPr lang="en-US"/>
            </a:p>
          </p:txBody>
        </p:sp>
        <p:sp>
          <p:nvSpPr>
            <p:cNvPr id="681" name="TextBox 4">
              <a:extLst>
                <a:ext uri="{FF2B5EF4-FFF2-40B4-BE49-F238E27FC236}">
                  <a16:creationId xmlns:a16="http://schemas.microsoft.com/office/drawing/2014/main" id="{6B0F6365-5A58-01F7-9DCD-3BDA9B5FD065}"/>
                </a:ext>
              </a:extLst>
            </p:cNvPr>
            <p:cNvSpPr txBox="1"/>
            <p:nvPr/>
          </p:nvSpPr>
          <p:spPr>
            <a:xfrm>
              <a:off x="0" y="-19050"/>
              <a:ext cx="14630400" cy="659130"/>
            </a:xfrm>
            <a:prstGeom prst="rect">
              <a:avLst/>
            </a:prstGeom>
          </p:spPr>
          <p:txBody>
            <a:bodyPr lIns="0" tIns="0" rIns="0" bIns="0" rtlCol="0" anchor="ctr"/>
            <a:lstStyle/>
            <a:p>
              <a:pPr algn="l">
                <a:lnSpc>
                  <a:spcPts val="2160"/>
                </a:lnSpc>
              </a:pPr>
              <a:r>
                <a:rPr lang="en-US" sz="1800" b="1" spc="450" dirty="0">
                  <a:solidFill>
                    <a:srgbClr val="FFFFFF"/>
                  </a:solidFill>
                  <a:latin typeface="Arial Bold"/>
                  <a:ea typeface="Arial Bold"/>
                  <a:cs typeface="Arial Bold"/>
                  <a:sym typeface="Arial Bold"/>
                </a:rPr>
                <a:t>FEATURE CONCEPT - OCTOBER 2026</a:t>
              </a:r>
            </a:p>
          </p:txBody>
        </p:sp>
      </p:grpSp>
      <p:grpSp>
        <p:nvGrpSpPr>
          <p:cNvPr id="682" name="Group 5">
            <a:extLst>
              <a:ext uri="{FF2B5EF4-FFF2-40B4-BE49-F238E27FC236}">
                <a16:creationId xmlns:a16="http://schemas.microsoft.com/office/drawing/2014/main" id="{9B7942C0-201D-6FB8-49C3-9BE0B4F1ECE5}"/>
              </a:ext>
            </a:extLst>
          </p:cNvPr>
          <p:cNvGrpSpPr/>
          <p:nvPr/>
        </p:nvGrpSpPr>
        <p:grpSpPr>
          <a:xfrm>
            <a:off x="960120" y="1214126"/>
            <a:ext cx="8183880" cy="718073"/>
            <a:chOff x="0" y="0"/>
            <a:chExt cx="10911840" cy="957431"/>
          </a:xfrm>
        </p:grpSpPr>
        <p:sp>
          <p:nvSpPr>
            <p:cNvPr id="683" name="Freeform 6">
              <a:extLst>
                <a:ext uri="{FF2B5EF4-FFF2-40B4-BE49-F238E27FC236}">
                  <a16:creationId xmlns:a16="http://schemas.microsoft.com/office/drawing/2014/main" id="{2F09E1FD-129B-7FBB-FFA2-3F4F969290C5}"/>
                </a:ext>
              </a:extLst>
            </p:cNvPr>
            <p:cNvSpPr/>
            <p:nvPr/>
          </p:nvSpPr>
          <p:spPr>
            <a:xfrm>
              <a:off x="0" y="0"/>
              <a:ext cx="10911840" cy="957431"/>
            </a:xfrm>
            <a:custGeom>
              <a:avLst/>
              <a:gdLst/>
              <a:ahLst/>
              <a:cxnLst/>
              <a:rect l="l" t="t" r="r" b="b"/>
              <a:pathLst>
                <a:path w="10911840" h="957431">
                  <a:moveTo>
                    <a:pt x="0" y="0"/>
                  </a:moveTo>
                  <a:lnTo>
                    <a:pt x="10911840" y="0"/>
                  </a:lnTo>
                  <a:lnTo>
                    <a:pt x="10911840" y="957431"/>
                  </a:lnTo>
                  <a:lnTo>
                    <a:pt x="0" y="957431"/>
                  </a:lnTo>
                  <a:close/>
                </a:path>
              </a:pathLst>
            </a:custGeom>
            <a:blipFill>
              <a:blip r:embed="rId3">
                <a:alphaModFix amt="0"/>
              </a:blip>
              <a:stretch>
                <a:fillRect t="-300064" r="-75977" b="-381525"/>
              </a:stretch>
            </a:blipFill>
          </p:spPr>
          <p:txBody>
            <a:bodyPr/>
            <a:lstStyle/>
            <a:p>
              <a:endParaRPr lang="en-US"/>
            </a:p>
          </p:txBody>
        </p:sp>
        <p:sp>
          <p:nvSpPr>
            <p:cNvPr id="684" name="TextBox 7">
              <a:extLst>
                <a:ext uri="{FF2B5EF4-FFF2-40B4-BE49-F238E27FC236}">
                  <a16:creationId xmlns:a16="http://schemas.microsoft.com/office/drawing/2014/main" id="{DAFABC00-54BD-DC65-CE9B-B7E0E88FCF70}"/>
                </a:ext>
              </a:extLst>
            </p:cNvPr>
            <p:cNvSpPr txBox="1"/>
            <p:nvPr/>
          </p:nvSpPr>
          <p:spPr>
            <a:xfrm>
              <a:off x="0" y="19050"/>
              <a:ext cx="10911840" cy="938381"/>
            </a:xfrm>
            <a:prstGeom prst="rect">
              <a:avLst/>
            </a:prstGeom>
          </p:spPr>
          <p:txBody>
            <a:bodyPr lIns="0" tIns="0" rIns="0" bIns="0" rtlCol="0" anchor="ctr"/>
            <a:lstStyle/>
            <a:p>
              <a:pPr algn="l">
                <a:lnSpc>
                  <a:spcPts val="3733"/>
                </a:lnSpc>
              </a:pPr>
              <a:r>
                <a:rPr lang="en-US" sz="3500" b="1">
                  <a:solidFill>
                    <a:srgbClr val="FFDE59"/>
                  </a:solidFill>
                  <a:latin typeface="Arial Bold"/>
                  <a:ea typeface="Arial Bold"/>
                  <a:cs typeface="Arial Bold"/>
                  <a:sym typeface="Arial Bold"/>
                </a:rPr>
                <a:t>BeReal.</a:t>
              </a:r>
            </a:p>
          </p:txBody>
        </p:sp>
      </p:grpSp>
      <p:grpSp>
        <p:nvGrpSpPr>
          <p:cNvPr id="685" name="Group 8">
            <a:extLst>
              <a:ext uri="{FF2B5EF4-FFF2-40B4-BE49-F238E27FC236}">
                <a16:creationId xmlns:a16="http://schemas.microsoft.com/office/drawing/2014/main" id="{D3629080-0A94-BF38-025D-211EDB3E5427}"/>
              </a:ext>
            </a:extLst>
          </p:cNvPr>
          <p:cNvGrpSpPr/>
          <p:nvPr/>
        </p:nvGrpSpPr>
        <p:grpSpPr>
          <a:xfrm>
            <a:off x="960120" y="2114645"/>
            <a:ext cx="10972800" cy="480060"/>
            <a:chOff x="0" y="0"/>
            <a:chExt cx="14630400" cy="640080"/>
          </a:xfrm>
        </p:grpSpPr>
        <p:sp>
          <p:nvSpPr>
            <p:cNvPr id="686" name="Freeform 9">
              <a:extLst>
                <a:ext uri="{FF2B5EF4-FFF2-40B4-BE49-F238E27FC236}">
                  <a16:creationId xmlns:a16="http://schemas.microsoft.com/office/drawing/2014/main" id="{F25A9533-88F5-7EC8-9ED6-018FFD84BA73}"/>
                </a:ext>
              </a:extLst>
            </p:cNvPr>
            <p:cNvSpPr/>
            <p:nvPr/>
          </p:nvSpPr>
          <p:spPr>
            <a:xfrm>
              <a:off x="0" y="0"/>
              <a:ext cx="14630400" cy="640080"/>
            </a:xfrm>
            <a:custGeom>
              <a:avLst/>
              <a:gdLst/>
              <a:ahLst/>
              <a:cxnLst/>
              <a:rect l="l" t="t" r="r" b="b"/>
              <a:pathLst>
                <a:path w="14630400" h="640080">
                  <a:moveTo>
                    <a:pt x="0" y="0"/>
                  </a:moveTo>
                  <a:lnTo>
                    <a:pt x="14630400" y="0"/>
                  </a:lnTo>
                  <a:lnTo>
                    <a:pt x="14630400" y="640080"/>
                  </a:lnTo>
                  <a:lnTo>
                    <a:pt x="0" y="640080"/>
                  </a:lnTo>
                  <a:close/>
                </a:path>
              </a:pathLst>
            </a:custGeom>
            <a:blipFill>
              <a:blip r:embed="rId3">
                <a:alphaModFix amt="0"/>
              </a:blip>
              <a:stretch>
                <a:fillRect t="-395372" b="-395372"/>
              </a:stretch>
            </a:blipFill>
          </p:spPr>
          <p:txBody>
            <a:bodyPr/>
            <a:lstStyle/>
            <a:p>
              <a:endParaRPr lang="en-US"/>
            </a:p>
          </p:txBody>
        </p:sp>
        <p:sp>
          <p:nvSpPr>
            <p:cNvPr id="687" name="TextBox 10">
              <a:extLst>
                <a:ext uri="{FF2B5EF4-FFF2-40B4-BE49-F238E27FC236}">
                  <a16:creationId xmlns:a16="http://schemas.microsoft.com/office/drawing/2014/main" id="{72AF5740-83AA-6799-C2CD-8742A028EEE3}"/>
                </a:ext>
              </a:extLst>
            </p:cNvPr>
            <p:cNvSpPr txBox="1"/>
            <p:nvPr/>
          </p:nvSpPr>
          <p:spPr>
            <a:xfrm>
              <a:off x="0" y="-19050"/>
              <a:ext cx="14630400" cy="659130"/>
            </a:xfrm>
            <a:prstGeom prst="rect">
              <a:avLst/>
            </a:prstGeom>
          </p:spPr>
          <p:txBody>
            <a:bodyPr lIns="0" tIns="0" rIns="0" bIns="0" rtlCol="0" anchor="ctr"/>
            <a:lstStyle/>
            <a:p>
              <a:pPr algn="l">
                <a:lnSpc>
                  <a:spcPts val="2160"/>
                </a:lnSpc>
              </a:pPr>
              <a:r>
                <a:rPr lang="en-US" sz="1800" b="1" spc="450">
                  <a:solidFill>
                    <a:srgbClr val="FFFFFF"/>
                  </a:solidFill>
                  <a:latin typeface="Arial Bold"/>
                  <a:ea typeface="Arial Bold"/>
                  <a:cs typeface="Arial Bold"/>
                  <a:sym typeface="Arial Bold"/>
                </a:rPr>
                <a:t>BEREAL PASSPORT &amp; COMMUNITY BOARDS</a:t>
              </a:r>
            </a:p>
          </p:txBody>
        </p:sp>
      </p:gr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0A0A0A"/>
        </a:solidFill>
        <a:effectLst/>
      </p:bgPr>
    </p:bg>
    <p:spTree>
      <p:nvGrpSpPr>
        <p:cNvPr id="1" name=""/>
        <p:cNvGrpSpPr/>
        <p:nvPr/>
      </p:nvGrpSpPr>
      <p:grpSpPr>
        <a:xfrm>
          <a:off x="0" y="0"/>
          <a:ext cx="0" cy="0"/>
          <a:chOff x="0" y="0"/>
          <a:chExt cx="0" cy="0"/>
        </a:xfrm>
      </p:grpSpPr>
      <p:grpSp>
        <p:nvGrpSpPr>
          <p:cNvPr id="11" name="Group 11"/>
          <p:cNvGrpSpPr/>
          <p:nvPr/>
        </p:nvGrpSpPr>
        <p:grpSpPr>
          <a:xfrm>
            <a:off x="960120" y="2833922"/>
            <a:ext cx="7132320" cy="1303020"/>
            <a:chOff x="0" y="0"/>
            <a:chExt cx="9509760" cy="1737360"/>
          </a:xfrm>
        </p:grpSpPr>
        <p:sp>
          <p:nvSpPr>
            <p:cNvPr id="12" name="Freeform 12"/>
            <p:cNvSpPr/>
            <p:nvPr/>
          </p:nvSpPr>
          <p:spPr>
            <a:xfrm>
              <a:off x="0" y="0"/>
              <a:ext cx="9509760" cy="1737360"/>
            </a:xfrm>
            <a:custGeom>
              <a:avLst/>
              <a:gdLst/>
              <a:ahLst/>
              <a:cxnLst/>
              <a:rect l="l" t="t" r="r" b="b"/>
              <a:pathLst>
                <a:path w="9509760" h="1737360">
                  <a:moveTo>
                    <a:pt x="0" y="0"/>
                  </a:moveTo>
                  <a:lnTo>
                    <a:pt x="9509760" y="0"/>
                  </a:lnTo>
                  <a:lnTo>
                    <a:pt x="9509760" y="1737360"/>
                  </a:lnTo>
                  <a:lnTo>
                    <a:pt x="0" y="1737360"/>
                  </a:lnTo>
                  <a:close/>
                </a:path>
              </a:pathLst>
            </a:custGeom>
            <a:blipFill>
              <a:blip r:embed="rId3">
                <a:alphaModFix amt="0"/>
              </a:blip>
              <a:stretch>
                <a:fillRect t="-165360" r="-101923" b="-165360"/>
              </a:stretch>
            </a:blipFill>
          </p:spPr>
          <p:txBody>
            <a:bodyPr/>
            <a:lstStyle/>
            <a:p>
              <a:endParaRPr lang="en-US"/>
            </a:p>
          </p:txBody>
        </p:sp>
        <p:sp>
          <p:nvSpPr>
            <p:cNvPr id="13" name="TextBox 13"/>
            <p:cNvSpPr txBox="1"/>
            <p:nvPr/>
          </p:nvSpPr>
          <p:spPr>
            <a:xfrm>
              <a:off x="0" y="38100"/>
              <a:ext cx="9509760" cy="1699260"/>
            </a:xfrm>
            <a:prstGeom prst="rect">
              <a:avLst/>
            </a:prstGeom>
          </p:spPr>
          <p:txBody>
            <a:bodyPr lIns="0" tIns="0" rIns="0" bIns="0" rtlCol="0" anchor="ctr"/>
            <a:lstStyle/>
            <a:p>
              <a:pPr algn="l">
                <a:lnSpc>
                  <a:spcPts val="5120"/>
                </a:lnSpc>
              </a:pPr>
              <a:r>
                <a:rPr lang="en-US" sz="4799" b="1">
                  <a:solidFill>
                    <a:srgbClr val="FFFFFF"/>
                  </a:solidFill>
                  <a:latin typeface="Arial Bold"/>
                  <a:ea typeface="Arial Bold"/>
                  <a:cs typeface="Arial Bold"/>
                  <a:sym typeface="Arial Bold"/>
                </a:rPr>
                <a:t>Capsule / Board Details</a:t>
              </a:r>
            </a:p>
          </p:txBody>
        </p:sp>
      </p:grpSp>
      <p:grpSp>
        <p:nvGrpSpPr>
          <p:cNvPr id="14" name="Group 14"/>
          <p:cNvGrpSpPr/>
          <p:nvPr/>
        </p:nvGrpSpPr>
        <p:grpSpPr>
          <a:xfrm>
            <a:off x="1028700" y="4136942"/>
            <a:ext cx="4023360" cy="4790279"/>
            <a:chOff x="0" y="0"/>
            <a:chExt cx="5364480" cy="6387038"/>
          </a:xfrm>
        </p:grpSpPr>
        <p:sp>
          <p:nvSpPr>
            <p:cNvPr id="15" name="Freeform 15"/>
            <p:cNvSpPr/>
            <p:nvPr/>
          </p:nvSpPr>
          <p:spPr>
            <a:xfrm>
              <a:off x="0" y="0"/>
              <a:ext cx="5364480" cy="6387038"/>
            </a:xfrm>
            <a:custGeom>
              <a:avLst/>
              <a:gdLst/>
              <a:ahLst/>
              <a:cxnLst/>
              <a:rect l="l" t="t" r="r" b="b"/>
              <a:pathLst>
                <a:path w="5364480" h="6387038">
                  <a:moveTo>
                    <a:pt x="0" y="0"/>
                  </a:moveTo>
                  <a:lnTo>
                    <a:pt x="5364480" y="0"/>
                  </a:lnTo>
                  <a:lnTo>
                    <a:pt x="5364480" y="6387038"/>
                  </a:lnTo>
                  <a:lnTo>
                    <a:pt x="0" y="6387038"/>
                  </a:lnTo>
                  <a:close/>
                </a:path>
              </a:pathLst>
            </a:custGeom>
            <a:blipFill>
              <a:blip r:embed="rId3">
                <a:alphaModFix amt="0"/>
              </a:blip>
              <a:stretch>
                <a:fillRect t="-39622" r="-172727" b="50356"/>
              </a:stretch>
            </a:blipFill>
          </p:spPr>
          <p:txBody>
            <a:bodyPr/>
            <a:lstStyle/>
            <a:p>
              <a:endParaRPr lang="en-US"/>
            </a:p>
          </p:txBody>
        </p:sp>
        <p:sp>
          <p:nvSpPr>
            <p:cNvPr id="16" name="TextBox 16"/>
            <p:cNvSpPr txBox="1"/>
            <p:nvPr/>
          </p:nvSpPr>
          <p:spPr>
            <a:xfrm>
              <a:off x="0" y="-57150"/>
              <a:ext cx="5364480" cy="6444188"/>
            </a:xfrm>
            <a:prstGeom prst="rect">
              <a:avLst/>
            </a:prstGeom>
          </p:spPr>
          <p:txBody>
            <a:bodyPr lIns="0" tIns="0" rIns="0" bIns="0" rtlCol="0" anchor="ctr"/>
            <a:lstStyle/>
            <a:p>
              <a:pPr marL="388620" lvl="1" indent="-194310" algn="l">
                <a:lnSpc>
                  <a:spcPts val="2340"/>
                </a:lnSpc>
                <a:buFont typeface="Arial"/>
                <a:buChar char="•"/>
              </a:pPr>
              <a:r>
                <a:rPr lang="en-US" sz="1800" b="1" spc="59">
                  <a:solidFill>
                    <a:srgbClr val="FFDE59"/>
                  </a:solidFill>
                  <a:latin typeface="Calibri (MS) Bold"/>
                  <a:ea typeface="Calibri (MS) Bold"/>
                  <a:cs typeface="Calibri (MS) Bold"/>
                  <a:sym typeface="Calibri (MS) Bold"/>
                </a:rPr>
                <a:t>MAU increase</a:t>
              </a:r>
            </a:p>
            <a:p>
              <a:pPr marL="388620" lvl="1" indent="-194310" algn="l">
                <a:lnSpc>
                  <a:spcPts val="2340"/>
                </a:lnSpc>
                <a:buFont typeface="Arial"/>
                <a:buChar char="•"/>
              </a:pPr>
              <a:r>
                <a:rPr lang="en-US" sz="1800" spc="59">
                  <a:solidFill>
                    <a:srgbClr val="FFFFFF"/>
                  </a:solidFill>
                  <a:latin typeface="Calibri (MS)"/>
                  <a:ea typeface="Calibri (MS)"/>
                  <a:cs typeface="Calibri (MS)"/>
                  <a:sym typeface="Calibri (MS)"/>
                </a:rPr>
                <a:t>Past Boards are stored in ‘Memories’  as a Capsule </a:t>
              </a:r>
            </a:p>
            <a:p>
              <a:pPr marL="777240" lvl="2" indent="-259080" algn="l">
                <a:lnSpc>
                  <a:spcPts val="2340"/>
                </a:lnSpc>
                <a:buFont typeface="Arial"/>
                <a:buChar char="⚬"/>
              </a:pPr>
              <a:r>
                <a:rPr lang="en-US" sz="1800" spc="59">
                  <a:solidFill>
                    <a:srgbClr val="FFFFFF"/>
                  </a:solidFill>
                  <a:latin typeface="Calibri (MS)"/>
                  <a:ea typeface="Calibri (MS)"/>
                  <a:cs typeface="Calibri (MS)"/>
                  <a:sym typeface="Calibri (MS)"/>
                </a:rPr>
                <a:t>View all Community Boards Posting in a carousel view</a:t>
              </a:r>
            </a:p>
            <a:p>
              <a:pPr marL="388620" lvl="1" indent="-194310" algn="l">
                <a:lnSpc>
                  <a:spcPts val="2340"/>
                </a:lnSpc>
                <a:buFont typeface="Arial"/>
                <a:buChar char="•"/>
              </a:pPr>
              <a:r>
                <a:rPr lang="en-US" sz="1800" spc="59">
                  <a:solidFill>
                    <a:srgbClr val="FFFFFF"/>
                  </a:solidFill>
                  <a:latin typeface="Calibri (MS)"/>
                  <a:ea typeface="Calibri (MS)"/>
                  <a:cs typeface="Calibri (MS)"/>
                  <a:sym typeface="Calibri (MS)"/>
                </a:rPr>
                <a:t>Carousel View  </a:t>
              </a:r>
            </a:p>
            <a:p>
              <a:pPr marL="777240" lvl="2" indent="-259080" algn="l">
                <a:lnSpc>
                  <a:spcPts val="2340"/>
                </a:lnSpc>
                <a:buFont typeface="Arial"/>
                <a:buChar char="⚬"/>
              </a:pPr>
              <a:r>
                <a:rPr lang="en-US" sz="1800" spc="59">
                  <a:solidFill>
                    <a:srgbClr val="FFFFFF"/>
                  </a:solidFill>
                  <a:latin typeface="Calibri (MS)"/>
                  <a:ea typeface="Calibri (MS)"/>
                  <a:cs typeface="Calibri (MS)"/>
                  <a:sym typeface="Calibri (MS)"/>
                </a:rPr>
                <a:t>Snapshot</a:t>
              </a:r>
            </a:p>
            <a:p>
              <a:pPr marL="777240" lvl="2" indent="-259080" algn="l">
                <a:lnSpc>
                  <a:spcPts val="2340"/>
                </a:lnSpc>
                <a:buFont typeface="Arial"/>
                <a:buChar char="⚬"/>
              </a:pPr>
              <a:r>
                <a:rPr lang="en-US" sz="1800" spc="59">
                  <a:solidFill>
                    <a:srgbClr val="FFFFFF"/>
                  </a:solidFill>
                  <a:latin typeface="Calibri (MS)"/>
                  <a:ea typeface="Calibri (MS)"/>
                  <a:cs typeface="Calibri (MS)"/>
                  <a:sym typeface="Calibri (MS)"/>
                </a:rPr>
                <a:t>Expand out</a:t>
              </a:r>
            </a:p>
            <a:p>
              <a:pPr marL="1165860" lvl="3" indent="-291465" algn="l">
                <a:lnSpc>
                  <a:spcPts val="2340"/>
                </a:lnSpc>
                <a:buFont typeface="Arial"/>
                <a:buChar char="￭"/>
              </a:pPr>
              <a:r>
                <a:rPr lang="en-US" sz="1800" spc="59">
                  <a:solidFill>
                    <a:srgbClr val="FFFFFF"/>
                  </a:solidFill>
                  <a:latin typeface="Calibri (MS)"/>
                  <a:ea typeface="Calibri (MS)"/>
                  <a:cs typeface="Calibri (MS)"/>
                  <a:sym typeface="Calibri (MS)"/>
                </a:rPr>
                <a:t>User can click on image to view post</a:t>
              </a:r>
            </a:p>
            <a:p>
              <a:pPr marL="1165860" lvl="3" indent="-291465" algn="l">
                <a:lnSpc>
                  <a:spcPts val="2340"/>
                </a:lnSpc>
                <a:buFont typeface="Arial"/>
                <a:buChar char="￭"/>
              </a:pPr>
              <a:r>
                <a:rPr lang="en-US" sz="1800" spc="59">
                  <a:solidFill>
                    <a:srgbClr val="FFFFFF"/>
                  </a:solidFill>
                  <a:latin typeface="Calibri (MS)"/>
                  <a:ea typeface="Calibri (MS)"/>
                  <a:cs typeface="Calibri (MS)"/>
                  <a:sym typeface="Calibri (MS)"/>
                </a:rPr>
                <a:t>Future Enhancement</a:t>
              </a:r>
            </a:p>
            <a:p>
              <a:pPr marL="1554480" lvl="4" indent="-310896" algn="l">
                <a:lnSpc>
                  <a:spcPts val="2340"/>
                </a:lnSpc>
                <a:buFont typeface="Arial"/>
                <a:buChar char="•"/>
              </a:pPr>
              <a:r>
                <a:rPr lang="en-US" sz="1800" spc="59">
                  <a:solidFill>
                    <a:srgbClr val="FFFFFF"/>
                  </a:solidFill>
                  <a:latin typeface="Calibri (MS)"/>
                  <a:ea typeface="Calibri (MS)"/>
                  <a:cs typeface="Calibri (MS)"/>
                  <a:sym typeface="Calibri (MS)"/>
                </a:rPr>
                <a:t>2-Column Grid scroll</a:t>
              </a:r>
            </a:p>
            <a:p>
              <a:pPr marL="388620" lvl="1" indent="-194310" algn="l">
                <a:lnSpc>
                  <a:spcPts val="2340"/>
                </a:lnSpc>
                <a:buFont typeface="Arial"/>
                <a:buChar char="•"/>
              </a:pPr>
              <a:r>
                <a:rPr lang="en-US" sz="1800" spc="59">
                  <a:solidFill>
                    <a:srgbClr val="FFFFFF"/>
                  </a:solidFill>
                  <a:latin typeface="Calibri (MS)"/>
                  <a:ea typeface="Calibri (MS)"/>
                  <a:cs typeface="Calibri (MS)"/>
                  <a:sym typeface="Calibri (MS)"/>
                </a:rPr>
                <a:t>Board details shows:</a:t>
              </a:r>
            </a:p>
            <a:p>
              <a:pPr marL="777240" lvl="2" indent="-259080" algn="l">
                <a:lnSpc>
                  <a:spcPts val="2340"/>
                </a:lnSpc>
                <a:buFont typeface="Arial"/>
                <a:buChar char="⚬"/>
              </a:pPr>
              <a:r>
                <a:rPr lang="en-US" sz="1800" spc="59">
                  <a:solidFill>
                    <a:srgbClr val="FFFFFF"/>
                  </a:solidFill>
                  <a:latin typeface="Calibri (MS)"/>
                  <a:ea typeface="Calibri (MS)"/>
                  <a:cs typeface="Calibri (MS)"/>
                  <a:sym typeface="Calibri (MS)"/>
                </a:rPr>
                <a:t>Friends who participated</a:t>
              </a:r>
            </a:p>
            <a:p>
              <a:pPr marL="777240" lvl="2" indent="-259080" algn="l">
                <a:lnSpc>
                  <a:spcPts val="2340"/>
                </a:lnSpc>
                <a:buFont typeface="Arial"/>
                <a:buChar char="⚬"/>
              </a:pPr>
              <a:r>
                <a:rPr lang="en-US" sz="1800" spc="59">
                  <a:solidFill>
                    <a:srgbClr val="FFFFFF"/>
                  </a:solidFill>
                  <a:latin typeface="Calibri (MS)"/>
                  <a:ea typeface="Calibri (MS)"/>
                  <a:cs typeface="Calibri (MS)"/>
                  <a:sym typeface="Calibri (MS)"/>
                </a:rPr>
                <a:t>Number of Likes or Dislikes</a:t>
              </a:r>
            </a:p>
            <a:p>
              <a:pPr algn="l">
                <a:lnSpc>
                  <a:spcPts val="2340"/>
                </a:lnSpc>
              </a:pPr>
              <a:endParaRPr lang="en-US" sz="1800" spc="59">
                <a:solidFill>
                  <a:srgbClr val="FFFFFF"/>
                </a:solidFill>
                <a:latin typeface="Calibri (MS)"/>
                <a:ea typeface="Calibri (MS)"/>
                <a:cs typeface="Calibri (MS)"/>
                <a:sym typeface="Calibri (MS)"/>
              </a:endParaRPr>
            </a:p>
          </p:txBody>
        </p:sp>
      </p:grpSp>
      <p:grpSp>
        <p:nvGrpSpPr>
          <p:cNvPr id="17" name="Group 17"/>
          <p:cNvGrpSpPr/>
          <p:nvPr/>
        </p:nvGrpSpPr>
        <p:grpSpPr>
          <a:xfrm>
            <a:off x="12953999" y="583414"/>
            <a:ext cx="4724401" cy="8333016"/>
            <a:chOff x="-163966" y="-79455"/>
            <a:chExt cx="6299201" cy="11110688"/>
          </a:xfrm>
        </p:grpSpPr>
        <p:grpSp>
          <p:nvGrpSpPr>
            <p:cNvPr id="18" name="Group 18"/>
            <p:cNvGrpSpPr>
              <a:grpSpLocks noChangeAspect="1"/>
            </p:cNvGrpSpPr>
            <p:nvPr/>
          </p:nvGrpSpPr>
          <p:grpSpPr>
            <a:xfrm>
              <a:off x="-163966" y="0"/>
              <a:ext cx="6299201" cy="11031233"/>
              <a:chOff x="-77037" y="0"/>
              <a:chExt cx="2959591" cy="5182870"/>
            </a:xfrm>
          </p:grpSpPr>
          <p:sp>
            <p:nvSpPr>
              <p:cNvPr id="19" name="Freeform 19"/>
              <p:cNvSpPr/>
              <p:nvPr/>
            </p:nvSpPr>
            <p:spPr>
              <a:xfrm>
                <a:off x="53340" y="25400"/>
                <a:ext cx="2829214" cy="5132070"/>
              </a:xfrm>
              <a:custGeom>
                <a:avLst/>
                <a:gdLst/>
                <a:ahLst/>
                <a:cxnLst/>
                <a:rect l="l" t="t" r="r" b="b"/>
                <a:pathLst>
                  <a:path w="2513330" h="5132070">
                    <a:moveTo>
                      <a:pt x="2159000" y="0"/>
                    </a:moveTo>
                    <a:lnTo>
                      <a:pt x="354330" y="0"/>
                    </a:lnTo>
                    <a:cubicBezTo>
                      <a:pt x="158750" y="0"/>
                      <a:pt x="0" y="158750"/>
                      <a:pt x="0" y="354330"/>
                    </a:cubicBezTo>
                    <a:lnTo>
                      <a:pt x="0" y="4777740"/>
                    </a:lnTo>
                    <a:cubicBezTo>
                      <a:pt x="0" y="4973320"/>
                      <a:pt x="158750" y="5132070"/>
                      <a:pt x="354330" y="5132070"/>
                    </a:cubicBezTo>
                    <a:lnTo>
                      <a:pt x="2159000" y="5132070"/>
                    </a:lnTo>
                    <a:cubicBezTo>
                      <a:pt x="2354580" y="5132070"/>
                      <a:pt x="2513330" y="4973320"/>
                      <a:pt x="2513330" y="4777740"/>
                    </a:cubicBezTo>
                    <a:lnTo>
                      <a:pt x="2513330" y="354330"/>
                    </a:lnTo>
                    <a:cubicBezTo>
                      <a:pt x="2513330" y="158750"/>
                      <a:pt x="2354580" y="0"/>
                      <a:pt x="2159000" y="0"/>
                    </a:cubicBezTo>
                    <a:close/>
                    <a:moveTo>
                      <a:pt x="1558290" y="162560"/>
                    </a:moveTo>
                    <a:cubicBezTo>
                      <a:pt x="1576070" y="162560"/>
                      <a:pt x="1590040" y="176530"/>
                      <a:pt x="1590040" y="194310"/>
                    </a:cubicBezTo>
                    <a:cubicBezTo>
                      <a:pt x="1590040" y="212090"/>
                      <a:pt x="1576070" y="226060"/>
                      <a:pt x="1558290" y="226060"/>
                    </a:cubicBezTo>
                    <a:cubicBezTo>
                      <a:pt x="1540510" y="226060"/>
                      <a:pt x="1526540" y="212090"/>
                      <a:pt x="1526540" y="194310"/>
                    </a:cubicBezTo>
                    <a:cubicBezTo>
                      <a:pt x="1526540" y="176530"/>
                      <a:pt x="1541780" y="162560"/>
                      <a:pt x="1558290" y="162560"/>
                    </a:cubicBezTo>
                    <a:close/>
                    <a:moveTo>
                      <a:pt x="1089660" y="172720"/>
                    </a:moveTo>
                    <a:lnTo>
                      <a:pt x="1394460" y="172720"/>
                    </a:lnTo>
                    <a:cubicBezTo>
                      <a:pt x="1405890" y="172720"/>
                      <a:pt x="1416050" y="181610"/>
                      <a:pt x="1416050" y="194310"/>
                    </a:cubicBezTo>
                    <a:cubicBezTo>
                      <a:pt x="1416050" y="207010"/>
                      <a:pt x="1405890" y="215900"/>
                      <a:pt x="1394460" y="215900"/>
                    </a:cubicBezTo>
                    <a:lnTo>
                      <a:pt x="1089660" y="215900"/>
                    </a:lnTo>
                    <a:cubicBezTo>
                      <a:pt x="1078230" y="215900"/>
                      <a:pt x="1068070" y="207010"/>
                      <a:pt x="1068070" y="194310"/>
                    </a:cubicBezTo>
                    <a:cubicBezTo>
                      <a:pt x="1068070" y="181610"/>
                      <a:pt x="1078230" y="172720"/>
                      <a:pt x="1089660" y="172720"/>
                    </a:cubicBezTo>
                    <a:close/>
                    <a:moveTo>
                      <a:pt x="2383790" y="4798060"/>
                    </a:moveTo>
                    <a:cubicBezTo>
                      <a:pt x="2383790" y="4913630"/>
                      <a:pt x="2289810" y="5007610"/>
                      <a:pt x="2174240" y="5007610"/>
                    </a:cubicBezTo>
                    <a:lnTo>
                      <a:pt x="341630" y="5007610"/>
                    </a:lnTo>
                    <a:cubicBezTo>
                      <a:pt x="226060" y="5007610"/>
                      <a:pt x="132080" y="4913630"/>
                      <a:pt x="132080" y="4798060"/>
                    </a:cubicBezTo>
                    <a:lnTo>
                      <a:pt x="132080" y="340360"/>
                    </a:lnTo>
                    <a:cubicBezTo>
                      <a:pt x="132080" y="224790"/>
                      <a:pt x="226060" y="130810"/>
                      <a:pt x="341630" y="130810"/>
                    </a:cubicBezTo>
                    <a:lnTo>
                      <a:pt x="614680" y="130810"/>
                    </a:lnTo>
                    <a:lnTo>
                      <a:pt x="614680" y="187960"/>
                    </a:lnTo>
                    <a:cubicBezTo>
                      <a:pt x="614680" y="252730"/>
                      <a:pt x="668020" y="306070"/>
                      <a:pt x="732790" y="306070"/>
                    </a:cubicBezTo>
                    <a:lnTo>
                      <a:pt x="1783080" y="306070"/>
                    </a:lnTo>
                    <a:cubicBezTo>
                      <a:pt x="1847850" y="306070"/>
                      <a:pt x="1901190" y="252730"/>
                      <a:pt x="1901190" y="187960"/>
                    </a:cubicBezTo>
                    <a:lnTo>
                      <a:pt x="1901190" y="130810"/>
                    </a:lnTo>
                    <a:lnTo>
                      <a:pt x="2172970" y="130810"/>
                    </a:lnTo>
                    <a:cubicBezTo>
                      <a:pt x="2288540" y="130810"/>
                      <a:pt x="2382520" y="224790"/>
                      <a:pt x="2382520" y="340360"/>
                    </a:cubicBezTo>
                    <a:lnTo>
                      <a:pt x="2382520" y="4798060"/>
                    </a:lnTo>
                    <a:close/>
                  </a:path>
                </a:pathLst>
              </a:custGeom>
              <a:solidFill>
                <a:srgbClr val="000000"/>
              </a:solidFill>
            </p:spPr>
            <p:txBody>
              <a:bodyPr/>
              <a:lstStyle/>
              <a:p>
                <a:endParaRPr lang="en-US"/>
              </a:p>
            </p:txBody>
          </p:sp>
          <p:sp>
            <p:nvSpPr>
              <p:cNvPr id="20" name="Freeform 20"/>
              <p:cNvSpPr/>
              <p:nvPr/>
            </p:nvSpPr>
            <p:spPr>
              <a:xfrm>
                <a:off x="185420" y="156210"/>
                <a:ext cx="2250453" cy="4876800"/>
              </a:xfrm>
              <a:custGeom>
                <a:avLst/>
                <a:gdLst/>
                <a:ahLst/>
                <a:cxnLst/>
                <a:rect l="l" t="t" r="r" b="b"/>
                <a:pathLst>
                  <a:path w="2250453" h="4876800">
                    <a:moveTo>
                      <a:pt x="2040890" y="0"/>
                    </a:moveTo>
                    <a:lnTo>
                      <a:pt x="1769110" y="0"/>
                    </a:lnTo>
                    <a:lnTo>
                      <a:pt x="1769110" y="57150"/>
                    </a:lnTo>
                    <a:cubicBezTo>
                      <a:pt x="1769110" y="121920"/>
                      <a:pt x="1715770" y="175260"/>
                      <a:pt x="1651000" y="175260"/>
                    </a:cubicBezTo>
                    <a:lnTo>
                      <a:pt x="601980" y="175260"/>
                    </a:lnTo>
                    <a:cubicBezTo>
                      <a:pt x="537210" y="175260"/>
                      <a:pt x="483870" y="121920"/>
                      <a:pt x="483870" y="57150"/>
                    </a:cubicBezTo>
                    <a:lnTo>
                      <a:pt x="483870" y="0"/>
                    </a:lnTo>
                    <a:lnTo>
                      <a:pt x="209550" y="0"/>
                    </a:lnTo>
                    <a:cubicBezTo>
                      <a:pt x="93980" y="0"/>
                      <a:pt x="0" y="93980"/>
                      <a:pt x="0" y="209550"/>
                    </a:cubicBezTo>
                    <a:lnTo>
                      <a:pt x="0" y="4667250"/>
                    </a:lnTo>
                    <a:cubicBezTo>
                      <a:pt x="0" y="4782820"/>
                      <a:pt x="93980" y="4876800"/>
                      <a:pt x="209550" y="4876800"/>
                    </a:cubicBezTo>
                    <a:lnTo>
                      <a:pt x="2040890" y="4876800"/>
                    </a:lnTo>
                    <a:cubicBezTo>
                      <a:pt x="2156460" y="4876800"/>
                      <a:pt x="2250440" y="4782820"/>
                      <a:pt x="2250440" y="4667250"/>
                    </a:cubicBezTo>
                    <a:lnTo>
                      <a:pt x="2250440" y="209550"/>
                    </a:lnTo>
                    <a:cubicBezTo>
                      <a:pt x="2251710" y="93980"/>
                      <a:pt x="2157730" y="0"/>
                      <a:pt x="2040890" y="0"/>
                    </a:cubicBezTo>
                    <a:close/>
                  </a:path>
                </a:pathLst>
              </a:custGeom>
              <a:blipFill>
                <a:blip r:embed="rId3"/>
                <a:stretch>
                  <a:fillRect l="-245588" t="-3203" r="-245531" b="-3098"/>
                </a:stretch>
              </a:blipFill>
            </p:spPr>
            <p:txBody>
              <a:bodyPr/>
              <a:lstStyle/>
              <a:p>
                <a:endParaRPr lang="en-US"/>
              </a:p>
            </p:txBody>
          </p:sp>
          <p:sp>
            <p:nvSpPr>
              <p:cNvPr id="21" name="Freeform 21"/>
              <p:cNvSpPr/>
              <p:nvPr/>
            </p:nvSpPr>
            <p:spPr>
              <a:xfrm>
                <a:off x="1121410" y="198120"/>
                <a:ext cx="347980" cy="43180"/>
              </a:xfrm>
              <a:custGeom>
                <a:avLst/>
                <a:gdLst/>
                <a:ahLst/>
                <a:cxnLst/>
                <a:rect l="l" t="t" r="r" b="b"/>
                <a:pathLst>
                  <a:path w="347980" h="43180">
                    <a:moveTo>
                      <a:pt x="326390" y="0"/>
                    </a:moveTo>
                    <a:lnTo>
                      <a:pt x="21590" y="0"/>
                    </a:lnTo>
                    <a:cubicBezTo>
                      <a:pt x="10160" y="0"/>
                      <a:pt x="0" y="8890"/>
                      <a:pt x="0" y="21590"/>
                    </a:cubicBezTo>
                    <a:cubicBezTo>
                      <a:pt x="0" y="34290"/>
                      <a:pt x="10160" y="43180"/>
                      <a:pt x="21590" y="43180"/>
                    </a:cubicBezTo>
                    <a:lnTo>
                      <a:pt x="326390" y="43180"/>
                    </a:lnTo>
                    <a:cubicBezTo>
                      <a:pt x="337820" y="43180"/>
                      <a:pt x="347980" y="34290"/>
                      <a:pt x="347980" y="21590"/>
                    </a:cubicBezTo>
                    <a:cubicBezTo>
                      <a:pt x="347980" y="8890"/>
                      <a:pt x="337820" y="0"/>
                      <a:pt x="326390" y="0"/>
                    </a:cubicBezTo>
                    <a:close/>
                  </a:path>
                </a:pathLst>
              </a:custGeom>
              <a:solidFill>
                <a:srgbClr val="606060"/>
              </a:solidFill>
            </p:spPr>
            <p:txBody>
              <a:bodyPr/>
              <a:lstStyle/>
              <a:p>
                <a:endParaRPr lang="en-US"/>
              </a:p>
            </p:txBody>
          </p:sp>
          <p:sp>
            <p:nvSpPr>
              <p:cNvPr id="22" name="Freeform 22"/>
              <p:cNvSpPr/>
              <p:nvPr/>
            </p:nvSpPr>
            <p:spPr>
              <a:xfrm>
                <a:off x="1579738" y="187960"/>
                <a:ext cx="63785" cy="63501"/>
              </a:xfrm>
              <a:custGeom>
                <a:avLst/>
                <a:gdLst/>
                <a:ahLst/>
                <a:cxnLst/>
                <a:rect l="l" t="t" r="r" b="b"/>
                <a:pathLst>
                  <a:path w="63785" h="63501">
                    <a:moveTo>
                      <a:pt x="31892" y="0"/>
                    </a:moveTo>
                    <a:cubicBezTo>
                      <a:pt x="20515" y="-51"/>
                      <a:pt x="9980" y="5989"/>
                      <a:pt x="4277" y="15834"/>
                    </a:cubicBezTo>
                    <a:cubicBezTo>
                      <a:pt x="-1426" y="25678"/>
                      <a:pt x="-1426" y="37822"/>
                      <a:pt x="4277" y="47666"/>
                    </a:cubicBezTo>
                    <a:cubicBezTo>
                      <a:pt x="9980" y="57511"/>
                      <a:pt x="20515" y="63551"/>
                      <a:pt x="31892" y="63500"/>
                    </a:cubicBezTo>
                    <a:cubicBezTo>
                      <a:pt x="43269" y="63551"/>
                      <a:pt x="53804" y="57511"/>
                      <a:pt x="59507" y="47666"/>
                    </a:cubicBezTo>
                    <a:cubicBezTo>
                      <a:pt x="65210" y="37822"/>
                      <a:pt x="65210" y="25678"/>
                      <a:pt x="59507" y="15834"/>
                    </a:cubicBezTo>
                    <a:cubicBezTo>
                      <a:pt x="53804" y="5989"/>
                      <a:pt x="43269" y="-51"/>
                      <a:pt x="31892" y="0"/>
                    </a:cubicBezTo>
                    <a:close/>
                  </a:path>
                </a:pathLst>
              </a:custGeom>
              <a:solidFill>
                <a:srgbClr val="606060"/>
              </a:solidFill>
            </p:spPr>
            <p:txBody>
              <a:bodyPr/>
              <a:lstStyle/>
              <a:p>
                <a:endParaRPr lang="en-US"/>
              </a:p>
            </p:txBody>
          </p:sp>
          <p:sp>
            <p:nvSpPr>
              <p:cNvPr id="23" name="Freeform 23"/>
              <p:cNvSpPr/>
              <p:nvPr/>
            </p:nvSpPr>
            <p:spPr>
              <a:xfrm>
                <a:off x="0" y="685800"/>
                <a:ext cx="27940" cy="213360"/>
              </a:xfrm>
              <a:custGeom>
                <a:avLst/>
                <a:gdLst/>
                <a:ahLst/>
                <a:cxnLst/>
                <a:rect l="l" t="t" r="r" b="b"/>
                <a:pathLst>
                  <a:path w="27940" h="213360">
                    <a:moveTo>
                      <a:pt x="0" y="26670"/>
                    </a:moveTo>
                    <a:lnTo>
                      <a:pt x="0" y="185420"/>
                    </a:lnTo>
                    <a:cubicBezTo>
                      <a:pt x="0" y="200660"/>
                      <a:pt x="12700" y="213360"/>
                      <a:pt x="27940" y="213360"/>
                    </a:cubicBezTo>
                    <a:lnTo>
                      <a:pt x="27940" y="0"/>
                    </a:lnTo>
                    <a:cubicBezTo>
                      <a:pt x="12700" y="0"/>
                      <a:pt x="0" y="11430"/>
                      <a:pt x="0" y="26670"/>
                    </a:cubicBezTo>
                    <a:close/>
                  </a:path>
                </a:pathLst>
              </a:custGeom>
              <a:solidFill>
                <a:srgbClr val="B8B8B8"/>
              </a:solidFill>
            </p:spPr>
            <p:txBody>
              <a:bodyPr/>
              <a:lstStyle/>
              <a:p>
                <a:endParaRPr lang="en-US"/>
              </a:p>
            </p:txBody>
          </p:sp>
          <p:sp>
            <p:nvSpPr>
              <p:cNvPr id="24" name="Freeform 24"/>
              <p:cNvSpPr/>
              <p:nvPr/>
            </p:nvSpPr>
            <p:spPr>
              <a:xfrm>
                <a:off x="0" y="1057910"/>
                <a:ext cx="27940" cy="384810"/>
              </a:xfrm>
              <a:custGeom>
                <a:avLst/>
                <a:gdLst/>
                <a:ahLst/>
                <a:cxnLst/>
                <a:rect l="l" t="t" r="r" b="b"/>
                <a:pathLst>
                  <a:path w="27940" h="384810">
                    <a:moveTo>
                      <a:pt x="0" y="26670"/>
                    </a:moveTo>
                    <a:lnTo>
                      <a:pt x="0" y="356870"/>
                    </a:lnTo>
                    <a:cubicBezTo>
                      <a:pt x="0" y="372110"/>
                      <a:pt x="12700" y="384810"/>
                      <a:pt x="27940" y="384810"/>
                    </a:cubicBezTo>
                    <a:lnTo>
                      <a:pt x="27940" y="0"/>
                    </a:lnTo>
                    <a:cubicBezTo>
                      <a:pt x="12700" y="0"/>
                      <a:pt x="0" y="11430"/>
                      <a:pt x="0" y="26670"/>
                    </a:cubicBezTo>
                    <a:close/>
                  </a:path>
                </a:pathLst>
              </a:custGeom>
              <a:solidFill>
                <a:srgbClr val="B8B8B8"/>
              </a:solidFill>
            </p:spPr>
            <p:txBody>
              <a:bodyPr/>
              <a:lstStyle/>
              <a:p>
                <a:endParaRPr lang="en-US"/>
              </a:p>
            </p:txBody>
          </p:sp>
          <p:sp>
            <p:nvSpPr>
              <p:cNvPr id="25" name="Freeform 25"/>
              <p:cNvSpPr/>
              <p:nvPr/>
            </p:nvSpPr>
            <p:spPr>
              <a:xfrm>
                <a:off x="0" y="1526540"/>
                <a:ext cx="27940" cy="386080"/>
              </a:xfrm>
              <a:custGeom>
                <a:avLst/>
                <a:gdLst/>
                <a:ahLst/>
                <a:cxnLst/>
                <a:rect l="l" t="t" r="r" b="b"/>
                <a:pathLst>
                  <a:path w="27940" h="386080">
                    <a:moveTo>
                      <a:pt x="0" y="27940"/>
                    </a:moveTo>
                    <a:lnTo>
                      <a:pt x="0" y="358140"/>
                    </a:lnTo>
                    <a:cubicBezTo>
                      <a:pt x="0" y="373380"/>
                      <a:pt x="12700" y="386080"/>
                      <a:pt x="27940" y="386080"/>
                    </a:cubicBezTo>
                    <a:lnTo>
                      <a:pt x="27940" y="0"/>
                    </a:lnTo>
                    <a:cubicBezTo>
                      <a:pt x="12700" y="0"/>
                      <a:pt x="0" y="12700"/>
                      <a:pt x="0" y="27940"/>
                    </a:cubicBezTo>
                    <a:close/>
                  </a:path>
                </a:pathLst>
              </a:custGeom>
              <a:solidFill>
                <a:srgbClr val="B8B8B8"/>
              </a:solidFill>
            </p:spPr>
            <p:txBody>
              <a:bodyPr/>
              <a:lstStyle/>
              <a:p>
                <a:endParaRPr lang="en-US"/>
              </a:p>
            </p:txBody>
          </p:sp>
          <p:sp>
            <p:nvSpPr>
              <p:cNvPr id="26" name="Freeform 26"/>
              <p:cNvSpPr/>
              <p:nvPr/>
            </p:nvSpPr>
            <p:spPr>
              <a:xfrm>
                <a:off x="2592070" y="1184910"/>
                <a:ext cx="27940" cy="618490"/>
              </a:xfrm>
              <a:custGeom>
                <a:avLst/>
                <a:gdLst/>
                <a:ahLst/>
                <a:cxnLst/>
                <a:rect l="l" t="t" r="r" b="b"/>
                <a:pathLst>
                  <a:path w="27940" h="618490">
                    <a:moveTo>
                      <a:pt x="0" y="0"/>
                    </a:moveTo>
                    <a:lnTo>
                      <a:pt x="0" y="618490"/>
                    </a:lnTo>
                    <a:cubicBezTo>
                      <a:pt x="15240" y="618490"/>
                      <a:pt x="27940" y="605790"/>
                      <a:pt x="27940" y="590550"/>
                    </a:cubicBezTo>
                    <a:lnTo>
                      <a:pt x="27940" y="27940"/>
                    </a:lnTo>
                    <a:cubicBezTo>
                      <a:pt x="27940" y="12700"/>
                      <a:pt x="15240" y="0"/>
                      <a:pt x="0" y="0"/>
                    </a:cubicBezTo>
                    <a:close/>
                  </a:path>
                </a:pathLst>
              </a:custGeom>
              <a:solidFill>
                <a:srgbClr val="B8B8B8"/>
              </a:solidFill>
            </p:spPr>
            <p:txBody>
              <a:bodyPr/>
              <a:lstStyle/>
              <a:p>
                <a:endParaRPr lang="en-US"/>
              </a:p>
            </p:txBody>
          </p:sp>
          <p:sp>
            <p:nvSpPr>
              <p:cNvPr id="27" name="Freeform 27"/>
              <p:cNvSpPr/>
              <p:nvPr/>
            </p:nvSpPr>
            <p:spPr>
              <a:xfrm>
                <a:off x="-77037" y="0"/>
                <a:ext cx="2768650" cy="5182870"/>
              </a:xfrm>
              <a:custGeom>
                <a:avLst/>
                <a:gdLst/>
                <a:ahLst/>
                <a:cxnLst/>
                <a:rect l="l" t="t" r="r" b="b"/>
                <a:pathLst>
                  <a:path w="2564130" h="5182870">
                    <a:moveTo>
                      <a:pt x="2564130" y="1184910"/>
                    </a:moveTo>
                    <a:lnTo>
                      <a:pt x="2564130" y="379730"/>
                    </a:lnTo>
                    <a:cubicBezTo>
                      <a:pt x="2564130" y="353060"/>
                      <a:pt x="2561590" y="327660"/>
                      <a:pt x="2556510" y="303530"/>
                    </a:cubicBezTo>
                    <a:cubicBezTo>
                      <a:pt x="2553970" y="290830"/>
                      <a:pt x="2551430" y="279400"/>
                      <a:pt x="2547620" y="266700"/>
                    </a:cubicBezTo>
                    <a:cubicBezTo>
                      <a:pt x="2542540" y="248920"/>
                      <a:pt x="2534920" y="231140"/>
                      <a:pt x="2527300" y="214630"/>
                    </a:cubicBezTo>
                    <a:cubicBezTo>
                      <a:pt x="2522220" y="203200"/>
                      <a:pt x="2515870" y="193040"/>
                      <a:pt x="2509520" y="182880"/>
                    </a:cubicBezTo>
                    <a:cubicBezTo>
                      <a:pt x="2503170" y="172720"/>
                      <a:pt x="2496820" y="162560"/>
                      <a:pt x="2489200" y="152400"/>
                    </a:cubicBezTo>
                    <a:cubicBezTo>
                      <a:pt x="2477770" y="137160"/>
                      <a:pt x="2466340" y="124460"/>
                      <a:pt x="2453640" y="110490"/>
                    </a:cubicBezTo>
                    <a:cubicBezTo>
                      <a:pt x="2444750" y="101600"/>
                      <a:pt x="2435860" y="93980"/>
                      <a:pt x="2426970" y="86360"/>
                    </a:cubicBezTo>
                    <a:cubicBezTo>
                      <a:pt x="2360930" y="31750"/>
                      <a:pt x="2277110" y="0"/>
                      <a:pt x="2185670" y="0"/>
                    </a:cubicBezTo>
                    <a:lnTo>
                      <a:pt x="379730" y="0"/>
                    </a:lnTo>
                    <a:cubicBezTo>
                      <a:pt x="288290" y="0"/>
                      <a:pt x="203200" y="33020"/>
                      <a:pt x="138430" y="86360"/>
                    </a:cubicBezTo>
                    <a:cubicBezTo>
                      <a:pt x="129540" y="93980"/>
                      <a:pt x="120650" y="102870"/>
                      <a:pt x="111760" y="110490"/>
                    </a:cubicBezTo>
                    <a:cubicBezTo>
                      <a:pt x="99060" y="123190"/>
                      <a:pt x="86360" y="137160"/>
                      <a:pt x="76200" y="152400"/>
                    </a:cubicBezTo>
                    <a:cubicBezTo>
                      <a:pt x="68580" y="162560"/>
                      <a:pt x="62230" y="172720"/>
                      <a:pt x="55880" y="182880"/>
                    </a:cubicBezTo>
                    <a:cubicBezTo>
                      <a:pt x="49530" y="193040"/>
                      <a:pt x="43180" y="204470"/>
                      <a:pt x="38100" y="214630"/>
                    </a:cubicBezTo>
                    <a:cubicBezTo>
                      <a:pt x="29210" y="232410"/>
                      <a:pt x="22860" y="248920"/>
                      <a:pt x="16510" y="266700"/>
                    </a:cubicBezTo>
                    <a:cubicBezTo>
                      <a:pt x="12700" y="279400"/>
                      <a:pt x="10160" y="290830"/>
                      <a:pt x="7620" y="303530"/>
                    </a:cubicBezTo>
                    <a:cubicBezTo>
                      <a:pt x="2540" y="327660"/>
                      <a:pt x="0" y="354330"/>
                      <a:pt x="0" y="379730"/>
                    </a:cubicBezTo>
                    <a:lnTo>
                      <a:pt x="0" y="4803140"/>
                    </a:lnTo>
                    <a:cubicBezTo>
                      <a:pt x="0" y="5012690"/>
                      <a:pt x="170180" y="5182870"/>
                      <a:pt x="379730" y="5182870"/>
                    </a:cubicBezTo>
                    <a:lnTo>
                      <a:pt x="2184400" y="5182870"/>
                    </a:lnTo>
                    <a:cubicBezTo>
                      <a:pt x="2393950" y="5182870"/>
                      <a:pt x="2564130" y="5012690"/>
                      <a:pt x="2564130" y="4803140"/>
                    </a:cubicBezTo>
                    <a:lnTo>
                      <a:pt x="2564130" y="1184910"/>
                    </a:lnTo>
                    <a:close/>
                    <a:moveTo>
                      <a:pt x="2538730" y="1184910"/>
                    </a:moveTo>
                    <a:lnTo>
                      <a:pt x="2538730" y="4804410"/>
                    </a:lnTo>
                    <a:cubicBezTo>
                      <a:pt x="2538730" y="4999990"/>
                      <a:pt x="2379980" y="5158740"/>
                      <a:pt x="2184400" y="5158740"/>
                    </a:cubicBezTo>
                    <a:lnTo>
                      <a:pt x="379730" y="5158740"/>
                    </a:lnTo>
                    <a:cubicBezTo>
                      <a:pt x="184150" y="5158740"/>
                      <a:pt x="25400" y="4999990"/>
                      <a:pt x="25400" y="4804410"/>
                    </a:cubicBezTo>
                    <a:lnTo>
                      <a:pt x="25400" y="381000"/>
                    </a:lnTo>
                    <a:cubicBezTo>
                      <a:pt x="25400" y="184150"/>
                      <a:pt x="184150" y="25400"/>
                      <a:pt x="379730" y="25400"/>
                    </a:cubicBezTo>
                    <a:lnTo>
                      <a:pt x="2184400" y="25400"/>
                    </a:lnTo>
                    <a:cubicBezTo>
                      <a:pt x="2379980" y="25400"/>
                      <a:pt x="2538730" y="184150"/>
                      <a:pt x="2538730" y="379730"/>
                    </a:cubicBezTo>
                    <a:lnTo>
                      <a:pt x="2538730" y="1184910"/>
                    </a:lnTo>
                    <a:close/>
                  </a:path>
                </a:pathLst>
              </a:custGeom>
              <a:solidFill>
                <a:srgbClr val="E9E9E9"/>
              </a:solidFill>
            </p:spPr>
            <p:txBody>
              <a:bodyPr/>
              <a:lstStyle/>
              <a:p>
                <a:endParaRPr lang="en-US"/>
              </a:p>
            </p:txBody>
          </p:sp>
        </p:grpSp>
        <p:grpSp>
          <p:nvGrpSpPr>
            <p:cNvPr id="28" name="Group 28"/>
            <p:cNvGrpSpPr/>
            <p:nvPr/>
          </p:nvGrpSpPr>
          <p:grpSpPr>
            <a:xfrm>
              <a:off x="-62366" y="-79455"/>
              <a:ext cx="5689598" cy="10899776"/>
              <a:chOff x="-38415" y="-47625"/>
              <a:chExt cx="1123871" cy="2153042"/>
            </a:xfrm>
          </p:grpSpPr>
          <p:sp>
            <p:nvSpPr>
              <p:cNvPr id="29" name="Freeform 29"/>
              <p:cNvSpPr/>
              <p:nvPr/>
            </p:nvSpPr>
            <p:spPr>
              <a:xfrm>
                <a:off x="-38415" y="0"/>
                <a:ext cx="1123871" cy="2105417"/>
              </a:xfrm>
              <a:custGeom>
                <a:avLst/>
                <a:gdLst/>
                <a:ahLst/>
                <a:cxnLst/>
                <a:rect l="l" t="t" r="r" b="b"/>
                <a:pathLst>
                  <a:path w="1005423" h="2105417">
                    <a:moveTo>
                      <a:pt x="103429" y="0"/>
                    </a:moveTo>
                    <a:lnTo>
                      <a:pt x="901994" y="0"/>
                    </a:lnTo>
                    <a:cubicBezTo>
                      <a:pt x="959116" y="0"/>
                      <a:pt x="1005423" y="46307"/>
                      <a:pt x="1005423" y="103429"/>
                    </a:cubicBezTo>
                    <a:lnTo>
                      <a:pt x="1005423" y="2001988"/>
                    </a:lnTo>
                    <a:cubicBezTo>
                      <a:pt x="1005423" y="2059110"/>
                      <a:pt x="959116" y="2105417"/>
                      <a:pt x="901994" y="2105417"/>
                    </a:cubicBezTo>
                    <a:lnTo>
                      <a:pt x="103429" y="2105417"/>
                    </a:lnTo>
                    <a:cubicBezTo>
                      <a:pt x="46307" y="2105417"/>
                      <a:pt x="0" y="2059110"/>
                      <a:pt x="0" y="2001988"/>
                    </a:cubicBezTo>
                    <a:lnTo>
                      <a:pt x="0" y="103429"/>
                    </a:lnTo>
                    <a:cubicBezTo>
                      <a:pt x="0" y="46307"/>
                      <a:pt x="46307" y="0"/>
                      <a:pt x="103429" y="0"/>
                    </a:cubicBezTo>
                    <a:close/>
                  </a:path>
                </a:pathLst>
              </a:custGeom>
              <a:solidFill>
                <a:srgbClr val="141414"/>
              </a:solidFill>
            </p:spPr>
            <p:txBody>
              <a:bodyPr/>
              <a:lstStyle/>
              <a:p>
                <a:endParaRPr lang="en-US"/>
              </a:p>
            </p:txBody>
          </p:sp>
          <p:sp>
            <p:nvSpPr>
              <p:cNvPr id="30" name="TextBox 30"/>
              <p:cNvSpPr txBox="1"/>
              <p:nvPr/>
            </p:nvSpPr>
            <p:spPr>
              <a:xfrm>
                <a:off x="0" y="-47625"/>
                <a:ext cx="1005423" cy="2153042"/>
              </a:xfrm>
              <a:prstGeom prst="rect">
                <a:avLst/>
              </a:prstGeom>
            </p:spPr>
            <p:txBody>
              <a:bodyPr lIns="50800" tIns="50800" rIns="50800" bIns="50800" rtlCol="0" anchor="ctr"/>
              <a:lstStyle/>
              <a:p>
                <a:pPr algn="ctr">
                  <a:lnSpc>
                    <a:spcPts val="2340"/>
                  </a:lnSpc>
                </a:pPr>
                <a:endParaRPr/>
              </a:p>
            </p:txBody>
          </p:sp>
        </p:grpSp>
        <p:sp>
          <p:nvSpPr>
            <p:cNvPr id="31" name="Freeform 31"/>
            <p:cNvSpPr/>
            <p:nvPr/>
          </p:nvSpPr>
          <p:spPr>
            <a:xfrm>
              <a:off x="345184" y="605946"/>
              <a:ext cx="942673" cy="942673"/>
            </a:xfrm>
            <a:custGeom>
              <a:avLst/>
              <a:gdLst/>
              <a:ahLst/>
              <a:cxnLst/>
              <a:rect l="l" t="t" r="r" b="b"/>
              <a:pathLst>
                <a:path w="942673" h="942673">
                  <a:moveTo>
                    <a:pt x="0" y="0"/>
                  </a:moveTo>
                  <a:lnTo>
                    <a:pt x="942673" y="0"/>
                  </a:lnTo>
                  <a:lnTo>
                    <a:pt x="942673" y="942673"/>
                  </a:lnTo>
                  <a:lnTo>
                    <a:pt x="0" y="942673"/>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n-US"/>
            </a:p>
          </p:txBody>
        </p:sp>
        <p:sp>
          <p:nvSpPr>
            <p:cNvPr id="32" name="Freeform 32"/>
            <p:cNvSpPr/>
            <p:nvPr/>
          </p:nvSpPr>
          <p:spPr>
            <a:xfrm>
              <a:off x="607468" y="812658"/>
              <a:ext cx="418106" cy="529248"/>
            </a:xfrm>
            <a:custGeom>
              <a:avLst/>
              <a:gdLst/>
              <a:ahLst/>
              <a:cxnLst/>
              <a:rect l="l" t="t" r="r" b="b"/>
              <a:pathLst>
                <a:path w="418106" h="529248">
                  <a:moveTo>
                    <a:pt x="0" y="0"/>
                  </a:moveTo>
                  <a:lnTo>
                    <a:pt x="418106" y="0"/>
                  </a:lnTo>
                  <a:lnTo>
                    <a:pt x="418106" y="529248"/>
                  </a:lnTo>
                  <a:lnTo>
                    <a:pt x="0" y="529248"/>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en-US"/>
            </a:p>
          </p:txBody>
        </p:sp>
        <p:sp>
          <p:nvSpPr>
            <p:cNvPr id="33" name="Freeform 33"/>
            <p:cNvSpPr/>
            <p:nvPr/>
          </p:nvSpPr>
          <p:spPr>
            <a:xfrm>
              <a:off x="4020713" y="605946"/>
              <a:ext cx="942673" cy="942673"/>
            </a:xfrm>
            <a:custGeom>
              <a:avLst/>
              <a:gdLst/>
              <a:ahLst/>
              <a:cxnLst/>
              <a:rect l="l" t="t" r="r" b="b"/>
              <a:pathLst>
                <a:path w="942673" h="942673">
                  <a:moveTo>
                    <a:pt x="0" y="0"/>
                  </a:moveTo>
                  <a:lnTo>
                    <a:pt x="942672" y="0"/>
                  </a:lnTo>
                  <a:lnTo>
                    <a:pt x="942672" y="942673"/>
                  </a:lnTo>
                  <a:lnTo>
                    <a:pt x="0" y="942673"/>
                  </a:lnTo>
                  <a:lnTo>
                    <a:pt x="0" y="0"/>
                  </a:lnTo>
                  <a:close/>
                </a:path>
              </a:pathLst>
            </a:custGeom>
            <a:blipFill>
              <a:blip>
                <a:extLst>
                  <a:ext uri="{96DAC541-7B7A-43D3-8B79-37D633B846F1}">
                    <asvg:svgBlip xmlns:asvg="http://schemas.microsoft.com/office/drawing/2016/SVG/main" r:embed="rId6"/>
                  </a:ext>
                </a:extLst>
              </a:blip>
              <a:stretch>
                <a:fillRect/>
              </a:stretch>
            </a:blipFill>
          </p:spPr>
          <p:txBody>
            <a:bodyPr/>
            <a:lstStyle/>
            <a:p>
              <a:endParaRPr lang="en-US"/>
            </a:p>
          </p:txBody>
        </p:sp>
        <p:sp>
          <p:nvSpPr>
            <p:cNvPr id="34" name="Freeform 34"/>
            <p:cNvSpPr/>
            <p:nvPr/>
          </p:nvSpPr>
          <p:spPr>
            <a:xfrm>
              <a:off x="4252646" y="795632"/>
              <a:ext cx="478806" cy="563301"/>
            </a:xfrm>
            <a:custGeom>
              <a:avLst/>
              <a:gdLst/>
              <a:ahLst/>
              <a:cxnLst/>
              <a:rect l="l" t="t" r="r" b="b"/>
              <a:pathLst>
                <a:path w="478806" h="563301">
                  <a:moveTo>
                    <a:pt x="0" y="0"/>
                  </a:moveTo>
                  <a:lnTo>
                    <a:pt x="478806" y="0"/>
                  </a:lnTo>
                  <a:lnTo>
                    <a:pt x="478806" y="563301"/>
                  </a:lnTo>
                  <a:lnTo>
                    <a:pt x="0" y="563301"/>
                  </a:lnTo>
                  <a:lnTo>
                    <a:pt x="0" y="0"/>
                  </a:lnTo>
                  <a:close/>
                </a:path>
              </a:pathLst>
            </a:custGeom>
            <a:blipFill>
              <a:blip>
                <a:extLst>
                  <a:ext uri="{96DAC541-7B7A-43D3-8B79-37D633B846F1}">
                    <asvg:svgBlip xmlns:asvg="http://schemas.microsoft.com/office/drawing/2016/SVG/main" r:embed="rId7"/>
                  </a:ext>
                </a:extLst>
              </a:blip>
              <a:stretch>
                <a:fillRect/>
              </a:stretch>
            </a:blipFill>
          </p:spPr>
          <p:txBody>
            <a:bodyPr/>
            <a:lstStyle/>
            <a:p>
              <a:endParaRPr lang="en-US"/>
            </a:p>
          </p:txBody>
        </p:sp>
        <p:grpSp>
          <p:nvGrpSpPr>
            <p:cNvPr id="35" name="Group 35"/>
            <p:cNvGrpSpPr/>
            <p:nvPr/>
          </p:nvGrpSpPr>
          <p:grpSpPr>
            <a:xfrm>
              <a:off x="816521" y="1929613"/>
              <a:ext cx="1578858" cy="798756"/>
              <a:chOff x="0" y="0"/>
              <a:chExt cx="1892503" cy="957431"/>
            </a:xfrm>
          </p:grpSpPr>
          <p:sp>
            <p:nvSpPr>
              <p:cNvPr id="36" name="Freeform 36"/>
              <p:cNvSpPr/>
              <p:nvPr/>
            </p:nvSpPr>
            <p:spPr>
              <a:xfrm>
                <a:off x="0" y="0"/>
                <a:ext cx="1892503" cy="957431"/>
              </a:xfrm>
              <a:custGeom>
                <a:avLst/>
                <a:gdLst/>
                <a:ahLst/>
                <a:cxnLst/>
                <a:rect l="l" t="t" r="r" b="b"/>
                <a:pathLst>
                  <a:path w="1892503" h="957431">
                    <a:moveTo>
                      <a:pt x="0" y="0"/>
                    </a:moveTo>
                    <a:lnTo>
                      <a:pt x="1892503" y="0"/>
                    </a:lnTo>
                    <a:lnTo>
                      <a:pt x="1892503" y="957431"/>
                    </a:lnTo>
                    <a:lnTo>
                      <a:pt x="0" y="957431"/>
                    </a:lnTo>
                    <a:close/>
                  </a:path>
                </a:pathLst>
              </a:custGeom>
              <a:blipFill>
                <a:blip r:embed="rId3">
                  <a:alphaModFix amt="0"/>
                </a:blip>
                <a:stretch>
                  <a:fillRect t="-300064" r="-914656" b="-381525"/>
                </a:stretch>
              </a:blipFill>
            </p:spPr>
            <p:txBody>
              <a:bodyPr/>
              <a:lstStyle/>
              <a:p>
                <a:endParaRPr lang="en-US"/>
              </a:p>
            </p:txBody>
          </p:sp>
          <p:sp>
            <p:nvSpPr>
              <p:cNvPr id="37" name="TextBox 37"/>
              <p:cNvSpPr txBox="1"/>
              <p:nvPr/>
            </p:nvSpPr>
            <p:spPr>
              <a:xfrm>
                <a:off x="0" y="0"/>
                <a:ext cx="1892503" cy="957431"/>
              </a:xfrm>
              <a:prstGeom prst="rect">
                <a:avLst/>
              </a:prstGeom>
            </p:spPr>
            <p:txBody>
              <a:bodyPr lIns="0" tIns="0" rIns="0" bIns="0" rtlCol="0" anchor="ctr"/>
              <a:lstStyle/>
              <a:p>
                <a:pPr algn="l">
                  <a:lnSpc>
                    <a:spcPts val="1280"/>
                  </a:lnSpc>
                </a:pPr>
                <a:r>
                  <a:rPr lang="en-US" sz="1200" b="1">
                    <a:solidFill>
                      <a:srgbClr val="FFFFFF"/>
                    </a:solidFill>
                    <a:latin typeface="Arial Bold"/>
                    <a:ea typeface="Arial Bold"/>
                    <a:cs typeface="Arial Bold"/>
                    <a:sym typeface="Arial Bold"/>
                  </a:rPr>
                  <a:t>My Friends</a:t>
                </a:r>
              </a:p>
            </p:txBody>
          </p:sp>
        </p:grpSp>
        <p:grpSp>
          <p:nvGrpSpPr>
            <p:cNvPr id="38" name="Group 38"/>
            <p:cNvGrpSpPr/>
            <p:nvPr/>
          </p:nvGrpSpPr>
          <p:grpSpPr>
            <a:xfrm>
              <a:off x="2913191" y="1850275"/>
              <a:ext cx="2318060" cy="798756"/>
              <a:chOff x="0" y="0"/>
              <a:chExt cx="2778550" cy="957431"/>
            </a:xfrm>
          </p:grpSpPr>
          <p:sp>
            <p:nvSpPr>
              <p:cNvPr id="39" name="Freeform 39"/>
              <p:cNvSpPr/>
              <p:nvPr/>
            </p:nvSpPr>
            <p:spPr>
              <a:xfrm>
                <a:off x="0" y="0"/>
                <a:ext cx="2778550" cy="957431"/>
              </a:xfrm>
              <a:custGeom>
                <a:avLst/>
                <a:gdLst/>
                <a:ahLst/>
                <a:cxnLst/>
                <a:rect l="l" t="t" r="r" b="b"/>
                <a:pathLst>
                  <a:path w="2778550" h="957431">
                    <a:moveTo>
                      <a:pt x="0" y="0"/>
                    </a:moveTo>
                    <a:lnTo>
                      <a:pt x="2778550" y="0"/>
                    </a:lnTo>
                    <a:lnTo>
                      <a:pt x="2778550" y="957431"/>
                    </a:lnTo>
                    <a:lnTo>
                      <a:pt x="0" y="957431"/>
                    </a:lnTo>
                    <a:close/>
                  </a:path>
                </a:pathLst>
              </a:custGeom>
              <a:blipFill>
                <a:blip r:embed="rId3">
                  <a:alphaModFix amt="0"/>
                </a:blip>
                <a:stretch>
                  <a:fillRect t="-300064" r="-591094" b="-381525"/>
                </a:stretch>
              </a:blipFill>
            </p:spPr>
            <p:txBody>
              <a:bodyPr/>
              <a:lstStyle/>
              <a:p>
                <a:endParaRPr lang="en-US"/>
              </a:p>
            </p:txBody>
          </p:sp>
          <p:sp>
            <p:nvSpPr>
              <p:cNvPr id="40" name="TextBox 40"/>
              <p:cNvSpPr txBox="1"/>
              <p:nvPr/>
            </p:nvSpPr>
            <p:spPr>
              <a:xfrm>
                <a:off x="0" y="0"/>
                <a:ext cx="2778550" cy="957431"/>
              </a:xfrm>
              <a:prstGeom prst="rect">
                <a:avLst/>
              </a:prstGeom>
            </p:spPr>
            <p:txBody>
              <a:bodyPr lIns="0" tIns="0" rIns="0" bIns="0" rtlCol="0" anchor="ctr"/>
              <a:lstStyle/>
              <a:p>
                <a:pPr algn="l">
                  <a:lnSpc>
                    <a:spcPts val="1280"/>
                  </a:lnSpc>
                </a:pPr>
                <a:r>
                  <a:rPr lang="en-US" sz="1200" b="1">
                    <a:solidFill>
                      <a:srgbClr val="FFFFFF"/>
                    </a:solidFill>
                    <a:latin typeface="Arial Bold"/>
                    <a:ea typeface="Arial Bold"/>
                    <a:cs typeface="Arial Bold"/>
                    <a:sym typeface="Arial Bold"/>
                  </a:rPr>
                  <a:t>Friends of Friends</a:t>
                </a:r>
              </a:p>
            </p:txBody>
          </p:sp>
        </p:grpSp>
        <p:grpSp>
          <p:nvGrpSpPr>
            <p:cNvPr id="41" name="Group 41"/>
            <p:cNvGrpSpPr/>
            <p:nvPr/>
          </p:nvGrpSpPr>
          <p:grpSpPr>
            <a:xfrm>
              <a:off x="377249" y="9549613"/>
              <a:ext cx="4854002" cy="1062208"/>
              <a:chOff x="0" y="0"/>
              <a:chExt cx="958815" cy="209819"/>
            </a:xfrm>
          </p:grpSpPr>
          <p:sp>
            <p:nvSpPr>
              <p:cNvPr id="42" name="Freeform 42"/>
              <p:cNvSpPr/>
              <p:nvPr/>
            </p:nvSpPr>
            <p:spPr>
              <a:xfrm>
                <a:off x="0" y="0"/>
                <a:ext cx="958815" cy="209819"/>
              </a:xfrm>
              <a:custGeom>
                <a:avLst/>
                <a:gdLst/>
                <a:ahLst/>
                <a:cxnLst/>
                <a:rect l="l" t="t" r="r" b="b"/>
                <a:pathLst>
                  <a:path w="958815" h="209819">
                    <a:moveTo>
                      <a:pt x="104909" y="0"/>
                    </a:moveTo>
                    <a:lnTo>
                      <a:pt x="853906" y="0"/>
                    </a:lnTo>
                    <a:cubicBezTo>
                      <a:pt x="881730" y="0"/>
                      <a:pt x="908414" y="11053"/>
                      <a:pt x="928088" y="30727"/>
                    </a:cubicBezTo>
                    <a:cubicBezTo>
                      <a:pt x="947762" y="50402"/>
                      <a:pt x="958815" y="77086"/>
                      <a:pt x="958815" y="104909"/>
                    </a:cubicBezTo>
                    <a:lnTo>
                      <a:pt x="958815" y="104909"/>
                    </a:lnTo>
                    <a:cubicBezTo>
                      <a:pt x="958815" y="132733"/>
                      <a:pt x="947762" y="159417"/>
                      <a:pt x="928088" y="179092"/>
                    </a:cubicBezTo>
                    <a:cubicBezTo>
                      <a:pt x="908414" y="198766"/>
                      <a:pt x="881730" y="209819"/>
                      <a:pt x="853906" y="209819"/>
                    </a:cubicBezTo>
                    <a:lnTo>
                      <a:pt x="104909" y="209819"/>
                    </a:lnTo>
                    <a:cubicBezTo>
                      <a:pt x="77086" y="209819"/>
                      <a:pt x="50402" y="198766"/>
                      <a:pt x="30727" y="179092"/>
                    </a:cubicBezTo>
                    <a:cubicBezTo>
                      <a:pt x="11053" y="159417"/>
                      <a:pt x="0" y="132733"/>
                      <a:pt x="0" y="104909"/>
                    </a:cubicBezTo>
                    <a:lnTo>
                      <a:pt x="0" y="104909"/>
                    </a:lnTo>
                    <a:cubicBezTo>
                      <a:pt x="0" y="77086"/>
                      <a:pt x="11053" y="50402"/>
                      <a:pt x="30727" y="30727"/>
                    </a:cubicBezTo>
                    <a:cubicBezTo>
                      <a:pt x="50402" y="11053"/>
                      <a:pt x="77086" y="0"/>
                      <a:pt x="104909" y="0"/>
                    </a:cubicBezTo>
                    <a:close/>
                  </a:path>
                </a:pathLst>
              </a:custGeom>
              <a:solidFill>
                <a:srgbClr val="2B2B2B"/>
              </a:solidFill>
            </p:spPr>
            <p:txBody>
              <a:bodyPr/>
              <a:lstStyle/>
              <a:p>
                <a:endParaRPr lang="en-US"/>
              </a:p>
            </p:txBody>
          </p:sp>
          <p:sp>
            <p:nvSpPr>
              <p:cNvPr id="43" name="TextBox 43"/>
              <p:cNvSpPr txBox="1"/>
              <p:nvPr/>
            </p:nvSpPr>
            <p:spPr>
              <a:xfrm>
                <a:off x="0" y="-47625"/>
                <a:ext cx="958815" cy="257444"/>
              </a:xfrm>
              <a:prstGeom prst="rect">
                <a:avLst/>
              </a:prstGeom>
            </p:spPr>
            <p:txBody>
              <a:bodyPr lIns="50800" tIns="50800" rIns="50800" bIns="50800" rtlCol="0" anchor="ctr"/>
              <a:lstStyle/>
              <a:p>
                <a:pPr algn="ctr">
                  <a:lnSpc>
                    <a:spcPts val="2340"/>
                  </a:lnSpc>
                </a:pPr>
                <a:endParaRPr/>
              </a:p>
            </p:txBody>
          </p:sp>
        </p:grpSp>
        <p:grpSp>
          <p:nvGrpSpPr>
            <p:cNvPr id="44" name="Group 44"/>
            <p:cNvGrpSpPr/>
            <p:nvPr/>
          </p:nvGrpSpPr>
          <p:grpSpPr>
            <a:xfrm>
              <a:off x="1998789" y="605946"/>
              <a:ext cx="1578858" cy="957431"/>
              <a:chOff x="0" y="0"/>
              <a:chExt cx="1578858" cy="957431"/>
            </a:xfrm>
          </p:grpSpPr>
          <p:sp>
            <p:nvSpPr>
              <p:cNvPr id="45" name="Freeform 45"/>
              <p:cNvSpPr/>
              <p:nvPr/>
            </p:nvSpPr>
            <p:spPr>
              <a:xfrm>
                <a:off x="0" y="0"/>
                <a:ext cx="1578858" cy="957431"/>
              </a:xfrm>
              <a:custGeom>
                <a:avLst/>
                <a:gdLst/>
                <a:ahLst/>
                <a:cxnLst/>
                <a:rect l="l" t="t" r="r" b="b"/>
                <a:pathLst>
                  <a:path w="1578858" h="957431">
                    <a:moveTo>
                      <a:pt x="0" y="0"/>
                    </a:moveTo>
                    <a:lnTo>
                      <a:pt x="1578858" y="0"/>
                    </a:lnTo>
                    <a:lnTo>
                      <a:pt x="1578858" y="957431"/>
                    </a:lnTo>
                    <a:lnTo>
                      <a:pt x="0" y="957431"/>
                    </a:lnTo>
                    <a:close/>
                  </a:path>
                </a:pathLst>
              </a:custGeom>
              <a:blipFill>
                <a:blip r:embed="rId3">
                  <a:alphaModFix amt="0"/>
                </a:blip>
                <a:stretch>
                  <a:fillRect t="-300064" r="-1116220" b="-381525"/>
                </a:stretch>
              </a:blipFill>
            </p:spPr>
            <p:txBody>
              <a:bodyPr/>
              <a:lstStyle/>
              <a:p>
                <a:endParaRPr lang="en-US"/>
              </a:p>
            </p:txBody>
          </p:sp>
          <p:sp>
            <p:nvSpPr>
              <p:cNvPr id="46" name="TextBox 46"/>
              <p:cNvSpPr txBox="1"/>
              <p:nvPr/>
            </p:nvSpPr>
            <p:spPr>
              <a:xfrm>
                <a:off x="0" y="19050"/>
                <a:ext cx="1578858" cy="938381"/>
              </a:xfrm>
              <a:prstGeom prst="rect">
                <a:avLst/>
              </a:prstGeom>
            </p:spPr>
            <p:txBody>
              <a:bodyPr lIns="0" tIns="0" rIns="0" bIns="0" rtlCol="0" anchor="ctr"/>
              <a:lstStyle/>
              <a:p>
                <a:pPr algn="l">
                  <a:lnSpc>
                    <a:spcPts val="2240"/>
                  </a:lnSpc>
                </a:pPr>
                <a:r>
                  <a:rPr lang="en-US" sz="2100" b="1">
                    <a:solidFill>
                      <a:srgbClr val="FFFFFF"/>
                    </a:solidFill>
                    <a:latin typeface="Arial Bold"/>
                    <a:ea typeface="Arial Bold"/>
                    <a:cs typeface="Arial Bold"/>
                    <a:sym typeface="Arial Bold"/>
                  </a:rPr>
                  <a:t>BeReal.</a:t>
                </a:r>
              </a:p>
            </p:txBody>
          </p:sp>
        </p:grpSp>
        <p:sp>
          <p:nvSpPr>
            <p:cNvPr id="47" name="Freeform 47"/>
            <p:cNvSpPr/>
            <p:nvPr/>
          </p:nvSpPr>
          <p:spPr>
            <a:xfrm>
              <a:off x="713612" y="9888564"/>
              <a:ext cx="256494" cy="238539"/>
            </a:xfrm>
            <a:custGeom>
              <a:avLst/>
              <a:gdLst/>
              <a:ahLst/>
              <a:cxnLst/>
              <a:rect l="l" t="t" r="r" b="b"/>
              <a:pathLst>
                <a:path w="256494" h="238539">
                  <a:moveTo>
                    <a:pt x="0" y="0"/>
                  </a:moveTo>
                  <a:lnTo>
                    <a:pt x="256494" y="0"/>
                  </a:lnTo>
                  <a:lnTo>
                    <a:pt x="256494" y="238539"/>
                  </a:lnTo>
                  <a:lnTo>
                    <a:pt x="0" y="238539"/>
                  </a:lnTo>
                  <a:lnTo>
                    <a:pt x="0" y="0"/>
                  </a:lnTo>
                  <a:close/>
                </a:path>
              </a:pathLst>
            </a:custGeom>
            <a:blipFill>
              <a:blip>
                <a:extLst>
                  <a:ext uri="{96DAC541-7B7A-43D3-8B79-37D633B846F1}">
                    <asvg:svgBlip xmlns:asvg="http://schemas.microsoft.com/office/drawing/2016/SVG/main" r:embed="rId8"/>
                  </a:ext>
                </a:extLst>
              </a:blip>
              <a:stretch>
                <a:fillRect/>
              </a:stretch>
            </a:blipFill>
          </p:spPr>
          <p:txBody>
            <a:bodyPr/>
            <a:lstStyle/>
            <a:p>
              <a:endParaRPr lang="en-US"/>
            </a:p>
          </p:txBody>
        </p:sp>
        <p:sp>
          <p:nvSpPr>
            <p:cNvPr id="48" name="Freeform 48"/>
            <p:cNvSpPr/>
            <p:nvPr/>
          </p:nvSpPr>
          <p:spPr>
            <a:xfrm>
              <a:off x="1734675" y="9888564"/>
              <a:ext cx="265043" cy="238539"/>
            </a:xfrm>
            <a:custGeom>
              <a:avLst/>
              <a:gdLst/>
              <a:ahLst/>
              <a:cxnLst/>
              <a:rect l="l" t="t" r="r" b="b"/>
              <a:pathLst>
                <a:path w="265043" h="238539">
                  <a:moveTo>
                    <a:pt x="0" y="0"/>
                  </a:moveTo>
                  <a:lnTo>
                    <a:pt x="265043" y="0"/>
                  </a:lnTo>
                  <a:lnTo>
                    <a:pt x="265043" y="238539"/>
                  </a:lnTo>
                  <a:lnTo>
                    <a:pt x="0" y="238539"/>
                  </a:lnTo>
                  <a:lnTo>
                    <a:pt x="0" y="0"/>
                  </a:lnTo>
                  <a:close/>
                </a:path>
              </a:pathLst>
            </a:custGeom>
            <a:blipFill>
              <a:blip>
                <a:extLst>
                  <a:ext uri="{96DAC541-7B7A-43D3-8B79-37D633B846F1}">
                    <asvg:svgBlip xmlns:asvg="http://schemas.microsoft.com/office/drawing/2016/SVG/main" r:embed="rId9"/>
                  </a:ext>
                </a:extLst>
              </a:blip>
              <a:stretch>
                <a:fillRect/>
              </a:stretch>
            </a:blipFill>
          </p:spPr>
          <p:txBody>
            <a:bodyPr/>
            <a:lstStyle/>
            <a:p>
              <a:endParaRPr lang="en-US"/>
            </a:p>
          </p:txBody>
        </p:sp>
        <p:grpSp>
          <p:nvGrpSpPr>
            <p:cNvPr id="49" name="Group 49"/>
            <p:cNvGrpSpPr/>
            <p:nvPr/>
          </p:nvGrpSpPr>
          <p:grpSpPr>
            <a:xfrm>
              <a:off x="4535455" y="9735621"/>
              <a:ext cx="433657" cy="433657"/>
              <a:chOff x="0" y="0"/>
              <a:chExt cx="812800" cy="812800"/>
            </a:xfrm>
          </p:grpSpPr>
          <p:sp>
            <p:nvSpPr>
              <p:cNvPr id="50" name="Freeform 50"/>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a:blip r:embed="rId10"/>
                <a:stretch>
                  <a:fillRect l="-155679" t="-15600" b="-54426"/>
                </a:stretch>
              </a:blipFill>
              <a:ln w="38100" cap="sq">
                <a:solidFill>
                  <a:srgbClr val="000000"/>
                </a:solidFill>
                <a:prstDash val="solid"/>
                <a:miter/>
              </a:ln>
            </p:spPr>
            <p:txBody>
              <a:bodyPr/>
              <a:lstStyle/>
              <a:p>
                <a:endParaRPr lang="en-US"/>
              </a:p>
            </p:txBody>
          </p:sp>
        </p:grpSp>
        <p:sp>
          <p:nvSpPr>
            <p:cNvPr id="51" name="Freeform 51"/>
            <p:cNvSpPr/>
            <p:nvPr/>
          </p:nvSpPr>
          <p:spPr>
            <a:xfrm>
              <a:off x="2567835" y="9889618"/>
              <a:ext cx="413408" cy="336928"/>
            </a:xfrm>
            <a:custGeom>
              <a:avLst/>
              <a:gdLst/>
              <a:ahLst/>
              <a:cxnLst/>
              <a:rect l="l" t="t" r="r" b="b"/>
              <a:pathLst>
                <a:path w="413408" h="336928">
                  <a:moveTo>
                    <a:pt x="0" y="0"/>
                  </a:moveTo>
                  <a:lnTo>
                    <a:pt x="413408" y="0"/>
                  </a:lnTo>
                  <a:lnTo>
                    <a:pt x="413408" y="336927"/>
                  </a:lnTo>
                  <a:lnTo>
                    <a:pt x="0" y="336927"/>
                  </a:lnTo>
                  <a:lnTo>
                    <a:pt x="0" y="0"/>
                  </a:lnTo>
                  <a:close/>
                </a:path>
              </a:pathLst>
            </a:custGeom>
            <a:blipFill>
              <a:blip>
                <a:extLst>
                  <a:ext uri="{96DAC541-7B7A-43D3-8B79-37D633B846F1}">
                    <asvg:svgBlip xmlns:asvg="http://schemas.microsoft.com/office/drawing/2016/SVG/main" r:embed="rId11"/>
                  </a:ext>
                </a:extLst>
              </a:blip>
              <a:stretch>
                <a:fillRect/>
              </a:stretch>
            </a:blipFill>
          </p:spPr>
          <p:txBody>
            <a:bodyPr/>
            <a:lstStyle/>
            <a:p>
              <a:endParaRPr lang="en-US"/>
            </a:p>
          </p:txBody>
        </p:sp>
        <p:sp>
          <p:nvSpPr>
            <p:cNvPr id="52" name="TextBox 52"/>
            <p:cNvSpPr txBox="1"/>
            <p:nvPr/>
          </p:nvSpPr>
          <p:spPr>
            <a:xfrm>
              <a:off x="455305" y="10265151"/>
              <a:ext cx="773108" cy="186978"/>
            </a:xfrm>
            <a:prstGeom prst="rect">
              <a:avLst/>
            </a:prstGeom>
          </p:spPr>
          <p:txBody>
            <a:bodyPr lIns="0" tIns="0" rIns="0" bIns="0" rtlCol="0" anchor="t">
              <a:spAutoFit/>
            </a:bodyPr>
            <a:lstStyle/>
            <a:p>
              <a:pPr algn="ctr">
                <a:lnSpc>
                  <a:spcPts val="1020"/>
                </a:lnSpc>
                <a:spcBef>
                  <a:spcPct val="0"/>
                </a:spcBef>
              </a:pPr>
              <a:r>
                <a:rPr lang="en-US" sz="850" b="1">
                  <a:solidFill>
                    <a:srgbClr val="FFFFFF"/>
                  </a:solidFill>
                  <a:latin typeface="Calibri (MS) Bold"/>
                  <a:ea typeface="Calibri (MS) Bold"/>
                  <a:cs typeface="Calibri (MS) Bold"/>
                  <a:sym typeface="Calibri (MS) Bold"/>
                </a:rPr>
                <a:t>Home</a:t>
              </a:r>
            </a:p>
          </p:txBody>
        </p:sp>
        <p:sp>
          <p:nvSpPr>
            <p:cNvPr id="53" name="TextBox 53"/>
            <p:cNvSpPr txBox="1"/>
            <p:nvPr/>
          </p:nvSpPr>
          <p:spPr>
            <a:xfrm>
              <a:off x="1480643" y="10265151"/>
              <a:ext cx="773108" cy="186978"/>
            </a:xfrm>
            <a:prstGeom prst="rect">
              <a:avLst/>
            </a:prstGeom>
          </p:spPr>
          <p:txBody>
            <a:bodyPr lIns="0" tIns="0" rIns="0" bIns="0" rtlCol="0" anchor="t">
              <a:spAutoFit/>
            </a:bodyPr>
            <a:lstStyle/>
            <a:p>
              <a:pPr algn="ctr">
                <a:lnSpc>
                  <a:spcPts val="1020"/>
                </a:lnSpc>
                <a:spcBef>
                  <a:spcPct val="0"/>
                </a:spcBef>
              </a:pPr>
              <a:r>
                <a:rPr lang="en-US" sz="850" b="1">
                  <a:solidFill>
                    <a:srgbClr val="FFFFFF"/>
                  </a:solidFill>
                  <a:latin typeface="Calibri (MS) Bold"/>
                  <a:ea typeface="Calibri (MS) Bold"/>
                  <a:cs typeface="Calibri (MS) Bold"/>
                  <a:sym typeface="Calibri (MS) Bold"/>
                </a:rPr>
                <a:t>Chat</a:t>
              </a:r>
            </a:p>
          </p:txBody>
        </p:sp>
        <p:sp>
          <p:nvSpPr>
            <p:cNvPr id="54" name="TextBox 54"/>
            <p:cNvSpPr txBox="1"/>
            <p:nvPr/>
          </p:nvSpPr>
          <p:spPr>
            <a:xfrm>
              <a:off x="3376722" y="10265151"/>
              <a:ext cx="773108" cy="186978"/>
            </a:xfrm>
            <a:prstGeom prst="rect">
              <a:avLst/>
            </a:prstGeom>
          </p:spPr>
          <p:txBody>
            <a:bodyPr lIns="0" tIns="0" rIns="0" bIns="0" rtlCol="0" anchor="t">
              <a:spAutoFit/>
            </a:bodyPr>
            <a:lstStyle/>
            <a:p>
              <a:pPr algn="ctr">
                <a:lnSpc>
                  <a:spcPts val="1020"/>
                </a:lnSpc>
                <a:spcBef>
                  <a:spcPct val="0"/>
                </a:spcBef>
              </a:pPr>
              <a:r>
                <a:rPr lang="en-US" sz="850" b="1">
                  <a:solidFill>
                    <a:srgbClr val="FFFFFF"/>
                  </a:solidFill>
                  <a:latin typeface="Calibri (MS) Bold"/>
                  <a:ea typeface="Calibri (MS) Bold"/>
                  <a:cs typeface="Calibri (MS) Bold"/>
                  <a:sym typeface="Calibri (MS) Bold"/>
                </a:rPr>
                <a:t>Memories</a:t>
              </a:r>
            </a:p>
          </p:txBody>
        </p:sp>
        <p:sp>
          <p:nvSpPr>
            <p:cNvPr id="55" name="TextBox 55"/>
            <p:cNvSpPr txBox="1"/>
            <p:nvPr/>
          </p:nvSpPr>
          <p:spPr>
            <a:xfrm>
              <a:off x="4365730" y="10265151"/>
              <a:ext cx="773108" cy="186978"/>
            </a:xfrm>
            <a:prstGeom prst="rect">
              <a:avLst/>
            </a:prstGeom>
          </p:spPr>
          <p:txBody>
            <a:bodyPr lIns="0" tIns="0" rIns="0" bIns="0" rtlCol="0" anchor="t">
              <a:spAutoFit/>
            </a:bodyPr>
            <a:lstStyle/>
            <a:p>
              <a:pPr algn="ctr">
                <a:lnSpc>
                  <a:spcPts val="1020"/>
                </a:lnSpc>
                <a:spcBef>
                  <a:spcPct val="0"/>
                </a:spcBef>
              </a:pPr>
              <a:r>
                <a:rPr lang="en-US" sz="850" b="1">
                  <a:solidFill>
                    <a:srgbClr val="FFFFFF"/>
                  </a:solidFill>
                  <a:latin typeface="Calibri (MS) Bold"/>
                  <a:ea typeface="Calibri (MS) Bold"/>
                  <a:cs typeface="Calibri (MS) Bold"/>
                  <a:sym typeface="Calibri (MS) Bold"/>
                </a:rPr>
                <a:t>Profile</a:t>
              </a:r>
            </a:p>
          </p:txBody>
        </p:sp>
        <p:grpSp>
          <p:nvGrpSpPr>
            <p:cNvPr id="56" name="Group 56"/>
            <p:cNvGrpSpPr/>
            <p:nvPr/>
          </p:nvGrpSpPr>
          <p:grpSpPr>
            <a:xfrm>
              <a:off x="294373" y="2726255"/>
              <a:ext cx="1588850" cy="613535"/>
              <a:chOff x="0" y="0"/>
              <a:chExt cx="313847" cy="121192"/>
            </a:xfrm>
          </p:grpSpPr>
          <p:sp>
            <p:nvSpPr>
              <p:cNvPr id="57" name="Freeform 57"/>
              <p:cNvSpPr/>
              <p:nvPr/>
            </p:nvSpPr>
            <p:spPr>
              <a:xfrm>
                <a:off x="0" y="0"/>
                <a:ext cx="313847" cy="121192"/>
              </a:xfrm>
              <a:custGeom>
                <a:avLst/>
                <a:gdLst/>
                <a:ahLst/>
                <a:cxnLst/>
                <a:rect l="l" t="t" r="r" b="b"/>
                <a:pathLst>
                  <a:path w="313847" h="121192">
                    <a:moveTo>
                      <a:pt x="60596" y="0"/>
                    </a:moveTo>
                    <a:lnTo>
                      <a:pt x="253251" y="0"/>
                    </a:lnTo>
                    <a:cubicBezTo>
                      <a:pt x="286717" y="0"/>
                      <a:pt x="313847" y="27130"/>
                      <a:pt x="313847" y="60596"/>
                    </a:cubicBezTo>
                    <a:lnTo>
                      <a:pt x="313847" y="60596"/>
                    </a:lnTo>
                    <a:cubicBezTo>
                      <a:pt x="313847" y="76667"/>
                      <a:pt x="307463" y="92080"/>
                      <a:pt x="296099" y="103444"/>
                    </a:cubicBezTo>
                    <a:cubicBezTo>
                      <a:pt x="284735" y="114808"/>
                      <a:pt x="269322" y="121192"/>
                      <a:pt x="253251" y="121192"/>
                    </a:cubicBezTo>
                    <a:lnTo>
                      <a:pt x="60596" y="121192"/>
                    </a:lnTo>
                    <a:cubicBezTo>
                      <a:pt x="44525" y="121192"/>
                      <a:pt x="29112" y="114808"/>
                      <a:pt x="17748" y="103444"/>
                    </a:cubicBezTo>
                    <a:cubicBezTo>
                      <a:pt x="6384" y="92080"/>
                      <a:pt x="0" y="76667"/>
                      <a:pt x="0" y="60596"/>
                    </a:cubicBezTo>
                    <a:lnTo>
                      <a:pt x="0" y="60596"/>
                    </a:lnTo>
                    <a:cubicBezTo>
                      <a:pt x="0" y="44525"/>
                      <a:pt x="6384" y="29112"/>
                      <a:pt x="17748" y="17748"/>
                    </a:cubicBezTo>
                    <a:cubicBezTo>
                      <a:pt x="29112" y="6384"/>
                      <a:pt x="44525" y="0"/>
                      <a:pt x="60596" y="0"/>
                    </a:cubicBezTo>
                    <a:close/>
                  </a:path>
                </a:pathLst>
              </a:custGeom>
              <a:solidFill>
                <a:srgbClr val="363535"/>
              </a:solidFill>
            </p:spPr>
            <p:txBody>
              <a:bodyPr/>
              <a:lstStyle/>
              <a:p>
                <a:endParaRPr lang="en-US"/>
              </a:p>
            </p:txBody>
          </p:sp>
          <p:sp>
            <p:nvSpPr>
              <p:cNvPr id="58" name="TextBox 58"/>
              <p:cNvSpPr txBox="1"/>
              <p:nvPr/>
            </p:nvSpPr>
            <p:spPr>
              <a:xfrm>
                <a:off x="0" y="-47625"/>
                <a:ext cx="313847" cy="168817"/>
              </a:xfrm>
              <a:prstGeom prst="rect">
                <a:avLst/>
              </a:prstGeom>
            </p:spPr>
            <p:txBody>
              <a:bodyPr lIns="50800" tIns="50800" rIns="50800" bIns="50800" rtlCol="0" anchor="ctr"/>
              <a:lstStyle/>
              <a:p>
                <a:pPr algn="ctr">
                  <a:lnSpc>
                    <a:spcPts val="2340"/>
                  </a:lnSpc>
                </a:pPr>
                <a:endParaRPr/>
              </a:p>
            </p:txBody>
          </p:sp>
        </p:grpSp>
        <p:grpSp>
          <p:nvGrpSpPr>
            <p:cNvPr id="59" name="Group 59"/>
            <p:cNvGrpSpPr/>
            <p:nvPr/>
          </p:nvGrpSpPr>
          <p:grpSpPr>
            <a:xfrm>
              <a:off x="624801" y="2718723"/>
              <a:ext cx="1023926" cy="628600"/>
              <a:chOff x="0" y="0"/>
              <a:chExt cx="1559557" cy="957431"/>
            </a:xfrm>
          </p:grpSpPr>
          <p:sp>
            <p:nvSpPr>
              <p:cNvPr id="60" name="Freeform 60"/>
              <p:cNvSpPr/>
              <p:nvPr/>
            </p:nvSpPr>
            <p:spPr>
              <a:xfrm>
                <a:off x="0" y="0"/>
                <a:ext cx="1559557" cy="957431"/>
              </a:xfrm>
              <a:custGeom>
                <a:avLst/>
                <a:gdLst/>
                <a:ahLst/>
                <a:cxnLst/>
                <a:rect l="l" t="t" r="r" b="b"/>
                <a:pathLst>
                  <a:path w="1559557" h="957431">
                    <a:moveTo>
                      <a:pt x="0" y="0"/>
                    </a:moveTo>
                    <a:lnTo>
                      <a:pt x="1559557" y="0"/>
                    </a:lnTo>
                    <a:lnTo>
                      <a:pt x="1559557" y="957431"/>
                    </a:lnTo>
                    <a:lnTo>
                      <a:pt x="0" y="957431"/>
                    </a:lnTo>
                    <a:close/>
                  </a:path>
                </a:pathLst>
              </a:custGeom>
              <a:blipFill>
                <a:blip r:embed="rId3">
                  <a:alphaModFix amt="0"/>
                </a:blip>
                <a:stretch>
                  <a:fillRect t="-300064" r="-1131272" b="-381525"/>
                </a:stretch>
              </a:blipFill>
            </p:spPr>
            <p:txBody>
              <a:bodyPr/>
              <a:lstStyle/>
              <a:p>
                <a:endParaRPr lang="en-US"/>
              </a:p>
            </p:txBody>
          </p:sp>
          <p:sp>
            <p:nvSpPr>
              <p:cNvPr id="61" name="TextBox 61"/>
              <p:cNvSpPr txBox="1"/>
              <p:nvPr/>
            </p:nvSpPr>
            <p:spPr>
              <a:xfrm>
                <a:off x="0" y="0"/>
                <a:ext cx="1559557" cy="957431"/>
              </a:xfrm>
              <a:prstGeom prst="rect">
                <a:avLst/>
              </a:prstGeom>
            </p:spPr>
            <p:txBody>
              <a:bodyPr lIns="0" tIns="0" rIns="0" bIns="0" rtlCol="0" anchor="ctr"/>
              <a:lstStyle/>
              <a:p>
                <a:pPr algn="ctr">
                  <a:lnSpc>
                    <a:spcPts val="1280"/>
                  </a:lnSpc>
                </a:pPr>
                <a:r>
                  <a:rPr lang="en-US" sz="1200" b="1">
                    <a:solidFill>
                      <a:srgbClr val="FFFFFF"/>
                    </a:solidFill>
                    <a:latin typeface="Arial Bold"/>
                    <a:ea typeface="Arial Bold"/>
                    <a:cs typeface="Arial Bold"/>
                    <a:sym typeface="Arial Bold"/>
                  </a:rPr>
                  <a:t>Today</a:t>
                </a:r>
              </a:p>
            </p:txBody>
          </p:sp>
        </p:grpSp>
        <p:grpSp>
          <p:nvGrpSpPr>
            <p:cNvPr id="62" name="Group 62"/>
            <p:cNvGrpSpPr/>
            <p:nvPr/>
          </p:nvGrpSpPr>
          <p:grpSpPr>
            <a:xfrm>
              <a:off x="2034182" y="2718723"/>
              <a:ext cx="1588850" cy="613535"/>
              <a:chOff x="0" y="0"/>
              <a:chExt cx="313847" cy="121192"/>
            </a:xfrm>
          </p:grpSpPr>
          <p:sp>
            <p:nvSpPr>
              <p:cNvPr id="63" name="Freeform 63"/>
              <p:cNvSpPr/>
              <p:nvPr/>
            </p:nvSpPr>
            <p:spPr>
              <a:xfrm>
                <a:off x="0" y="0"/>
                <a:ext cx="313847" cy="121192"/>
              </a:xfrm>
              <a:custGeom>
                <a:avLst/>
                <a:gdLst/>
                <a:ahLst/>
                <a:cxnLst/>
                <a:rect l="l" t="t" r="r" b="b"/>
                <a:pathLst>
                  <a:path w="313847" h="121192">
                    <a:moveTo>
                      <a:pt x="60596" y="0"/>
                    </a:moveTo>
                    <a:lnTo>
                      <a:pt x="253251" y="0"/>
                    </a:lnTo>
                    <a:cubicBezTo>
                      <a:pt x="286717" y="0"/>
                      <a:pt x="313847" y="27130"/>
                      <a:pt x="313847" y="60596"/>
                    </a:cubicBezTo>
                    <a:lnTo>
                      <a:pt x="313847" y="60596"/>
                    </a:lnTo>
                    <a:cubicBezTo>
                      <a:pt x="313847" y="76667"/>
                      <a:pt x="307463" y="92080"/>
                      <a:pt x="296099" y="103444"/>
                    </a:cubicBezTo>
                    <a:cubicBezTo>
                      <a:pt x="284735" y="114808"/>
                      <a:pt x="269322" y="121192"/>
                      <a:pt x="253251" y="121192"/>
                    </a:cubicBezTo>
                    <a:lnTo>
                      <a:pt x="60596" y="121192"/>
                    </a:lnTo>
                    <a:cubicBezTo>
                      <a:pt x="44525" y="121192"/>
                      <a:pt x="29112" y="114808"/>
                      <a:pt x="17748" y="103444"/>
                    </a:cubicBezTo>
                    <a:cubicBezTo>
                      <a:pt x="6384" y="92080"/>
                      <a:pt x="0" y="76667"/>
                      <a:pt x="0" y="60596"/>
                    </a:cubicBezTo>
                    <a:lnTo>
                      <a:pt x="0" y="60596"/>
                    </a:lnTo>
                    <a:cubicBezTo>
                      <a:pt x="0" y="44525"/>
                      <a:pt x="6384" y="29112"/>
                      <a:pt x="17748" y="17748"/>
                    </a:cubicBezTo>
                    <a:cubicBezTo>
                      <a:pt x="29112" y="6384"/>
                      <a:pt x="44525" y="0"/>
                      <a:pt x="60596" y="0"/>
                    </a:cubicBezTo>
                    <a:close/>
                  </a:path>
                </a:pathLst>
              </a:custGeom>
              <a:solidFill>
                <a:srgbClr val="363535"/>
              </a:solidFill>
            </p:spPr>
            <p:txBody>
              <a:bodyPr/>
              <a:lstStyle/>
              <a:p>
                <a:endParaRPr lang="en-US"/>
              </a:p>
            </p:txBody>
          </p:sp>
          <p:sp>
            <p:nvSpPr>
              <p:cNvPr id="64" name="TextBox 64"/>
              <p:cNvSpPr txBox="1"/>
              <p:nvPr/>
            </p:nvSpPr>
            <p:spPr>
              <a:xfrm>
                <a:off x="0" y="-47625"/>
                <a:ext cx="313847" cy="168817"/>
              </a:xfrm>
              <a:prstGeom prst="rect">
                <a:avLst/>
              </a:prstGeom>
            </p:spPr>
            <p:txBody>
              <a:bodyPr lIns="50800" tIns="50800" rIns="50800" bIns="50800" rtlCol="0" anchor="ctr"/>
              <a:lstStyle/>
              <a:p>
                <a:pPr algn="ctr">
                  <a:lnSpc>
                    <a:spcPts val="2340"/>
                  </a:lnSpc>
                </a:pPr>
                <a:endParaRPr/>
              </a:p>
            </p:txBody>
          </p:sp>
        </p:grpSp>
        <p:grpSp>
          <p:nvGrpSpPr>
            <p:cNvPr id="65" name="Group 65"/>
            <p:cNvGrpSpPr/>
            <p:nvPr/>
          </p:nvGrpSpPr>
          <p:grpSpPr>
            <a:xfrm>
              <a:off x="2365823" y="2718723"/>
              <a:ext cx="930342" cy="628600"/>
              <a:chOff x="0" y="0"/>
              <a:chExt cx="1417019" cy="957431"/>
            </a:xfrm>
          </p:grpSpPr>
          <p:sp>
            <p:nvSpPr>
              <p:cNvPr id="66" name="Freeform 66"/>
              <p:cNvSpPr/>
              <p:nvPr/>
            </p:nvSpPr>
            <p:spPr>
              <a:xfrm>
                <a:off x="0" y="0"/>
                <a:ext cx="1417019" cy="957431"/>
              </a:xfrm>
              <a:custGeom>
                <a:avLst/>
                <a:gdLst/>
                <a:ahLst/>
                <a:cxnLst/>
                <a:rect l="l" t="t" r="r" b="b"/>
                <a:pathLst>
                  <a:path w="1417019" h="957431">
                    <a:moveTo>
                      <a:pt x="0" y="0"/>
                    </a:moveTo>
                    <a:lnTo>
                      <a:pt x="1417019" y="0"/>
                    </a:lnTo>
                    <a:lnTo>
                      <a:pt x="1417019" y="957431"/>
                    </a:lnTo>
                    <a:lnTo>
                      <a:pt x="0" y="957431"/>
                    </a:lnTo>
                    <a:close/>
                  </a:path>
                </a:pathLst>
              </a:custGeom>
              <a:blipFill>
                <a:blip r:embed="rId3">
                  <a:alphaModFix amt="0"/>
                </a:blip>
                <a:stretch>
                  <a:fillRect t="-300064" r="-1255126" b="-381525"/>
                </a:stretch>
              </a:blipFill>
            </p:spPr>
            <p:txBody>
              <a:bodyPr/>
              <a:lstStyle/>
              <a:p>
                <a:endParaRPr lang="en-US"/>
              </a:p>
            </p:txBody>
          </p:sp>
          <p:sp>
            <p:nvSpPr>
              <p:cNvPr id="67" name="TextBox 67"/>
              <p:cNvSpPr txBox="1"/>
              <p:nvPr/>
            </p:nvSpPr>
            <p:spPr>
              <a:xfrm>
                <a:off x="0" y="0"/>
                <a:ext cx="1417019" cy="957431"/>
              </a:xfrm>
              <a:prstGeom prst="rect">
                <a:avLst/>
              </a:prstGeom>
            </p:spPr>
            <p:txBody>
              <a:bodyPr lIns="0" tIns="0" rIns="0" bIns="0" rtlCol="0" anchor="ctr"/>
              <a:lstStyle/>
              <a:p>
                <a:pPr algn="ctr">
                  <a:lnSpc>
                    <a:spcPts val="1280"/>
                  </a:lnSpc>
                </a:pPr>
                <a:r>
                  <a:rPr lang="en-US" sz="1200" b="1">
                    <a:solidFill>
                      <a:srgbClr val="FFFFFF"/>
                    </a:solidFill>
                    <a:latin typeface="Arial Bold"/>
                    <a:ea typeface="Arial Bold"/>
                    <a:cs typeface="Arial Bold"/>
                    <a:sym typeface="Arial Bold"/>
                  </a:rPr>
                  <a:t>Board</a:t>
                </a:r>
              </a:p>
            </p:txBody>
          </p:sp>
        </p:grpSp>
        <p:grpSp>
          <p:nvGrpSpPr>
            <p:cNvPr id="68" name="Group 68"/>
            <p:cNvGrpSpPr/>
            <p:nvPr/>
          </p:nvGrpSpPr>
          <p:grpSpPr>
            <a:xfrm>
              <a:off x="3773990" y="2711190"/>
              <a:ext cx="1588850" cy="613535"/>
              <a:chOff x="0" y="0"/>
              <a:chExt cx="313847" cy="121192"/>
            </a:xfrm>
          </p:grpSpPr>
          <p:sp>
            <p:nvSpPr>
              <p:cNvPr id="69" name="Freeform 69"/>
              <p:cNvSpPr/>
              <p:nvPr/>
            </p:nvSpPr>
            <p:spPr>
              <a:xfrm>
                <a:off x="0" y="0"/>
                <a:ext cx="313847" cy="121192"/>
              </a:xfrm>
              <a:custGeom>
                <a:avLst/>
                <a:gdLst/>
                <a:ahLst/>
                <a:cxnLst/>
                <a:rect l="l" t="t" r="r" b="b"/>
                <a:pathLst>
                  <a:path w="313847" h="121192">
                    <a:moveTo>
                      <a:pt x="60596" y="0"/>
                    </a:moveTo>
                    <a:lnTo>
                      <a:pt x="253251" y="0"/>
                    </a:lnTo>
                    <a:cubicBezTo>
                      <a:pt x="286717" y="0"/>
                      <a:pt x="313847" y="27130"/>
                      <a:pt x="313847" y="60596"/>
                    </a:cubicBezTo>
                    <a:lnTo>
                      <a:pt x="313847" y="60596"/>
                    </a:lnTo>
                    <a:cubicBezTo>
                      <a:pt x="313847" y="76667"/>
                      <a:pt x="307463" y="92080"/>
                      <a:pt x="296099" y="103444"/>
                    </a:cubicBezTo>
                    <a:cubicBezTo>
                      <a:pt x="284735" y="114808"/>
                      <a:pt x="269322" y="121192"/>
                      <a:pt x="253251" y="121192"/>
                    </a:cubicBezTo>
                    <a:lnTo>
                      <a:pt x="60596" y="121192"/>
                    </a:lnTo>
                    <a:cubicBezTo>
                      <a:pt x="44525" y="121192"/>
                      <a:pt x="29112" y="114808"/>
                      <a:pt x="17748" y="103444"/>
                    </a:cubicBezTo>
                    <a:cubicBezTo>
                      <a:pt x="6384" y="92080"/>
                      <a:pt x="0" y="76667"/>
                      <a:pt x="0" y="60596"/>
                    </a:cubicBezTo>
                    <a:lnTo>
                      <a:pt x="0" y="60596"/>
                    </a:lnTo>
                    <a:cubicBezTo>
                      <a:pt x="0" y="44525"/>
                      <a:pt x="6384" y="29112"/>
                      <a:pt x="17748" y="17748"/>
                    </a:cubicBezTo>
                    <a:cubicBezTo>
                      <a:pt x="29112" y="6384"/>
                      <a:pt x="44525" y="0"/>
                      <a:pt x="60596" y="0"/>
                    </a:cubicBezTo>
                    <a:close/>
                  </a:path>
                </a:pathLst>
              </a:custGeom>
              <a:solidFill>
                <a:srgbClr val="363535"/>
              </a:solidFill>
            </p:spPr>
            <p:txBody>
              <a:bodyPr/>
              <a:lstStyle/>
              <a:p>
                <a:endParaRPr lang="en-US"/>
              </a:p>
            </p:txBody>
          </p:sp>
          <p:sp>
            <p:nvSpPr>
              <p:cNvPr id="70" name="TextBox 70"/>
              <p:cNvSpPr txBox="1"/>
              <p:nvPr/>
            </p:nvSpPr>
            <p:spPr>
              <a:xfrm>
                <a:off x="0" y="-47625"/>
                <a:ext cx="313847" cy="168817"/>
              </a:xfrm>
              <a:prstGeom prst="rect">
                <a:avLst/>
              </a:prstGeom>
            </p:spPr>
            <p:txBody>
              <a:bodyPr lIns="50800" tIns="50800" rIns="50800" bIns="50800" rtlCol="0" anchor="ctr"/>
              <a:lstStyle/>
              <a:p>
                <a:pPr algn="ctr">
                  <a:lnSpc>
                    <a:spcPts val="2340"/>
                  </a:lnSpc>
                </a:pPr>
                <a:endParaRPr/>
              </a:p>
            </p:txBody>
          </p:sp>
        </p:grpSp>
        <p:grpSp>
          <p:nvGrpSpPr>
            <p:cNvPr id="71" name="Group 71"/>
            <p:cNvGrpSpPr/>
            <p:nvPr/>
          </p:nvGrpSpPr>
          <p:grpSpPr>
            <a:xfrm>
              <a:off x="4105632" y="2726255"/>
              <a:ext cx="928093" cy="628600"/>
              <a:chOff x="0" y="0"/>
              <a:chExt cx="1413593" cy="957431"/>
            </a:xfrm>
          </p:grpSpPr>
          <p:sp>
            <p:nvSpPr>
              <p:cNvPr id="72" name="Freeform 72"/>
              <p:cNvSpPr/>
              <p:nvPr/>
            </p:nvSpPr>
            <p:spPr>
              <a:xfrm>
                <a:off x="0" y="0"/>
                <a:ext cx="1413593" cy="957431"/>
              </a:xfrm>
              <a:custGeom>
                <a:avLst/>
                <a:gdLst/>
                <a:ahLst/>
                <a:cxnLst/>
                <a:rect l="l" t="t" r="r" b="b"/>
                <a:pathLst>
                  <a:path w="1413593" h="957431">
                    <a:moveTo>
                      <a:pt x="0" y="0"/>
                    </a:moveTo>
                    <a:lnTo>
                      <a:pt x="1413593" y="0"/>
                    </a:lnTo>
                    <a:lnTo>
                      <a:pt x="1413593" y="957431"/>
                    </a:lnTo>
                    <a:lnTo>
                      <a:pt x="0" y="957431"/>
                    </a:lnTo>
                    <a:close/>
                  </a:path>
                </a:pathLst>
              </a:custGeom>
              <a:blipFill>
                <a:blip r:embed="rId3">
                  <a:alphaModFix amt="0"/>
                </a:blip>
                <a:stretch>
                  <a:fillRect t="-300064" r="-1258411" b="-381525"/>
                </a:stretch>
              </a:blipFill>
            </p:spPr>
            <p:txBody>
              <a:bodyPr/>
              <a:lstStyle/>
              <a:p>
                <a:endParaRPr lang="en-US"/>
              </a:p>
            </p:txBody>
          </p:sp>
          <p:sp>
            <p:nvSpPr>
              <p:cNvPr id="73" name="TextBox 73"/>
              <p:cNvSpPr txBox="1"/>
              <p:nvPr/>
            </p:nvSpPr>
            <p:spPr>
              <a:xfrm>
                <a:off x="0" y="0"/>
                <a:ext cx="1413593" cy="957431"/>
              </a:xfrm>
              <a:prstGeom prst="rect">
                <a:avLst/>
              </a:prstGeom>
            </p:spPr>
            <p:txBody>
              <a:bodyPr lIns="0" tIns="0" rIns="0" bIns="0" rtlCol="0" anchor="ctr"/>
              <a:lstStyle/>
              <a:p>
                <a:pPr algn="ctr">
                  <a:lnSpc>
                    <a:spcPts val="1280"/>
                  </a:lnSpc>
                </a:pPr>
                <a:r>
                  <a:rPr lang="en-US" sz="1200" b="1">
                    <a:solidFill>
                      <a:srgbClr val="FFFFFF"/>
                    </a:solidFill>
                    <a:latin typeface="Arial Bold"/>
                    <a:ea typeface="Arial Bold"/>
                    <a:cs typeface="Arial Bold"/>
                    <a:sym typeface="Arial Bold"/>
                  </a:rPr>
                  <a:t>Passport</a:t>
                </a:r>
              </a:p>
            </p:txBody>
          </p:sp>
        </p:grpSp>
        <p:sp>
          <p:nvSpPr>
            <p:cNvPr id="74" name="Freeform 74"/>
            <p:cNvSpPr/>
            <p:nvPr/>
          </p:nvSpPr>
          <p:spPr>
            <a:xfrm>
              <a:off x="3508459" y="9745860"/>
              <a:ext cx="492360" cy="492360"/>
            </a:xfrm>
            <a:custGeom>
              <a:avLst/>
              <a:gdLst/>
              <a:ahLst/>
              <a:cxnLst/>
              <a:rect l="l" t="t" r="r" b="b"/>
              <a:pathLst>
                <a:path w="492360" h="492360">
                  <a:moveTo>
                    <a:pt x="0" y="0"/>
                  </a:moveTo>
                  <a:lnTo>
                    <a:pt x="492360" y="0"/>
                  </a:lnTo>
                  <a:lnTo>
                    <a:pt x="492360" y="492360"/>
                  </a:lnTo>
                  <a:lnTo>
                    <a:pt x="0" y="492360"/>
                  </a:lnTo>
                  <a:lnTo>
                    <a:pt x="0" y="0"/>
                  </a:lnTo>
                  <a:close/>
                </a:path>
              </a:pathLst>
            </a:custGeom>
            <a:blipFill>
              <a:blip>
                <a:extLst>
                  <a:ext uri="{96DAC541-7B7A-43D3-8B79-37D633B846F1}">
                    <asvg:svgBlip xmlns:asvg="http://schemas.microsoft.com/office/drawing/2016/SVG/main" r:embed="rId12"/>
                  </a:ext>
                </a:extLst>
              </a:blip>
              <a:stretch>
                <a:fillRect/>
              </a:stretch>
            </a:blipFill>
          </p:spPr>
          <p:txBody>
            <a:bodyPr/>
            <a:lstStyle/>
            <a:p>
              <a:endParaRPr lang="en-US"/>
            </a:p>
          </p:txBody>
        </p:sp>
        <p:sp>
          <p:nvSpPr>
            <p:cNvPr id="75" name="Freeform 75"/>
            <p:cNvSpPr/>
            <p:nvPr/>
          </p:nvSpPr>
          <p:spPr>
            <a:xfrm>
              <a:off x="3597130" y="9833739"/>
              <a:ext cx="315018" cy="316601"/>
            </a:xfrm>
            <a:custGeom>
              <a:avLst/>
              <a:gdLst/>
              <a:ahLst/>
              <a:cxnLst/>
              <a:rect l="l" t="t" r="r" b="b"/>
              <a:pathLst>
                <a:path w="315018" h="316601">
                  <a:moveTo>
                    <a:pt x="0" y="0"/>
                  </a:moveTo>
                  <a:lnTo>
                    <a:pt x="315018" y="0"/>
                  </a:lnTo>
                  <a:lnTo>
                    <a:pt x="315018" y="316601"/>
                  </a:lnTo>
                  <a:lnTo>
                    <a:pt x="0" y="316601"/>
                  </a:lnTo>
                  <a:lnTo>
                    <a:pt x="0" y="0"/>
                  </a:lnTo>
                  <a:close/>
                </a:path>
              </a:pathLst>
            </a:custGeom>
            <a:blipFill>
              <a:blip>
                <a:extLst>
                  <a:ext uri="{96DAC541-7B7A-43D3-8B79-37D633B846F1}">
                    <asvg:svgBlip xmlns:asvg="http://schemas.microsoft.com/office/drawing/2016/SVG/main" r:embed="rId13"/>
                  </a:ext>
                </a:extLst>
              </a:blip>
              <a:stretch>
                <a:fillRect/>
              </a:stretch>
            </a:blipFill>
          </p:spPr>
          <p:txBody>
            <a:bodyPr/>
            <a:lstStyle/>
            <a:p>
              <a:endParaRPr lang="en-US"/>
            </a:p>
          </p:txBody>
        </p:sp>
        <p:sp>
          <p:nvSpPr>
            <p:cNvPr id="76" name="Freeform 76"/>
            <p:cNvSpPr/>
            <p:nvPr/>
          </p:nvSpPr>
          <p:spPr>
            <a:xfrm>
              <a:off x="489389" y="3702221"/>
              <a:ext cx="470051" cy="326685"/>
            </a:xfrm>
            <a:custGeom>
              <a:avLst/>
              <a:gdLst/>
              <a:ahLst/>
              <a:cxnLst/>
              <a:rect l="l" t="t" r="r" b="b"/>
              <a:pathLst>
                <a:path w="470051" h="326685">
                  <a:moveTo>
                    <a:pt x="0" y="0"/>
                  </a:moveTo>
                  <a:lnTo>
                    <a:pt x="470051" y="0"/>
                  </a:lnTo>
                  <a:lnTo>
                    <a:pt x="470051" y="326685"/>
                  </a:lnTo>
                  <a:lnTo>
                    <a:pt x="0" y="326685"/>
                  </a:lnTo>
                  <a:lnTo>
                    <a:pt x="0" y="0"/>
                  </a:lnTo>
                  <a:close/>
                </a:path>
              </a:pathLst>
            </a:custGeom>
            <a:blipFill>
              <a:blip>
                <a:extLst>
                  <a:ext uri="{96DAC541-7B7A-43D3-8B79-37D633B846F1}">
                    <asvg:svgBlip xmlns:asvg="http://schemas.microsoft.com/office/drawing/2016/SVG/main" r:embed="rId14"/>
                  </a:ext>
                </a:extLst>
              </a:blip>
              <a:stretch>
                <a:fillRect/>
              </a:stretch>
            </a:blipFill>
          </p:spPr>
          <p:txBody>
            <a:bodyPr/>
            <a:lstStyle/>
            <a:p>
              <a:endParaRPr lang="en-US"/>
            </a:p>
          </p:txBody>
        </p:sp>
        <p:sp>
          <p:nvSpPr>
            <p:cNvPr id="77" name="Freeform 77"/>
            <p:cNvSpPr/>
            <p:nvPr/>
          </p:nvSpPr>
          <p:spPr>
            <a:xfrm>
              <a:off x="4583494" y="3789517"/>
              <a:ext cx="380233" cy="76047"/>
            </a:xfrm>
            <a:custGeom>
              <a:avLst/>
              <a:gdLst/>
              <a:ahLst/>
              <a:cxnLst/>
              <a:rect l="l" t="t" r="r" b="b"/>
              <a:pathLst>
                <a:path w="380233" h="76047">
                  <a:moveTo>
                    <a:pt x="0" y="0"/>
                  </a:moveTo>
                  <a:lnTo>
                    <a:pt x="380233" y="0"/>
                  </a:lnTo>
                  <a:lnTo>
                    <a:pt x="380233" y="76046"/>
                  </a:lnTo>
                  <a:lnTo>
                    <a:pt x="0" y="76046"/>
                  </a:lnTo>
                  <a:lnTo>
                    <a:pt x="0" y="0"/>
                  </a:lnTo>
                  <a:close/>
                </a:path>
              </a:pathLst>
            </a:custGeom>
            <a:blipFill>
              <a:blip>
                <a:extLst>
                  <a:ext uri="{96DAC541-7B7A-43D3-8B79-37D633B846F1}">
                    <asvg:svgBlip xmlns:asvg="http://schemas.microsoft.com/office/drawing/2016/SVG/main" r:embed="rId15"/>
                  </a:ext>
                </a:extLst>
              </a:blip>
              <a:stretch>
                <a:fillRect/>
              </a:stretch>
            </a:blipFill>
          </p:spPr>
          <p:txBody>
            <a:bodyPr/>
            <a:lstStyle/>
            <a:p>
              <a:endParaRPr lang="en-US"/>
            </a:p>
          </p:txBody>
        </p:sp>
        <p:sp>
          <p:nvSpPr>
            <p:cNvPr id="78" name="Freeform 78"/>
            <p:cNvSpPr/>
            <p:nvPr/>
          </p:nvSpPr>
          <p:spPr>
            <a:xfrm>
              <a:off x="2241906" y="8393436"/>
              <a:ext cx="184062" cy="194774"/>
            </a:xfrm>
            <a:custGeom>
              <a:avLst/>
              <a:gdLst/>
              <a:ahLst/>
              <a:cxnLst/>
              <a:rect l="l" t="t" r="r" b="b"/>
              <a:pathLst>
                <a:path w="184062" h="194774">
                  <a:moveTo>
                    <a:pt x="0" y="0"/>
                  </a:moveTo>
                  <a:lnTo>
                    <a:pt x="184062" y="0"/>
                  </a:lnTo>
                  <a:lnTo>
                    <a:pt x="184062" y="194775"/>
                  </a:lnTo>
                  <a:lnTo>
                    <a:pt x="0" y="194775"/>
                  </a:lnTo>
                  <a:lnTo>
                    <a:pt x="0" y="0"/>
                  </a:lnTo>
                  <a:close/>
                </a:path>
              </a:pathLst>
            </a:custGeom>
            <a:blipFill>
              <a:blip>
                <a:extLst>
                  <a:ext uri="{96DAC541-7B7A-43D3-8B79-37D633B846F1}">
                    <asvg:svgBlip xmlns:asvg="http://schemas.microsoft.com/office/drawing/2016/SVG/main" r:embed="rId16"/>
                  </a:ext>
                </a:extLst>
              </a:blip>
              <a:stretch>
                <a:fillRect/>
              </a:stretch>
            </a:blipFill>
          </p:spPr>
          <p:txBody>
            <a:bodyPr/>
            <a:lstStyle/>
            <a:p>
              <a:endParaRPr lang="en-US"/>
            </a:p>
          </p:txBody>
        </p:sp>
        <p:grpSp>
          <p:nvGrpSpPr>
            <p:cNvPr id="79" name="Group 79"/>
            <p:cNvGrpSpPr/>
            <p:nvPr/>
          </p:nvGrpSpPr>
          <p:grpSpPr>
            <a:xfrm>
              <a:off x="2425195" y="8340515"/>
              <a:ext cx="312168" cy="312168"/>
              <a:chOff x="0" y="0"/>
              <a:chExt cx="812800" cy="812800"/>
            </a:xfrm>
          </p:grpSpPr>
          <p:sp>
            <p:nvSpPr>
              <p:cNvPr id="80" name="Freeform 80"/>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a:blip r:embed="rId17"/>
                <a:stretch>
                  <a:fillRect l="-96038" t="-77557" r="-95130" b="-40819"/>
                </a:stretch>
              </a:blipFill>
              <a:ln w="9525" cap="sq">
                <a:solidFill>
                  <a:srgbClr val="000000"/>
                </a:solidFill>
                <a:prstDash val="solid"/>
                <a:miter/>
              </a:ln>
            </p:spPr>
            <p:txBody>
              <a:bodyPr/>
              <a:lstStyle/>
              <a:p>
                <a:endParaRPr lang="en-US"/>
              </a:p>
            </p:txBody>
          </p:sp>
        </p:grpSp>
        <p:grpSp>
          <p:nvGrpSpPr>
            <p:cNvPr id="81" name="Group 81"/>
            <p:cNvGrpSpPr/>
            <p:nvPr/>
          </p:nvGrpSpPr>
          <p:grpSpPr>
            <a:xfrm>
              <a:off x="2581279" y="8345948"/>
              <a:ext cx="292671" cy="306735"/>
              <a:chOff x="0" y="0"/>
              <a:chExt cx="775533" cy="812800"/>
            </a:xfrm>
          </p:grpSpPr>
          <p:sp>
            <p:nvSpPr>
              <p:cNvPr id="82" name="Freeform 82"/>
              <p:cNvSpPr/>
              <p:nvPr/>
            </p:nvSpPr>
            <p:spPr>
              <a:xfrm>
                <a:off x="0" y="0"/>
                <a:ext cx="775533" cy="812800"/>
              </a:xfrm>
              <a:custGeom>
                <a:avLst/>
                <a:gdLst/>
                <a:ahLst/>
                <a:cxnLst/>
                <a:rect l="l" t="t" r="r" b="b"/>
                <a:pathLst>
                  <a:path w="775533" h="812800">
                    <a:moveTo>
                      <a:pt x="387766" y="0"/>
                    </a:moveTo>
                    <a:cubicBezTo>
                      <a:pt x="173609" y="0"/>
                      <a:pt x="0" y="181951"/>
                      <a:pt x="0" y="406400"/>
                    </a:cubicBezTo>
                    <a:cubicBezTo>
                      <a:pt x="0" y="630849"/>
                      <a:pt x="173609" y="812800"/>
                      <a:pt x="387766" y="812800"/>
                    </a:cubicBezTo>
                    <a:cubicBezTo>
                      <a:pt x="601924" y="812800"/>
                      <a:pt x="775533" y="630849"/>
                      <a:pt x="775533" y="406400"/>
                    </a:cubicBezTo>
                    <a:cubicBezTo>
                      <a:pt x="775533" y="181951"/>
                      <a:pt x="601924" y="0"/>
                      <a:pt x="387766" y="0"/>
                    </a:cubicBezTo>
                    <a:close/>
                  </a:path>
                </a:pathLst>
              </a:custGeom>
              <a:blipFill>
                <a:blip r:embed="rId18"/>
                <a:stretch>
                  <a:fillRect t="-34438" b="-34438"/>
                </a:stretch>
              </a:blipFill>
              <a:ln w="9525" cap="sq">
                <a:solidFill>
                  <a:srgbClr val="000000"/>
                </a:solidFill>
                <a:prstDash val="solid"/>
                <a:miter/>
              </a:ln>
            </p:spPr>
            <p:txBody>
              <a:bodyPr/>
              <a:lstStyle/>
              <a:p>
                <a:endParaRPr lang="en-US"/>
              </a:p>
            </p:txBody>
          </p:sp>
        </p:grpSp>
        <p:grpSp>
          <p:nvGrpSpPr>
            <p:cNvPr id="83" name="Group 83"/>
            <p:cNvGrpSpPr/>
            <p:nvPr/>
          </p:nvGrpSpPr>
          <p:grpSpPr>
            <a:xfrm>
              <a:off x="2727615" y="8345948"/>
              <a:ext cx="312168" cy="312168"/>
              <a:chOff x="0" y="0"/>
              <a:chExt cx="812800" cy="812800"/>
            </a:xfrm>
          </p:grpSpPr>
          <p:sp>
            <p:nvSpPr>
              <p:cNvPr id="84" name="Freeform 84"/>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a:blip r:embed="rId19"/>
                <a:stretch>
                  <a:fillRect t="-16666" b="-16666"/>
                </a:stretch>
              </a:blipFill>
              <a:ln w="9525" cap="sq">
                <a:solidFill>
                  <a:srgbClr val="000000"/>
                </a:solidFill>
                <a:prstDash val="solid"/>
                <a:miter/>
              </a:ln>
            </p:spPr>
            <p:txBody>
              <a:bodyPr/>
              <a:lstStyle/>
              <a:p>
                <a:endParaRPr lang="en-US"/>
              </a:p>
            </p:txBody>
          </p:sp>
        </p:grpSp>
        <p:grpSp>
          <p:nvGrpSpPr>
            <p:cNvPr id="85" name="Group 85"/>
            <p:cNvGrpSpPr/>
            <p:nvPr/>
          </p:nvGrpSpPr>
          <p:grpSpPr>
            <a:xfrm>
              <a:off x="2123861" y="8865954"/>
              <a:ext cx="1328714" cy="172231"/>
              <a:chOff x="0" y="0"/>
              <a:chExt cx="7987703" cy="1035384"/>
            </a:xfrm>
          </p:grpSpPr>
          <p:sp>
            <p:nvSpPr>
              <p:cNvPr id="86" name="Freeform 86"/>
              <p:cNvSpPr/>
              <p:nvPr/>
            </p:nvSpPr>
            <p:spPr>
              <a:xfrm>
                <a:off x="0" y="0"/>
                <a:ext cx="7987703" cy="1035384"/>
              </a:xfrm>
              <a:custGeom>
                <a:avLst/>
                <a:gdLst/>
                <a:ahLst/>
                <a:cxnLst/>
                <a:rect l="l" t="t" r="r" b="b"/>
                <a:pathLst>
                  <a:path w="7987703" h="1035384">
                    <a:moveTo>
                      <a:pt x="0" y="0"/>
                    </a:moveTo>
                    <a:lnTo>
                      <a:pt x="7987703" y="0"/>
                    </a:lnTo>
                    <a:lnTo>
                      <a:pt x="7987703" y="1035384"/>
                    </a:lnTo>
                    <a:lnTo>
                      <a:pt x="0" y="1035384"/>
                    </a:lnTo>
                    <a:close/>
                  </a:path>
                </a:pathLst>
              </a:custGeom>
              <a:blipFill>
                <a:blip r:embed="rId3">
                  <a:alphaModFix amt="0"/>
                </a:blip>
                <a:stretch>
                  <a:fillRect t="-244421" r="-83161" b="-206241"/>
                </a:stretch>
              </a:blipFill>
            </p:spPr>
            <p:txBody>
              <a:bodyPr/>
              <a:lstStyle/>
              <a:p>
                <a:endParaRPr lang="en-US"/>
              </a:p>
            </p:txBody>
          </p:sp>
          <p:sp>
            <p:nvSpPr>
              <p:cNvPr id="87" name="TextBox 87"/>
              <p:cNvSpPr txBox="1"/>
              <p:nvPr/>
            </p:nvSpPr>
            <p:spPr>
              <a:xfrm>
                <a:off x="0" y="0"/>
                <a:ext cx="7987703" cy="1035384"/>
              </a:xfrm>
              <a:prstGeom prst="rect">
                <a:avLst/>
              </a:prstGeom>
            </p:spPr>
            <p:txBody>
              <a:bodyPr lIns="0" tIns="0" rIns="0" bIns="0" rtlCol="0" anchor="ctr"/>
              <a:lstStyle/>
              <a:p>
                <a:pPr algn="ctr">
                  <a:lnSpc>
                    <a:spcPts val="480"/>
                  </a:lnSpc>
                </a:pPr>
                <a:r>
                  <a:rPr lang="en-US" sz="400" b="1" spc="100">
                    <a:solidFill>
                      <a:srgbClr val="FFFFFF"/>
                    </a:solidFill>
                    <a:latin typeface="Calibri (MS) Bold"/>
                    <a:ea typeface="Calibri (MS) Bold"/>
                    <a:cs typeface="Calibri (MS) Bold"/>
                    <a:sym typeface="Calibri (MS) Bold"/>
                  </a:rPr>
                  <a:t>Board Locks 10/31/2026</a:t>
                </a:r>
              </a:p>
            </p:txBody>
          </p:sp>
        </p:grpSp>
        <p:grpSp>
          <p:nvGrpSpPr>
            <p:cNvPr id="88" name="Group 88"/>
            <p:cNvGrpSpPr/>
            <p:nvPr/>
          </p:nvGrpSpPr>
          <p:grpSpPr>
            <a:xfrm>
              <a:off x="1944523" y="7943557"/>
              <a:ext cx="1687390" cy="396958"/>
              <a:chOff x="0" y="0"/>
              <a:chExt cx="5683685" cy="1337085"/>
            </a:xfrm>
          </p:grpSpPr>
          <p:sp>
            <p:nvSpPr>
              <p:cNvPr id="89" name="Freeform 89"/>
              <p:cNvSpPr/>
              <p:nvPr/>
            </p:nvSpPr>
            <p:spPr>
              <a:xfrm>
                <a:off x="0" y="0"/>
                <a:ext cx="5683685" cy="1337086"/>
              </a:xfrm>
              <a:custGeom>
                <a:avLst/>
                <a:gdLst/>
                <a:ahLst/>
                <a:cxnLst/>
                <a:rect l="l" t="t" r="r" b="b"/>
                <a:pathLst>
                  <a:path w="5683685" h="1337086">
                    <a:moveTo>
                      <a:pt x="0" y="0"/>
                    </a:moveTo>
                    <a:lnTo>
                      <a:pt x="5683685" y="0"/>
                    </a:lnTo>
                    <a:lnTo>
                      <a:pt x="5683685" y="1337086"/>
                    </a:lnTo>
                    <a:lnTo>
                      <a:pt x="0" y="1337086"/>
                    </a:lnTo>
                    <a:close/>
                  </a:path>
                </a:pathLst>
              </a:custGeom>
              <a:blipFill>
                <a:blip r:embed="rId3">
                  <a:alphaModFix amt="0"/>
                </a:blip>
                <a:stretch>
                  <a:fillRect t="-189269" r="-157410" b="-137141"/>
                </a:stretch>
              </a:blipFill>
            </p:spPr>
            <p:txBody>
              <a:bodyPr/>
              <a:lstStyle/>
              <a:p>
                <a:endParaRPr lang="en-US"/>
              </a:p>
            </p:txBody>
          </p:sp>
          <p:sp>
            <p:nvSpPr>
              <p:cNvPr id="90" name="TextBox 90"/>
              <p:cNvSpPr txBox="1"/>
              <p:nvPr/>
            </p:nvSpPr>
            <p:spPr>
              <a:xfrm>
                <a:off x="0" y="-19050"/>
                <a:ext cx="5683685" cy="1356135"/>
              </a:xfrm>
              <a:prstGeom prst="rect">
                <a:avLst/>
              </a:prstGeom>
            </p:spPr>
            <p:txBody>
              <a:bodyPr lIns="0" tIns="0" rIns="0" bIns="0" rtlCol="0" anchor="ctr"/>
              <a:lstStyle/>
              <a:p>
                <a:pPr algn="ctr">
                  <a:lnSpc>
                    <a:spcPts val="720"/>
                  </a:lnSpc>
                </a:pPr>
                <a:r>
                  <a:rPr lang="en-US" sz="600" b="1" spc="150">
                    <a:solidFill>
                      <a:srgbClr val="FFFFFF"/>
                    </a:solidFill>
                    <a:latin typeface="Calibri (MS) Bold"/>
                    <a:ea typeface="Calibri (MS) Bold"/>
                    <a:cs typeface="Calibri (MS) Bold"/>
                    <a:sym typeface="Calibri (MS) Bold"/>
                  </a:rPr>
                  <a:t>6 Friends stamped Today</a:t>
                </a:r>
              </a:p>
            </p:txBody>
          </p:sp>
        </p:grpSp>
        <p:sp>
          <p:nvSpPr>
            <p:cNvPr id="91" name="Freeform 91"/>
            <p:cNvSpPr/>
            <p:nvPr/>
          </p:nvSpPr>
          <p:spPr>
            <a:xfrm>
              <a:off x="3131730" y="8435278"/>
              <a:ext cx="202799" cy="166296"/>
            </a:xfrm>
            <a:custGeom>
              <a:avLst/>
              <a:gdLst/>
              <a:ahLst/>
              <a:cxnLst/>
              <a:rect l="l" t="t" r="r" b="b"/>
              <a:pathLst>
                <a:path w="202799" h="166296">
                  <a:moveTo>
                    <a:pt x="0" y="0"/>
                  </a:moveTo>
                  <a:lnTo>
                    <a:pt x="202799" y="0"/>
                  </a:lnTo>
                  <a:lnTo>
                    <a:pt x="202799" y="166295"/>
                  </a:lnTo>
                  <a:lnTo>
                    <a:pt x="0" y="166295"/>
                  </a:lnTo>
                  <a:lnTo>
                    <a:pt x="0" y="0"/>
                  </a:lnTo>
                  <a:close/>
                </a:path>
              </a:pathLst>
            </a:custGeom>
            <a:blipFill>
              <a:blip>
                <a:extLst>
                  <a:ext uri="{96DAC541-7B7A-43D3-8B79-37D633B846F1}">
                    <asvg:svgBlip xmlns:asvg="http://schemas.microsoft.com/office/drawing/2016/SVG/main" r:embed="rId20"/>
                  </a:ext>
                </a:extLst>
              </a:blip>
              <a:stretch>
                <a:fillRect/>
              </a:stretch>
            </a:blipFill>
          </p:spPr>
          <p:txBody>
            <a:bodyPr/>
            <a:lstStyle/>
            <a:p>
              <a:endParaRPr lang="en-US"/>
            </a:p>
          </p:txBody>
        </p:sp>
        <p:grpSp>
          <p:nvGrpSpPr>
            <p:cNvPr id="92" name="Group 92"/>
            <p:cNvGrpSpPr/>
            <p:nvPr/>
          </p:nvGrpSpPr>
          <p:grpSpPr>
            <a:xfrm>
              <a:off x="142536" y="3971949"/>
              <a:ext cx="5280560" cy="3592953"/>
              <a:chOff x="0" y="-47625"/>
              <a:chExt cx="973534" cy="662404"/>
            </a:xfrm>
          </p:grpSpPr>
          <p:sp>
            <p:nvSpPr>
              <p:cNvPr id="93" name="Freeform 93"/>
              <p:cNvSpPr/>
              <p:nvPr/>
            </p:nvSpPr>
            <p:spPr>
              <a:xfrm>
                <a:off x="0" y="0"/>
                <a:ext cx="973534" cy="614779"/>
              </a:xfrm>
              <a:custGeom>
                <a:avLst/>
                <a:gdLst/>
                <a:ahLst/>
                <a:cxnLst/>
                <a:rect l="l" t="t" r="r" b="b"/>
                <a:pathLst>
                  <a:path w="973534" h="614779">
                    <a:moveTo>
                      <a:pt x="39096" y="0"/>
                    </a:moveTo>
                    <a:lnTo>
                      <a:pt x="934438" y="0"/>
                    </a:lnTo>
                    <a:cubicBezTo>
                      <a:pt x="944807" y="0"/>
                      <a:pt x="954751" y="4119"/>
                      <a:pt x="962083" y="11451"/>
                    </a:cubicBezTo>
                    <a:cubicBezTo>
                      <a:pt x="969415" y="18783"/>
                      <a:pt x="973534" y="28727"/>
                      <a:pt x="973534" y="39096"/>
                    </a:cubicBezTo>
                    <a:lnTo>
                      <a:pt x="973534" y="575683"/>
                    </a:lnTo>
                    <a:cubicBezTo>
                      <a:pt x="973534" y="586052"/>
                      <a:pt x="969415" y="595996"/>
                      <a:pt x="962083" y="603328"/>
                    </a:cubicBezTo>
                    <a:cubicBezTo>
                      <a:pt x="954751" y="610660"/>
                      <a:pt x="944807" y="614779"/>
                      <a:pt x="934438" y="614779"/>
                    </a:cubicBezTo>
                    <a:lnTo>
                      <a:pt x="39096" y="614779"/>
                    </a:lnTo>
                    <a:cubicBezTo>
                      <a:pt x="17504" y="614779"/>
                      <a:pt x="0" y="597275"/>
                      <a:pt x="0" y="575683"/>
                    </a:cubicBezTo>
                    <a:lnTo>
                      <a:pt x="0" y="39096"/>
                    </a:lnTo>
                    <a:cubicBezTo>
                      <a:pt x="0" y="28727"/>
                      <a:pt x="4119" y="18783"/>
                      <a:pt x="11451" y="11451"/>
                    </a:cubicBezTo>
                    <a:cubicBezTo>
                      <a:pt x="18783" y="4119"/>
                      <a:pt x="28727" y="0"/>
                      <a:pt x="39096" y="0"/>
                    </a:cubicBezTo>
                    <a:close/>
                  </a:path>
                </a:pathLst>
              </a:custGeom>
              <a:solidFill>
                <a:srgbClr val="FFFFFF"/>
              </a:solidFill>
            </p:spPr>
            <p:txBody>
              <a:bodyPr/>
              <a:lstStyle/>
              <a:p>
                <a:endParaRPr lang="en-US"/>
              </a:p>
            </p:txBody>
          </p:sp>
          <p:sp>
            <p:nvSpPr>
              <p:cNvPr id="94" name="TextBox 94"/>
              <p:cNvSpPr txBox="1"/>
              <p:nvPr/>
            </p:nvSpPr>
            <p:spPr>
              <a:xfrm>
                <a:off x="0" y="-47625"/>
                <a:ext cx="973534" cy="662404"/>
              </a:xfrm>
              <a:prstGeom prst="rect">
                <a:avLst/>
              </a:prstGeom>
            </p:spPr>
            <p:txBody>
              <a:bodyPr lIns="54429" tIns="54429" rIns="54429" bIns="54429" rtlCol="0" anchor="ctr"/>
              <a:lstStyle/>
              <a:p>
                <a:pPr algn="ctr">
                  <a:lnSpc>
                    <a:spcPts val="2339"/>
                  </a:lnSpc>
                </a:pPr>
                <a:endParaRPr/>
              </a:p>
            </p:txBody>
          </p:sp>
        </p:grpSp>
        <p:grpSp>
          <p:nvGrpSpPr>
            <p:cNvPr id="95" name="Group 95"/>
            <p:cNvGrpSpPr/>
            <p:nvPr/>
          </p:nvGrpSpPr>
          <p:grpSpPr>
            <a:xfrm>
              <a:off x="142536" y="4803584"/>
              <a:ext cx="5291363" cy="2598729"/>
              <a:chOff x="0" y="0"/>
              <a:chExt cx="1941196" cy="953373"/>
            </a:xfrm>
          </p:grpSpPr>
          <p:sp>
            <p:nvSpPr>
              <p:cNvPr id="96" name="Freeform 96"/>
              <p:cNvSpPr/>
              <p:nvPr/>
            </p:nvSpPr>
            <p:spPr>
              <a:xfrm>
                <a:off x="0" y="0"/>
                <a:ext cx="1941196" cy="953373"/>
              </a:xfrm>
              <a:custGeom>
                <a:avLst/>
                <a:gdLst/>
                <a:ahLst/>
                <a:cxnLst/>
                <a:rect l="l" t="t" r="r" b="b"/>
                <a:pathLst>
                  <a:path w="1941196" h="953373">
                    <a:moveTo>
                      <a:pt x="99492" y="0"/>
                    </a:moveTo>
                    <a:lnTo>
                      <a:pt x="1841704" y="0"/>
                    </a:lnTo>
                    <a:cubicBezTo>
                      <a:pt x="1868091" y="0"/>
                      <a:pt x="1893397" y="10482"/>
                      <a:pt x="1912055" y="29141"/>
                    </a:cubicBezTo>
                    <a:cubicBezTo>
                      <a:pt x="1930714" y="47799"/>
                      <a:pt x="1941196" y="73105"/>
                      <a:pt x="1941196" y="99492"/>
                    </a:cubicBezTo>
                    <a:lnTo>
                      <a:pt x="1941196" y="853881"/>
                    </a:lnTo>
                    <a:cubicBezTo>
                      <a:pt x="1941196" y="908829"/>
                      <a:pt x="1896652" y="953373"/>
                      <a:pt x="1841704" y="953373"/>
                    </a:cubicBezTo>
                    <a:lnTo>
                      <a:pt x="99492" y="953373"/>
                    </a:lnTo>
                    <a:cubicBezTo>
                      <a:pt x="73105" y="953373"/>
                      <a:pt x="47799" y="942891"/>
                      <a:pt x="29141" y="924232"/>
                    </a:cubicBezTo>
                    <a:cubicBezTo>
                      <a:pt x="10482" y="905574"/>
                      <a:pt x="0" y="880268"/>
                      <a:pt x="0" y="853881"/>
                    </a:cubicBezTo>
                    <a:lnTo>
                      <a:pt x="0" y="99492"/>
                    </a:lnTo>
                    <a:cubicBezTo>
                      <a:pt x="0" y="44544"/>
                      <a:pt x="44544" y="0"/>
                      <a:pt x="99492" y="0"/>
                    </a:cubicBezTo>
                    <a:close/>
                  </a:path>
                </a:pathLst>
              </a:custGeom>
              <a:solidFill>
                <a:srgbClr val="141414"/>
              </a:solidFill>
            </p:spPr>
            <p:txBody>
              <a:bodyPr/>
              <a:lstStyle/>
              <a:p>
                <a:endParaRPr lang="en-US"/>
              </a:p>
            </p:txBody>
          </p:sp>
          <p:sp>
            <p:nvSpPr>
              <p:cNvPr id="97" name="TextBox 97"/>
              <p:cNvSpPr txBox="1"/>
              <p:nvPr/>
            </p:nvSpPr>
            <p:spPr>
              <a:xfrm>
                <a:off x="0" y="-47625"/>
                <a:ext cx="1941196" cy="1000998"/>
              </a:xfrm>
              <a:prstGeom prst="rect">
                <a:avLst/>
              </a:prstGeom>
            </p:spPr>
            <p:txBody>
              <a:bodyPr lIns="27352" tIns="27352" rIns="27352" bIns="27352" rtlCol="0" anchor="ctr"/>
              <a:lstStyle/>
              <a:p>
                <a:pPr algn="ctr">
                  <a:lnSpc>
                    <a:spcPts val="2340"/>
                  </a:lnSpc>
                </a:pPr>
                <a:endParaRPr/>
              </a:p>
            </p:txBody>
          </p:sp>
        </p:grpSp>
        <p:grpSp>
          <p:nvGrpSpPr>
            <p:cNvPr id="98" name="Group 98"/>
            <p:cNvGrpSpPr/>
            <p:nvPr/>
          </p:nvGrpSpPr>
          <p:grpSpPr>
            <a:xfrm>
              <a:off x="1468735" y="4974694"/>
              <a:ext cx="846492" cy="1059300"/>
              <a:chOff x="0" y="0"/>
              <a:chExt cx="10591800" cy="13254572"/>
            </a:xfrm>
          </p:grpSpPr>
          <p:sp>
            <p:nvSpPr>
              <p:cNvPr id="99" name="Freeform 99"/>
              <p:cNvSpPr/>
              <p:nvPr/>
            </p:nvSpPr>
            <p:spPr>
              <a:xfrm>
                <a:off x="0" y="0"/>
                <a:ext cx="10591800" cy="13254572"/>
              </a:xfrm>
              <a:custGeom>
                <a:avLst/>
                <a:gdLst/>
                <a:ahLst/>
                <a:cxnLst/>
                <a:rect l="l" t="t" r="r" b="b"/>
                <a:pathLst>
                  <a:path w="10591800" h="13254572">
                    <a:moveTo>
                      <a:pt x="10591800" y="222020"/>
                    </a:moveTo>
                    <a:lnTo>
                      <a:pt x="10591800" y="13032552"/>
                    </a:lnTo>
                    <a:cubicBezTo>
                      <a:pt x="10591800" y="13155219"/>
                      <a:pt x="10478135" y="13254572"/>
                      <a:pt x="10337800" y="13254572"/>
                    </a:cubicBezTo>
                    <a:lnTo>
                      <a:pt x="254000" y="13254572"/>
                    </a:lnTo>
                    <a:cubicBezTo>
                      <a:pt x="113665" y="13254572"/>
                      <a:pt x="0" y="13155219"/>
                      <a:pt x="0" y="13032552"/>
                    </a:cubicBezTo>
                    <a:lnTo>
                      <a:pt x="0" y="222020"/>
                    </a:lnTo>
                    <a:cubicBezTo>
                      <a:pt x="0" y="99354"/>
                      <a:pt x="113665" y="0"/>
                      <a:pt x="254000" y="0"/>
                    </a:cubicBezTo>
                    <a:lnTo>
                      <a:pt x="10337800" y="0"/>
                    </a:lnTo>
                    <a:cubicBezTo>
                      <a:pt x="10478135" y="0"/>
                      <a:pt x="10591800" y="99354"/>
                      <a:pt x="10591800" y="222020"/>
                    </a:cubicBezTo>
                    <a:close/>
                  </a:path>
                </a:pathLst>
              </a:custGeom>
              <a:blipFill>
                <a:blip r:embed="rId21"/>
                <a:stretch>
                  <a:fillRect l="-60743" r="-60743"/>
                </a:stretch>
              </a:blipFill>
            </p:spPr>
            <p:txBody>
              <a:bodyPr/>
              <a:lstStyle/>
              <a:p>
                <a:endParaRPr lang="en-US"/>
              </a:p>
            </p:txBody>
          </p:sp>
        </p:grpSp>
        <p:grpSp>
          <p:nvGrpSpPr>
            <p:cNvPr id="100" name="Group 100"/>
            <p:cNvGrpSpPr/>
            <p:nvPr/>
          </p:nvGrpSpPr>
          <p:grpSpPr>
            <a:xfrm>
              <a:off x="1514398" y="5011178"/>
              <a:ext cx="227795" cy="227795"/>
              <a:chOff x="0" y="0"/>
              <a:chExt cx="812800" cy="812800"/>
            </a:xfrm>
          </p:grpSpPr>
          <p:sp>
            <p:nvSpPr>
              <p:cNvPr id="101" name="Freeform 101"/>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a:blip r:embed="rId17"/>
                <a:stretch>
                  <a:fillRect l="-96038" t="-77557" r="-95130" b="-40819"/>
                </a:stretch>
              </a:blipFill>
              <a:ln w="38100" cap="sq">
                <a:solidFill>
                  <a:srgbClr val="000000"/>
                </a:solidFill>
                <a:prstDash val="solid"/>
                <a:miter/>
              </a:ln>
            </p:spPr>
            <p:txBody>
              <a:bodyPr/>
              <a:lstStyle/>
              <a:p>
                <a:endParaRPr lang="en-US"/>
              </a:p>
            </p:txBody>
          </p:sp>
        </p:grpSp>
        <p:sp>
          <p:nvSpPr>
            <p:cNvPr id="102" name="Freeform 102"/>
            <p:cNvSpPr/>
            <p:nvPr/>
          </p:nvSpPr>
          <p:spPr>
            <a:xfrm>
              <a:off x="1891981" y="5021122"/>
              <a:ext cx="386772" cy="386772"/>
            </a:xfrm>
            <a:custGeom>
              <a:avLst/>
              <a:gdLst/>
              <a:ahLst/>
              <a:cxnLst/>
              <a:rect l="l" t="t" r="r" b="b"/>
              <a:pathLst>
                <a:path w="386772" h="386772">
                  <a:moveTo>
                    <a:pt x="0" y="0"/>
                  </a:moveTo>
                  <a:lnTo>
                    <a:pt x="386772" y="0"/>
                  </a:lnTo>
                  <a:lnTo>
                    <a:pt x="386772" y="386772"/>
                  </a:lnTo>
                  <a:lnTo>
                    <a:pt x="0" y="386772"/>
                  </a:lnTo>
                  <a:lnTo>
                    <a:pt x="0" y="0"/>
                  </a:lnTo>
                  <a:close/>
                </a:path>
              </a:pathLst>
            </a:custGeom>
            <a:blipFill>
              <a:blip>
                <a:extLst>
                  <a:ext uri="{96DAC541-7B7A-43D3-8B79-37D633B846F1}">
                    <asvg:svgBlip xmlns:asvg="http://schemas.microsoft.com/office/drawing/2016/SVG/main" r:embed="rId22"/>
                  </a:ext>
                </a:extLst>
              </a:blip>
              <a:stretch>
                <a:fillRect/>
              </a:stretch>
            </a:blipFill>
          </p:spPr>
          <p:txBody>
            <a:bodyPr/>
            <a:lstStyle/>
            <a:p>
              <a:endParaRPr lang="en-US"/>
            </a:p>
          </p:txBody>
        </p:sp>
        <p:sp>
          <p:nvSpPr>
            <p:cNvPr id="103" name="Freeform 103"/>
            <p:cNvSpPr/>
            <p:nvPr/>
          </p:nvSpPr>
          <p:spPr>
            <a:xfrm>
              <a:off x="1969826" y="5100454"/>
              <a:ext cx="241053" cy="128963"/>
            </a:xfrm>
            <a:custGeom>
              <a:avLst/>
              <a:gdLst/>
              <a:ahLst/>
              <a:cxnLst/>
              <a:rect l="l" t="t" r="r" b="b"/>
              <a:pathLst>
                <a:path w="241053" h="128963">
                  <a:moveTo>
                    <a:pt x="0" y="0"/>
                  </a:moveTo>
                  <a:lnTo>
                    <a:pt x="241052" y="0"/>
                  </a:lnTo>
                  <a:lnTo>
                    <a:pt x="241052" y="128963"/>
                  </a:lnTo>
                  <a:lnTo>
                    <a:pt x="0" y="128963"/>
                  </a:lnTo>
                  <a:lnTo>
                    <a:pt x="0" y="0"/>
                  </a:lnTo>
                  <a:close/>
                </a:path>
              </a:pathLst>
            </a:custGeom>
            <a:blipFill>
              <a:blip>
                <a:extLst>
                  <a:ext uri="{96DAC541-7B7A-43D3-8B79-37D633B846F1}">
                    <asvg:svgBlip xmlns:asvg="http://schemas.microsoft.com/office/drawing/2016/SVG/main" r:embed="rId23"/>
                  </a:ext>
                </a:extLst>
              </a:blip>
              <a:stretch>
                <a:fillRect/>
              </a:stretch>
            </a:blipFill>
          </p:spPr>
          <p:txBody>
            <a:bodyPr/>
            <a:lstStyle/>
            <a:p>
              <a:endParaRPr lang="en-US"/>
            </a:p>
          </p:txBody>
        </p:sp>
        <p:sp>
          <p:nvSpPr>
            <p:cNvPr id="104" name="TextBox 104"/>
            <p:cNvSpPr txBox="1"/>
            <p:nvPr/>
          </p:nvSpPr>
          <p:spPr>
            <a:xfrm>
              <a:off x="2020812" y="5032499"/>
              <a:ext cx="139079" cy="83063"/>
            </a:xfrm>
            <a:prstGeom prst="rect">
              <a:avLst/>
            </a:prstGeom>
          </p:spPr>
          <p:txBody>
            <a:bodyPr lIns="0" tIns="0" rIns="0" bIns="0" rtlCol="0" anchor="t">
              <a:spAutoFit/>
            </a:bodyPr>
            <a:lstStyle/>
            <a:p>
              <a:pPr algn="ctr">
                <a:lnSpc>
                  <a:spcPts val="369"/>
                </a:lnSpc>
                <a:spcBef>
                  <a:spcPct val="0"/>
                </a:spcBef>
              </a:pPr>
              <a:r>
                <a:rPr lang="en-US" sz="307" b="1" spc="41">
                  <a:solidFill>
                    <a:srgbClr val="FFFFFF"/>
                  </a:solidFill>
                  <a:latin typeface="Calibri (MS) Bold"/>
                  <a:ea typeface="Calibri (MS) Bold"/>
                  <a:cs typeface="Calibri (MS) Bold"/>
                  <a:sym typeface="Calibri (MS) Bold"/>
                </a:rPr>
                <a:t>HIKE</a:t>
              </a:r>
            </a:p>
          </p:txBody>
        </p:sp>
        <p:sp>
          <p:nvSpPr>
            <p:cNvPr id="105" name="Freeform 105"/>
            <p:cNvSpPr/>
            <p:nvPr/>
          </p:nvSpPr>
          <p:spPr>
            <a:xfrm rot="-3394830" flipV="1">
              <a:off x="1915772" y="5180677"/>
              <a:ext cx="59624" cy="18742"/>
            </a:xfrm>
            <a:custGeom>
              <a:avLst/>
              <a:gdLst/>
              <a:ahLst/>
              <a:cxnLst/>
              <a:rect l="l" t="t" r="r" b="b"/>
              <a:pathLst>
                <a:path w="59624" h="18742">
                  <a:moveTo>
                    <a:pt x="0" y="18742"/>
                  </a:moveTo>
                  <a:lnTo>
                    <a:pt x="59625" y="18742"/>
                  </a:lnTo>
                  <a:lnTo>
                    <a:pt x="59625" y="0"/>
                  </a:lnTo>
                  <a:lnTo>
                    <a:pt x="0" y="0"/>
                  </a:lnTo>
                  <a:lnTo>
                    <a:pt x="0" y="18742"/>
                  </a:lnTo>
                  <a:close/>
                </a:path>
              </a:pathLst>
            </a:custGeom>
            <a:blipFill>
              <a:blip>
                <a:extLst>
                  <a:ext uri="{96DAC541-7B7A-43D3-8B79-37D633B846F1}">
                    <asvg:svgBlip xmlns:asvg="http://schemas.microsoft.com/office/drawing/2016/SVG/main" r:embed="rId24"/>
                  </a:ext>
                </a:extLst>
              </a:blip>
              <a:stretch>
                <a:fillRect l="-116778"/>
              </a:stretch>
            </a:blipFill>
          </p:spPr>
          <p:txBody>
            <a:bodyPr/>
            <a:lstStyle/>
            <a:p>
              <a:endParaRPr lang="en-US"/>
            </a:p>
          </p:txBody>
        </p:sp>
        <p:sp>
          <p:nvSpPr>
            <p:cNvPr id="106" name="Freeform 106"/>
            <p:cNvSpPr/>
            <p:nvPr/>
          </p:nvSpPr>
          <p:spPr>
            <a:xfrm rot="-6716943">
              <a:off x="2205629" y="5181440"/>
              <a:ext cx="54772" cy="17216"/>
            </a:xfrm>
            <a:custGeom>
              <a:avLst/>
              <a:gdLst/>
              <a:ahLst/>
              <a:cxnLst/>
              <a:rect l="l" t="t" r="r" b="b"/>
              <a:pathLst>
                <a:path w="54772" h="17216">
                  <a:moveTo>
                    <a:pt x="0" y="0"/>
                  </a:moveTo>
                  <a:lnTo>
                    <a:pt x="54772" y="0"/>
                  </a:lnTo>
                  <a:lnTo>
                    <a:pt x="54772" y="17216"/>
                  </a:lnTo>
                  <a:lnTo>
                    <a:pt x="0" y="17216"/>
                  </a:lnTo>
                  <a:lnTo>
                    <a:pt x="0" y="0"/>
                  </a:lnTo>
                  <a:close/>
                </a:path>
              </a:pathLst>
            </a:custGeom>
            <a:blipFill>
              <a:blip>
                <a:extLst>
                  <a:ext uri="{96DAC541-7B7A-43D3-8B79-37D633B846F1}">
                    <asvg:svgBlip xmlns:asvg="http://schemas.microsoft.com/office/drawing/2016/SVG/main" r:embed="rId24"/>
                  </a:ext>
                </a:extLst>
              </a:blip>
              <a:stretch>
                <a:fillRect l="-116778"/>
              </a:stretch>
            </a:blipFill>
          </p:spPr>
          <p:txBody>
            <a:bodyPr/>
            <a:lstStyle/>
            <a:p>
              <a:endParaRPr lang="en-US"/>
            </a:p>
          </p:txBody>
        </p:sp>
        <p:sp>
          <p:nvSpPr>
            <p:cNvPr id="107" name="Freeform 107"/>
            <p:cNvSpPr/>
            <p:nvPr/>
          </p:nvSpPr>
          <p:spPr>
            <a:xfrm rot="2699999">
              <a:off x="1961720" y="5138734"/>
              <a:ext cx="250217" cy="250217"/>
            </a:xfrm>
            <a:custGeom>
              <a:avLst/>
              <a:gdLst/>
              <a:ahLst/>
              <a:cxnLst/>
              <a:rect l="l" t="t" r="r" b="b"/>
              <a:pathLst>
                <a:path w="250217" h="250217">
                  <a:moveTo>
                    <a:pt x="0" y="0"/>
                  </a:moveTo>
                  <a:lnTo>
                    <a:pt x="250217" y="0"/>
                  </a:lnTo>
                  <a:lnTo>
                    <a:pt x="250217" y="250217"/>
                  </a:lnTo>
                  <a:lnTo>
                    <a:pt x="0" y="250217"/>
                  </a:lnTo>
                  <a:lnTo>
                    <a:pt x="0" y="0"/>
                  </a:lnTo>
                  <a:close/>
                </a:path>
              </a:pathLst>
            </a:custGeom>
            <a:blipFill>
              <a:blip>
                <a:extLst>
                  <a:ext uri="{96DAC541-7B7A-43D3-8B79-37D633B846F1}">
                    <asvg:svgBlip xmlns:asvg="http://schemas.microsoft.com/office/drawing/2016/SVG/main" r:embed="rId25"/>
                  </a:ext>
                </a:extLst>
              </a:blip>
              <a:stretch>
                <a:fillRect/>
              </a:stretch>
            </a:blipFill>
          </p:spPr>
          <p:txBody>
            <a:bodyPr/>
            <a:lstStyle/>
            <a:p>
              <a:endParaRPr lang="en-US"/>
            </a:p>
          </p:txBody>
        </p:sp>
        <p:sp>
          <p:nvSpPr>
            <p:cNvPr id="108" name="TextBox 108"/>
            <p:cNvSpPr txBox="1"/>
            <p:nvPr/>
          </p:nvSpPr>
          <p:spPr>
            <a:xfrm>
              <a:off x="2030423" y="5339976"/>
              <a:ext cx="109889" cy="28856"/>
            </a:xfrm>
            <a:prstGeom prst="rect">
              <a:avLst/>
            </a:prstGeom>
          </p:spPr>
          <p:txBody>
            <a:bodyPr lIns="0" tIns="0" rIns="0" bIns="0" rtlCol="0" anchor="t">
              <a:spAutoFit/>
            </a:bodyPr>
            <a:lstStyle/>
            <a:p>
              <a:pPr algn="ctr">
                <a:lnSpc>
                  <a:spcPts val="115"/>
                </a:lnSpc>
                <a:spcBef>
                  <a:spcPct val="0"/>
                </a:spcBef>
              </a:pPr>
              <a:r>
                <a:rPr lang="en-US" sz="100" b="1" spc="13">
                  <a:solidFill>
                    <a:srgbClr val="FFFFFF"/>
                  </a:solidFill>
                  <a:latin typeface="Calibri (MS) Bold"/>
                  <a:ea typeface="Calibri (MS) Bold"/>
                  <a:cs typeface="Calibri (MS) Bold"/>
                  <a:sym typeface="Calibri (MS) Bold"/>
                </a:rPr>
                <a:t>October2026</a:t>
              </a:r>
            </a:p>
          </p:txBody>
        </p:sp>
        <p:sp>
          <p:nvSpPr>
            <p:cNvPr id="109" name="Freeform 109"/>
            <p:cNvSpPr/>
            <p:nvPr/>
          </p:nvSpPr>
          <p:spPr>
            <a:xfrm rot="2699999">
              <a:off x="1991513" y="5230240"/>
              <a:ext cx="187708" cy="187708"/>
            </a:xfrm>
            <a:custGeom>
              <a:avLst/>
              <a:gdLst/>
              <a:ahLst/>
              <a:cxnLst/>
              <a:rect l="l" t="t" r="r" b="b"/>
              <a:pathLst>
                <a:path w="187708" h="187708">
                  <a:moveTo>
                    <a:pt x="0" y="0"/>
                  </a:moveTo>
                  <a:lnTo>
                    <a:pt x="187708" y="0"/>
                  </a:lnTo>
                  <a:lnTo>
                    <a:pt x="187708" y="187709"/>
                  </a:lnTo>
                  <a:lnTo>
                    <a:pt x="0" y="187709"/>
                  </a:lnTo>
                  <a:lnTo>
                    <a:pt x="0" y="0"/>
                  </a:lnTo>
                  <a:close/>
                </a:path>
              </a:pathLst>
            </a:custGeom>
            <a:blipFill>
              <a:blip>
                <a:extLst>
                  <a:ext uri="{96DAC541-7B7A-43D3-8B79-37D633B846F1}">
                    <asvg:svgBlip xmlns:asvg="http://schemas.microsoft.com/office/drawing/2016/SVG/main" r:embed="rId25"/>
                  </a:ext>
                </a:extLst>
              </a:blip>
              <a:stretch>
                <a:fillRect/>
              </a:stretch>
            </a:blipFill>
          </p:spPr>
          <p:txBody>
            <a:bodyPr/>
            <a:lstStyle/>
            <a:p>
              <a:endParaRPr lang="en-US"/>
            </a:p>
          </p:txBody>
        </p:sp>
        <p:sp>
          <p:nvSpPr>
            <p:cNvPr id="110" name="TextBox 110"/>
            <p:cNvSpPr txBox="1"/>
            <p:nvPr/>
          </p:nvSpPr>
          <p:spPr>
            <a:xfrm>
              <a:off x="1997388" y="5284022"/>
              <a:ext cx="178880" cy="31098"/>
            </a:xfrm>
            <a:prstGeom prst="rect">
              <a:avLst/>
            </a:prstGeom>
          </p:spPr>
          <p:txBody>
            <a:bodyPr lIns="0" tIns="0" rIns="0" bIns="0" rtlCol="0" anchor="t">
              <a:spAutoFit/>
            </a:bodyPr>
            <a:lstStyle/>
            <a:p>
              <a:pPr algn="ctr">
                <a:lnSpc>
                  <a:spcPts val="186"/>
                </a:lnSpc>
                <a:spcBef>
                  <a:spcPct val="0"/>
                </a:spcBef>
              </a:pPr>
              <a:r>
                <a:rPr lang="en-US" sz="155" b="1">
                  <a:solidFill>
                    <a:srgbClr val="FFFFFF"/>
                  </a:solidFill>
                  <a:latin typeface="Calibri (MS) Bold"/>
                  <a:ea typeface="Calibri (MS) Bold"/>
                  <a:cs typeface="Calibri (MS) Bold"/>
                  <a:sym typeface="Calibri (MS) Bold"/>
                </a:rPr>
                <a:t> REAL PASSPORT</a:t>
              </a:r>
            </a:p>
          </p:txBody>
        </p:sp>
        <p:sp>
          <p:nvSpPr>
            <p:cNvPr id="111" name="TextBox 111"/>
            <p:cNvSpPr txBox="1"/>
            <p:nvPr/>
          </p:nvSpPr>
          <p:spPr>
            <a:xfrm>
              <a:off x="1917548" y="5219783"/>
              <a:ext cx="84849" cy="28856"/>
            </a:xfrm>
            <a:prstGeom prst="rect">
              <a:avLst/>
            </a:prstGeom>
          </p:spPr>
          <p:txBody>
            <a:bodyPr lIns="0" tIns="0" rIns="0" bIns="0" rtlCol="0" anchor="t">
              <a:spAutoFit/>
            </a:bodyPr>
            <a:lstStyle/>
            <a:p>
              <a:pPr algn="ctr">
                <a:lnSpc>
                  <a:spcPts val="115"/>
                </a:lnSpc>
                <a:spcBef>
                  <a:spcPct val="0"/>
                </a:spcBef>
              </a:pPr>
              <a:r>
                <a:rPr lang="en-US" sz="100" b="1">
                  <a:solidFill>
                    <a:srgbClr val="FFDE59"/>
                  </a:solidFill>
                  <a:latin typeface="Calibri (MS) Bold"/>
                  <a:ea typeface="Calibri (MS) Bold"/>
                  <a:cs typeface="Calibri (MS) Bold"/>
                  <a:sym typeface="Calibri (MS) Bold"/>
                </a:rPr>
                <a:t>BeReal.</a:t>
              </a:r>
            </a:p>
          </p:txBody>
        </p:sp>
        <p:sp>
          <p:nvSpPr>
            <p:cNvPr id="112" name="TextBox 112"/>
            <p:cNvSpPr txBox="1"/>
            <p:nvPr/>
          </p:nvSpPr>
          <p:spPr>
            <a:xfrm>
              <a:off x="2166387" y="5219783"/>
              <a:ext cx="84849" cy="28856"/>
            </a:xfrm>
            <a:prstGeom prst="rect">
              <a:avLst/>
            </a:prstGeom>
          </p:spPr>
          <p:txBody>
            <a:bodyPr lIns="0" tIns="0" rIns="0" bIns="0" rtlCol="0" anchor="t">
              <a:spAutoFit/>
            </a:bodyPr>
            <a:lstStyle/>
            <a:p>
              <a:pPr algn="ctr">
                <a:lnSpc>
                  <a:spcPts val="115"/>
                </a:lnSpc>
                <a:spcBef>
                  <a:spcPct val="0"/>
                </a:spcBef>
              </a:pPr>
              <a:r>
                <a:rPr lang="en-US" sz="100" b="1">
                  <a:solidFill>
                    <a:srgbClr val="FFDE59"/>
                  </a:solidFill>
                  <a:latin typeface="Calibri (MS) Bold"/>
                  <a:ea typeface="Calibri (MS) Bold"/>
                  <a:cs typeface="Calibri (MS) Bold"/>
                  <a:sym typeface="Calibri (MS) Bold"/>
                </a:rPr>
                <a:t>Unfiltered</a:t>
              </a:r>
            </a:p>
          </p:txBody>
        </p:sp>
        <p:sp>
          <p:nvSpPr>
            <p:cNvPr id="113" name="Freeform 113"/>
            <p:cNvSpPr/>
            <p:nvPr/>
          </p:nvSpPr>
          <p:spPr>
            <a:xfrm>
              <a:off x="2024547" y="5150452"/>
              <a:ext cx="121640" cy="74809"/>
            </a:xfrm>
            <a:custGeom>
              <a:avLst/>
              <a:gdLst/>
              <a:ahLst/>
              <a:cxnLst/>
              <a:rect l="l" t="t" r="r" b="b"/>
              <a:pathLst>
                <a:path w="121640" h="74809">
                  <a:moveTo>
                    <a:pt x="0" y="0"/>
                  </a:moveTo>
                  <a:lnTo>
                    <a:pt x="121640" y="0"/>
                  </a:lnTo>
                  <a:lnTo>
                    <a:pt x="121640" y="74809"/>
                  </a:lnTo>
                  <a:lnTo>
                    <a:pt x="0" y="74809"/>
                  </a:lnTo>
                  <a:lnTo>
                    <a:pt x="0" y="0"/>
                  </a:lnTo>
                  <a:close/>
                </a:path>
              </a:pathLst>
            </a:custGeom>
            <a:blipFill>
              <a:blip>
                <a:extLst>
                  <a:ext uri="{96DAC541-7B7A-43D3-8B79-37D633B846F1}">
                    <asvg:svgBlip xmlns:asvg="http://schemas.microsoft.com/office/drawing/2016/SVG/main" r:embed="rId26"/>
                  </a:ext>
                </a:extLst>
              </a:blip>
              <a:stretch>
                <a:fillRect/>
              </a:stretch>
            </a:blipFill>
          </p:spPr>
          <p:txBody>
            <a:bodyPr/>
            <a:lstStyle/>
            <a:p>
              <a:endParaRPr lang="en-US"/>
            </a:p>
          </p:txBody>
        </p:sp>
        <p:grpSp>
          <p:nvGrpSpPr>
            <p:cNvPr id="114" name="Group 114"/>
            <p:cNvGrpSpPr/>
            <p:nvPr/>
          </p:nvGrpSpPr>
          <p:grpSpPr>
            <a:xfrm>
              <a:off x="2381701" y="4974944"/>
              <a:ext cx="846492" cy="1059300"/>
              <a:chOff x="0" y="0"/>
              <a:chExt cx="10591800" cy="13254572"/>
            </a:xfrm>
          </p:grpSpPr>
          <p:sp>
            <p:nvSpPr>
              <p:cNvPr id="115" name="Freeform 115"/>
              <p:cNvSpPr/>
              <p:nvPr/>
            </p:nvSpPr>
            <p:spPr>
              <a:xfrm>
                <a:off x="0" y="0"/>
                <a:ext cx="10591800" cy="13254572"/>
              </a:xfrm>
              <a:custGeom>
                <a:avLst/>
                <a:gdLst/>
                <a:ahLst/>
                <a:cxnLst/>
                <a:rect l="l" t="t" r="r" b="b"/>
                <a:pathLst>
                  <a:path w="10591800" h="13254572">
                    <a:moveTo>
                      <a:pt x="10591800" y="222020"/>
                    </a:moveTo>
                    <a:lnTo>
                      <a:pt x="10591800" y="13032552"/>
                    </a:lnTo>
                    <a:cubicBezTo>
                      <a:pt x="10591800" y="13155219"/>
                      <a:pt x="10478135" y="13254572"/>
                      <a:pt x="10337800" y="13254572"/>
                    </a:cubicBezTo>
                    <a:lnTo>
                      <a:pt x="254000" y="13254572"/>
                    </a:lnTo>
                    <a:cubicBezTo>
                      <a:pt x="113665" y="13254572"/>
                      <a:pt x="0" y="13155219"/>
                      <a:pt x="0" y="13032552"/>
                    </a:cubicBezTo>
                    <a:lnTo>
                      <a:pt x="0" y="222020"/>
                    </a:lnTo>
                    <a:cubicBezTo>
                      <a:pt x="0" y="99354"/>
                      <a:pt x="113665" y="0"/>
                      <a:pt x="254000" y="0"/>
                    </a:cubicBezTo>
                    <a:lnTo>
                      <a:pt x="10337800" y="0"/>
                    </a:lnTo>
                    <a:cubicBezTo>
                      <a:pt x="10478135" y="0"/>
                      <a:pt x="10591800" y="99354"/>
                      <a:pt x="10591800" y="222020"/>
                    </a:cubicBezTo>
                    <a:close/>
                  </a:path>
                </a:pathLst>
              </a:custGeom>
              <a:blipFill>
                <a:blip r:embed="rId27"/>
                <a:stretch>
                  <a:fillRect l="-44090" r="-44090"/>
                </a:stretch>
              </a:blipFill>
            </p:spPr>
            <p:txBody>
              <a:bodyPr/>
              <a:lstStyle/>
              <a:p>
                <a:endParaRPr lang="en-US"/>
              </a:p>
            </p:txBody>
          </p:sp>
        </p:grpSp>
        <p:grpSp>
          <p:nvGrpSpPr>
            <p:cNvPr id="116" name="Group 116"/>
            <p:cNvGrpSpPr/>
            <p:nvPr/>
          </p:nvGrpSpPr>
          <p:grpSpPr>
            <a:xfrm>
              <a:off x="2413643" y="5011428"/>
              <a:ext cx="227795" cy="227795"/>
              <a:chOff x="0" y="0"/>
              <a:chExt cx="812800" cy="812800"/>
            </a:xfrm>
          </p:grpSpPr>
          <p:sp>
            <p:nvSpPr>
              <p:cNvPr id="117" name="Freeform 117"/>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a:blip r:embed="rId28"/>
                <a:stretch>
                  <a:fillRect t="-12500" b="-12500"/>
                </a:stretch>
              </a:blipFill>
              <a:ln w="38100" cap="sq">
                <a:solidFill>
                  <a:srgbClr val="000000"/>
                </a:solidFill>
                <a:prstDash val="solid"/>
                <a:miter/>
              </a:ln>
            </p:spPr>
            <p:txBody>
              <a:bodyPr/>
              <a:lstStyle/>
              <a:p>
                <a:endParaRPr lang="en-US"/>
              </a:p>
            </p:txBody>
          </p:sp>
        </p:grpSp>
        <p:sp>
          <p:nvSpPr>
            <p:cNvPr id="118" name="Freeform 118"/>
            <p:cNvSpPr/>
            <p:nvPr/>
          </p:nvSpPr>
          <p:spPr>
            <a:xfrm>
              <a:off x="2804947" y="5021691"/>
              <a:ext cx="386204" cy="386204"/>
            </a:xfrm>
            <a:custGeom>
              <a:avLst/>
              <a:gdLst/>
              <a:ahLst/>
              <a:cxnLst/>
              <a:rect l="l" t="t" r="r" b="b"/>
              <a:pathLst>
                <a:path w="386204" h="386204">
                  <a:moveTo>
                    <a:pt x="0" y="0"/>
                  </a:moveTo>
                  <a:lnTo>
                    <a:pt x="386204" y="0"/>
                  </a:lnTo>
                  <a:lnTo>
                    <a:pt x="386204" y="386204"/>
                  </a:lnTo>
                  <a:lnTo>
                    <a:pt x="0" y="386204"/>
                  </a:lnTo>
                  <a:lnTo>
                    <a:pt x="0" y="0"/>
                  </a:lnTo>
                  <a:close/>
                </a:path>
              </a:pathLst>
            </a:custGeom>
            <a:blipFill>
              <a:blip>
                <a:extLst>
                  <a:ext uri="{96DAC541-7B7A-43D3-8B79-37D633B846F1}">
                    <asvg:svgBlip xmlns:asvg="http://schemas.microsoft.com/office/drawing/2016/SVG/main" r:embed="rId29"/>
                  </a:ext>
                </a:extLst>
              </a:blip>
              <a:stretch>
                <a:fillRect/>
              </a:stretch>
            </a:blipFill>
          </p:spPr>
          <p:txBody>
            <a:bodyPr/>
            <a:lstStyle/>
            <a:p>
              <a:endParaRPr lang="en-US"/>
            </a:p>
          </p:txBody>
        </p:sp>
        <p:sp>
          <p:nvSpPr>
            <p:cNvPr id="119" name="Freeform 119"/>
            <p:cNvSpPr/>
            <p:nvPr/>
          </p:nvSpPr>
          <p:spPr>
            <a:xfrm>
              <a:off x="2882677" y="5100907"/>
              <a:ext cx="240699" cy="128774"/>
            </a:xfrm>
            <a:custGeom>
              <a:avLst/>
              <a:gdLst/>
              <a:ahLst/>
              <a:cxnLst/>
              <a:rect l="l" t="t" r="r" b="b"/>
              <a:pathLst>
                <a:path w="240699" h="128774">
                  <a:moveTo>
                    <a:pt x="0" y="0"/>
                  </a:moveTo>
                  <a:lnTo>
                    <a:pt x="240699" y="0"/>
                  </a:lnTo>
                  <a:lnTo>
                    <a:pt x="240699" y="128773"/>
                  </a:lnTo>
                  <a:lnTo>
                    <a:pt x="0" y="128773"/>
                  </a:lnTo>
                  <a:lnTo>
                    <a:pt x="0" y="0"/>
                  </a:lnTo>
                  <a:close/>
                </a:path>
              </a:pathLst>
            </a:custGeom>
            <a:blipFill>
              <a:blip>
                <a:extLst>
                  <a:ext uri="{96DAC541-7B7A-43D3-8B79-37D633B846F1}">
                    <asvg:svgBlip xmlns:asvg="http://schemas.microsoft.com/office/drawing/2016/SVG/main" r:embed="rId30"/>
                  </a:ext>
                </a:extLst>
              </a:blip>
              <a:stretch>
                <a:fillRect/>
              </a:stretch>
            </a:blipFill>
          </p:spPr>
          <p:txBody>
            <a:bodyPr/>
            <a:lstStyle/>
            <a:p>
              <a:endParaRPr lang="en-US"/>
            </a:p>
          </p:txBody>
        </p:sp>
        <p:sp>
          <p:nvSpPr>
            <p:cNvPr id="120" name="Freeform 120"/>
            <p:cNvSpPr/>
            <p:nvPr/>
          </p:nvSpPr>
          <p:spPr>
            <a:xfrm>
              <a:off x="2952366" y="5133493"/>
              <a:ext cx="107070" cy="116381"/>
            </a:xfrm>
            <a:custGeom>
              <a:avLst/>
              <a:gdLst/>
              <a:ahLst/>
              <a:cxnLst/>
              <a:rect l="l" t="t" r="r" b="b"/>
              <a:pathLst>
                <a:path w="107070" h="116381">
                  <a:moveTo>
                    <a:pt x="0" y="0"/>
                  </a:moveTo>
                  <a:lnTo>
                    <a:pt x="107070" y="0"/>
                  </a:lnTo>
                  <a:lnTo>
                    <a:pt x="107070" y="116381"/>
                  </a:lnTo>
                  <a:lnTo>
                    <a:pt x="0" y="116381"/>
                  </a:lnTo>
                  <a:lnTo>
                    <a:pt x="0" y="0"/>
                  </a:lnTo>
                  <a:close/>
                </a:path>
              </a:pathLst>
            </a:custGeom>
            <a:blipFill>
              <a:blip>
                <a:extLst>
                  <a:ext uri="{96DAC541-7B7A-43D3-8B79-37D633B846F1}">
                    <asvg:svgBlip xmlns:asvg="http://schemas.microsoft.com/office/drawing/2016/SVG/main" r:embed="rId31"/>
                  </a:ext>
                </a:extLst>
              </a:blip>
              <a:stretch>
                <a:fillRect/>
              </a:stretch>
            </a:blipFill>
          </p:spPr>
          <p:txBody>
            <a:bodyPr/>
            <a:lstStyle/>
            <a:p>
              <a:endParaRPr lang="en-US"/>
            </a:p>
          </p:txBody>
        </p:sp>
        <p:sp>
          <p:nvSpPr>
            <p:cNvPr id="121" name="TextBox 121"/>
            <p:cNvSpPr txBox="1"/>
            <p:nvPr/>
          </p:nvSpPr>
          <p:spPr>
            <a:xfrm>
              <a:off x="2868261" y="5033037"/>
              <a:ext cx="269532" cy="118240"/>
            </a:xfrm>
            <a:prstGeom prst="rect">
              <a:avLst/>
            </a:prstGeom>
          </p:spPr>
          <p:txBody>
            <a:bodyPr lIns="0" tIns="0" rIns="0" bIns="0" rtlCol="0" anchor="t">
              <a:spAutoFit/>
            </a:bodyPr>
            <a:lstStyle/>
            <a:p>
              <a:pPr algn="ctr">
                <a:lnSpc>
                  <a:spcPts val="368"/>
                </a:lnSpc>
                <a:spcBef>
                  <a:spcPct val="0"/>
                </a:spcBef>
              </a:pPr>
              <a:r>
                <a:rPr lang="en-US" sz="307" b="1" spc="41">
                  <a:solidFill>
                    <a:srgbClr val="FFFFFF"/>
                  </a:solidFill>
                  <a:latin typeface="Calibri (MS) Bold"/>
                  <a:ea typeface="Calibri (MS) Bold"/>
                  <a:cs typeface="Calibri (MS) Bold"/>
                  <a:sym typeface="Calibri (MS) Bold"/>
                </a:rPr>
                <a:t>HAUNTED</a:t>
              </a:r>
            </a:p>
          </p:txBody>
        </p:sp>
        <p:sp>
          <p:nvSpPr>
            <p:cNvPr id="122" name="Freeform 122"/>
            <p:cNvSpPr/>
            <p:nvPr/>
          </p:nvSpPr>
          <p:spPr>
            <a:xfrm rot="-3394830" flipV="1">
              <a:off x="2829362" y="5161916"/>
              <a:ext cx="77798" cy="24454"/>
            </a:xfrm>
            <a:custGeom>
              <a:avLst/>
              <a:gdLst/>
              <a:ahLst/>
              <a:cxnLst/>
              <a:rect l="l" t="t" r="r" b="b"/>
              <a:pathLst>
                <a:path w="77798" h="24454">
                  <a:moveTo>
                    <a:pt x="0" y="24454"/>
                  </a:moveTo>
                  <a:lnTo>
                    <a:pt x="77798" y="24454"/>
                  </a:lnTo>
                  <a:lnTo>
                    <a:pt x="77798" y="0"/>
                  </a:lnTo>
                  <a:lnTo>
                    <a:pt x="0" y="0"/>
                  </a:lnTo>
                  <a:lnTo>
                    <a:pt x="0" y="24454"/>
                  </a:lnTo>
                  <a:close/>
                </a:path>
              </a:pathLst>
            </a:custGeom>
            <a:blipFill>
              <a:blip>
                <a:extLst>
                  <a:ext uri="{96DAC541-7B7A-43D3-8B79-37D633B846F1}">
                    <asvg:svgBlip xmlns:asvg="http://schemas.microsoft.com/office/drawing/2016/SVG/main" r:embed="rId24"/>
                  </a:ext>
                </a:extLst>
              </a:blip>
              <a:stretch>
                <a:fillRect l="-116778"/>
              </a:stretch>
            </a:blipFill>
          </p:spPr>
          <p:txBody>
            <a:bodyPr/>
            <a:lstStyle/>
            <a:p>
              <a:endParaRPr lang="en-US"/>
            </a:p>
          </p:txBody>
        </p:sp>
        <p:sp>
          <p:nvSpPr>
            <p:cNvPr id="123" name="Freeform 123"/>
            <p:cNvSpPr/>
            <p:nvPr/>
          </p:nvSpPr>
          <p:spPr>
            <a:xfrm rot="-6716943">
              <a:off x="3098893" y="5161916"/>
              <a:ext cx="77798" cy="24454"/>
            </a:xfrm>
            <a:custGeom>
              <a:avLst/>
              <a:gdLst/>
              <a:ahLst/>
              <a:cxnLst/>
              <a:rect l="l" t="t" r="r" b="b"/>
              <a:pathLst>
                <a:path w="77798" h="24454">
                  <a:moveTo>
                    <a:pt x="0" y="0"/>
                  </a:moveTo>
                  <a:lnTo>
                    <a:pt x="77799" y="0"/>
                  </a:lnTo>
                  <a:lnTo>
                    <a:pt x="77799" y="24454"/>
                  </a:lnTo>
                  <a:lnTo>
                    <a:pt x="0" y="24454"/>
                  </a:lnTo>
                  <a:lnTo>
                    <a:pt x="0" y="0"/>
                  </a:lnTo>
                  <a:close/>
                </a:path>
              </a:pathLst>
            </a:custGeom>
            <a:blipFill>
              <a:blip>
                <a:extLst>
                  <a:ext uri="{96DAC541-7B7A-43D3-8B79-37D633B846F1}">
                    <asvg:svgBlip xmlns:asvg="http://schemas.microsoft.com/office/drawing/2016/SVG/main" r:embed="rId24"/>
                  </a:ext>
                </a:extLst>
              </a:blip>
              <a:stretch>
                <a:fillRect l="-116778"/>
              </a:stretch>
            </a:blipFill>
          </p:spPr>
          <p:txBody>
            <a:bodyPr/>
            <a:lstStyle/>
            <a:p>
              <a:endParaRPr lang="en-US"/>
            </a:p>
          </p:txBody>
        </p:sp>
        <p:sp>
          <p:nvSpPr>
            <p:cNvPr id="124" name="Freeform 124"/>
            <p:cNvSpPr/>
            <p:nvPr/>
          </p:nvSpPr>
          <p:spPr>
            <a:xfrm rot="2699999">
              <a:off x="2874583" y="5143997"/>
              <a:ext cx="249850" cy="249850"/>
            </a:xfrm>
            <a:custGeom>
              <a:avLst/>
              <a:gdLst/>
              <a:ahLst/>
              <a:cxnLst/>
              <a:rect l="l" t="t" r="r" b="b"/>
              <a:pathLst>
                <a:path w="249850" h="249850">
                  <a:moveTo>
                    <a:pt x="0" y="0"/>
                  </a:moveTo>
                  <a:lnTo>
                    <a:pt x="249850" y="0"/>
                  </a:lnTo>
                  <a:lnTo>
                    <a:pt x="249850" y="249850"/>
                  </a:lnTo>
                  <a:lnTo>
                    <a:pt x="0" y="249850"/>
                  </a:lnTo>
                  <a:lnTo>
                    <a:pt x="0" y="0"/>
                  </a:lnTo>
                  <a:close/>
                </a:path>
              </a:pathLst>
            </a:custGeom>
            <a:blipFill>
              <a:blip>
                <a:extLst>
                  <a:ext uri="{96DAC541-7B7A-43D3-8B79-37D633B846F1}">
                    <asvg:svgBlip xmlns:asvg="http://schemas.microsoft.com/office/drawing/2016/SVG/main" r:embed="rId32"/>
                  </a:ext>
                </a:extLst>
              </a:blip>
              <a:stretch>
                <a:fillRect/>
              </a:stretch>
            </a:blipFill>
          </p:spPr>
          <p:txBody>
            <a:bodyPr/>
            <a:lstStyle/>
            <a:p>
              <a:endParaRPr lang="en-US"/>
            </a:p>
          </p:txBody>
        </p:sp>
        <p:sp>
          <p:nvSpPr>
            <p:cNvPr id="125" name="TextBox 125"/>
            <p:cNvSpPr txBox="1"/>
            <p:nvPr/>
          </p:nvSpPr>
          <p:spPr>
            <a:xfrm>
              <a:off x="2943186" y="5340063"/>
              <a:ext cx="109727" cy="28828"/>
            </a:xfrm>
            <a:prstGeom prst="rect">
              <a:avLst/>
            </a:prstGeom>
          </p:spPr>
          <p:txBody>
            <a:bodyPr lIns="0" tIns="0" rIns="0" bIns="0" rtlCol="0" anchor="t">
              <a:spAutoFit/>
            </a:bodyPr>
            <a:lstStyle/>
            <a:p>
              <a:pPr algn="ctr">
                <a:lnSpc>
                  <a:spcPts val="114"/>
                </a:lnSpc>
                <a:spcBef>
                  <a:spcPct val="0"/>
                </a:spcBef>
              </a:pPr>
              <a:r>
                <a:rPr lang="en-US" sz="100" b="1" spc="13">
                  <a:solidFill>
                    <a:srgbClr val="FFFFFF"/>
                  </a:solidFill>
                  <a:latin typeface="Calibri (MS) Bold"/>
                  <a:ea typeface="Calibri (MS) Bold"/>
                  <a:cs typeface="Calibri (MS) Bold"/>
                  <a:sym typeface="Calibri (MS) Bold"/>
                </a:rPr>
                <a:t>October2026</a:t>
              </a:r>
            </a:p>
          </p:txBody>
        </p:sp>
        <p:sp>
          <p:nvSpPr>
            <p:cNvPr id="126" name="Freeform 126"/>
            <p:cNvSpPr/>
            <p:nvPr/>
          </p:nvSpPr>
          <p:spPr>
            <a:xfrm rot="2699999">
              <a:off x="2904333" y="5230502"/>
              <a:ext cx="187433" cy="187433"/>
            </a:xfrm>
            <a:custGeom>
              <a:avLst/>
              <a:gdLst/>
              <a:ahLst/>
              <a:cxnLst/>
              <a:rect l="l" t="t" r="r" b="b"/>
              <a:pathLst>
                <a:path w="187433" h="187433">
                  <a:moveTo>
                    <a:pt x="0" y="0"/>
                  </a:moveTo>
                  <a:lnTo>
                    <a:pt x="187433" y="0"/>
                  </a:lnTo>
                  <a:lnTo>
                    <a:pt x="187433" y="187433"/>
                  </a:lnTo>
                  <a:lnTo>
                    <a:pt x="0" y="187433"/>
                  </a:lnTo>
                  <a:lnTo>
                    <a:pt x="0" y="0"/>
                  </a:lnTo>
                  <a:close/>
                </a:path>
              </a:pathLst>
            </a:custGeom>
            <a:blipFill>
              <a:blip>
                <a:extLst>
                  <a:ext uri="{96DAC541-7B7A-43D3-8B79-37D633B846F1}">
                    <asvg:svgBlip xmlns:asvg="http://schemas.microsoft.com/office/drawing/2016/SVG/main" r:embed="rId32"/>
                  </a:ext>
                </a:extLst>
              </a:blip>
              <a:stretch>
                <a:fillRect/>
              </a:stretch>
            </a:blipFill>
          </p:spPr>
          <p:txBody>
            <a:bodyPr/>
            <a:lstStyle/>
            <a:p>
              <a:endParaRPr lang="en-US"/>
            </a:p>
          </p:txBody>
        </p:sp>
        <p:sp>
          <p:nvSpPr>
            <p:cNvPr id="127" name="TextBox 127"/>
            <p:cNvSpPr txBox="1"/>
            <p:nvPr/>
          </p:nvSpPr>
          <p:spPr>
            <a:xfrm>
              <a:off x="2910200" y="5284205"/>
              <a:ext cx="178617" cy="31052"/>
            </a:xfrm>
            <a:prstGeom prst="rect">
              <a:avLst/>
            </a:prstGeom>
          </p:spPr>
          <p:txBody>
            <a:bodyPr lIns="0" tIns="0" rIns="0" bIns="0" rtlCol="0" anchor="t">
              <a:spAutoFit/>
            </a:bodyPr>
            <a:lstStyle/>
            <a:p>
              <a:pPr algn="ctr">
                <a:lnSpc>
                  <a:spcPts val="186"/>
                </a:lnSpc>
                <a:spcBef>
                  <a:spcPct val="0"/>
                </a:spcBef>
              </a:pPr>
              <a:r>
                <a:rPr lang="en-US" sz="155" b="1">
                  <a:solidFill>
                    <a:srgbClr val="FFFFFF"/>
                  </a:solidFill>
                  <a:latin typeface="Calibri (MS) Bold"/>
                  <a:ea typeface="Calibri (MS) Bold"/>
                  <a:cs typeface="Calibri (MS) Bold"/>
                  <a:sym typeface="Calibri (MS) Bold"/>
                </a:rPr>
                <a:t> REAL PASSPORT</a:t>
              </a:r>
            </a:p>
          </p:txBody>
        </p:sp>
        <p:sp>
          <p:nvSpPr>
            <p:cNvPr id="128" name="TextBox 128"/>
            <p:cNvSpPr txBox="1"/>
            <p:nvPr/>
          </p:nvSpPr>
          <p:spPr>
            <a:xfrm>
              <a:off x="2830476" y="5220046"/>
              <a:ext cx="84724" cy="28828"/>
            </a:xfrm>
            <a:prstGeom prst="rect">
              <a:avLst/>
            </a:prstGeom>
          </p:spPr>
          <p:txBody>
            <a:bodyPr lIns="0" tIns="0" rIns="0" bIns="0" rtlCol="0" anchor="t">
              <a:spAutoFit/>
            </a:bodyPr>
            <a:lstStyle/>
            <a:p>
              <a:pPr algn="ctr">
                <a:lnSpc>
                  <a:spcPts val="114"/>
                </a:lnSpc>
                <a:spcBef>
                  <a:spcPct val="0"/>
                </a:spcBef>
              </a:pPr>
              <a:r>
                <a:rPr lang="en-US" sz="100" b="1">
                  <a:solidFill>
                    <a:srgbClr val="FFDE59"/>
                  </a:solidFill>
                  <a:latin typeface="Calibri (MS) Bold"/>
                  <a:ea typeface="Calibri (MS) Bold"/>
                  <a:cs typeface="Calibri (MS) Bold"/>
                  <a:sym typeface="Calibri (MS) Bold"/>
                </a:rPr>
                <a:t>BeReal.</a:t>
              </a:r>
            </a:p>
          </p:txBody>
        </p:sp>
        <p:sp>
          <p:nvSpPr>
            <p:cNvPr id="129" name="TextBox 129"/>
            <p:cNvSpPr txBox="1"/>
            <p:nvPr/>
          </p:nvSpPr>
          <p:spPr>
            <a:xfrm>
              <a:off x="3078950" y="5220046"/>
              <a:ext cx="84724" cy="28828"/>
            </a:xfrm>
            <a:prstGeom prst="rect">
              <a:avLst/>
            </a:prstGeom>
          </p:spPr>
          <p:txBody>
            <a:bodyPr lIns="0" tIns="0" rIns="0" bIns="0" rtlCol="0" anchor="t">
              <a:spAutoFit/>
            </a:bodyPr>
            <a:lstStyle/>
            <a:p>
              <a:pPr algn="ctr">
                <a:lnSpc>
                  <a:spcPts val="114"/>
                </a:lnSpc>
                <a:spcBef>
                  <a:spcPct val="0"/>
                </a:spcBef>
              </a:pPr>
              <a:r>
                <a:rPr lang="en-US" sz="100" b="1">
                  <a:solidFill>
                    <a:srgbClr val="FFDE59"/>
                  </a:solidFill>
                  <a:latin typeface="Calibri (MS) Bold"/>
                  <a:ea typeface="Calibri (MS) Bold"/>
                  <a:cs typeface="Calibri (MS) Bold"/>
                  <a:sym typeface="Calibri (MS) Bold"/>
                </a:rPr>
                <a:t>Unfiltered</a:t>
              </a:r>
            </a:p>
          </p:txBody>
        </p:sp>
        <p:grpSp>
          <p:nvGrpSpPr>
            <p:cNvPr id="130" name="Group 130"/>
            <p:cNvGrpSpPr/>
            <p:nvPr/>
          </p:nvGrpSpPr>
          <p:grpSpPr>
            <a:xfrm>
              <a:off x="3353135" y="4974944"/>
              <a:ext cx="846492" cy="1059300"/>
              <a:chOff x="0" y="0"/>
              <a:chExt cx="10591800" cy="13254572"/>
            </a:xfrm>
          </p:grpSpPr>
          <p:sp>
            <p:nvSpPr>
              <p:cNvPr id="131" name="Freeform 131"/>
              <p:cNvSpPr/>
              <p:nvPr/>
            </p:nvSpPr>
            <p:spPr>
              <a:xfrm>
                <a:off x="0" y="0"/>
                <a:ext cx="10591800" cy="13254572"/>
              </a:xfrm>
              <a:custGeom>
                <a:avLst/>
                <a:gdLst/>
                <a:ahLst/>
                <a:cxnLst/>
                <a:rect l="l" t="t" r="r" b="b"/>
                <a:pathLst>
                  <a:path w="10591800" h="13254572">
                    <a:moveTo>
                      <a:pt x="10591800" y="222020"/>
                    </a:moveTo>
                    <a:lnTo>
                      <a:pt x="10591800" y="13032552"/>
                    </a:lnTo>
                    <a:cubicBezTo>
                      <a:pt x="10591800" y="13155219"/>
                      <a:pt x="10478135" y="13254572"/>
                      <a:pt x="10337800" y="13254572"/>
                    </a:cubicBezTo>
                    <a:lnTo>
                      <a:pt x="254000" y="13254572"/>
                    </a:lnTo>
                    <a:cubicBezTo>
                      <a:pt x="113665" y="13254572"/>
                      <a:pt x="0" y="13155219"/>
                      <a:pt x="0" y="13032552"/>
                    </a:cubicBezTo>
                    <a:lnTo>
                      <a:pt x="0" y="222020"/>
                    </a:lnTo>
                    <a:cubicBezTo>
                      <a:pt x="0" y="99354"/>
                      <a:pt x="113665" y="0"/>
                      <a:pt x="254000" y="0"/>
                    </a:cubicBezTo>
                    <a:lnTo>
                      <a:pt x="10337800" y="0"/>
                    </a:lnTo>
                    <a:cubicBezTo>
                      <a:pt x="10478135" y="0"/>
                      <a:pt x="10591800" y="99354"/>
                      <a:pt x="10591800" y="222020"/>
                    </a:cubicBezTo>
                    <a:close/>
                  </a:path>
                </a:pathLst>
              </a:custGeom>
              <a:blipFill>
                <a:blip r:embed="rId33"/>
                <a:stretch>
                  <a:fillRect l="-44090" r="-44090"/>
                </a:stretch>
              </a:blipFill>
            </p:spPr>
            <p:txBody>
              <a:bodyPr/>
              <a:lstStyle/>
              <a:p>
                <a:endParaRPr lang="en-US"/>
              </a:p>
            </p:txBody>
          </p:sp>
        </p:grpSp>
        <p:grpSp>
          <p:nvGrpSpPr>
            <p:cNvPr id="132" name="Group 132"/>
            <p:cNvGrpSpPr/>
            <p:nvPr/>
          </p:nvGrpSpPr>
          <p:grpSpPr>
            <a:xfrm>
              <a:off x="3383938" y="5011428"/>
              <a:ext cx="227795" cy="227795"/>
              <a:chOff x="0" y="0"/>
              <a:chExt cx="812800" cy="812800"/>
            </a:xfrm>
          </p:grpSpPr>
          <p:sp>
            <p:nvSpPr>
              <p:cNvPr id="133" name="Freeform 133"/>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a:blip r:embed="rId19"/>
                <a:stretch>
                  <a:fillRect t="-16666" b="-16666"/>
                </a:stretch>
              </a:blipFill>
              <a:ln w="38100" cap="sq">
                <a:solidFill>
                  <a:srgbClr val="000000"/>
                </a:solidFill>
                <a:prstDash val="solid"/>
                <a:miter/>
              </a:ln>
            </p:spPr>
            <p:txBody>
              <a:bodyPr/>
              <a:lstStyle/>
              <a:p>
                <a:endParaRPr lang="en-US"/>
              </a:p>
            </p:txBody>
          </p:sp>
        </p:grpSp>
        <p:sp>
          <p:nvSpPr>
            <p:cNvPr id="134" name="Freeform 134"/>
            <p:cNvSpPr/>
            <p:nvPr/>
          </p:nvSpPr>
          <p:spPr>
            <a:xfrm>
              <a:off x="3776381" y="5034043"/>
              <a:ext cx="364274" cy="364274"/>
            </a:xfrm>
            <a:custGeom>
              <a:avLst/>
              <a:gdLst/>
              <a:ahLst/>
              <a:cxnLst/>
              <a:rect l="l" t="t" r="r" b="b"/>
              <a:pathLst>
                <a:path w="364274" h="364274">
                  <a:moveTo>
                    <a:pt x="0" y="0"/>
                  </a:moveTo>
                  <a:lnTo>
                    <a:pt x="364274" y="0"/>
                  </a:lnTo>
                  <a:lnTo>
                    <a:pt x="364274" y="364274"/>
                  </a:lnTo>
                  <a:lnTo>
                    <a:pt x="0" y="364274"/>
                  </a:lnTo>
                  <a:lnTo>
                    <a:pt x="0" y="0"/>
                  </a:lnTo>
                  <a:close/>
                </a:path>
              </a:pathLst>
            </a:custGeom>
            <a:blipFill>
              <a:blip>
                <a:extLst>
                  <a:ext uri="{96DAC541-7B7A-43D3-8B79-37D633B846F1}">
                    <asvg:svgBlip xmlns:asvg="http://schemas.microsoft.com/office/drawing/2016/SVG/main" r:embed="rId34"/>
                  </a:ext>
                </a:extLst>
              </a:blip>
              <a:stretch>
                <a:fillRect/>
              </a:stretch>
            </a:blipFill>
          </p:spPr>
          <p:txBody>
            <a:bodyPr/>
            <a:lstStyle/>
            <a:p>
              <a:endParaRPr lang="en-US"/>
            </a:p>
          </p:txBody>
        </p:sp>
        <p:sp>
          <p:nvSpPr>
            <p:cNvPr id="135" name="Freeform 135"/>
            <p:cNvSpPr/>
            <p:nvPr/>
          </p:nvSpPr>
          <p:spPr>
            <a:xfrm>
              <a:off x="3849697" y="5108761"/>
              <a:ext cx="227031" cy="121462"/>
            </a:xfrm>
            <a:custGeom>
              <a:avLst/>
              <a:gdLst/>
              <a:ahLst/>
              <a:cxnLst/>
              <a:rect l="l" t="t" r="r" b="b"/>
              <a:pathLst>
                <a:path w="227031" h="121462">
                  <a:moveTo>
                    <a:pt x="0" y="0"/>
                  </a:moveTo>
                  <a:lnTo>
                    <a:pt x="227031" y="0"/>
                  </a:lnTo>
                  <a:lnTo>
                    <a:pt x="227031" y="121461"/>
                  </a:lnTo>
                  <a:lnTo>
                    <a:pt x="0" y="121461"/>
                  </a:lnTo>
                  <a:lnTo>
                    <a:pt x="0" y="0"/>
                  </a:lnTo>
                  <a:close/>
                </a:path>
              </a:pathLst>
            </a:custGeom>
            <a:blipFill>
              <a:blip>
                <a:extLst>
                  <a:ext uri="{96DAC541-7B7A-43D3-8B79-37D633B846F1}">
                    <asvg:svgBlip xmlns:asvg="http://schemas.microsoft.com/office/drawing/2016/SVG/main" r:embed="rId35"/>
                  </a:ext>
                </a:extLst>
              </a:blip>
              <a:stretch>
                <a:fillRect/>
              </a:stretch>
            </a:blipFill>
          </p:spPr>
          <p:txBody>
            <a:bodyPr/>
            <a:lstStyle/>
            <a:p>
              <a:endParaRPr lang="en-US"/>
            </a:p>
          </p:txBody>
        </p:sp>
        <p:sp>
          <p:nvSpPr>
            <p:cNvPr id="136" name="TextBox 136"/>
            <p:cNvSpPr txBox="1"/>
            <p:nvPr/>
          </p:nvSpPr>
          <p:spPr>
            <a:xfrm>
              <a:off x="3820273" y="5044204"/>
              <a:ext cx="285880" cy="129322"/>
            </a:xfrm>
            <a:prstGeom prst="rect">
              <a:avLst/>
            </a:prstGeom>
          </p:spPr>
          <p:txBody>
            <a:bodyPr lIns="0" tIns="0" rIns="0" bIns="0" rtlCol="0" anchor="t">
              <a:spAutoFit/>
            </a:bodyPr>
            <a:lstStyle/>
            <a:p>
              <a:pPr algn="ctr">
                <a:lnSpc>
                  <a:spcPts val="347"/>
                </a:lnSpc>
                <a:spcBef>
                  <a:spcPct val="0"/>
                </a:spcBef>
              </a:pPr>
              <a:r>
                <a:rPr lang="en-US" sz="289" b="1" spc="39">
                  <a:solidFill>
                    <a:srgbClr val="FFFFFF"/>
                  </a:solidFill>
                  <a:latin typeface="Calibri (MS) Bold"/>
                  <a:ea typeface="Calibri (MS) Bold"/>
                  <a:cs typeface="Calibri (MS) Bold"/>
                  <a:sym typeface="Calibri (MS) Bold"/>
                </a:rPr>
                <a:t>CRAMMING</a:t>
              </a:r>
            </a:p>
          </p:txBody>
        </p:sp>
        <p:sp>
          <p:nvSpPr>
            <p:cNvPr id="137" name="Freeform 137"/>
            <p:cNvSpPr/>
            <p:nvPr/>
          </p:nvSpPr>
          <p:spPr>
            <a:xfrm rot="-3394830" flipV="1">
              <a:off x="3798788" y="5184317"/>
              <a:ext cx="56156" cy="17651"/>
            </a:xfrm>
            <a:custGeom>
              <a:avLst/>
              <a:gdLst/>
              <a:ahLst/>
              <a:cxnLst/>
              <a:rect l="l" t="t" r="r" b="b"/>
              <a:pathLst>
                <a:path w="56156" h="17651">
                  <a:moveTo>
                    <a:pt x="0" y="17652"/>
                  </a:moveTo>
                  <a:lnTo>
                    <a:pt x="56157" y="17652"/>
                  </a:lnTo>
                  <a:lnTo>
                    <a:pt x="56157" y="0"/>
                  </a:lnTo>
                  <a:lnTo>
                    <a:pt x="0" y="0"/>
                  </a:lnTo>
                  <a:lnTo>
                    <a:pt x="0" y="17652"/>
                  </a:lnTo>
                  <a:close/>
                </a:path>
              </a:pathLst>
            </a:custGeom>
            <a:blipFill>
              <a:blip>
                <a:extLst>
                  <a:ext uri="{96DAC541-7B7A-43D3-8B79-37D633B846F1}">
                    <asvg:svgBlip xmlns:asvg="http://schemas.microsoft.com/office/drawing/2016/SVG/main" r:embed="rId24"/>
                  </a:ext>
                </a:extLst>
              </a:blip>
              <a:stretch>
                <a:fillRect l="-116778"/>
              </a:stretch>
            </a:blipFill>
          </p:spPr>
          <p:txBody>
            <a:bodyPr/>
            <a:lstStyle/>
            <a:p>
              <a:endParaRPr lang="en-US"/>
            </a:p>
          </p:txBody>
        </p:sp>
        <p:sp>
          <p:nvSpPr>
            <p:cNvPr id="138" name="Freeform 138"/>
            <p:cNvSpPr/>
            <p:nvPr/>
          </p:nvSpPr>
          <p:spPr>
            <a:xfrm rot="-6716943">
              <a:off x="4071785" y="5185036"/>
              <a:ext cx="51586" cy="16215"/>
            </a:xfrm>
            <a:custGeom>
              <a:avLst/>
              <a:gdLst/>
              <a:ahLst/>
              <a:cxnLst/>
              <a:rect l="l" t="t" r="r" b="b"/>
              <a:pathLst>
                <a:path w="51586" h="16215">
                  <a:moveTo>
                    <a:pt x="0" y="0"/>
                  </a:moveTo>
                  <a:lnTo>
                    <a:pt x="51586" y="0"/>
                  </a:lnTo>
                  <a:lnTo>
                    <a:pt x="51586" y="16215"/>
                  </a:lnTo>
                  <a:lnTo>
                    <a:pt x="0" y="16215"/>
                  </a:lnTo>
                  <a:lnTo>
                    <a:pt x="0" y="0"/>
                  </a:lnTo>
                  <a:close/>
                </a:path>
              </a:pathLst>
            </a:custGeom>
            <a:blipFill>
              <a:blip>
                <a:extLst>
                  <a:ext uri="{96DAC541-7B7A-43D3-8B79-37D633B846F1}">
                    <asvg:svgBlip xmlns:asvg="http://schemas.microsoft.com/office/drawing/2016/SVG/main" r:embed="rId24"/>
                  </a:ext>
                </a:extLst>
              </a:blip>
              <a:stretch>
                <a:fillRect l="-116778"/>
              </a:stretch>
            </a:blipFill>
          </p:spPr>
          <p:txBody>
            <a:bodyPr/>
            <a:lstStyle/>
            <a:p>
              <a:endParaRPr lang="en-US"/>
            </a:p>
          </p:txBody>
        </p:sp>
        <p:sp>
          <p:nvSpPr>
            <p:cNvPr id="139" name="Freeform 139"/>
            <p:cNvSpPr/>
            <p:nvPr/>
          </p:nvSpPr>
          <p:spPr>
            <a:xfrm rot="2699999">
              <a:off x="3842063" y="5144814"/>
              <a:ext cx="235662" cy="235662"/>
            </a:xfrm>
            <a:custGeom>
              <a:avLst/>
              <a:gdLst/>
              <a:ahLst/>
              <a:cxnLst/>
              <a:rect l="l" t="t" r="r" b="b"/>
              <a:pathLst>
                <a:path w="235662" h="235662">
                  <a:moveTo>
                    <a:pt x="0" y="0"/>
                  </a:moveTo>
                  <a:lnTo>
                    <a:pt x="235663" y="0"/>
                  </a:lnTo>
                  <a:lnTo>
                    <a:pt x="235663" y="235662"/>
                  </a:lnTo>
                  <a:lnTo>
                    <a:pt x="0" y="235662"/>
                  </a:lnTo>
                  <a:lnTo>
                    <a:pt x="0" y="0"/>
                  </a:lnTo>
                  <a:close/>
                </a:path>
              </a:pathLst>
            </a:custGeom>
            <a:blipFill>
              <a:blip>
                <a:extLst>
                  <a:ext uri="{96DAC541-7B7A-43D3-8B79-37D633B846F1}">
                    <asvg:svgBlip xmlns:asvg="http://schemas.microsoft.com/office/drawing/2016/SVG/main" r:embed="rId36"/>
                  </a:ext>
                </a:extLst>
              </a:blip>
              <a:stretch>
                <a:fillRect/>
              </a:stretch>
            </a:blipFill>
          </p:spPr>
          <p:txBody>
            <a:bodyPr/>
            <a:lstStyle/>
            <a:p>
              <a:endParaRPr lang="en-US"/>
            </a:p>
          </p:txBody>
        </p:sp>
        <p:sp>
          <p:nvSpPr>
            <p:cNvPr id="140" name="TextBox 140"/>
            <p:cNvSpPr txBox="1"/>
            <p:nvPr/>
          </p:nvSpPr>
          <p:spPr>
            <a:xfrm>
              <a:off x="3906770" y="5333796"/>
              <a:ext cx="103497" cy="27732"/>
            </a:xfrm>
            <a:prstGeom prst="rect">
              <a:avLst/>
            </a:prstGeom>
          </p:spPr>
          <p:txBody>
            <a:bodyPr lIns="0" tIns="0" rIns="0" bIns="0" rtlCol="0" anchor="t">
              <a:spAutoFit/>
            </a:bodyPr>
            <a:lstStyle/>
            <a:p>
              <a:pPr algn="ctr">
                <a:lnSpc>
                  <a:spcPts val="108"/>
                </a:lnSpc>
                <a:spcBef>
                  <a:spcPct val="0"/>
                </a:spcBef>
              </a:pPr>
              <a:r>
                <a:rPr lang="en-US" sz="100" b="1" spc="12">
                  <a:solidFill>
                    <a:srgbClr val="FFFFFF"/>
                  </a:solidFill>
                  <a:latin typeface="Calibri (MS) Bold"/>
                  <a:ea typeface="Calibri (MS) Bold"/>
                  <a:cs typeface="Calibri (MS) Bold"/>
                  <a:sym typeface="Calibri (MS) Bold"/>
                </a:rPr>
                <a:t>October2026</a:t>
              </a:r>
            </a:p>
          </p:txBody>
        </p:sp>
        <p:sp>
          <p:nvSpPr>
            <p:cNvPr id="141" name="Freeform 141"/>
            <p:cNvSpPr/>
            <p:nvPr/>
          </p:nvSpPr>
          <p:spPr>
            <a:xfrm rot="2699999">
              <a:off x="3870123" y="5230998"/>
              <a:ext cx="176790" cy="176790"/>
            </a:xfrm>
            <a:custGeom>
              <a:avLst/>
              <a:gdLst/>
              <a:ahLst/>
              <a:cxnLst/>
              <a:rect l="l" t="t" r="r" b="b"/>
              <a:pathLst>
                <a:path w="176790" h="176790">
                  <a:moveTo>
                    <a:pt x="0" y="0"/>
                  </a:moveTo>
                  <a:lnTo>
                    <a:pt x="176790" y="0"/>
                  </a:lnTo>
                  <a:lnTo>
                    <a:pt x="176790" y="176789"/>
                  </a:lnTo>
                  <a:lnTo>
                    <a:pt x="0" y="176789"/>
                  </a:lnTo>
                  <a:lnTo>
                    <a:pt x="0" y="0"/>
                  </a:lnTo>
                  <a:close/>
                </a:path>
              </a:pathLst>
            </a:custGeom>
            <a:blipFill>
              <a:blip>
                <a:extLst>
                  <a:ext uri="{96DAC541-7B7A-43D3-8B79-37D633B846F1}">
                    <asvg:svgBlip xmlns:asvg="http://schemas.microsoft.com/office/drawing/2016/SVG/main" r:embed="rId36"/>
                  </a:ext>
                </a:extLst>
              </a:blip>
              <a:stretch>
                <a:fillRect/>
              </a:stretch>
            </a:blipFill>
          </p:spPr>
          <p:txBody>
            <a:bodyPr/>
            <a:lstStyle/>
            <a:p>
              <a:endParaRPr lang="en-US"/>
            </a:p>
          </p:txBody>
        </p:sp>
        <p:sp>
          <p:nvSpPr>
            <p:cNvPr id="142" name="Freeform 142"/>
            <p:cNvSpPr/>
            <p:nvPr/>
          </p:nvSpPr>
          <p:spPr>
            <a:xfrm>
              <a:off x="3922911" y="5148114"/>
              <a:ext cx="80603" cy="78991"/>
            </a:xfrm>
            <a:custGeom>
              <a:avLst/>
              <a:gdLst/>
              <a:ahLst/>
              <a:cxnLst/>
              <a:rect l="l" t="t" r="r" b="b"/>
              <a:pathLst>
                <a:path w="80603" h="78991">
                  <a:moveTo>
                    <a:pt x="0" y="0"/>
                  </a:moveTo>
                  <a:lnTo>
                    <a:pt x="80603" y="0"/>
                  </a:lnTo>
                  <a:lnTo>
                    <a:pt x="80603" y="78991"/>
                  </a:lnTo>
                  <a:lnTo>
                    <a:pt x="0" y="78991"/>
                  </a:lnTo>
                  <a:lnTo>
                    <a:pt x="0" y="0"/>
                  </a:lnTo>
                  <a:close/>
                </a:path>
              </a:pathLst>
            </a:custGeom>
            <a:blipFill>
              <a:blip r:embed="rId37"/>
              <a:stretch>
                <a:fillRect/>
              </a:stretch>
            </a:blipFill>
          </p:spPr>
          <p:txBody>
            <a:bodyPr/>
            <a:lstStyle/>
            <a:p>
              <a:endParaRPr lang="en-US"/>
            </a:p>
          </p:txBody>
        </p:sp>
        <p:sp>
          <p:nvSpPr>
            <p:cNvPr id="143" name="TextBox 143"/>
            <p:cNvSpPr txBox="1"/>
            <p:nvPr/>
          </p:nvSpPr>
          <p:spPr>
            <a:xfrm>
              <a:off x="3875657" y="5281651"/>
              <a:ext cx="168475" cy="29289"/>
            </a:xfrm>
            <a:prstGeom prst="rect">
              <a:avLst/>
            </a:prstGeom>
          </p:spPr>
          <p:txBody>
            <a:bodyPr lIns="0" tIns="0" rIns="0" bIns="0" rtlCol="0" anchor="t">
              <a:spAutoFit/>
            </a:bodyPr>
            <a:lstStyle/>
            <a:p>
              <a:pPr algn="ctr">
                <a:lnSpc>
                  <a:spcPts val="175"/>
                </a:lnSpc>
                <a:spcBef>
                  <a:spcPct val="0"/>
                </a:spcBef>
              </a:pPr>
              <a:r>
                <a:rPr lang="en-US" sz="146" b="1">
                  <a:solidFill>
                    <a:srgbClr val="FFFFFF"/>
                  </a:solidFill>
                  <a:latin typeface="Calibri (MS) Bold"/>
                  <a:ea typeface="Calibri (MS) Bold"/>
                  <a:cs typeface="Calibri (MS) Bold"/>
                  <a:sym typeface="Calibri (MS) Bold"/>
                </a:rPr>
                <a:t> REAL PASSPORT</a:t>
              </a:r>
            </a:p>
          </p:txBody>
        </p:sp>
        <p:sp>
          <p:nvSpPr>
            <p:cNvPr id="144" name="TextBox 144"/>
            <p:cNvSpPr txBox="1"/>
            <p:nvPr/>
          </p:nvSpPr>
          <p:spPr>
            <a:xfrm>
              <a:off x="3800460" y="5220594"/>
              <a:ext cx="79913" cy="27732"/>
            </a:xfrm>
            <a:prstGeom prst="rect">
              <a:avLst/>
            </a:prstGeom>
          </p:spPr>
          <p:txBody>
            <a:bodyPr lIns="0" tIns="0" rIns="0" bIns="0" rtlCol="0" anchor="t">
              <a:spAutoFit/>
            </a:bodyPr>
            <a:lstStyle/>
            <a:p>
              <a:pPr algn="ctr">
                <a:lnSpc>
                  <a:spcPts val="108"/>
                </a:lnSpc>
                <a:spcBef>
                  <a:spcPct val="0"/>
                </a:spcBef>
              </a:pPr>
              <a:r>
                <a:rPr lang="en-US" sz="100" b="1">
                  <a:solidFill>
                    <a:srgbClr val="FFDE59"/>
                  </a:solidFill>
                  <a:latin typeface="Calibri (MS) Bold"/>
                  <a:ea typeface="Calibri (MS) Bold"/>
                  <a:cs typeface="Calibri (MS) Bold"/>
                  <a:sym typeface="Calibri (MS) Bold"/>
                </a:rPr>
                <a:t>BeReal.</a:t>
              </a:r>
            </a:p>
          </p:txBody>
        </p:sp>
        <p:sp>
          <p:nvSpPr>
            <p:cNvPr id="145" name="TextBox 145"/>
            <p:cNvSpPr txBox="1"/>
            <p:nvPr/>
          </p:nvSpPr>
          <p:spPr>
            <a:xfrm>
              <a:off x="4034825" y="5220594"/>
              <a:ext cx="79913" cy="27732"/>
            </a:xfrm>
            <a:prstGeom prst="rect">
              <a:avLst/>
            </a:prstGeom>
          </p:spPr>
          <p:txBody>
            <a:bodyPr lIns="0" tIns="0" rIns="0" bIns="0" rtlCol="0" anchor="t">
              <a:spAutoFit/>
            </a:bodyPr>
            <a:lstStyle/>
            <a:p>
              <a:pPr algn="ctr">
                <a:lnSpc>
                  <a:spcPts val="108"/>
                </a:lnSpc>
                <a:spcBef>
                  <a:spcPct val="0"/>
                </a:spcBef>
              </a:pPr>
              <a:r>
                <a:rPr lang="en-US" sz="100" b="1">
                  <a:solidFill>
                    <a:srgbClr val="FFDE59"/>
                  </a:solidFill>
                  <a:latin typeface="Calibri (MS) Bold"/>
                  <a:ea typeface="Calibri (MS) Bold"/>
                  <a:cs typeface="Calibri (MS) Bold"/>
                  <a:sym typeface="Calibri (MS) Bold"/>
                </a:rPr>
                <a:t>Unfiltered</a:t>
              </a:r>
            </a:p>
          </p:txBody>
        </p:sp>
        <p:grpSp>
          <p:nvGrpSpPr>
            <p:cNvPr id="146" name="Group 146"/>
            <p:cNvGrpSpPr/>
            <p:nvPr/>
          </p:nvGrpSpPr>
          <p:grpSpPr>
            <a:xfrm>
              <a:off x="1483469" y="6122277"/>
              <a:ext cx="831758" cy="1040861"/>
              <a:chOff x="0" y="0"/>
              <a:chExt cx="10591800" cy="13254572"/>
            </a:xfrm>
          </p:grpSpPr>
          <p:sp>
            <p:nvSpPr>
              <p:cNvPr id="147" name="Freeform 147"/>
              <p:cNvSpPr/>
              <p:nvPr/>
            </p:nvSpPr>
            <p:spPr>
              <a:xfrm>
                <a:off x="0" y="0"/>
                <a:ext cx="10591800" cy="13254572"/>
              </a:xfrm>
              <a:custGeom>
                <a:avLst/>
                <a:gdLst/>
                <a:ahLst/>
                <a:cxnLst/>
                <a:rect l="l" t="t" r="r" b="b"/>
                <a:pathLst>
                  <a:path w="10591800" h="13254572">
                    <a:moveTo>
                      <a:pt x="10591800" y="222020"/>
                    </a:moveTo>
                    <a:lnTo>
                      <a:pt x="10591800" y="13032552"/>
                    </a:lnTo>
                    <a:cubicBezTo>
                      <a:pt x="10591800" y="13155219"/>
                      <a:pt x="10478135" y="13254572"/>
                      <a:pt x="10337800" y="13254572"/>
                    </a:cubicBezTo>
                    <a:lnTo>
                      <a:pt x="254000" y="13254572"/>
                    </a:lnTo>
                    <a:cubicBezTo>
                      <a:pt x="113665" y="13254572"/>
                      <a:pt x="0" y="13155219"/>
                      <a:pt x="0" y="13032552"/>
                    </a:cubicBezTo>
                    <a:lnTo>
                      <a:pt x="0" y="222020"/>
                    </a:lnTo>
                    <a:cubicBezTo>
                      <a:pt x="0" y="99354"/>
                      <a:pt x="113665" y="0"/>
                      <a:pt x="254000" y="0"/>
                    </a:cubicBezTo>
                    <a:lnTo>
                      <a:pt x="10337800" y="0"/>
                    </a:lnTo>
                    <a:cubicBezTo>
                      <a:pt x="10478135" y="0"/>
                      <a:pt x="10591800" y="99354"/>
                      <a:pt x="10591800" y="222020"/>
                    </a:cubicBezTo>
                    <a:close/>
                  </a:path>
                </a:pathLst>
              </a:custGeom>
              <a:blipFill>
                <a:blip r:embed="rId10"/>
                <a:stretch>
                  <a:fillRect l="-610" r="-87570"/>
                </a:stretch>
              </a:blipFill>
            </p:spPr>
            <p:txBody>
              <a:bodyPr/>
              <a:lstStyle/>
              <a:p>
                <a:endParaRPr lang="en-US"/>
              </a:p>
            </p:txBody>
          </p:sp>
        </p:grpSp>
        <p:grpSp>
          <p:nvGrpSpPr>
            <p:cNvPr id="148" name="Group 148"/>
            <p:cNvGrpSpPr/>
            <p:nvPr/>
          </p:nvGrpSpPr>
          <p:grpSpPr>
            <a:xfrm>
              <a:off x="1512367" y="6167992"/>
              <a:ext cx="223830" cy="223830"/>
              <a:chOff x="0" y="0"/>
              <a:chExt cx="812800" cy="812800"/>
            </a:xfrm>
          </p:grpSpPr>
          <p:sp>
            <p:nvSpPr>
              <p:cNvPr id="149" name="Freeform 149"/>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a:blip r:embed="rId10"/>
                <a:stretch>
                  <a:fillRect l="-155679" t="-15600" b="-54426"/>
                </a:stretch>
              </a:blipFill>
              <a:ln w="38100" cap="sq">
                <a:solidFill>
                  <a:srgbClr val="000000"/>
                </a:solidFill>
                <a:prstDash val="solid"/>
                <a:miter/>
              </a:ln>
            </p:spPr>
            <p:txBody>
              <a:bodyPr/>
              <a:lstStyle/>
              <a:p>
                <a:endParaRPr lang="en-US"/>
              </a:p>
            </p:txBody>
          </p:sp>
        </p:grpSp>
        <p:sp>
          <p:nvSpPr>
            <p:cNvPr id="150" name="Freeform 150"/>
            <p:cNvSpPr/>
            <p:nvPr/>
          </p:nvSpPr>
          <p:spPr>
            <a:xfrm>
              <a:off x="1971297" y="6167992"/>
              <a:ext cx="301767" cy="301767"/>
            </a:xfrm>
            <a:custGeom>
              <a:avLst/>
              <a:gdLst/>
              <a:ahLst/>
              <a:cxnLst/>
              <a:rect l="l" t="t" r="r" b="b"/>
              <a:pathLst>
                <a:path w="301767" h="301767">
                  <a:moveTo>
                    <a:pt x="0" y="0"/>
                  </a:moveTo>
                  <a:lnTo>
                    <a:pt x="301767" y="0"/>
                  </a:lnTo>
                  <a:lnTo>
                    <a:pt x="301767" y="301767"/>
                  </a:lnTo>
                  <a:lnTo>
                    <a:pt x="0" y="301767"/>
                  </a:lnTo>
                  <a:lnTo>
                    <a:pt x="0" y="0"/>
                  </a:lnTo>
                  <a:close/>
                </a:path>
              </a:pathLst>
            </a:custGeom>
            <a:blipFill>
              <a:blip>
                <a:extLst>
                  <a:ext uri="{96DAC541-7B7A-43D3-8B79-37D633B846F1}">
                    <asvg:svgBlip xmlns:asvg="http://schemas.microsoft.com/office/drawing/2016/SVG/main" r:embed="rId34"/>
                  </a:ext>
                </a:extLst>
              </a:blip>
              <a:stretch>
                <a:fillRect/>
              </a:stretch>
            </a:blipFill>
          </p:spPr>
          <p:txBody>
            <a:bodyPr/>
            <a:lstStyle/>
            <a:p>
              <a:endParaRPr lang="en-US"/>
            </a:p>
          </p:txBody>
        </p:sp>
        <p:sp>
          <p:nvSpPr>
            <p:cNvPr id="151" name="Freeform 151"/>
            <p:cNvSpPr/>
            <p:nvPr/>
          </p:nvSpPr>
          <p:spPr>
            <a:xfrm>
              <a:off x="2032033" y="6229888"/>
              <a:ext cx="188074" cy="100620"/>
            </a:xfrm>
            <a:custGeom>
              <a:avLst/>
              <a:gdLst/>
              <a:ahLst/>
              <a:cxnLst/>
              <a:rect l="l" t="t" r="r" b="b"/>
              <a:pathLst>
                <a:path w="188074" h="100620">
                  <a:moveTo>
                    <a:pt x="0" y="0"/>
                  </a:moveTo>
                  <a:lnTo>
                    <a:pt x="188074" y="0"/>
                  </a:lnTo>
                  <a:lnTo>
                    <a:pt x="188074" y="100620"/>
                  </a:lnTo>
                  <a:lnTo>
                    <a:pt x="0" y="100620"/>
                  </a:lnTo>
                  <a:lnTo>
                    <a:pt x="0" y="0"/>
                  </a:lnTo>
                  <a:close/>
                </a:path>
              </a:pathLst>
            </a:custGeom>
            <a:blipFill>
              <a:blip>
                <a:extLst>
                  <a:ext uri="{96DAC541-7B7A-43D3-8B79-37D633B846F1}">
                    <asvg:svgBlip xmlns:asvg="http://schemas.microsoft.com/office/drawing/2016/SVG/main" r:embed="rId35"/>
                  </a:ext>
                </a:extLst>
              </a:blip>
              <a:stretch>
                <a:fillRect/>
              </a:stretch>
            </a:blipFill>
          </p:spPr>
          <p:txBody>
            <a:bodyPr/>
            <a:lstStyle/>
            <a:p>
              <a:endParaRPr lang="en-US"/>
            </a:p>
          </p:txBody>
        </p:sp>
        <p:sp>
          <p:nvSpPr>
            <p:cNvPr id="152" name="TextBox 152"/>
            <p:cNvSpPr txBox="1"/>
            <p:nvPr/>
          </p:nvSpPr>
          <p:spPr>
            <a:xfrm>
              <a:off x="2007657" y="6174775"/>
              <a:ext cx="236825" cy="108765"/>
            </a:xfrm>
            <a:prstGeom prst="rect">
              <a:avLst/>
            </a:prstGeom>
          </p:spPr>
          <p:txBody>
            <a:bodyPr lIns="0" tIns="0" rIns="0" bIns="0" rtlCol="0" anchor="t">
              <a:spAutoFit/>
            </a:bodyPr>
            <a:lstStyle/>
            <a:p>
              <a:pPr algn="ctr">
                <a:lnSpc>
                  <a:spcPts val="288"/>
                </a:lnSpc>
                <a:spcBef>
                  <a:spcPct val="0"/>
                </a:spcBef>
              </a:pPr>
              <a:r>
                <a:rPr lang="en-US" sz="240" b="1" spc="32">
                  <a:solidFill>
                    <a:srgbClr val="FFFFFF"/>
                  </a:solidFill>
                  <a:latin typeface="Calibri (MS) Bold"/>
                  <a:ea typeface="Calibri (MS) Bold"/>
                  <a:cs typeface="Calibri (MS) Bold"/>
                  <a:sym typeface="Calibri (MS) Bold"/>
                </a:rPr>
                <a:t>CRAMMING</a:t>
              </a:r>
            </a:p>
          </p:txBody>
        </p:sp>
        <p:sp>
          <p:nvSpPr>
            <p:cNvPr id="153" name="Freeform 153"/>
            <p:cNvSpPr/>
            <p:nvPr/>
          </p:nvSpPr>
          <p:spPr>
            <a:xfrm rot="-3394830" flipV="1">
              <a:off x="1989859" y="6292480"/>
              <a:ext cx="46520" cy="14623"/>
            </a:xfrm>
            <a:custGeom>
              <a:avLst/>
              <a:gdLst/>
              <a:ahLst/>
              <a:cxnLst/>
              <a:rect l="l" t="t" r="r" b="b"/>
              <a:pathLst>
                <a:path w="46520" h="14623">
                  <a:moveTo>
                    <a:pt x="0" y="14622"/>
                  </a:moveTo>
                  <a:lnTo>
                    <a:pt x="46520" y="14622"/>
                  </a:lnTo>
                  <a:lnTo>
                    <a:pt x="46520" y="0"/>
                  </a:lnTo>
                  <a:lnTo>
                    <a:pt x="0" y="0"/>
                  </a:lnTo>
                  <a:lnTo>
                    <a:pt x="0" y="14622"/>
                  </a:lnTo>
                  <a:close/>
                </a:path>
              </a:pathLst>
            </a:custGeom>
            <a:blipFill>
              <a:blip>
                <a:extLst>
                  <a:ext uri="{96DAC541-7B7A-43D3-8B79-37D633B846F1}">
                    <asvg:svgBlip xmlns:asvg="http://schemas.microsoft.com/office/drawing/2016/SVG/main" r:embed="rId24"/>
                  </a:ext>
                </a:extLst>
              </a:blip>
              <a:stretch>
                <a:fillRect l="-116778"/>
              </a:stretch>
            </a:blipFill>
          </p:spPr>
          <p:txBody>
            <a:bodyPr/>
            <a:lstStyle/>
            <a:p>
              <a:endParaRPr lang="en-US"/>
            </a:p>
          </p:txBody>
        </p:sp>
        <p:sp>
          <p:nvSpPr>
            <p:cNvPr id="154" name="Freeform 154"/>
            <p:cNvSpPr/>
            <p:nvPr/>
          </p:nvSpPr>
          <p:spPr>
            <a:xfrm rot="-6716943">
              <a:off x="2216012" y="6293075"/>
              <a:ext cx="42734" cy="13433"/>
            </a:xfrm>
            <a:custGeom>
              <a:avLst/>
              <a:gdLst/>
              <a:ahLst/>
              <a:cxnLst/>
              <a:rect l="l" t="t" r="r" b="b"/>
              <a:pathLst>
                <a:path w="42734" h="13433">
                  <a:moveTo>
                    <a:pt x="0" y="0"/>
                  </a:moveTo>
                  <a:lnTo>
                    <a:pt x="42734" y="0"/>
                  </a:lnTo>
                  <a:lnTo>
                    <a:pt x="42734" y="13432"/>
                  </a:lnTo>
                  <a:lnTo>
                    <a:pt x="0" y="13432"/>
                  </a:lnTo>
                  <a:lnTo>
                    <a:pt x="0" y="0"/>
                  </a:lnTo>
                  <a:close/>
                </a:path>
              </a:pathLst>
            </a:custGeom>
            <a:blipFill>
              <a:blip>
                <a:extLst>
                  <a:ext uri="{96DAC541-7B7A-43D3-8B79-37D633B846F1}">
                    <asvg:svgBlip xmlns:asvg="http://schemas.microsoft.com/office/drawing/2016/SVG/main" r:embed="rId24"/>
                  </a:ext>
                </a:extLst>
              </a:blip>
              <a:stretch>
                <a:fillRect l="-116778"/>
              </a:stretch>
            </a:blipFill>
          </p:spPr>
          <p:txBody>
            <a:bodyPr/>
            <a:lstStyle/>
            <a:p>
              <a:endParaRPr lang="en-US"/>
            </a:p>
          </p:txBody>
        </p:sp>
        <p:sp>
          <p:nvSpPr>
            <p:cNvPr id="155" name="Freeform 155"/>
            <p:cNvSpPr/>
            <p:nvPr/>
          </p:nvSpPr>
          <p:spPr>
            <a:xfrm rot="2699999">
              <a:off x="2025708" y="6259754"/>
              <a:ext cx="195224" cy="195224"/>
            </a:xfrm>
            <a:custGeom>
              <a:avLst/>
              <a:gdLst/>
              <a:ahLst/>
              <a:cxnLst/>
              <a:rect l="l" t="t" r="r" b="b"/>
              <a:pathLst>
                <a:path w="195224" h="195224">
                  <a:moveTo>
                    <a:pt x="0" y="0"/>
                  </a:moveTo>
                  <a:lnTo>
                    <a:pt x="195225" y="0"/>
                  </a:lnTo>
                  <a:lnTo>
                    <a:pt x="195225" y="195225"/>
                  </a:lnTo>
                  <a:lnTo>
                    <a:pt x="0" y="195225"/>
                  </a:lnTo>
                  <a:lnTo>
                    <a:pt x="0" y="0"/>
                  </a:lnTo>
                  <a:close/>
                </a:path>
              </a:pathLst>
            </a:custGeom>
            <a:blipFill>
              <a:blip>
                <a:extLst>
                  <a:ext uri="{96DAC541-7B7A-43D3-8B79-37D633B846F1}">
                    <asvg:svgBlip xmlns:asvg="http://schemas.microsoft.com/office/drawing/2016/SVG/main" r:embed="rId36"/>
                  </a:ext>
                </a:extLst>
              </a:blip>
              <a:stretch>
                <a:fillRect/>
              </a:stretch>
            </a:blipFill>
          </p:spPr>
          <p:txBody>
            <a:bodyPr/>
            <a:lstStyle/>
            <a:p>
              <a:endParaRPr lang="en-US"/>
            </a:p>
          </p:txBody>
        </p:sp>
        <p:sp>
          <p:nvSpPr>
            <p:cNvPr id="156" name="TextBox 156"/>
            <p:cNvSpPr txBox="1"/>
            <p:nvPr/>
          </p:nvSpPr>
          <p:spPr>
            <a:xfrm>
              <a:off x="2079312" y="6424200"/>
              <a:ext cx="85737" cy="15083"/>
            </a:xfrm>
            <a:prstGeom prst="rect">
              <a:avLst/>
            </a:prstGeom>
          </p:spPr>
          <p:txBody>
            <a:bodyPr lIns="0" tIns="0" rIns="0" bIns="0" rtlCol="0" anchor="t">
              <a:spAutoFit/>
            </a:bodyPr>
            <a:lstStyle/>
            <a:p>
              <a:pPr algn="ctr">
                <a:lnSpc>
                  <a:spcPts val="89"/>
                </a:lnSpc>
                <a:spcBef>
                  <a:spcPct val="0"/>
                </a:spcBef>
              </a:pPr>
              <a:r>
                <a:rPr lang="en-US" sz="100" b="1" spc="10">
                  <a:solidFill>
                    <a:srgbClr val="FFFFFF"/>
                  </a:solidFill>
                  <a:latin typeface="Calibri (MS) Bold"/>
                  <a:ea typeface="Calibri (MS) Bold"/>
                  <a:cs typeface="Calibri (MS) Bold"/>
                  <a:sym typeface="Calibri (MS) Bold"/>
                </a:rPr>
                <a:t>October2026</a:t>
              </a:r>
            </a:p>
          </p:txBody>
        </p:sp>
        <p:sp>
          <p:nvSpPr>
            <p:cNvPr id="157" name="Freeform 157"/>
            <p:cNvSpPr/>
            <p:nvPr/>
          </p:nvSpPr>
          <p:spPr>
            <a:xfrm rot="2699999">
              <a:off x="2048954" y="6331150"/>
              <a:ext cx="146454" cy="146454"/>
            </a:xfrm>
            <a:custGeom>
              <a:avLst/>
              <a:gdLst/>
              <a:ahLst/>
              <a:cxnLst/>
              <a:rect l="l" t="t" r="r" b="b"/>
              <a:pathLst>
                <a:path w="146454" h="146454">
                  <a:moveTo>
                    <a:pt x="0" y="0"/>
                  </a:moveTo>
                  <a:lnTo>
                    <a:pt x="146453" y="0"/>
                  </a:lnTo>
                  <a:lnTo>
                    <a:pt x="146453" y="146454"/>
                  </a:lnTo>
                  <a:lnTo>
                    <a:pt x="0" y="146454"/>
                  </a:lnTo>
                  <a:lnTo>
                    <a:pt x="0" y="0"/>
                  </a:lnTo>
                  <a:close/>
                </a:path>
              </a:pathLst>
            </a:custGeom>
            <a:blipFill>
              <a:blip>
                <a:extLst>
                  <a:ext uri="{96DAC541-7B7A-43D3-8B79-37D633B846F1}">
                    <asvg:svgBlip xmlns:asvg="http://schemas.microsoft.com/office/drawing/2016/SVG/main" r:embed="rId36"/>
                  </a:ext>
                </a:extLst>
              </a:blip>
              <a:stretch>
                <a:fillRect/>
              </a:stretch>
            </a:blipFill>
          </p:spPr>
          <p:txBody>
            <a:bodyPr/>
            <a:lstStyle/>
            <a:p>
              <a:endParaRPr lang="en-US"/>
            </a:p>
          </p:txBody>
        </p:sp>
        <p:sp>
          <p:nvSpPr>
            <p:cNvPr id="158" name="Freeform 158"/>
            <p:cNvSpPr/>
            <p:nvPr/>
          </p:nvSpPr>
          <p:spPr>
            <a:xfrm>
              <a:off x="2092684" y="6262488"/>
              <a:ext cx="66772" cy="65437"/>
            </a:xfrm>
            <a:custGeom>
              <a:avLst/>
              <a:gdLst/>
              <a:ahLst/>
              <a:cxnLst/>
              <a:rect l="l" t="t" r="r" b="b"/>
              <a:pathLst>
                <a:path w="66772" h="65437">
                  <a:moveTo>
                    <a:pt x="0" y="0"/>
                  </a:moveTo>
                  <a:lnTo>
                    <a:pt x="66772" y="0"/>
                  </a:lnTo>
                  <a:lnTo>
                    <a:pt x="66772" y="65437"/>
                  </a:lnTo>
                  <a:lnTo>
                    <a:pt x="0" y="65437"/>
                  </a:lnTo>
                  <a:lnTo>
                    <a:pt x="0" y="0"/>
                  </a:lnTo>
                  <a:close/>
                </a:path>
              </a:pathLst>
            </a:custGeom>
            <a:blipFill>
              <a:blip r:embed="rId37"/>
              <a:stretch>
                <a:fillRect/>
              </a:stretch>
            </a:blipFill>
          </p:spPr>
          <p:txBody>
            <a:bodyPr/>
            <a:lstStyle/>
            <a:p>
              <a:endParaRPr lang="en-US"/>
            </a:p>
          </p:txBody>
        </p:sp>
        <p:sp>
          <p:nvSpPr>
            <p:cNvPr id="159" name="TextBox 159"/>
            <p:cNvSpPr txBox="1"/>
            <p:nvPr/>
          </p:nvSpPr>
          <p:spPr>
            <a:xfrm>
              <a:off x="2053538" y="6363586"/>
              <a:ext cx="139566" cy="33788"/>
            </a:xfrm>
            <a:prstGeom prst="rect">
              <a:avLst/>
            </a:prstGeom>
          </p:spPr>
          <p:txBody>
            <a:bodyPr lIns="0" tIns="0" rIns="0" bIns="0" rtlCol="0" anchor="t">
              <a:spAutoFit/>
            </a:bodyPr>
            <a:lstStyle/>
            <a:p>
              <a:pPr algn="ctr">
                <a:lnSpc>
                  <a:spcPts val="145"/>
                </a:lnSpc>
                <a:spcBef>
                  <a:spcPct val="0"/>
                </a:spcBef>
              </a:pPr>
              <a:r>
                <a:rPr lang="en-US" sz="121" b="1">
                  <a:solidFill>
                    <a:srgbClr val="FFFFFF"/>
                  </a:solidFill>
                  <a:latin typeface="Calibri (MS) Bold"/>
                  <a:ea typeface="Calibri (MS) Bold"/>
                  <a:cs typeface="Calibri (MS) Bold"/>
                  <a:sym typeface="Calibri (MS) Bold"/>
                </a:rPr>
                <a:t> REAL PASSPORT</a:t>
              </a:r>
            </a:p>
          </p:txBody>
        </p:sp>
        <p:sp>
          <p:nvSpPr>
            <p:cNvPr id="160" name="TextBox 160"/>
            <p:cNvSpPr txBox="1"/>
            <p:nvPr/>
          </p:nvSpPr>
          <p:spPr>
            <a:xfrm>
              <a:off x="1991244" y="6330422"/>
              <a:ext cx="66201" cy="15083"/>
            </a:xfrm>
            <a:prstGeom prst="rect">
              <a:avLst/>
            </a:prstGeom>
          </p:spPr>
          <p:txBody>
            <a:bodyPr lIns="0" tIns="0" rIns="0" bIns="0" rtlCol="0" anchor="t">
              <a:spAutoFit/>
            </a:bodyPr>
            <a:lstStyle/>
            <a:p>
              <a:pPr algn="ctr">
                <a:lnSpc>
                  <a:spcPts val="89"/>
                </a:lnSpc>
                <a:spcBef>
                  <a:spcPct val="0"/>
                </a:spcBef>
              </a:pPr>
              <a:r>
                <a:rPr lang="en-US" sz="100" b="1">
                  <a:solidFill>
                    <a:srgbClr val="FFDE59"/>
                  </a:solidFill>
                  <a:latin typeface="Calibri (MS) Bold"/>
                  <a:ea typeface="Calibri (MS) Bold"/>
                  <a:cs typeface="Calibri (MS) Bold"/>
                  <a:sym typeface="Calibri (MS) Bold"/>
                </a:rPr>
                <a:t>BeReal.</a:t>
              </a:r>
            </a:p>
          </p:txBody>
        </p:sp>
        <p:sp>
          <p:nvSpPr>
            <p:cNvPr id="161" name="TextBox 161"/>
            <p:cNvSpPr txBox="1"/>
            <p:nvPr/>
          </p:nvSpPr>
          <p:spPr>
            <a:xfrm>
              <a:off x="2185394" y="6330422"/>
              <a:ext cx="66201" cy="15083"/>
            </a:xfrm>
            <a:prstGeom prst="rect">
              <a:avLst/>
            </a:prstGeom>
          </p:spPr>
          <p:txBody>
            <a:bodyPr lIns="0" tIns="0" rIns="0" bIns="0" rtlCol="0" anchor="t">
              <a:spAutoFit/>
            </a:bodyPr>
            <a:lstStyle/>
            <a:p>
              <a:pPr algn="ctr">
                <a:lnSpc>
                  <a:spcPts val="89"/>
                </a:lnSpc>
                <a:spcBef>
                  <a:spcPct val="0"/>
                </a:spcBef>
              </a:pPr>
              <a:r>
                <a:rPr lang="en-US" sz="100" b="1">
                  <a:solidFill>
                    <a:srgbClr val="FFDE59"/>
                  </a:solidFill>
                  <a:latin typeface="Calibri (MS) Bold"/>
                  <a:ea typeface="Calibri (MS) Bold"/>
                  <a:cs typeface="Calibri (MS) Bold"/>
                  <a:sym typeface="Calibri (MS) Bold"/>
                </a:rPr>
                <a:t>Unfiltered</a:t>
              </a:r>
            </a:p>
          </p:txBody>
        </p:sp>
        <p:grpSp>
          <p:nvGrpSpPr>
            <p:cNvPr id="162" name="Group 162"/>
            <p:cNvGrpSpPr/>
            <p:nvPr/>
          </p:nvGrpSpPr>
          <p:grpSpPr>
            <a:xfrm>
              <a:off x="2381701" y="6122526"/>
              <a:ext cx="831758" cy="1040861"/>
              <a:chOff x="0" y="0"/>
              <a:chExt cx="10591800" cy="13254572"/>
            </a:xfrm>
          </p:grpSpPr>
          <p:sp>
            <p:nvSpPr>
              <p:cNvPr id="163" name="Freeform 163"/>
              <p:cNvSpPr/>
              <p:nvPr/>
            </p:nvSpPr>
            <p:spPr>
              <a:xfrm>
                <a:off x="0" y="0"/>
                <a:ext cx="10591800" cy="13254572"/>
              </a:xfrm>
              <a:custGeom>
                <a:avLst/>
                <a:gdLst/>
                <a:ahLst/>
                <a:cxnLst/>
                <a:rect l="l" t="t" r="r" b="b"/>
                <a:pathLst>
                  <a:path w="10591800" h="13254572">
                    <a:moveTo>
                      <a:pt x="10591800" y="222020"/>
                    </a:moveTo>
                    <a:lnTo>
                      <a:pt x="10591800" y="13032552"/>
                    </a:lnTo>
                    <a:cubicBezTo>
                      <a:pt x="10591800" y="13155219"/>
                      <a:pt x="10478135" y="13254572"/>
                      <a:pt x="10337800" y="13254572"/>
                    </a:cubicBezTo>
                    <a:lnTo>
                      <a:pt x="254000" y="13254572"/>
                    </a:lnTo>
                    <a:cubicBezTo>
                      <a:pt x="113665" y="13254572"/>
                      <a:pt x="0" y="13155219"/>
                      <a:pt x="0" y="13032552"/>
                    </a:cubicBezTo>
                    <a:lnTo>
                      <a:pt x="0" y="222020"/>
                    </a:lnTo>
                    <a:cubicBezTo>
                      <a:pt x="0" y="99354"/>
                      <a:pt x="113665" y="0"/>
                      <a:pt x="254000" y="0"/>
                    </a:cubicBezTo>
                    <a:lnTo>
                      <a:pt x="10337800" y="0"/>
                    </a:lnTo>
                    <a:cubicBezTo>
                      <a:pt x="10478135" y="0"/>
                      <a:pt x="10591800" y="99354"/>
                      <a:pt x="10591800" y="222020"/>
                    </a:cubicBezTo>
                    <a:close/>
                  </a:path>
                </a:pathLst>
              </a:custGeom>
              <a:blipFill>
                <a:blip r:embed="rId38"/>
                <a:stretch>
                  <a:fillRect l="-44090" r="-44090"/>
                </a:stretch>
              </a:blipFill>
            </p:spPr>
            <p:txBody>
              <a:bodyPr/>
              <a:lstStyle/>
              <a:p>
                <a:endParaRPr lang="en-US"/>
              </a:p>
            </p:txBody>
          </p:sp>
        </p:grpSp>
        <p:grpSp>
          <p:nvGrpSpPr>
            <p:cNvPr id="164" name="Group 164"/>
            <p:cNvGrpSpPr/>
            <p:nvPr/>
          </p:nvGrpSpPr>
          <p:grpSpPr>
            <a:xfrm>
              <a:off x="2431152" y="6176997"/>
              <a:ext cx="223830" cy="223830"/>
              <a:chOff x="0" y="0"/>
              <a:chExt cx="812800" cy="812800"/>
            </a:xfrm>
          </p:grpSpPr>
          <p:sp>
            <p:nvSpPr>
              <p:cNvPr id="165" name="Freeform 165"/>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a:blip r:embed="rId18"/>
                <a:stretch>
                  <a:fillRect t="-38495" b="-38495"/>
                </a:stretch>
              </a:blipFill>
              <a:ln w="38100" cap="sq">
                <a:solidFill>
                  <a:srgbClr val="000000"/>
                </a:solidFill>
                <a:prstDash val="solid"/>
                <a:miter/>
              </a:ln>
            </p:spPr>
            <p:txBody>
              <a:bodyPr/>
              <a:lstStyle/>
              <a:p>
                <a:endParaRPr lang="en-US"/>
              </a:p>
            </p:txBody>
          </p:sp>
        </p:grpSp>
        <p:sp>
          <p:nvSpPr>
            <p:cNvPr id="166" name="Freeform 166"/>
            <p:cNvSpPr/>
            <p:nvPr/>
          </p:nvSpPr>
          <p:spPr>
            <a:xfrm>
              <a:off x="2818229" y="6176997"/>
              <a:ext cx="318709" cy="318709"/>
            </a:xfrm>
            <a:custGeom>
              <a:avLst/>
              <a:gdLst/>
              <a:ahLst/>
              <a:cxnLst/>
              <a:rect l="l" t="t" r="r" b="b"/>
              <a:pathLst>
                <a:path w="318709" h="318709">
                  <a:moveTo>
                    <a:pt x="0" y="0"/>
                  </a:moveTo>
                  <a:lnTo>
                    <a:pt x="318709" y="0"/>
                  </a:lnTo>
                  <a:lnTo>
                    <a:pt x="318709" y="318709"/>
                  </a:lnTo>
                  <a:lnTo>
                    <a:pt x="0" y="318709"/>
                  </a:lnTo>
                  <a:lnTo>
                    <a:pt x="0" y="0"/>
                  </a:lnTo>
                  <a:close/>
                </a:path>
              </a:pathLst>
            </a:custGeom>
            <a:blipFill>
              <a:blip>
                <a:extLst>
                  <a:ext uri="{96DAC541-7B7A-43D3-8B79-37D633B846F1}">
                    <asvg:svgBlip xmlns:asvg="http://schemas.microsoft.com/office/drawing/2016/SVG/main" r:embed="rId39"/>
                  </a:ext>
                </a:extLst>
              </a:blip>
              <a:stretch>
                <a:fillRect/>
              </a:stretch>
            </a:blipFill>
          </p:spPr>
          <p:txBody>
            <a:bodyPr/>
            <a:lstStyle/>
            <a:p>
              <a:endParaRPr lang="en-US"/>
            </a:p>
          </p:txBody>
        </p:sp>
        <p:sp>
          <p:nvSpPr>
            <p:cNvPr id="167" name="Freeform 167"/>
            <p:cNvSpPr/>
            <p:nvPr/>
          </p:nvSpPr>
          <p:spPr>
            <a:xfrm>
              <a:off x="2882375" y="6242369"/>
              <a:ext cx="198633" cy="106269"/>
            </a:xfrm>
            <a:custGeom>
              <a:avLst/>
              <a:gdLst/>
              <a:ahLst/>
              <a:cxnLst/>
              <a:rect l="l" t="t" r="r" b="b"/>
              <a:pathLst>
                <a:path w="198633" h="106269">
                  <a:moveTo>
                    <a:pt x="0" y="0"/>
                  </a:moveTo>
                  <a:lnTo>
                    <a:pt x="198633" y="0"/>
                  </a:lnTo>
                  <a:lnTo>
                    <a:pt x="198633" y="106268"/>
                  </a:lnTo>
                  <a:lnTo>
                    <a:pt x="0" y="106268"/>
                  </a:lnTo>
                  <a:lnTo>
                    <a:pt x="0" y="0"/>
                  </a:lnTo>
                  <a:close/>
                </a:path>
              </a:pathLst>
            </a:custGeom>
            <a:blipFill>
              <a:blip>
                <a:extLst>
                  <a:ext uri="{96DAC541-7B7A-43D3-8B79-37D633B846F1}">
                    <asvg:svgBlip xmlns:asvg="http://schemas.microsoft.com/office/drawing/2016/SVG/main" r:embed="rId40"/>
                  </a:ext>
                </a:extLst>
              </a:blip>
              <a:stretch>
                <a:fillRect/>
              </a:stretch>
            </a:blipFill>
          </p:spPr>
          <p:txBody>
            <a:bodyPr/>
            <a:lstStyle/>
            <a:p>
              <a:endParaRPr lang="en-US"/>
            </a:p>
          </p:txBody>
        </p:sp>
        <p:sp>
          <p:nvSpPr>
            <p:cNvPr id="168" name="TextBox 168"/>
            <p:cNvSpPr txBox="1"/>
            <p:nvPr/>
          </p:nvSpPr>
          <p:spPr>
            <a:xfrm>
              <a:off x="2892107" y="6175171"/>
              <a:ext cx="179168" cy="93257"/>
            </a:xfrm>
            <a:prstGeom prst="rect">
              <a:avLst/>
            </a:prstGeom>
          </p:spPr>
          <p:txBody>
            <a:bodyPr lIns="0" tIns="0" rIns="0" bIns="0" rtlCol="0" anchor="t">
              <a:spAutoFit/>
            </a:bodyPr>
            <a:lstStyle/>
            <a:p>
              <a:pPr algn="ctr">
                <a:lnSpc>
                  <a:spcPts val="304"/>
                </a:lnSpc>
                <a:spcBef>
                  <a:spcPct val="0"/>
                </a:spcBef>
              </a:pPr>
              <a:r>
                <a:rPr lang="en-US" sz="253" b="1" spc="34">
                  <a:solidFill>
                    <a:srgbClr val="FFFFFF"/>
                  </a:solidFill>
                  <a:latin typeface="Calibri (MS) Bold"/>
                  <a:ea typeface="Calibri (MS) Bold"/>
                  <a:cs typeface="Calibri (MS) Bold"/>
                  <a:sym typeface="Calibri (MS) Bold"/>
                </a:rPr>
                <a:t>COFFEE</a:t>
              </a:r>
            </a:p>
          </p:txBody>
        </p:sp>
        <p:sp>
          <p:nvSpPr>
            <p:cNvPr id="169" name="Freeform 169"/>
            <p:cNvSpPr/>
            <p:nvPr/>
          </p:nvSpPr>
          <p:spPr>
            <a:xfrm rot="-3394830" flipV="1">
              <a:off x="2837834" y="6308475"/>
              <a:ext cx="49132" cy="15444"/>
            </a:xfrm>
            <a:custGeom>
              <a:avLst/>
              <a:gdLst/>
              <a:ahLst/>
              <a:cxnLst/>
              <a:rect l="l" t="t" r="r" b="b"/>
              <a:pathLst>
                <a:path w="49132" h="15444">
                  <a:moveTo>
                    <a:pt x="0" y="15443"/>
                  </a:moveTo>
                  <a:lnTo>
                    <a:pt x="49132" y="15443"/>
                  </a:lnTo>
                  <a:lnTo>
                    <a:pt x="49132" y="0"/>
                  </a:lnTo>
                  <a:lnTo>
                    <a:pt x="0" y="0"/>
                  </a:lnTo>
                  <a:lnTo>
                    <a:pt x="0" y="15443"/>
                  </a:lnTo>
                  <a:close/>
                </a:path>
              </a:pathLst>
            </a:custGeom>
            <a:blipFill>
              <a:blip>
                <a:extLst>
                  <a:ext uri="{96DAC541-7B7A-43D3-8B79-37D633B846F1}">
                    <asvg:svgBlip xmlns:asvg="http://schemas.microsoft.com/office/drawing/2016/SVG/main" r:embed="rId24"/>
                  </a:ext>
                </a:extLst>
              </a:blip>
              <a:stretch>
                <a:fillRect l="-116778"/>
              </a:stretch>
            </a:blipFill>
          </p:spPr>
          <p:txBody>
            <a:bodyPr/>
            <a:lstStyle/>
            <a:p>
              <a:endParaRPr lang="en-US"/>
            </a:p>
          </p:txBody>
        </p:sp>
        <p:sp>
          <p:nvSpPr>
            <p:cNvPr id="170" name="Freeform 170"/>
            <p:cNvSpPr/>
            <p:nvPr/>
          </p:nvSpPr>
          <p:spPr>
            <a:xfrm rot="-6716943">
              <a:off x="3076683" y="6309103"/>
              <a:ext cx="45133" cy="14187"/>
            </a:xfrm>
            <a:custGeom>
              <a:avLst/>
              <a:gdLst/>
              <a:ahLst/>
              <a:cxnLst/>
              <a:rect l="l" t="t" r="r" b="b"/>
              <a:pathLst>
                <a:path w="45133" h="14187">
                  <a:moveTo>
                    <a:pt x="0" y="0"/>
                  </a:moveTo>
                  <a:lnTo>
                    <a:pt x="45133" y="0"/>
                  </a:lnTo>
                  <a:lnTo>
                    <a:pt x="45133" y="14187"/>
                  </a:lnTo>
                  <a:lnTo>
                    <a:pt x="0" y="14187"/>
                  </a:lnTo>
                  <a:lnTo>
                    <a:pt x="0" y="0"/>
                  </a:lnTo>
                  <a:close/>
                </a:path>
              </a:pathLst>
            </a:custGeom>
            <a:blipFill>
              <a:blip>
                <a:extLst>
                  <a:ext uri="{96DAC541-7B7A-43D3-8B79-37D633B846F1}">
                    <asvg:svgBlip xmlns:asvg="http://schemas.microsoft.com/office/drawing/2016/SVG/main" r:embed="rId24"/>
                  </a:ext>
                </a:extLst>
              </a:blip>
              <a:stretch>
                <a:fillRect l="-116778"/>
              </a:stretch>
            </a:blipFill>
          </p:spPr>
          <p:txBody>
            <a:bodyPr/>
            <a:lstStyle/>
            <a:p>
              <a:endParaRPr lang="en-US"/>
            </a:p>
          </p:txBody>
        </p:sp>
        <p:sp>
          <p:nvSpPr>
            <p:cNvPr id="171" name="Freeform 171"/>
            <p:cNvSpPr/>
            <p:nvPr/>
          </p:nvSpPr>
          <p:spPr>
            <a:xfrm rot="2699999">
              <a:off x="2875695" y="6273912"/>
              <a:ext cx="206185" cy="206185"/>
            </a:xfrm>
            <a:custGeom>
              <a:avLst/>
              <a:gdLst/>
              <a:ahLst/>
              <a:cxnLst/>
              <a:rect l="l" t="t" r="r" b="b"/>
              <a:pathLst>
                <a:path w="206185" h="206185">
                  <a:moveTo>
                    <a:pt x="0" y="0"/>
                  </a:moveTo>
                  <a:lnTo>
                    <a:pt x="206185" y="0"/>
                  </a:lnTo>
                  <a:lnTo>
                    <a:pt x="206185" y="206185"/>
                  </a:lnTo>
                  <a:lnTo>
                    <a:pt x="0" y="206185"/>
                  </a:lnTo>
                  <a:lnTo>
                    <a:pt x="0" y="0"/>
                  </a:lnTo>
                  <a:close/>
                </a:path>
              </a:pathLst>
            </a:custGeom>
            <a:blipFill>
              <a:blip>
                <a:extLst>
                  <a:ext uri="{96DAC541-7B7A-43D3-8B79-37D633B846F1}">
                    <asvg:svgBlip xmlns:asvg="http://schemas.microsoft.com/office/drawing/2016/SVG/main" r:embed="rId41"/>
                  </a:ext>
                </a:extLst>
              </a:blip>
              <a:stretch>
                <a:fillRect/>
              </a:stretch>
            </a:blipFill>
          </p:spPr>
          <p:txBody>
            <a:bodyPr/>
            <a:lstStyle/>
            <a:p>
              <a:endParaRPr lang="en-US"/>
            </a:p>
          </p:txBody>
        </p:sp>
        <p:sp>
          <p:nvSpPr>
            <p:cNvPr id="172" name="TextBox 172"/>
            <p:cNvSpPr txBox="1"/>
            <p:nvPr/>
          </p:nvSpPr>
          <p:spPr>
            <a:xfrm>
              <a:off x="2932308" y="6447590"/>
              <a:ext cx="90551" cy="15929"/>
            </a:xfrm>
            <a:prstGeom prst="rect">
              <a:avLst/>
            </a:prstGeom>
          </p:spPr>
          <p:txBody>
            <a:bodyPr lIns="0" tIns="0" rIns="0" bIns="0" rtlCol="0" anchor="t">
              <a:spAutoFit/>
            </a:bodyPr>
            <a:lstStyle/>
            <a:p>
              <a:pPr algn="ctr">
                <a:lnSpc>
                  <a:spcPts val="94"/>
                </a:lnSpc>
                <a:spcBef>
                  <a:spcPct val="0"/>
                </a:spcBef>
              </a:pPr>
              <a:r>
                <a:rPr lang="en-US" sz="100" b="1" spc="10">
                  <a:solidFill>
                    <a:srgbClr val="FFFFFF"/>
                  </a:solidFill>
                  <a:latin typeface="Calibri (MS) Bold"/>
                  <a:ea typeface="Calibri (MS) Bold"/>
                  <a:cs typeface="Calibri (MS) Bold"/>
                  <a:sym typeface="Calibri (MS) Bold"/>
                </a:rPr>
                <a:t>October2026</a:t>
              </a:r>
            </a:p>
          </p:txBody>
        </p:sp>
        <p:sp>
          <p:nvSpPr>
            <p:cNvPr id="173" name="Freeform 173"/>
            <p:cNvSpPr/>
            <p:nvPr/>
          </p:nvSpPr>
          <p:spPr>
            <a:xfrm rot="2699999">
              <a:off x="2900246" y="6349316"/>
              <a:ext cx="154676" cy="154676"/>
            </a:xfrm>
            <a:custGeom>
              <a:avLst/>
              <a:gdLst/>
              <a:ahLst/>
              <a:cxnLst/>
              <a:rect l="l" t="t" r="r" b="b"/>
              <a:pathLst>
                <a:path w="154676" h="154676">
                  <a:moveTo>
                    <a:pt x="0" y="0"/>
                  </a:moveTo>
                  <a:lnTo>
                    <a:pt x="154676" y="0"/>
                  </a:lnTo>
                  <a:lnTo>
                    <a:pt x="154676" y="154676"/>
                  </a:lnTo>
                  <a:lnTo>
                    <a:pt x="0" y="154676"/>
                  </a:lnTo>
                  <a:lnTo>
                    <a:pt x="0" y="0"/>
                  </a:lnTo>
                  <a:close/>
                </a:path>
              </a:pathLst>
            </a:custGeom>
            <a:blipFill>
              <a:blip>
                <a:extLst>
                  <a:ext uri="{96DAC541-7B7A-43D3-8B79-37D633B846F1}">
                    <asvg:svgBlip xmlns:asvg="http://schemas.microsoft.com/office/drawing/2016/SVG/main" r:embed="rId41"/>
                  </a:ext>
                </a:extLst>
              </a:blip>
              <a:stretch>
                <a:fillRect/>
              </a:stretch>
            </a:blipFill>
          </p:spPr>
          <p:txBody>
            <a:bodyPr/>
            <a:lstStyle/>
            <a:p>
              <a:endParaRPr lang="en-US"/>
            </a:p>
          </p:txBody>
        </p:sp>
        <p:sp>
          <p:nvSpPr>
            <p:cNvPr id="174" name="TextBox 174"/>
            <p:cNvSpPr txBox="1"/>
            <p:nvPr/>
          </p:nvSpPr>
          <p:spPr>
            <a:xfrm>
              <a:off x="2905087" y="6384108"/>
              <a:ext cx="147401" cy="35151"/>
            </a:xfrm>
            <a:prstGeom prst="rect">
              <a:avLst/>
            </a:prstGeom>
          </p:spPr>
          <p:txBody>
            <a:bodyPr lIns="0" tIns="0" rIns="0" bIns="0" rtlCol="0" anchor="t">
              <a:spAutoFit/>
            </a:bodyPr>
            <a:lstStyle/>
            <a:p>
              <a:pPr algn="ctr">
                <a:lnSpc>
                  <a:spcPts val="153"/>
                </a:lnSpc>
                <a:spcBef>
                  <a:spcPct val="0"/>
                </a:spcBef>
              </a:pPr>
              <a:r>
                <a:rPr lang="en-US" sz="128" b="1">
                  <a:solidFill>
                    <a:srgbClr val="FFFFFF"/>
                  </a:solidFill>
                  <a:latin typeface="Calibri (MS) Bold"/>
                  <a:ea typeface="Calibri (MS) Bold"/>
                  <a:cs typeface="Calibri (MS) Bold"/>
                  <a:sym typeface="Calibri (MS) Bold"/>
                </a:rPr>
                <a:t> REAL PASSPORT</a:t>
              </a:r>
            </a:p>
          </p:txBody>
        </p:sp>
        <p:sp>
          <p:nvSpPr>
            <p:cNvPr id="175" name="TextBox 175"/>
            <p:cNvSpPr txBox="1"/>
            <p:nvPr/>
          </p:nvSpPr>
          <p:spPr>
            <a:xfrm>
              <a:off x="2839296" y="6348547"/>
              <a:ext cx="69917" cy="15929"/>
            </a:xfrm>
            <a:prstGeom prst="rect">
              <a:avLst/>
            </a:prstGeom>
          </p:spPr>
          <p:txBody>
            <a:bodyPr lIns="0" tIns="0" rIns="0" bIns="0" rtlCol="0" anchor="t">
              <a:spAutoFit/>
            </a:bodyPr>
            <a:lstStyle/>
            <a:p>
              <a:pPr algn="ctr">
                <a:lnSpc>
                  <a:spcPts val="94"/>
                </a:lnSpc>
                <a:spcBef>
                  <a:spcPct val="0"/>
                </a:spcBef>
              </a:pPr>
              <a:r>
                <a:rPr lang="en-US" sz="100" b="1">
                  <a:solidFill>
                    <a:srgbClr val="FFDE59"/>
                  </a:solidFill>
                  <a:latin typeface="Calibri (MS) Bold"/>
                  <a:ea typeface="Calibri (MS) Bold"/>
                  <a:cs typeface="Calibri (MS) Bold"/>
                  <a:sym typeface="Calibri (MS) Bold"/>
                </a:rPr>
                <a:t>BeReal.</a:t>
              </a:r>
            </a:p>
          </p:txBody>
        </p:sp>
        <p:sp>
          <p:nvSpPr>
            <p:cNvPr id="176" name="TextBox 176"/>
            <p:cNvSpPr txBox="1"/>
            <p:nvPr/>
          </p:nvSpPr>
          <p:spPr>
            <a:xfrm>
              <a:off x="3044346" y="6348547"/>
              <a:ext cx="69917" cy="15929"/>
            </a:xfrm>
            <a:prstGeom prst="rect">
              <a:avLst/>
            </a:prstGeom>
          </p:spPr>
          <p:txBody>
            <a:bodyPr lIns="0" tIns="0" rIns="0" bIns="0" rtlCol="0" anchor="t">
              <a:spAutoFit/>
            </a:bodyPr>
            <a:lstStyle/>
            <a:p>
              <a:pPr algn="ctr">
                <a:lnSpc>
                  <a:spcPts val="94"/>
                </a:lnSpc>
                <a:spcBef>
                  <a:spcPct val="0"/>
                </a:spcBef>
              </a:pPr>
              <a:r>
                <a:rPr lang="en-US" sz="100" b="1">
                  <a:solidFill>
                    <a:srgbClr val="FFDE59"/>
                  </a:solidFill>
                  <a:latin typeface="Calibri (MS) Bold"/>
                  <a:ea typeface="Calibri (MS) Bold"/>
                  <a:cs typeface="Calibri (MS) Bold"/>
                  <a:sym typeface="Calibri (MS) Bold"/>
                </a:rPr>
                <a:t>Unfiltered</a:t>
              </a:r>
            </a:p>
          </p:txBody>
        </p:sp>
        <p:sp>
          <p:nvSpPr>
            <p:cNvPr id="177" name="Freeform 177"/>
            <p:cNvSpPr/>
            <p:nvPr/>
          </p:nvSpPr>
          <p:spPr>
            <a:xfrm>
              <a:off x="2948028" y="6289340"/>
              <a:ext cx="59111" cy="67171"/>
            </a:xfrm>
            <a:custGeom>
              <a:avLst/>
              <a:gdLst/>
              <a:ahLst/>
              <a:cxnLst/>
              <a:rect l="l" t="t" r="r" b="b"/>
              <a:pathLst>
                <a:path w="59111" h="67171">
                  <a:moveTo>
                    <a:pt x="0" y="0"/>
                  </a:moveTo>
                  <a:lnTo>
                    <a:pt x="59111" y="0"/>
                  </a:lnTo>
                  <a:lnTo>
                    <a:pt x="59111" y="67172"/>
                  </a:lnTo>
                  <a:lnTo>
                    <a:pt x="0" y="67172"/>
                  </a:lnTo>
                  <a:lnTo>
                    <a:pt x="0" y="0"/>
                  </a:lnTo>
                  <a:close/>
                </a:path>
              </a:pathLst>
            </a:custGeom>
            <a:blipFill>
              <a:blip>
                <a:extLst>
                  <a:ext uri="{96DAC541-7B7A-43D3-8B79-37D633B846F1}">
                    <asvg:svgBlip xmlns:asvg="http://schemas.microsoft.com/office/drawing/2016/SVG/main" r:embed="rId42"/>
                  </a:ext>
                </a:extLst>
              </a:blip>
              <a:stretch>
                <a:fillRect/>
              </a:stretch>
            </a:blipFill>
          </p:spPr>
          <p:txBody>
            <a:bodyPr/>
            <a:lstStyle/>
            <a:p>
              <a:endParaRPr lang="en-US"/>
            </a:p>
          </p:txBody>
        </p:sp>
        <p:grpSp>
          <p:nvGrpSpPr>
            <p:cNvPr id="178" name="Group 178"/>
            <p:cNvGrpSpPr/>
            <p:nvPr/>
          </p:nvGrpSpPr>
          <p:grpSpPr>
            <a:xfrm>
              <a:off x="3345351" y="6122526"/>
              <a:ext cx="862061" cy="1078782"/>
              <a:chOff x="0" y="0"/>
              <a:chExt cx="10591800" cy="13254572"/>
            </a:xfrm>
          </p:grpSpPr>
          <p:sp>
            <p:nvSpPr>
              <p:cNvPr id="179" name="Freeform 179"/>
              <p:cNvSpPr/>
              <p:nvPr/>
            </p:nvSpPr>
            <p:spPr>
              <a:xfrm>
                <a:off x="0" y="0"/>
                <a:ext cx="10591800" cy="13254572"/>
              </a:xfrm>
              <a:custGeom>
                <a:avLst/>
                <a:gdLst/>
                <a:ahLst/>
                <a:cxnLst/>
                <a:rect l="l" t="t" r="r" b="b"/>
                <a:pathLst>
                  <a:path w="10591800" h="13254572">
                    <a:moveTo>
                      <a:pt x="10591800" y="222020"/>
                    </a:moveTo>
                    <a:lnTo>
                      <a:pt x="10591800" y="13032552"/>
                    </a:lnTo>
                    <a:cubicBezTo>
                      <a:pt x="10591800" y="13155219"/>
                      <a:pt x="10478135" y="13254572"/>
                      <a:pt x="10337800" y="13254572"/>
                    </a:cubicBezTo>
                    <a:lnTo>
                      <a:pt x="254000" y="13254572"/>
                    </a:lnTo>
                    <a:cubicBezTo>
                      <a:pt x="113665" y="13254572"/>
                      <a:pt x="0" y="13155219"/>
                      <a:pt x="0" y="13032552"/>
                    </a:cubicBezTo>
                    <a:lnTo>
                      <a:pt x="0" y="222020"/>
                    </a:lnTo>
                    <a:cubicBezTo>
                      <a:pt x="0" y="99354"/>
                      <a:pt x="113665" y="0"/>
                      <a:pt x="254000" y="0"/>
                    </a:cubicBezTo>
                    <a:lnTo>
                      <a:pt x="10337800" y="0"/>
                    </a:lnTo>
                    <a:cubicBezTo>
                      <a:pt x="10478135" y="0"/>
                      <a:pt x="10591800" y="99354"/>
                      <a:pt x="10591800" y="222020"/>
                    </a:cubicBezTo>
                    <a:close/>
                  </a:path>
                </a:pathLst>
              </a:custGeom>
              <a:blipFill>
                <a:blip r:embed="rId43"/>
                <a:stretch>
                  <a:fillRect l="-44090" r="-44090"/>
                </a:stretch>
              </a:blipFill>
            </p:spPr>
            <p:txBody>
              <a:bodyPr/>
              <a:lstStyle/>
              <a:p>
                <a:endParaRPr lang="en-US"/>
              </a:p>
            </p:txBody>
          </p:sp>
        </p:grpSp>
        <p:grpSp>
          <p:nvGrpSpPr>
            <p:cNvPr id="180" name="Group 180"/>
            <p:cNvGrpSpPr/>
            <p:nvPr/>
          </p:nvGrpSpPr>
          <p:grpSpPr>
            <a:xfrm>
              <a:off x="3391428" y="6163057"/>
              <a:ext cx="231984" cy="231984"/>
              <a:chOff x="0" y="0"/>
              <a:chExt cx="812800" cy="812800"/>
            </a:xfrm>
          </p:grpSpPr>
          <p:sp>
            <p:nvSpPr>
              <p:cNvPr id="181" name="Freeform 181"/>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a:blip r:embed="rId44"/>
                <a:stretch>
                  <a:fillRect l="-74702" t="-17386" r="-22279" b="-13606"/>
                </a:stretch>
              </a:blipFill>
              <a:ln w="9525" cap="sq">
                <a:solidFill>
                  <a:srgbClr val="000000"/>
                </a:solidFill>
                <a:prstDash val="solid"/>
                <a:miter/>
              </a:ln>
            </p:spPr>
            <p:txBody>
              <a:bodyPr/>
              <a:lstStyle/>
              <a:p>
                <a:endParaRPr lang="en-US"/>
              </a:p>
            </p:txBody>
          </p:sp>
        </p:grpSp>
        <p:sp>
          <p:nvSpPr>
            <p:cNvPr id="182" name="Freeform 182"/>
            <p:cNvSpPr/>
            <p:nvPr/>
          </p:nvSpPr>
          <p:spPr>
            <a:xfrm>
              <a:off x="3831789" y="6169946"/>
              <a:ext cx="294210" cy="294210"/>
            </a:xfrm>
            <a:custGeom>
              <a:avLst/>
              <a:gdLst/>
              <a:ahLst/>
              <a:cxnLst/>
              <a:rect l="l" t="t" r="r" b="b"/>
              <a:pathLst>
                <a:path w="294210" h="294210">
                  <a:moveTo>
                    <a:pt x="0" y="0"/>
                  </a:moveTo>
                  <a:lnTo>
                    <a:pt x="294210" y="0"/>
                  </a:lnTo>
                  <a:lnTo>
                    <a:pt x="294210" y="294210"/>
                  </a:lnTo>
                  <a:lnTo>
                    <a:pt x="0" y="294210"/>
                  </a:lnTo>
                  <a:lnTo>
                    <a:pt x="0" y="0"/>
                  </a:lnTo>
                  <a:close/>
                </a:path>
              </a:pathLst>
            </a:custGeom>
            <a:blipFill>
              <a:blip>
                <a:extLst>
                  <a:ext uri="{96DAC541-7B7A-43D3-8B79-37D633B846F1}">
                    <asvg:svgBlip xmlns:asvg="http://schemas.microsoft.com/office/drawing/2016/SVG/main" r:embed="rId34"/>
                  </a:ext>
                </a:extLst>
              </a:blip>
              <a:stretch>
                <a:fillRect/>
              </a:stretch>
            </a:blipFill>
          </p:spPr>
          <p:txBody>
            <a:bodyPr/>
            <a:lstStyle/>
            <a:p>
              <a:endParaRPr lang="en-US"/>
            </a:p>
          </p:txBody>
        </p:sp>
        <p:sp>
          <p:nvSpPr>
            <p:cNvPr id="183" name="Freeform 183"/>
            <p:cNvSpPr/>
            <p:nvPr/>
          </p:nvSpPr>
          <p:spPr>
            <a:xfrm>
              <a:off x="3891004" y="6230292"/>
              <a:ext cx="183364" cy="98100"/>
            </a:xfrm>
            <a:custGeom>
              <a:avLst/>
              <a:gdLst/>
              <a:ahLst/>
              <a:cxnLst/>
              <a:rect l="l" t="t" r="r" b="b"/>
              <a:pathLst>
                <a:path w="183364" h="98100">
                  <a:moveTo>
                    <a:pt x="0" y="0"/>
                  </a:moveTo>
                  <a:lnTo>
                    <a:pt x="183364" y="0"/>
                  </a:lnTo>
                  <a:lnTo>
                    <a:pt x="183364" y="98100"/>
                  </a:lnTo>
                  <a:lnTo>
                    <a:pt x="0" y="98100"/>
                  </a:lnTo>
                  <a:lnTo>
                    <a:pt x="0" y="0"/>
                  </a:lnTo>
                  <a:close/>
                </a:path>
              </a:pathLst>
            </a:custGeom>
            <a:blipFill>
              <a:blip>
                <a:extLst>
                  <a:ext uri="{96DAC541-7B7A-43D3-8B79-37D633B846F1}">
                    <asvg:svgBlip xmlns:asvg="http://schemas.microsoft.com/office/drawing/2016/SVG/main" r:embed="rId35"/>
                  </a:ext>
                </a:extLst>
              </a:blip>
              <a:stretch>
                <a:fillRect/>
              </a:stretch>
            </a:blipFill>
          </p:spPr>
          <p:txBody>
            <a:bodyPr/>
            <a:lstStyle/>
            <a:p>
              <a:endParaRPr lang="en-US"/>
            </a:p>
          </p:txBody>
        </p:sp>
        <p:sp>
          <p:nvSpPr>
            <p:cNvPr id="184" name="TextBox 184"/>
            <p:cNvSpPr txBox="1"/>
            <p:nvPr/>
          </p:nvSpPr>
          <p:spPr>
            <a:xfrm>
              <a:off x="3867239" y="6176321"/>
              <a:ext cx="230894" cy="106280"/>
            </a:xfrm>
            <a:prstGeom prst="rect">
              <a:avLst/>
            </a:prstGeom>
          </p:spPr>
          <p:txBody>
            <a:bodyPr lIns="0" tIns="0" rIns="0" bIns="0" rtlCol="0" anchor="t">
              <a:spAutoFit/>
            </a:bodyPr>
            <a:lstStyle/>
            <a:p>
              <a:pPr algn="ctr">
                <a:lnSpc>
                  <a:spcPts val="280"/>
                </a:lnSpc>
                <a:spcBef>
                  <a:spcPct val="0"/>
                </a:spcBef>
              </a:pPr>
              <a:r>
                <a:rPr lang="en-US" sz="234" b="1" spc="31">
                  <a:solidFill>
                    <a:srgbClr val="FFFFFF"/>
                  </a:solidFill>
                  <a:latin typeface="Calibri (MS) Bold"/>
                  <a:ea typeface="Calibri (MS) Bold"/>
                  <a:cs typeface="Calibri (MS) Bold"/>
                  <a:sym typeface="Calibri (MS) Bold"/>
                </a:rPr>
                <a:t>CRAMMING</a:t>
              </a:r>
            </a:p>
          </p:txBody>
        </p:sp>
        <p:sp>
          <p:nvSpPr>
            <p:cNvPr id="185" name="Freeform 185"/>
            <p:cNvSpPr/>
            <p:nvPr/>
          </p:nvSpPr>
          <p:spPr>
            <a:xfrm rot="-3394830" flipV="1">
              <a:off x="3849887" y="6291317"/>
              <a:ext cx="45355" cy="14256"/>
            </a:xfrm>
            <a:custGeom>
              <a:avLst/>
              <a:gdLst/>
              <a:ahLst/>
              <a:cxnLst/>
              <a:rect l="l" t="t" r="r" b="b"/>
              <a:pathLst>
                <a:path w="45355" h="14256">
                  <a:moveTo>
                    <a:pt x="0" y="14256"/>
                  </a:moveTo>
                  <a:lnTo>
                    <a:pt x="45355" y="14256"/>
                  </a:lnTo>
                  <a:lnTo>
                    <a:pt x="45355" y="0"/>
                  </a:lnTo>
                  <a:lnTo>
                    <a:pt x="0" y="0"/>
                  </a:lnTo>
                  <a:lnTo>
                    <a:pt x="0" y="14256"/>
                  </a:lnTo>
                  <a:close/>
                </a:path>
              </a:pathLst>
            </a:custGeom>
            <a:blipFill>
              <a:blip>
                <a:extLst>
                  <a:ext uri="{96DAC541-7B7A-43D3-8B79-37D633B846F1}">
                    <asvg:svgBlip xmlns:asvg="http://schemas.microsoft.com/office/drawing/2016/SVG/main" r:embed="rId24"/>
                  </a:ext>
                </a:extLst>
              </a:blip>
              <a:stretch>
                <a:fillRect l="-116778"/>
              </a:stretch>
            </a:blipFill>
          </p:spPr>
          <p:txBody>
            <a:bodyPr/>
            <a:lstStyle/>
            <a:p>
              <a:endParaRPr lang="en-US"/>
            </a:p>
          </p:txBody>
        </p:sp>
        <p:sp>
          <p:nvSpPr>
            <p:cNvPr id="186" name="Freeform 186"/>
            <p:cNvSpPr/>
            <p:nvPr/>
          </p:nvSpPr>
          <p:spPr>
            <a:xfrm rot="-6716943">
              <a:off x="4070376" y="6291897"/>
              <a:ext cx="41664" cy="13096"/>
            </a:xfrm>
            <a:custGeom>
              <a:avLst/>
              <a:gdLst/>
              <a:ahLst/>
              <a:cxnLst/>
              <a:rect l="l" t="t" r="r" b="b"/>
              <a:pathLst>
                <a:path w="41664" h="13096">
                  <a:moveTo>
                    <a:pt x="0" y="0"/>
                  </a:moveTo>
                  <a:lnTo>
                    <a:pt x="41664" y="0"/>
                  </a:lnTo>
                  <a:lnTo>
                    <a:pt x="41664" y="13096"/>
                  </a:lnTo>
                  <a:lnTo>
                    <a:pt x="0" y="13096"/>
                  </a:lnTo>
                  <a:lnTo>
                    <a:pt x="0" y="0"/>
                  </a:lnTo>
                  <a:close/>
                </a:path>
              </a:pathLst>
            </a:custGeom>
            <a:blipFill>
              <a:blip>
                <a:extLst>
                  <a:ext uri="{96DAC541-7B7A-43D3-8B79-37D633B846F1}">
                    <asvg:svgBlip xmlns:asvg="http://schemas.microsoft.com/office/drawing/2016/SVG/main" r:embed="rId24"/>
                  </a:ext>
                </a:extLst>
              </a:blip>
              <a:stretch>
                <a:fillRect l="-116778"/>
              </a:stretch>
            </a:blipFill>
          </p:spPr>
          <p:txBody>
            <a:bodyPr/>
            <a:lstStyle/>
            <a:p>
              <a:endParaRPr lang="en-US"/>
            </a:p>
          </p:txBody>
        </p:sp>
        <p:sp>
          <p:nvSpPr>
            <p:cNvPr id="187" name="Freeform 187"/>
            <p:cNvSpPr/>
            <p:nvPr/>
          </p:nvSpPr>
          <p:spPr>
            <a:xfrm rot="2699999">
              <a:off x="3884838" y="6259411"/>
              <a:ext cx="190335" cy="190335"/>
            </a:xfrm>
            <a:custGeom>
              <a:avLst/>
              <a:gdLst/>
              <a:ahLst/>
              <a:cxnLst/>
              <a:rect l="l" t="t" r="r" b="b"/>
              <a:pathLst>
                <a:path w="190335" h="190335">
                  <a:moveTo>
                    <a:pt x="0" y="0"/>
                  </a:moveTo>
                  <a:lnTo>
                    <a:pt x="190336" y="0"/>
                  </a:lnTo>
                  <a:lnTo>
                    <a:pt x="190336" y="190335"/>
                  </a:lnTo>
                  <a:lnTo>
                    <a:pt x="0" y="190335"/>
                  </a:lnTo>
                  <a:lnTo>
                    <a:pt x="0" y="0"/>
                  </a:lnTo>
                  <a:close/>
                </a:path>
              </a:pathLst>
            </a:custGeom>
            <a:blipFill>
              <a:blip>
                <a:extLst>
                  <a:ext uri="{96DAC541-7B7A-43D3-8B79-37D633B846F1}">
                    <asvg:svgBlip xmlns:asvg="http://schemas.microsoft.com/office/drawing/2016/SVG/main" r:embed="rId36"/>
                  </a:ext>
                </a:extLst>
              </a:blip>
              <a:stretch>
                <a:fillRect/>
              </a:stretch>
            </a:blipFill>
          </p:spPr>
          <p:txBody>
            <a:bodyPr/>
            <a:lstStyle/>
            <a:p>
              <a:endParaRPr lang="en-US"/>
            </a:p>
          </p:txBody>
        </p:sp>
        <p:sp>
          <p:nvSpPr>
            <p:cNvPr id="188" name="TextBox 188"/>
            <p:cNvSpPr txBox="1"/>
            <p:nvPr/>
          </p:nvSpPr>
          <p:spPr>
            <a:xfrm>
              <a:off x="3937099" y="6419738"/>
              <a:ext cx="83590" cy="14705"/>
            </a:xfrm>
            <a:prstGeom prst="rect">
              <a:avLst/>
            </a:prstGeom>
          </p:spPr>
          <p:txBody>
            <a:bodyPr lIns="0" tIns="0" rIns="0" bIns="0" rtlCol="0" anchor="t">
              <a:spAutoFit/>
            </a:bodyPr>
            <a:lstStyle/>
            <a:p>
              <a:pPr algn="ctr">
                <a:lnSpc>
                  <a:spcPts val="87"/>
                </a:lnSpc>
                <a:spcBef>
                  <a:spcPct val="0"/>
                </a:spcBef>
              </a:pPr>
              <a:r>
                <a:rPr lang="en-US" sz="100" b="1" spc="9">
                  <a:solidFill>
                    <a:srgbClr val="FFFFFF"/>
                  </a:solidFill>
                  <a:latin typeface="Calibri (MS) Bold"/>
                  <a:ea typeface="Calibri (MS) Bold"/>
                  <a:cs typeface="Calibri (MS) Bold"/>
                  <a:sym typeface="Calibri (MS) Bold"/>
                </a:rPr>
                <a:t>October2026</a:t>
              </a:r>
            </a:p>
          </p:txBody>
        </p:sp>
        <p:sp>
          <p:nvSpPr>
            <p:cNvPr id="189" name="Freeform 189"/>
            <p:cNvSpPr/>
            <p:nvPr/>
          </p:nvSpPr>
          <p:spPr>
            <a:xfrm rot="2699999">
              <a:off x="3907501" y="6329018"/>
              <a:ext cx="142786" cy="142786"/>
            </a:xfrm>
            <a:custGeom>
              <a:avLst/>
              <a:gdLst/>
              <a:ahLst/>
              <a:cxnLst/>
              <a:rect l="l" t="t" r="r" b="b"/>
              <a:pathLst>
                <a:path w="142786" h="142786">
                  <a:moveTo>
                    <a:pt x="0" y="0"/>
                  </a:moveTo>
                  <a:lnTo>
                    <a:pt x="142787" y="0"/>
                  </a:lnTo>
                  <a:lnTo>
                    <a:pt x="142787" y="142786"/>
                  </a:lnTo>
                  <a:lnTo>
                    <a:pt x="0" y="142786"/>
                  </a:lnTo>
                  <a:lnTo>
                    <a:pt x="0" y="0"/>
                  </a:lnTo>
                  <a:close/>
                </a:path>
              </a:pathLst>
            </a:custGeom>
            <a:blipFill>
              <a:blip>
                <a:extLst>
                  <a:ext uri="{96DAC541-7B7A-43D3-8B79-37D633B846F1}">
                    <asvg:svgBlip xmlns:asvg="http://schemas.microsoft.com/office/drawing/2016/SVG/main" r:embed="rId36"/>
                  </a:ext>
                </a:extLst>
              </a:blip>
              <a:stretch>
                <a:fillRect/>
              </a:stretch>
            </a:blipFill>
          </p:spPr>
          <p:txBody>
            <a:bodyPr/>
            <a:lstStyle/>
            <a:p>
              <a:endParaRPr lang="en-US"/>
            </a:p>
          </p:txBody>
        </p:sp>
        <p:sp>
          <p:nvSpPr>
            <p:cNvPr id="190" name="Freeform 190"/>
            <p:cNvSpPr/>
            <p:nvPr/>
          </p:nvSpPr>
          <p:spPr>
            <a:xfrm>
              <a:off x="3950136" y="6262076"/>
              <a:ext cx="65100" cy="63798"/>
            </a:xfrm>
            <a:custGeom>
              <a:avLst/>
              <a:gdLst/>
              <a:ahLst/>
              <a:cxnLst/>
              <a:rect l="l" t="t" r="r" b="b"/>
              <a:pathLst>
                <a:path w="65100" h="63798">
                  <a:moveTo>
                    <a:pt x="0" y="0"/>
                  </a:moveTo>
                  <a:lnTo>
                    <a:pt x="65100" y="0"/>
                  </a:lnTo>
                  <a:lnTo>
                    <a:pt x="65100" y="63798"/>
                  </a:lnTo>
                  <a:lnTo>
                    <a:pt x="0" y="63798"/>
                  </a:lnTo>
                  <a:lnTo>
                    <a:pt x="0" y="0"/>
                  </a:lnTo>
                  <a:close/>
                </a:path>
              </a:pathLst>
            </a:custGeom>
            <a:blipFill>
              <a:blip r:embed="rId37"/>
              <a:stretch>
                <a:fillRect/>
              </a:stretch>
            </a:blipFill>
          </p:spPr>
          <p:txBody>
            <a:bodyPr/>
            <a:lstStyle/>
            <a:p>
              <a:endParaRPr lang="en-US"/>
            </a:p>
          </p:txBody>
        </p:sp>
        <p:sp>
          <p:nvSpPr>
            <p:cNvPr id="191" name="TextBox 191"/>
            <p:cNvSpPr txBox="1"/>
            <p:nvPr/>
          </p:nvSpPr>
          <p:spPr>
            <a:xfrm>
              <a:off x="3911971" y="6360404"/>
              <a:ext cx="136071" cy="33181"/>
            </a:xfrm>
            <a:prstGeom prst="rect">
              <a:avLst/>
            </a:prstGeom>
          </p:spPr>
          <p:txBody>
            <a:bodyPr lIns="0" tIns="0" rIns="0" bIns="0" rtlCol="0" anchor="t">
              <a:spAutoFit/>
            </a:bodyPr>
            <a:lstStyle/>
            <a:p>
              <a:pPr algn="ctr">
                <a:lnSpc>
                  <a:spcPts val="141"/>
                </a:lnSpc>
                <a:spcBef>
                  <a:spcPct val="0"/>
                </a:spcBef>
              </a:pPr>
              <a:r>
                <a:rPr lang="en-US" sz="118" b="1">
                  <a:solidFill>
                    <a:srgbClr val="FFFFFF"/>
                  </a:solidFill>
                  <a:latin typeface="Calibri (MS) Bold"/>
                  <a:ea typeface="Calibri (MS) Bold"/>
                  <a:cs typeface="Calibri (MS) Bold"/>
                  <a:sym typeface="Calibri (MS) Bold"/>
                </a:rPr>
                <a:t> REAL PASSPORT</a:t>
              </a:r>
            </a:p>
          </p:txBody>
        </p:sp>
        <p:sp>
          <p:nvSpPr>
            <p:cNvPr id="192" name="TextBox 192"/>
            <p:cNvSpPr txBox="1"/>
            <p:nvPr/>
          </p:nvSpPr>
          <p:spPr>
            <a:xfrm>
              <a:off x="3851237" y="6328309"/>
              <a:ext cx="64543" cy="14705"/>
            </a:xfrm>
            <a:prstGeom prst="rect">
              <a:avLst/>
            </a:prstGeom>
          </p:spPr>
          <p:txBody>
            <a:bodyPr lIns="0" tIns="0" rIns="0" bIns="0" rtlCol="0" anchor="t">
              <a:spAutoFit/>
            </a:bodyPr>
            <a:lstStyle/>
            <a:p>
              <a:pPr algn="ctr">
                <a:lnSpc>
                  <a:spcPts val="87"/>
                </a:lnSpc>
                <a:spcBef>
                  <a:spcPct val="0"/>
                </a:spcBef>
              </a:pPr>
              <a:r>
                <a:rPr lang="en-US" sz="100" b="1">
                  <a:solidFill>
                    <a:srgbClr val="FFDE59"/>
                  </a:solidFill>
                  <a:latin typeface="Calibri (MS) Bold"/>
                  <a:ea typeface="Calibri (MS) Bold"/>
                  <a:cs typeface="Calibri (MS) Bold"/>
                  <a:sym typeface="Calibri (MS) Bold"/>
                </a:rPr>
                <a:t>BeReal.</a:t>
              </a:r>
            </a:p>
          </p:txBody>
        </p:sp>
        <p:sp>
          <p:nvSpPr>
            <p:cNvPr id="193" name="TextBox 193"/>
            <p:cNvSpPr txBox="1"/>
            <p:nvPr/>
          </p:nvSpPr>
          <p:spPr>
            <a:xfrm>
              <a:off x="4040525" y="6328309"/>
              <a:ext cx="64543" cy="14705"/>
            </a:xfrm>
            <a:prstGeom prst="rect">
              <a:avLst/>
            </a:prstGeom>
          </p:spPr>
          <p:txBody>
            <a:bodyPr lIns="0" tIns="0" rIns="0" bIns="0" rtlCol="0" anchor="t">
              <a:spAutoFit/>
            </a:bodyPr>
            <a:lstStyle/>
            <a:p>
              <a:pPr algn="ctr">
                <a:lnSpc>
                  <a:spcPts val="87"/>
                </a:lnSpc>
                <a:spcBef>
                  <a:spcPct val="0"/>
                </a:spcBef>
              </a:pPr>
              <a:r>
                <a:rPr lang="en-US" sz="100" b="1">
                  <a:solidFill>
                    <a:srgbClr val="FFDE59"/>
                  </a:solidFill>
                  <a:latin typeface="Calibri (MS) Bold"/>
                  <a:ea typeface="Calibri (MS) Bold"/>
                  <a:cs typeface="Calibri (MS) Bold"/>
                  <a:sym typeface="Calibri (MS) Bold"/>
                </a:rPr>
                <a:t>Unfiltered</a:t>
              </a:r>
            </a:p>
          </p:txBody>
        </p:sp>
        <p:sp>
          <p:nvSpPr>
            <p:cNvPr id="194" name="Freeform 194"/>
            <p:cNvSpPr/>
            <p:nvPr/>
          </p:nvSpPr>
          <p:spPr>
            <a:xfrm>
              <a:off x="499757" y="4974694"/>
              <a:ext cx="845382" cy="1059300"/>
            </a:xfrm>
            <a:custGeom>
              <a:avLst/>
              <a:gdLst/>
              <a:ahLst/>
              <a:cxnLst/>
              <a:rect l="l" t="t" r="r" b="b"/>
              <a:pathLst>
                <a:path w="845382" h="1059300">
                  <a:moveTo>
                    <a:pt x="0" y="0"/>
                  </a:moveTo>
                  <a:lnTo>
                    <a:pt x="845382" y="0"/>
                  </a:lnTo>
                  <a:lnTo>
                    <a:pt x="845382" y="1059300"/>
                  </a:lnTo>
                  <a:lnTo>
                    <a:pt x="0" y="1059300"/>
                  </a:lnTo>
                  <a:lnTo>
                    <a:pt x="0" y="0"/>
                  </a:lnTo>
                  <a:close/>
                </a:path>
              </a:pathLst>
            </a:custGeom>
            <a:blipFill>
              <a:blip r:embed="rId45"/>
              <a:stretch>
                <a:fillRect t="-11181" r="-1961" b="-11181"/>
              </a:stretch>
            </a:blipFill>
          </p:spPr>
          <p:txBody>
            <a:bodyPr/>
            <a:lstStyle/>
            <a:p>
              <a:endParaRPr lang="en-US"/>
            </a:p>
          </p:txBody>
        </p:sp>
        <p:grpSp>
          <p:nvGrpSpPr>
            <p:cNvPr id="195" name="Group 195"/>
            <p:cNvGrpSpPr/>
            <p:nvPr/>
          </p:nvGrpSpPr>
          <p:grpSpPr>
            <a:xfrm>
              <a:off x="563307" y="5026224"/>
              <a:ext cx="227795" cy="227795"/>
              <a:chOff x="0" y="0"/>
              <a:chExt cx="812800" cy="812800"/>
            </a:xfrm>
          </p:grpSpPr>
          <p:sp>
            <p:nvSpPr>
              <p:cNvPr id="196" name="Freeform 19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a:blip r:embed="rId46"/>
                <a:stretch>
                  <a:fillRect t="-25187" b="-25187"/>
                </a:stretch>
              </a:blipFill>
              <a:ln w="9525" cap="sq">
                <a:solidFill>
                  <a:srgbClr val="000000"/>
                </a:solidFill>
                <a:prstDash val="solid"/>
                <a:miter/>
              </a:ln>
            </p:spPr>
            <p:txBody>
              <a:bodyPr/>
              <a:lstStyle/>
              <a:p>
                <a:endParaRPr lang="en-US"/>
              </a:p>
            </p:txBody>
          </p:sp>
        </p:grpSp>
        <p:sp>
          <p:nvSpPr>
            <p:cNvPr id="197" name="Freeform 197"/>
            <p:cNvSpPr/>
            <p:nvPr/>
          </p:nvSpPr>
          <p:spPr>
            <a:xfrm>
              <a:off x="1039167" y="5039543"/>
              <a:ext cx="248727" cy="248727"/>
            </a:xfrm>
            <a:custGeom>
              <a:avLst/>
              <a:gdLst/>
              <a:ahLst/>
              <a:cxnLst/>
              <a:rect l="l" t="t" r="r" b="b"/>
              <a:pathLst>
                <a:path w="248727" h="248727">
                  <a:moveTo>
                    <a:pt x="0" y="0"/>
                  </a:moveTo>
                  <a:lnTo>
                    <a:pt x="248727" y="0"/>
                  </a:lnTo>
                  <a:lnTo>
                    <a:pt x="248727" y="248728"/>
                  </a:lnTo>
                  <a:lnTo>
                    <a:pt x="0" y="248728"/>
                  </a:lnTo>
                  <a:lnTo>
                    <a:pt x="0" y="0"/>
                  </a:lnTo>
                  <a:close/>
                </a:path>
              </a:pathLst>
            </a:custGeom>
            <a:blipFill>
              <a:blip>
                <a:extLst>
                  <a:ext uri="{96DAC541-7B7A-43D3-8B79-37D633B846F1}">
                    <asvg:svgBlip xmlns:asvg="http://schemas.microsoft.com/office/drawing/2016/SVG/main" r:embed="rId34"/>
                  </a:ext>
                </a:extLst>
              </a:blip>
              <a:stretch>
                <a:fillRect/>
              </a:stretch>
            </a:blipFill>
          </p:spPr>
          <p:txBody>
            <a:bodyPr/>
            <a:lstStyle/>
            <a:p>
              <a:endParaRPr lang="en-US"/>
            </a:p>
          </p:txBody>
        </p:sp>
        <p:sp>
          <p:nvSpPr>
            <p:cNvPr id="198" name="Freeform 198"/>
            <p:cNvSpPr/>
            <p:nvPr/>
          </p:nvSpPr>
          <p:spPr>
            <a:xfrm>
              <a:off x="1089227" y="5090560"/>
              <a:ext cx="155017" cy="82934"/>
            </a:xfrm>
            <a:custGeom>
              <a:avLst/>
              <a:gdLst/>
              <a:ahLst/>
              <a:cxnLst/>
              <a:rect l="l" t="t" r="r" b="b"/>
              <a:pathLst>
                <a:path w="155017" h="82934">
                  <a:moveTo>
                    <a:pt x="0" y="0"/>
                  </a:moveTo>
                  <a:lnTo>
                    <a:pt x="155018" y="0"/>
                  </a:lnTo>
                  <a:lnTo>
                    <a:pt x="155018" y="82935"/>
                  </a:lnTo>
                  <a:lnTo>
                    <a:pt x="0" y="82935"/>
                  </a:lnTo>
                  <a:lnTo>
                    <a:pt x="0" y="0"/>
                  </a:lnTo>
                  <a:close/>
                </a:path>
              </a:pathLst>
            </a:custGeom>
            <a:blipFill>
              <a:blip>
                <a:extLst>
                  <a:ext uri="{96DAC541-7B7A-43D3-8B79-37D633B846F1}">
                    <asvg:svgBlip xmlns:asvg="http://schemas.microsoft.com/office/drawing/2016/SVG/main" r:embed="rId35"/>
                  </a:ext>
                </a:extLst>
              </a:blip>
              <a:stretch>
                <a:fillRect/>
              </a:stretch>
            </a:blipFill>
          </p:spPr>
          <p:txBody>
            <a:bodyPr/>
            <a:lstStyle/>
            <a:p>
              <a:endParaRPr lang="en-US"/>
            </a:p>
          </p:txBody>
        </p:sp>
        <p:sp>
          <p:nvSpPr>
            <p:cNvPr id="199" name="TextBox 199"/>
            <p:cNvSpPr txBox="1"/>
            <p:nvPr/>
          </p:nvSpPr>
          <p:spPr>
            <a:xfrm>
              <a:off x="1069136" y="5043460"/>
              <a:ext cx="195200" cy="91322"/>
            </a:xfrm>
            <a:prstGeom prst="rect">
              <a:avLst/>
            </a:prstGeom>
          </p:spPr>
          <p:txBody>
            <a:bodyPr lIns="0" tIns="0" rIns="0" bIns="0" rtlCol="0" anchor="t">
              <a:spAutoFit/>
            </a:bodyPr>
            <a:lstStyle/>
            <a:p>
              <a:pPr algn="ctr">
                <a:lnSpc>
                  <a:spcPts val="237"/>
                </a:lnSpc>
                <a:spcBef>
                  <a:spcPct val="0"/>
                </a:spcBef>
              </a:pPr>
              <a:r>
                <a:rPr lang="en-US" sz="197" b="1" spc="26">
                  <a:solidFill>
                    <a:srgbClr val="FFFFFF"/>
                  </a:solidFill>
                  <a:latin typeface="Calibri (MS) Bold"/>
                  <a:ea typeface="Calibri (MS) Bold"/>
                  <a:cs typeface="Calibri (MS) Bold"/>
                  <a:sym typeface="Calibri (MS) Bold"/>
                </a:rPr>
                <a:t>CRAMMING</a:t>
              </a:r>
            </a:p>
          </p:txBody>
        </p:sp>
        <p:sp>
          <p:nvSpPr>
            <p:cNvPr id="200" name="Freeform 200"/>
            <p:cNvSpPr/>
            <p:nvPr/>
          </p:nvSpPr>
          <p:spPr>
            <a:xfrm rot="-3394830" flipV="1">
              <a:off x="1054466" y="5142151"/>
              <a:ext cx="38344" cy="12052"/>
            </a:xfrm>
            <a:custGeom>
              <a:avLst/>
              <a:gdLst/>
              <a:ahLst/>
              <a:cxnLst/>
              <a:rect l="l" t="t" r="r" b="b"/>
              <a:pathLst>
                <a:path w="38344" h="12052">
                  <a:moveTo>
                    <a:pt x="0" y="12052"/>
                  </a:moveTo>
                  <a:lnTo>
                    <a:pt x="38344" y="12052"/>
                  </a:lnTo>
                  <a:lnTo>
                    <a:pt x="38344" y="0"/>
                  </a:lnTo>
                  <a:lnTo>
                    <a:pt x="0" y="0"/>
                  </a:lnTo>
                  <a:lnTo>
                    <a:pt x="0" y="12052"/>
                  </a:lnTo>
                  <a:close/>
                </a:path>
              </a:pathLst>
            </a:custGeom>
            <a:blipFill>
              <a:blip>
                <a:extLst>
                  <a:ext uri="{96DAC541-7B7A-43D3-8B79-37D633B846F1}">
                    <asvg:svgBlip xmlns:asvg="http://schemas.microsoft.com/office/drawing/2016/SVG/main" r:embed="rId24"/>
                  </a:ext>
                </a:extLst>
              </a:blip>
              <a:stretch>
                <a:fillRect l="-116778"/>
              </a:stretch>
            </a:blipFill>
          </p:spPr>
          <p:txBody>
            <a:bodyPr/>
            <a:lstStyle/>
            <a:p>
              <a:endParaRPr lang="en-US"/>
            </a:p>
          </p:txBody>
        </p:sp>
        <p:sp>
          <p:nvSpPr>
            <p:cNvPr id="201" name="Freeform 201"/>
            <p:cNvSpPr/>
            <p:nvPr/>
          </p:nvSpPr>
          <p:spPr>
            <a:xfrm rot="-6716943">
              <a:off x="1240869" y="5142641"/>
              <a:ext cx="35223" cy="11072"/>
            </a:xfrm>
            <a:custGeom>
              <a:avLst/>
              <a:gdLst/>
              <a:ahLst/>
              <a:cxnLst/>
              <a:rect l="l" t="t" r="r" b="b"/>
              <a:pathLst>
                <a:path w="35223" h="11072">
                  <a:moveTo>
                    <a:pt x="0" y="0"/>
                  </a:moveTo>
                  <a:lnTo>
                    <a:pt x="35223" y="0"/>
                  </a:lnTo>
                  <a:lnTo>
                    <a:pt x="35223" y="11072"/>
                  </a:lnTo>
                  <a:lnTo>
                    <a:pt x="0" y="11072"/>
                  </a:lnTo>
                  <a:lnTo>
                    <a:pt x="0" y="0"/>
                  </a:lnTo>
                  <a:close/>
                </a:path>
              </a:pathLst>
            </a:custGeom>
            <a:blipFill>
              <a:blip>
                <a:extLst>
                  <a:ext uri="{96DAC541-7B7A-43D3-8B79-37D633B846F1}">
                    <asvg:svgBlip xmlns:asvg="http://schemas.microsoft.com/office/drawing/2016/SVG/main" r:embed="rId24"/>
                  </a:ext>
                </a:extLst>
              </a:blip>
              <a:stretch>
                <a:fillRect l="-116778"/>
              </a:stretch>
            </a:blipFill>
          </p:spPr>
          <p:txBody>
            <a:bodyPr/>
            <a:lstStyle/>
            <a:p>
              <a:endParaRPr lang="en-US"/>
            </a:p>
          </p:txBody>
        </p:sp>
        <p:sp>
          <p:nvSpPr>
            <p:cNvPr id="202" name="Freeform 202"/>
            <p:cNvSpPr/>
            <p:nvPr/>
          </p:nvSpPr>
          <p:spPr>
            <a:xfrm rot="2699999">
              <a:off x="1084015" y="5115177"/>
              <a:ext cx="160911" cy="160911"/>
            </a:xfrm>
            <a:custGeom>
              <a:avLst/>
              <a:gdLst/>
              <a:ahLst/>
              <a:cxnLst/>
              <a:rect l="l" t="t" r="r" b="b"/>
              <a:pathLst>
                <a:path w="160911" h="160911">
                  <a:moveTo>
                    <a:pt x="0" y="0"/>
                  </a:moveTo>
                  <a:lnTo>
                    <a:pt x="160911" y="0"/>
                  </a:lnTo>
                  <a:lnTo>
                    <a:pt x="160911" y="160911"/>
                  </a:lnTo>
                  <a:lnTo>
                    <a:pt x="0" y="160911"/>
                  </a:lnTo>
                  <a:lnTo>
                    <a:pt x="0" y="0"/>
                  </a:lnTo>
                  <a:close/>
                </a:path>
              </a:pathLst>
            </a:custGeom>
            <a:blipFill>
              <a:blip>
                <a:extLst>
                  <a:ext uri="{96DAC541-7B7A-43D3-8B79-37D633B846F1}">
                    <asvg:svgBlip xmlns:asvg="http://schemas.microsoft.com/office/drawing/2016/SVG/main" r:embed="rId36"/>
                  </a:ext>
                </a:extLst>
              </a:blip>
              <a:stretch>
                <a:fillRect/>
              </a:stretch>
            </a:blipFill>
          </p:spPr>
          <p:txBody>
            <a:bodyPr/>
            <a:lstStyle/>
            <a:p>
              <a:endParaRPr lang="en-US"/>
            </a:p>
          </p:txBody>
        </p:sp>
        <p:sp>
          <p:nvSpPr>
            <p:cNvPr id="203" name="TextBox 203"/>
            <p:cNvSpPr txBox="1"/>
            <p:nvPr/>
          </p:nvSpPr>
          <p:spPr>
            <a:xfrm>
              <a:off x="1128197" y="5250719"/>
              <a:ext cx="70668" cy="12432"/>
            </a:xfrm>
            <a:prstGeom prst="rect">
              <a:avLst/>
            </a:prstGeom>
          </p:spPr>
          <p:txBody>
            <a:bodyPr lIns="0" tIns="0" rIns="0" bIns="0" rtlCol="0" anchor="t">
              <a:spAutoFit/>
            </a:bodyPr>
            <a:lstStyle/>
            <a:p>
              <a:pPr algn="ctr">
                <a:lnSpc>
                  <a:spcPts val="74"/>
                </a:lnSpc>
                <a:spcBef>
                  <a:spcPct val="0"/>
                </a:spcBef>
              </a:pPr>
              <a:r>
                <a:rPr lang="en-US" sz="100" b="1" spc="8">
                  <a:solidFill>
                    <a:srgbClr val="FFFFFF"/>
                  </a:solidFill>
                  <a:latin typeface="Calibri (MS) Bold"/>
                  <a:ea typeface="Calibri (MS) Bold"/>
                  <a:cs typeface="Calibri (MS) Bold"/>
                  <a:sym typeface="Calibri (MS) Bold"/>
                </a:rPr>
                <a:t>October2026</a:t>
              </a:r>
            </a:p>
          </p:txBody>
        </p:sp>
        <p:sp>
          <p:nvSpPr>
            <p:cNvPr id="204" name="Freeform 204"/>
            <p:cNvSpPr/>
            <p:nvPr/>
          </p:nvSpPr>
          <p:spPr>
            <a:xfrm rot="2699999">
              <a:off x="1103174" y="5174024"/>
              <a:ext cx="120712" cy="120712"/>
            </a:xfrm>
            <a:custGeom>
              <a:avLst/>
              <a:gdLst/>
              <a:ahLst/>
              <a:cxnLst/>
              <a:rect l="l" t="t" r="r" b="b"/>
              <a:pathLst>
                <a:path w="120712" h="120712">
                  <a:moveTo>
                    <a:pt x="0" y="0"/>
                  </a:moveTo>
                  <a:lnTo>
                    <a:pt x="120713" y="0"/>
                  </a:lnTo>
                  <a:lnTo>
                    <a:pt x="120713" y="120713"/>
                  </a:lnTo>
                  <a:lnTo>
                    <a:pt x="0" y="120713"/>
                  </a:lnTo>
                  <a:lnTo>
                    <a:pt x="0" y="0"/>
                  </a:lnTo>
                  <a:close/>
                </a:path>
              </a:pathLst>
            </a:custGeom>
            <a:blipFill>
              <a:blip>
                <a:extLst>
                  <a:ext uri="{96DAC541-7B7A-43D3-8B79-37D633B846F1}">
                    <asvg:svgBlip xmlns:asvg="http://schemas.microsoft.com/office/drawing/2016/SVG/main" r:embed="rId36"/>
                  </a:ext>
                </a:extLst>
              </a:blip>
              <a:stretch>
                <a:fillRect/>
              </a:stretch>
            </a:blipFill>
          </p:spPr>
          <p:txBody>
            <a:bodyPr/>
            <a:lstStyle/>
            <a:p>
              <a:endParaRPr lang="en-US"/>
            </a:p>
          </p:txBody>
        </p:sp>
        <p:sp>
          <p:nvSpPr>
            <p:cNvPr id="205" name="Freeform 205"/>
            <p:cNvSpPr/>
            <p:nvPr/>
          </p:nvSpPr>
          <p:spPr>
            <a:xfrm>
              <a:off x="1139218" y="5117431"/>
              <a:ext cx="55036" cy="53935"/>
            </a:xfrm>
            <a:custGeom>
              <a:avLst/>
              <a:gdLst/>
              <a:ahLst/>
              <a:cxnLst/>
              <a:rect l="l" t="t" r="r" b="b"/>
              <a:pathLst>
                <a:path w="55036" h="53935">
                  <a:moveTo>
                    <a:pt x="0" y="0"/>
                  </a:moveTo>
                  <a:lnTo>
                    <a:pt x="55036" y="0"/>
                  </a:lnTo>
                  <a:lnTo>
                    <a:pt x="55036" y="53935"/>
                  </a:lnTo>
                  <a:lnTo>
                    <a:pt x="0" y="53935"/>
                  </a:lnTo>
                  <a:lnTo>
                    <a:pt x="0" y="0"/>
                  </a:lnTo>
                  <a:close/>
                </a:path>
              </a:pathLst>
            </a:custGeom>
            <a:blipFill>
              <a:blip r:embed="rId37"/>
              <a:stretch>
                <a:fillRect/>
              </a:stretch>
            </a:blipFill>
          </p:spPr>
          <p:txBody>
            <a:bodyPr/>
            <a:lstStyle/>
            <a:p>
              <a:endParaRPr lang="en-US"/>
            </a:p>
          </p:txBody>
        </p:sp>
        <p:sp>
          <p:nvSpPr>
            <p:cNvPr id="206" name="TextBox 206"/>
            <p:cNvSpPr txBox="1"/>
            <p:nvPr/>
          </p:nvSpPr>
          <p:spPr>
            <a:xfrm>
              <a:off x="1106952" y="5199085"/>
              <a:ext cx="115035" cy="29524"/>
            </a:xfrm>
            <a:prstGeom prst="rect">
              <a:avLst/>
            </a:prstGeom>
          </p:spPr>
          <p:txBody>
            <a:bodyPr lIns="0" tIns="0" rIns="0" bIns="0" rtlCol="0" anchor="t">
              <a:spAutoFit/>
            </a:bodyPr>
            <a:lstStyle/>
            <a:p>
              <a:pPr algn="ctr">
                <a:lnSpc>
                  <a:spcPts val="120"/>
                </a:lnSpc>
                <a:spcBef>
                  <a:spcPct val="0"/>
                </a:spcBef>
              </a:pPr>
              <a:r>
                <a:rPr lang="en-US" sz="100" b="1">
                  <a:solidFill>
                    <a:srgbClr val="FFFFFF"/>
                  </a:solidFill>
                  <a:latin typeface="Calibri (MS) Bold"/>
                  <a:ea typeface="Calibri (MS) Bold"/>
                  <a:cs typeface="Calibri (MS) Bold"/>
                  <a:sym typeface="Calibri (MS) Bold"/>
                </a:rPr>
                <a:t> REAL PASSPORT</a:t>
              </a:r>
            </a:p>
          </p:txBody>
        </p:sp>
        <p:sp>
          <p:nvSpPr>
            <p:cNvPr id="207" name="TextBox 207"/>
            <p:cNvSpPr txBox="1"/>
            <p:nvPr/>
          </p:nvSpPr>
          <p:spPr>
            <a:xfrm>
              <a:off x="1055608" y="5173424"/>
              <a:ext cx="54565" cy="12432"/>
            </a:xfrm>
            <a:prstGeom prst="rect">
              <a:avLst/>
            </a:prstGeom>
          </p:spPr>
          <p:txBody>
            <a:bodyPr lIns="0" tIns="0" rIns="0" bIns="0" rtlCol="0" anchor="t">
              <a:spAutoFit/>
            </a:bodyPr>
            <a:lstStyle/>
            <a:p>
              <a:pPr algn="ctr">
                <a:lnSpc>
                  <a:spcPts val="74"/>
                </a:lnSpc>
                <a:spcBef>
                  <a:spcPct val="0"/>
                </a:spcBef>
              </a:pPr>
              <a:r>
                <a:rPr lang="en-US" sz="100" b="1">
                  <a:solidFill>
                    <a:srgbClr val="FFDE59"/>
                  </a:solidFill>
                  <a:latin typeface="Calibri (MS) Bold"/>
                  <a:ea typeface="Calibri (MS) Bold"/>
                  <a:cs typeface="Calibri (MS) Bold"/>
                  <a:sym typeface="Calibri (MS) Bold"/>
                </a:rPr>
                <a:t>BeReal.</a:t>
              </a:r>
            </a:p>
          </p:txBody>
        </p:sp>
        <p:sp>
          <p:nvSpPr>
            <p:cNvPr id="208" name="TextBox 208"/>
            <p:cNvSpPr txBox="1"/>
            <p:nvPr/>
          </p:nvSpPr>
          <p:spPr>
            <a:xfrm>
              <a:off x="1215633" y="5173424"/>
              <a:ext cx="54565" cy="12432"/>
            </a:xfrm>
            <a:prstGeom prst="rect">
              <a:avLst/>
            </a:prstGeom>
          </p:spPr>
          <p:txBody>
            <a:bodyPr lIns="0" tIns="0" rIns="0" bIns="0" rtlCol="0" anchor="t">
              <a:spAutoFit/>
            </a:bodyPr>
            <a:lstStyle/>
            <a:p>
              <a:pPr algn="ctr">
                <a:lnSpc>
                  <a:spcPts val="74"/>
                </a:lnSpc>
                <a:spcBef>
                  <a:spcPct val="0"/>
                </a:spcBef>
              </a:pPr>
              <a:r>
                <a:rPr lang="en-US" sz="100" b="1">
                  <a:solidFill>
                    <a:srgbClr val="FFDE59"/>
                  </a:solidFill>
                  <a:latin typeface="Calibri (MS) Bold"/>
                  <a:ea typeface="Calibri (MS) Bold"/>
                  <a:cs typeface="Calibri (MS) Bold"/>
                  <a:sym typeface="Calibri (MS) Bold"/>
                </a:rPr>
                <a:t>Unfiltered</a:t>
              </a:r>
            </a:p>
          </p:txBody>
        </p:sp>
        <p:sp>
          <p:nvSpPr>
            <p:cNvPr id="209" name="Freeform 209"/>
            <p:cNvSpPr/>
            <p:nvPr/>
          </p:nvSpPr>
          <p:spPr>
            <a:xfrm>
              <a:off x="499757" y="6122277"/>
              <a:ext cx="845382" cy="1040861"/>
            </a:xfrm>
            <a:custGeom>
              <a:avLst/>
              <a:gdLst/>
              <a:ahLst/>
              <a:cxnLst/>
              <a:rect l="l" t="t" r="r" b="b"/>
              <a:pathLst>
                <a:path w="845382" h="1040861">
                  <a:moveTo>
                    <a:pt x="0" y="0"/>
                  </a:moveTo>
                  <a:lnTo>
                    <a:pt x="845382" y="0"/>
                  </a:lnTo>
                  <a:lnTo>
                    <a:pt x="845382" y="1040861"/>
                  </a:lnTo>
                  <a:lnTo>
                    <a:pt x="0" y="1040861"/>
                  </a:lnTo>
                  <a:lnTo>
                    <a:pt x="0" y="0"/>
                  </a:lnTo>
                  <a:close/>
                </a:path>
              </a:pathLst>
            </a:custGeom>
            <a:blipFill>
              <a:blip r:embed="rId47"/>
              <a:stretch>
                <a:fillRect l="-16492" t="-45442" b="-22016"/>
              </a:stretch>
            </a:blipFill>
          </p:spPr>
          <p:txBody>
            <a:bodyPr/>
            <a:lstStyle/>
            <a:p>
              <a:endParaRPr lang="en-US"/>
            </a:p>
          </p:txBody>
        </p:sp>
        <p:grpSp>
          <p:nvGrpSpPr>
            <p:cNvPr id="210" name="Group 210"/>
            <p:cNvGrpSpPr/>
            <p:nvPr/>
          </p:nvGrpSpPr>
          <p:grpSpPr>
            <a:xfrm>
              <a:off x="563307" y="6175247"/>
              <a:ext cx="227795" cy="227795"/>
              <a:chOff x="0" y="0"/>
              <a:chExt cx="812800" cy="812800"/>
            </a:xfrm>
          </p:grpSpPr>
          <p:sp>
            <p:nvSpPr>
              <p:cNvPr id="211" name="Freeform 211"/>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a:blip r:embed="rId48"/>
                <a:stretch>
                  <a:fillRect l="-25187" r="-25187"/>
                </a:stretch>
              </a:blipFill>
              <a:ln w="9525" cap="sq">
                <a:solidFill>
                  <a:srgbClr val="000000"/>
                </a:solidFill>
                <a:prstDash val="solid"/>
                <a:miter/>
              </a:ln>
            </p:spPr>
            <p:txBody>
              <a:bodyPr/>
              <a:lstStyle/>
              <a:p>
                <a:endParaRPr lang="en-US"/>
              </a:p>
            </p:txBody>
          </p:sp>
        </p:grpSp>
        <p:sp>
          <p:nvSpPr>
            <p:cNvPr id="212" name="Freeform 212"/>
            <p:cNvSpPr/>
            <p:nvPr/>
          </p:nvSpPr>
          <p:spPr>
            <a:xfrm>
              <a:off x="1022168" y="6176536"/>
              <a:ext cx="265726" cy="265726"/>
            </a:xfrm>
            <a:custGeom>
              <a:avLst/>
              <a:gdLst/>
              <a:ahLst/>
              <a:cxnLst/>
              <a:rect l="l" t="t" r="r" b="b"/>
              <a:pathLst>
                <a:path w="265726" h="265726">
                  <a:moveTo>
                    <a:pt x="0" y="0"/>
                  </a:moveTo>
                  <a:lnTo>
                    <a:pt x="265726" y="0"/>
                  </a:lnTo>
                  <a:lnTo>
                    <a:pt x="265726" y="265726"/>
                  </a:lnTo>
                  <a:lnTo>
                    <a:pt x="0" y="265726"/>
                  </a:lnTo>
                  <a:lnTo>
                    <a:pt x="0" y="0"/>
                  </a:lnTo>
                  <a:close/>
                </a:path>
              </a:pathLst>
            </a:custGeom>
            <a:blipFill>
              <a:blip>
                <a:extLst>
                  <a:ext uri="{96DAC541-7B7A-43D3-8B79-37D633B846F1}">
                    <asvg:svgBlip xmlns:asvg="http://schemas.microsoft.com/office/drawing/2016/SVG/main" r:embed="rId34"/>
                  </a:ext>
                </a:extLst>
              </a:blip>
              <a:stretch>
                <a:fillRect/>
              </a:stretch>
            </a:blipFill>
          </p:spPr>
          <p:txBody>
            <a:bodyPr/>
            <a:lstStyle/>
            <a:p>
              <a:endParaRPr lang="en-US"/>
            </a:p>
          </p:txBody>
        </p:sp>
        <p:sp>
          <p:nvSpPr>
            <p:cNvPr id="213" name="Freeform 213"/>
            <p:cNvSpPr/>
            <p:nvPr/>
          </p:nvSpPr>
          <p:spPr>
            <a:xfrm>
              <a:off x="1075650" y="6231039"/>
              <a:ext cx="165612" cy="88602"/>
            </a:xfrm>
            <a:custGeom>
              <a:avLst/>
              <a:gdLst/>
              <a:ahLst/>
              <a:cxnLst/>
              <a:rect l="l" t="t" r="r" b="b"/>
              <a:pathLst>
                <a:path w="165612" h="88602">
                  <a:moveTo>
                    <a:pt x="0" y="0"/>
                  </a:moveTo>
                  <a:lnTo>
                    <a:pt x="165612" y="0"/>
                  </a:lnTo>
                  <a:lnTo>
                    <a:pt x="165612" y="88603"/>
                  </a:lnTo>
                  <a:lnTo>
                    <a:pt x="0" y="88603"/>
                  </a:lnTo>
                  <a:lnTo>
                    <a:pt x="0" y="0"/>
                  </a:lnTo>
                  <a:close/>
                </a:path>
              </a:pathLst>
            </a:custGeom>
            <a:blipFill>
              <a:blip>
                <a:extLst>
                  <a:ext uri="{96DAC541-7B7A-43D3-8B79-37D633B846F1}">
                    <asvg:svgBlip xmlns:asvg="http://schemas.microsoft.com/office/drawing/2016/SVG/main" r:embed="rId35"/>
                  </a:ext>
                </a:extLst>
              </a:blip>
              <a:stretch>
                <a:fillRect/>
              </a:stretch>
            </a:blipFill>
          </p:spPr>
          <p:txBody>
            <a:bodyPr/>
            <a:lstStyle/>
            <a:p>
              <a:endParaRPr lang="en-US"/>
            </a:p>
          </p:txBody>
        </p:sp>
        <p:sp>
          <p:nvSpPr>
            <p:cNvPr id="214" name="TextBox 214"/>
            <p:cNvSpPr txBox="1"/>
            <p:nvPr/>
          </p:nvSpPr>
          <p:spPr>
            <a:xfrm>
              <a:off x="1054185" y="6181371"/>
              <a:ext cx="208540" cy="96913"/>
            </a:xfrm>
            <a:prstGeom prst="rect">
              <a:avLst/>
            </a:prstGeom>
          </p:spPr>
          <p:txBody>
            <a:bodyPr lIns="0" tIns="0" rIns="0" bIns="0" rtlCol="0" anchor="t">
              <a:spAutoFit/>
            </a:bodyPr>
            <a:lstStyle/>
            <a:p>
              <a:pPr algn="ctr">
                <a:lnSpc>
                  <a:spcPts val="253"/>
                </a:lnSpc>
                <a:spcBef>
                  <a:spcPct val="0"/>
                </a:spcBef>
              </a:pPr>
              <a:r>
                <a:rPr lang="en-US" sz="211" b="1" spc="28">
                  <a:solidFill>
                    <a:srgbClr val="FFFFFF"/>
                  </a:solidFill>
                  <a:latin typeface="Calibri (MS) Bold"/>
                  <a:ea typeface="Calibri (MS) Bold"/>
                  <a:cs typeface="Calibri (MS) Bold"/>
                  <a:sym typeface="Calibri (MS) Bold"/>
                </a:rPr>
                <a:t>CRAMMING</a:t>
              </a:r>
            </a:p>
          </p:txBody>
        </p:sp>
        <p:sp>
          <p:nvSpPr>
            <p:cNvPr id="215" name="Freeform 215"/>
            <p:cNvSpPr/>
            <p:nvPr/>
          </p:nvSpPr>
          <p:spPr>
            <a:xfrm rot="-3394830" flipV="1">
              <a:off x="1038513" y="6286156"/>
              <a:ext cx="40964" cy="12876"/>
            </a:xfrm>
            <a:custGeom>
              <a:avLst/>
              <a:gdLst/>
              <a:ahLst/>
              <a:cxnLst/>
              <a:rect l="l" t="t" r="r" b="b"/>
              <a:pathLst>
                <a:path w="40964" h="12876">
                  <a:moveTo>
                    <a:pt x="0" y="12876"/>
                  </a:moveTo>
                  <a:lnTo>
                    <a:pt x="40964" y="12876"/>
                  </a:lnTo>
                  <a:lnTo>
                    <a:pt x="40964" y="0"/>
                  </a:lnTo>
                  <a:lnTo>
                    <a:pt x="0" y="0"/>
                  </a:lnTo>
                  <a:lnTo>
                    <a:pt x="0" y="12876"/>
                  </a:lnTo>
                  <a:close/>
                </a:path>
              </a:pathLst>
            </a:custGeom>
            <a:blipFill>
              <a:blip>
                <a:extLst>
                  <a:ext uri="{96DAC541-7B7A-43D3-8B79-37D633B846F1}">
                    <asvg:svgBlip xmlns:asvg="http://schemas.microsoft.com/office/drawing/2016/SVG/main" r:embed="rId24"/>
                  </a:ext>
                </a:extLst>
              </a:blip>
              <a:stretch>
                <a:fillRect l="-116778"/>
              </a:stretch>
            </a:blipFill>
          </p:spPr>
          <p:txBody>
            <a:bodyPr/>
            <a:lstStyle/>
            <a:p>
              <a:endParaRPr lang="en-US"/>
            </a:p>
          </p:txBody>
        </p:sp>
        <p:sp>
          <p:nvSpPr>
            <p:cNvPr id="216" name="Freeform 216"/>
            <p:cNvSpPr/>
            <p:nvPr/>
          </p:nvSpPr>
          <p:spPr>
            <a:xfrm rot="-6716943">
              <a:off x="1237655" y="6286680"/>
              <a:ext cx="37630" cy="11828"/>
            </a:xfrm>
            <a:custGeom>
              <a:avLst/>
              <a:gdLst/>
              <a:ahLst/>
              <a:cxnLst/>
              <a:rect l="l" t="t" r="r" b="b"/>
              <a:pathLst>
                <a:path w="37630" h="11828">
                  <a:moveTo>
                    <a:pt x="0" y="0"/>
                  </a:moveTo>
                  <a:lnTo>
                    <a:pt x="37631" y="0"/>
                  </a:lnTo>
                  <a:lnTo>
                    <a:pt x="37631" y="11828"/>
                  </a:lnTo>
                  <a:lnTo>
                    <a:pt x="0" y="11828"/>
                  </a:lnTo>
                  <a:lnTo>
                    <a:pt x="0" y="0"/>
                  </a:lnTo>
                  <a:close/>
                </a:path>
              </a:pathLst>
            </a:custGeom>
            <a:blipFill>
              <a:blip>
                <a:extLst>
                  <a:ext uri="{96DAC541-7B7A-43D3-8B79-37D633B846F1}">
                    <asvg:svgBlip xmlns:asvg="http://schemas.microsoft.com/office/drawing/2016/SVG/main" r:embed="rId24"/>
                  </a:ext>
                </a:extLst>
              </a:blip>
              <a:stretch>
                <a:fillRect l="-116778"/>
              </a:stretch>
            </a:blipFill>
          </p:spPr>
          <p:txBody>
            <a:bodyPr/>
            <a:lstStyle/>
            <a:p>
              <a:endParaRPr lang="en-US"/>
            </a:p>
          </p:txBody>
        </p:sp>
        <p:sp>
          <p:nvSpPr>
            <p:cNvPr id="217" name="Freeform 217"/>
            <p:cNvSpPr/>
            <p:nvPr/>
          </p:nvSpPr>
          <p:spPr>
            <a:xfrm rot="2699999">
              <a:off x="1070081" y="6257339"/>
              <a:ext cx="171908" cy="171908"/>
            </a:xfrm>
            <a:custGeom>
              <a:avLst/>
              <a:gdLst/>
              <a:ahLst/>
              <a:cxnLst/>
              <a:rect l="l" t="t" r="r" b="b"/>
              <a:pathLst>
                <a:path w="171908" h="171908">
                  <a:moveTo>
                    <a:pt x="0" y="0"/>
                  </a:moveTo>
                  <a:lnTo>
                    <a:pt x="171908" y="0"/>
                  </a:lnTo>
                  <a:lnTo>
                    <a:pt x="171908" y="171908"/>
                  </a:lnTo>
                  <a:lnTo>
                    <a:pt x="0" y="171908"/>
                  </a:lnTo>
                  <a:lnTo>
                    <a:pt x="0" y="0"/>
                  </a:lnTo>
                  <a:close/>
                </a:path>
              </a:pathLst>
            </a:custGeom>
            <a:blipFill>
              <a:blip>
                <a:extLst>
                  <a:ext uri="{96DAC541-7B7A-43D3-8B79-37D633B846F1}">
                    <asvg:svgBlip xmlns:asvg="http://schemas.microsoft.com/office/drawing/2016/SVG/main" r:embed="rId36"/>
                  </a:ext>
                </a:extLst>
              </a:blip>
              <a:stretch>
                <a:fillRect/>
              </a:stretch>
            </a:blipFill>
          </p:spPr>
          <p:txBody>
            <a:bodyPr/>
            <a:lstStyle/>
            <a:p>
              <a:endParaRPr lang="en-US"/>
            </a:p>
          </p:txBody>
        </p:sp>
        <p:sp>
          <p:nvSpPr>
            <p:cNvPr id="218" name="TextBox 218"/>
            <p:cNvSpPr txBox="1"/>
            <p:nvPr/>
          </p:nvSpPr>
          <p:spPr>
            <a:xfrm>
              <a:off x="1117282" y="6402144"/>
              <a:ext cx="75497" cy="13281"/>
            </a:xfrm>
            <a:prstGeom prst="rect">
              <a:avLst/>
            </a:prstGeom>
          </p:spPr>
          <p:txBody>
            <a:bodyPr lIns="0" tIns="0" rIns="0" bIns="0" rtlCol="0" anchor="t">
              <a:spAutoFit/>
            </a:bodyPr>
            <a:lstStyle/>
            <a:p>
              <a:pPr algn="ctr">
                <a:lnSpc>
                  <a:spcPts val="79"/>
                </a:lnSpc>
                <a:spcBef>
                  <a:spcPct val="0"/>
                </a:spcBef>
              </a:pPr>
              <a:r>
                <a:rPr lang="en-US" sz="100" b="1" spc="8">
                  <a:solidFill>
                    <a:srgbClr val="FFFFFF"/>
                  </a:solidFill>
                  <a:latin typeface="Calibri (MS) Bold"/>
                  <a:ea typeface="Calibri (MS) Bold"/>
                  <a:cs typeface="Calibri (MS) Bold"/>
                  <a:sym typeface="Calibri (MS) Bold"/>
                </a:rPr>
                <a:t>October2026</a:t>
              </a:r>
            </a:p>
          </p:txBody>
        </p:sp>
        <p:sp>
          <p:nvSpPr>
            <p:cNvPr id="219" name="Freeform 219"/>
            <p:cNvSpPr/>
            <p:nvPr/>
          </p:nvSpPr>
          <p:spPr>
            <a:xfrm rot="2699999">
              <a:off x="1090550" y="6320207"/>
              <a:ext cx="128962" cy="128962"/>
            </a:xfrm>
            <a:custGeom>
              <a:avLst/>
              <a:gdLst/>
              <a:ahLst/>
              <a:cxnLst/>
              <a:rect l="l" t="t" r="r" b="b"/>
              <a:pathLst>
                <a:path w="128962" h="128962">
                  <a:moveTo>
                    <a:pt x="0" y="0"/>
                  </a:moveTo>
                  <a:lnTo>
                    <a:pt x="128962" y="0"/>
                  </a:lnTo>
                  <a:lnTo>
                    <a:pt x="128962" y="128963"/>
                  </a:lnTo>
                  <a:lnTo>
                    <a:pt x="0" y="128963"/>
                  </a:lnTo>
                  <a:lnTo>
                    <a:pt x="0" y="0"/>
                  </a:lnTo>
                  <a:close/>
                </a:path>
              </a:pathLst>
            </a:custGeom>
            <a:blipFill>
              <a:blip>
                <a:extLst>
                  <a:ext uri="{96DAC541-7B7A-43D3-8B79-37D633B846F1}">
                    <asvg:svgBlip xmlns:asvg="http://schemas.microsoft.com/office/drawing/2016/SVG/main" r:embed="rId36"/>
                  </a:ext>
                </a:extLst>
              </a:blip>
              <a:stretch>
                <a:fillRect/>
              </a:stretch>
            </a:blipFill>
          </p:spPr>
          <p:txBody>
            <a:bodyPr/>
            <a:lstStyle/>
            <a:p>
              <a:endParaRPr lang="en-US"/>
            </a:p>
          </p:txBody>
        </p:sp>
        <p:sp>
          <p:nvSpPr>
            <p:cNvPr id="220" name="Freeform 220"/>
            <p:cNvSpPr/>
            <p:nvPr/>
          </p:nvSpPr>
          <p:spPr>
            <a:xfrm>
              <a:off x="1129057" y="6259746"/>
              <a:ext cx="58797" cy="57621"/>
            </a:xfrm>
            <a:custGeom>
              <a:avLst/>
              <a:gdLst/>
              <a:ahLst/>
              <a:cxnLst/>
              <a:rect l="l" t="t" r="r" b="b"/>
              <a:pathLst>
                <a:path w="58797" h="57621">
                  <a:moveTo>
                    <a:pt x="0" y="0"/>
                  </a:moveTo>
                  <a:lnTo>
                    <a:pt x="58797" y="0"/>
                  </a:lnTo>
                  <a:lnTo>
                    <a:pt x="58797" y="57622"/>
                  </a:lnTo>
                  <a:lnTo>
                    <a:pt x="0" y="57622"/>
                  </a:lnTo>
                  <a:lnTo>
                    <a:pt x="0" y="0"/>
                  </a:lnTo>
                  <a:close/>
                </a:path>
              </a:pathLst>
            </a:custGeom>
            <a:blipFill>
              <a:blip r:embed="rId37"/>
              <a:stretch>
                <a:fillRect/>
              </a:stretch>
            </a:blipFill>
          </p:spPr>
          <p:txBody>
            <a:bodyPr/>
            <a:lstStyle/>
            <a:p>
              <a:endParaRPr lang="en-US"/>
            </a:p>
          </p:txBody>
        </p:sp>
        <p:sp>
          <p:nvSpPr>
            <p:cNvPr id="221" name="TextBox 221"/>
            <p:cNvSpPr txBox="1"/>
            <p:nvPr/>
          </p:nvSpPr>
          <p:spPr>
            <a:xfrm>
              <a:off x="1094586" y="6347632"/>
              <a:ext cx="122897" cy="30891"/>
            </a:xfrm>
            <a:prstGeom prst="rect">
              <a:avLst/>
            </a:prstGeom>
          </p:spPr>
          <p:txBody>
            <a:bodyPr lIns="0" tIns="0" rIns="0" bIns="0" rtlCol="0" anchor="t">
              <a:spAutoFit/>
            </a:bodyPr>
            <a:lstStyle/>
            <a:p>
              <a:pPr algn="ctr">
                <a:lnSpc>
                  <a:spcPts val="128"/>
                </a:lnSpc>
                <a:spcBef>
                  <a:spcPct val="0"/>
                </a:spcBef>
              </a:pPr>
              <a:r>
                <a:rPr lang="en-US" sz="106" b="1">
                  <a:solidFill>
                    <a:srgbClr val="FFFFFF"/>
                  </a:solidFill>
                  <a:latin typeface="Calibri (MS) Bold"/>
                  <a:ea typeface="Calibri (MS) Bold"/>
                  <a:cs typeface="Calibri (MS) Bold"/>
                  <a:sym typeface="Calibri (MS) Bold"/>
                </a:rPr>
                <a:t> REAL PASSPORT</a:t>
              </a:r>
            </a:p>
          </p:txBody>
        </p:sp>
        <p:sp>
          <p:nvSpPr>
            <p:cNvPr id="222" name="TextBox 222"/>
            <p:cNvSpPr txBox="1"/>
            <p:nvPr/>
          </p:nvSpPr>
          <p:spPr>
            <a:xfrm>
              <a:off x="1039733" y="6319566"/>
              <a:ext cx="58294" cy="13281"/>
            </a:xfrm>
            <a:prstGeom prst="rect">
              <a:avLst/>
            </a:prstGeom>
          </p:spPr>
          <p:txBody>
            <a:bodyPr lIns="0" tIns="0" rIns="0" bIns="0" rtlCol="0" anchor="t">
              <a:spAutoFit/>
            </a:bodyPr>
            <a:lstStyle/>
            <a:p>
              <a:pPr algn="ctr">
                <a:lnSpc>
                  <a:spcPts val="79"/>
                </a:lnSpc>
                <a:spcBef>
                  <a:spcPct val="0"/>
                </a:spcBef>
              </a:pPr>
              <a:r>
                <a:rPr lang="en-US" sz="100" b="1">
                  <a:solidFill>
                    <a:srgbClr val="FFDE59"/>
                  </a:solidFill>
                  <a:latin typeface="Calibri (MS) Bold"/>
                  <a:ea typeface="Calibri (MS) Bold"/>
                  <a:cs typeface="Calibri (MS) Bold"/>
                  <a:sym typeface="Calibri (MS) Bold"/>
                </a:rPr>
                <a:t>BeReal.</a:t>
              </a:r>
            </a:p>
          </p:txBody>
        </p:sp>
        <p:sp>
          <p:nvSpPr>
            <p:cNvPr id="223" name="TextBox 223"/>
            <p:cNvSpPr txBox="1"/>
            <p:nvPr/>
          </p:nvSpPr>
          <p:spPr>
            <a:xfrm>
              <a:off x="1210695" y="6319566"/>
              <a:ext cx="58294" cy="13281"/>
            </a:xfrm>
            <a:prstGeom prst="rect">
              <a:avLst/>
            </a:prstGeom>
          </p:spPr>
          <p:txBody>
            <a:bodyPr lIns="0" tIns="0" rIns="0" bIns="0" rtlCol="0" anchor="t">
              <a:spAutoFit/>
            </a:bodyPr>
            <a:lstStyle/>
            <a:p>
              <a:pPr algn="ctr">
                <a:lnSpc>
                  <a:spcPts val="79"/>
                </a:lnSpc>
                <a:spcBef>
                  <a:spcPct val="0"/>
                </a:spcBef>
              </a:pPr>
              <a:r>
                <a:rPr lang="en-US" sz="100" b="1">
                  <a:solidFill>
                    <a:srgbClr val="FFDE59"/>
                  </a:solidFill>
                  <a:latin typeface="Calibri (MS) Bold"/>
                  <a:ea typeface="Calibri (MS) Bold"/>
                  <a:cs typeface="Calibri (MS) Bold"/>
                  <a:sym typeface="Calibri (MS) Bold"/>
                </a:rPr>
                <a:t>Unfiltered</a:t>
              </a:r>
            </a:p>
          </p:txBody>
        </p:sp>
        <p:sp>
          <p:nvSpPr>
            <p:cNvPr id="224" name="Freeform 224"/>
            <p:cNvSpPr/>
            <p:nvPr/>
          </p:nvSpPr>
          <p:spPr>
            <a:xfrm>
              <a:off x="4323223" y="4974694"/>
              <a:ext cx="828191" cy="1059051"/>
            </a:xfrm>
            <a:custGeom>
              <a:avLst/>
              <a:gdLst/>
              <a:ahLst/>
              <a:cxnLst/>
              <a:rect l="l" t="t" r="r" b="b"/>
              <a:pathLst>
                <a:path w="828191" h="1059051">
                  <a:moveTo>
                    <a:pt x="0" y="0"/>
                  </a:moveTo>
                  <a:lnTo>
                    <a:pt x="828191" y="0"/>
                  </a:lnTo>
                  <a:lnTo>
                    <a:pt x="828191" y="1059051"/>
                  </a:lnTo>
                  <a:lnTo>
                    <a:pt x="0" y="1059051"/>
                  </a:lnTo>
                  <a:lnTo>
                    <a:pt x="0" y="0"/>
                  </a:lnTo>
                  <a:close/>
                </a:path>
              </a:pathLst>
            </a:custGeom>
            <a:blipFill>
              <a:blip r:embed="rId49"/>
              <a:stretch>
                <a:fillRect t="-28447" b="-9961"/>
              </a:stretch>
            </a:blipFill>
          </p:spPr>
          <p:txBody>
            <a:bodyPr/>
            <a:lstStyle/>
            <a:p>
              <a:endParaRPr lang="en-US"/>
            </a:p>
          </p:txBody>
        </p:sp>
        <p:grpSp>
          <p:nvGrpSpPr>
            <p:cNvPr id="225" name="Group 225"/>
            <p:cNvGrpSpPr/>
            <p:nvPr/>
          </p:nvGrpSpPr>
          <p:grpSpPr>
            <a:xfrm>
              <a:off x="4374790" y="5080592"/>
              <a:ext cx="227795" cy="227795"/>
              <a:chOff x="0" y="0"/>
              <a:chExt cx="812800" cy="812800"/>
            </a:xfrm>
          </p:grpSpPr>
          <p:sp>
            <p:nvSpPr>
              <p:cNvPr id="226" name="Freeform 22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a:blip r:embed="rId50"/>
                <a:stretch>
                  <a:fillRect t="-12111" b="-12111"/>
                </a:stretch>
              </a:blipFill>
              <a:ln w="9525" cap="sq">
                <a:solidFill>
                  <a:srgbClr val="000000"/>
                </a:solidFill>
                <a:prstDash val="solid"/>
                <a:miter/>
              </a:ln>
            </p:spPr>
            <p:txBody>
              <a:bodyPr/>
              <a:lstStyle/>
              <a:p>
                <a:endParaRPr lang="en-US"/>
              </a:p>
            </p:txBody>
          </p:sp>
        </p:grpSp>
        <p:sp>
          <p:nvSpPr>
            <p:cNvPr id="227" name="Freeform 227"/>
            <p:cNvSpPr/>
            <p:nvPr/>
          </p:nvSpPr>
          <p:spPr>
            <a:xfrm>
              <a:off x="4742851" y="5060598"/>
              <a:ext cx="315826" cy="315826"/>
            </a:xfrm>
            <a:custGeom>
              <a:avLst/>
              <a:gdLst/>
              <a:ahLst/>
              <a:cxnLst/>
              <a:rect l="l" t="t" r="r" b="b"/>
              <a:pathLst>
                <a:path w="315826" h="315826">
                  <a:moveTo>
                    <a:pt x="0" y="0"/>
                  </a:moveTo>
                  <a:lnTo>
                    <a:pt x="315826" y="0"/>
                  </a:lnTo>
                  <a:lnTo>
                    <a:pt x="315826" y="315826"/>
                  </a:lnTo>
                  <a:lnTo>
                    <a:pt x="0" y="315826"/>
                  </a:lnTo>
                  <a:lnTo>
                    <a:pt x="0" y="0"/>
                  </a:lnTo>
                  <a:close/>
                </a:path>
              </a:pathLst>
            </a:custGeom>
            <a:blipFill>
              <a:blip>
                <a:extLst>
                  <a:ext uri="{96DAC541-7B7A-43D3-8B79-37D633B846F1}">
                    <asvg:svgBlip xmlns:asvg="http://schemas.microsoft.com/office/drawing/2016/SVG/main" r:embed="rId34"/>
                  </a:ext>
                </a:extLst>
              </a:blip>
              <a:stretch>
                <a:fillRect/>
              </a:stretch>
            </a:blipFill>
          </p:spPr>
          <p:txBody>
            <a:bodyPr/>
            <a:lstStyle/>
            <a:p>
              <a:endParaRPr lang="en-US"/>
            </a:p>
          </p:txBody>
        </p:sp>
        <p:sp>
          <p:nvSpPr>
            <p:cNvPr id="228" name="Freeform 228"/>
            <p:cNvSpPr/>
            <p:nvPr/>
          </p:nvSpPr>
          <p:spPr>
            <a:xfrm>
              <a:off x="4806416" y="5125378"/>
              <a:ext cx="196836" cy="105307"/>
            </a:xfrm>
            <a:custGeom>
              <a:avLst/>
              <a:gdLst/>
              <a:ahLst/>
              <a:cxnLst/>
              <a:rect l="l" t="t" r="r" b="b"/>
              <a:pathLst>
                <a:path w="196836" h="105307">
                  <a:moveTo>
                    <a:pt x="0" y="0"/>
                  </a:moveTo>
                  <a:lnTo>
                    <a:pt x="196836" y="0"/>
                  </a:lnTo>
                  <a:lnTo>
                    <a:pt x="196836" y="105307"/>
                  </a:lnTo>
                  <a:lnTo>
                    <a:pt x="0" y="105307"/>
                  </a:lnTo>
                  <a:lnTo>
                    <a:pt x="0" y="0"/>
                  </a:lnTo>
                  <a:close/>
                </a:path>
              </a:pathLst>
            </a:custGeom>
            <a:blipFill>
              <a:blip>
                <a:extLst>
                  <a:ext uri="{96DAC541-7B7A-43D3-8B79-37D633B846F1}">
                    <asvg:svgBlip xmlns:asvg="http://schemas.microsoft.com/office/drawing/2016/SVG/main" r:embed="rId35"/>
                  </a:ext>
                </a:extLst>
              </a:blip>
              <a:stretch>
                <a:fillRect/>
              </a:stretch>
            </a:blipFill>
          </p:spPr>
          <p:txBody>
            <a:bodyPr/>
            <a:lstStyle/>
            <a:p>
              <a:endParaRPr lang="en-US"/>
            </a:p>
          </p:txBody>
        </p:sp>
        <p:sp>
          <p:nvSpPr>
            <p:cNvPr id="229" name="TextBox 229"/>
            <p:cNvSpPr txBox="1"/>
            <p:nvPr/>
          </p:nvSpPr>
          <p:spPr>
            <a:xfrm>
              <a:off x="4780905" y="5058616"/>
              <a:ext cx="247858" cy="122914"/>
            </a:xfrm>
            <a:prstGeom prst="rect">
              <a:avLst/>
            </a:prstGeom>
          </p:spPr>
          <p:txBody>
            <a:bodyPr lIns="0" tIns="0" rIns="0" bIns="0" rtlCol="0" anchor="t">
              <a:spAutoFit/>
            </a:bodyPr>
            <a:lstStyle/>
            <a:p>
              <a:pPr algn="ctr">
                <a:lnSpc>
                  <a:spcPts val="301"/>
                </a:lnSpc>
                <a:spcBef>
                  <a:spcPct val="0"/>
                </a:spcBef>
              </a:pPr>
              <a:r>
                <a:rPr lang="en-US" sz="251" b="1" spc="34">
                  <a:solidFill>
                    <a:srgbClr val="FFFFFF"/>
                  </a:solidFill>
                  <a:latin typeface="Calibri (MS) Bold"/>
                  <a:ea typeface="Calibri (MS) Bold"/>
                  <a:cs typeface="Calibri (MS) Bold"/>
                  <a:sym typeface="Calibri (MS) Bold"/>
                </a:rPr>
                <a:t>CRAMMING</a:t>
              </a:r>
            </a:p>
          </p:txBody>
        </p:sp>
        <p:sp>
          <p:nvSpPr>
            <p:cNvPr id="230" name="Freeform 230"/>
            <p:cNvSpPr/>
            <p:nvPr/>
          </p:nvSpPr>
          <p:spPr>
            <a:xfrm rot="-3394830" flipV="1">
              <a:off x="4762278" y="5190886"/>
              <a:ext cx="48687" cy="15304"/>
            </a:xfrm>
            <a:custGeom>
              <a:avLst/>
              <a:gdLst/>
              <a:ahLst/>
              <a:cxnLst/>
              <a:rect l="l" t="t" r="r" b="b"/>
              <a:pathLst>
                <a:path w="48687" h="15304">
                  <a:moveTo>
                    <a:pt x="0" y="15304"/>
                  </a:moveTo>
                  <a:lnTo>
                    <a:pt x="48687" y="15304"/>
                  </a:lnTo>
                  <a:lnTo>
                    <a:pt x="48687" y="0"/>
                  </a:lnTo>
                  <a:lnTo>
                    <a:pt x="0" y="0"/>
                  </a:lnTo>
                  <a:lnTo>
                    <a:pt x="0" y="15304"/>
                  </a:lnTo>
                  <a:close/>
                </a:path>
              </a:pathLst>
            </a:custGeom>
            <a:blipFill>
              <a:blip>
                <a:extLst>
                  <a:ext uri="{96DAC541-7B7A-43D3-8B79-37D633B846F1}">
                    <asvg:svgBlip xmlns:asvg="http://schemas.microsoft.com/office/drawing/2016/SVG/main" r:embed="rId24"/>
                  </a:ext>
                </a:extLst>
              </a:blip>
              <a:stretch>
                <a:fillRect l="-116778"/>
              </a:stretch>
            </a:blipFill>
          </p:spPr>
          <p:txBody>
            <a:bodyPr/>
            <a:lstStyle/>
            <a:p>
              <a:endParaRPr lang="en-US"/>
            </a:p>
          </p:txBody>
        </p:sp>
        <p:sp>
          <p:nvSpPr>
            <p:cNvPr id="231" name="Freeform 231"/>
            <p:cNvSpPr/>
            <p:nvPr/>
          </p:nvSpPr>
          <p:spPr>
            <a:xfrm rot="-6716943">
              <a:off x="4998966" y="5191508"/>
              <a:ext cx="44725" cy="14058"/>
            </a:xfrm>
            <a:custGeom>
              <a:avLst/>
              <a:gdLst/>
              <a:ahLst/>
              <a:cxnLst/>
              <a:rect l="l" t="t" r="r" b="b"/>
              <a:pathLst>
                <a:path w="44725" h="14058">
                  <a:moveTo>
                    <a:pt x="0" y="0"/>
                  </a:moveTo>
                  <a:lnTo>
                    <a:pt x="44725" y="0"/>
                  </a:lnTo>
                  <a:lnTo>
                    <a:pt x="44725" y="14059"/>
                  </a:lnTo>
                  <a:lnTo>
                    <a:pt x="0" y="14059"/>
                  </a:lnTo>
                  <a:lnTo>
                    <a:pt x="0" y="0"/>
                  </a:lnTo>
                  <a:close/>
                </a:path>
              </a:pathLst>
            </a:custGeom>
            <a:blipFill>
              <a:blip>
                <a:extLst>
                  <a:ext uri="{96DAC541-7B7A-43D3-8B79-37D633B846F1}">
                    <asvg:svgBlip xmlns:asvg="http://schemas.microsoft.com/office/drawing/2016/SVG/main" r:embed="rId24"/>
                  </a:ext>
                </a:extLst>
              </a:blip>
              <a:stretch>
                <a:fillRect l="-116778"/>
              </a:stretch>
            </a:blipFill>
          </p:spPr>
          <p:txBody>
            <a:bodyPr/>
            <a:lstStyle/>
            <a:p>
              <a:endParaRPr lang="en-US"/>
            </a:p>
          </p:txBody>
        </p:sp>
        <p:sp>
          <p:nvSpPr>
            <p:cNvPr id="232" name="Freeform 232"/>
            <p:cNvSpPr/>
            <p:nvPr/>
          </p:nvSpPr>
          <p:spPr>
            <a:xfrm rot="2699999">
              <a:off x="4799797" y="5156636"/>
              <a:ext cx="204319" cy="204319"/>
            </a:xfrm>
            <a:custGeom>
              <a:avLst/>
              <a:gdLst/>
              <a:ahLst/>
              <a:cxnLst/>
              <a:rect l="l" t="t" r="r" b="b"/>
              <a:pathLst>
                <a:path w="204319" h="204319">
                  <a:moveTo>
                    <a:pt x="0" y="0"/>
                  </a:moveTo>
                  <a:lnTo>
                    <a:pt x="204320" y="0"/>
                  </a:lnTo>
                  <a:lnTo>
                    <a:pt x="204320" y="204319"/>
                  </a:lnTo>
                  <a:lnTo>
                    <a:pt x="0" y="204319"/>
                  </a:lnTo>
                  <a:lnTo>
                    <a:pt x="0" y="0"/>
                  </a:lnTo>
                  <a:close/>
                </a:path>
              </a:pathLst>
            </a:custGeom>
            <a:blipFill>
              <a:blip>
                <a:extLst>
                  <a:ext uri="{96DAC541-7B7A-43D3-8B79-37D633B846F1}">
                    <asvg:svgBlip xmlns:asvg="http://schemas.microsoft.com/office/drawing/2016/SVG/main" r:embed="rId36"/>
                  </a:ext>
                </a:extLst>
              </a:blip>
              <a:stretch>
                <a:fillRect/>
              </a:stretch>
            </a:blipFill>
          </p:spPr>
          <p:txBody>
            <a:bodyPr/>
            <a:lstStyle/>
            <a:p>
              <a:endParaRPr lang="en-US"/>
            </a:p>
          </p:txBody>
        </p:sp>
        <p:sp>
          <p:nvSpPr>
            <p:cNvPr id="233" name="TextBox 233"/>
            <p:cNvSpPr txBox="1"/>
            <p:nvPr/>
          </p:nvSpPr>
          <p:spPr>
            <a:xfrm>
              <a:off x="4855898" y="5328742"/>
              <a:ext cx="89732" cy="15785"/>
            </a:xfrm>
            <a:prstGeom prst="rect">
              <a:avLst/>
            </a:prstGeom>
          </p:spPr>
          <p:txBody>
            <a:bodyPr lIns="0" tIns="0" rIns="0" bIns="0" rtlCol="0" anchor="t">
              <a:spAutoFit/>
            </a:bodyPr>
            <a:lstStyle/>
            <a:p>
              <a:pPr algn="ctr">
                <a:lnSpc>
                  <a:spcPts val="94"/>
                </a:lnSpc>
                <a:spcBef>
                  <a:spcPct val="0"/>
                </a:spcBef>
              </a:pPr>
              <a:r>
                <a:rPr lang="en-US" sz="100" b="1" spc="10">
                  <a:solidFill>
                    <a:srgbClr val="FFFFFF"/>
                  </a:solidFill>
                  <a:latin typeface="Calibri (MS) Bold"/>
                  <a:ea typeface="Calibri (MS) Bold"/>
                  <a:cs typeface="Calibri (MS) Bold"/>
                  <a:sym typeface="Calibri (MS) Bold"/>
                </a:rPr>
                <a:t>October2026</a:t>
              </a:r>
            </a:p>
          </p:txBody>
        </p:sp>
        <p:sp>
          <p:nvSpPr>
            <p:cNvPr id="234" name="Freeform 234"/>
            <p:cNvSpPr/>
            <p:nvPr/>
          </p:nvSpPr>
          <p:spPr>
            <a:xfrm rot="2699999">
              <a:off x="4824125" y="5231357"/>
              <a:ext cx="153277" cy="153277"/>
            </a:xfrm>
            <a:custGeom>
              <a:avLst/>
              <a:gdLst/>
              <a:ahLst/>
              <a:cxnLst/>
              <a:rect l="l" t="t" r="r" b="b"/>
              <a:pathLst>
                <a:path w="153277" h="153277">
                  <a:moveTo>
                    <a:pt x="0" y="0"/>
                  </a:moveTo>
                  <a:lnTo>
                    <a:pt x="153277" y="0"/>
                  </a:lnTo>
                  <a:lnTo>
                    <a:pt x="153277" y="153277"/>
                  </a:lnTo>
                  <a:lnTo>
                    <a:pt x="0" y="153277"/>
                  </a:lnTo>
                  <a:lnTo>
                    <a:pt x="0" y="0"/>
                  </a:lnTo>
                  <a:close/>
                </a:path>
              </a:pathLst>
            </a:custGeom>
            <a:blipFill>
              <a:blip>
                <a:extLst>
                  <a:ext uri="{96DAC541-7B7A-43D3-8B79-37D633B846F1}">
                    <asvg:svgBlip xmlns:asvg="http://schemas.microsoft.com/office/drawing/2016/SVG/main" r:embed="rId36"/>
                  </a:ext>
                </a:extLst>
              </a:blip>
              <a:stretch>
                <a:fillRect/>
              </a:stretch>
            </a:blipFill>
          </p:spPr>
          <p:txBody>
            <a:bodyPr/>
            <a:lstStyle/>
            <a:p>
              <a:endParaRPr lang="en-US"/>
            </a:p>
          </p:txBody>
        </p:sp>
        <p:sp>
          <p:nvSpPr>
            <p:cNvPr id="235" name="Freeform 235"/>
            <p:cNvSpPr/>
            <p:nvPr/>
          </p:nvSpPr>
          <p:spPr>
            <a:xfrm>
              <a:off x="4869893" y="5159497"/>
              <a:ext cx="69883" cy="68485"/>
            </a:xfrm>
            <a:custGeom>
              <a:avLst/>
              <a:gdLst/>
              <a:ahLst/>
              <a:cxnLst/>
              <a:rect l="l" t="t" r="r" b="b"/>
              <a:pathLst>
                <a:path w="69883" h="68485">
                  <a:moveTo>
                    <a:pt x="0" y="0"/>
                  </a:moveTo>
                  <a:lnTo>
                    <a:pt x="69883" y="0"/>
                  </a:lnTo>
                  <a:lnTo>
                    <a:pt x="69883" y="68485"/>
                  </a:lnTo>
                  <a:lnTo>
                    <a:pt x="0" y="68485"/>
                  </a:lnTo>
                  <a:lnTo>
                    <a:pt x="0" y="0"/>
                  </a:lnTo>
                  <a:close/>
                </a:path>
              </a:pathLst>
            </a:custGeom>
            <a:blipFill>
              <a:blip r:embed="rId37"/>
              <a:stretch>
                <a:fillRect/>
              </a:stretch>
            </a:blipFill>
          </p:spPr>
          <p:txBody>
            <a:bodyPr/>
            <a:lstStyle/>
            <a:p>
              <a:endParaRPr lang="en-US"/>
            </a:p>
          </p:txBody>
        </p:sp>
        <p:sp>
          <p:nvSpPr>
            <p:cNvPr id="236" name="TextBox 236"/>
            <p:cNvSpPr txBox="1"/>
            <p:nvPr/>
          </p:nvSpPr>
          <p:spPr>
            <a:xfrm>
              <a:off x="4828923" y="5265749"/>
              <a:ext cx="146068" cy="34919"/>
            </a:xfrm>
            <a:prstGeom prst="rect">
              <a:avLst/>
            </a:prstGeom>
          </p:spPr>
          <p:txBody>
            <a:bodyPr lIns="0" tIns="0" rIns="0" bIns="0" rtlCol="0" anchor="t">
              <a:spAutoFit/>
            </a:bodyPr>
            <a:lstStyle/>
            <a:p>
              <a:pPr algn="ctr">
                <a:lnSpc>
                  <a:spcPts val="152"/>
                </a:lnSpc>
                <a:spcBef>
                  <a:spcPct val="0"/>
                </a:spcBef>
              </a:pPr>
              <a:r>
                <a:rPr lang="en-US" sz="126" b="1">
                  <a:solidFill>
                    <a:srgbClr val="FFFFFF"/>
                  </a:solidFill>
                  <a:latin typeface="Calibri (MS) Bold"/>
                  <a:ea typeface="Calibri (MS) Bold"/>
                  <a:cs typeface="Calibri (MS) Bold"/>
                  <a:sym typeface="Calibri (MS) Bold"/>
                </a:rPr>
                <a:t> REAL PASSPORT</a:t>
              </a:r>
            </a:p>
          </p:txBody>
        </p:sp>
        <p:sp>
          <p:nvSpPr>
            <p:cNvPr id="237" name="TextBox 237"/>
            <p:cNvSpPr txBox="1"/>
            <p:nvPr/>
          </p:nvSpPr>
          <p:spPr>
            <a:xfrm>
              <a:off x="4763728" y="5230596"/>
              <a:ext cx="69285" cy="15785"/>
            </a:xfrm>
            <a:prstGeom prst="rect">
              <a:avLst/>
            </a:prstGeom>
          </p:spPr>
          <p:txBody>
            <a:bodyPr lIns="0" tIns="0" rIns="0" bIns="0" rtlCol="0" anchor="t">
              <a:spAutoFit/>
            </a:bodyPr>
            <a:lstStyle/>
            <a:p>
              <a:pPr algn="ctr">
                <a:lnSpc>
                  <a:spcPts val="94"/>
                </a:lnSpc>
                <a:spcBef>
                  <a:spcPct val="0"/>
                </a:spcBef>
              </a:pPr>
              <a:r>
                <a:rPr lang="en-US" sz="100" b="1">
                  <a:solidFill>
                    <a:srgbClr val="FFDE59"/>
                  </a:solidFill>
                  <a:latin typeface="Calibri (MS) Bold"/>
                  <a:ea typeface="Calibri (MS) Bold"/>
                  <a:cs typeface="Calibri (MS) Bold"/>
                  <a:sym typeface="Calibri (MS) Bold"/>
                </a:rPr>
                <a:t>BeReal.</a:t>
              </a:r>
            </a:p>
          </p:txBody>
        </p:sp>
        <p:sp>
          <p:nvSpPr>
            <p:cNvPr id="238" name="TextBox 238"/>
            <p:cNvSpPr txBox="1"/>
            <p:nvPr/>
          </p:nvSpPr>
          <p:spPr>
            <a:xfrm>
              <a:off x="4966922" y="5230596"/>
              <a:ext cx="69285" cy="15785"/>
            </a:xfrm>
            <a:prstGeom prst="rect">
              <a:avLst/>
            </a:prstGeom>
          </p:spPr>
          <p:txBody>
            <a:bodyPr lIns="0" tIns="0" rIns="0" bIns="0" rtlCol="0" anchor="t">
              <a:spAutoFit/>
            </a:bodyPr>
            <a:lstStyle/>
            <a:p>
              <a:pPr algn="ctr">
                <a:lnSpc>
                  <a:spcPts val="94"/>
                </a:lnSpc>
                <a:spcBef>
                  <a:spcPct val="0"/>
                </a:spcBef>
              </a:pPr>
              <a:r>
                <a:rPr lang="en-US" sz="100" b="1">
                  <a:solidFill>
                    <a:srgbClr val="FFDE59"/>
                  </a:solidFill>
                  <a:latin typeface="Calibri (MS) Bold"/>
                  <a:ea typeface="Calibri (MS) Bold"/>
                  <a:cs typeface="Calibri (MS) Bold"/>
                  <a:sym typeface="Calibri (MS) Bold"/>
                </a:rPr>
                <a:t>Unfiltered</a:t>
              </a:r>
            </a:p>
          </p:txBody>
        </p:sp>
        <p:sp>
          <p:nvSpPr>
            <p:cNvPr id="239" name="Freeform 239"/>
            <p:cNvSpPr/>
            <p:nvPr/>
          </p:nvSpPr>
          <p:spPr>
            <a:xfrm>
              <a:off x="4334288" y="6122526"/>
              <a:ext cx="817126" cy="1078782"/>
            </a:xfrm>
            <a:custGeom>
              <a:avLst/>
              <a:gdLst/>
              <a:ahLst/>
              <a:cxnLst/>
              <a:rect l="l" t="t" r="r" b="b"/>
              <a:pathLst>
                <a:path w="817126" h="1078782">
                  <a:moveTo>
                    <a:pt x="0" y="0"/>
                  </a:moveTo>
                  <a:lnTo>
                    <a:pt x="817126" y="0"/>
                  </a:lnTo>
                  <a:lnTo>
                    <a:pt x="817126" y="1078782"/>
                  </a:lnTo>
                  <a:lnTo>
                    <a:pt x="0" y="1078782"/>
                  </a:lnTo>
                  <a:lnTo>
                    <a:pt x="0" y="0"/>
                  </a:lnTo>
                  <a:close/>
                </a:path>
              </a:pathLst>
            </a:custGeom>
            <a:blipFill>
              <a:blip r:embed="rId51"/>
              <a:stretch>
                <a:fillRect t="-46" r="-10162" b="-11210"/>
              </a:stretch>
            </a:blipFill>
          </p:spPr>
          <p:txBody>
            <a:bodyPr/>
            <a:lstStyle/>
            <a:p>
              <a:endParaRPr lang="en-US"/>
            </a:p>
          </p:txBody>
        </p:sp>
        <p:grpSp>
          <p:nvGrpSpPr>
            <p:cNvPr id="240" name="Group 240"/>
            <p:cNvGrpSpPr/>
            <p:nvPr/>
          </p:nvGrpSpPr>
          <p:grpSpPr>
            <a:xfrm>
              <a:off x="4374790" y="6173473"/>
              <a:ext cx="227795" cy="227795"/>
              <a:chOff x="0" y="0"/>
              <a:chExt cx="812800" cy="812800"/>
            </a:xfrm>
          </p:grpSpPr>
          <p:sp>
            <p:nvSpPr>
              <p:cNvPr id="241" name="Freeform 241"/>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a:blip r:embed="rId52"/>
                <a:stretch>
                  <a:fillRect l="-15789" r="-15789"/>
                </a:stretch>
              </a:blipFill>
              <a:ln w="9525" cap="sq">
                <a:solidFill>
                  <a:srgbClr val="000000"/>
                </a:solidFill>
                <a:prstDash val="solid"/>
                <a:miter/>
              </a:ln>
            </p:spPr>
            <p:txBody>
              <a:bodyPr/>
              <a:lstStyle/>
              <a:p>
                <a:endParaRPr lang="en-US"/>
              </a:p>
            </p:txBody>
          </p:sp>
        </p:grpSp>
        <p:sp>
          <p:nvSpPr>
            <p:cNvPr id="242" name="Freeform 242"/>
            <p:cNvSpPr/>
            <p:nvPr/>
          </p:nvSpPr>
          <p:spPr>
            <a:xfrm>
              <a:off x="4817470" y="6192510"/>
              <a:ext cx="270547" cy="270547"/>
            </a:xfrm>
            <a:custGeom>
              <a:avLst/>
              <a:gdLst/>
              <a:ahLst/>
              <a:cxnLst/>
              <a:rect l="l" t="t" r="r" b="b"/>
              <a:pathLst>
                <a:path w="270547" h="270547">
                  <a:moveTo>
                    <a:pt x="0" y="0"/>
                  </a:moveTo>
                  <a:lnTo>
                    <a:pt x="270547" y="0"/>
                  </a:lnTo>
                  <a:lnTo>
                    <a:pt x="270547" y="270547"/>
                  </a:lnTo>
                  <a:lnTo>
                    <a:pt x="0" y="270547"/>
                  </a:lnTo>
                  <a:lnTo>
                    <a:pt x="0" y="0"/>
                  </a:lnTo>
                  <a:close/>
                </a:path>
              </a:pathLst>
            </a:custGeom>
            <a:blipFill>
              <a:blip>
                <a:extLst>
                  <a:ext uri="{96DAC541-7B7A-43D3-8B79-37D633B846F1}">
                    <asvg:svgBlip xmlns:asvg="http://schemas.microsoft.com/office/drawing/2016/SVG/main" r:embed="rId39"/>
                  </a:ext>
                </a:extLst>
              </a:blip>
              <a:stretch>
                <a:fillRect/>
              </a:stretch>
            </a:blipFill>
          </p:spPr>
          <p:txBody>
            <a:bodyPr/>
            <a:lstStyle/>
            <a:p>
              <a:endParaRPr lang="en-US"/>
            </a:p>
          </p:txBody>
        </p:sp>
        <p:sp>
          <p:nvSpPr>
            <p:cNvPr id="243" name="Freeform 243"/>
            <p:cNvSpPr/>
            <p:nvPr/>
          </p:nvSpPr>
          <p:spPr>
            <a:xfrm>
              <a:off x="4871922" y="6248002"/>
              <a:ext cx="168616" cy="90210"/>
            </a:xfrm>
            <a:custGeom>
              <a:avLst/>
              <a:gdLst/>
              <a:ahLst/>
              <a:cxnLst/>
              <a:rect l="l" t="t" r="r" b="b"/>
              <a:pathLst>
                <a:path w="168616" h="90210">
                  <a:moveTo>
                    <a:pt x="0" y="0"/>
                  </a:moveTo>
                  <a:lnTo>
                    <a:pt x="168617" y="0"/>
                  </a:lnTo>
                  <a:lnTo>
                    <a:pt x="168617" y="90210"/>
                  </a:lnTo>
                  <a:lnTo>
                    <a:pt x="0" y="90210"/>
                  </a:lnTo>
                  <a:lnTo>
                    <a:pt x="0" y="0"/>
                  </a:lnTo>
                  <a:close/>
                </a:path>
              </a:pathLst>
            </a:custGeom>
            <a:blipFill>
              <a:blip>
                <a:extLst>
                  <a:ext uri="{96DAC541-7B7A-43D3-8B79-37D633B846F1}">
                    <asvg:svgBlip xmlns:asvg="http://schemas.microsoft.com/office/drawing/2016/SVG/main" r:embed="rId40"/>
                  </a:ext>
                </a:extLst>
              </a:blip>
              <a:stretch>
                <a:fillRect/>
              </a:stretch>
            </a:blipFill>
          </p:spPr>
          <p:txBody>
            <a:bodyPr/>
            <a:lstStyle/>
            <a:p>
              <a:endParaRPr lang="en-US"/>
            </a:p>
          </p:txBody>
        </p:sp>
        <p:sp>
          <p:nvSpPr>
            <p:cNvPr id="244" name="TextBox 244"/>
            <p:cNvSpPr txBox="1"/>
            <p:nvPr/>
          </p:nvSpPr>
          <p:spPr>
            <a:xfrm>
              <a:off x="4880184" y="6197606"/>
              <a:ext cx="152092" cy="72518"/>
            </a:xfrm>
            <a:prstGeom prst="rect">
              <a:avLst/>
            </a:prstGeom>
          </p:spPr>
          <p:txBody>
            <a:bodyPr lIns="0" tIns="0" rIns="0" bIns="0" rtlCol="0" anchor="t">
              <a:spAutoFit/>
            </a:bodyPr>
            <a:lstStyle/>
            <a:p>
              <a:pPr algn="ctr">
                <a:lnSpc>
                  <a:spcPts val="258"/>
                </a:lnSpc>
                <a:spcBef>
                  <a:spcPct val="0"/>
                </a:spcBef>
              </a:pPr>
              <a:r>
                <a:rPr lang="en-US" sz="215" b="1" spc="29">
                  <a:solidFill>
                    <a:srgbClr val="FFFFFF"/>
                  </a:solidFill>
                  <a:latin typeface="Calibri (MS) Bold"/>
                  <a:ea typeface="Calibri (MS) Bold"/>
                  <a:cs typeface="Calibri (MS) Bold"/>
                  <a:sym typeface="Calibri (MS) Bold"/>
                </a:rPr>
                <a:t>COFFEE</a:t>
              </a:r>
            </a:p>
          </p:txBody>
        </p:sp>
        <p:sp>
          <p:nvSpPr>
            <p:cNvPr id="245" name="Freeform 245"/>
            <p:cNvSpPr/>
            <p:nvPr/>
          </p:nvSpPr>
          <p:spPr>
            <a:xfrm rot="-3394830" flipV="1">
              <a:off x="4834112" y="6304119"/>
              <a:ext cx="41707" cy="13110"/>
            </a:xfrm>
            <a:custGeom>
              <a:avLst/>
              <a:gdLst/>
              <a:ahLst/>
              <a:cxnLst/>
              <a:rect l="l" t="t" r="r" b="b"/>
              <a:pathLst>
                <a:path w="41707" h="13110">
                  <a:moveTo>
                    <a:pt x="0" y="13109"/>
                  </a:moveTo>
                  <a:lnTo>
                    <a:pt x="41707" y="13109"/>
                  </a:lnTo>
                  <a:lnTo>
                    <a:pt x="41707" y="0"/>
                  </a:lnTo>
                  <a:lnTo>
                    <a:pt x="0" y="0"/>
                  </a:lnTo>
                  <a:lnTo>
                    <a:pt x="0" y="13109"/>
                  </a:lnTo>
                  <a:close/>
                </a:path>
              </a:pathLst>
            </a:custGeom>
            <a:blipFill>
              <a:blip>
                <a:extLst>
                  <a:ext uri="{96DAC541-7B7A-43D3-8B79-37D633B846F1}">
                    <asvg:svgBlip xmlns:asvg="http://schemas.microsoft.com/office/drawing/2016/SVG/main" r:embed="rId24"/>
                  </a:ext>
                </a:extLst>
              </a:blip>
              <a:stretch>
                <a:fillRect l="-116778"/>
              </a:stretch>
            </a:blipFill>
          </p:spPr>
          <p:txBody>
            <a:bodyPr/>
            <a:lstStyle/>
            <a:p>
              <a:endParaRPr lang="en-US"/>
            </a:p>
          </p:txBody>
        </p:sp>
        <p:sp>
          <p:nvSpPr>
            <p:cNvPr id="246" name="Freeform 246"/>
            <p:cNvSpPr/>
            <p:nvPr/>
          </p:nvSpPr>
          <p:spPr>
            <a:xfrm rot="-6716943">
              <a:off x="5036867" y="6304652"/>
              <a:ext cx="38313" cy="12043"/>
            </a:xfrm>
            <a:custGeom>
              <a:avLst/>
              <a:gdLst/>
              <a:ahLst/>
              <a:cxnLst/>
              <a:rect l="l" t="t" r="r" b="b"/>
              <a:pathLst>
                <a:path w="38313" h="12043">
                  <a:moveTo>
                    <a:pt x="0" y="0"/>
                  </a:moveTo>
                  <a:lnTo>
                    <a:pt x="38313" y="0"/>
                  </a:lnTo>
                  <a:lnTo>
                    <a:pt x="38313" y="12043"/>
                  </a:lnTo>
                  <a:lnTo>
                    <a:pt x="0" y="12043"/>
                  </a:lnTo>
                  <a:lnTo>
                    <a:pt x="0" y="0"/>
                  </a:lnTo>
                  <a:close/>
                </a:path>
              </a:pathLst>
            </a:custGeom>
            <a:blipFill>
              <a:blip>
                <a:extLst>
                  <a:ext uri="{96DAC541-7B7A-43D3-8B79-37D633B846F1}">
                    <asvg:svgBlip xmlns:asvg="http://schemas.microsoft.com/office/drawing/2016/SVG/main" r:embed="rId24"/>
                  </a:ext>
                </a:extLst>
              </a:blip>
              <a:stretch>
                <a:fillRect l="-116778"/>
              </a:stretch>
            </a:blipFill>
          </p:spPr>
          <p:txBody>
            <a:bodyPr/>
            <a:lstStyle/>
            <a:p>
              <a:endParaRPr lang="en-US"/>
            </a:p>
          </p:txBody>
        </p:sp>
        <p:sp>
          <p:nvSpPr>
            <p:cNvPr id="247" name="Freeform 247"/>
            <p:cNvSpPr/>
            <p:nvPr/>
          </p:nvSpPr>
          <p:spPr>
            <a:xfrm rot="2699999">
              <a:off x="4866252" y="6274779"/>
              <a:ext cx="175027" cy="175027"/>
            </a:xfrm>
            <a:custGeom>
              <a:avLst/>
              <a:gdLst/>
              <a:ahLst/>
              <a:cxnLst/>
              <a:rect l="l" t="t" r="r" b="b"/>
              <a:pathLst>
                <a:path w="175027" h="175027">
                  <a:moveTo>
                    <a:pt x="0" y="0"/>
                  </a:moveTo>
                  <a:lnTo>
                    <a:pt x="175027" y="0"/>
                  </a:lnTo>
                  <a:lnTo>
                    <a:pt x="175027" y="175027"/>
                  </a:lnTo>
                  <a:lnTo>
                    <a:pt x="0" y="175027"/>
                  </a:lnTo>
                  <a:lnTo>
                    <a:pt x="0" y="0"/>
                  </a:lnTo>
                  <a:close/>
                </a:path>
              </a:pathLst>
            </a:custGeom>
            <a:blipFill>
              <a:blip>
                <a:extLst>
                  <a:ext uri="{96DAC541-7B7A-43D3-8B79-37D633B846F1}">
                    <asvg:svgBlip xmlns:asvg="http://schemas.microsoft.com/office/drawing/2016/SVG/main" r:embed="rId41"/>
                  </a:ext>
                </a:extLst>
              </a:blip>
              <a:stretch>
                <a:fillRect/>
              </a:stretch>
            </a:blipFill>
          </p:spPr>
          <p:txBody>
            <a:bodyPr/>
            <a:lstStyle/>
            <a:p>
              <a:endParaRPr lang="en-US"/>
            </a:p>
          </p:txBody>
        </p:sp>
        <p:sp>
          <p:nvSpPr>
            <p:cNvPr id="248" name="TextBox 248"/>
            <p:cNvSpPr txBox="1"/>
            <p:nvPr/>
          </p:nvSpPr>
          <p:spPr>
            <a:xfrm>
              <a:off x="4914310" y="6422211"/>
              <a:ext cx="76867" cy="13522"/>
            </a:xfrm>
            <a:prstGeom prst="rect">
              <a:avLst/>
            </a:prstGeom>
          </p:spPr>
          <p:txBody>
            <a:bodyPr lIns="0" tIns="0" rIns="0" bIns="0" rtlCol="0" anchor="t">
              <a:spAutoFit/>
            </a:bodyPr>
            <a:lstStyle/>
            <a:p>
              <a:pPr algn="ctr">
                <a:lnSpc>
                  <a:spcPts val="80"/>
                </a:lnSpc>
                <a:spcBef>
                  <a:spcPct val="0"/>
                </a:spcBef>
              </a:pPr>
              <a:r>
                <a:rPr lang="en-US" sz="100" b="1" spc="9">
                  <a:solidFill>
                    <a:srgbClr val="FFFFFF"/>
                  </a:solidFill>
                  <a:latin typeface="Calibri (MS) Bold"/>
                  <a:ea typeface="Calibri (MS) Bold"/>
                  <a:cs typeface="Calibri (MS) Bold"/>
                  <a:sym typeface="Calibri (MS) Bold"/>
                </a:rPr>
                <a:t>October2026</a:t>
              </a:r>
            </a:p>
          </p:txBody>
        </p:sp>
        <p:sp>
          <p:nvSpPr>
            <p:cNvPr id="249" name="Freeform 249"/>
            <p:cNvSpPr/>
            <p:nvPr/>
          </p:nvSpPr>
          <p:spPr>
            <a:xfrm rot="2699999">
              <a:off x="4887093" y="6338788"/>
              <a:ext cx="131302" cy="131302"/>
            </a:xfrm>
            <a:custGeom>
              <a:avLst/>
              <a:gdLst/>
              <a:ahLst/>
              <a:cxnLst/>
              <a:rect l="l" t="t" r="r" b="b"/>
              <a:pathLst>
                <a:path w="131302" h="131302">
                  <a:moveTo>
                    <a:pt x="0" y="0"/>
                  </a:moveTo>
                  <a:lnTo>
                    <a:pt x="131302" y="0"/>
                  </a:lnTo>
                  <a:lnTo>
                    <a:pt x="131302" y="131302"/>
                  </a:lnTo>
                  <a:lnTo>
                    <a:pt x="0" y="131302"/>
                  </a:lnTo>
                  <a:lnTo>
                    <a:pt x="0" y="0"/>
                  </a:lnTo>
                  <a:close/>
                </a:path>
              </a:pathLst>
            </a:custGeom>
            <a:blipFill>
              <a:blip>
                <a:extLst>
                  <a:ext uri="{96DAC541-7B7A-43D3-8B79-37D633B846F1}">
                    <asvg:svgBlip xmlns:asvg="http://schemas.microsoft.com/office/drawing/2016/SVG/main" r:embed="rId41"/>
                  </a:ext>
                </a:extLst>
              </a:blip>
              <a:stretch>
                <a:fillRect/>
              </a:stretch>
            </a:blipFill>
          </p:spPr>
          <p:txBody>
            <a:bodyPr/>
            <a:lstStyle/>
            <a:p>
              <a:endParaRPr lang="en-US"/>
            </a:p>
          </p:txBody>
        </p:sp>
        <p:sp>
          <p:nvSpPr>
            <p:cNvPr id="250" name="TextBox 250"/>
            <p:cNvSpPr txBox="1"/>
            <p:nvPr/>
          </p:nvSpPr>
          <p:spPr>
            <a:xfrm>
              <a:off x="4891202" y="6366883"/>
              <a:ext cx="125126" cy="31278"/>
            </a:xfrm>
            <a:prstGeom prst="rect">
              <a:avLst/>
            </a:prstGeom>
          </p:spPr>
          <p:txBody>
            <a:bodyPr lIns="0" tIns="0" rIns="0" bIns="0" rtlCol="0" anchor="t">
              <a:spAutoFit/>
            </a:bodyPr>
            <a:lstStyle/>
            <a:p>
              <a:pPr algn="ctr">
                <a:lnSpc>
                  <a:spcPts val="130"/>
                </a:lnSpc>
                <a:spcBef>
                  <a:spcPct val="0"/>
                </a:spcBef>
              </a:pPr>
              <a:r>
                <a:rPr lang="en-US" sz="108" b="1">
                  <a:solidFill>
                    <a:srgbClr val="FFFFFF"/>
                  </a:solidFill>
                  <a:latin typeface="Calibri (MS) Bold"/>
                  <a:ea typeface="Calibri (MS) Bold"/>
                  <a:cs typeface="Calibri (MS) Bold"/>
                  <a:sym typeface="Calibri (MS) Bold"/>
                </a:rPr>
                <a:t> REAL PASSPORT</a:t>
              </a:r>
            </a:p>
          </p:txBody>
        </p:sp>
        <p:sp>
          <p:nvSpPr>
            <p:cNvPr id="251" name="TextBox 251"/>
            <p:cNvSpPr txBox="1"/>
            <p:nvPr/>
          </p:nvSpPr>
          <p:spPr>
            <a:xfrm>
              <a:off x="4835354" y="6338135"/>
              <a:ext cx="59352" cy="13522"/>
            </a:xfrm>
            <a:prstGeom prst="rect">
              <a:avLst/>
            </a:prstGeom>
          </p:spPr>
          <p:txBody>
            <a:bodyPr lIns="0" tIns="0" rIns="0" bIns="0" rtlCol="0" anchor="t">
              <a:spAutoFit/>
            </a:bodyPr>
            <a:lstStyle/>
            <a:p>
              <a:pPr algn="ctr">
                <a:lnSpc>
                  <a:spcPts val="80"/>
                </a:lnSpc>
                <a:spcBef>
                  <a:spcPct val="0"/>
                </a:spcBef>
              </a:pPr>
              <a:r>
                <a:rPr lang="en-US" sz="100" b="1">
                  <a:solidFill>
                    <a:srgbClr val="FFDE59"/>
                  </a:solidFill>
                  <a:latin typeface="Calibri (MS) Bold"/>
                  <a:ea typeface="Calibri (MS) Bold"/>
                  <a:cs typeface="Calibri (MS) Bold"/>
                  <a:sym typeface="Calibri (MS) Bold"/>
                </a:rPr>
                <a:t>BeReal.</a:t>
              </a:r>
            </a:p>
          </p:txBody>
        </p:sp>
        <p:sp>
          <p:nvSpPr>
            <p:cNvPr id="252" name="TextBox 252"/>
            <p:cNvSpPr txBox="1"/>
            <p:nvPr/>
          </p:nvSpPr>
          <p:spPr>
            <a:xfrm>
              <a:off x="5009417" y="6338135"/>
              <a:ext cx="59352" cy="13522"/>
            </a:xfrm>
            <a:prstGeom prst="rect">
              <a:avLst/>
            </a:prstGeom>
          </p:spPr>
          <p:txBody>
            <a:bodyPr lIns="0" tIns="0" rIns="0" bIns="0" rtlCol="0" anchor="t">
              <a:spAutoFit/>
            </a:bodyPr>
            <a:lstStyle/>
            <a:p>
              <a:pPr algn="ctr">
                <a:lnSpc>
                  <a:spcPts val="80"/>
                </a:lnSpc>
                <a:spcBef>
                  <a:spcPct val="0"/>
                </a:spcBef>
              </a:pPr>
              <a:r>
                <a:rPr lang="en-US" sz="100" b="1">
                  <a:solidFill>
                    <a:srgbClr val="FFDE59"/>
                  </a:solidFill>
                  <a:latin typeface="Calibri (MS) Bold"/>
                  <a:ea typeface="Calibri (MS) Bold"/>
                  <a:cs typeface="Calibri (MS) Bold"/>
                  <a:sym typeface="Calibri (MS) Bold"/>
                </a:rPr>
                <a:t>Unfiltered</a:t>
              </a:r>
            </a:p>
          </p:txBody>
        </p:sp>
        <p:sp>
          <p:nvSpPr>
            <p:cNvPr id="253" name="Freeform 253"/>
            <p:cNvSpPr/>
            <p:nvPr/>
          </p:nvSpPr>
          <p:spPr>
            <a:xfrm>
              <a:off x="4927655" y="6287876"/>
              <a:ext cx="50178" cy="57021"/>
            </a:xfrm>
            <a:custGeom>
              <a:avLst/>
              <a:gdLst/>
              <a:ahLst/>
              <a:cxnLst/>
              <a:rect l="l" t="t" r="r" b="b"/>
              <a:pathLst>
                <a:path w="50178" h="57021">
                  <a:moveTo>
                    <a:pt x="0" y="0"/>
                  </a:moveTo>
                  <a:lnTo>
                    <a:pt x="50178" y="0"/>
                  </a:lnTo>
                  <a:lnTo>
                    <a:pt x="50178" y="57021"/>
                  </a:lnTo>
                  <a:lnTo>
                    <a:pt x="0" y="57021"/>
                  </a:lnTo>
                  <a:lnTo>
                    <a:pt x="0" y="0"/>
                  </a:lnTo>
                  <a:close/>
                </a:path>
              </a:pathLst>
            </a:custGeom>
            <a:blipFill>
              <a:blip>
                <a:extLst>
                  <a:ext uri="{96DAC541-7B7A-43D3-8B79-37D633B846F1}">
                    <asvg:svgBlip xmlns:asvg="http://schemas.microsoft.com/office/drawing/2016/SVG/main" r:embed="rId42"/>
                  </a:ext>
                </a:extLst>
              </a:blip>
              <a:stretch>
                <a:fillRect/>
              </a:stretch>
            </a:blipFill>
          </p:spPr>
          <p:txBody>
            <a:bodyPr/>
            <a:lstStyle/>
            <a:p>
              <a:endParaRPr lang="en-US"/>
            </a:p>
          </p:txBody>
        </p:sp>
        <p:grpSp>
          <p:nvGrpSpPr>
            <p:cNvPr id="254" name="Group 254"/>
            <p:cNvGrpSpPr/>
            <p:nvPr/>
          </p:nvGrpSpPr>
          <p:grpSpPr>
            <a:xfrm>
              <a:off x="394349" y="4297594"/>
              <a:ext cx="4865505" cy="380552"/>
              <a:chOff x="0" y="0"/>
              <a:chExt cx="12586773" cy="984466"/>
            </a:xfrm>
          </p:grpSpPr>
          <p:sp>
            <p:nvSpPr>
              <p:cNvPr id="255" name="Freeform 255"/>
              <p:cNvSpPr/>
              <p:nvPr/>
            </p:nvSpPr>
            <p:spPr>
              <a:xfrm>
                <a:off x="0" y="0"/>
                <a:ext cx="12586773" cy="984466"/>
              </a:xfrm>
              <a:custGeom>
                <a:avLst/>
                <a:gdLst/>
                <a:ahLst/>
                <a:cxnLst/>
                <a:rect l="l" t="t" r="r" b="b"/>
                <a:pathLst>
                  <a:path w="12586773" h="984466">
                    <a:moveTo>
                      <a:pt x="0" y="0"/>
                    </a:moveTo>
                    <a:lnTo>
                      <a:pt x="12586773" y="0"/>
                    </a:lnTo>
                    <a:lnTo>
                      <a:pt x="12586773" y="984466"/>
                    </a:lnTo>
                    <a:lnTo>
                      <a:pt x="0" y="984466"/>
                    </a:lnTo>
                    <a:close/>
                  </a:path>
                </a:pathLst>
              </a:custGeom>
              <a:blipFill>
                <a:blip r:embed="rId3">
                  <a:alphaModFix amt="0"/>
                </a:blip>
                <a:stretch>
                  <a:fillRect t="-257063" r="-16236" b="-222081"/>
                </a:stretch>
              </a:blipFill>
            </p:spPr>
            <p:txBody>
              <a:bodyPr/>
              <a:lstStyle/>
              <a:p>
                <a:endParaRPr lang="en-US"/>
              </a:p>
            </p:txBody>
          </p:sp>
          <p:sp>
            <p:nvSpPr>
              <p:cNvPr id="256" name="TextBox 256"/>
              <p:cNvSpPr txBox="1"/>
              <p:nvPr/>
            </p:nvSpPr>
            <p:spPr>
              <a:xfrm>
                <a:off x="0" y="-9525"/>
                <a:ext cx="12586773" cy="993991"/>
              </a:xfrm>
              <a:prstGeom prst="rect">
                <a:avLst/>
              </a:prstGeom>
            </p:spPr>
            <p:txBody>
              <a:bodyPr lIns="0" tIns="0" rIns="0" bIns="0" rtlCol="0" anchor="ctr"/>
              <a:lstStyle/>
              <a:p>
                <a:pPr algn="ctr">
                  <a:lnSpc>
                    <a:spcPts val="720"/>
                  </a:lnSpc>
                </a:pPr>
                <a:r>
                  <a:rPr lang="en-US" sz="600" b="1" spc="150" dirty="0">
                    <a:solidFill>
                      <a:srgbClr val="000000"/>
                    </a:solidFill>
                    <a:latin typeface="Arial Bold"/>
                    <a:ea typeface="Arial Bold"/>
                    <a:cs typeface="Arial Bold"/>
                    <a:sym typeface="Arial Bold"/>
                  </a:rPr>
                  <a:t>October 2026 Board: Powered by Iced Coffee &amp; Delusion ☕️</a:t>
                </a:r>
              </a:p>
            </p:txBody>
          </p:sp>
        </p:grpSp>
      </p:grpSp>
      <p:grpSp>
        <p:nvGrpSpPr>
          <p:cNvPr id="257" name="Group 2">
            <a:extLst>
              <a:ext uri="{FF2B5EF4-FFF2-40B4-BE49-F238E27FC236}">
                <a16:creationId xmlns:a16="http://schemas.microsoft.com/office/drawing/2014/main" id="{44992678-B10C-962B-9347-90BDB1F26BBC}"/>
              </a:ext>
            </a:extLst>
          </p:cNvPr>
          <p:cNvGrpSpPr/>
          <p:nvPr/>
        </p:nvGrpSpPr>
        <p:grpSpPr>
          <a:xfrm>
            <a:off x="960120" y="734066"/>
            <a:ext cx="10972800" cy="480060"/>
            <a:chOff x="0" y="0"/>
            <a:chExt cx="14630400" cy="640080"/>
          </a:xfrm>
        </p:grpSpPr>
        <p:sp>
          <p:nvSpPr>
            <p:cNvPr id="258" name="Freeform 3">
              <a:extLst>
                <a:ext uri="{FF2B5EF4-FFF2-40B4-BE49-F238E27FC236}">
                  <a16:creationId xmlns:a16="http://schemas.microsoft.com/office/drawing/2014/main" id="{04411BC2-169F-0922-C0C2-59603B32B052}"/>
                </a:ext>
              </a:extLst>
            </p:cNvPr>
            <p:cNvSpPr/>
            <p:nvPr/>
          </p:nvSpPr>
          <p:spPr>
            <a:xfrm>
              <a:off x="0" y="0"/>
              <a:ext cx="14630400" cy="640080"/>
            </a:xfrm>
            <a:custGeom>
              <a:avLst/>
              <a:gdLst/>
              <a:ahLst/>
              <a:cxnLst/>
              <a:rect l="l" t="t" r="r" b="b"/>
              <a:pathLst>
                <a:path w="14630400" h="640080">
                  <a:moveTo>
                    <a:pt x="0" y="0"/>
                  </a:moveTo>
                  <a:lnTo>
                    <a:pt x="14630400" y="0"/>
                  </a:lnTo>
                  <a:lnTo>
                    <a:pt x="14630400" y="640080"/>
                  </a:lnTo>
                  <a:lnTo>
                    <a:pt x="0" y="640080"/>
                  </a:lnTo>
                  <a:close/>
                </a:path>
              </a:pathLst>
            </a:custGeom>
            <a:blipFill>
              <a:blip r:embed="rId3">
                <a:alphaModFix amt="0"/>
              </a:blip>
              <a:stretch>
                <a:fillRect t="-395372" b="-395372"/>
              </a:stretch>
            </a:blipFill>
          </p:spPr>
          <p:txBody>
            <a:bodyPr/>
            <a:lstStyle/>
            <a:p>
              <a:endParaRPr lang="en-US"/>
            </a:p>
          </p:txBody>
        </p:sp>
        <p:sp>
          <p:nvSpPr>
            <p:cNvPr id="259" name="TextBox 4">
              <a:extLst>
                <a:ext uri="{FF2B5EF4-FFF2-40B4-BE49-F238E27FC236}">
                  <a16:creationId xmlns:a16="http://schemas.microsoft.com/office/drawing/2014/main" id="{91DA7A28-5668-B49A-657B-F6D0C590C05F}"/>
                </a:ext>
              </a:extLst>
            </p:cNvPr>
            <p:cNvSpPr txBox="1"/>
            <p:nvPr/>
          </p:nvSpPr>
          <p:spPr>
            <a:xfrm>
              <a:off x="0" y="-19050"/>
              <a:ext cx="14630400" cy="659130"/>
            </a:xfrm>
            <a:prstGeom prst="rect">
              <a:avLst/>
            </a:prstGeom>
          </p:spPr>
          <p:txBody>
            <a:bodyPr lIns="0" tIns="0" rIns="0" bIns="0" rtlCol="0" anchor="ctr"/>
            <a:lstStyle/>
            <a:p>
              <a:pPr algn="l">
                <a:lnSpc>
                  <a:spcPts val="2160"/>
                </a:lnSpc>
              </a:pPr>
              <a:r>
                <a:rPr lang="en-US" sz="1800" b="1" spc="450" dirty="0">
                  <a:solidFill>
                    <a:srgbClr val="FFFFFF"/>
                  </a:solidFill>
                  <a:latin typeface="Arial Bold"/>
                  <a:ea typeface="Arial Bold"/>
                  <a:cs typeface="Arial Bold"/>
                  <a:sym typeface="Arial Bold"/>
                </a:rPr>
                <a:t>FEATURE CONCEPT - OCTOBER 2026</a:t>
              </a:r>
            </a:p>
          </p:txBody>
        </p:sp>
      </p:grpSp>
      <p:grpSp>
        <p:nvGrpSpPr>
          <p:cNvPr id="260" name="Group 5">
            <a:extLst>
              <a:ext uri="{FF2B5EF4-FFF2-40B4-BE49-F238E27FC236}">
                <a16:creationId xmlns:a16="http://schemas.microsoft.com/office/drawing/2014/main" id="{9989E9D1-7D70-C744-069E-BF78DBF56CC3}"/>
              </a:ext>
            </a:extLst>
          </p:cNvPr>
          <p:cNvGrpSpPr/>
          <p:nvPr/>
        </p:nvGrpSpPr>
        <p:grpSpPr>
          <a:xfrm>
            <a:off x="960120" y="1214126"/>
            <a:ext cx="8183880" cy="718073"/>
            <a:chOff x="0" y="0"/>
            <a:chExt cx="10911840" cy="957431"/>
          </a:xfrm>
        </p:grpSpPr>
        <p:sp>
          <p:nvSpPr>
            <p:cNvPr id="261" name="Freeform 6">
              <a:extLst>
                <a:ext uri="{FF2B5EF4-FFF2-40B4-BE49-F238E27FC236}">
                  <a16:creationId xmlns:a16="http://schemas.microsoft.com/office/drawing/2014/main" id="{61418B74-0B30-3BF7-881C-9BEA650821FE}"/>
                </a:ext>
              </a:extLst>
            </p:cNvPr>
            <p:cNvSpPr/>
            <p:nvPr/>
          </p:nvSpPr>
          <p:spPr>
            <a:xfrm>
              <a:off x="0" y="0"/>
              <a:ext cx="10911840" cy="957431"/>
            </a:xfrm>
            <a:custGeom>
              <a:avLst/>
              <a:gdLst/>
              <a:ahLst/>
              <a:cxnLst/>
              <a:rect l="l" t="t" r="r" b="b"/>
              <a:pathLst>
                <a:path w="10911840" h="957431">
                  <a:moveTo>
                    <a:pt x="0" y="0"/>
                  </a:moveTo>
                  <a:lnTo>
                    <a:pt x="10911840" y="0"/>
                  </a:lnTo>
                  <a:lnTo>
                    <a:pt x="10911840" y="957431"/>
                  </a:lnTo>
                  <a:lnTo>
                    <a:pt x="0" y="957431"/>
                  </a:lnTo>
                  <a:close/>
                </a:path>
              </a:pathLst>
            </a:custGeom>
            <a:blipFill>
              <a:blip r:embed="rId3">
                <a:alphaModFix amt="0"/>
              </a:blip>
              <a:stretch>
                <a:fillRect t="-300064" r="-75977" b="-381525"/>
              </a:stretch>
            </a:blipFill>
          </p:spPr>
          <p:txBody>
            <a:bodyPr/>
            <a:lstStyle/>
            <a:p>
              <a:endParaRPr lang="en-US"/>
            </a:p>
          </p:txBody>
        </p:sp>
        <p:sp>
          <p:nvSpPr>
            <p:cNvPr id="262" name="TextBox 7">
              <a:extLst>
                <a:ext uri="{FF2B5EF4-FFF2-40B4-BE49-F238E27FC236}">
                  <a16:creationId xmlns:a16="http://schemas.microsoft.com/office/drawing/2014/main" id="{0ACECF78-FACE-1F56-68A6-237D7E29776F}"/>
                </a:ext>
              </a:extLst>
            </p:cNvPr>
            <p:cNvSpPr txBox="1"/>
            <p:nvPr/>
          </p:nvSpPr>
          <p:spPr>
            <a:xfrm>
              <a:off x="0" y="19050"/>
              <a:ext cx="10911840" cy="938381"/>
            </a:xfrm>
            <a:prstGeom prst="rect">
              <a:avLst/>
            </a:prstGeom>
          </p:spPr>
          <p:txBody>
            <a:bodyPr lIns="0" tIns="0" rIns="0" bIns="0" rtlCol="0" anchor="ctr"/>
            <a:lstStyle/>
            <a:p>
              <a:pPr algn="l">
                <a:lnSpc>
                  <a:spcPts val="3733"/>
                </a:lnSpc>
              </a:pPr>
              <a:r>
                <a:rPr lang="en-US" sz="3500" b="1">
                  <a:solidFill>
                    <a:srgbClr val="FFDE59"/>
                  </a:solidFill>
                  <a:latin typeface="Arial Bold"/>
                  <a:ea typeface="Arial Bold"/>
                  <a:cs typeface="Arial Bold"/>
                  <a:sym typeface="Arial Bold"/>
                </a:rPr>
                <a:t>BeReal.</a:t>
              </a:r>
            </a:p>
          </p:txBody>
        </p:sp>
      </p:grpSp>
      <p:grpSp>
        <p:nvGrpSpPr>
          <p:cNvPr id="263" name="Group 8">
            <a:extLst>
              <a:ext uri="{FF2B5EF4-FFF2-40B4-BE49-F238E27FC236}">
                <a16:creationId xmlns:a16="http://schemas.microsoft.com/office/drawing/2014/main" id="{19E6293E-055C-C90A-9030-7CAAC6423BEA}"/>
              </a:ext>
            </a:extLst>
          </p:cNvPr>
          <p:cNvGrpSpPr/>
          <p:nvPr/>
        </p:nvGrpSpPr>
        <p:grpSpPr>
          <a:xfrm>
            <a:off x="960120" y="2114645"/>
            <a:ext cx="10972800" cy="480060"/>
            <a:chOff x="0" y="0"/>
            <a:chExt cx="14630400" cy="640080"/>
          </a:xfrm>
        </p:grpSpPr>
        <p:sp>
          <p:nvSpPr>
            <p:cNvPr id="264" name="Freeform 9">
              <a:extLst>
                <a:ext uri="{FF2B5EF4-FFF2-40B4-BE49-F238E27FC236}">
                  <a16:creationId xmlns:a16="http://schemas.microsoft.com/office/drawing/2014/main" id="{3564AAB1-24C1-2204-08B3-83CE5E039201}"/>
                </a:ext>
              </a:extLst>
            </p:cNvPr>
            <p:cNvSpPr/>
            <p:nvPr/>
          </p:nvSpPr>
          <p:spPr>
            <a:xfrm>
              <a:off x="0" y="0"/>
              <a:ext cx="14630400" cy="640080"/>
            </a:xfrm>
            <a:custGeom>
              <a:avLst/>
              <a:gdLst/>
              <a:ahLst/>
              <a:cxnLst/>
              <a:rect l="l" t="t" r="r" b="b"/>
              <a:pathLst>
                <a:path w="14630400" h="640080">
                  <a:moveTo>
                    <a:pt x="0" y="0"/>
                  </a:moveTo>
                  <a:lnTo>
                    <a:pt x="14630400" y="0"/>
                  </a:lnTo>
                  <a:lnTo>
                    <a:pt x="14630400" y="640080"/>
                  </a:lnTo>
                  <a:lnTo>
                    <a:pt x="0" y="640080"/>
                  </a:lnTo>
                  <a:close/>
                </a:path>
              </a:pathLst>
            </a:custGeom>
            <a:blipFill>
              <a:blip r:embed="rId3">
                <a:alphaModFix amt="0"/>
              </a:blip>
              <a:stretch>
                <a:fillRect t="-395372" b="-395372"/>
              </a:stretch>
            </a:blipFill>
          </p:spPr>
          <p:txBody>
            <a:bodyPr/>
            <a:lstStyle/>
            <a:p>
              <a:endParaRPr lang="en-US"/>
            </a:p>
          </p:txBody>
        </p:sp>
        <p:sp>
          <p:nvSpPr>
            <p:cNvPr id="265" name="TextBox 10">
              <a:extLst>
                <a:ext uri="{FF2B5EF4-FFF2-40B4-BE49-F238E27FC236}">
                  <a16:creationId xmlns:a16="http://schemas.microsoft.com/office/drawing/2014/main" id="{162260FD-4FB8-00A4-E7C2-4D91F7E8AA5A}"/>
                </a:ext>
              </a:extLst>
            </p:cNvPr>
            <p:cNvSpPr txBox="1"/>
            <p:nvPr/>
          </p:nvSpPr>
          <p:spPr>
            <a:xfrm>
              <a:off x="0" y="-19050"/>
              <a:ext cx="14630400" cy="659130"/>
            </a:xfrm>
            <a:prstGeom prst="rect">
              <a:avLst/>
            </a:prstGeom>
          </p:spPr>
          <p:txBody>
            <a:bodyPr lIns="0" tIns="0" rIns="0" bIns="0" rtlCol="0" anchor="ctr"/>
            <a:lstStyle/>
            <a:p>
              <a:pPr algn="l">
                <a:lnSpc>
                  <a:spcPts val="2160"/>
                </a:lnSpc>
              </a:pPr>
              <a:r>
                <a:rPr lang="en-US" sz="1800" b="1" spc="450">
                  <a:solidFill>
                    <a:srgbClr val="FFFFFF"/>
                  </a:solidFill>
                  <a:latin typeface="Arial Bold"/>
                  <a:ea typeface="Arial Bold"/>
                  <a:cs typeface="Arial Bold"/>
                  <a:sym typeface="Arial Bold"/>
                </a:rPr>
                <a:t>BEREAL PASSPORT &amp; COMMUNITY BOARDS</a:t>
              </a:r>
            </a:p>
          </p:txBody>
        </p:sp>
      </p:gr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0A0A0A"/>
        </a:solidFill>
        <a:effectLst/>
      </p:bgPr>
    </p:bg>
    <p:spTree>
      <p:nvGrpSpPr>
        <p:cNvPr id="1" name=""/>
        <p:cNvGrpSpPr/>
        <p:nvPr/>
      </p:nvGrpSpPr>
      <p:grpSpPr>
        <a:xfrm>
          <a:off x="0" y="0"/>
          <a:ext cx="0" cy="0"/>
          <a:chOff x="0" y="0"/>
          <a:chExt cx="0" cy="0"/>
        </a:xfrm>
      </p:grpSpPr>
      <p:grpSp>
        <p:nvGrpSpPr>
          <p:cNvPr id="11" name="Group 11"/>
          <p:cNvGrpSpPr/>
          <p:nvPr/>
        </p:nvGrpSpPr>
        <p:grpSpPr>
          <a:xfrm>
            <a:off x="955424" y="2890868"/>
            <a:ext cx="7132320" cy="992403"/>
            <a:chOff x="0" y="0"/>
            <a:chExt cx="9509760" cy="1323204"/>
          </a:xfrm>
        </p:grpSpPr>
        <p:sp>
          <p:nvSpPr>
            <p:cNvPr id="12" name="Freeform 12"/>
            <p:cNvSpPr/>
            <p:nvPr/>
          </p:nvSpPr>
          <p:spPr>
            <a:xfrm>
              <a:off x="0" y="0"/>
              <a:ext cx="9509760" cy="1323204"/>
            </a:xfrm>
            <a:custGeom>
              <a:avLst/>
              <a:gdLst/>
              <a:ahLst/>
              <a:cxnLst/>
              <a:rect l="l" t="t" r="r" b="b"/>
              <a:pathLst>
                <a:path w="9509760" h="1323204">
                  <a:moveTo>
                    <a:pt x="0" y="0"/>
                  </a:moveTo>
                  <a:lnTo>
                    <a:pt x="9509760" y="0"/>
                  </a:lnTo>
                  <a:lnTo>
                    <a:pt x="9509760" y="1323204"/>
                  </a:lnTo>
                  <a:lnTo>
                    <a:pt x="0" y="1323204"/>
                  </a:lnTo>
                  <a:close/>
                </a:path>
              </a:pathLst>
            </a:custGeom>
            <a:blipFill>
              <a:blip r:embed="rId3">
                <a:alphaModFix amt="0"/>
              </a:blip>
              <a:stretch>
                <a:fillRect t="-217118" r="-101923" b="-248417"/>
              </a:stretch>
            </a:blipFill>
          </p:spPr>
          <p:txBody>
            <a:bodyPr/>
            <a:lstStyle/>
            <a:p>
              <a:endParaRPr lang="en-US"/>
            </a:p>
          </p:txBody>
        </p:sp>
        <p:sp>
          <p:nvSpPr>
            <p:cNvPr id="13" name="TextBox 13"/>
            <p:cNvSpPr txBox="1"/>
            <p:nvPr/>
          </p:nvSpPr>
          <p:spPr>
            <a:xfrm>
              <a:off x="0" y="38100"/>
              <a:ext cx="9509760" cy="1285104"/>
            </a:xfrm>
            <a:prstGeom prst="rect">
              <a:avLst/>
            </a:prstGeom>
          </p:spPr>
          <p:txBody>
            <a:bodyPr lIns="0" tIns="0" rIns="0" bIns="0" rtlCol="0" anchor="ctr"/>
            <a:lstStyle/>
            <a:p>
              <a:pPr algn="l">
                <a:lnSpc>
                  <a:spcPts val="5120"/>
                </a:lnSpc>
              </a:pPr>
              <a:r>
                <a:rPr lang="en-US" sz="4799" b="1">
                  <a:solidFill>
                    <a:srgbClr val="FFFFFF"/>
                  </a:solidFill>
                  <a:latin typeface="Arial Bold"/>
                  <a:ea typeface="Arial Bold"/>
                  <a:cs typeface="Arial Bold"/>
                  <a:sym typeface="Arial Bold"/>
                </a:rPr>
                <a:t>BeReal Passport</a:t>
              </a:r>
            </a:p>
          </p:txBody>
        </p:sp>
      </p:grpSp>
      <p:grpSp>
        <p:nvGrpSpPr>
          <p:cNvPr id="95" name="Group 95"/>
          <p:cNvGrpSpPr/>
          <p:nvPr/>
        </p:nvGrpSpPr>
        <p:grpSpPr>
          <a:xfrm>
            <a:off x="955424" y="4103450"/>
            <a:ext cx="5150359" cy="2132804"/>
            <a:chOff x="0" y="0"/>
            <a:chExt cx="6867146" cy="2843738"/>
          </a:xfrm>
        </p:grpSpPr>
        <p:sp>
          <p:nvSpPr>
            <p:cNvPr id="96" name="Freeform 96"/>
            <p:cNvSpPr/>
            <p:nvPr/>
          </p:nvSpPr>
          <p:spPr>
            <a:xfrm>
              <a:off x="0" y="0"/>
              <a:ext cx="6867146" cy="2843738"/>
            </a:xfrm>
            <a:custGeom>
              <a:avLst/>
              <a:gdLst/>
              <a:ahLst/>
              <a:cxnLst/>
              <a:rect l="l" t="t" r="r" b="b"/>
              <a:pathLst>
                <a:path w="6867146" h="2843738">
                  <a:moveTo>
                    <a:pt x="0" y="0"/>
                  </a:moveTo>
                  <a:lnTo>
                    <a:pt x="6867146" y="0"/>
                  </a:lnTo>
                  <a:lnTo>
                    <a:pt x="6867146" y="2843738"/>
                  </a:lnTo>
                  <a:lnTo>
                    <a:pt x="0" y="2843738"/>
                  </a:lnTo>
                  <a:close/>
                </a:path>
              </a:pathLst>
            </a:custGeom>
            <a:blipFill>
              <a:blip r:embed="rId3">
                <a:alphaModFix amt="0"/>
              </a:blip>
              <a:stretch>
                <a:fillRect t="-88991" r="-113049" b="-11500"/>
              </a:stretch>
            </a:blipFill>
          </p:spPr>
          <p:txBody>
            <a:bodyPr/>
            <a:lstStyle/>
            <a:p>
              <a:endParaRPr lang="en-US"/>
            </a:p>
          </p:txBody>
        </p:sp>
        <p:sp>
          <p:nvSpPr>
            <p:cNvPr id="97" name="TextBox 97"/>
            <p:cNvSpPr txBox="1"/>
            <p:nvPr/>
          </p:nvSpPr>
          <p:spPr>
            <a:xfrm>
              <a:off x="0" y="-57150"/>
              <a:ext cx="6867146" cy="2900888"/>
            </a:xfrm>
            <a:prstGeom prst="rect">
              <a:avLst/>
            </a:prstGeom>
          </p:spPr>
          <p:txBody>
            <a:bodyPr lIns="0" tIns="0" rIns="0" bIns="0" rtlCol="0" anchor="ctr"/>
            <a:lstStyle/>
            <a:p>
              <a:pPr marL="388620" lvl="1" indent="-194310" algn="l">
                <a:lnSpc>
                  <a:spcPts val="2340"/>
                </a:lnSpc>
                <a:buFont typeface="Arial"/>
                <a:buChar char="•"/>
              </a:pPr>
              <a:r>
                <a:rPr lang="en-US" sz="1800" b="1" spc="59">
                  <a:solidFill>
                    <a:srgbClr val="FFDE59"/>
                  </a:solidFill>
                  <a:latin typeface="Calibri (MS) Bold"/>
                  <a:ea typeface="Calibri (MS) Bold"/>
                  <a:cs typeface="Calibri (MS) Bold"/>
                  <a:sym typeface="Calibri (MS) Bold"/>
                </a:rPr>
                <a:t>MAU increase</a:t>
              </a:r>
            </a:p>
            <a:p>
              <a:pPr marL="388620" lvl="1" indent="-194310" algn="l">
                <a:lnSpc>
                  <a:spcPts val="2340"/>
                </a:lnSpc>
                <a:buFont typeface="Arial"/>
                <a:buChar char="•"/>
              </a:pPr>
              <a:r>
                <a:rPr lang="en-US" sz="1800" spc="59">
                  <a:solidFill>
                    <a:srgbClr val="FFFFFF"/>
                  </a:solidFill>
                  <a:latin typeface="Calibri (MS)"/>
                  <a:ea typeface="Calibri (MS)"/>
                  <a:cs typeface="Calibri (MS)"/>
                  <a:sym typeface="Calibri (MS)"/>
                </a:rPr>
                <a:t>New Theme Designs released monthly</a:t>
              </a:r>
            </a:p>
            <a:p>
              <a:pPr marL="388620" lvl="1" indent="-194310" algn="l">
                <a:lnSpc>
                  <a:spcPts val="2340"/>
                </a:lnSpc>
                <a:buFont typeface="Arial"/>
                <a:buChar char="•"/>
              </a:pPr>
              <a:r>
                <a:rPr lang="en-US" sz="1800" spc="59">
                  <a:solidFill>
                    <a:srgbClr val="FFFFFF"/>
                  </a:solidFill>
                  <a:latin typeface="Calibri (MS)"/>
                  <a:ea typeface="Calibri (MS)"/>
                  <a:cs typeface="Calibri (MS)"/>
                  <a:sym typeface="Calibri (MS)"/>
                </a:rPr>
                <a:t>Sponsored Ad designs</a:t>
              </a:r>
            </a:p>
            <a:p>
              <a:pPr marL="388620" lvl="1" indent="-194310" algn="l">
                <a:lnSpc>
                  <a:spcPts val="2340"/>
                </a:lnSpc>
                <a:buFont typeface="Arial"/>
                <a:buChar char="•"/>
              </a:pPr>
              <a:r>
                <a:rPr lang="en-US" sz="1800" spc="59">
                  <a:solidFill>
                    <a:srgbClr val="FFFFFF"/>
                  </a:solidFill>
                  <a:latin typeface="Calibri (MS)"/>
                  <a:ea typeface="Calibri (MS)"/>
                  <a:cs typeface="Calibri (MS)"/>
                  <a:sym typeface="Calibri (MS)"/>
                </a:rPr>
                <a:t>Gamified engangement</a:t>
              </a:r>
            </a:p>
            <a:p>
              <a:pPr marL="777240" lvl="2" indent="-259080" algn="l">
                <a:lnSpc>
                  <a:spcPts val="2340"/>
                </a:lnSpc>
                <a:buFont typeface="Arial"/>
                <a:buChar char="⚬"/>
              </a:pPr>
              <a:r>
                <a:rPr lang="en-US" sz="1800" spc="59">
                  <a:solidFill>
                    <a:srgbClr val="FFFFFF"/>
                  </a:solidFill>
                  <a:latin typeface="Calibri (MS)"/>
                  <a:ea typeface="Calibri (MS)"/>
                  <a:cs typeface="Calibri (MS)"/>
                  <a:sym typeface="Calibri (MS)"/>
                </a:rPr>
                <a:t>Leadership board</a:t>
              </a:r>
            </a:p>
            <a:p>
              <a:pPr marL="388620" lvl="1" indent="-194310" algn="l">
                <a:lnSpc>
                  <a:spcPts val="2340"/>
                </a:lnSpc>
                <a:buFont typeface="Arial"/>
                <a:buChar char="•"/>
              </a:pPr>
              <a:r>
                <a:rPr lang="en-US" sz="1800" spc="59">
                  <a:solidFill>
                    <a:srgbClr val="FFFFFF"/>
                  </a:solidFill>
                  <a:latin typeface="Calibri (MS)"/>
                  <a:ea typeface="Calibri (MS)"/>
                  <a:cs typeface="Calibri (MS)"/>
                  <a:sym typeface="Calibri (MS)"/>
                </a:rPr>
                <a:t>User can view their BeReal Passport Collection on the ‘Passport’ tab</a:t>
              </a:r>
            </a:p>
          </p:txBody>
        </p:sp>
      </p:grpSp>
      <p:grpSp>
        <p:nvGrpSpPr>
          <p:cNvPr id="98" name="Group 98"/>
          <p:cNvGrpSpPr/>
          <p:nvPr/>
        </p:nvGrpSpPr>
        <p:grpSpPr>
          <a:xfrm>
            <a:off x="11038556" y="1028700"/>
            <a:ext cx="4317130" cy="1109517"/>
            <a:chOff x="0" y="0"/>
            <a:chExt cx="5756173" cy="1479356"/>
          </a:xfrm>
        </p:grpSpPr>
        <p:grpSp>
          <p:nvGrpSpPr>
            <p:cNvPr id="99" name="Group 99"/>
            <p:cNvGrpSpPr/>
            <p:nvPr/>
          </p:nvGrpSpPr>
          <p:grpSpPr>
            <a:xfrm>
              <a:off x="0" y="0"/>
              <a:ext cx="5756173" cy="1479356"/>
              <a:chOff x="0" y="0"/>
              <a:chExt cx="1137022" cy="292218"/>
            </a:xfrm>
          </p:grpSpPr>
          <p:sp>
            <p:nvSpPr>
              <p:cNvPr id="100" name="Freeform 100"/>
              <p:cNvSpPr/>
              <p:nvPr/>
            </p:nvSpPr>
            <p:spPr>
              <a:xfrm>
                <a:off x="0" y="0"/>
                <a:ext cx="1137022" cy="292218"/>
              </a:xfrm>
              <a:custGeom>
                <a:avLst/>
                <a:gdLst/>
                <a:ahLst/>
                <a:cxnLst/>
                <a:rect l="l" t="t" r="r" b="b"/>
                <a:pathLst>
                  <a:path w="1137022" h="292218">
                    <a:moveTo>
                      <a:pt x="91458" y="0"/>
                    </a:moveTo>
                    <a:lnTo>
                      <a:pt x="1045563" y="0"/>
                    </a:lnTo>
                    <a:cubicBezTo>
                      <a:pt x="1096075" y="0"/>
                      <a:pt x="1137022" y="40947"/>
                      <a:pt x="1137022" y="91458"/>
                    </a:cubicBezTo>
                    <a:lnTo>
                      <a:pt x="1137022" y="200760"/>
                    </a:lnTo>
                    <a:cubicBezTo>
                      <a:pt x="1137022" y="251271"/>
                      <a:pt x="1096075" y="292218"/>
                      <a:pt x="1045563" y="292218"/>
                    </a:cubicBezTo>
                    <a:lnTo>
                      <a:pt x="91458" y="292218"/>
                    </a:lnTo>
                    <a:cubicBezTo>
                      <a:pt x="40947" y="292218"/>
                      <a:pt x="0" y="251271"/>
                      <a:pt x="0" y="200760"/>
                    </a:cubicBezTo>
                    <a:lnTo>
                      <a:pt x="0" y="91458"/>
                    </a:lnTo>
                    <a:cubicBezTo>
                      <a:pt x="0" y="40947"/>
                      <a:pt x="40947" y="0"/>
                      <a:pt x="91458" y="0"/>
                    </a:cubicBezTo>
                    <a:close/>
                  </a:path>
                </a:pathLst>
              </a:custGeom>
              <a:solidFill>
                <a:srgbClr val="484747"/>
              </a:solidFill>
            </p:spPr>
            <p:txBody>
              <a:bodyPr/>
              <a:lstStyle/>
              <a:p>
                <a:endParaRPr lang="en-US"/>
              </a:p>
            </p:txBody>
          </p:sp>
          <p:sp>
            <p:nvSpPr>
              <p:cNvPr id="101" name="TextBox 101"/>
              <p:cNvSpPr txBox="1"/>
              <p:nvPr/>
            </p:nvSpPr>
            <p:spPr>
              <a:xfrm>
                <a:off x="0" y="-47625"/>
                <a:ext cx="1137022" cy="339843"/>
              </a:xfrm>
              <a:prstGeom prst="rect">
                <a:avLst/>
              </a:prstGeom>
            </p:spPr>
            <p:txBody>
              <a:bodyPr lIns="50800" tIns="50800" rIns="50800" bIns="50800" rtlCol="0" anchor="ctr"/>
              <a:lstStyle/>
              <a:p>
                <a:pPr algn="ctr">
                  <a:lnSpc>
                    <a:spcPts val="2340"/>
                  </a:lnSpc>
                </a:pPr>
                <a:endParaRPr/>
              </a:p>
            </p:txBody>
          </p:sp>
        </p:grpSp>
        <p:grpSp>
          <p:nvGrpSpPr>
            <p:cNvPr id="102" name="Group 102"/>
            <p:cNvGrpSpPr/>
            <p:nvPr/>
          </p:nvGrpSpPr>
          <p:grpSpPr>
            <a:xfrm>
              <a:off x="238167" y="212133"/>
              <a:ext cx="5060919" cy="1028293"/>
              <a:chOff x="0" y="0"/>
              <a:chExt cx="6580692" cy="1337085"/>
            </a:xfrm>
          </p:grpSpPr>
          <p:sp>
            <p:nvSpPr>
              <p:cNvPr id="103" name="Freeform 103"/>
              <p:cNvSpPr/>
              <p:nvPr/>
            </p:nvSpPr>
            <p:spPr>
              <a:xfrm>
                <a:off x="0" y="0"/>
                <a:ext cx="6580692" cy="1337086"/>
              </a:xfrm>
              <a:custGeom>
                <a:avLst/>
                <a:gdLst/>
                <a:ahLst/>
                <a:cxnLst/>
                <a:rect l="l" t="t" r="r" b="b"/>
                <a:pathLst>
                  <a:path w="6580692" h="1337086">
                    <a:moveTo>
                      <a:pt x="0" y="0"/>
                    </a:moveTo>
                    <a:lnTo>
                      <a:pt x="6580692" y="0"/>
                    </a:lnTo>
                    <a:lnTo>
                      <a:pt x="6580692" y="1337086"/>
                    </a:lnTo>
                    <a:lnTo>
                      <a:pt x="0" y="1337086"/>
                    </a:lnTo>
                    <a:close/>
                  </a:path>
                </a:pathLst>
              </a:custGeom>
              <a:blipFill>
                <a:blip r:embed="rId3">
                  <a:alphaModFix amt="0"/>
                </a:blip>
                <a:stretch>
                  <a:fillRect t="-189269" r="-122323" b="-137141"/>
                </a:stretch>
              </a:blipFill>
            </p:spPr>
            <p:txBody>
              <a:bodyPr/>
              <a:lstStyle/>
              <a:p>
                <a:endParaRPr lang="en-US"/>
              </a:p>
            </p:txBody>
          </p:sp>
          <p:sp>
            <p:nvSpPr>
              <p:cNvPr id="104" name="TextBox 104"/>
              <p:cNvSpPr txBox="1"/>
              <p:nvPr/>
            </p:nvSpPr>
            <p:spPr>
              <a:xfrm>
                <a:off x="0" y="-47625"/>
                <a:ext cx="6580692" cy="1384710"/>
              </a:xfrm>
              <a:prstGeom prst="rect">
                <a:avLst/>
              </a:prstGeom>
            </p:spPr>
            <p:txBody>
              <a:bodyPr lIns="0" tIns="0" rIns="0" bIns="0" rtlCol="0" anchor="ctr"/>
              <a:lstStyle/>
              <a:p>
                <a:pPr algn="ctr">
                  <a:lnSpc>
                    <a:spcPts val="2399"/>
                  </a:lnSpc>
                </a:pPr>
                <a:r>
                  <a:rPr lang="en-US" sz="1999" b="1" spc="499">
                    <a:solidFill>
                      <a:srgbClr val="FFFFFF"/>
                    </a:solidFill>
                    <a:latin typeface="Calibri (MS) Bold"/>
                    <a:ea typeface="Calibri (MS) Bold"/>
                    <a:cs typeface="Calibri (MS) Bold"/>
                    <a:sym typeface="Calibri (MS) Bold"/>
                  </a:rPr>
                  <a:t>October 2026 Release</a:t>
                </a:r>
              </a:p>
            </p:txBody>
          </p:sp>
        </p:grpSp>
      </p:grpSp>
      <p:pic>
        <p:nvPicPr>
          <p:cNvPr id="106" name="Picture 105">
            <a:extLst>
              <a:ext uri="{FF2B5EF4-FFF2-40B4-BE49-F238E27FC236}">
                <a16:creationId xmlns:a16="http://schemas.microsoft.com/office/drawing/2014/main" id="{A058CF52-1ACA-2775-80D6-5159AEFEB2D7}"/>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577621" y="2503645"/>
            <a:ext cx="3619500" cy="3632200"/>
          </a:xfrm>
          <a:prstGeom prst="rect">
            <a:avLst/>
          </a:prstGeom>
        </p:spPr>
      </p:pic>
      <p:pic>
        <p:nvPicPr>
          <p:cNvPr id="108" name="Picture 107">
            <a:extLst>
              <a:ext uri="{FF2B5EF4-FFF2-40B4-BE49-F238E27FC236}">
                <a16:creationId xmlns:a16="http://schemas.microsoft.com/office/drawing/2014/main" id="{FF488FFC-556E-0405-82E5-E07BDD5533C4}"/>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3695680" y="2343086"/>
            <a:ext cx="3632200" cy="3619500"/>
          </a:xfrm>
          <a:prstGeom prst="rect">
            <a:avLst/>
          </a:prstGeom>
        </p:spPr>
      </p:pic>
      <p:pic>
        <p:nvPicPr>
          <p:cNvPr id="110" name="Picture 109">
            <a:extLst>
              <a:ext uri="{FF2B5EF4-FFF2-40B4-BE49-F238E27FC236}">
                <a16:creationId xmlns:a16="http://schemas.microsoft.com/office/drawing/2014/main" id="{4DDC108C-F695-693C-5658-2D09CB48093F}"/>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889384" y="6461602"/>
            <a:ext cx="3632200" cy="3632200"/>
          </a:xfrm>
          <a:prstGeom prst="rect">
            <a:avLst/>
          </a:prstGeom>
        </p:spPr>
      </p:pic>
      <p:pic>
        <p:nvPicPr>
          <p:cNvPr id="112" name="Picture 111">
            <a:extLst>
              <a:ext uri="{FF2B5EF4-FFF2-40B4-BE49-F238E27FC236}">
                <a16:creationId xmlns:a16="http://schemas.microsoft.com/office/drawing/2014/main" id="{6957BD23-6618-E8C6-5C3E-45B5513360F0}"/>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5052060" y="6436202"/>
            <a:ext cx="3632200" cy="3683000"/>
          </a:xfrm>
          <a:prstGeom prst="rect">
            <a:avLst/>
          </a:prstGeom>
        </p:spPr>
      </p:pic>
      <p:pic>
        <p:nvPicPr>
          <p:cNvPr id="114" name="Picture 113">
            <a:extLst>
              <a:ext uri="{FF2B5EF4-FFF2-40B4-BE49-F238E27FC236}">
                <a16:creationId xmlns:a16="http://schemas.microsoft.com/office/drawing/2014/main" id="{D2447905-6105-4CBA-9791-C48B14CFD1F1}"/>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9466031" y="6442552"/>
            <a:ext cx="3657600" cy="3619500"/>
          </a:xfrm>
          <a:prstGeom prst="rect">
            <a:avLst/>
          </a:prstGeom>
        </p:spPr>
      </p:pic>
      <p:pic>
        <p:nvPicPr>
          <p:cNvPr id="116" name="Picture 115">
            <a:extLst>
              <a:ext uri="{FF2B5EF4-FFF2-40B4-BE49-F238E27FC236}">
                <a16:creationId xmlns:a16="http://schemas.microsoft.com/office/drawing/2014/main" id="{DF5C1D0B-4292-1EEE-0BF5-612CEC72C78A}"/>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13695680" y="6366416"/>
            <a:ext cx="3657600" cy="3619500"/>
          </a:xfrm>
          <a:prstGeom prst="rect">
            <a:avLst/>
          </a:prstGeom>
        </p:spPr>
      </p:pic>
      <p:grpSp>
        <p:nvGrpSpPr>
          <p:cNvPr id="14" name="Group 2">
            <a:extLst>
              <a:ext uri="{FF2B5EF4-FFF2-40B4-BE49-F238E27FC236}">
                <a16:creationId xmlns:a16="http://schemas.microsoft.com/office/drawing/2014/main" id="{6EC5BB67-6D38-B091-8418-74E864A965EE}"/>
              </a:ext>
            </a:extLst>
          </p:cNvPr>
          <p:cNvGrpSpPr/>
          <p:nvPr/>
        </p:nvGrpSpPr>
        <p:grpSpPr>
          <a:xfrm>
            <a:off x="960120" y="734066"/>
            <a:ext cx="10972800" cy="480060"/>
            <a:chOff x="0" y="0"/>
            <a:chExt cx="14630400" cy="640080"/>
          </a:xfrm>
        </p:grpSpPr>
        <p:sp>
          <p:nvSpPr>
            <p:cNvPr id="15" name="Freeform 3">
              <a:extLst>
                <a:ext uri="{FF2B5EF4-FFF2-40B4-BE49-F238E27FC236}">
                  <a16:creationId xmlns:a16="http://schemas.microsoft.com/office/drawing/2014/main" id="{773914E5-C230-8465-6E53-F36F6C11F3E1}"/>
                </a:ext>
              </a:extLst>
            </p:cNvPr>
            <p:cNvSpPr/>
            <p:nvPr/>
          </p:nvSpPr>
          <p:spPr>
            <a:xfrm>
              <a:off x="0" y="0"/>
              <a:ext cx="14630400" cy="640080"/>
            </a:xfrm>
            <a:custGeom>
              <a:avLst/>
              <a:gdLst/>
              <a:ahLst/>
              <a:cxnLst/>
              <a:rect l="l" t="t" r="r" b="b"/>
              <a:pathLst>
                <a:path w="14630400" h="640080">
                  <a:moveTo>
                    <a:pt x="0" y="0"/>
                  </a:moveTo>
                  <a:lnTo>
                    <a:pt x="14630400" y="0"/>
                  </a:lnTo>
                  <a:lnTo>
                    <a:pt x="14630400" y="640080"/>
                  </a:lnTo>
                  <a:lnTo>
                    <a:pt x="0" y="640080"/>
                  </a:lnTo>
                  <a:close/>
                </a:path>
              </a:pathLst>
            </a:custGeom>
            <a:blipFill>
              <a:blip r:embed="rId3">
                <a:alphaModFix amt="0"/>
              </a:blip>
              <a:stretch>
                <a:fillRect t="-395372" b="-395372"/>
              </a:stretch>
            </a:blipFill>
          </p:spPr>
          <p:txBody>
            <a:bodyPr/>
            <a:lstStyle/>
            <a:p>
              <a:endParaRPr lang="en-US"/>
            </a:p>
          </p:txBody>
        </p:sp>
        <p:sp>
          <p:nvSpPr>
            <p:cNvPr id="16" name="TextBox 4">
              <a:extLst>
                <a:ext uri="{FF2B5EF4-FFF2-40B4-BE49-F238E27FC236}">
                  <a16:creationId xmlns:a16="http://schemas.microsoft.com/office/drawing/2014/main" id="{A4BFFFE7-5666-3864-69BE-2120AC51836C}"/>
                </a:ext>
              </a:extLst>
            </p:cNvPr>
            <p:cNvSpPr txBox="1"/>
            <p:nvPr/>
          </p:nvSpPr>
          <p:spPr>
            <a:xfrm>
              <a:off x="0" y="-19050"/>
              <a:ext cx="14630400" cy="659130"/>
            </a:xfrm>
            <a:prstGeom prst="rect">
              <a:avLst/>
            </a:prstGeom>
          </p:spPr>
          <p:txBody>
            <a:bodyPr lIns="0" tIns="0" rIns="0" bIns="0" rtlCol="0" anchor="ctr"/>
            <a:lstStyle/>
            <a:p>
              <a:pPr algn="l">
                <a:lnSpc>
                  <a:spcPts val="2160"/>
                </a:lnSpc>
              </a:pPr>
              <a:r>
                <a:rPr lang="en-US" sz="1800" b="1" spc="450" dirty="0">
                  <a:solidFill>
                    <a:srgbClr val="FFFFFF"/>
                  </a:solidFill>
                  <a:latin typeface="Arial Bold"/>
                  <a:ea typeface="Arial Bold"/>
                  <a:cs typeface="Arial Bold"/>
                  <a:sym typeface="Arial Bold"/>
                </a:rPr>
                <a:t>FEATURE CONCEPT - OCTOBER 2026</a:t>
              </a:r>
            </a:p>
          </p:txBody>
        </p:sp>
      </p:grpSp>
      <p:grpSp>
        <p:nvGrpSpPr>
          <p:cNvPr id="17" name="Group 5">
            <a:extLst>
              <a:ext uri="{FF2B5EF4-FFF2-40B4-BE49-F238E27FC236}">
                <a16:creationId xmlns:a16="http://schemas.microsoft.com/office/drawing/2014/main" id="{B288D4AE-F386-5095-8B10-4A51B18FCC16}"/>
              </a:ext>
            </a:extLst>
          </p:cNvPr>
          <p:cNvGrpSpPr/>
          <p:nvPr/>
        </p:nvGrpSpPr>
        <p:grpSpPr>
          <a:xfrm>
            <a:off x="960120" y="1214126"/>
            <a:ext cx="8183880" cy="718073"/>
            <a:chOff x="0" y="0"/>
            <a:chExt cx="10911840" cy="957431"/>
          </a:xfrm>
        </p:grpSpPr>
        <p:sp>
          <p:nvSpPr>
            <p:cNvPr id="18" name="Freeform 6">
              <a:extLst>
                <a:ext uri="{FF2B5EF4-FFF2-40B4-BE49-F238E27FC236}">
                  <a16:creationId xmlns:a16="http://schemas.microsoft.com/office/drawing/2014/main" id="{CFA6C78F-6C1B-BB12-A442-51B51EC85B81}"/>
                </a:ext>
              </a:extLst>
            </p:cNvPr>
            <p:cNvSpPr/>
            <p:nvPr/>
          </p:nvSpPr>
          <p:spPr>
            <a:xfrm>
              <a:off x="0" y="0"/>
              <a:ext cx="10911840" cy="957431"/>
            </a:xfrm>
            <a:custGeom>
              <a:avLst/>
              <a:gdLst/>
              <a:ahLst/>
              <a:cxnLst/>
              <a:rect l="l" t="t" r="r" b="b"/>
              <a:pathLst>
                <a:path w="10911840" h="957431">
                  <a:moveTo>
                    <a:pt x="0" y="0"/>
                  </a:moveTo>
                  <a:lnTo>
                    <a:pt x="10911840" y="0"/>
                  </a:lnTo>
                  <a:lnTo>
                    <a:pt x="10911840" y="957431"/>
                  </a:lnTo>
                  <a:lnTo>
                    <a:pt x="0" y="957431"/>
                  </a:lnTo>
                  <a:close/>
                </a:path>
              </a:pathLst>
            </a:custGeom>
            <a:blipFill>
              <a:blip r:embed="rId3">
                <a:alphaModFix amt="0"/>
              </a:blip>
              <a:stretch>
                <a:fillRect t="-300064" r="-75977" b="-381525"/>
              </a:stretch>
            </a:blipFill>
          </p:spPr>
          <p:txBody>
            <a:bodyPr/>
            <a:lstStyle/>
            <a:p>
              <a:endParaRPr lang="en-US"/>
            </a:p>
          </p:txBody>
        </p:sp>
        <p:sp>
          <p:nvSpPr>
            <p:cNvPr id="19" name="TextBox 7">
              <a:extLst>
                <a:ext uri="{FF2B5EF4-FFF2-40B4-BE49-F238E27FC236}">
                  <a16:creationId xmlns:a16="http://schemas.microsoft.com/office/drawing/2014/main" id="{D33C31A3-51A2-2FD4-6037-AE270B5CECD0}"/>
                </a:ext>
              </a:extLst>
            </p:cNvPr>
            <p:cNvSpPr txBox="1"/>
            <p:nvPr/>
          </p:nvSpPr>
          <p:spPr>
            <a:xfrm>
              <a:off x="0" y="19050"/>
              <a:ext cx="10911840" cy="938381"/>
            </a:xfrm>
            <a:prstGeom prst="rect">
              <a:avLst/>
            </a:prstGeom>
          </p:spPr>
          <p:txBody>
            <a:bodyPr lIns="0" tIns="0" rIns="0" bIns="0" rtlCol="0" anchor="ctr"/>
            <a:lstStyle/>
            <a:p>
              <a:pPr algn="l">
                <a:lnSpc>
                  <a:spcPts val="3733"/>
                </a:lnSpc>
              </a:pPr>
              <a:r>
                <a:rPr lang="en-US" sz="3500" b="1">
                  <a:solidFill>
                    <a:srgbClr val="FFDE59"/>
                  </a:solidFill>
                  <a:latin typeface="Arial Bold"/>
                  <a:ea typeface="Arial Bold"/>
                  <a:cs typeface="Arial Bold"/>
                  <a:sym typeface="Arial Bold"/>
                </a:rPr>
                <a:t>BeReal.</a:t>
              </a:r>
            </a:p>
          </p:txBody>
        </p:sp>
      </p:grpSp>
      <p:grpSp>
        <p:nvGrpSpPr>
          <p:cNvPr id="20" name="Group 8">
            <a:extLst>
              <a:ext uri="{FF2B5EF4-FFF2-40B4-BE49-F238E27FC236}">
                <a16:creationId xmlns:a16="http://schemas.microsoft.com/office/drawing/2014/main" id="{8DD9A0AC-4412-3707-E2A3-9A3F04694EAC}"/>
              </a:ext>
            </a:extLst>
          </p:cNvPr>
          <p:cNvGrpSpPr/>
          <p:nvPr/>
        </p:nvGrpSpPr>
        <p:grpSpPr>
          <a:xfrm>
            <a:off x="960120" y="2114645"/>
            <a:ext cx="10972800" cy="480060"/>
            <a:chOff x="0" y="0"/>
            <a:chExt cx="14630400" cy="640080"/>
          </a:xfrm>
        </p:grpSpPr>
        <p:sp>
          <p:nvSpPr>
            <p:cNvPr id="21" name="Freeform 9">
              <a:extLst>
                <a:ext uri="{FF2B5EF4-FFF2-40B4-BE49-F238E27FC236}">
                  <a16:creationId xmlns:a16="http://schemas.microsoft.com/office/drawing/2014/main" id="{D830AE7F-89B7-2F8E-1600-D0CD996EB237}"/>
                </a:ext>
              </a:extLst>
            </p:cNvPr>
            <p:cNvSpPr/>
            <p:nvPr/>
          </p:nvSpPr>
          <p:spPr>
            <a:xfrm>
              <a:off x="0" y="0"/>
              <a:ext cx="14630400" cy="640080"/>
            </a:xfrm>
            <a:custGeom>
              <a:avLst/>
              <a:gdLst/>
              <a:ahLst/>
              <a:cxnLst/>
              <a:rect l="l" t="t" r="r" b="b"/>
              <a:pathLst>
                <a:path w="14630400" h="640080">
                  <a:moveTo>
                    <a:pt x="0" y="0"/>
                  </a:moveTo>
                  <a:lnTo>
                    <a:pt x="14630400" y="0"/>
                  </a:lnTo>
                  <a:lnTo>
                    <a:pt x="14630400" y="640080"/>
                  </a:lnTo>
                  <a:lnTo>
                    <a:pt x="0" y="640080"/>
                  </a:lnTo>
                  <a:close/>
                </a:path>
              </a:pathLst>
            </a:custGeom>
            <a:blipFill>
              <a:blip r:embed="rId3">
                <a:alphaModFix amt="0"/>
              </a:blip>
              <a:stretch>
                <a:fillRect t="-395372" b="-395372"/>
              </a:stretch>
            </a:blipFill>
          </p:spPr>
          <p:txBody>
            <a:bodyPr/>
            <a:lstStyle/>
            <a:p>
              <a:endParaRPr lang="en-US"/>
            </a:p>
          </p:txBody>
        </p:sp>
        <p:sp>
          <p:nvSpPr>
            <p:cNvPr id="22" name="TextBox 10">
              <a:extLst>
                <a:ext uri="{FF2B5EF4-FFF2-40B4-BE49-F238E27FC236}">
                  <a16:creationId xmlns:a16="http://schemas.microsoft.com/office/drawing/2014/main" id="{FBDC5FE6-C223-2D92-149F-294EE3F6E8C8}"/>
                </a:ext>
              </a:extLst>
            </p:cNvPr>
            <p:cNvSpPr txBox="1"/>
            <p:nvPr/>
          </p:nvSpPr>
          <p:spPr>
            <a:xfrm>
              <a:off x="0" y="-19050"/>
              <a:ext cx="14630400" cy="659130"/>
            </a:xfrm>
            <a:prstGeom prst="rect">
              <a:avLst/>
            </a:prstGeom>
          </p:spPr>
          <p:txBody>
            <a:bodyPr lIns="0" tIns="0" rIns="0" bIns="0" rtlCol="0" anchor="ctr"/>
            <a:lstStyle/>
            <a:p>
              <a:pPr algn="l">
                <a:lnSpc>
                  <a:spcPts val="2160"/>
                </a:lnSpc>
              </a:pPr>
              <a:r>
                <a:rPr lang="en-US" sz="1800" b="1" spc="450">
                  <a:solidFill>
                    <a:srgbClr val="FFFFFF"/>
                  </a:solidFill>
                  <a:latin typeface="Arial Bold"/>
                  <a:ea typeface="Arial Bold"/>
                  <a:cs typeface="Arial Bold"/>
                  <a:sym typeface="Arial Bold"/>
                </a:rPr>
                <a:t>BEREAL PASSPORT &amp; COMMUNITY BOARDS</a:t>
              </a:r>
            </a:p>
          </p:txBody>
        </p:sp>
      </p:gr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0A0A0A"/>
        </a:solidFill>
        <a:effectLst/>
      </p:bgPr>
    </p:bg>
    <p:spTree>
      <p:nvGrpSpPr>
        <p:cNvPr id="1" name=""/>
        <p:cNvGrpSpPr/>
        <p:nvPr/>
      </p:nvGrpSpPr>
      <p:grpSpPr>
        <a:xfrm>
          <a:off x="0" y="0"/>
          <a:ext cx="0" cy="0"/>
          <a:chOff x="0" y="0"/>
          <a:chExt cx="0" cy="0"/>
        </a:xfrm>
      </p:grpSpPr>
      <p:grpSp>
        <p:nvGrpSpPr>
          <p:cNvPr id="2" name="Group 2"/>
          <p:cNvGrpSpPr/>
          <p:nvPr/>
        </p:nvGrpSpPr>
        <p:grpSpPr>
          <a:xfrm>
            <a:off x="13948000" y="974096"/>
            <a:ext cx="3591275" cy="2927807"/>
            <a:chOff x="0" y="0"/>
            <a:chExt cx="4788366" cy="3903743"/>
          </a:xfrm>
        </p:grpSpPr>
        <p:grpSp>
          <p:nvGrpSpPr>
            <p:cNvPr id="3" name="Group 3"/>
            <p:cNvGrpSpPr/>
            <p:nvPr/>
          </p:nvGrpSpPr>
          <p:grpSpPr>
            <a:xfrm>
              <a:off x="0" y="0"/>
              <a:ext cx="4788366" cy="3903743"/>
              <a:chOff x="0" y="0"/>
              <a:chExt cx="1298052" cy="1058244"/>
            </a:xfrm>
          </p:grpSpPr>
          <p:sp>
            <p:nvSpPr>
              <p:cNvPr id="4" name="Freeform 4"/>
              <p:cNvSpPr/>
              <p:nvPr/>
            </p:nvSpPr>
            <p:spPr>
              <a:xfrm>
                <a:off x="0" y="0"/>
                <a:ext cx="1298052" cy="1058244"/>
              </a:xfrm>
              <a:custGeom>
                <a:avLst/>
                <a:gdLst/>
                <a:ahLst/>
                <a:cxnLst/>
                <a:rect l="l" t="t" r="r" b="b"/>
                <a:pathLst>
                  <a:path w="1298052" h="1058244">
                    <a:moveTo>
                      <a:pt x="91227" y="0"/>
                    </a:moveTo>
                    <a:lnTo>
                      <a:pt x="1206825" y="0"/>
                    </a:lnTo>
                    <a:cubicBezTo>
                      <a:pt x="1231020" y="0"/>
                      <a:pt x="1254224" y="9611"/>
                      <a:pt x="1271332" y="26720"/>
                    </a:cubicBezTo>
                    <a:cubicBezTo>
                      <a:pt x="1288440" y="43828"/>
                      <a:pt x="1298052" y="67032"/>
                      <a:pt x="1298052" y="91227"/>
                    </a:cubicBezTo>
                    <a:lnTo>
                      <a:pt x="1298052" y="967017"/>
                    </a:lnTo>
                    <a:cubicBezTo>
                      <a:pt x="1298052" y="1017400"/>
                      <a:pt x="1257208" y="1058244"/>
                      <a:pt x="1206825" y="1058244"/>
                    </a:cubicBezTo>
                    <a:lnTo>
                      <a:pt x="91227" y="1058244"/>
                    </a:lnTo>
                    <a:cubicBezTo>
                      <a:pt x="67032" y="1058244"/>
                      <a:pt x="43828" y="1048633"/>
                      <a:pt x="26720" y="1031524"/>
                    </a:cubicBezTo>
                    <a:cubicBezTo>
                      <a:pt x="9611" y="1014416"/>
                      <a:pt x="0" y="991212"/>
                      <a:pt x="0" y="967017"/>
                    </a:cubicBezTo>
                    <a:lnTo>
                      <a:pt x="0" y="91227"/>
                    </a:lnTo>
                    <a:cubicBezTo>
                      <a:pt x="0" y="67032"/>
                      <a:pt x="9611" y="43828"/>
                      <a:pt x="26720" y="26720"/>
                    </a:cubicBezTo>
                    <a:cubicBezTo>
                      <a:pt x="43828" y="9611"/>
                      <a:pt x="67032" y="0"/>
                      <a:pt x="91227" y="0"/>
                    </a:cubicBezTo>
                    <a:close/>
                  </a:path>
                </a:pathLst>
              </a:custGeom>
              <a:solidFill>
                <a:srgbClr val="FFFFFF"/>
              </a:solidFill>
            </p:spPr>
            <p:txBody>
              <a:bodyPr/>
              <a:lstStyle/>
              <a:p>
                <a:endParaRPr lang="en-US"/>
              </a:p>
            </p:txBody>
          </p:sp>
          <p:sp>
            <p:nvSpPr>
              <p:cNvPr id="5" name="TextBox 5"/>
              <p:cNvSpPr txBox="1"/>
              <p:nvPr/>
            </p:nvSpPr>
            <p:spPr>
              <a:xfrm>
                <a:off x="0" y="-28575"/>
                <a:ext cx="1298052" cy="1086819"/>
              </a:xfrm>
              <a:prstGeom prst="rect">
                <a:avLst/>
              </a:prstGeom>
            </p:spPr>
            <p:txBody>
              <a:bodyPr lIns="44611" tIns="44611" rIns="44611" bIns="44611" rtlCol="0" anchor="ctr"/>
              <a:lstStyle/>
              <a:p>
                <a:pPr algn="ctr">
                  <a:lnSpc>
                    <a:spcPts val="1740"/>
                  </a:lnSpc>
                </a:pPr>
                <a:endParaRPr/>
              </a:p>
            </p:txBody>
          </p:sp>
        </p:grpSp>
        <p:grpSp>
          <p:nvGrpSpPr>
            <p:cNvPr id="6" name="Group 6"/>
            <p:cNvGrpSpPr/>
            <p:nvPr/>
          </p:nvGrpSpPr>
          <p:grpSpPr>
            <a:xfrm>
              <a:off x="407395" y="224571"/>
              <a:ext cx="4041239" cy="3454601"/>
              <a:chOff x="0" y="0"/>
              <a:chExt cx="1095517" cy="936489"/>
            </a:xfrm>
          </p:grpSpPr>
          <p:sp>
            <p:nvSpPr>
              <p:cNvPr id="7" name="Freeform 7"/>
              <p:cNvSpPr/>
              <p:nvPr/>
            </p:nvSpPr>
            <p:spPr>
              <a:xfrm>
                <a:off x="0" y="0"/>
                <a:ext cx="1095517" cy="936489"/>
              </a:xfrm>
              <a:custGeom>
                <a:avLst/>
                <a:gdLst/>
                <a:ahLst/>
                <a:cxnLst/>
                <a:rect l="l" t="t" r="r" b="b"/>
                <a:pathLst>
                  <a:path w="1095517" h="936489">
                    <a:moveTo>
                      <a:pt x="108093" y="0"/>
                    </a:moveTo>
                    <a:lnTo>
                      <a:pt x="987424" y="0"/>
                    </a:lnTo>
                    <a:cubicBezTo>
                      <a:pt x="1047122" y="0"/>
                      <a:pt x="1095517" y="48395"/>
                      <a:pt x="1095517" y="108093"/>
                    </a:cubicBezTo>
                    <a:lnTo>
                      <a:pt x="1095517" y="828396"/>
                    </a:lnTo>
                    <a:cubicBezTo>
                      <a:pt x="1095517" y="888094"/>
                      <a:pt x="1047122" y="936489"/>
                      <a:pt x="987424" y="936489"/>
                    </a:cubicBezTo>
                    <a:lnTo>
                      <a:pt x="108093" y="936489"/>
                    </a:lnTo>
                    <a:cubicBezTo>
                      <a:pt x="48395" y="936489"/>
                      <a:pt x="0" y="888094"/>
                      <a:pt x="0" y="828396"/>
                    </a:cubicBezTo>
                    <a:lnTo>
                      <a:pt x="0" y="108093"/>
                    </a:lnTo>
                    <a:cubicBezTo>
                      <a:pt x="0" y="48395"/>
                      <a:pt x="48395" y="0"/>
                      <a:pt x="108093" y="0"/>
                    </a:cubicBezTo>
                    <a:close/>
                  </a:path>
                </a:pathLst>
              </a:custGeom>
              <a:solidFill>
                <a:srgbClr val="484747"/>
              </a:solidFill>
            </p:spPr>
            <p:txBody>
              <a:bodyPr/>
              <a:lstStyle/>
              <a:p>
                <a:endParaRPr lang="en-US"/>
              </a:p>
            </p:txBody>
          </p:sp>
          <p:sp>
            <p:nvSpPr>
              <p:cNvPr id="8" name="TextBox 8"/>
              <p:cNvSpPr txBox="1"/>
              <p:nvPr/>
            </p:nvSpPr>
            <p:spPr>
              <a:xfrm>
                <a:off x="0" y="-28575"/>
                <a:ext cx="1095517" cy="965064"/>
              </a:xfrm>
              <a:prstGeom prst="rect">
                <a:avLst/>
              </a:prstGeom>
            </p:spPr>
            <p:txBody>
              <a:bodyPr lIns="44611" tIns="44611" rIns="44611" bIns="44611" rtlCol="0" anchor="ctr"/>
              <a:lstStyle/>
              <a:p>
                <a:pPr algn="ctr">
                  <a:lnSpc>
                    <a:spcPts val="1740"/>
                  </a:lnSpc>
                </a:pPr>
                <a:endParaRPr/>
              </a:p>
            </p:txBody>
          </p:sp>
        </p:grpSp>
        <p:grpSp>
          <p:nvGrpSpPr>
            <p:cNvPr id="9" name="Group 9"/>
            <p:cNvGrpSpPr/>
            <p:nvPr/>
          </p:nvGrpSpPr>
          <p:grpSpPr>
            <a:xfrm>
              <a:off x="1455990" y="2833897"/>
              <a:ext cx="586564" cy="586564"/>
              <a:chOff x="0" y="0"/>
              <a:chExt cx="812800" cy="812800"/>
            </a:xfrm>
          </p:grpSpPr>
          <p:sp>
            <p:nvSpPr>
              <p:cNvPr id="10" name="Freeform 10"/>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a:blip r:embed="rId3"/>
                <a:stretch>
                  <a:fillRect t="-38495" b="-38495"/>
                </a:stretch>
              </a:blipFill>
              <a:ln w="9525" cap="sq">
                <a:solidFill>
                  <a:srgbClr val="000000"/>
                </a:solidFill>
                <a:prstDash val="solid"/>
                <a:miter/>
              </a:ln>
            </p:spPr>
            <p:txBody>
              <a:bodyPr/>
              <a:lstStyle/>
              <a:p>
                <a:endParaRPr lang="en-US"/>
              </a:p>
            </p:txBody>
          </p:sp>
        </p:grpSp>
        <p:grpSp>
          <p:nvGrpSpPr>
            <p:cNvPr id="11" name="Group 11"/>
            <p:cNvGrpSpPr/>
            <p:nvPr/>
          </p:nvGrpSpPr>
          <p:grpSpPr>
            <a:xfrm>
              <a:off x="1445599" y="1926267"/>
              <a:ext cx="596955" cy="596955"/>
              <a:chOff x="0" y="0"/>
              <a:chExt cx="812800" cy="812800"/>
            </a:xfrm>
          </p:grpSpPr>
          <p:sp>
            <p:nvSpPr>
              <p:cNvPr id="12" name="Freeform 12"/>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a:blip r:embed="rId4"/>
                <a:stretch>
                  <a:fillRect l="-15789" r="-15789"/>
                </a:stretch>
              </a:blipFill>
              <a:ln cap="sq">
                <a:noFill/>
                <a:prstDash val="solid"/>
                <a:miter/>
              </a:ln>
            </p:spPr>
            <p:txBody>
              <a:bodyPr/>
              <a:lstStyle/>
              <a:p>
                <a:endParaRPr lang="en-US"/>
              </a:p>
            </p:txBody>
          </p:sp>
        </p:grpSp>
        <p:grpSp>
          <p:nvGrpSpPr>
            <p:cNvPr id="13" name="Group 13"/>
            <p:cNvGrpSpPr/>
            <p:nvPr/>
          </p:nvGrpSpPr>
          <p:grpSpPr>
            <a:xfrm>
              <a:off x="1455990" y="1018638"/>
              <a:ext cx="596955" cy="596955"/>
              <a:chOff x="0" y="0"/>
              <a:chExt cx="812800" cy="812800"/>
            </a:xfrm>
          </p:grpSpPr>
          <p:sp>
            <p:nvSpPr>
              <p:cNvPr id="14" name="Freeform 14"/>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a:blip r:embed="rId5"/>
                <a:stretch>
                  <a:fillRect t="-25187" b="-25187"/>
                </a:stretch>
              </a:blipFill>
              <a:ln w="9525" cap="sq">
                <a:solidFill>
                  <a:srgbClr val="000000"/>
                </a:solidFill>
                <a:prstDash val="solid"/>
                <a:miter/>
              </a:ln>
            </p:spPr>
            <p:txBody>
              <a:bodyPr/>
              <a:lstStyle/>
              <a:p>
                <a:endParaRPr lang="en-US"/>
              </a:p>
            </p:txBody>
          </p:sp>
        </p:grpSp>
        <p:sp>
          <p:nvSpPr>
            <p:cNvPr id="15" name="Freeform 15"/>
            <p:cNvSpPr/>
            <p:nvPr/>
          </p:nvSpPr>
          <p:spPr>
            <a:xfrm>
              <a:off x="733305" y="1018638"/>
              <a:ext cx="413712" cy="562874"/>
            </a:xfrm>
            <a:custGeom>
              <a:avLst/>
              <a:gdLst/>
              <a:ahLst/>
              <a:cxnLst/>
              <a:rect l="l" t="t" r="r" b="b"/>
              <a:pathLst>
                <a:path w="413712" h="562874">
                  <a:moveTo>
                    <a:pt x="0" y="0"/>
                  </a:moveTo>
                  <a:lnTo>
                    <a:pt x="413713" y="0"/>
                  </a:lnTo>
                  <a:lnTo>
                    <a:pt x="413713" y="562874"/>
                  </a:lnTo>
                  <a:lnTo>
                    <a:pt x="0" y="562874"/>
                  </a:lnTo>
                  <a:lnTo>
                    <a:pt x="0" y="0"/>
                  </a:lnTo>
                  <a:close/>
                </a:path>
              </a:pathLst>
            </a:custGeom>
            <a:blipFill>
              <a:blip>
                <a:extLst>
                  <a:ext uri="{96DAC541-7B7A-43D3-8B79-37D633B846F1}">
                    <asvg:svgBlip xmlns:asvg="http://schemas.microsoft.com/office/drawing/2016/SVG/main" r:embed="rId6"/>
                  </a:ext>
                </a:extLst>
              </a:blip>
              <a:stretch>
                <a:fillRect/>
              </a:stretch>
            </a:blipFill>
          </p:spPr>
          <p:txBody>
            <a:bodyPr/>
            <a:lstStyle/>
            <a:p>
              <a:endParaRPr lang="en-US"/>
            </a:p>
          </p:txBody>
        </p:sp>
        <p:sp>
          <p:nvSpPr>
            <p:cNvPr id="16" name="Freeform 16"/>
            <p:cNvSpPr/>
            <p:nvPr/>
          </p:nvSpPr>
          <p:spPr>
            <a:xfrm>
              <a:off x="733305" y="1960348"/>
              <a:ext cx="413712" cy="562874"/>
            </a:xfrm>
            <a:custGeom>
              <a:avLst/>
              <a:gdLst/>
              <a:ahLst/>
              <a:cxnLst/>
              <a:rect l="l" t="t" r="r" b="b"/>
              <a:pathLst>
                <a:path w="413712" h="562874">
                  <a:moveTo>
                    <a:pt x="0" y="0"/>
                  </a:moveTo>
                  <a:lnTo>
                    <a:pt x="413713" y="0"/>
                  </a:lnTo>
                  <a:lnTo>
                    <a:pt x="413713" y="562874"/>
                  </a:lnTo>
                  <a:lnTo>
                    <a:pt x="0" y="562874"/>
                  </a:lnTo>
                  <a:lnTo>
                    <a:pt x="0" y="0"/>
                  </a:lnTo>
                  <a:close/>
                </a:path>
              </a:pathLst>
            </a:custGeom>
            <a:blipFill>
              <a:blip>
                <a:extLst>
                  <a:ext uri="{96DAC541-7B7A-43D3-8B79-37D633B846F1}">
                    <asvg:svgBlip xmlns:asvg="http://schemas.microsoft.com/office/drawing/2016/SVG/main" r:embed="rId7"/>
                  </a:ext>
                </a:extLst>
              </a:blip>
              <a:stretch>
                <a:fillRect/>
              </a:stretch>
            </a:blipFill>
          </p:spPr>
          <p:txBody>
            <a:bodyPr/>
            <a:lstStyle/>
            <a:p>
              <a:endParaRPr lang="en-US"/>
            </a:p>
          </p:txBody>
        </p:sp>
        <p:sp>
          <p:nvSpPr>
            <p:cNvPr id="17" name="Freeform 17"/>
            <p:cNvSpPr/>
            <p:nvPr/>
          </p:nvSpPr>
          <p:spPr>
            <a:xfrm>
              <a:off x="709347" y="2824990"/>
              <a:ext cx="437671" cy="595470"/>
            </a:xfrm>
            <a:custGeom>
              <a:avLst/>
              <a:gdLst/>
              <a:ahLst/>
              <a:cxnLst/>
              <a:rect l="l" t="t" r="r" b="b"/>
              <a:pathLst>
                <a:path w="437671" h="595470">
                  <a:moveTo>
                    <a:pt x="0" y="0"/>
                  </a:moveTo>
                  <a:lnTo>
                    <a:pt x="437671" y="0"/>
                  </a:lnTo>
                  <a:lnTo>
                    <a:pt x="437671" y="595471"/>
                  </a:lnTo>
                  <a:lnTo>
                    <a:pt x="0" y="595471"/>
                  </a:lnTo>
                  <a:lnTo>
                    <a:pt x="0" y="0"/>
                  </a:lnTo>
                  <a:close/>
                </a:path>
              </a:pathLst>
            </a:custGeom>
            <a:blipFill>
              <a:blip>
                <a:extLst>
                  <a:ext uri="{96DAC541-7B7A-43D3-8B79-37D633B846F1}">
                    <asvg:svgBlip xmlns:asvg="http://schemas.microsoft.com/office/drawing/2016/SVG/main" r:embed="rId8"/>
                  </a:ext>
                </a:extLst>
              </a:blip>
              <a:stretch>
                <a:fillRect/>
              </a:stretch>
            </a:blipFill>
          </p:spPr>
          <p:txBody>
            <a:bodyPr/>
            <a:lstStyle/>
            <a:p>
              <a:endParaRPr lang="en-US"/>
            </a:p>
          </p:txBody>
        </p:sp>
        <p:sp>
          <p:nvSpPr>
            <p:cNvPr id="18" name="TextBox 18"/>
            <p:cNvSpPr txBox="1"/>
            <p:nvPr/>
          </p:nvSpPr>
          <p:spPr>
            <a:xfrm>
              <a:off x="407395" y="427723"/>
              <a:ext cx="4041239" cy="324977"/>
            </a:xfrm>
            <a:prstGeom prst="rect">
              <a:avLst/>
            </a:prstGeom>
          </p:spPr>
          <p:txBody>
            <a:bodyPr lIns="0" tIns="0" rIns="0" bIns="0" rtlCol="0" anchor="t">
              <a:spAutoFit/>
            </a:bodyPr>
            <a:lstStyle/>
            <a:p>
              <a:pPr algn="ctr">
                <a:lnSpc>
                  <a:spcPts val="1705"/>
                </a:lnSpc>
                <a:spcBef>
                  <a:spcPct val="0"/>
                </a:spcBef>
              </a:pPr>
              <a:r>
                <a:rPr lang="en-US" sz="1420" b="1">
                  <a:solidFill>
                    <a:srgbClr val="FFFFFF"/>
                  </a:solidFill>
                  <a:latin typeface="Calibri (MS) Bold"/>
                  <a:ea typeface="Calibri (MS) Bold"/>
                  <a:cs typeface="Calibri (MS) Bold"/>
                  <a:sym typeface="Calibri (MS) Bold"/>
                </a:rPr>
                <a:t>SQUAD STAMP TALLY (OCTOBER)</a:t>
              </a:r>
            </a:p>
          </p:txBody>
        </p:sp>
        <p:sp>
          <p:nvSpPr>
            <p:cNvPr id="19" name="TextBox 19"/>
            <p:cNvSpPr txBox="1"/>
            <p:nvPr/>
          </p:nvSpPr>
          <p:spPr>
            <a:xfrm>
              <a:off x="2052945" y="980538"/>
              <a:ext cx="1645550" cy="473043"/>
            </a:xfrm>
            <a:prstGeom prst="rect">
              <a:avLst/>
            </a:prstGeom>
          </p:spPr>
          <p:txBody>
            <a:bodyPr lIns="0" tIns="0" rIns="0" bIns="0" rtlCol="0" anchor="t">
              <a:spAutoFit/>
            </a:bodyPr>
            <a:lstStyle/>
            <a:p>
              <a:pPr algn="ctr">
                <a:lnSpc>
                  <a:spcPts val="1705"/>
                </a:lnSpc>
              </a:pPr>
              <a:r>
                <a:rPr lang="en-US" sz="1420" b="1">
                  <a:solidFill>
                    <a:srgbClr val="FFFFFF"/>
                  </a:solidFill>
                  <a:latin typeface="Calibri (MS) Bold"/>
                  <a:ea typeface="Calibri (MS) Bold"/>
                  <a:cs typeface="Calibri (MS) Bold"/>
                  <a:sym typeface="Calibri (MS) Bold"/>
                </a:rPr>
                <a:t>Alex M. </a:t>
              </a:r>
            </a:p>
            <a:p>
              <a:pPr algn="ctr">
                <a:lnSpc>
                  <a:spcPts val="918"/>
                </a:lnSpc>
                <a:spcBef>
                  <a:spcPct val="0"/>
                </a:spcBef>
              </a:pPr>
              <a:r>
                <a:rPr lang="en-US" sz="765" b="1">
                  <a:solidFill>
                    <a:srgbClr val="FFFFFF"/>
                  </a:solidFill>
                  <a:latin typeface="Calibri (MS) Bold"/>
                  <a:ea typeface="Calibri (MS) Bold"/>
                  <a:cs typeface="Calibri (MS) Bold"/>
                  <a:sym typeface="Calibri (MS) Bold"/>
                </a:rPr>
                <a:t>14 Stamps </a:t>
              </a:r>
            </a:p>
          </p:txBody>
        </p:sp>
        <p:sp>
          <p:nvSpPr>
            <p:cNvPr id="20" name="TextBox 20"/>
            <p:cNvSpPr txBox="1"/>
            <p:nvPr/>
          </p:nvSpPr>
          <p:spPr>
            <a:xfrm>
              <a:off x="2291946" y="1888167"/>
              <a:ext cx="1167548" cy="473043"/>
            </a:xfrm>
            <a:prstGeom prst="rect">
              <a:avLst/>
            </a:prstGeom>
          </p:spPr>
          <p:txBody>
            <a:bodyPr lIns="0" tIns="0" rIns="0" bIns="0" rtlCol="0" anchor="t">
              <a:spAutoFit/>
            </a:bodyPr>
            <a:lstStyle/>
            <a:p>
              <a:pPr algn="ctr">
                <a:lnSpc>
                  <a:spcPts val="1705"/>
                </a:lnSpc>
              </a:pPr>
              <a:r>
                <a:rPr lang="en-US" sz="1420" b="1">
                  <a:solidFill>
                    <a:srgbClr val="FFFFFF"/>
                  </a:solidFill>
                  <a:latin typeface="Calibri (MS) Bold"/>
                  <a:ea typeface="Calibri (MS) Bold"/>
                  <a:cs typeface="Calibri (MS) Bold"/>
                  <a:sym typeface="Calibri (MS) Bold"/>
                </a:rPr>
                <a:t>Maya K.</a:t>
              </a:r>
            </a:p>
            <a:p>
              <a:pPr algn="ctr">
                <a:lnSpc>
                  <a:spcPts val="918"/>
                </a:lnSpc>
                <a:spcBef>
                  <a:spcPct val="0"/>
                </a:spcBef>
              </a:pPr>
              <a:r>
                <a:rPr lang="en-US" sz="765" b="1">
                  <a:solidFill>
                    <a:srgbClr val="FFFFFF"/>
                  </a:solidFill>
                  <a:latin typeface="Calibri (MS) Bold"/>
                  <a:ea typeface="Calibri (MS) Bold"/>
                  <a:cs typeface="Calibri (MS) Bold"/>
                  <a:sym typeface="Calibri (MS) Bold"/>
                </a:rPr>
                <a:t>11 Stamps </a:t>
              </a:r>
            </a:p>
          </p:txBody>
        </p:sp>
        <p:sp>
          <p:nvSpPr>
            <p:cNvPr id="21" name="TextBox 21"/>
            <p:cNvSpPr txBox="1"/>
            <p:nvPr/>
          </p:nvSpPr>
          <p:spPr>
            <a:xfrm>
              <a:off x="2291946" y="2867154"/>
              <a:ext cx="1167548" cy="473043"/>
            </a:xfrm>
            <a:prstGeom prst="rect">
              <a:avLst/>
            </a:prstGeom>
          </p:spPr>
          <p:txBody>
            <a:bodyPr lIns="0" tIns="0" rIns="0" bIns="0" rtlCol="0" anchor="t">
              <a:spAutoFit/>
            </a:bodyPr>
            <a:lstStyle/>
            <a:p>
              <a:pPr algn="ctr">
                <a:lnSpc>
                  <a:spcPts val="1705"/>
                </a:lnSpc>
              </a:pPr>
              <a:r>
                <a:rPr lang="en-US" sz="1420" b="1">
                  <a:solidFill>
                    <a:srgbClr val="FFFFFF"/>
                  </a:solidFill>
                  <a:latin typeface="Calibri (MS) Bold"/>
                  <a:ea typeface="Calibri (MS) Bold"/>
                  <a:cs typeface="Calibri (MS) Bold"/>
                  <a:sym typeface="Calibri (MS) Bold"/>
                </a:rPr>
                <a:t>Jordan T.</a:t>
              </a:r>
            </a:p>
            <a:p>
              <a:pPr algn="ctr">
                <a:lnSpc>
                  <a:spcPts val="918"/>
                </a:lnSpc>
                <a:spcBef>
                  <a:spcPct val="0"/>
                </a:spcBef>
              </a:pPr>
              <a:r>
                <a:rPr lang="en-US" sz="765" b="1">
                  <a:solidFill>
                    <a:srgbClr val="FFFFFF"/>
                  </a:solidFill>
                  <a:latin typeface="Calibri (MS) Bold"/>
                  <a:ea typeface="Calibri (MS) Bold"/>
                  <a:cs typeface="Calibri (MS) Bold"/>
                  <a:sym typeface="Calibri (MS) Bold"/>
                </a:rPr>
                <a:t>8 Stamps </a:t>
              </a:r>
            </a:p>
          </p:txBody>
        </p:sp>
      </p:grpSp>
      <p:grpSp>
        <p:nvGrpSpPr>
          <p:cNvPr id="31" name="Group 31"/>
          <p:cNvGrpSpPr/>
          <p:nvPr/>
        </p:nvGrpSpPr>
        <p:grpSpPr>
          <a:xfrm>
            <a:off x="960120" y="4467219"/>
            <a:ext cx="6942734" cy="1837529"/>
            <a:chOff x="0" y="0"/>
            <a:chExt cx="9256979" cy="2450038"/>
          </a:xfrm>
        </p:grpSpPr>
        <p:sp>
          <p:nvSpPr>
            <p:cNvPr id="32" name="Freeform 32"/>
            <p:cNvSpPr/>
            <p:nvPr/>
          </p:nvSpPr>
          <p:spPr>
            <a:xfrm>
              <a:off x="0" y="0"/>
              <a:ext cx="9256978" cy="2450038"/>
            </a:xfrm>
            <a:custGeom>
              <a:avLst/>
              <a:gdLst/>
              <a:ahLst/>
              <a:cxnLst/>
              <a:rect l="l" t="t" r="r" b="b"/>
              <a:pathLst>
                <a:path w="9256978" h="2450038">
                  <a:moveTo>
                    <a:pt x="0" y="0"/>
                  </a:moveTo>
                  <a:lnTo>
                    <a:pt x="9256978" y="0"/>
                  </a:lnTo>
                  <a:lnTo>
                    <a:pt x="9256978" y="2450038"/>
                  </a:lnTo>
                  <a:lnTo>
                    <a:pt x="0" y="2450038"/>
                  </a:lnTo>
                  <a:close/>
                </a:path>
              </a:pathLst>
            </a:custGeom>
            <a:blipFill>
              <a:blip r:embed="rId9">
                <a:alphaModFix amt="0"/>
              </a:blip>
              <a:stretch>
                <a:fillRect t="-103292" r="-58047" b="-29417"/>
              </a:stretch>
            </a:blipFill>
          </p:spPr>
          <p:txBody>
            <a:bodyPr/>
            <a:lstStyle/>
            <a:p>
              <a:endParaRPr lang="en-US"/>
            </a:p>
          </p:txBody>
        </p:sp>
        <p:sp>
          <p:nvSpPr>
            <p:cNvPr id="33" name="TextBox 33"/>
            <p:cNvSpPr txBox="1"/>
            <p:nvPr/>
          </p:nvSpPr>
          <p:spPr>
            <a:xfrm>
              <a:off x="0" y="-57150"/>
              <a:ext cx="9256979" cy="2507188"/>
            </a:xfrm>
            <a:prstGeom prst="rect">
              <a:avLst/>
            </a:prstGeom>
          </p:spPr>
          <p:txBody>
            <a:bodyPr lIns="0" tIns="0" rIns="0" bIns="0" rtlCol="0" anchor="ctr"/>
            <a:lstStyle/>
            <a:p>
              <a:pPr marL="388620" lvl="1" indent="-194310" algn="l">
                <a:lnSpc>
                  <a:spcPts val="2340"/>
                </a:lnSpc>
                <a:buFont typeface="Arial"/>
                <a:buChar char="•"/>
              </a:pPr>
              <a:r>
                <a:rPr lang="en-US" sz="1800" b="1" spc="59">
                  <a:solidFill>
                    <a:srgbClr val="FFDE59"/>
                  </a:solidFill>
                  <a:latin typeface="Calibri (MS) Bold"/>
                  <a:ea typeface="Calibri (MS) Bold"/>
                  <a:cs typeface="Calibri (MS) Bold"/>
                  <a:sym typeface="Calibri (MS) Bold"/>
                </a:rPr>
                <a:t>MAU Increase</a:t>
              </a:r>
            </a:p>
            <a:p>
              <a:pPr marL="388620" lvl="1" indent="-194310" algn="l">
                <a:lnSpc>
                  <a:spcPts val="2340"/>
                </a:lnSpc>
                <a:buFont typeface="Arial"/>
                <a:buChar char="•"/>
              </a:pPr>
              <a:r>
                <a:rPr lang="en-US" sz="1800" spc="59">
                  <a:solidFill>
                    <a:srgbClr val="FFFFFF"/>
                  </a:solidFill>
                  <a:latin typeface="Calibri (MS)"/>
                  <a:ea typeface="Calibri (MS)"/>
                  <a:cs typeface="Calibri (MS)"/>
                  <a:sym typeface="Calibri (MS)"/>
                </a:rPr>
                <a:t>Design for push notification landing pages and in-app feature announcements.</a:t>
              </a:r>
            </a:p>
            <a:p>
              <a:pPr marL="388620" lvl="1" indent="-194310" algn="l">
                <a:lnSpc>
                  <a:spcPts val="2340"/>
                </a:lnSpc>
                <a:buFont typeface="Arial"/>
                <a:buChar char="•"/>
              </a:pPr>
              <a:r>
                <a:rPr lang="en-US" sz="1800" spc="59">
                  <a:solidFill>
                    <a:srgbClr val="FFFFFF"/>
                  </a:solidFill>
                  <a:latin typeface="Calibri (MS)"/>
                  <a:ea typeface="Calibri (MS)"/>
                  <a:cs typeface="Calibri (MS)"/>
                  <a:sym typeface="Calibri (MS)"/>
                </a:rPr>
                <a:t>Leadership Board</a:t>
              </a:r>
            </a:p>
            <a:p>
              <a:pPr marL="388620" lvl="1" indent="-194310" algn="l">
                <a:lnSpc>
                  <a:spcPts val="2340"/>
                </a:lnSpc>
                <a:buFont typeface="Arial"/>
                <a:buChar char="•"/>
              </a:pPr>
              <a:r>
                <a:rPr lang="en-US" sz="1800" spc="59">
                  <a:solidFill>
                    <a:srgbClr val="FFFFFF"/>
                  </a:solidFill>
                  <a:latin typeface="Calibri (MS)"/>
                  <a:ea typeface="Calibri (MS)"/>
                  <a:cs typeface="Calibri (MS)"/>
                  <a:sym typeface="Calibri (MS)"/>
                </a:rPr>
                <a:t>Passport Collection</a:t>
              </a:r>
            </a:p>
            <a:p>
              <a:pPr marL="388620" lvl="1" indent="-194310" algn="l">
                <a:lnSpc>
                  <a:spcPts val="2340"/>
                </a:lnSpc>
                <a:buFont typeface="Arial"/>
                <a:buChar char="•"/>
              </a:pPr>
              <a:r>
                <a:rPr lang="en-US" sz="1800" spc="59">
                  <a:solidFill>
                    <a:srgbClr val="FFFFFF"/>
                  </a:solidFill>
                  <a:latin typeface="Calibri (MS)"/>
                  <a:ea typeface="Calibri (MS)"/>
                  <a:cs typeface="Calibri (MS)"/>
                  <a:sym typeface="Calibri (MS)"/>
                </a:rPr>
                <a:t>Quick Link to Capsule Carousel</a:t>
              </a:r>
            </a:p>
          </p:txBody>
        </p:sp>
      </p:grpSp>
      <p:grpSp>
        <p:nvGrpSpPr>
          <p:cNvPr id="34" name="Group 34"/>
          <p:cNvGrpSpPr/>
          <p:nvPr/>
        </p:nvGrpSpPr>
        <p:grpSpPr>
          <a:xfrm>
            <a:off x="960120" y="3164199"/>
            <a:ext cx="6796473" cy="1303020"/>
            <a:chOff x="0" y="0"/>
            <a:chExt cx="9061963" cy="1737360"/>
          </a:xfrm>
        </p:grpSpPr>
        <p:sp>
          <p:nvSpPr>
            <p:cNvPr id="35" name="Freeform 35"/>
            <p:cNvSpPr/>
            <p:nvPr/>
          </p:nvSpPr>
          <p:spPr>
            <a:xfrm>
              <a:off x="0" y="0"/>
              <a:ext cx="9061963" cy="1737360"/>
            </a:xfrm>
            <a:custGeom>
              <a:avLst/>
              <a:gdLst/>
              <a:ahLst/>
              <a:cxnLst/>
              <a:rect l="l" t="t" r="r" b="b"/>
              <a:pathLst>
                <a:path w="9061963" h="1737360">
                  <a:moveTo>
                    <a:pt x="0" y="0"/>
                  </a:moveTo>
                  <a:lnTo>
                    <a:pt x="9061963" y="0"/>
                  </a:lnTo>
                  <a:lnTo>
                    <a:pt x="9061963" y="1737360"/>
                  </a:lnTo>
                  <a:lnTo>
                    <a:pt x="0" y="1737360"/>
                  </a:lnTo>
                  <a:close/>
                </a:path>
              </a:pathLst>
            </a:custGeom>
            <a:blipFill>
              <a:blip r:embed="rId9">
                <a:alphaModFix amt="0"/>
              </a:blip>
              <a:stretch>
                <a:fillRect t="-165360" r="-111901" b="-165360"/>
              </a:stretch>
            </a:blipFill>
          </p:spPr>
          <p:txBody>
            <a:bodyPr/>
            <a:lstStyle/>
            <a:p>
              <a:endParaRPr lang="en-US"/>
            </a:p>
          </p:txBody>
        </p:sp>
        <p:sp>
          <p:nvSpPr>
            <p:cNvPr id="36" name="TextBox 36"/>
            <p:cNvSpPr txBox="1"/>
            <p:nvPr/>
          </p:nvSpPr>
          <p:spPr>
            <a:xfrm>
              <a:off x="0" y="38100"/>
              <a:ext cx="9061963" cy="1699260"/>
            </a:xfrm>
            <a:prstGeom prst="rect">
              <a:avLst/>
            </a:prstGeom>
          </p:spPr>
          <p:txBody>
            <a:bodyPr lIns="0" tIns="0" rIns="0" bIns="0" rtlCol="0" anchor="ctr"/>
            <a:lstStyle/>
            <a:p>
              <a:pPr algn="l">
                <a:lnSpc>
                  <a:spcPts val="5120"/>
                </a:lnSpc>
              </a:pPr>
              <a:r>
                <a:rPr lang="en-US" sz="4799" b="1">
                  <a:solidFill>
                    <a:srgbClr val="FFFFFF"/>
                  </a:solidFill>
                  <a:latin typeface="Arial Bold"/>
                  <a:ea typeface="Arial Bold"/>
                  <a:cs typeface="Arial Bold"/>
                  <a:sym typeface="Arial Bold"/>
                </a:rPr>
                <a:t>Leaderboard</a:t>
              </a:r>
            </a:p>
          </p:txBody>
        </p:sp>
      </p:grpSp>
      <p:grpSp>
        <p:nvGrpSpPr>
          <p:cNvPr id="158" name="Group 158"/>
          <p:cNvGrpSpPr/>
          <p:nvPr/>
        </p:nvGrpSpPr>
        <p:grpSpPr>
          <a:xfrm>
            <a:off x="14000635" y="9139411"/>
            <a:ext cx="3538640" cy="821933"/>
            <a:chOff x="0" y="0"/>
            <a:chExt cx="4718186" cy="1095911"/>
          </a:xfrm>
        </p:grpSpPr>
        <p:grpSp>
          <p:nvGrpSpPr>
            <p:cNvPr id="159" name="Group 159"/>
            <p:cNvGrpSpPr/>
            <p:nvPr/>
          </p:nvGrpSpPr>
          <p:grpSpPr>
            <a:xfrm>
              <a:off x="0" y="0"/>
              <a:ext cx="4718186" cy="1095911"/>
              <a:chOff x="0" y="0"/>
              <a:chExt cx="1213439" cy="281850"/>
            </a:xfrm>
          </p:grpSpPr>
          <p:sp>
            <p:nvSpPr>
              <p:cNvPr id="160" name="Freeform 160"/>
              <p:cNvSpPr/>
              <p:nvPr/>
            </p:nvSpPr>
            <p:spPr>
              <a:xfrm>
                <a:off x="0" y="0"/>
                <a:ext cx="1213439" cy="281850"/>
              </a:xfrm>
              <a:custGeom>
                <a:avLst/>
                <a:gdLst/>
                <a:ahLst/>
                <a:cxnLst/>
                <a:rect l="l" t="t" r="r" b="b"/>
                <a:pathLst>
                  <a:path w="1213439" h="281850">
                    <a:moveTo>
                      <a:pt x="97588" y="0"/>
                    </a:moveTo>
                    <a:lnTo>
                      <a:pt x="1115851" y="0"/>
                    </a:lnTo>
                    <a:cubicBezTo>
                      <a:pt x="1141733" y="0"/>
                      <a:pt x="1166555" y="10282"/>
                      <a:pt x="1184856" y="28583"/>
                    </a:cubicBezTo>
                    <a:cubicBezTo>
                      <a:pt x="1203158" y="46884"/>
                      <a:pt x="1213439" y="71706"/>
                      <a:pt x="1213439" y="97588"/>
                    </a:cubicBezTo>
                    <a:lnTo>
                      <a:pt x="1213439" y="184262"/>
                    </a:lnTo>
                    <a:cubicBezTo>
                      <a:pt x="1213439" y="210144"/>
                      <a:pt x="1203158" y="234966"/>
                      <a:pt x="1184856" y="253267"/>
                    </a:cubicBezTo>
                    <a:cubicBezTo>
                      <a:pt x="1166555" y="271569"/>
                      <a:pt x="1141733" y="281850"/>
                      <a:pt x="1115851" y="281850"/>
                    </a:cubicBezTo>
                    <a:lnTo>
                      <a:pt x="97588" y="281850"/>
                    </a:lnTo>
                    <a:cubicBezTo>
                      <a:pt x="71706" y="281850"/>
                      <a:pt x="46884" y="271569"/>
                      <a:pt x="28583" y="253267"/>
                    </a:cubicBezTo>
                    <a:cubicBezTo>
                      <a:pt x="10282" y="234966"/>
                      <a:pt x="0" y="210144"/>
                      <a:pt x="0" y="184262"/>
                    </a:cubicBezTo>
                    <a:lnTo>
                      <a:pt x="0" y="97588"/>
                    </a:lnTo>
                    <a:cubicBezTo>
                      <a:pt x="0" y="71706"/>
                      <a:pt x="10282" y="46884"/>
                      <a:pt x="28583" y="28583"/>
                    </a:cubicBezTo>
                    <a:cubicBezTo>
                      <a:pt x="46884" y="10282"/>
                      <a:pt x="71706" y="0"/>
                      <a:pt x="97588" y="0"/>
                    </a:cubicBezTo>
                    <a:close/>
                  </a:path>
                </a:pathLst>
              </a:custGeom>
              <a:solidFill>
                <a:srgbClr val="FFFFFF"/>
              </a:solidFill>
            </p:spPr>
            <p:txBody>
              <a:bodyPr/>
              <a:lstStyle/>
              <a:p>
                <a:endParaRPr lang="en-US"/>
              </a:p>
            </p:txBody>
          </p:sp>
          <p:sp>
            <p:nvSpPr>
              <p:cNvPr id="161" name="TextBox 161"/>
              <p:cNvSpPr txBox="1"/>
              <p:nvPr/>
            </p:nvSpPr>
            <p:spPr>
              <a:xfrm>
                <a:off x="0" y="-28575"/>
                <a:ext cx="1213439" cy="310425"/>
              </a:xfrm>
              <a:prstGeom prst="rect">
                <a:avLst/>
              </a:prstGeom>
            </p:spPr>
            <p:txBody>
              <a:bodyPr lIns="44611" tIns="44611" rIns="44611" bIns="44611" rtlCol="0" anchor="ctr"/>
              <a:lstStyle/>
              <a:p>
                <a:pPr algn="ctr">
                  <a:lnSpc>
                    <a:spcPts val="1740"/>
                  </a:lnSpc>
                </a:pPr>
                <a:endParaRPr/>
              </a:p>
            </p:txBody>
          </p:sp>
        </p:grpSp>
        <p:grpSp>
          <p:nvGrpSpPr>
            <p:cNvPr id="162" name="Group 162"/>
            <p:cNvGrpSpPr/>
            <p:nvPr/>
          </p:nvGrpSpPr>
          <p:grpSpPr>
            <a:xfrm>
              <a:off x="157545" y="233588"/>
              <a:ext cx="4403096" cy="628734"/>
              <a:chOff x="0" y="0"/>
              <a:chExt cx="1132404" cy="161700"/>
            </a:xfrm>
          </p:grpSpPr>
          <p:sp>
            <p:nvSpPr>
              <p:cNvPr id="163" name="Freeform 163"/>
              <p:cNvSpPr/>
              <p:nvPr/>
            </p:nvSpPr>
            <p:spPr>
              <a:xfrm>
                <a:off x="0" y="0"/>
                <a:ext cx="1132403" cy="161700"/>
              </a:xfrm>
              <a:custGeom>
                <a:avLst/>
                <a:gdLst/>
                <a:ahLst/>
                <a:cxnLst/>
                <a:rect l="l" t="t" r="r" b="b"/>
                <a:pathLst>
                  <a:path w="1132403" h="161700">
                    <a:moveTo>
                      <a:pt x="80850" y="0"/>
                    </a:moveTo>
                    <a:lnTo>
                      <a:pt x="1051553" y="0"/>
                    </a:lnTo>
                    <a:cubicBezTo>
                      <a:pt x="1072996" y="0"/>
                      <a:pt x="1093561" y="8518"/>
                      <a:pt x="1108723" y="23680"/>
                    </a:cubicBezTo>
                    <a:cubicBezTo>
                      <a:pt x="1123885" y="38843"/>
                      <a:pt x="1132403" y="59407"/>
                      <a:pt x="1132403" y="80850"/>
                    </a:cubicBezTo>
                    <a:lnTo>
                      <a:pt x="1132403" y="80850"/>
                    </a:lnTo>
                    <a:cubicBezTo>
                      <a:pt x="1132403" y="102293"/>
                      <a:pt x="1123885" y="122857"/>
                      <a:pt x="1108723" y="138020"/>
                    </a:cubicBezTo>
                    <a:cubicBezTo>
                      <a:pt x="1093561" y="153182"/>
                      <a:pt x="1072996" y="161700"/>
                      <a:pt x="1051553" y="161700"/>
                    </a:cubicBezTo>
                    <a:lnTo>
                      <a:pt x="80850" y="161700"/>
                    </a:lnTo>
                    <a:cubicBezTo>
                      <a:pt x="59407" y="161700"/>
                      <a:pt x="38843" y="153182"/>
                      <a:pt x="23680" y="138020"/>
                    </a:cubicBezTo>
                    <a:cubicBezTo>
                      <a:pt x="8518" y="122857"/>
                      <a:pt x="0" y="102293"/>
                      <a:pt x="0" y="80850"/>
                    </a:cubicBezTo>
                    <a:lnTo>
                      <a:pt x="0" y="80850"/>
                    </a:lnTo>
                    <a:cubicBezTo>
                      <a:pt x="0" y="59407"/>
                      <a:pt x="8518" y="38843"/>
                      <a:pt x="23680" y="23680"/>
                    </a:cubicBezTo>
                    <a:cubicBezTo>
                      <a:pt x="38843" y="8518"/>
                      <a:pt x="59407" y="0"/>
                      <a:pt x="80850" y="0"/>
                    </a:cubicBezTo>
                    <a:close/>
                  </a:path>
                </a:pathLst>
              </a:custGeom>
              <a:solidFill>
                <a:srgbClr val="FFDE59"/>
              </a:solidFill>
            </p:spPr>
            <p:txBody>
              <a:bodyPr/>
              <a:lstStyle/>
              <a:p>
                <a:endParaRPr lang="en-US"/>
              </a:p>
            </p:txBody>
          </p:sp>
          <p:sp>
            <p:nvSpPr>
              <p:cNvPr id="164" name="TextBox 164"/>
              <p:cNvSpPr txBox="1"/>
              <p:nvPr/>
            </p:nvSpPr>
            <p:spPr>
              <a:xfrm>
                <a:off x="0" y="-28575"/>
                <a:ext cx="1132404" cy="190275"/>
              </a:xfrm>
              <a:prstGeom prst="rect">
                <a:avLst/>
              </a:prstGeom>
            </p:spPr>
            <p:txBody>
              <a:bodyPr lIns="44611" tIns="44611" rIns="44611" bIns="44611" rtlCol="0" anchor="ctr"/>
              <a:lstStyle/>
              <a:p>
                <a:pPr algn="ctr">
                  <a:lnSpc>
                    <a:spcPts val="1740"/>
                  </a:lnSpc>
                </a:pPr>
                <a:r>
                  <a:rPr lang="en-US" sz="1450" b="1">
                    <a:solidFill>
                      <a:srgbClr val="000000"/>
                    </a:solidFill>
                    <a:latin typeface="Calibri (MS) Bold"/>
                    <a:ea typeface="Calibri (MS) Bold"/>
                    <a:cs typeface="Calibri (MS) Bold"/>
                    <a:sym typeface="Calibri (MS) Bold"/>
                  </a:rPr>
                  <a:t>View October Capsule Carousel</a:t>
                </a:r>
              </a:p>
            </p:txBody>
          </p:sp>
        </p:grpSp>
      </p:grpSp>
      <p:grpSp>
        <p:nvGrpSpPr>
          <p:cNvPr id="165" name="Group 165"/>
          <p:cNvGrpSpPr/>
          <p:nvPr/>
        </p:nvGrpSpPr>
        <p:grpSpPr>
          <a:xfrm>
            <a:off x="13948000" y="4586159"/>
            <a:ext cx="3591275" cy="798093"/>
            <a:chOff x="0" y="0"/>
            <a:chExt cx="7817802" cy="1737360"/>
          </a:xfrm>
        </p:grpSpPr>
        <p:sp>
          <p:nvSpPr>
            <p:cNvPr id="166" name="Freeform 166"/>
            <p:cNvSpPr/>
            <p:nvPr/>
          </p:nvSpPr>
          <p:spPr>
            <a:xfrm>
              <a:off x="0" y="0"/>
              <a:ext cx="7817802" cy="1737360"/>
            </a:xfrm>
            <a:custGeom>
              <a:avLst/>
              <a:gdLst/>
              <a:ahLst/>
              <a:cxnLst/>
              <a:rect l="l" t="t" r="r" b="b"/>
              <a:pathLst>
                <a:path w="7817802" h="1737360">
                  <a:moveTo>
                    <a:pt x="0" y="0"/>
                  </a:moveTo>
                  <a:lnTo>
                    <a:pt x="7817802" y="0"/>
                  </a:lnTo>
                  <a:lnTo>
                    <a:pt x="7817802" y="1737360"/>
                  </a:lnTo>
                  <a:lnTo>
                    <a:pt x="0" y="1737360"/>
                  </a:lnTo>
                  <a:close/>
                </a:path>
              </a:pathLst>
            </a:custGeom>
            <a:blipFill>
              <a:blip r:embed="rId9">
                <a:alphaModFix amt="0"/>
              </a:blip>
              <a:stretch>
                <a:fillRect t="-165360" r="-145624" b="-165360"/>
              </a:stretch>
            </a:blipFill>
          </p:spPr>
          <p:txBody>
            <a:bodyPr/>
            <a:lstStyle/>
            <a:p>
              <a:endParaRPr lang="en-US"/>
            </a:p>
          </p:txBody>
        </p:sp>
        <p:sp>
          <p:nvSpPr>
            <p:cNvPr id="167" name="TextBox 167"/>
            <p:cNvSpPr txBox="1"/>
            <p:nvPr/>
          </p:nvSpPr>
          <p:spPr>
            <a:xfrm>
              <a:off x="0" y="0"/>
              <a:ext cx="7817802" cy="1737360"/>
            </a:xfrm>
            <a:prstGeom prst="rect">
              <a:avLst/>
            </a:prstGeom>
          </p:spPr>
          <p:txBody>
            <a:bodyPr lIns="0" tIns="0" rIns="0" bIns="0" rtlCol="0" anchor="ctr"/>
            <a:lstStyle/>
            <a:p>
              <a:pPr algn="ctr">
                <a:lnSpc>
                  <a:spcPts val="1918"/>
                </a:lnSpc>
              </a:pPr>
              <a:r>
                <a:rPr lang="en-US" sz="1800" b="1">
                  <a:solidFill>
                    <a:srgbClr val="FFFFFF"/>
                  </a:solidFill>
                  <a:latin typeface="Arial Bold"/>
                  <a:ea typeface="Arial Bold"/>
                  <a:cs typeface="Arial Bold"/>
                  <a:sym typeface="Arial Bold"/>
                </a:rPr>
                <a:t>User BeReal Passport </a:t>
              </a:r>
            </a:p>
            <a:p>
              <a:pPr algn="ctr">
                <a:lnSpc>
                  <a:spcPts val="1920"/>
                </a:lnSpc>
              </a:pPr>
              <a:r>
                <a:rPr lang="en-US" sz="1800" b="1">
                  <a:solidFill>
                    <a:srgbClr val="FFFFFF"/>
                  </a:solidFill>
                  <a:latin typeface="Arial Bold"/>
                  <a:ea typeface="Arial Bold"/>
                  <a:cs typeface="Arial Bold"/>
                  <a:sym typeface="Arial Bold"/>
                </a:rPr>
                <a:t>Collection</a:t>
              </a:r>
            </a:p>
          </p:txBody>
        </p:sp>
      </p:grpSp>
      <p:grpSp>
        <p:nvGrpSpPr>
          <p:cNvPr id="168" name="Group 168"/>
          <p:cNvGrpSpPr/>
          <p:nvPr/>
        </p:nvGrpSpPr>
        <p:grpSpPr>
          <a:xfrm>
            <a:off x="14521784" y="230607"/>
            <a:ext cx="2443707" cy="798093"/>
            <a:chOff x="0" y="0"/>
            <a:chExt cx="5319677" cy="1737360"/>
          </a:xfrm>
        </p:grpSpPr>
        <p:sp>
          <p:nvSpPr>
            <p:cNvPr id="169" name="Freeform 169"/>
            <p:cNvSpPr/>
            <p:nvPr/>
          </p:nvSpPr>
          <p:spPr>
            <a:xfrm>
              <a:off x="0" y="0"/>
              <a:ext cx="5319677" cy="1737360"/>
            </a:xfrm>
            <a:custGeom>
              <a:avLst/>
              <a:gdLst/>
              <a:ahLst/>
              <a:cxnLst/>
              <a:rect l="l" t="t" r="r" b="b"/>
              <a:pathLst>
                <a:path w="5319677" h="1737360">
                  <a:moveTo>
                    <a:pt x="0" y="0"/>
                  </a:moveTo>
                  <a:lnTo>
                    <a:pt x="5319677" y="0"/>
                  </a:lnTo>
                  <a:lnTo>
                    <a:pt x="5319677" y="1737360"/>
                  </a:lnTo>
                  <a:lnTo>
                    <a:pt x="0" y="1737360"/>
                  </a:lnTo>
                  <a:close/>
                </a:path>
              </a:pathLst>
            </a:custGeom>
            <a:blipFill>
              <a:blip r:embed="rId9">
                <a:alphaModFix amt="0"/>
              </a:blip>
              <a:stretch>
                <a:fillRect t="-165360" r="-260969" b="-165360"/>
              </a:stretch>
            </a:blipFill>
          </p:spPr>
          <p:txBody>
            <a:bodyPr/>
            <a:lstStyle/>
            <a:p>
              <a:endParaRPr lang="en-US"/>
            </a:p>
          </p:txBody>
        </p:sp>
        <p:sp>
          <p:nvSpPr>
            <p:cNvPr id="170" name="TextBox 170"/>
            <p:cNvSpPr txBox="1"/>
            <p:nvPr/>
          </p:nvSpPr>
          <p:spPr>
            <a:xfrm>
              <a:off x="0" y="0"/>
              <a:ext cx="5319677" cy="1737360"/>
            </a:xfrm>
            <a:prstGeom prst="rect">
              <a:avLst/>
            </a:prstGeom>
          </p:spPr>
          <p:txBody>
            <a:bodyPr lIns="0" tIns="0" rIns="0" bIns="0" rtlCol="0" anchor="ctr"/>
            <a:lstStyle/>
            <a:p>
              <a:pPr algn="l">
                <a:lnSpc>
                  <a:spcPts val="1920"/>
                </a:lnSpc>
              </a:pPr>
              <a:r>
                <a:rPr lang="en-US" sz="1800" b="1">
                  <a:solidFill>
                    <a:srgbClr val="FFFFFF"/>
                  </a:solidFill>
                  <a:latin typeface="Arial Bold"/>
                  <a:ea typeface="Arial Bold"/>
                  <a:cs typeface="Arial Bold"/>
                  <a:sym typeface="Arial Bold"/>
                </a:rPr>
                <a:t>Leadership Board</a:t>
              </a:r>
            </a:p>
          </p:txBody>
        </p:sp>
      </p:grpSp>
      <p:grpSp>
        <p:nvGrpSpPr>
          <p:cNvPr id="171" name="Group 171"/>
          <p:cNvGrpSpPr/>
          <p:nvPr/>
        </p:nvGrpSpPr>
        <p:grpSpPr>
          <a:xfrm>
            <a:off x="14000635" y="8214495"/>
            <a:ext cx="3538640" cy="798093"/>
            <a:chOff x="0" y="0"/>
            <a:chExt cx="7703221" cy="1737360"/>
          </a:xfrm>
        </p:grpSpPr>
        <p:sp>
          <p:nvSpPr>
            <p:cNvPr id="172" name="Freeform 172"/>
            <p:cNvSpPr/>
            <p:nvPr/>
          </p:nvSpPr>
          <p:spPr>
            <a:xfrm>
              <a:off x="0" y="0"/>
              <a:ext cx="7703221" cy="1737360"/>
            </a:xfrm>
            <a:custGeom>
              <a:avLst/>
              <a:gdLst/>
              <a:ahLst/>
              <a:cxnLst/>
              <a:rect l="l" t="t" r="r" b="b"/>
              <a:pathLst>
                <a:path w="7703221" h="1737360">
                  <a:moveTo>
                    <a:pt x="0" y="0"/>
                  </a:moveTo>
                  <a:lnTo>
                    <a:pt x="7703221" y="0"/>
                  </a:lnTo>
                  <a:lnTo>
                    <a:pt x="7703221" y="1737360"/>
                  </a:lnTo>
                  <a:lnTo>
                    <a:pt x="0" y="1737360"/>
                  </a:lnTo>
                  <a:close/>
                </a:path>
              </a:pathLst>
            </a:custGeom>
            <a:blipFill>
              <a:blip r:embed="rId9">
                <a:alphaModFix amt="0"/>
              </a:blip>
              <a:stretch>
                <a:fillRect t="-165360" r="-149277" b="-165360"/>
              </a:stretch>
            </a:blipFill>
          </p:spPr>
          <p:txBody>
            <a:bodyPr/>
            <a:lstStyle/>
            <a:p>
              <a:endParaRPr lang="en-US"/>
            </a:p>
          </p:txBody>
        </p:sp>
        <p:sp>
          <p:nvSpPr>
            <p:cNvPr id="173" name="TextBox 173"/>
            <p:cNvSpPr txBox="1"/>
            <p:nvPr/>
          </p:nvSpPr>
          <p:spPr>
            <a:xfrm>
              <a:off x="0" y="0"/>
              <a:ext cx="7703221" cy="1737360"/>
            </a:xfrm>
            <a:prstGeom prst="rect">
              <a:avLst/>
            </a:prstGeom>
          </p:spPr>
          <p:txBody>
            <a:bodyPr lIns="0" tIns="0" rIns="0" bIns="0" rtlCol="0" anchor="ctr"/>
            <a:lstStyle/>
            <a:p>
              <a:pPr algn="ctr">
                <a:lnSpc>
                  <a:spcPts val="1920"/>
                </a:lnSpc>
              </a:pPr>
              <a:r>
                <a:rPr lang="en-US" sz="1800" b="1">
                  <a:solidFill>
                    <a:srgbClr val="FFFFFF"/>
                  </a:solidFill>
                  <a:latin typeface="Arial Bold"/>
                  <a:ea typeface="Arial Bold"/>
                  <a:cs typeface="Arial Bold"/>
                  <a:sym typeface="Arial Bold"/>
                </a:rPr>
                <a:t>Button to Take User to Memories</a:t>
              </a:r>
            </a:p>
          </p:txBody>
        </p:sp>
      </p:grpSp>
      <p:pic>
        <p:nvPicPr>
          <p:cNvPr id="258" name="Picture 257">
            <a:extLst>
              <a:ext uri="{FF2B5EF4-FFF2-40B4-BE49-F238E27FC236}">
                <a16:creationId xmlns:a16="http://schemas.microsoft.com/office/drawing/2014/main" id="{5759DA2E-BF8C-296E-10AC-57630C73DAD6}"/>
              </a:ext>
            </a:extLst>
          </p:cNvPr>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8718988" y="1009650"/>
            <a:ext cx="4191000" cy="8267700"/>
          </a:xfrm>
          <a:prstGeom prst="rect">
            <a:avLst/>
          </a:prstGeom>
        </p:spPr>
      </p:pic>
      <p:grpSp>
        <p:nvGrpSpPr>
          <p:cNvPr id="22" name="Group 21">
            <a:extLst>
              <a:ext uri="{FF2B5EF4-FFF2-40B4-BE49-F238E27FC236}">
                <a16:creationId xmlns:a16="http://schemas.microsoft.com/office/drawing/2014/main" id="{4A51E56B-D514-0CDE-C67C-EF5E1701B1EC}"/>
              </a:ext>
            </a:extLst>
          </p:cNvPr>
          <p:cNvGrpSpPr/>
          <p:nvPr/>
        </p:nvGrpSpPr>
        <p:grpSpPr>
          <a:xfrm>
            <a:off x="11855269" y="4238965"/>
            <a:ext cx="2202024" cy="4265090"/>
            <a:chOff x="11855269" y="4238965"/>
            <a:chExt cx="2202024" cy="4265090"/>
          </a:xfrm>
        </p:grpSpPr>
        <p:sp>
          <p:nvSpPr>
            <p:cNvPr id="254" name="Freeform 254"/>
            <p:cNvSpPr/>
            <p:nvPr/>
          </p:nvSpPr>
          <p:spPr>
            <a:xfrm rot="-2176706">
              <a:off x="12128777" y="4238965"/>
              <a:ext cx="1928516" cy="636410"/>
            </a:xfrm>
            <a:custGeom>
              <a:avLst/>
              <a:gdLst/>
              <a:ahLst/>
              <a:cxnLst/>
              <a:rect l="l" t="t" r="r" b="b"/>
              <a:pathLst>
                <a:path w="1928516" h="636410">
                  <a:moveTo>
                    <a:pt x="0" y="0"/>
                  </a:moveTo>
                  <a:lnTo>
                    <a:pt x="1928516" y="0"/>
                  </a:lnTo>
                  <a:lnTo>
                    <a:pt x="1928516" y="636410"/>
                  </a:lnTo>
                  <a:lnTo>
                    <a:pt x="0" y="636410"/>
                  </a:lnTo>
                  <a:lnTo>
                    <a:pt x="0" y="0"/>
                  </a:lnTo>
                  <a:close/>
                </a:path>
              </a:pathLst>
            </a:custGeom>
            <a:blipFill>
              <a:blip>
                <a:extLst>
                  <a:ext uri="{96DAC541-7B7A-43D3-8B79-37D633B846F1}">
                    <asvg:svgBlip xmlns:asvg="http://schemas.microsoft.com/office/drawing/2016/SVG/main" r:embed="rId11"/>
                  </a:ext>
                </a:extLst>
              </a:blip>
              <a:stretch>
                <a:fillRect/>
              </a:stretch>
            </a:blipFill>
          </p:spPr>
          <p:txBody>
            <a:bodyPr/>
            <a:lstStyle/>
            <a:p>
              <a:endParaRPr lang="en-US"/>
            </a:p>
          </p:txBody>
        </p:sp>
        <p:sp>
          <p:nvSpPr>
            <p:cNvPr id="255" name="Freeform 255"/>
            <p:cNvSpPr/>
            <p:nvPr/>
          </p:nvSpPr>
          <p:spPr>
            <a:xfrm rot="-986734">
              <a:off x="11855269" y="6348260"/>
              <a:ext cx="1930396" cy="579119"/>
            </a:xfrm>
            <a:custGeom>
              <a:avLst/>
              <a:gdLst/>
              <a:ahLst/>
              <a:cxnLst/>
              <a:rect l="l" t="t" r="r" b="b"/>
              <a:pathLst>
                <a:path w="1930396" h="579119">
                  <a:moveTo>
                    <a:pt x="0" y="0"/>
                  </a:moveTo>
                  <a:lnTo>
                    <a:pt x="1930396" y="0"/>
                  </a:lnTo>
                  <a:lnTo>
                    <a:pt x="1930396" y="579118"/>
                  </a:lnTo>
                  <a:lnTo>
                    <a:pt x="0" y="579118"/>
                  </a:lnTo>
                  <a:lnTo>
                    <a:pt x="0" y="0"/>
                  </a:lnTo>
                  <a:close/>
                </a:path>
              </a:pathLst>
            </a:custGeom>
            <a:blipFill>
              <a:blip>
                <a:extLst>
                  <a:ext uri="{96DAC541-7B7A-43D3-8B79-37D633B846F1}">
                    <asvg:svgBlip xmlns:asvg="http://schemas.microsoft.com/office/drawing/2016/SVG/main" r:embed="rId12"/>
                  </a:ext>
                </a:extLst>
              </a:blip>
              <a:stretch>
                <a:fillRect/>
              </a:stretch>
            </a:blipFill>
          </p:spPr>
          <p:txBody>
            <a:bodyPr/>
            <a:lstStyle/>
            <a:p>
              <a:endParaRPr lang="en-US"/>
            </a:p>
          </p:txBody>
        </p:sp>
        <p:sp>
          <p:nvSpPr>
            <p:cNvPr id="256" name="Freeform 256"/>
            <p:cNvSpPr/>
            <p:nvPr/>
          </p:nvSpPr>
          <p:spPr>
            <a:xfrm rot="1851698">
              <a:off x="11944790" y="7924936"/>
              <a:ext cx="1930396" cy="579119"/>
            </a:xfrm>
            <a:custGeom>
              <a:avLst/>
              <a:gdLst/>
              <a:ahLst/>
              <a:cxnLst/>
              <a:rect l="l" t="t" r="r" b="b"/>
              <a:pathLst>
                <a:path w="1930396" h="579119">
                  <a:moveTo>
                    <a:pt x="0" y="0"/>
                  </a:moveTo>
                  <a:lnTo>
                    <a:pt x="1930396" y="0"/>
                  </a:lnTo>
                  <a:lnTo>
                    <a:pt x="1930396" y="579118"/>
                  </a:lnTo>
                  <a:lnTo>
                    <a:pt x="0" y="579118"/>
                  </a:lnTo>
                  <a:lnTo>
                    <a:pt x="0" y="0"/>
                  </a:lnTo>
                  <a:close/>
                </a:path>
              </a:pathLst>
            </a:custGeom>
            <a:blipFill>
              <a:blip>
                <a:extLst>
                  <a:ext uri="{96DAC541-7B7A-43D3-8B79-37D633B846F1}">
                    <asvg:svgBlip xmlns:asvg="http://schemas.microsoft.com/office/drawing/2016/SVG/main" r:embed="rId12"/>
                  </a:ext>
                </a:extLst>
              </a:blip>
              <a:stretch>
                <a:fillRect/>
              </a:stretch>
            </a:blipFill>
          </p:spPr>
          <p:txBody>
            <a:bodyPr/>
            <a:lstStyle/>
            <a:p>
              <a:endParaRPr lang="en-US"/>
            </a:p>
          </p:txBody>
        </p:sp>
      </p:grpSp>
      <p:pic>
        <p:nvPicPr>
          <p:cNvPr id="260" name="Picture 259">
            <a:extLst>
              <a:ext uri="{FF2B5EF4-FFF2-40B4-BE49-F238E27FC236}">
                <a16:creationId xmlns:a16="http://schemas.microsoft.com/office/drawing/2014/main" id="{2E187B98-7478-7DCF-FF5D-BB39514453C7}"/>
              </a:ext>
            </a:extLst>
          </p:cNvPr>
          <p:cNvPicPr>
            <a:picLocks noChangeAspect="1"/>
          </p:cNvPicPr>
          <p:nvPr/>
        </p:nvPicPr>
        <p:blipFill>
          <a:blip r:embed="rId13">
            <a:extLst>
              <a:ext uri="{28A0092B-C50C-407E-A947-70E740481C1C}">
                <a14:useLocalDpi xmlns:a14="http://schemas.microsoft.com/office/drawing/2010/main" val="0"/>
              </a:ext>
            </a:extLst>
          </a:blip>
          <a:stretch>
            <a:fillRect/>
          </a:stretch>
        </p:blipFill>
        <p:spPr>
          <a:xfrm>
            <a:off x="14000635" y="5520044"/>
            <a:ext cx="3594100" cy="2006600"/>
          </a:xfrm>
          <a:prstGeom prst="rect">
            <a:avLst/>
          </a:prstGeom>
        </p:spPr>
      </p:pic>
      <p:grpSp>
        <p:nvGrpSpPr>
          <p:cNvPr id="37" name="Group 2">
            <a:extLst>
              <a:ext uri="{FF2B5EF4-FFF2-40B4-BE49-F238E27FC236}">
                <a16:creationId xmlns:a16="http://schemas.microsoft.com/office/drawing/2014/main" id="{8A39B2C0-0DC0-E7BD-E48A-82FE691B14C7}"/>
              </a:ext>
            </a:extLst>
          </p:cNvPr>
          <p:cNvGrpSpPr/>
          <p:nvPr/>
        </p:nvGrpSpPr>
        <p:grpSpPr>
          <a:xfrm>
            <a:off x="960120" y="734066"/>
            <a:ext cx="10972800" cy="480060"/>
            <a:chOff x="0" y="0"/>
            <a:chExt cx="14630400" cy="640080"/>
          </a:xfrm>
        </p:grpSpPr>
        <p:sp>
          <p:nvSpPr>
            <p:cNvPr id="38" name="Freeform 3">
              <a:extLst>
                <a:ext uri="{FF2B5EF4-FFF2-40B4-BE49-F238E27FC236}">
                  <a16:creationId xmlns:a16="http://schemas.microsoft.com/office/drawing/2014/main" id="{EE1196F4-3EEE-31AB-3721-00AACA71C9B3}"/>
                </a:ext>
              </a:extLst>
            </p:cNvPr>
            <p:cNvSpPr/>
            <p:nvPr/>
          </p:nvSpPr>
          <p:spPr>
            <a:xfrm>
              <a:off x="0" y="0"/>
              <a:ext cx="14630400" cy="640080"/>
            </a:xfrm>
            <a:custGeom>
              <a:avLst/>
              <a:gdLst/>
              <a:ahLst/>
              <a:cxnLst/>
              <a:rect l="l" t="t" r="r" b="b"/>
              <a:pathLst>
                <a:path w="14630400" h="640080">
                  <a:moveTo>
                    <a:pt x="0" y="0"/>
                  </a:moveTo>
                  <a:lnTo>
                    <a:pt x="14630400" y="0"/>
                  </a:lnTo>
                  <a:lnTo>
                    <a:pt x="14630400" y="640080"/>
                  </a:lnTo>
                  <a:lnTo>
                    <a:pt x="0" y="640080"/>
                  </a:lnTo>
                  <a:close/>
                </a:path>
              </a:pathLst>
            </a:custGeom>
            <a:blipFill>
              <a:blip r:embed="rId9">
                <a:alphaModFix amt="0"/>
              </a:blip>
              <a:stretch>
                <a:fillRect t="-395372" b="-395372"/>
              </a:stretch>
            </a:blipFill>
          </p:spPr>
          <p:txBody>
            <a:bodyPr/>
            <a:lstStyle/>
            <a:p>
              <a:endParaRPr lang="en-US"/>
            </a:p>
          </p:txBody>
        </p:sp>
        <p:sp>
          <p:nvSpPr>
            <p:cNvPr id="39" name="TextBox 4">
              <a:extLst>
                <a:ext uri="{FF2B5EF4-FFF2-40B4-BE49-F238E27FC236}">
                  <a16:creationId xmlns:a16="http://schemas.microsoft.com/office/drawing/2014/main" id="{67916C3D-6066-D9E9-F451-2BD2288F0EEA}"/>
                </a:ext>
              </a:extLst>
            </p:cNvPr>
            <p:cNvSpPr txBox="1"/>
            <p:nvPr/>
          </p:nvSpPr>
          <p:spPr>
            <a:xfrm>
              <a:off x="0" y="-19050"/>
              <a:ext cx="14630400" cy="659130"/>
            </a:xfrm>
            <a:prstGeom prst="rect">
              <a:avLst/>
            </a:prstGeom>
          </p:spPr>
          <p:txBody>
            <a:bodyPr lIns="0" tIns="0" rIns="0" bIns="0" rtlCol="0" anchor="ctr"/>
            <a:lstStyle/>
            <a:p>
              <a:pPr algn="l">
                <a:lnSpc>
                  <a:spcPts val="2160"/>
                </a:lnSpc>
              </a:pPr>
              <a:r>
                <a:rPr lang="en-US" sz="1800" b="1" spc="450" dirty="0">
                  <a:solidFill>
                    <a:srgbClr val="FFFFFF"/>
                  </a:solidFill>
                  <a:latin typeface="Arial Bold"/>
                  <a:ea typeface="Arial Bold"/>
                  <a:cs typeface="Arial Bold"/>
                  <a:sym typeface="Arial Bold"/>
                </a:rPr>
                <a:t>FEATURE CONCEPT - OCTOBER 2026</a:t>
              </a:r>
            </a:p>
          </p:txBody>
        </p:sp>
      </p:grpSp>
      <p:grpSp>
        <p:nvGrpSpPr>
          <p:cNvPr id="40" name="Group 5">
            <a:extLst>
              <a:ext uri="{FF2B5EF4-FFF2-40B4-BE49-F238E27FC236}">
                <a16:creationId xmlns:a16="http://schemas.microsoft.com/office/drawing/2014/main" id="{A63548F9-DACE-64A7-1750-2207E268B42D}"/>
              </a:ext>
            </a:extLst>
          </p:cNvPr>
          <p:cNvGrpSpPr/>
          <p:nvPr/>
        </p:nvGrpSpPr>
        <p:grpSpPr>
          <a:xfrm>
            <a:off x="960120" y="1214126"/>
            <a:ext cx="8183880" cy="718073"/>
            <a:chOff x="0" y="0"/>
            <a:chExt cx="10911840" cy="957431"/>
          </a:xfrm>
        </p:grpSpPr>
        <p:sp>
          <p:nvSpPr>
            <p:cNvPr id="41" name="Freeform 6">
              <a:extLst>
                <a:ext uri="{FF2B5EF4-FFF2-40B4-BE49-F238E27FC236}">
                  <a16:creationId xmlns:a16="http://schemas.microsoft.com/office/drawing/2014/main" id="{833F15C1-F125-9A4A-A251-AB0D76CAF240}"/>
                </a:ext>
              </a:extLst>
            </p:cNvPr>
            <p:cNvSpPr/>
            <p:nvPr/>
          </p:nvSpPr>
          <p:spPr>
            <a:xfrm>
              <a:off x="0" y="0"/>
              <a:ext cx="10911840" cy="957431"/>
            </a:xfrm>
            <a:custGeom>
              <a:avLst/>
              <a:gdLst/>
              <a:ahLst/>
              <a:cxnLst/>
              <a:rect l="l" t="t" r="r" b="b"/>
              <a:pathLst>
                <a:path w="10911840" h="957431">
                  <a:moveTo>
                    <a:pt x="0" y="0"/>
                  </a:moveTo>
                  <a:lnTo>
                    <a:pt x="10911840" y="0"/>
                  </a:lnTo>
                  <a:lnTo>
                    <a:pt x="10911840" y="957431"/>
                  </a:lnTo>
                  <a:lnTo>
                    <a:pt x="0" y="957431"/>
                  </a:lnTo>
                  <a:close/>
                </a:path>
              </a:pathLst>
            </a:custGeom>
            <a:blipFill>
              <a:blip r:embed="rId9">
                <a:alphaModFix amt="0"/>
              </a:blip>
              <a:stretch>
                <a:fillRect t="-300064" r="-75977" b="-381525"/>
              </a:stretch>
            </a:blipFill>
          </p:spPr>
          <p:txBody>
            <a:bodyPr/>
            <a:lstStyle/>
            <a:p>
              <a:endParaRPr lang="en-US"/>
            </a:p>
          </p:txBody>
        </p:sp>
        <p:sp>
          <p:nvSpPr>
            <p:cNvPr id="42" name="TextBox 7">
              <a:extLst>
                <a:ext uri="{FF2B5EF4-FFF2-40B4-BE49-F238E27FC236}">
                  <a16:creationId xmlns:a16="http://schemas.microsoft.com/office/drawing/2014/main" id="{B6363FF7-541D-ED27-2D39-4B20AEF3A245}"/>
                </a:ext>
              </a:extLst>
            </p:cNvPr>
            <p:cNvSpPr txBox="1"/>
            <p:nvPr/>
          </p:nvSpPr>
          <p:spPr>
            <a:xfrm>
              <a:off x="0" y="19050"/>
              <a:ext cx="10911840" cy="938381"/>
            </a:xfrm>
            <a:prstGeom prst="rect">
              <a:avLst/>
            </a:prstGeom>
          </p:spPr>
          <p:txBody>
            <a:bodyPr lIns="0" tIns="0" rIns="0" bIns="0" rtlCol="0" anchor="ctr"/>
            <a:lstStyle/>
            <a:p>
              <a:pPr algn="l">
                <a:lnSpc>
                  <a:spcPts val="3733"/>
                </a:lnSpc>
              </a:pPr>
              <a:r>
                <a:rPr lang="en-US" sz="3500" b="1">
                  <a:solidFill>
                    <a:srgbClr val="FFDE59"/>
                  </a:solidFill>
                  <a:latin typeface="Arial Bold"/>
                  <a:ea typeface="Arial Bold"/>
                  <a:cs typeface="Arial Bold"/>
                  <a:sym typeface="Arial Bold"/>
                </a:rPr>
                <a:t>BeReal.</a:t>
              </a:r>
            </a:p>
          </p:txBody>
        </p:sp>
      </p:grpSp>
      <p:grpSp>
        <p:nvGrpSpPr>
          <p:cNvPr id="43" name="Group 8">
            <a:extLst>
              <a:ext uri="{FF2B5EF4-FFF2-40B4-BE49-F238E27FC236}">
                <a16:creationId xmlns:a16="http://schemas.microsoft.com/office/drawing/2014/main" id="{C8418A0E-C2EF-E49E-0ADA-5E73B8363A22}"/>
              </a:ext>
            </a:extLst>
          </p:cNvPr>
          <p:cNvGrpSpPr/>
          <p:nvPr/>
        </p:nvGrpSpPr>
        <p:grpSpPr>
          <a:xfrm>
            <a:off x="960120" y="2114645"/>
            <a:ext cx="10972800" cy="480060"/>
            <a:chOff x="0" y="0"/>
            <a:chExt cx="14630400" cy="640080"/>
          </a:xfrm>
        </p:grpSpPr>
        <p:sp>
          <p:nvSpPr>
            <p:cNvPr id="44" name="Freeform 9">
              <a:extLst>
                <a:ext uri="{FF2B5EF4-FFF2-40B4-BE49-F238E27FC236}">
                  <a16:creationId xmlns:a16="http://schemas.microsoft.com/office/drawing/2014/main" id="{31910FA7-6E51-78DD-75C4-C272D890D6A3}"/>
                </a:ext>
              </a:extLst>
            </p:cNvPr>
            <p:cNvSpPr/>
            <p:nvPr/>
          </p:nvSpPr>
          <p:spPr>
            <a:xfrm>
              <a:off x="0" y="0"/>
              <a:ext cx="14630400" cy="640080"/>
            </a:xfrm>
            <a:custGeom>
              <a:avLst/>
              <a:gdLst/>
              <a:ahLst/>
              <a:cxnLst/>
              <a:rect l="l" t="t" r="r" b="b"/>
              <a:pathLst>
                <a:path w="14630400" h="640080">
                  <a:moveTo>
                    <a:pt x="0" y="0"/>
                  </a:moveTo>
                  <a:lnTo>
                    <a:pt x="14630400" y="0"/>
                  </a:lnTo>
                  <a:lnTo>
                    <a:pt x="14630400" y="640080"/>
                  </a:lnTo>
                  <a:lnTo>
                    <a:pt x="0" y="640080"/>
                  </a:lnTo>
                  <a:close/>
                </a:path>
              </a:pathLst>
            </a:custGeom>
            <a:blipFill>
              <a:blip r:embed="rId9">
                <a:alphaModFix amt="0"/>
              </a:blip>
              <a:stretch>
                <a:fillRect t="-395372" b="-395372"/>
              </a:stretch>
            </a:blipFill>
          </p:spPr>
          <p:txBody>
            <a:bodyPr/>
            <a:lstStyle/>
            <a:p>
              <a:endParaRPr lang="en-US"/>
            </a:p>
          </p:txBody>
        </p:sp>
        <p:sp>
          <p:nvSpPr>
            <p:cNvPr id="45" name="TextBox 10">
              <a:extLst>
                <a:ext uri="{FF2B5EF4-FFF2-40B4-BE49-F238E27FC236}">
                  <a16:creationId xmlns:a16="http://schemas.microsoft.com/office/drawing/2014/main" id="{845043B2-6368-92A3-9A19-E73F777D57D1}"/>
                </a:ext>
              </a:extLst>
            </p:cNvPr>
            <p:cNvSpPr txBox="1"/>
            <p:nvPr/>
          </p:nvSpPr>
          <p:spPr>
            <a:xfrm>
              <a:off x="0" y="-19050"/>
              <a:ext cx="14630400" cy="659130"/>
            </a:xfrm>
            <a:prstGeom prst="rect">
              <a:avLst/>
            </a:prstGeom>
          </p:spPr>
          <p:txBody>
            <a:bodyPr lIns="0" tIns="0" rIns="0" bIns="0" rtlCol="0" anchor="ctr"/>
            <a:lstStyle/>
            <a:p>
              <a:pPr algn="l">
                <a:lnSpc>
                  <a:spcPts val="2160"/>
                </a:lnSpc>
              </a:pPr>
              <a:r>
                <a:rPr lang="en-US" sz="1800" b="1" spc="450">
                  <a:solidFill>
                    <a:srgbClr val="FFFFFF"/>
                  </a:solidFill>
                  <a:latin typeface="Arial Bold"/>
                  <a:ea typeface="Arial Bold"/>
                  <a:cs typeface="Arial Bold"/>
                  <a:sym typeface="Arial Bold"/>
                </a:rPr>
                <a:t>BEREAL PASSPORT &amp; COMMUNITY BOARDS</a:t>
              </a:r>
            </a:p>
          </p:txBody>
        </p:sp>
      </p:gr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0A0A0A"/>
        </a:solidFill>
        <a:effectLst/>
      </p:bgPr>
    </p:bg>
    <p:spTree>
      <p:nvGrpSpPr>
        <p:cNvPr id="1" name=""/>
        <p:cNvGrpSpPr/>
        <p:nvPr/>
      </p:nvGrpSpPr>
      <p:grpSpPr>
        <a:xfrm>
          <a:off x="0" y="0"/>
          <a:ext cx="0" cy="0"/>
          <a:chOff x="0" y="0"/>
          <a:chExt cx="0" cy="0"/>
        </a:xfrm>
      </p:grpSpPr>
      <p:grpSp>
        <p:nvGrpSpPr>
          <p:cNvPr id="11" name="Group 11"/>
          <p:cNvGrpSpPr/>
          <p:nvPr/>
        </p:nvGrpSpPr>
        <p:grpSpPr>
          <a:xfrm>
            <a:off x="960120" y="3164199"/>
            <a:ext cx="6296816" cy="1303020"/>
            <a:chOff x="0" y="0"/>
            <a:chExt cx="8395755" cy="1737360"/>
          </a:xfrm>
        </p:grpSpPr>
        <p:sp>
          <p:nvSpPr>
            <p:cNvPr id="12" name="Freeform 12"/>
            <p:cNvSpPr/>
            <p:nvPr/>
          </p:nvSpPr>
          <p:spPr>
            <a:xfrm>
              <a:off x="0" y="0"/>
              <a:ext cx="8395755" cy="1737360"/>
            </a:xfrm>
            <a:custGeom>
              <a:avLst/>
              <a:gdLst/>
              <a:ahLst/>
              <a:cxnLst/>
              <a:rect l="l" t="t" r="r" b="b"/>
              <a:pathLst>
                <a:path w="8395755" h="1737360">
                  <a:moveTo>
                    <a:pt x="0" y="0"/>
                  </a:moveTo>
                  <a:lnTo>
                    <a:pt x="8395755" y="0"/>
                  </a:lnTo>
                  <a:lnTo>
                    <a:pt x="8395755" y="1737360"/>
                  </a:lnTo>
                  <a:lnTo>
                    <a:pt x="0" y="1737360"/>
                  </a:lnTo>
                  <a:close/>
                </a:path>
              </a:pathLst>
            </a:custGeom>
            <a:blipFill>
              <a:blip r:embed="rId3">
                <a:alphaModFix amt="0"/>
              </a:blip>
              <a:stretch>
                <a:fillRect t="-165360" r="-128715" b="-165360"/>
              </a:stretch>
            </a:blipFill>
          </p:spPr>
          <p:txBody>
            <a:bodyPr/>
            <a:lstStyle/>
            <a:p>
              <a:endParaRPr lang="en-US"/>
            </a:p>
          </p:txBody>
        </p:sp>
        <p:sp>
          <p:nvSpPr>
            <p:cNvPr id="13" name="TextBox 13"/>
            <p:cNvSpPr txBox="1"/>
            <p:nvPr/>
          </p:nvSpPr>
          <p:spPr>
            <a:xfrm>
              <a:off x="0" y="38100"/>
              <a:ext cx="8395755" cy="1699260"/>
            </a:xfrm>
            <a:prstGeom prst="rect">
              <a:avLst/>
            </a:prstGeom>
          </p:spPr>
          <p:txBody>
            <a:bodyPr lIns="0" tIns="0" rIns="0" bIns="0" rtlCol="0" anchor="ctr"/>
            <a:lstStyle/>
            <a:p>
              <a:pPr algn="l">
                <a:lnSpc>
                  <a:spcPts val="5120"/>
                </a:lnSpc>
              </a:pPr>
              <a:r>
                <a:rPr lang="en-US" sz="4799" b="1">
                  <a:solidFill>
                    <a:srgbClr val="FFFFFF"/>
                  </a:solidFill>
                  <a:latin typeface="Arial Bold"/>
                  <a:ea typeface="Arial Bold"/>
                  <a:cs typeface="Arial Bold"/>
                  <a:sym typeface="Arial Bold"/>
                </a:rPr>
                <a:t>Settings / Opt-out </a:t>
              </a:r>
            </a:p>
          </p:txBody>
        </p:sp>
      </p:grpSp>
      <p:grpSp>
        <p:nvGrpSpPr>
          <p:cNvPr id="14" name="Group 14"/>
          <p:cNvGrpSpPr/>
          <p:nvPr/>
        </p:nvGrpSpPr>
        <p:grpSpPr>
          <a:xfrm>
            <a:off x="960120" y="4467219"/>
            <a:ext cx="4023360" cy="1837529"/>
            <a:chOff x="0" y="0"/>
            <a:chExt cx="5364480" cy="2450038"/>
          </a:xfrm>
        </p:grpSpPr>
        <p:sp>
          <p:nvSpPr>
            <p:cNvPr id="15" name="Freeform 15"/>
            <p:cNvSpPr/>
            <p:nvPr/>
          </p:nvSpPr>
          <p:spPr>
            <a:xfrm>
              <a:off x="0" y="0"/>
              <a:ext cx="5364480" cy="2450038"/>
            </a:xfrm>
            <a:custGeom>
              <a:avLst/>
              <a:gdLst/>
              <a:ahLst/>
              <a:cxnLst/>
              <a:rect l="l" t="t" r="r" b="b"/>
              <a:pathLst>
                <a:path w="5364480" h="2450038">
                  <a:moveTo>
                    <a:pt x="0" y="0"/>
                  </a:moveTo>
                  <a:lnTo>
                    <a:pt x="5364480" y="0"/>
                  </a:lnTo>
                  <a:lnTo>
                    <a:pt x="5364480" y="2450038"/>
                  </a:lnTo>
                  <a:lnTo>
                    <a:pt x="0" y="2450038"/>
                  </a:lnTo>
                  <a:close/>
                </a:path>
              </a:pathLst>
            </a:custGeom>
            <a:blipFill>
              <a:blip r:embed="rId3">
                <a:alphaModFix amt="0"/>
              </a:blip>
              <a:stretch>
                <a:fillRect t="-103292" r="-172727" b="-29417"/>
              </a:stretch>
            </a:blipFill>
          </p:spPr>
          <p:txBody>
            <a:bodyPr/>
            <a:lstStyle/>
            <a:p>
              <a:endParaRPr lang="en-US"/>
            </a:p>
          </p:txBody>
        </p:sp>
        <p:sp>
          <p:nvSpPr>
            <p:cNvPr id="16" name="TextBox 16"/>
            <p:cNvSpPr txBox="1"/>
            <p:nvPr/>
          </p:nvSpPr>
          <p:spPr>
            <a:xfrm>
              <a:off x="0" y="-57150"/>
              <a:ext cx="5364480" cy="2507188"/>
            </a:xfrm>
            <a:prstGeom prst="rect">
              <a:avLst/>
            </a:prstGeom>
          </p:spPr>
          <p:txBody>
            <a:bodyPr lIns="0" tIns="0" rIns="0" bIns="0" rtlCol="0" anchor="ctr"/>
            <a:lstStyle/>
            <a:p>
              <a:pPr marL="388620" lvl="1" indent="-194310" algn="l">
                <a:lnSpc>
                  <a:spcPts val="2340"/>
                </a:lnSpc>
                <a:buFont typeface="Arial"/>
                <a:buChar char="•"/>
              </a:pPr>
              <a:r>
                <a:rPr lang="en-US" sz="1800" spc="59">
                  <a:solidFill>
                    <a:srgbClr val="FFFFFF"/>
                  </a:solidFill>
                  <a:latin typeface="Calibri (MS)"/>
                  <a:ea typeface="Calibri (MS)"/>
                  <a:cs typeface="Calibri (MS)"/>
                  <a:sym typeface="Calibri (MS)"/>
                </a:rPr>
                <a:t>Manage </a:t>
              </a:r>
              <a:r>
                <a:rPr lang="en-US" sz="1800" b="1" spc="59">
                  <a:solidFill>
                    <a:srgbClr val="FFFFFF"/>
                  </a:solidFill>
                  <a:latin typeface="Calibri (MS) Bold"/>
                  <a:ea typeface="Calibri (MS) Bold"/>
                  <a:cs typeface="Calibri (MS) Bold"/>
                  <a:sym typeface="Calibri (MS) Bold"/>
                </a:rPr>
                <a:t>Community Board(s) </a:t>
              </a:r>
              <a:r>
                <a:rPr lang="en-US" sz="1800" spc="59">
                  <a:solidFill>
                    <a:srgbClr val="FFFFFF"/>
                  </a:solidFill>
                  <a:latin typeface="Calibri (MS)"/>
                  <a:ea typeface="Calibri (MS)"/>
                  <a:cs typeface="Calibri (MS)"/>
                  <a:sym typeface="Calibri (MS)"/>
                </a:rPr>
                <a:t>Participation</a:t>
              </a:r>
            </a:p>
            <a:p>
              <a:pPr marL="777240" lvl="2" indent="-259080" algn="l">
                <a:lnSpc>
                  <a:spcPts val="2340"/>
                </a:lnSpc>
                <a:buFont typeface="Arial"/>
                <a:buChar char="⚬"/>
              </a:pPr>
              <a:r>
                <a:rPr lang="en-US" sz="1800" spc="59">
                  <a:solidFill>
                    <a:srgbClr val="FFFFFF"/>
                  </a:solidFill>
                  <a:latin typeface="Calibri (MS)"/>
                  <a:ea typeface="Calibri (MS)"/>
                  <a:cs typeface="Calibri (MS)"/>
                  <a:sym typeface="Calibri (MS)"/>
                </a:rPr>
                <a:t>Easily Opt-in or Opt-out</a:t>
              </a:r>
            </a:p>
            <a:p>
              <a:pPr marL="777240" lvl="2" indent="-259080" algn="l">
                <a:lnSpc>
                  <a:spcPts val="2340"/>
                </a:lnSpc>
                <a:buFont typeface="Arial"/>
                <a:buChar char="⚬"/>
              </a:pPr>
              <a:r>
                <a:rPr lang="en-US" sz="1800" spc="59">
                  <a:solidFill>
                    <a:srgbClr val="FFFFFF"/>
                  </a:solidFill>
                  <a:latin typeface="Calibri (MS)"/>
                  <a:ea typeface="Calibri (MS)"/>
                  <a:cs typeface="Calibri (MS)"/>
                  <a:sym typeface="Calibri (MS)"/>
                </a:rPr>
                <a:t>Updated Setting Screen</a:t>
              </a:r>
            </a:p>
            <a:p>
              <a:pPr marL="777240" lvl="2" indent="-259080" algn="l">
                <a:lnSpc>
                  <a:spcPts val="2340"/>
                </a:lnSpc>
                <a:buFont typeface="Arial"/>
                <a:buChar char="⚬"/>
              </a:pPr>
              <a:r>
                <a:rPr lang="en-US" sz="1800" spc="59">
                  <a:solidFill>
                    <a:srgbClr val="FFFFFF"/>
                  </a:solidFill>
                  <a:latin typeface="Calibri (MS)"/>
                  <a:ea typeface="Calibri (MS)"/>
                  <a:cs typeface="Calibri (MS)"/>
                  <a:sym typeface="Calibri (MS)"/>
                </a:rPr>
                <a:t>New screen to easily add or remove</a:t>
              </a:r>
            </a:p>
          </p:txBody>
        </p:sp>
      </p:grpSp>
      <p:grpSp>
        <p:nvGrpSpPr>
          <p:cNvPr id="17" name="Group 17"/>
          <p:cNvGrpSpPr/>
          <p:nvPr/>
        </p:nvGrpSpPr>
        <p:grpSpPr>
          <a:xfrm>
            <a:off x="8183446" y="1309795"/>
            <a:ext cx="4123129" cy="8158320"/>
            <a:chOff x="0" y="0"/>
            <a:chExt cx="5497506" cy="10877759"/>
          </a:xfrm>
        </p:grpSpPr>
        <p:grpSp>
          <p:nvGrpSpPr>
            <p:cNvPr id="18" name="Group 18"/>
            <p:cNvGrpSpPr>
              <a:grpSpLocks noChangeAspect="1"/>
            </p:cNvGrpSpPr>
            <p:nvPr/>
          </p:nvGrpSpPr>
          <p:grpSpPr>
            <a:xfrm>
              <a:off x="0" y="0"/>
              <a:ext cx="5497506" cy="10877759"/>
              <a:chOff x="0" y="0"/>
              <a:chExt cx="2620010" cy="5184140"/>
            </a:xfrm>
          </p:grpSpPr>
          <p:sp>
            <p:nvSpPr>
              <p:cNvPr id="19" name="Freeform 19"/>
              <p:cNvSpPr/>
              <p:nvPr/>
            </p:nvSpPr>
            <p:spPr>
              <a:xfrm>
                <a:off x="53340" y="25400"/>
                <a:ext cx="2513330" cy="5132070"/>
              </a:xfrm>
              <a:custGeom>
                <a:avLst/>
                <a:gdLst/>
                <a:ahLst/>
                <a:cxnLst/>
                <a:rect l="l" t="t" r="r" b="b"/>
                <a:pathLst>
                  <a:path w="2513330" h="5132070">
                    <a:moveTo>
                      <a:pt x="2159000" y="0"/>
                    </a:moveTo>
                    <a:lnTo>
                      <a:pt x="354330" y="0"/>
                    </a:lnTo>
                    <a:cubicBezTo>
                      <a:pt x="158750" y="0"/>
                      <a:pt x="0" y="158750"/>
                      <a:pt x="0" y="354330"/>
                    </a:cubicBezTo>
                    <a:lnTo>
                      <a:pt x="0" y="4777740"/>
                    </a:lnTo>
                    <a:cubicBezTo>
                      <a:pt x="0" y="4973320"/>
                      <a:pt x="158750" y="5132070"/>
                      <a:pt x="354330" y="5132070"/>
                    </a:cubicBezTo>
                    <a:lnTo>
                      <a:pt x="2159000" y="5132070"/>
                    </a:lnTo>
                    <a:cubicBezTo>
                      <a:pt x="2354580" y="5132070"/>
                      <a:pt x="2513330" y="4973320"/>
                      <a:pt x="2513330" y="4777740"/>
                    </a:cubicBezTo>
                    <a:lnTo>
                      <a:pt x="2513330" y="354330"/>
                    </a:lnTo>
                    <a:cubicBezTo>
                      <a:pt x="2513330" y="158750"/>
                      <a:pt x="2354580" y="0"/>
                      <a:pt x="2159000" y="0"/>
                    </a:cubicBezTo>
                    <a:close/>
                    <a:moveTo>
                      <a:pt x="1558290" y="162560"/>
                    </a:moveTo>
                    <a:cubicBezTo>
                      <a:pt x="1576070" y="162560"/>
                      <a:pt x="1590040" y="176530"/>
                      <a:pt x="1590040" y="194310"/>
                    </a:cubicBezTo>
                    <a:cubicBezTo>
                      <a:pt x="1590040" y="212090"/>
                      <a:pt x="1576070" y="226060"/>
                      <a:pt x="1558290" y="226060"/>
                    </a:cubicBezTo>
                    <a:cubicBezTo>
                      <a:pt x="1540510" y="226060"/>
                      <a:pt x="1526540" y="212090"/>
                      <a:pt x="1526540" y="194310"/>
                    </a:cubicBezTo>
                    <a:cubicBezTo>
                      <a:pt x="1526540" y="176530"/>
                      <a:pt x="1541780" y="162560"/>
                      <a:pt x="1558290" y="162560"/>
                    </a:cubicBezTo>
                    <a:close/>
                    <a:moveTo>
                      <a:pt x="1089660" y="172720"/>
                    </a:moveTo>
                    <a:lnTo>
                      <a:pt x="1394460" y="172720"/>
                    </a:lnTo>
                    <a:cubicBezTo>
                      <a:pt x="1405890" y="172720"/>
                      <a:pt x="1416050" y="181610"/>
                      <a:pt x="1416050" y="194310"/>
                    </a:cubicBezTo>
                    <a:cubicBezTo>
                      <a:pt x="1416050" y="207010"/>
                      <a:pt x="1405890" y="215900"/>
                      <a:pt x="1394460" y="215900"/>
                    </a:cubicBezTo>
                    <a:lnTo>
                      <a:pt x="1089660" y="215900"/>
                    </a:lnTo>
                    <a:cubicBezTo>
                      <a:pt x="1078230" y="215900"/>
                      <a:pt x="1068070" y="207010"/>
                      <a:pt x="1068070" y="194310"/>
                    </a:cubicBezTo>
                    <a:cubicBezTo>
                      <a:pt x="1068070" y="181610"/>
                      <a:pt x="1078230" y="172720"/>
                      <a:pt x="1089660" y="172720"/>
                    </a:cubicBezTo>
                    <a:close/>
                    <a:moveTo>
                      <a:pt x="2383790" y="4798060"/>
                    </a:moveTo>
                    <a:cubicBezTo>
                      <a:pt x="2383790" y="4913630"/>
                      <a:pt x="2289810" y="5007610"/>
                      <a:pt x="2174240" y="5007610"/>
                    </a:cubicBezTo>
                    <a:lnTo>
                      <a:pt x="341630" y="5007610"/>
                    </a:lnTo>
                    <a:cubicBezTo>
                      <a:pt x="226060" y="5007610"/>
                      <a:pt x="132080" y="4913630"/>
                      <a:pt x="132080" y="4798060"/>
                    </a:cubicBezTo>
                    <a:lnTo>
                      <a:pt x="132080" y="340360"/>
                    </a:lnTo>
                    <a:cubicBezTo>
                      <a:pt x="132080" y="224790"/>
                      <a:pt x="226060" y="130810"/>
                      <a:pt x="341630" y="130810"/>
                    </a:cubicBezTo>
                    <a:lnTo>
                      <a:pt x="614680" y="130810"/>
                    </a:lnTo>
                    <a:lnTo>
                      <a:pt x="614680" y="187960"/>
                    </a:lnTo>
                    <a:cubicBezTo>
                      <a:pt x="614680" y="252730"/>
                      <a:pt x="668020" y="306070"/>
                      <a:pt x="732790" y="306070"/>
                    </a:cubicBezTo>
                    <a:lnTo>
                      <a:pt x="1783080" y="306070"/>
                    </a:lnTo>
                    <a:cubicBezTo>
                      <a:pt x="1847850" y="306070"/>
                      <a:pt x="1901190" y="252730"/>
                      <a:pt x="1901190" y="187960"/>
                    </a:cubicBezTo>
                    <a:lnTo>
                      <a:pt x="1901190" y="130810"/>
                    </a:lnTo>
                    <a:lnTo>
                      <a:pt x="2172970" y="130810"/>
                    </a:lnTo>
                    <a:cubicBezTo>
                      <a:pt x="2288540" y="130810"/>
                      <a:pt x="2382520" y="224790"/>
                      <a:pt x="2382520" y="340360"/>
                    </a:cubicBezTo>
                    <a:lnTo>
                      <a:pt x="2382520" y="4798060"/>
                    </a:lnTo>
                    <a:close/>
                  </a:path>
                </a:pathLst>
              </a:custGeom>
              <a:solidFill>
                <a:srgbClr val="000000"/>
              </a:solidFill>
            </p:spPr>
            <p:txBody>
              <a:bodyPr/>
              <a:lstStyle/>
              <a:p>
                <a:endParaRPr lang="en-US"/>
              </a:p>
            </p:txBody>
          </p:sp>
          <p:sp>
            <p:nvSpPr>
              <p:cNvPr id="20" name="Freeform 20"/>
              <p:cNvSpPr/>
              <p:nvPr/>
            </p:nvSpPr>
            <p:spPr>
              <a:xfrm>
                <a:off x="185420" y="156210"/>
                <a:ext cx="2250453" cy="4876800"/>
              </a:xfrm>
              <a:custGeom>
                <a:avLst/>
                <a:gdLst/>
                <a:ahLst/>
                <a:cxnLst/>
                <a:rect l="l" t="t" r="r" b="b"/>
                <a:pathLst>
                  <a:path w="2250453" h="4876800">
                    <a:moveTo>
                      <a:pt x="2040890" y="0"/>
                    </a:moveTo>
                    <a:lnTo>
                      <a:pt x="1769110" y="0"/>
                    </a:lnTo>
                    <a:lnTo>
                      <a:pt x="1769110" y="57150"/>
                    </a:lnTo>
                    <a:cubicBezTo>
                      <a:pt x="1769110" y="121920"/>
                      <a:pt x="1715770" y="175260"/>
                      <a:pt x="1651000" y="175260"/>
                    </a:cubicBezTo>
                    <a:lnTo>
                      <a:pt x="601980" y="175260"/>
                    </a:lnTo>
                    <a:cubicBezTo>
                      <a:pt x="537210" y="175260"/>
                      <a:pt x="483870" y="121920"/>
                      <a:pt x="483870" y="57150"/>
                    </a:cubicBezTo>
                    <a:lnTo>
                      <a:pt x="483870" y="0"/>
                    </a:lnTo>
                    <a:lnTo>
                      <a:pt x="209550" y="0"/>
                    </a:lnTo>
                    <a:cubicBezTo>
                      <a:pt x="93980" y="0"/>
                      <a:pt x="0" y="93980"/>
                      <a:pt x="0" y="209550"/>
                    </a:cubicBezTo>
                    <a:lnTo>
                      <a:pt x="0" y="4667250"/>
                    </a:lnTo>
                    <a:cubicBezTo>
                      <a:pt x="0" y="4782820"/>
                      <a:pt x="93980" y="4876800"/>
                      <a:pt x="209550" y="4876800"/>
                    </a:cubicBezTo>
                    <a:lnTo>
                      <a:pt x="2040890" y="4876800"/>
                    </a:lnTo>
                    <a:cubicBezTo>
                      <a:pt x="2156460" y="4876800"/>
                      <a:pt x="2250440" y="4782820"/>
                      <a:pt x="2250440" y="4667250"/>
                    </a:cubicBezTo>
                    <a:lnTo>
                      <a:pt x="2250440" y="209550"/>
                    </a:lnTo>
                    <a:cubicBezTo>
                      <a:pt x="2251710" y="93980"/>
                      <a:pt x="2157730" y="0"/>
                      <a:pt x="2040890" y="0"/>
                    </a:cubicBezTo>
                    <a:close/>
                  </a:path>
                </a:pathLst>
              </a:custGeom>
              <a:blipFill>
                <a:blip r:embed="rId3"/>
                <a:stretch>
                  <a:fillRect l="-245588" t="-3203" r="-245531" b="-3098"/>
                </a:stretch>
              </a:blipFill>
            </p:spPr>
            <p:txBody>
              <a:bodyPr/>
              <a:lstStyle/>
              <a:p>
                <a:endParaRPr lang="en-US"/>
              </a:p>
            </p:txBody>
          </p:sp>
          <p:sp>
            <p:nvSpPr>
              <p:cNvPr id="21" name="Freeform 21"/>
              <p:cNvSpPr/>
              <p:nvPr/>
            </p:nvSpPr>
            <p:spPr>
              <a:xfrm>
                <a:off x="1121410" y="198120"/>
                <a:ext cx="347980" cy="43180"/>
              </a:xfrm>
              <a:custGeom>
                <a:avLst/>
                <a:gdLst/>
                <a:ahLst/>
                <a:cxnLst/>
                <a:rect l="l" t="t" r="r" b="b"/>
                <a:pathLst>
                  <a:path w="347980" h="43180">
                    <a:moveTo>
                      <a:pt x="326390" y="0"/>
                    </a:moveTo>
                    <a:lnTo>
                      <a:pt x="21590" y="0"/>
                    </a:lnTo>
                    <a:cubicBezTo>
                      <a:pt x="10160" y="0"/>
                      <a:pt x="0" y="8890"/>
                      <a:pt x="0" y="21590"/>
                    </a:cubicBezTo>
                    <a:cubicBezTo>
                      <a:pt x="0" y="34290"/>
                      <a:pt x="10160" y="43180"/>
                      <a:pt x="21590" y="43180"/>
                    </a:cubicBezTo>
                    <a:lnTo>
                      <a:pt x="326390" y="43180"/>
                    </a:lnTo>
                    <a:cubicBezTo>
                      <a:pt x="337820" y="43180"/>
                      <a:pt x="347980" y="34290"/>
                      <a:pt x="347980" y="21590"/>
                    </a:cubicBezTo>
                    <a:cubicBezTo>
                      <a:pt x="347980" y="8890"/>
                      <a:pt x="337820" y="0"/>
                      <a:pt x="326390" y="0"/>
                    </a:cubicBezTo>
                    <a:close/>
                  </a:path>
                </a:pathLst>
              </a:custGeom>
              <a:solidFill>
                <a:srgbClr val="606060"/>
              </a:solidFill>
            </p:spPr>
            <p:txBody>
              <a:bodyPr/>
              <a:lstStyle/>
              <a:p>
                <a:endParaRPr lang="en-US"/>
              </a:p>
            </p:txBody>
          </p:sp>
          <p:sp>
            <p:nvSpPr>
              <p:cNvPr id="22" name="Freeform 22"/>
              <p:cNvSpPr/>
              <p:nvPr/>
            </p:nvSpPr>
            <p:spPr>
              <a:xfrm>
                <a:off x="1579738" y="187960"/>
                <a:ext cx="63785" cy="63501"/>
              </a:xfrm>
              <a:custGeom>
                <a:avLst/>
                <a:gdLst/>
                <a:ahLst/>
                <a:cxnLst/>
                <a:rect l="l" t="t" r="r" b="b"/>
                <a:pathLst>
                  <a:path w="63785" h="63501">
                    <a:moveTo>
                      <a:pt x="31892" y="0"/>
                    </a:moveTo>
                    <a:cubicBezTo>
                      <a:pt x="20515" y="-51"/>
                      <a:pt x="9980" y="5989"/>
                      <a:pt x="4277" y="15834"/>
                    </a:cubicBezTo>
                    <a:cubicBezTo>
                      <a:pt x="-1426" y="25678"/>
                      <a:pt x="-1426" y="37822"/>
                      <a:pt x="4277" y="47666"/>
                    </a:cubicBezTo>
                    <a:cubicBezTo>
                      <a:pt x="9980" y="57511"/>
                      <a:pt x="20515" y="63551"/>
                      <a:pt x="31892" y="63500"/>
                    </a:cubicBezTo>
                    <a:cubicBezTo>
                      <a:pt x="43269" y="63551"/>
                      <a:pt x="53804" y="57511"/>
                      <a:pt x="59507" y="47666"/>
                    </a:cubicBezTo>
                    <a:cubicBezTo>
                      <a:pt x="65210" y="37822"/>
                      <a:pt x="65210" y="25678"/>
                      <a:pt x="59507" y="15834"/>
                    </a:cubicBezTo>
                    <a:cubicBezTo>
                      <a:pt x="53804" y="5989"/>
                      <a:pt x="43269" y="-51"/>
                      <a:pt x="31892" y="0"/>
                    </a:cubicBezTo>
                    <a:close/>
                  </a:path>
                </a:pathLst>
              </a:custGeom>
              <a:solidFill>
                <a:srgbClr val="606060"/>
              </a:solidFill>
            </p:spPr>
            <p:txBody>
              <a:bodyPr/>
              <a:lstStyle/>
              <a:p>
                <a:endParaRPr lang="en-US"/>
              </a:p>
            </p:txBody>
          </p:sp>
          <p:sp>
            <p:nvSpPr>
              <p:cNvPr id="23" name="Freeform 23"/>
              <p:cNvSpPr/>
              <p:nvPr/>
            </p:nvSpPr>
            <p:spPr>
              <a:xfrm>
                <a:off x="0" y="685800"/>
                <a:ext cx="27940" cy="213360"/>
              </a:xfrm>
              <a:custGeom>
                <a:avLst/>
                <a:gdLst/>
                <a:ahLst/>
                <a:cxnLst/>
                <a:rect l="l" t="t" r="r" b="b"/>
                <a:pathLst>
                  <a:path w="27940" h="213360">
                    <a:moveTo>
                      <a:pt x="0" y="26670"/>
                    </a:moveTo>
                    <a:lnTo>
                      <a:pt x="0" y="185420"/>
                    </a:lnTo>
                    <a:cubicBezTo>
                      <a:pt x="0" y="200660"/>
                      <a:pt x="12700" y="213360"/>
                      <a:pt x="27940" y="213360"/>
                    </a:cubicBezTo>
                    <a:lnTo>
                      <a:pt x="27940" y="0"/>
                    </a:lnTo>
                    <a:cubicBezTo>
                      <a:pt x="12700" y="0"/>
                      <a:pt x="0" y="11430"/>
                      <a:pt x="0" y="26670"/>
                    </a:cubicBezTo>
                    <a:close/>
                  </a:path>
                </a:pathLst>
              </a:custGeom>
              <a:solidFill>
                <a:srgbClr val="B8B8B8"/>
              </a:solidFill>
            </p:spPr>
            <p:txBody>
              <a:bodyPr/>
              <a:lstStyle/>
              <a:p>
                <a:endParaRPr lang="en-US"/>
              </a:p>
            </p:txBody>
          </p:sp>
          <p:sp>
            <p:nvSpPr>
              <p:cNvPr id="24" name="Freeform 24"/>
              <p:cNvSpPr/>
              <p:nvPr/>
            </p:nvSpPr>
            <p:spPr>
              <a:xfrm>
                <a:off x="0" y="1057910"/>
                <a:ext cx="27940" cy="384810"/>
              </a:xfrm>
              <a:custGeom>
                <a:avLst/>
                <a:gdLst/>
                <a:ahLst/>
                <a:cxnLst/>
                <a:rect l="l" t="t" r="r" b="b"/>
                <a:pathLst>
                  <a:path w="27940" h="384810">
                    <a:moveTo>
                      <a:pt x="0" y="26670"/>
                    </a:moveTo>
                    <a:lnTo>
                      <a:pt x="0" y="356870"/>
                    </a:lnTo>
                    <a:cubicBezTo>
                      <a:pt x="0" y="372110"/>
                      <a:pt x="12700" y="384810"/>
                      <a:pt x="27940" y="384810"/>
                    </a:cubicBezTo>
                    <a:lnTo>
                      <a:pt x="27940" y="0"/>
                    </a:lnTo>
                    <a:cubicBezTo>
                      <a:pt x="12700" y="0"/>
                      <a:pt x="0" y="11430"/>
                      <a:pt x="0" y="26670"/>
                    </a:cubicBezTo>
                    <a:close/>
                  </a:path>
                </a:pathLst>
              </a:custGeom>
              <a:solidFill>
                <a:srgbClr val="B8B8B8"/>
              </a:solidFill>
            </p:spPr>
            <p:txBody>
              <a:bodyPr/>
              <a:lstStyle/>
              <a:p>
                <a:endParaRPr lang="en-US"/>
              </a:p>
            </p:txBody>
          </p:sp>
          <p:sp>
            <p:nvSpPr>
              <p:cNvPr id="25" name="Freeform 25"/>
              <p:cNvSpPr/>
              <p:nvPr/>
            </p:nvSpPr>
            <p:spPr>
              <a:xfrm>
                <a:off x="0" y="1526540"/>
                <a:ext cx="27940" cy="386080"/>
              </a:xfrm>
              <a:custGeom>
                <a:avLst/>
                <a:gdLst/>
                <a:ahLst/>
                <a:cxnLst/>
                <a:rect l="l" t="t" r="r" b="b"/>
                <a:pathLst>
                  <a:path w="27940" h="386080">
                    <a:moveTo>
                      <a:pt x="0" y="27940"/>
                    </a:moveTo>
                    <a:lnTo>
                      <a:pt x="0" y="358140"/>
                    </a:lnTo>
                    <a:cubicBezTo>
                      <a:pt x="0" y="373380"/>
                      <a:pt x="12700" y="386080"/>
                      <a:pt x="27940" y="386080"/>
                    </a:cubicBezTo>
                    <a:lnTo>
                      <a:pt x="27940" y="0"/>
                    </a:lnTo>
                    <a:cubicBezTo>
                      <a:pt x="12700" y="0"/>
                      <a:pt x="0" y="12700"/>
                      <a:pt x="0" y="27940"/>
                    </a:cubicBezTo>
                    <a:close/>
                  </a:path>
                </a:pathLst>
              </a:custGeom>
              <a:solidFill>
                <a:srgbClr val="B8B8B8"/>
              </a:solidFill>
            </p:spPr>
            <p:txBody>
              <a:bodyPr/>
              <a:lstStyle/>
              <a:p>
                <a:endParaRPr lang="en-US"/>
              </a:p>
            </p:txBody>
          </p:sp>
          <p:sp>
            <p:nvSpPr>
              <p:cNvPr id="26" name="Freeform 26"/>
              <p:cNvSpPr/>
              <p:nvPr/>
            </p:nvSpPr>
            <p:spPr>
              <a:xfrm>
                <a:off x="2592070" y="1184910"/>
                <a:ext cx="27940" cy="618490"/>
              </a:xfrm>
              <a:custGeom>
                <a:avLst/>
                <a:gdLst/>
                <a:ahLst/>
                <a:cxnLst/>
                <a:rect l="l" t="t" r="r" b="b"/>
                <a:pathLst>
                  <a:path w="27940" h="618490">
                    <a:moveTo>
                      <a:pt x="0" y="0"/>
                    </a:moveTo>
                    <a:lnTo>
                      <a:pt x="0" y="618490"/>
                    </a:lnTo>
                    <a:cubicBezTo>
                      <a:pt x="15240" y="618490"/>
                      <a:pt x="27940" y="605790"/>
                      <a:pt x="27940" y="590550"/>
                    </a:cubicBezTo>
                    <a:lnTo>
                      <a:pt x="27940" y="27940"/>
                    </a:lnTo>
                    <a:cubicBezTo>
                      <a:pt x="27940" y="12700"/>
                      <a:pt x="15240" y="0"/>
                      <a:pt x="0" y="0"/>
                    </a:cubicBezTo>
                    <a:close/>
                  </a:path>
                </a:pathLst>
              </a:custGeom>
              <a:solidFill>
                <a:srgbClr val="B8B8B8"/>
              </a:solidFill>
            </p:spPr>
            <p:txBody>
              <a:bodyPr/>
              <a:lstStyle/>
              <a:p>
                <a:endParaRPr lang="en-US"/>
              </a:p>
            </p:txBody>
          </p:sp>
          <p:sp>
            <p:nvSpPr>
              <p:cNvPr id="27" name="Freeform 27"/>
              <p:cNvSpPr/>
              <p:nvPr/>
            </p:nvSpPr>
            <p:spPr>
              <a:xfrm>
                <a:off x="27940" y="0"/>
                <a:ext cx="2564130" cy="5182870"/>
              </a:xfrm>
              <a:custGeom>
                <a:avLst/>
                <a:gdLst/>
                <a:ahLst/>
                <a:cxnLst/>
                <a:rect l="l" t="t" r="r" b="b"/>
                <a:pathLst>
                  <a:path w="2564130" h="5182870">
                    <a:moveTo>
                      <a:pt x="2564130" y="1184910"/>
                    </a:moveTo>
                    <a:lnTo>
                      <a:pt x="2564130" y="379730"/>
                    </a:lnTo>
                    <a:cubicBezTo>
                      <a:pt x="2564130" y="353060"/>
                      <a:pt x="2561590" y="327660"/>
                      <a:pt x="2556510" y="303530"/>
                    </a:cubicBezTo>
                    <a:cubicBezTo>
                      <a:pt x="2553970" y="290830"/>
                      <a:pt x="2551430" y="279400"/>
                      <a:pt x="2547620" y="266700"/>
                    </a:cubicBezTo>
                    <a:cubicBezTo>
                      <a:pt x="2542540" y="248920"/>
                      <a:pt x="2534920" y="231140"/>
                      <a:pt x="2527300" y="214630"/>
                    </a:cubicBezTo>
                    <a:cubicBezTo>
                      <a:pt x="2522220" y="203200"/>
                      <a:pt x="2515870" y="193040"/>
                      <a:pt x="2509520" y="182880"/>
                    </a:cubicBezTo>
                    <a:cubicBezTo>
                      <a:pt x="2503170" y="172720"/>
                      <a:pt x="2496820" y="162560"/>
                      <a:pt x="2489200" y="152400"/>
                    </a:cubicBezTo>
                    <a:cubicBezTo>
                      <a:pt x="2477770" y="137160"/>
                      <a:pt x="2466340" y="124460"/>
                      <a:pt x="2453640" y="110490"/>
                    </a:cubicBezTo>
                    <a:cubicBezTo>
                      <a:pt x="2444750" y="101600"/>
                      <a:pt x="2435860" y="93980"/>
                      <a:pt x="2426970" y="86360"/>
                    </a:cubicBezTo>
                    <a:cubicBezTo>
                      <a:pt x="2360930" y="31750"/>
                      <a:pt x="2277110" y="0"/>
                      <a:pt x="2185670" y="0"/>
                    </a:cubicBezTo>
                    <a:lnTo>
                      <a:pt x="379730" y="0"/>
                    </a:lnTo>
                    <a:cubicBezTo>
                      <a:pt x="288290" y="0"/>
                      <a:pt x="203200" y="33020"/>
                      <a:pt x="138430" y="86360"/>
                    </a:cubicBezTo>
                    <a:cubicBezTo>
                      <a:pt x="129540" y="93980"/>
                      <a:pt x="120650" y="102870"/>
                      <a:pt x="111760" y="110490"/>
                    </a:cubicBezTo>
                    <a:cubicBezTo>
                      <a:pt x="99060" y="123190"/>
                      <a:pt x="86360" y="137160"/>
                      <a:pt x="76200" y="152400"/>
                    </a:cubicBezTo>
                    <a:cubicBezTo>
                      <a:pt x="68580" y="162560"/>
                      <a:pt x="62230" y="172720"/>
                      <a:pt x="55880" y="182880"/>
                    </a:cubicBezTo>
                    <a:cubicBezTo>
                      <a:pt x="49530" y="193040"/>
                      <a:pt x="43180" y="204470"/>
                      <a:pt x="38100" y="214630"/>
                    </a:cubicBezTo>
                    <a:cubicBezTo>
                      <a:pt x="29210" y="232410"/>
                      <a:pt x="22860" y="248920"/>
                      <a:pt x="16510" y="266700"/>
                    </a:cubicBezTo>
                    <a:cubicBezTo>
                      <a:pt x="12700" y="279400"/>
                      <a:pt x="10160" y="290830"/>
                      <a:pt x="7620" y="303530"/>
                    </a:cubicBezTo>
                    <a:cubicBezTo>
                      <a:pt x="2540" y="327660"/>
                      <a:pt x="0" y="354330"/>
                      <a:pt x="0" y="379730"/>
                    </a:cubicBezTo>
                    <a:lnTo>
                      <a:pt x="0" y="4803140"/>
                    </a:lnTo>
                    <a:cubicBezTo>
                      <a:pt x="0" y="5012690"/>
                      <a:pt x="170180" y="5182870"/>
                      <a:pt x="379730" y="5182870"/>
                    </a:cubicBezTo>
                    <a:lnTo>
                      <a:pt x="2184400" y="5182870"/>
                    </a:lnTo>
                    <a:cubicBezTo>
                      <a:pt x="2393950" y="5182870"/>
                      <a:pt x="2564130" y="5012690"/>
                      <a:pt x="2564130" y="4803140"/>
                    </a:cubicBezTo>
                    <a:lnTo>
                      <a:pt x="2564130" y="1184910"/>
                    </a:lnTo>
                    <a:close/>
                    <a:moveTo>
                      <a:pt x="2538730" y="1184910"/>
                    </a:moveTo>
                    <a:lnTo>
                      <a:pt x="2538730" y="4804410"/>
                    </a:lnTo>
                    <a:cubicBezTo>
                      <a:pt x="2538730" y="4999990"/>
                      <a:pt x="2379980" y="5158740"/>
                      <a:pt x="2184400" y="5158740"/>
                    </a:cubicBezTo>
                    <a:lnTo>
                      <a:pt x="379730" y="5158740"/>
                    </a:lnTo>
                    <a:cubicBezTo>
                      <a:pt x="184150" y="5158740"/>
                      <a:pt x="25400" y="4999990"/>
                      <a:pt x="25400" y="4804410"/>
                    </a:cubicBezTo>
                    <a:lnTo>
                      <a:pt x="25400" y="381000"/>
                    </a:lnTo>
                    <a:cubicBezTo>
                      <a:pt x="25400" y="184150"/>
                      <a:pt x="184150" y="25400"/>
                      <a:pt x="379730" y="25400"/>
                    </a:cubicBezTo>
                    <a:lnTo>
                      <a:pt x="2184400" y="25400"/>
                    </a:lnTo>
                    <a:cubicBezTo>
                      <a:pt x="2379980" y="25400"/>
                      <a:pt x="2538730" y="184150"/>
                      <a:pt x="2538730" y="379730"/>
                    </a:cubicBezTo>
                    <a:lnTo>
                      <a:pt x="2538730" y="1184910"/>
                    </a:lnTo>
                    <a:close/>
                  </a:path>
                </a:pathLst>
              </a:custGeom>
              <a:solidFill>
                <a:srgbClr val="E9E9E9"/>
              </a:solidFill>
            </p:spPr>
            <p:txBody>
              <a:bodyPr/>
              <a:lstStyle/>
              <a:p>
                <a:endParaRPr lang="en-US"/>
              </a:p>
            </p:txBody>
          </p:sp>
        </p:grpSp>
        <p:grpSp>
          <p:nvGrpSpPr>
            <p:cNvPr id="28" name="Group 28"/>
            <p:cNvGrpSpPr/>
            <p:nvPr/>
          </p:nvGrpSpPr>
          <p:grpSpPr>
            <a:xfrm>
              <a:off x="245142" y="226420"/>
              <a:ext cx="5007222" cy="10365907"/>
              <a:chOff x="0" y="0"/>
              <a:chExt cx="1066268" cy="2207378"/>
            </a:xfrm>
          </p:grpSpPr>
          <p:sp>
            <p:nvSpPr>
              <p:cNvPr id="29" name="Freeform 29"/>
              <p:cNvSpPr/>
              <p:nvPr/>
            </p:nvSpPr>
            <p:spPr>
              <a:xfrm>
                <a:off x="0" y="0"/>
                <a:ext cx="1066268" cy="2207378"/>
              </a:xfrm>
              <a:custGeom>
                <a:avLst/>
                <a:gdLst/>
                <a:ahLst/>
                <a:cxnLst/>
                <a:rect l="l" t="t" r="r" b="b"/>
                <a:pathLst>
                  <a:path w="1066268" h="2207378">
                    <a:moveTo>
                      <a:pt x="94778" y="0"/>
                    </a:moveTo>
                    <a:lnTo>
                      <a:pt x="971490" y="0"/>
                    </a:lnTo>
                    <a:cubicBezTo>
                      <a:pt x="996626" y="0"/>
                      <a:pt x="1020734" y="9986"/>
                      <a:pt x="1038508" y="27760"/>
                    </a:cubicBezTo>
                    <a:cubicBezTo>
                      <a:pt x="1056282" y="45534"/>
                      <a:pt x="1066268" y="69641"/>
                      <a:pt x="1066268" y="94778"/>
                    </a:cubicBezTo>
                    <a:lnTo>
                      <a:pt x="1066268" y="2112600"/>
                    </a:lnTo>
                    <a:cubicBezTo>
                      <a:pt x="1066268" y="2164945"/>
                      <a:pt x="1023834" y="2207378"/>
                      <a:pt x="971490" y="2207378"/>
                    </a:cubicBezTo>
                    <a:lnTo>
                      <a:pt x="94778" y="2207378"/>
                    </a:lnTo>
                    <a:cubicBezTo>
                      <a:pt x="69641" y="2207378"/>
                      <a:pt x="45534" y="2197393"/>
                      <a:pt x="27760" y="2179619"/>
                    </a:cubicBezTo>
                    <a:cubicBezTo>
                      <a:pt x="9986" y="2161844"/>
                      <a:pt x="0" y="2137737"/>
                      <a:pt x="0" y="2112600"/>
                    </a:cubicBezTo>
                    <a:lnTo>
                      <a:pt x="0" y="94778"/>
                    </a:lnTo>
                    <a:cubicBezTo>
                      <a:pt x="0" y="42434"/>
                      <a:pt x="42434" y="0"/>
                      <a:pt x="94778" y="0"/>
                    </a:cubicBezTo>
                    <a:close/>
                  </a:path>
                </a:pathLst>
              </a:custGeom>
              <a:solidFill>
                <a:srgbClr val="141414"/>
              </a:solidFill>
            </p:spPr>
            <p:txBody>
              <a:bodyPr/>
              <a:lstStyle/>
              <a:p>
                <a:endParaRPr lang="en-US"/>
              </a:p>
            </p:txBody>
          </p:sp>
          <p:sp>
            <p:nvSpPr>
              <p:cNvPr id="30" name="TextBox 30"/>
              <p:cNvSpPr txBox="1"/>
              <p:nvPr/>
            </p:nvSpPr>
            <p:spPr>
              <a:xfrm>
                <a:off x="0" y="-47625"/>
                <a:ext cx="1066268" cy="2255003"/>
              </a:xfrm>
              <a:prstGeom prst="rect">
                <a:avLst/>
              </a:prstGeom>
            </p:spPr>
            <p:txBody>
              <a:bodyPr lIns="52273" tIns="52273" rIns="52273" bIns="52273" rtlCol="0" anchor="ctr"/>
              <a:lstStyle/>
              <a:p>
                <a:pPr algn="ctr">
                  <a:lnSpc>
                    <a:spcPts val="2339"/>
                  </a:lnSpc>
                </a:pPr>
                <a:endParaRPr/>
              </a:p>
            </p:txBody>
          </p:sp>
        </p:grpSp>
        <p:sp>
          <p:nvSpPr>
            <p:cNvPr id="31" name="Freeform 31"/>
            <p:cNvSpPr/>
            <p:nvPr/>
          </p:nvSpPr>
          <p:spPr>
            <a:xfrm>
              <a:off x="543693" y="426616"/>
              <a:ext cx="874433" cy="874433"/>
            </a:xfrm>
            <a:custGeom>
              <a:avLst/>
              <a:gdLst/>
              <a:ahLst/>
              <a:cxnLst/>
              <a:rect l="l" t="t" r="r" b="b"/>
              <a:pathLst>
                <a:path w="874433" h="874433">
                  <a:moveTo>
                    <a:pt x="0" y="0"/>
                  </a:moveTo>
                  <a:lnTo>
                    <a:pt x="874433" y="0"/>
                  </a:lnTo>
                  <a:lnTo>
                    <a:pt x="874433" y="874433"/>
                  </a:lnTo>
                  <a:lnTo>
                    <a:pt x="0" y="874433"/>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n-US"/>
            </a:p>
          </p:txBody>
        </p:sp>
        <p:grpSp>
          <p:nvGrpSpPr>
            <p:cNvPr id="32" name="Group 32"/>
            <p:cNvGrpSpPr/>
            <p:nvPr/>
          </p:nvGrpSpPr>
          <p:grpSpPr>
            <a:xfrm>
              <a:off x="497442" y="9476849"/>
              <a:ext cx="4502621" cy="985315"/>
              <a:chOff x="0" y="0"/>
              <a:chExt cx="958815" cy="209819"/>
            </a:xfrm>
          </p:grpSpPr>
          <p:sp>
            <p:nvSpPr>
              <p:cNvPr id="33" name="Freeform 33"/>
              <p:cNvSpPr/>
              <p:nvPr/>
            </p:nvSpPr>
            <p:spPr>
              <a:xfrm>
                <a:off x="0" y="0"/>
                <a:ext cx="958815" cy="209819"/>
              </a:xfrm>
              <a:custGeom>
                <a:avLst/>
                <a:gdLst/>
                <a:ahLst/>
                <a:cxnLst/>
                <a:rect l="l" t="t" r="r" b="b"/>
                <a:pathLst>
                  <a:path w="958815" h="209819">
                    <a:moveTo>
                      <a:pt x="104909" y="0"/>
                    </a:moveTo>
                    <a:lnTo>
                      <a:pt x="853906" y="0"/>
                    </a:lnTo>
                    <a:cubicBezTo>
                      <a:pt x="881730" y="0"/>
                      <a:pt x="908414" y="11053"/>
                      <a:pt x="928088" y="30727"/>
                    </a:cubicBezTo>
                    <a:cubicBezTo>
                      <a:pt x="947762" y="50402"/>
                      <a:pt x="958815" y="77086"/>
                      <a:pt x="958815" y="104909"/>
                    </a:cubicBezTo>
                    <a:lnTo>
                      <a:pt x="958815" y="104909"/>
                    </a:lnTo>
                    <a:cubicBezTo>
                      <a:pt x="958815" y="132733"/>
                      <a:pt x="947762" y="159417"/>
                      <a:pt x="928088" y="179092"/>
                    </a:cubicBezTo>
                    <a:cubicBezTo>
                      <a:pt x="908414" y="198766"/>
                      <a:pt x="881730" y="209819"/>
                      <a:pt x="853906" y="209819"/>
                    </a:cubicBezTo>
                    <a:lnTo>
                      <a:pt x="104909" y="209819"/>
                    </a:lnTo>
                    <a:cubicBezTo>
                      <a:pt x="77086" y="209819"/>
                      <a:pt x="50402" y="198766"/>
                      <a:pt x="30727" y="179092"/>
                    </a:cubicBezTo>
                    <a:cubicBezTo>
                      <a:pt x="11053" y="159417"/>
                      <a:pt x="0" y="132733"/>
                      <a:pt x="0" y="104909"/>
                    </a:cubicBezTo>
                    <a:lnTo>
                      <a:pt x="0" y="104909"/>
                    </a:lnTo>
                    <a:cubicBezTo>
                      <a:pt x="0" y="77086"/>
                      <a:pt x="11053" y="50402"/>
                      <a:pt x="30727" y="30727"/>
                    </a:cubicBezTo>
                    <a:cubicBezTo>
                      <a:pt x="50402" y="11053"/>
                      <a:pt x="77086" y="0"/>
                      <a:pt x="104909" y="0"/>
                    </a:cubicBezTo>
                    <a:close/>
                  </a:path>
                </a:pathLst>
              </a:custGeom>
              <a:solidFill>
                <a:srgbClr val="2B2B2B"/>
              </a:solidFill>
            </p:spPr>
            <p:txBody>
              <a:bodyPr/>
              <a:lstStyle/>
              <a:p>
                <a:endParaRPr lang="en-US"/>
              </a:p>
            </p:txBody>
          </p:sp>
          <p:sp>
            <p:nvSpPr>
              <p:cNvPr id="34" name="TextBox 34"/>
              <p:cNvSpPr txBox="1"/>
              <p:nvPr/>
            </p:nvSpPr>
            <p:spPr>
              <a:xfrm>
                <a:off x="0" y="-47625"/>
                <a:ext cx="958815" cy="257444"/>
              </a:xfrm>
              <a:prstGeom prst="rect">
                <a:avLst/>
              </a:prstGeom>
            </p:spPr>
            <p:txBody>
              <a:bodyPr lIns="52273" tIns="52273" rIns="52273" bIns="52273" rtlCol="0" anchor="ctr"/>
              <a:lstStyle/>
              <a:p>
                <a:pPr algn="ctr">
                  <a:lnSpc>
                    <a:spcPts val="2339"/>
                  </a:lnSpc>
                </a:pPr>
                <a:endParaRPr/>
              </a:p>
            </p:txBody>
          </p:sp>
        </p:grpSp>
        <p:grpSp>
          <p:nvGrpSpPr>
            <p:cNvPr id="35" name="Group 35"/>
            <p:cNvGrpSpPr/>
            <p:nvPr/>
          </p:nvGrpSpPr>
          <p:grpSpPr>
            <a:xfrm>
              <a:off x="2016471" y="412927"/>
              <a:ext cx="1464565" cy="888123"/>
              <a:chOff x="0" y="0"/>
              <a:chExt cx="1578858" cy="957431"/>
            </a:xfrm>
          </p:grpSpPr>
          <p:sp>
            <p:nvSpPr>
              <p:cNvPr id="36" name="Freeform 36"/>
              <p:cNvSpPr/>
              <p:nvPr/>
            </p:nvSpPr>
            <p:spPr>
              <a:xfrm>
                <a:off x="0" y="0"/>
                <a:ext cx="1578858" cy="957431"/>
              </a:xfrm>
              <a:custGeom>
                <a:avLst/>
                <a:gdLst/>
                <a:ahLst/>
                <a:cxnLst/>
                <a:rect l="l" t="t" r="r" b="b"/>
                <a:pathLst>
                  <a:path w="1578858" h="957431">
                    <a:moveTo>
                      <a:pt x="0" y="0"/>
                    </a:moveTo>
                    <a:lnTo>
                      <a:pt x="1578858" y="0"/>
                    </a:lnTo>
                    <a:lnTo>
                      <a:pt x="1578858" y="957431"/>
                    </a:lnTo>
                    <a:lnTo>
                      <a:pt x="0" y="957431"/>
                    </a:lnTo>
                    <a:close/>
                  </a:path>
                </a:pathLst>
              </a:custGeom>
              <a:blipFill>
                <a:blip r:embed="rId3">
                  <a:alphaModFix amt="0"/>
                </a:blip>
                <a:stretch>
                  <a:fillRect t="-300064" r="-1116220" b="-381525"/>
                </a:stretch>
              </a:blipFill>
            </p:spPr>
            <p:txBody>
              <a:bodyPr/>
              <a:lstStyle/>
              <a:p>
                <a:endParaRPr lang="en-US"/>
              </a:p>
            </p:txBody>
          </p:sp>
          <p:sp>
            <p:nvSpPr>
              <p:cNvPr id="37" name="TextBox 37"/>
              <p:cNvSpPr txBox="1"/>
              <p:nvPr/>
            </p:nvSpPr>
            <p:spPr>
              <a:xfrm>
                <a:off x="0" y="19050"/>
                <a:ext cx="1578858" cy="938381"/>
              </a:xfrm>
              <a:prstGeom prst="rect">
                <a:avLst/>
              </a:prstGeom>
            </p:spPr>
            <p:txBody>
              <a:bodyPr lIns="0" tIns="0" rIns="0" bIns="0" rtlCol="0" anchor="ctr"/>
              <a:lstStyle/>
              <a:p>
                <a:pPr algn="ctr">
                  <a:lnSpc>
                    <a:spcPts val="2240"/>
                  </a:lnSpc>
                </a:pPr>
                <a:r>
                  <a:rPr lang="en-US" sz="2100" b="1" dirty="0">
                    <a:solidFill>
                      <a:srgbClr val="FFFFFF"/>
                    </a:solidFill>
                    <a:latin typeface="Arial Bold"/>
                    <a:ea typeface="Arial Bold"/>
                    <a:cs typeface="Arial Bold"/>
                    <a:sym typeface="Arial Bold"/>
                  </a:rPr>
                  <a:t>Settings</a:t>
                </a:r>
              </a:p>
            </p:txBody>
          </p:sp>
        </p:grpSp>
        <p:sp>
          <p:nvSpPr>
            <p:cNvPr id="38" name="Freeform 38"/>
            <p:cNvSpPr/>
            <p:nvPr/>
          </p:nvSpPr>
          <p:spPr>
            <a:xfrm>
              <a:off x="809456" y="9791263"/>
              <a:ext cx="237926" cy="221271"/>
            </a:xfrm>
            <a:custGeom>
              <a:avLst/>
              <a:gdLst/>
              <a:ahLst/>
              <a:cxnLst/>
              <a:rect l="l" t="t" r="r" b="b"/>
              <a:pathLst>
                <a:path w="237926" h="221271">
                  <a:moveTo>
                    <a:pt x="0" y="0"/>
                  </a:moveTo>
                  <a:lnTo>
                    <a:pt x="237926" y="0"/>
                  </a:lnTo>
                  <a:lnTo>
                    <a:pt x="237926" y="221271"/>
                  </a:lnTo>
                  <a:lnTo>
                    <a:pt x="0" y="221271"/>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en-US"/>
            </a:p>
          </p:txBody>
        </p:sp>
        <p:sp>
          <p:nvSpPr>
            <p:cNvPr id="39" name="Freeform 39"/>
            <p:cNvSpPr/>
            <p:nvPr/>
          </p:nvSpPr>
          <p:spPr>
            <a:xfrm>
              <a:off x="1756604" y="9791263"/>
              <a:ext cx="245857" cy="221271"/>
            </a:xfrm>
            <a:custGeom>
              <a:avLst/>
              <a:gdLst/>
              <a:ahLst/>
              <a:cxnLst/>
              <a:rect l="l" t="t" r="r" b="b"/>
              <a:pathLst>
                <a:path w="245857" h="221271">
                  <a:moveTo>
                    <a:pt x="0" y="0"/>
                  </a:moveTo>
                  <a:lnTo>
                    <a:pt x="245857" y="0"/>
                  </a:lnTo>
                  <a:lnTo>
                    <a:pt x="245857" y="221271"/>
                  </a:lnTo>
                  <a:lnTo>
                    <a:pt x="0" y="221271"/>
                  </a:lnTo>
                  <a:lnTo>
                    <a:pt x="0" y="0"/>
                  </a:lnTo>
                  <a:close/>
                </a:path>
              </a:pathLst>
            </a:custGeom>
            <a:blipFill>
              <a:blip>
                <a:extLst>
                  <a:ext uri="{96DAC541-7B7A-43D3-8B79-37D633B846F1}">
                    <asvg:svgBlip xmlns:asvg="http://schemas.microsoft.com/office/drawing/2016/SVG/main" r:embed="rId6"/>
                  </a:ext>
                </a:extLst>
              </a:blip>
              <a:stretch>
                <a:fillRect/>
              </a:stretch>
            </a:blipFill>
          </p:spPr>
          <p:txBody>
            <a:bodyPr/>
            <a:lstStyle/>
            <a:p>
              <a:endParaRPr lang="en-US"/>
            </a:p>
          </p:txBody>
        </p:sp>
        <p:sp>
          <p:nvSpPr>
            <p:cNvPr id="40" name="Freeform 40"/>
            <p:cNvSpPr/>
            <p:nvPr/>
          </p:nvSpPr>
          <p:spPr>
            <a:xfrm>
              <a:off x="3466163" y="9677467"/>
              <a:ext cx="344383" cy="346113"/>
            </a:xfrm>
            <a:custGeom>
              <a:avLst/>
              <a:gdLst/>
              <a:ahLst/>
              <a:cxnLst/>
              <a:rect l="l" t="t" r="r" b="b"/>
              <a:pathLst>
                <a:path w="344383" h="346113">
                  <a:moveTo>
                    <a:pt x="0" y="0"/>
                  </a:moveTo>
                  <a:lnTo>
                    <a:pt x="344383" y="0"/>
                  </a:lnTo>
                  <a:lnTo>
                    <a:pt x="344383" y="346113"/>
                  </a:lnTo>
                  <a:lnTo>
                    <a:pt x="0" y="346113"/>
                  </a:lnTo>
                  <a:lnTo>
                    <a:pt x="0" y="0"/>
                  </a:lnTo>
                  <a:close/>
                </a:path>
              </a:pathLst>
            </a:custGeom>
            <a:blipFill>
              <a:blip>
                <a:extLst>
                  <a:ext uri="{96DAC541-7B7A-43D3-8B79-37D633B846F1}">
                    <asvg:svgBlip xmlns:asvg="http://schemas.microsoft.com/office/drawing/2016/SVG/main" r:embed="rId7"/>
                  </a:ext>
                </a:extLst>
              </a:blip>
              <a:stretch>
                <a:fillRect/>
              </a:stretch>
            </a:blipFill>
          </p:spPr>
          <p:txBody>
            <a:bodyPr/>
            <a:lstStyle/>
            <a:p>
              <a:endParaRPr lang="en-US"/>
            </a:p>
          </p:txBody>
        </p:sp>
        <p:grpSp>
          <p:nvGrpSpPr>
            <p:cNvPr id="41" name="Group 41"/>
            <p:cNvGrpSpPr/>
            <p:nvPr/>
          </p:nvGrpSpPr>
          <p:grpSpPr>
            <a:xfrm>
              <a:off x="4354636" y="9649391"/>
              <a:ext cx="402265" cy="402265"/>
              <a:chOff x="0" y="0"/>
              <a:chExt cx="812800" cy="812800"/>
            </a:xfrm>
          </p:grpSpPr>
          <p:sp>
            <p:nvSpPr>
              <p:cNvPr id="42" name="Freeform 42"/>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a:blip r:embed="rId8"/>
                <a:stretch>
                  <a:fillRect l="-155679" t="-15600" b="-54426"/>
                </a:stretch>
              </a:blipFill>
              <a:ln w="38100" cap="sq">
                <a:solidFill>
                  <a:srgbClr val="000000"/>
                </a:solidFill>
                <a:prstDash val="solid"/>
                <a:miter/>
              </a:ln>
            </p:spPr>
            <p:txBody>
              <a:bodyPr/>
              <a:lstStyle/>
              <a:p>
                <a:endParaRPr lang="en-US"/>
              </a:p>
            </p:txBody>
          </p:sp>
        </p:grpSp>
        <p:sp>
          <p:nvSpPr>
            <p:cNvPr id="43" name="Freeform 43"/>
            <p:cNvSpPr/>
            <p:nvPr/>
          </p:nvSpPr>
          <p:spPr>
            <a:xfrm>
              <a:off x="2433556" y="9660873"/>
              <a:ext cx="575273" cy="575273"/>
            </a:xfrm>
            <a:custGeom>
              <a:avLst/>
              <a:gdLst/>
              <a:ahLst/>
              <a:cxnLst/>
              <a:rect l="l" t="t" r="r" b="b"/>
              <a:pathLst>
                <a:path w="575273" h="575273">
                  <a:moveTo>
                    <a:pt x="0" y="0"/>
                  </a:moveTo>
                  <a:lnTo>
                    <a:pt x="575272" y="0"/>
                  </a:lnTo>
                  <a:lnTo>
                    <a:pt x="575272" y="575273"/>
                  </a:lnTo>
                  <a:lnTo>
                    <a:pt x="0" y="575273"/>
                  </a:lnTo>
                  <a:lnTo>
                    <a:pt x="0" y="0"/>
                  </a:lnTo>
                  <a:close/>
                </a:path>
              </a:pathLst>
            </a:custGeom>
            <a:blipFill>
              <a:blip>
                <a:extLst>
                  <a:ext uri="{96DAC541-7B7A-43D3-8B79-37D633B846F1}">
                    <asvg:svgBlip xmlns:asvg="http://schemas.microsoft.com/office/drawing/2016/SVG/main" r:embed="rId9"/>
                  </a:ext>
                </a:extLst>
              </a:blip>
              <a:stretch>
                <a:fillRect/>
              </a:stretch>
            </a:blipFill>
          </p:spPr>
          <p:txBody>
            <a:bodyPr/>
            <a:lstStyle/>
            <a:p>
              <a:endParaRPr lang="en-US"/>
            </a:p>
          </p:txBody>
        </p:sp>
        <p:sp>
          <p:nvSpPr>
            <p:cNvPr id="44" name="Freeform 44"/>
            <p:cNvSpPr/>
            <p:nvPr/>
          </p:nvSpPr>
          <p:spPr>
            <a:xfrm>
              <a:off x="2529451" y="9792241"/>
              <a:ext cx="383482" cy="312537"/>
            </a:xfrm>
            <a:custGeom>
              <a:avLst/>
              <a:gdLst/>
              <a:ahLst/>
              <a:cxnLst/>
              <a:rect l="l" t="t" r="r" b="b"/>
              <a:pathLst>
                <a:path w="383482" h="312537">
                  <a:moveTo>
                    <a:pt x="0" y="0"/>
                  </a:moveTo>
                  <a:lnTo>
                    <a:pt x="383482" y="0"/>
                  </a:lnTo>
                  <a:lnTo>
                    <a:pt x="383482" y="312537"/>
                  </a:lnTo>
                  <a:lnTo>
                    <a:pt x="0" y="312537"/>
                  </a:lnTo>
                  <a:lnTo>
                    <a:pt x="0" y="0"/>
                  </a:lnTo>
                  <a:close/>
                </a:path>
              </a:pathLst>
            </a:custGeom>
            <a:blipFill>
              <a:blip>
                <a:extLst>
                  <a:ext uri="{96DAC541-7B7A-43D3-8B79-37D633B846F1}">
                    <asvg:svgBlip xmlns:asvg="http://schemas.microsoft.com/office/drawing/2016/SVG/main" r:embed="rId10"/>
                  </a:ext>
                </a:extLst>
              </a:blip>
              <a:stretch>
                <a:fillRect/>
              </a:stretch>
            </a:blipFill>
          </p:spPr>
          <p:txBody>
            <a:bodyPr/>
            <a:lstStyle/>
            <a:p>
              <a:endParaRPr lang="en-US"/>
            </a:p>
          </p:txBody>
        </p:sp>
        <p:sp>
          <p:nvSpPr>
            <p:cNvPr id="45" name="Freeform 45"/>
            <p:cNvSpPr/>
            <p:nvPr/>
          </p:nvSpPr>
          <p:spPr>
            <a:xfrm rot="-5572345">
              <a:off x="619072" y="723774"/>
              <a:ext cx="591586" cy="310582"/>
            </a:xfrm>
            <a:custGeom>
              <a:avLst/>
              <a:gdLst/>
              <a:ahLst/>
              <a:cxnLst/>
              <a:rect l="l" t="t" r="r" b="b"/>
              <a:pathLst>
                <a:path w="591586" h="310582">
                  <a:moveTo>
                    <a:pt x="0" y="0"/>
                  </a:moveTo>
                  <a:lnTo>
                    <a:pt x="591586" y="0"/>
                  </a:lnTo>
                  <a:lnTo>
                    <a:pt x="591586" y="310583"/>
                  </a:lnTo>
                  <a:lnTo>
                    <a:pt x="0" y="310583"/>
                  </a:lnTo>
                  <a:lnTo>
                    <a:pt x="0" y="0"/>
                  </a:lnTo>
                  <a:close/>
                </a:path>
              </a:pathLst>
            </a:custGeom>
            <a:blipFill>
              <a:blip>
                <a:extLst>
                  <a:ext uri="{96DAC541-7B7A-43D3-8B79-37D633B846F1}">
                    <asvg:svgBlip xmlns:asvg="http://schemas.microsoft.com/office/drawing/2016/SVG/main" r:embed="rId11"/>
                  </a:ext>
                </a:extLst>
              </a:blip>
              <a:stretch>
                <a:fillRect/>
              </a:stretch>
            </a:blipFill>
          </p:spPr>
          <p:txBody>
            <a:bodyPr/>
            <a:lstStyle/>
            <a:p>
              <a:endParaRPr lang="en-US"/>
            </a:p>
          </p:txBody>
        </p:sp>
        <p:grpSp>
          <p:nvGrpSpPr>
            <p:cNvPr id="46" name="Group 46"/>
            <p:cNvGrpSpPr/>
            <p:nvPr/>
          </p:nvGrpSpPr>
          <p:grpSpPr>
            <a:xfrm>
              <a:off x="875597" y="1484961"/>
              <a:ext cx="3746312" cy="775797"/>
              <a:chOff x="0" y="0"/>
              <a:chExt cx="797762" cy="165203"/>
            </a:xfrm>
          </p:grpSpPr>
          <p:sp>
            <p:nvSpPr>
              <p:cNvPr id="47" name="Freeform 47"/>
              <p:cNvSpPr/>
              <p:nvPr/>
            </p:nvSpPr>
            <p:spPr>
              <a:xfrm>
                <a:off x="0" y="0"/>
                <a:ext cx="797762" cy="165203"/>
              </a:xfrm>
              <a:custGeom>
                <a:avLst/>
                <a:gdLst/>
                <a:ahLst/>
                <a:cxnLst/>
                <a:rect l="l" t="t" r="r" b="b"/>
                <a:pathLst>
                  <a:path w="797762" h="165203">
                    <a:moveTo>
                      <a:pt x="82601" y="0"/>
                    </a:moveTo>
                    <a:lnTo>
                      <a:pt x="715161" y="0"/>
                    </a:lnTo>
                    <a:cubicBezTo>
                      <a:pt x="760780" y="0"/>
                      <a:pt x="797762" y="36982"/>
                      <a:pt x="797762" y="82601"/>
                    </a:cubicBezTo>
                    <a:lnTo>
                      <a:pt x="797762" y="82601"/>
                    </a:lnTo>
                    <a:cubicBezTo>
                      <a:pt x="797762" y="128221"/>
                      <a:pt x="760780" y="165203"/>
                      <a:pt x="715161" y="165203"/>
                    </a:cubicBezTo>
                    <a:lnTo>
                      <a:pt x="82601" y="165203"/>
                    </a:lnTo>
                    <a:cubicBezTo>
                      <a:pt x="36982" y="165203"/>
                      <a:pt x="0" y="128221"/>
                      <a:pt x="0" y="82601"/>
                    </a:cubicBezTo>
                    <a:lnTo>
                      <a:pt x="0" y="82601"/>
                    </a:lnTo>
                    <a:cubicBezTo>
                      <a:pt x="0" y="36982"/>
                      <a:pt x="36982" y="0"/>
                      <a:pt x="82601" y="0"/>
                    </a:cubicBezTo>
                    <a:close/>
                  </a:path>
                </a:pathLst>
              </a:custGeom>
              <a:solidFill>
                <a:srgbClr val="363535"/>
              </a:solidFill>
            </p:spPr>
            <p:txBody>
              <a:bodyPr/>
              <a:lstStyle/>
              <a:p>
                <a:endParaRPr lang="en-US"/>
              </a:p>
            </p:txBody>
          </p:sp>
          <p:sp>
            <p:nvSpPr>
              <p:cNvPr id="48" name="TextBox 48"/>
              <p:cNvSpPr txBox="1"/>
              <p:nvPr/>
            </p:nvSpPr>
            <p:spPr>
              <a:xfrm>
                <a:off x="0" y="-47625"/>
                <a:ext cx="797762" cy="212828"/>
              </a:xfrm>
              <a:prstGeom prst="rect">
                <a:avLst/>
              </a:prstGeom>
            </p:spPr>
            <p:txBody>
              <a:bodyPr lIns="52273" tIns="52273" rIns="52273" bIns="52273" rtlCol="0" anchor="ctr"/>
              <a:lstStyle/>
              <a:p>
                <a:pPr algn="ctr">
                  <a:lnSpc>
                    <a:spcPts val="2339"/>
                  </a:lnSpc>
                </a:pPr>
                <a:endParaRPr/>
              </a:p>
            </p:txBody>
          </p:sp>
        </p:grpSp>
        <p:grpSp>
          <p:nvGrpSpPr>
            <p:cNvPr id="49" name="Group 49"/>
            <p:cNvGrpSpPr/>
            <p:nvPr/>
          </p:nvGrpSpPr>
          <p:grpSpPr>
            <a:xfrm>
              <a:off x="1089481" y="1633357"/>
              <a:ext cx="412259" cy="508812"/>
              <a:chOff x="0" y="0"/>
              <a:chExt cx="658562" cy="812800"/>
            </a:xfrm>
          </p:grpSpPr>
          <p:sp>
            <p:nvSpPr>
              <p:cNvPr id="50" name="Freeform 50"/>
              <p:cNvSpPr/>
              <p:nvPr/>
            </p:nvSpPr>
            <p:spPr>
              <a:xfrm>
                <a:off x="0" y="0"/>
                <a:ext cx="658562" cy="812800"/>
              </a:xfrm>
              <a:custGeom>
                <a:avLst/>
                <a:gdLst/>
                <a:ahLst/>
                <a:cxnLst/>
                <a:rect l="l" t="t" r="r" b="b"/>
                <a:pathLst>
                  <a:path w="658562" h="812800">
                    <a:moveTo>
                      <a:pt x="329281" y="0"/>
                    </a:moveTo>
                    <a:cubicBezTo>
                      <a:pt x="147424" y="0"/>
                      <a:pt x="0" y="181951"/>
                      <a:pt x="0" y="406400"/>
                    </a:cubicBezTo>
                    <a:cubicBezTo>
                      <a:pt x="0" y="630849"/>
                      <a:pt x="147424" y="812800"/>
                      <a:pt x="329281" y="812800"/>
                    </a:cubicBezTo>
                    <a:cubicBezTo>
                      <a:pt x="511138" y="812800"/>
                      <a:pt x="658562" y="630849"/>
                      <a:pt x="658562" y="406400"/>
                    </a:cubicBezTo>
                    <a:cubicBezTo>
                      <a:pt x="658562" y="181951"/>
                      <a:pt x="511138" y="0"/>
                      <a:pt x="329281" y="0"/>
                    </a:cubicBezTo>
                    <a:close/>
                  </a:path>
                </a:pathLst>
              </a:custGeom>
              <a:blipFill>
                <a:blip r:embed="rId8"/>
                <a:stretch>
                  <a:fillRect l="-155679" t="-3152" b="-34610"/>
                </a:stretch>
              </a:blipFill>
              <a:ln w="9525" cap="sq">
                <a:solidFill>
                  <a:srgbClr val="000000"/>
                </a:solidFill>
                <a:prstDash val="solid"/>
                <a:miter/>
              </a:ln>
            </p:spPr>
            <p:txBody>
              <a:bodyPr/>
              <a:lstStyle/>
              <a:p>
                <a:endParaRPr lang="en-US"/>
              </a:p>
            </p:txBody>
          </p:sp>
        </p:grpSp>
        <p:sp>
          <p:nvSpPr>
            <p:cNvPr id="51" name="TextBox 51"/>
            <p:cNvSpPr txBox="1"/>
            <p:nvPr/>
          </p:nvSpPr>
          <p:spPr>
            <a:xfrm>
              <a:off x="1797706" y="1895257"/>
              <a:ext cx="600633" cy="230405"/>
            </a:xfrm>
            <a:prstGeom prst="rect">
              <a:avLst/>
            </a:prstGeom>
          </p:spPr>
          <p:txBody>
            <a:bodyPr wrap="square" lIns="0" tIns="0" rIns="0" bIns="0" rtlCol="0" anchor="t">
              <a:spAutoFit/>
            </a:bodyPr>
            <a:lstStyle/>
            <a:p>
              <a:pPr algn="ctr">
                <a:lnSpc>
                  <a:spcPts val="1352"/>
                </a:lnSpc>
                <a:spcBef>
                  <a:spcPct val="0"/>
                </a:spcBef>
              </a:pPr>
              <a:r>
                <a:rPr lang="en-US" sz="1126" dirty="0">
                  <a:solidFill>
                    <a:srgbClr val="FFFFFF"/>
                  </a:solidFill>
                  <a:latin typeface="Calibri (MS)"/>
                  <a:ea typeface="Calibri (MS)"/>
                  <a:cs typeface="Calibri (MS)"/>
                  <a:sym typeface="Calibri (MS)"/>
                </a:rPr>
                <a:t>Jon J</a:t>
              </a:r>
            </a:p>
          </p:txBody>
        </p:sp>
        <p:grpSp>
          <p:nvGrpSpPr>
            <p:cNvPr id="52" name="Group 52"/>
            <p:cNvGrpSpPr/>
            <p:nvPr/>
          </p:nvGrpSpPr>
          <p:grpSpPr>
            <a:xfrm>
              <a:off x="1490433" y="1440097"/>
              <a:ext cx="949804" cy="583096"/>
              <a:chOff x="0" y="0"/>
              <a:chExt cx="1559557" cy="957431"/>
            </a:xfrm>
          </p:grpSpPr>
          <p:sp>
            <p:nvSpPr>
              <p:cNvPr id="53" name="Freeform 53"/>
              <p:cNvSpPr/>
              <p:nvPr/>
            </p:nvSpPr>
            <p:spPr>
              <a:xfrm>
                <a:off x="0" y="0"/>
                <a:ext cx="1559557" cy="957431"/>
              </a:xfrm>
              <a:custGeom>
                <a:avLst/>
                <a:gdLst/>
                <a:ahLst/>
                <a:cxnLst/>
                <a:rect l="l" t="t" r="r" b="b"/>
                <a:pathLst>
                  <a:path w="1559557" h="957431">
                    <a:moveTo>
                      <a:pt x="0" y="0"/>
                    </a:moveTo>
                    <a:lnTo>
                      <a:pt x="1559557" y="0"/>
                    </a:lnTo>
                    <a:lnTo>
                      <a:pt x="1559557" y="957431"/>
                    </a:lnTo>
                    <a:lnTo>
                      <a:pt x="0" y="957431"/>
                    </a:lnTo>
                    <a:close/>
                  </a:path>
                </a:pathLst>
              </a:custGeom>
              <a:blipFill>
                <a:blip r:embed="rId3">
                  <a:alphaModFix amt="0"/>
                </a:blip>
                <a:stretch>
                  <a:fillRect t="-300064" r="-1131272" b="-381525"/>
                </a:stretch>
              </a:blipFill>
            </p:spPr>
            <p:txBody>
              <a:bodyPr/>
              <a:lstStyle/>
              <a:p>
                <a:endParaRPr lang="en-US"/>
              </a:p>
            </p:txBody>
          </p:sp>
          <p:sp>
            <p:nvSpPr>
              <p:cNvPr id="54" name="TextBox 54"/>
              <p:cNvSpPr txBox="1"/>
              <p:nvPr/>
            </p:nvSpPr>
            <p:spPr>
              <a:xfrm>
                <a:off x="0" y="19050"/>
                <a:ext cx="1559557" cy="938381"/>
              </a:xfrm>
              <a:prstGeom prst="rect">
                <a:avLst/>
              </a:prstGeom>
            </p:spPr>
            <p:txBody>
              <a:bodyPr lIns="0" tIns="0" rIns="0" bIns="0" rtlCol="0" anchor="ctr"/>
              <a:lstStyle/>
              <a:p>
                <a:pPr algn="ctr">
                  <a:lnSpc>
                    <a:spcPts val="2133"/>
                  </a:lnSpc>
                </a:pPr>
                <a:r>
                  <a:rPr lang="en-US" sz="2000" b="1">
                    <a:solidFill>
                      <a:srgbClr val="FFFFFF"/>
                    </a:solidFill>
                    <a:latin typeface="Arial Bold"/>
                    <a:ea typeface="Arial Bold"/>
                    <a:cs typeface="Arial Bold"/>
                    <a:sym typeface="Arial Bold"/>
                  </a:rPr>
                  <a:t>Jon</a:t>
                </a:r>
              </a:p>
            </p:txBody>
          </p:sp>
        </p:grpSp>
        <p:sp>
          <p:nvSpPr>
            <p:cNvPr id="55" name="Freeform 55"/>
            <p:cNvSpPr/>
            <p:nvPr/>
          </p:nvSpPr>
          <p:spPr>
            <a:xfrm rot="5400000">
              <a:off x="3965801" y="1745233"/>
              <a:ext cx="384374" cy="201796"/>
            </a:xfrm>
            <a:custGeom>
              <a:avLst/>
              <a:gdLst/>
              <a:ahLst/>
              <a:cxnLst/>
              <a:rect l="l" t="t" r="r" b="b"/>
              <a:pathLst>
                <a:path w="384374" h="201796">
                  <a:moveTo>
                    <a:pt x="0" y="0"/>
                  </a:moveTo>
                  <a:lnTo>
                    <a:pt x="384374" y="0"/>
                  </a:lnTo>
                  <a:lnTo>
                    <a:pt x="384374" y="201796"/>
                  </a:lnTo>
                  <a:lnTo>
                    <a:pt x="0" y="201796"/>
                  </a:lnTo>
                  <a:lnTo>
                    <a:pt x="0" y="0"/>
                  </a:lnTo>
                  <a:close/>
                </a:path>
              </a:pathLst>
            </a:custGeom>
            <a:blipFill>
              <a:blip>
                <a:extLst>
                  <a:ext uri="{96DAC541-7B7A-43D3-8B79-37D633B846F1}">
                    <asvg:svgBlip xmlns:asvg="http://schemas.microsoft.com/office/drawing/2016/SVG/main" r:embed="rId11"/>
                  </a:ext>
                </a:extLst>
              </a:blip>
              <a:stretch>
                <a:fillRect/>
              </a:stretch>
            </a:blipFill>
          </p:spPr>
          <p:txBody>
            <a:bodyPr/>
            <a:lstStyle/>
            <a:p>
              <a:endParaRPr lang="en-US"/>
            </a:p>
          </p:txBody>
        </p:sp>
        <p:grpSp>
          <p:nvGrpSpPr>
            <p:cNvPr id="56" name="Group 56"/>
            <p:cNvGrpSpPr/>
            <p:nvPr/>
          </p:nvGrpSpPr>
          <p:grpSpPr>
            <a:xfrm>
              <a:off x="893722" y="4243429"/>
              <a:ext cx="1071613" cy="434701"/>
              <a:chOff x="0" y="0"/>
              <a:chExt cx="2360231" cy="957431"/>
            </a:xfrm>
          </p:grpSpPr>
          <p:sp>
            <p:nvSpPr>
              <p:cNvPr id="57" name="Freeform 57"/>
              <p:cNvSpPr/>
              <p:nvPr/>
            </p:nvSpPr>
            <p:spPr>
              <a:xfrm>
                <a:off x="0" y="0"/>
                <a:ext cx="2360231" cy="957431"/>
              </a:xfrm>
              <a:custGeom>
                <a:avLst/>
                <a:gdLst/>
                <a:ahLst/>
                <a:cxnLst/>
                <a:rect l="l" t="t" r="r" b="b"/>
                <a:pathLst>
                  <a:path w="2360231" h="957431">
                    <a:moveTo>
                      <a:pt x="0" y="0"/>
                    </a:moveTo>
                    <a:lnTo>
                      <a:pt x="2360231" y="0"/>
                    </a:lnTo>
                    <a:lnTo>
                      <a:pt x="2360231" y="957431"/>
                    </a:lnTo>
                    <a:lnTo>
                      <a:pt x="0" y="957431"/>
                    </a:lnTo>
                    <a:close/>
                  </a:path>
                </a:pathLst>
              </a:custGeom>
              <a:blipFill>
                <a:blip r:embed="rId3">
                  <a:alphaModFix amt="0"/>
                </a:blip>
                <a:stretch>
                  <a:fillRect t="-300064" r="-713581" b="-381525"/>
                </a:stretch>
              </a:blipFill>
            </p:spPr>
            <p:txBody>
              <a:bodyPr/>
              <a:lstStyle/>
              <a:p>
                <a:endParaRPr lang="en-US"/>
              </a:p>
            </p:txBody>
          </p:sp>
          <p:sp>
            <p:nvSpPr>
              <p:cNvPr id="58" name="TextBox 58"/>
              <p:cNvSpPr txBox="1"/>
              <p:nvPr/>
            </p:nvSpPr>
            <p:spPr>
              <a:xfrm>
                <a:off x="0" y="0"/>
                <a:ext cx="2360231" cy="957431"/>
              </a:xfrm>
              <a:prstGeom prst="rect">
                <a:avLst/>
              </a:prstGeom>
            </p:spPr>
            <p:txBody>
              <a:bodyPr lIns="0" tIns="0" rIns="0" bIns="0" rtlCol="0" anchor="ctr"/>
              <a:lstStyle/>
              <a:p>
                <a:pPr algn="ctr">
                  <a:lnSpc>
                    <a:spcPts val="1280"/>
                  </a:lnSpc>
                </a:pPr>
                <a:r>
                  <a:rPr lang="en-US" sz="1200">
                    <a:solidFill>
                      <a:srgbClr val="FFFFFF"/>
                    </a:solidFill>
                    <a:latin typeface="Arial"/>
                    <a:ea typeface="Arial"/>
                    <a:cs typeface="Arial"/>
                    <a:sym typeface="Arial"/>
                  </a:rPr>
                  <a:t>SETTINGS</a:t>
                </a:r>
              </a:p>
            </p:txBody>
          </p:sp>
        </p:grpSp>
        <p:grpSp>
          <p:nvGrpSpPr>
            <p:cNvPr id="59" name="Group 59"/>
            <p:cNvGrpSpPr/>
            <p:nvPr/>
          </p:nvGrpSpPr>
          <p:grpSpPr>
            <a:xfrm>
              <a:off x="893722" y="4659205"/>
              <a:ext cx="3621976" cy="339911"/>
              <a:chOff x="0" y="0"/>
              <a:chExt cx="903586" cy="84799"/>
            </a:xfrm>
          </p:grpSpPr>
          <p:sp>
            <p:nvSpPr>
              <p:cNvPr id="60" name="Freeform 60"/>
              <p:cNvSpPr/>
              <p:nvPr/>
            </p:nvSpPr>
            <p:spPr>
              <a:xfrm>
                <a:off x="0" y="0"/>
                <a:ext cx="903586" cy="84799"/>
              </a:xfrm>
              <a:custGeom>
                <a:avLst/>
                <a:gdLst/>
                <a:ahLst/>
                <a:cxnLst/>
                <a:rect l="l" t="t" r="r" b="b"/>
                <a:pathLst>
                  <a:path w="903586" h="84799">
                    <a:moveTo>
                      <a:pt x="42399" y="0"/>
                    </a:moveTo>
                    <a:lnTo>
                      <a:pt x="861187" y="0"/>
                    </a:lnTo>
                    <a:cubicBezTo>
                      <a:pt x="872432" y="0"/>
                      <a:pt x="883216" y="4467"/>
                      <a:pt x="891167" y="12418"/>
                    </a:cubicBezTo>
                    <a:cubicBezTo>
                      <a:pt x="899119" y="20370"/>
                      <a:pt x="903586" y="31154"/>
                      <a:pt x="903586" y="42399"/>
                    </a:cubicBezTo>
                    <a:lnTo>
                      <a:pt x="903586" y="42399"/>
                    </a:lnTo>
                    <a:cubicBezTo>
                      <a:pt x="903586" y="65816"/>
                      <a:pt x="884603" y="84799"/>
                      <a:pt x="861187" y="84799"/>
                    </a:cubicBezTo>
                    <a:lnTo>
                      <a:pt x="42399" y="84799"/>
                    </a:lnTo>
                    <a:cubicBezTo>
                      <a:pt x="18983" y="84799"/>
                      <a:pt x="0" y="65816"/>
                      <a:pt x="0" y="42399"/>
                    </a:cubicBezTo>
                    <a:lnTo>
                      <a:pt x="0" y="42399"/>
                    </a:lnTo>
                    <a:cubicBezTo>
                      <a:pt x="0" y="18983"/>
                      <a:pt x="18983" y="0"/>
                      <a:pt x="42399" y="0"/>
                    </a:cubicBezTo>
                    <a:close/>
                  </a:path>
                </a:pathLst>
              </a:custGeom>
              <a:solidFill>
                <a:srgbClr val="363535"/>
              </a:solidFill>
            </p:spPr>
            <p:txBody>
              <a:bodyPr/>
              <a:lstStyle/>
              <a:p>
                <a:endParaRPr lang="en-US"/>
              </a:p>
            </p:txBody>
          </p:sp>
          <p:sp>
            <p:nvSpPr>
              <p:cNvPr id="61" name="TextBox 61"/>
              <p:cNvSpPr txBox="1"/>
              <p:nvPr/>
            </p:nvSpPr>
            <p:spPr>
              <a:xfrm>
                <a:off x="0" y="-47625"/>
                <a:ext cx="903586" cy="132424"/>
              </a:xfrm>
              <a:prstGeom prst="rect">
                <a:avLst/>
              </a:prstGeom>
            </p:spPr>
            <p:txBody>
              <a:bodyPr lIns="44620" tIns="44620" rIns="44620" bIns="44620" rtlCol="0" anchor="ctr"/>
              <a:lstStyle/>
              <a:p>
                <a:pPr algn="ctr">
                  <a:lnSpc>
                    <a:spcPts val="2340"/>
                  </a:lnSpc>
                </a:pPr>
                <a:endParaRPr/>
              </a:p>
            </p:txBody>
          </p:sp>
        </p:grpSp>
        <p:grpSp>
          <p:nvGrpSpPr>
            <p:cNvPr id="62" name="Group 62"/>
            <p:cNvGrpSpPr/>
            <p:nvPr/>
          </p:nvGrpSpPr>
          <p:grpSpPr>
            <a:xfrm>
              <a:off x="1638525" y="4659205"/>
              <a:ext cx="1448645" cy="339911"/>
              <a:chOff x="0" y="0"/>
              <a:chExt cx="2786659" cy="653864"/>
            </a:xfrm>
          </p:grpSpPr>
          <p:sp>
            <p:nvSpPr>
              <p:cNvPr id="63" name="Freeform 63"/>
              <p:cNvSpPr/>
              <p:nvPr/>
            </p:nvSpPr>
            <p:spPr>
              <a:xfrm>
                <a:off x="0" y="0"/>
                <a:ext cx="2786659" cy="653864"/>
              </a:xfrm>
              <a:custGeom>
                <a:avLst/>
                <a:gdLst/>
                <a:ahLst/>
                <a:cxnLst/>
                <a:rect l="l" t="t" r="r" b="b"/>
                <a:pathLst>
                  <a:path w="2786659" h="653864">
                    <a:moveTo>
                      <a:pt x="0" y="0"/>
                    </a:moveTo>
                    <a:lnTo>
                      <a:pt x="2786659" y="0"/>
                    </a:lnTo>
                    <a:lnTo>
                      <a:pt x="2786659" y="653864"/>
                    </a:lnTo>
                    <a:lnTo>
                      <a:pt x="0" y="653864"/>
                    </a:lnTo>
                    <a:close/>
                  </a:path>
                </a:pathLst>
              </a:custGeom>
              <a:blipFill>
                <a:blip r:embed="rId3">
                  <a:alphaModFix amt="0"/>
                </a:blip>
                <a:stretch>
                  <a:fillRect t="-439375" r="-589083" b="-605081"/>
                </a:stretch>
              </a:blipFill>
            </p:spPr>
            <p:txBody>
              <a:bodyPr/>
              <a:lstStyle/>
              <a:p>
                <a:endParaRPr lang="en-US"/>
              </a:p>
            </p:txBody>
          </p:sp>
          <p:sp>
            <p:nvSpPr>
              <p:cNvPr id="64" name="TextBox 64"/>
              <p:cNvSpPr txBox="1"/>
              <p:nvPr/>
            </p:nvSpPr>
            <p:spPr>
              <a:xfrm>
                <a:off x="0" y="9525"/>
                <a:ext cx="2786659" cy="644339"/>
              </a:xfrm>
              <a:prstGeom prst="rect">
                <a:avLst/>
              </a:prstGeom>
            </p:spPr>
            <p:txBody>
              <a:bodyPr lIns="0" tIns="0" rIns="0" bIns="0" rtlCol="0" anchor="ctr"/>
              <a:lstStyle/>
              <a:p>
                <a:pPr algn="l">
                  <a:lnSpc>
                    <a:spcPts val="1066"/>
                  </a:lnSpc>
                </a:pPr>
                <a:r>
                  <a:rPr lang="en-US" sz="1000" b="1">
                    <a:solidFill>
                      <a:srgbClr val="FFFFFF"/>
                    </a:solidFill>
                    <a:latin typeface="Arial Bold"/>
                    <a:ea typeface="Arial Bold"/>
                    <a:cs typeface="Arial Bold"/>
                    <a:sym typeface="Arial Bold"/>
                  </a:rPr>
                  <a:t>Notifications</a:t>
                </a:r>
              </a:p>
            </p:txBody>
          </p:sp>
        </p:grpSp>
        <p:sp>
          <p:nvSpPr>
            <p:cNvPr id="65" name="Freeform 65"/>
            <p:cNvSpPr/>
            <p:nvPr/>
          </p:nvSpPr>
          <p:spPr>
            <a:xfrm rot="5400000">
              <a:off x="4158185" y="4789115"/>
              <a:ext cx="152556" cy="80092"/>
            </a:xfrm>
            <a:custGeom>
              <a:avLst/>
              <a:gdLst/>
              <a:ahLst/>
              <a:cxnLst/>
              <a:rect l="l" t="t" r="r" b="b"/>
              <a:pathLst>
                <a:path w="152556" h="80092">
                  <a:moveTo>
                    <a:pt x="0" y="0"/>
                  </a:moveTo>
                  <a:lnTo>
                    <a:pt x="152556" y="0"/>
                  </a:lnTo>
                  <a:lnTo>
                    <a:pt x="152556" y="80092"/>
                  </a:lnTo>
                  <a:lnTo>
                    <a:pt x="0" y="80092"/>
                  </a:lnTo>
                  <a:lnTo>
                    <a:pt x="0" y="0"/>
                  </a:lnTo>
                  <a:close/>
                </a:path>
              </a:pathLst>
            </a:custGeom>
            <a:blipFill>
              <a:blip>
                <a:extLst>
                  <a:ext uri="{96DAC541-7B7A-43D3-8B79-37D633B846F1}">
                    <asvg:svgBlip xmlns:asvg="http://schemas.microsoft.com/office/drawing/2016/SVG/main" r:embed="rId11"/>
                  </a:ext>
                </a:extLst>
              </a:blip>
              <a:stretch>
                <a:fillRect/>
              </a:stretch>
            </a:blipFill>
          </p:spPr>
          <p:txBody>
            <a:bodyPr/>
            <a:lstStyle/>
            <a:p>
              <a:endParaRPr lang="en-US"/>
            </a:p>
          </p:txBody>
        </p:sp>
        <p:grpSp>
          <p:nvGrpSpPr>
            <p:cNvPr id="66" name="Group 66"/>
            <p:cNvGrpSpPr/>
            <p:nvPr/>
          </p:nvGrpSpPr>
          <p:grpSpPr>
            <a:xfrm>
              <a:off x="893722" y="5059405"/>
              <a:ext cx="3621976" cy="339911"/>
              <a:chOff x="0" y="0"/>
              <a:chExt cx="903586" cy="84799"/>
            </a:xfrm>
          </p:grpSpPr>
          <p:sp>
            <p:nvSpPr>
              <p:cNvPr id="67" name="Freeform 67"/>
              <p:cNvSpPr/>
              <p:nvPr/>
            </p:nvSpPr>
            <p:spPr>
              <a:xfrm>
                <a:off x="0" y="0"/>
                <a:ext cx="903586" cy="84799"/>
              </a:xfrm>
              <a:custGeom>
                <a:avLst/>
                <a:gdLst/>
                <a:ahLst/>
                <a:cxnLst/>
                <a:rect l="l" t="t" r="r" b="b"/>
                <a:pathLst>
                  <a:path w="903586" h="84799">
                    <a:moveTo>
                      <a:pt x="42399" y="0"/>
                    </a:moveTo>
                    <a:lnTo>
                      <a:pt x="861187" y="0"/>
                    </a:lnTo>
                    <a:cubicBezTo>
                      <a:pt x="872432" y="0"/>
                      <a:pt x="883216" y="4467"/>
                      <a:pt x="891167" y="12418"/>
                    </a:cubicBezTo>
                    <a:cubicBezTo>
                      <a:pt x="899119" y="20370"/>
                      <a:pt x="903586" y="31154"/>
                      <a:pt x="903586" y="42399"/>
                    </a:cubicBezTo>
                    <a:lnTo>
                      <a:pt x="903586" y="42399"/>
                    </a:lnTo>
                    <a:cubicBezTo>
                      <a:pt x="903586" y="65816"/>
                      <a:pt x="884603" y="84799"/>
                      <a:pt x="861187" y="84799"/>
                    </a:cubicBezTo>
                    <a:lnTo>
                      <a:pt x="42399" y="84799"/>
                    </a:lnTo>
                    <a:cubicBezTo>
                      <a:pt x="18983" y="84799"/>
                      <a:pt x="0" y="65816"/>
                      <a:pt x="0" y="42399"/>
                    </a:cubicBezTo>
                    <a:lnTo>
                      <a:pt x="0" y="42399"/>
                    </a:lnTo>
                    <a:cubicBezTo>
                      <a:pt x="0" y="18983"/>
                      <a:pt x="18983" y="0"/>
                      <a:pt x="42399" y="0"/>
                    </a:cubicBezTo>
                    <a:close/>
                  </a:path>
                </a:pathLst>
              </a:custGeom>
              <a:solidFill>
                <a:srgbClr val="363535"/>
              </a:solidFill>
            </p:spPr>
            <p:txBody>
              <a:bodyPr/>
              <a:lstStyle/>
              <a:p>
                <a:endParaRPr lang="en-US"/>
              </a:p>
            </p:txBody>
          </p:sp>
          <p:sp>
            <p:nvSpPr>
              <p:cNvPr id="68" name="TextBox 68"/>
              <p:cNvSpPr txBox="1"/>
              <p:nvPr/>
            </p:nvSpPr>
            <p:spPr>
              <a:xfrm>
                <a:off x="0" y="-47625"/>
                <a:ext cx="903586" cy="132424"/>
              </a:xfrm>
              <a:prstGeom prst="rect">
                <a:avLst/>
              </a:prstGeom>
            </p:spPr>
            <p:txBody>
              <a:bodyPr lIns="44620" tIns="44620" rIns="44620" bIns="44620" rtlCol="0" anchor="ctr"/>
              <a:lstStyle/>
              <a:p>
                <a:pPr algn="ctr">
                  <a:lnSpc>
                    <a:spcPts val="2340"/>
                  </a:lnSpc>
                </a:pPr>
                <a:endParaRPr/>
              </a:p>
            </p:txBody>
          </p:sp>
        </p:grpSp>
        <p:grpSp>
          <p:nvGrpSpPr>
            <p:cNvPr id="69" name="Group 69"/>
            <p:cNvGrpSpPr/>
            <p:nvPr/>
          </p:nvGrpSpPr>
          <p:grpSpPr>
            <a:xfrm>
              <a:off x="1638525" y="5059405"/>
              <a:ext cx="1448645" cy="339911"/>
              <a:chOff x="0" y="0"/>
              <a:chExt cx="2786659" cy="653864"/>
            </a:xfrm>
          </p:grpSpPr>
          <p:sp>
            <p:nvSpPr>
              <p:cNvPr id="70" name="Freeform 70"/>
              <p:cNvSpPr/>
              <p:nvPr/>
            </p:nvSpPr>
            <p:spPr>
              <a:xfrm>
                <a:off x="0" y="0"/>
                <a:ext cx="2786659" cy="653864"/>
              </a:xfrm>
              <a:custGeom>
                <a:avLst/>
                <a:gdLst/>
                <a:ahLst/>
                <a:cxnLst/>
                <a:rect l="l" t="t" r="r" b="b"/>
                <a:pathLst>
                  <a:path w="2786659" h="653864">
                    <a:moveTo>
                      <a:pt x="0" y="0"/>
                    </a:moveTo>
                    <a:lnTo>
                      <a:pt x="2786659" y="0"/>
                    </a:lnTo>
                    <a:lnTo>
                      <a:pt x="2786659" y="653864"/>
                    </a:lnTo>
                    <a:lnTo>
                      <a:pt x="0" y="653864"/>
                    </a:lnTo>
                    <a:close/>
                  </a:path>
                </a:pathLst>
              </a:custGeom>
              <a:blipFill>
                <a:blip r:embed="rId3">
                  <a:alphaModFix amt="0"/>
                </a:blip>
                <a:stretch>
                  <a:fillRect t="-439375" r="-589083" b="-605081"/>
                </a:stretch>
              </a:blipFill>
            </p:spPr>
            <p:txBody>
              <a:bodyPr/>
              <a:lstStyle/>
              <a:p>
                <a:endParaRPr lang="en-US"/>
              </a:p>
            </p:txBody>
          </p:sp>
          <p:sp>
            <p:nvSpPr>
              <p:cNvPr id="71" name="TextBox 71"/>
              <p:cNvSpPr txBox="1"/>
              <p:nvPr/>
            </p:nvSpPr>
            <p:spPr>
              <a:xfrm>
                <a:off x="0" y="9525"/>
                <a:ext cx="2786659" cy="644339"/>
              </a:xfrm>
              <a:prstGeom prst="rect">
                <a:avLst/>
              </a:prstGeom>
            </p:spPr>
            <p:txBody>
              <a:bodyPr lIns="0" tIns="0" rIns="0" bIns="0" rtlCol="0" anchor="ctr"/>
              <a:lstStyle/>
              <a:p>
                <a:pPr algn="l">
                  <a:lnSpc>
                    <a:spcPts val="1066"/>
                  </a:lnSpc>
                </a:pPr>
                <a:r>
                  <a:rPr lang="en-US" sz="1000" b="1">
                    <a:solidFill>
                      <a:srgbClr val="FFFFFF"/>
                    </a:solidFill>
                    <a:latin typeface="Arial Bold"/>
                    <a:ea typeface="Arial Bold"/>
                    <a:cs typeface="Arial Bold"/>
                    <a:sym typeface="Arial Bold"/>
                  </a:rPr>
                  <a:t>Privacy</a:t>
                </a:r>
              </a:p>
            </p:txBody>
          </p:sp>
        </p:grpSp>
        <p:sp>
          <p:nvSpPr>
            <p:cNvPr id="72" name="Freeform 72"/>
            <p:cNvSpPr/>
            <p:nvPr/>
          </p:nvSpPr>
          <p:spPr>
            <a:xfrm rot="5400000">
              <a:off x="4158185" y="5189314"/>
              <a:ext cx="152556" cy="80092"/>
            </a:xfrm>
            <a:custGeom>
              <a:avLst/>
              <a:gdLst/>
              <a:ahLst/>
              <a:cxnLst/>
              <a:rect l="l" t="t" r="r" b="b"/>
              <a:pathLst>
                <a:path w="152556" h="80092">
                  <a:moveTo>
                    <a:pt x="0" y="0"/>
                  </a:moveTo>
                  <a:lnTo>
                    <a:pt x="152556" y="0"/>
                  </a:lnTo>
                  <a:lnTo>
                    <a:pt x="152556" y="80092"/>
                  </a:lnTo>
                  <a:lnTo>
                    <a:pt x="0" y="80092"/>
                  </a:lnTo>
                  <a:lnTo>
                    <a:pt x="0" y="0"/>
                  </a:lnTo>
                  <a:close/>
                </a:path>
              </a:pathLst>
            </a:custGeom>
            <a:blipFill>
              <a:blip>
                <a:extLst>
                  <a:ext uri="{96DAC541-7B7A-43D3-8B79-37D633B846F1}">
                    <asvg:svgBlip xmlns:asvg="http://schemas.microsoft.com/office/drawing/2016/SVG/main" r:embed="rId11"/>
                  </a:ext>
                </a:extLst>
              </a:blip>
              <a:stretch>
                <a:fillRect/>
              </a:stretch>
            </a:blipFill>
          </p:spPr>
          <p:txBody>
            <a:bodyPr/>
            <a:lstStyle/>
            <a:p>
              <a:endParaRPr lang="en-US"/>
            </a:p>
          </p:txBody>
        </p:sp>
        <p:grpSp>
          <p:nvGrpSpPr>
            <p:cNvPr id="73" name="Group 73"/>
            <p:cNvGrpSpPr/>
            <p:nvPr/>
          </p:nvGrpSpPr>
          <p:grpSpPr>
            <a:xfrm>
              <a:off x="893722" y="5458615"/>
              <a:ext cx="3621976" cy="339911"/>
              <a:chOff x="0" y="0"/>
              <a:chExt cx="903586" cy="84799"/>
            </a:xfrm>
          </p:grpSpPr>
          <p:sp>
            <p:nvSpPr>
              <p:cNvPr id="74" name="Freeform 74"/>
              <p:cNvSpPr/>
              <p:nvPr/>
            </p:nvSpPr>
            <p:spPr>
              <a:xfrm>
                <a:off x="0" y="0"/>
                <a:ext cx="903586" cy="84799"/>
              </a:xfrm>
              <a:custGeom>
                <a:avLst/>
                <a:gdLst/>
                <a:ahLst/>
                <a:cxnLst/>
                <a:rect l="l" t="t" r="r" b="b"/>
                <a:pathLst>
                  <a:path w="903586" h="84799">
                    <a:moveTo>
                      <a:pt x="42399" y="0"/>
                    </a:moveTo>
                    <a:lnTo>
                      <a:pt x="861187" y="0"/>
                    </a:lnTo>
                    <a:cubicBezTo>
                      <a:pt x="872432" y="0"/>
                      <a:pt x="883216" y="4467"/>
                      <a:pt x="891167" y="12418"/>
                    </a:cubicBezTo>
                    <a:cubicBezTo>
                      <a:pt x="899119" y="20370"/>
                      <a:pt x="903586" y="31154"/>
                      <a:pt x="903586" y="42399"/>
                    </a:cubicBezTo>
                    <a:lnTo>
                      <a:pt x="903586" y="42399"/>
                    </a:lnTo>
                    <a:cubicBezTo>
                      <a:pt x="903586" y="65816"/>
                      <a:pt x="884603" y="84799"/>
                      <a:pt x="861187" y="84799"/>
                    </a:cubicBezTo>
                    <a:lnTo>
                      <a:pt x="42399" y="84799"/>
                    </a:lnTo>
                    <a:cubicBezTo>
                      <a:pt x="18983" y="84799"/>
                      <a:pt x="0" y="65816"/>
                      <a:pt x="0" y="42399"/>
                    </a:cubicBezTo>
                    <a:lnTo>
                      <a:pt x="0" y="42399"/>
                    </a:lnTo>
                    <a:cubicBezTo>
                      <a:pt x="0" y="18983"/>
                      <a:pt x="18983" y="0"/>
                      <a:pt x="42399" y="0"/>
                    </a:cubicBezTo>
                    <a:close/>
                  </a:path>
                </a:pathLst>
              </a:custGeom>
              <a:solidFill>
                <a:srgbClr val="363535"/>
              </a:solidFill>
            </p:spPr>
            <p:txBody>
              <a:bodyPr/>
              <a:lstStyle/>
              <a:p>
                <a:endParaRPr lang="en-US"/>
              </a:p>
            </p:txBody>
          </p:sp>
          <p:sp>
            <p:nvSpPr>
              <p:cNvPr id="75" name="TextBox 75"/>
              <p:cNvSpPr txBox="1"/>
              <p:nvPr/>
            </p:nvSpPr>
            <p:spPr>
              <a:xfrm>
                <a:off x="0" y="-47625"/>
                <a:ext cx="903586" cy="132424"/>
              </a:xfrm>
              <a:prstGeom prst="rect">
                <a:avLst/>
              </a:prstGeom>
            </p:spPr>
            <p:txBody>
              <a:bodyPr lIns="44620" tIns="44620" rIns="44620" bIns="44620" rtlCol="0" anchor="ctr"/>
              <a:lstStyle/>
              <a:p>
                <a:pPr algn="ctr">
                  <a:lnSpc>
                    <a:spcPts val="2340"/>
                  </a:lnSpc>
                </a:pPr>
                <a:endParaRPr/>
              </a:p>
            </p:txBody>
          </p:sp>
        </p:grpSp>
        <p:grpSp>
          <p:nvGrpSpPr>
            <p:cNvPr id="76" name="Group 76"/>
            <p:cNvGrpSpPr/>
            <p:nvPr/>
          </p:nvGrpSpPr>
          <p:grpSpPr>
            <a:xfrm>
              <a:off x="1638525" y="5458615"/>
              <a:ext cx="1448645" cy="339911"/>
              <a:chOff x="0" y="0"/>
              <a:chExt cx="2786659" cy="653864"/>
            </a:xfrm>
          </p:grpSpPr>
          <p:sp>
            <p:nvSpPr>
              <p:cNvPr id="77" name="Freeform 77"/>
              <p:cNvSpPr/>
              <p:nvPr/>
            </p:nvSpPr>
            <p:spPr>
              <a:xfrm>
                <a:off x="0" y="0"/>
                <a:ext cx="2786659" cy="653864"/>
              </a:xfrm>
              <a:custGeom>
                <a:avLst/>
                <a:gdLst/>
                <a:ahLst/>
                <a:cxnLst/>
                <a:rect l="l" t="t" r="r" b="b"/>
                <a:pathLst>
                  <a:path w="2786659" h="653864">
                    <a:moveTo>
                      <a:pt x="0" y="0"/>
                    </a:moveTo>
                    <a:lnTo>
                      <a:pt x="2786659" y="0"/>
                    </a:lnTo>
                    <a:lnTo>
                      <a:pt x="2786659" y="653864"/>
                    </a:lnTo>
                    <a:lnTo>
                      <a:pt x="0" y="653864"/>
                    </a:lnTo>
                    <a:close/>
                  </a:path>
                </a:pathLst>
              </a:custGeom>
              <a:blipFill>
                <a:blip r:embed="rId3">
                  <a:alphaModFix amt="0"/>
                </a:blip>
                <a:stretch>
                  <a:fillRect t="-439375" r="-589083" b="-605081"/>
                </a:stretch>
              </a:blipFill>
            </p:spPr>
            <p:txBody>
              <a:bodyPr/>
              <a:lstStyle/>
              <a:p>
                <a:endParaRPr lang="en-US"/>
              </a:p>
            </p:txBody>
          </p:sp>
          <p:sp>
            <p:nvSpPr>
              <p:cNvPr id="78" name="TextBox 78"/>
              <p:cNvSpPr txBox="1"/>
              <p:nvPr/>
            </p:nvSpPr>
            <p:spPr>
              <a:xfrm>
                <a:off x="0" y="9525"/>
                <a:ext cx="2786659" cy="644339"/>
              </a:xfrm>
              <a:prstGeom prst="rect">
                <a:avLst/>
              </a:prstGeom>
            </p:spPr>
            <p:txBody>
              <a:bodyPr lIns="0" tIns="0" rIns="0" bIns="0" rtlCol="0" anchor="ctr"/>
              <a:lstStyle/>
              <a:p>
                <a:pPr algn="l">
                  <a:lnSpc>
                    <a:spcPts val="1066"/>
                  </a:lnSpc>
                </a:pPr>
                <a:r>
                  <a:rPr lang="en-US" sz="1000" b="1">
                    <a:solidFill>
                      <a:srgbClr val="FFFFFF"/>
                    </a:solidFill>
                    <a:latin typeface="Arial Bold"/>
                    <a:ea typeface="Arial Bold"/>
                    <a:cs typeface="Arial Bold"/>
                    <a:sym typeface="Arial Bold"/>
                  </a:rPr>
                  <a:t>Email</a:t>
                </a:r>
              </a:p>
            </p:txBody>
          </p:sp>
        </p:grpSp>
        <p:sp>
          <p:nvSpPr>
            <p:cNvPr id="79" name="Freeform 79"/>
            <p:cNvSpPr/>
            <p:nvPr/>
          </p:nvSpPr>
          <p:spPr>
            <a:xfrm rot="5400000">
              <a:off x="4158185" y="5588525"/>
              <a:ext cx="152556" cy="80092"/>
            </a:xfrm>
            <a:custGeom>
              <a:avLst/>
              <a:gdLst/>
              <a:ahLst/>
              <a:cxnLst/>
              <a:rect l="l" t="t" r="r" b="b"/>
              <a:pathLst>
                <a:path w="152556" h="80092">
                  <a:moveTo>
                    <a:pt x="0" y="0"/>
                  </a:moveTo>
                  <a:lnTo>
                    <a:pt x="152556" y="0"/>
                  </a:lnTo>
                  <a:lnTo>
                    <a:pt x="152556" y="80092"/>
                  </a:lnTo>
                  <a:lnTo>
                    <a:pt x="0" y="80092"/>
                  </a:lnTo>
                  <a:lnTo>
                    <a:pt x="0" y="0"/>
                  </a:lnTo>
                  <a:close/>
                </a:path>
              </a:pathLst>
            </a:custGeom>
            <a:blipFill>
              <a:blip>
                <a:extLst>
                  <a:ext uri="{96DAC541-7B7A-43D3-8B79-37D633B846F1}">
                    <asvg:svgBlip xmlns:asvg="http://schemas.microsoft.com/office/drawing/2016/SVG/main" r:embed="rId11"/>
                  </a:ext>
                </a:extLst>
              </a:blip>
              <a:stretch>
                <a:fillRect/>
              </a:stretch>
            </a:blipFill>
          </p:spPr>
          <p:txBody>
            <a:bodyPr/>
            <a:lstStyle/>
            <a:p>
              <a:endParaRPr lang="en-US"/>
            </a:p>
          </p:txBody>
        </p:sp>
        <p:grpSp>
          <p:nvGrpSpPr>
            <p:cNvPr id="80" name="Group 80"/>
            <p:cNvGrpSpPr/>
            <p:nvPr/>
          </p:nvGrpSpPr>
          <p:grpSpPr>
            <a:xfrm>
              <a:off x="893722" y="5857826"/>
              <a:ext cx="3621976" cy="339911"/>
              <a:chOff x="0" y="0"/>
              <a:chExt cx="903586" cy="84799"/>
            </a:xfrm>
          </p:grpSpPr>
          <p:sp>
            <p:nvSpPr>
              <p:cNvPr id="81" name="Freeform 81"/>
              <p:cNvSpPr/>
              <p:nvPr/>
            </p:nvSpPr>
            <p:spPr>
              <a:xfrm>
                <a:off x="0" y="0"/>
                <a:ext cx="903586" cy="84799"/>
              </a:xfrm>
              <a:custGeom>
                <a:avLst/>
                <a:gdLst/>
                <a:ahLst/>
                <a:cxnLst/>
                <a:rect l="l" t="t" r="r" b="b"/>
                <a:pathLst>
                  <a:path w="903586" h="84799">
                    <a:moveTo>
                      <a:pt x="42399" y="0"/>
                    </a:moveTo>
                    <a:lnTo>
                      <a:pt x="861187" y="0"/>
                    </a:lnTo>
                    <a:cubicBezTo>
                      <a:pt x="872432" y="0"/>
                      <a:pt x="883216" y="4467"/>
                      <a:pt x="891167" y="12418"/>
                    </a:cubicBezTo>
                    <a:cubicBezTo>
                      <a:pt x="899119" y="20370"/>
                      <a:pt x="903586" y="31154"/>
                      <a:pt x="903586" y="42399"/>
                    </a:cubicBezTo>
                    <a:lnTo>
                      <a:pt x="903586" y="42399"/>
                    </a:lnTo>
                    <a:cubicBezTo>
                      <a:pt x="903586" y="65816"/>
                      <a:pt x="884603" y="84799"/>
                      <a:pt x="861187" y="84799"/>
                    </a:cubicBezTo>
                    <a:lnTo>
                      <a:pt x="42399" y="84799"/>
                    </a:lnTo>
                    <a:cubicBezTo>
                      <a:pt x="18983" y="84799"/>
                      <a:pt x="0" y="65816"/>
                      <a:pt x="0" y="42399"/>
                    </a:cubicBezTo>
                    <a:lnTo>
                      <a:pt x="0" y="42399"/>
                    </a:lnTo>
                    <a:cubicBezTo>
                      <a:pt x="0" y="18983"/>
                      <a:pt x="18983" y="0"/>
                      <a:pt x="42399" y="0"/>
                    </a:cubicBezTo>
                    <a:close/>
                  </a:path>
                </a:pathLst>
              </a:custGeom>
              <a:solidFill>
                <a:srgbClr val="363535"/>
              </a:solidFill>
            </p:spPr>
            <p:txBody>
              <a:bodyPr/>
              <a:lstStyle/>
              <a:p>
                <a:endParaRPr lang="en-US"/>
              </a:p>
            </p:txBody>
          </p:sp>
          <p:sp>
            <p:nvSpPr>
              <p:cNvPr id="82" name="TextBox 82"/>
              <p:cNvSpPr txBox="1"/>
              <p:nvPr/>
            </p:nvSpPr>
            <p:spPr>
              <a:xfrm>
                <a:off x="0" y="-47625"/>
                <a:ext cx="903586" cy="132424"/>
              </a:xfrm>
              <a:prstGeom prst="rect">
                <a:avLst/>
              </a:prstGeom>
            </p:spPr>
            <p:txBody>
              <a:bodyPr lIns="44620" tIns="44620" rIns="44620" bIns="44620" rtlCol="0" anchor="ctr"/>
              <a:lstStyle/>
              <a:p>
                <a:pPr algn="ctr">
                  <a:lnSpc>
                    <a:spcPts val="2340"/>
                  </a:lnSpc>
                </a:pPr>
                <a:endParaRPr/>
              </a:p>
            </p:txBody>
          </p:sp>
        </p:grpSp>
        <p:grpSp>
          <p:nvGrpSpPr>
            <p:cNvPr id="83" name="Group 83"/>
            <p:cNvGrpSpPr/>
            <p:nvPr/>
          </p:nvGrpSpPr>
          <p:grpSpPr>
            <a:xfrm>
              <a:off x="1638525" y="5859882"/>
              <a:ext cx="2239440" cy="339911"/>
              <a:chOff x="0" y="0"/>
              <a:chExt cx="4307858" cy="653864"/>
            </a:xfrm>
          </p:grpSpPr>
          <p:sp>
            <p:nvSpPr>
              <p:cNvPr id="84" name="Freeform 84"/>
              <p:cNvSpPr/>
              <p:nvPr/>
            </p:nvSpPr>
            <p:spPr>
              <a:xfrm>
                <a:off x="0" y="0"/>
                <a:ext cx="4307858" cy="653864"/>
              </a:xfrm>
              <a:custGeom>
                <a:avLst/>
                <a:gdLst/>
                <a:ahLst/>
                <a:cxnLst/>
                <a:rect l="l" t="t" r="r" b="b"/>
                <a:pathLst>
                  <a:path w="4307858" h="653864">
                    <a:moveTo>
                      <a:pt x="0" y="0"/>
                    </a:moveTo>
                    <a:lnTo>
                      <a:pt x="4307858" y="0"/>
                    </a:lnTo>
                    <a:lnTo>
                      <a:pt x="4307858" y="653864"/>
                    </a:lnTo>
                    <a:lnTo>
                      <a:pt x="0" y="653864"/>
                    </a:lnTo>
                    <a:close/>
                  </a:path>
                </a:pathLst>
              </a:custGeom>
              <a:blipFill>
                <a:blip r:embed="rId3">
                  <a:alphaModFix amt="0"/>
                </a:blip>
                <a:stretch>
                  <a:fillRect t="-439375" r="-345752" b="-605081"/>
                </a:stretch>
              </a:blipFill>
            </p:spPr>
            <p:txBody>
              <a:bodyPr/>
              <a:lstStyle/>
              <a:p>
                <a:endParaRPr lang="en-US"/>
              </a:p>
            </p:txBody>
          </p:sp>
          <p:sp>
            <p:nvSpPr>
              <p:cNvPr id="85" name="TextBox 85"/>
              <p:cNvSpPr txBox="1"/>
              <p:nvPr/>
            </p:nvSpPr>
            <p:spPr>
              <a:xfrm>
                <a:off x="0" y="9525"/>
                <a:ext cx="4307858" cy="644339"/>
              </a:xfrm>
              <a:prstGeom prst="rect">
                <a:avLst/>
              </a:prstGeom>
            </p:spPr>
            <p:txBody>
              <a:bodyPr lIns="0" tIns="0" rIns="0" bIns="0" rtlCol="0" anchor="ctr"/>
              <a:lstStyle/>
              <a:p>
                <a:pPr algn="l">
                  <a:lnSpc>
                    <a:spcPts val="1066"/>
                  </a:lnSpc>
                </a:pPr>
                <a:r>
                  <a:rPr lang="en-US" sz="1000" b="1">
                    <a:solidFill>
                      <a:srgbClr val="FFFFFF"/>
                    </a:solidFill>
                    <a:latin typeface="Arial Bold"/>
                    <a:ea typeface="Arial Bold"/>
                    <a:cs typeface="Arial Bold"/>
                    <a:sym typeface="Arial Bold"/>
                  </a:rPr>
                  <a:t>Time Zone: Americas</a:t>
                </a:r>
              </a:p>
            </p:txBody>
          </p:sp>
        </p:grpSp>
        <p:sp>
          <p:nvSpPr>
            <p:cNvPr id="86" name="Freeform 86"/>
            <p:cNvSpPr/>
            <p:nvPr/>
          </p:nvSpPr>
          <p:spPr>
            <a:xfrm rot="5400000">
              <a:off x="4158185" y="5987735"/>
              <a:ext cx="152556" cy="80092"/>
            </a:xfrm>
            <a:custGeom>
              <a:avLst/>
              <a:gdLst/>
              <a:ahLst/>
              <a:cxnLst/>
              <a:rect l="l" t="t" r="r" b="b"/>
              <a:pathLst>
                <a:path w="152556" h="80092">
                  <a:moveTo>
                    <a:pt x="0" y="0"/>
                  </a:moveTo>
                  <a:lnTo>
                    <a:pt x="152556" y="0"/>
                  </a:lnTo>
                  <a:lnTo>
                    <a:pt x="152556" y="80092"/>
                  </a:lnTo>
                  <a:lnTo>
                    <a:pt x="0" y="80092"/>
                  </a:lnTo>
                  <a:lnTo>
                    <a:pt x="0" y="0"/>
                  </a:lnTo>
                  <a:close/>
                </a:path>
              </a:pathLst>
            </a:custGeom>
            <a:blipFill>
              <a:blip>
                <a:extLst>
                  <a:ext uri="{96DAC541-7B7A-43D3-8B79-37D633B846F1}">
                    <asvg:svgBlip xmlns:asvg="http://schemas.microsoft.com/office/drawing/2016/SVG/main" r:embed="rId11"/>
                  </a:ext>
                </a:extLst>
              </a:blip>
              <a:stretch>
                <a:fillRect/>
              </a:stretch>
            </a:blipFill>
          </p:spPr>
          <p:txBody>
            <a:bodyPr/>
            <a:lstStyle/>
            <a:p>
              <a:endParaRPr lang="en-US"/>
            </a:p>
          </p:txBody>
        </p:sp>
        <p:grpSp>
          <p:nvGrpSpPr>
            <p:cNvPr id="87" name="Group 87"/>
            <p:cNvGrpSpPr/>
            <p:nvPr/>
          </p:nvGrpSpPr>
          <p:grpSpPr>
            <a:xfrm>
              <a:off x="893722" y="6257036"/>
              <a:ext cx="3621976" cy="339911"/>
              <a:chOff x="0" y="0"/>
              <a:chExt cx="903586" cy="84799"/>
            </a:xfrm>
          </p:grpSpPr>
          <p:sp>
            <p:nvSpPr>
              <p:cNvPr id="88" name="Freeform 88"/>
              <p:cNvSpPr/>
              <p:nvPr/>
            </p:nvSpPr>
            <p:spPr>
              <a:xfrm>
                <a:off x="0" y="0"/>
                <a:ext cx="903586" cy="84799"/>
              </a:xfrm>
              <a:custGeom>
                <a:avLst/>
                <a:gdLst/>
                <a:ahLst/>
                <a:cxnLst/>
                <a:rect l="l" t="t" r="r" b="b"/>
                <a:pathLst>
                  <a:path w="903586" h="84799">
                    <a:moveTo>
                      <a:pt x="42399" y="0"/>
                    </a:moveTo>
                    <a:lnTo>
                      <a:pt x="861187" y="0"/>
                    </a:lnTo>
                    <a:cubicBezTo>
                      <a:pt x="872432" y="0"/>
                      <a:pt x="883216" y="4467"/>
                      <a:pt x="891167" y="12418"/>
                    </a:cubicBezTo>
                    <a:cubicBezTo>
                      <a:pt x="899119" y="20370"/>
                      <a:pt x="903586" y="31154"/>
                      <a:pt x="903586" y="42399"/>
                    </a:cubicBezTo>
                    <a:lnTo>
                      <a:pt x="903586" y="42399"/>
                    </a:lnTo>
                    <a:cubicBezTo>
                      <a:pt x="903586" y="65816"/>
                      <a:pt x="884603" y="84799"/>
                      <a:pt x="861187" y="84799"/>
                    </a:cubicBezTo>
                    <a:lnTo>
                      <a:pt x="42399" y="84799"/>
                    </a:lnTo>
                    <a:cubicBezTo>
                      <a:pt x="18983" y="84799"/>
                      <a:pt x="0" y="65816"/>
                      <a:pt x="0" y="42399"/>
                    </a:cubicBezTo>
                    <a:lnTo>
                      <a:pt x="0" y="42399"/>
                    </a:lnTo>
                    <a:cubicBezTo>
                      <a:pt x="0" y="18983"/>
                      <a:pt x="18983" y="0"/>
                      <a:pt x="42399" y="0"/>
                    </a:cubicBezTo>
                    <a:close/>
                  </a:path>
                </a:pathLst>
              </a:custGeom>
              <a:solidFill>
                <a:srgbClr val="363535"/>
              </a:solidFill>
            </p:spPr>
            <p:txBody>
              <a:bodyPr/>
              <a:lstStyle/>
              <a:p>
                <a:endParaRPr lang="en-US"/>
              </a:p>
            </p:txBody>
          </p:sp>
          <p:sp>
            <p:nvSpPr>
              <p:cNvPr id="89" name="TextBox 89"/>
              <p:cNvSpPr txBox="1"/>
              <p:nvPr/>
            </p:nvSpPr>
            <p:spPr>
              <a:xfrm>
                <a:off x="0" y="-47625"/>
                <a:ext cx="903586" cy="132424"/>
              </a:xfrm>
              <a:prstGeom prst="rect">
                <a:avLst/>
              </a:prstGeom>
            </p:spPr>
            <p:txBody>
              <a:bodyPr lIns="44620" tIns="44620" rIns="44620" bIns="44620" rtlCol="0" anchor="ctr"/>
              <a:lstStyle/>
              <a:p>
                <a:pPr algn="ctr">
                  <a:lnSpc>
                    <a:spcPts val="2340"/>
                  </a:lnSpc>
                </a:pPr>
                <a:endParaRPr/>
              </a:p>
            </p:txBody>
          </p:sp>
        </p:grpSp>
        <p:grpSp>
          <p:nvGrpSpPr>
            <p:cNvPr id="90" name="Group 90"/>
            <p:cNvGrpSpPr/>
            <p:nvPr/>
          </p:nvGrpSpPr>
          <p:grpSpPr>
            <a:xfrm>
              <a:off x="1638525" y="6257036"/>
              <a:ext cx="1448645" cy="339911"/>
              <a:chOff x="0" y="0"/>
              <a:chExt cx="2786659" cy="653864"/>
            </a:xfrm>
          </p:grpSpPr>
          <p:sp>
            <p:nvSpPr>
              <p:cNvPr id="91" name="Freeform 91"/>
              <p:cNvSpPr/>
              <p:nvPr/>
            </p:nvSpPr>
            <p:spPr>
              <a:xfrm>
                <a:off x="0" y="0"/>
                <a:ext cx="2786659" cy="653864"/>
              </a:xfrm>
              <a:custGeom>
                <a:avLst/>
                <a:gdLst/>
                <a:ahLst/>
                <a:cxnLst/>
                <a:rect l="l" t="t" r="r" b="b"/>
                <a:pathLst>
                  <a:path w="2786659" h="653864">
                    <a:moveTo>
                      <a:pt x="0" y="0"/>
                    </a:moveTo>
                    <a:lnTo>
                      <a:pt x="2786659" y="0"/>
                    </a:lnTo>
                    <a:lnTo>
                      <a:pt x="2786659" y="653864"/>
                    </a:lnTo>
                    <a:lnTo>
                      <a:pt x="0" y="653864"/>
                    </a:lnTo>
                    <a:close/>
                  </a:path>
                </a:pathLst>
              </a:custGeom>
              <a:blipFill>
                <a:blip r:embed="rId3">
                  <a:alphaModFix amt="0"/>
                </a:blip>
                <a:stretch>
                  <a:fillRect t="-439375" r="-589083" b="-605081"/>
                </a:stretch>
              </a:blipFill>
            </p:spPr>
            <p:txBody>
              <a:bodyPr/>
              <a:lstStyle/>
              <a:p>
                <a:endParaRPr lang="en-US"/>
              </a:p>
            </p:txBody>
          </p:sp>
          <p:sp>
            <p:nvSpPr>
              <p:cNvPr id="92" name="TextBox 92"/>
              <p:cNvSpPr txBox="1"/>
              <p:nvPr/>
            </p:nvSpPr>
            <p:spPr>
              <a:xfrm>
                <a:off x="0" y="9525"/>
                <a:ext cx="2786659" cy="644339"/>
              </a:xfrm>
              <a:prstGeom prst="rect">
                <a:avLst/>
              </a:prstGeom>
            </p:spPr>
            <p:txBody>
              <a:bodyPr lIns="0" tIns="0" rIns="0" bIns="0" rtlCol="0" anchor="ctr"/>
              <a:lstStyle/>
              <a:p>
                <a:pPr algn="l">
                  <a:lnSpc>
                    <a:spcPts val="1066"/>
                  </a:lnSpc>
                </a:pPr>
                <a:r>
                  <a:rPr lang="en-US" sz="1000" b="1">
                    <a:solidFill>
                      <a:srgbClr val="FFFFFF"/>
                    </a:solidFill>
                    <a:latin typeface="Arial Bold"/>
                    <a:ea typeface="Arial Bold"/>
                    <a:cs typeface="Arial Bold"/>
                    <a:sym typeface="Arial Bold"/>
                  </a:rPr>
                  <a:t>Other</a:t>
                </a:r>
              </a:p>
            </p:txBody>
          </p:sp>
        </p:grpSp>
        <p:sp>
          <p:nvSpPr>
            <p:cNvPr id="93" name="Freeform 93"/>
            <p:cNvSpPr/>
            <p:nvPr/>
          </p:nvSpPr>
          <p:spPr>
            <a:xfrm rot="5400000">
              <a:off x="4158185" y="6386946"/>
              <a:ext cx="152556" cy="80092"/>
            </a:xfrm>
            <a:custGeom>
              <a:avLst/>
              <a:gdLst/>
              <a:ahLst/>
              <a:cxnLst/>
              <a:rect l="l" t="t" r="r" b="b"/>
              <a:pathLst>
                <a:path w="152556" h="80092">
                  <a:moveTo>
                    <a:pt x="0" y="0"/>
                  </a:moveTo>
                  <a:lnTo>
                    <a:pt x="152556" y="0"/>
                  </a:lnTo>
                  <a:lnTo>
                    <a:pt x="152556" y="80092"/>
                  </a:lnTo>
                  <a:lnTo>
                    <a:pt x="0" y="80092"/>
                  </a:lnTo>
                  <a:lnTo>
                    <a:pt x="0" y="0"/>
                  </a:lnTo>
                  <a:close/>
                </a:path>
              </a:pathLst>
            </a:custGeom>
            <a:blipFill>
              <a:blip>
                <a:extLst>
                  <a:ext uri="{96DAC541-7B7A-43D3-8B79-37D633B846F1}">
                    <asvg:svgBlip xmlns:asvg="http://schemas.microsoft.com/office/drawing/2016/SVG/main" r:embed="rId11"/>
                  </a:ext>
                </a:extLst>
              </a:blip>
              <a:stretch>
                <a:fillRect/>
              </a:stretch>
            </a:blipFill>
          </p:spPr>
          <p:txBody>
            <a:bodyPr/>
            <a:lstStyle/>
            <a:p>
              <a:endParaRPr lang="en-US"/>
            </a:p>
          </p:txBody>
        </p:sp>
        <p:sp>
          <p:nvSpPr>
            <p:cNvPr id="94" name="Freeform 94"/>
            <p:cNvSpPr/>
            <p:nvPr/>
          </p:nvSpPr>
          <p:spPr>
            <a:xfrm>
              <a:off x="1063641" y="4774471"/>
              <a:ext cx="159687" cy="159687"/>
            </a:xfrm>
            <a:custGeom>
              <a:avLst/>
              <a:gdLst/>
              <a:ahLst/>
              <a:cxnLst/>
              <a:rect l="l" t="t" r="r" b="b"/>
              <a:pathLst>
                <a:path w="159687" h="159687">
                  <a:moveTo>
                    <a:pt x="0" y="0"/>
                  </a:moveTo>
                  <a:lnTo>
                    <a:pt x="159686" y="0"/>
                  </a:lnTo>
                  <a:lnTo>
                    <a:pt x="159686" y="159687"/>
                  </a:lnTo>
                  <a:lnTo>
                    <a:pt x="0" y="159687"/>
                  </a:lnTo>
                  <a:lnTo>
                    <a:pt x="0" y="0"/>
                  </a:lnTo>
                  <a:close/>
                </a:path>
              </a:pathLst>
            </a:custGeom>
            <a:blipFill>
              <a:blip r:embed="rId12"/>
              <a:stretch>
                <a:fillRect/>
              </a:stretch>
            </a:blipFill>
            <a:ln w="9525" cap="sq">
              <a:solidFill>
                <a:srgbClr val="FFFFFF"/>
              </a:solidFill>
              <a:prstDash val="solid"/>
              <a:miter/>
            </a:ln>
          </p:spPr>
          <p:txBody>
            <a:bodyPr/>
            <a:lstStyle/>
            <a:p>
              <a:endParaRPr lang="en-US"/>
            </a:p>
          </p:txBody>
        </p:sp>
        <p:grpSp>
          <p:nvGrpSpPr>
            <p:cNvPr id="95" name="Group 95"/>
            <p:cNvGrpSpPr/>
            <p:nvPr/>
          </p:nvGrpSpPr>
          <p:grpSpPr>
            <a:xfrm>
              <a:off x="1164830" y="4715973"/>
              <a:ext cx="116995" cy="116995"/>
              <a:chOff x="0" y="0"/>
              <a:chExt cx="812800" cy="812800"/>
            </a:xfrm>
          </p:grpSpPr>
          <p:sp>
            <p:nvSpPr>
              <p:cNvPr id="96" name="Freeform 9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p:spPr>
            <p:txBody>
              <a:bodyPr/>
              <a:lstStyle/>
              <a:p>
                <a:endParaRPr lang="en-US"/>
              </a:p>
            </p:txBody>
          </p:sp>
          <p:sp>
            <p:nvSpPr>
              <p:cNvPr id="97" name="TextBox 97"/>
              <p:cNvSpPr txBox="1"/>
              <p:nvPr/>
            </p:nvSpPr>
            <p:spPr>
              <a:xfrm>
                <a:off x="76200" y="28575"/>
                <a:ext cx="660400" cy="708025"/>
              </a:xfrm>
              <a:prstGeom prst="rect">
                <a:avLst/>
              </a:prstGeom>
            </p:spPr>
            <p:txBody>
              <a:bodyPr lIns="59850" tIns="59850" rIns="59850" bIns="59850" rtlCol="0" anchor="ctr"/>
              <a:lstStyle/>
              <a:p>
                <a:pPr algn="ctr">
                  <a:lnSpc>
                    <a:spcPts val="2339"/>
                  </a:lnSpc>
                </a:pPr>
                <a:endParaRPr/>
              </a:p>
            </p:txBody>
          </p:sp>
        </p:grpSp>
        <p:sp>
          <p:nvSpPr>
            <p:cNvPr id="98" name="Freeform 98"/>
            <p:cNvSpPr/>
            <p:nvPr/>
          </p:nvSpPr>
          <p:spPr>
            <a:xfrm>
              <a:off x="1063641" y="5132381"/>
              <a:ext cx="169919" cy="219250"/>
            </a:xfrm>
            <a:custGeom>
              <a:avLst/>
              <a:gdLst/>
              <a:ahLst/>
              <a:cxnLst/>
              <a:rect l="l" t="t" r="r" b="b"/>
              <a:pathLst>
                <a:path w="169919" h="219250">
                  <a:moveTo>
                    <a:pt x="0" y="0"/>
                  </a:moveTo>
                  <a:lnTo>
                    <a:pt x="169919" y="0"/>
                  </a:lnTo>
                  <a:lnTo>
                    <a:pt x="169919" y="219250"/>
                  </a:lnTo>
                  <a:lnTo>
                    <a:pt x="0" y="219250"/>
                  </a:lnTo>
                  <a:lnTo>
                    <a:pt x="0" y="0"/>
                  </a:lnTo>
                  <a:close/>
                </a:path>
              </a:pathLst>
            </a:custGeom>
            <a:blipFill>
              <a:blip>
                <a:extLst>
                  <a:ext uri="{96DAC541-7B7A-43D3-8B79-37D633B846F1}">
                    <asvg:svgBlip xmlns:asvg="http://schemas.microsoft.com/office/drawing/2016/SVG/main" r:embed="rId13"/>
                  </a:ext>
                </a:extLst>
              </a:blip>
              <a:stretch>
                <a:fillRect/>
              </a:stretch>
            </a:blipFill>
          </p:spPr>
          <p:txBody>
            <a:bodyPr/>
            <a:lstStyle/>
            <a:p>
              <a:endParaRPr lang="en-US"/>
            </a:p>
          </p:txBody>
        </p:sp>
        <p:sp>
          <p:nvSpPr>
            <p:cNvPr id="99" name="Freeform 99"/>
            <p:cNvSpPr/>
            <p:nvPr/>
          </p:nvSpPr>
          <p:spPr>
            <a:xfrm>
              <a:off x="1063641" y="5546257"/>
              <a:ext cx="218184" cy="163638"/>
            </a:xfrm>
            <a:custGeom>
              <a:avLst/>
              <a:gdLst/>
              <a:ahLst/>
              <a:cxnLst/>
              <a:rect l="l" t="t" r="r" b="b"/>
              <a:pathLst>
                <a:path w="218184" h="163638">
                  <a:moveTo>
                    <a:pt x="0" y="0"/>
                  </a:moveTo>
                  <a:lnTo>
                    <a:pt x="218184" y="0"/>
                  </a:lnTo>
                  <a:lnTo>
                    <a:pt x="218184" y="163638"/>
                  </a:lnTo>
                  <a:lnTo>
                    <a:pt x="0" y="163638"/>
                  </a:lnTo>
                  <a:lnTo>
                    <a:pt x="0" y="0"/>
                  </a:lnTo>
                  <a:close/>
                </a:path>
              </a:pathLst>
            </a:custGeom>
            <a:blipFill>
              <a:blip>
                <a:extLst>
                  <a:ext uri="{96DAC541-7B7A-43D3-8B79-37D633B846F1}">
                    <asvg:svgBlip xmlns:asvg="http://schemas.microsoft.com/office/drawing/2016/SVG/main" r:embed="rId14"/>
                  </a:ext>
                </a:extLst>
              </a:blip>
              <a:stretch>
                <a:fillRect/>
              </a:stretch>
            </a:blipFill>
          </p:spPr>
          <p:txBody>
            <a:bodyPr/>
            <a:lstStyle/>
            <a:p>
              <a:endParaRPr lang="en-US"/>
            </a:p>
          </p:txBody>
        </p:sp>
        <p:sp>
          <p:nvSpPr>
            <p:cNvPr id="100" name="Freeform 100"/>
            <p:cNvSpPr/>
            <p:nvPr/>
          </p:nvSpPr>
          <p:spPr>
            <a:xfrm>
              <a:off x="1063641" y="5926461"/>
              <a:ext cx="218184" cy="218184"/>
            </a:xfrm>
            <a:custGeom>
              <a:avLst/>
              <a:gdLst/>
              <a:ahLst/>
              <a:cxnLst/>
              <a:rect l="l" t="t" r="r" b="b"/>
              <a:pathLst>
                <a:path w="218184" h="218184">
                  <a:moveTo>
                    <a:pt x="0" y="0"/>
                  </a:moveTo>
                  <a:lnTo>
                    <a:pt x="218184" y="0"/>
                  </a:lnTo>
                  <a:lnTo>
                    <a:pt x="218184" y="218184"/>
                  </a:lnTo>
                  <a:lnTo>
                    <a:pt x="0" y="218184"/>
                  </a:lnTo>
                  <a:lnTo>
                    <a:pt x="0" y="0"/>
                  </a:lnTo>
                  <a:close/>
                </a:path>
              </a:pathLst>
            </a:custGeom>
            <a:blipFill>
              <a:blip>
                <a:extLst>
                  <a:ext uri="{96DAC541-7B7A-43D3-8B79-37D633B846F1}">
                    <asvg:svgBlip xmlns:asvg="http://schemas.microsoft.com/office/drawing/2016/SVG/main" r:embed="rId15"/>
                  </a:ext>
                </a:extLst>
              </a:blip>
              <a:stretch>
                <a:fillRect/>
              </a:stretch>
            </a:blipFill>
          </p:spPr>
          <p:txBody>
            <a:bodyPr/>
            <a:lstStyle/>
            <a:p>
              <a:endParaRPr lang="en-US"/>
            </a:p>
          </p:txBody>
        </p:sp>
        <p:sp>
          <p:nvSpPr>
            <p:cNvPr id="101" name="Freeform 101"/>
            <p:cNvSpPr/>
            <p:nvPr/>
          </p:nvSpPr>
          <p:spPr>
            <a:xfrm rot="2048640">
              <a:off x="1112619" y="6349647"/>
              <a:ext cx="71962" cy="119936"/>
            </a:xfrm>
            <a:custGeom>
              <a:avLst/>
              <a:gdLst/>
              <a:ahLst/>
              <a:cxnLst/>
              <a:rect l="l" t="t" r="r" b="b"/>
              <a:pathLst>
                <a:path w="71962" h="119936">
                  <a:moveTo>
                    <a:pt x="0" y="0"/>
                  </a:moveTo>
                  <a:lnTo>
                    <a:pt x="71962" y="0"/>
                  </a:lnTo>
                  <a:lnTo>
                    <a:pt x="71962" y="119936"/>
                  </a:lnTo>
                  <a:lnTo>
                    <a:pt x="0" y="119936"/>
                  </a:lnTo>
                  <a:lnTo>
                    <a:pt x="0" y="0"/>
                  </a:lnTo>
                  <a:close/>
                </a:path>
              </a:pathLst>
            </a:custGeom>
            <a:blipFill>
              <a:blip>
                <a:extLst>
                  <a:ext uri="{96DAC541-7B7A-43D3-8B79-37D633B846F1}">
                    <asvg:svgBlip xmlns:asvg="http://schemas.microsoft.com/office/drawing/2016/SVG/main" r:embed="rId16"/>
                  </a:ext>
                </a:extLst>
              </a:blip>
              <a:stretch>
                <a:fillRect/>
              </a:stretch>
            </a:blipFill>
          </p:spPr>
          <p:txBody>
            <a:bodyPr/>
            <a:lstStyle/>
            <a:p>
              <a:endParaRPr lang="en-US"/>
            </a:p>
          </p:txBody>
        </p:sp>
        <p:sp>
          <p:nvSpPr>
            <p:cNvPr id="102" name="Freeform 102"/>
            <p:cNvSpPr/>
            <p:nvPr/>
          </p:nvSpPr>
          <p:spPr>
            <a:xfrm rot="2048640">
              <a:off x="1044074" y="6305089"/>
              <a:ext cx="209052" cy="209052"/>
            </a:xfrm>
            <a:custGeom>
              <a:avLst/>
              <a:gdLst/>
              <a:ahLst/>
              <a:cxnLst/>
              <a:rect l="l" t="t" r="r" b="b"/>
              <a:pathLst>
                <a:path w="209052" h="209052">
                  <a:moveTo>
                    <a:pt x="0" y="0"/>
                  </a:moveTo>
                  <a:lnTo>
                    <a:pt x="209052" y="0"/>
                  </a:lnTo>
                  <a:lnTo>
                    <a:pt x="209052" y="209052"/>
                  </a:lnTo>
                  <a:lnTo>
                    <a:pt x="0" y="209052"/>
                  </a:lnTo>
                  <a:lnTo>
                    <a:pt x="0" y="0"/>
                  </a:lnTo>
                  <a:close/>
                </a:path>
              </a:pathLst>
            </a:custGeom>
            <a:blipFill>
              <a:blip>
                <a:extLst>
                  <a:ext uri="{96DAC541-7B7A-43D3-8B79-37D633B846F1}">
                    <asvg:svgBlip xmlns:asvg="http://schemas.microsoft.com/office/drawing/2016/SVG/main" r:embed="rId17"/>
                  </a:ext>
                </a:extLst>
              </a:blip>
              <a:stretch>
                <a:fillRect/>
              </a:stretch>
            </a:blipFill>
            <a:ln cap="sq">
              <a:noFill/>
              <a:prstDash val="solid"/>
              <a:miter/>
            </a:ln>
          </p:spPr>
          <p:txBody>
            <a:bodyPr/>
            <a:lstStyle/>
            <a:p>
              <a:endParaRPr lang="en-US"/>
            </a:p>
          </p:txBody>
        </p:sp>
        <p:grpSp>
          <p:nvGrpSpPr>
            <p:cNvPr id="103" name="Group 103"/>
            <p:cNvGrpSpPr/>
            <p:nvPr/>
          </p:nvGrpSpPr>
          <p:grpSpPr>
            <a:xfrm>
              <a:off x="893722" y="6986029"/>
              <a:ext cx="3621976" cy="339911"/>
              <a:chOff x="0" y="0"/>
              <a:chExt cx="903586" cy="84799"/>
            </a:xfrm>
          </p:grpSpPr>
          <p:sp>
            <p:nvSpPr>
              <p:cNvPr id="104" name="Freeform 104"/>
              <p:cNvSpPr/>
              <p:nvPr/>
            </p:nvSpPr>
            <p:spPr>
              <a:xfrm>
                <a:off x="0" y="0"/>
                <a:ext cx="903586" cy="84799"/>
              </a:xfrm>
              <a:custGeom>
                <a:avLst/>
                <a:gdLst/>
                <a:ahLst/>
                <a:cxnLst/>
                <a:rect l="l" t="t" r="r" b="b"/>
                <a:pathLst>
                  <a:path w="903586" h="84799">
                    <a:moveTo>
                      <a:pt x="42399" y="0"/>
                    </a:moveTo>
                    <a:lnTo>
                      <a:pt x="861187" y="0"/>
                    </a:lnTo>
                    <a:cubicBezTo>
                      <a:pt x="872432" y="0"/>
                      <a:pt x="883216" y="4467"/>
                      <a:pt x="891167" y="12418"/>
                    </a:cubicBezTo>
                    <a:cubicBezTo>
                      <a:pt x="899119" y="20370"/>
                      <a:pt x="903586" y="31154"/>
                      <a:pt x="903586" y="42399"/>
                    </a:cubicBezTo>
                    <a:lnTo>
                      <a:pt x="903586" y="42399"/>
                    </a:lnTo>
                    <a:cubicBezTo>
                      <a:pt x="903586" y="65816"/>
                      <a:pt x="884603" y="84799"/>
                      <a:pt x="861187" y="84799"/>
                    </a:cubicBezTo>
                    <a:lnTo>
                      <a:pt x="42399" y="84799"/>
                    </a:lnTo>
                    <a:cubicBezTo>
                      <a:pt x="18983" y="84799"/>
                      <a:pt x="0" y="65816"/>
                      <a:pt x="0" y="42399"/>
                    </a:cubicBezTo>
                    <a:lnTo>
                      <a:pt x="0" y="42399"/>
                    </a:lnTo>
                    <a:cubicBezTo>
                      <a:pt x="0" y="18983"/>
                      <a:pt x="18983" y="0"/>
                      <a:pt x="42399" y="0"/>
                    </a:cubicBezTo>
                    <a:close/>
                  </a:path>
                </a:pathLst>
              </a:custGeom>
              <a:solidFill>
                <a:srgbClr val="363535"/>
              </a:solidFill>
            </p:spPr>
            <p:txBody>
              <a:bodyPr/>
              <a:lstStyle/>
              <a:p>
                <a:endParaRPr lang="en-US"/>
              </a:p>
            </p:txBody>
          </p:sp>
          <p:sp>
            <p:nvSpPr>
              <p:cNvPr id="105" name="TextBox 105"/>
              <p:cNvSpPr txBox="1"/>
              <p:nvPr/>
            </p:nvSpPr>
            <p:spPr>
              <a:xfrm>
                <a:off x="0" y="-47625"/>
                <a:ext cx="903586" cy="132424"/>
              </a:xfrm>
              <a:prstGeom prst="rect">
                <a:avLst/>
              </a:prstGeom>
            </p:spPr>
            <p:txBody>
              <a:bodyPr lIns="44620" tIns="44620" rIns="44620" bIns="44620" rtlCol="0" anchor="ctr"/>
              <a:lstStyle/>
              <a:p>
                <a:pPr algn="ctr">
                  <a:lnSpc>
                    <a:spcPts val="2340"/>
                  </a:lnSpc>
                </a:pPr>
                <a:endParaRPr/>
              </a:p>
            </p:txBody>
          </p:sp>
        </p:grpSp>
        <p:grpSp>
          <p:nvGrpSpPr>
            <p:cNvPr id="106" name="Group 106"/>
            <p:cNvGrpSpPr/>
            <p:nvPr/>
          </p:nvGrpSpPr>
          <p:grpSpPr>
            <a:xfrm>
              <a:off x="1638525" y="6986029"/>
              <a:ext cx="1448645" cy="339911"/>
              <a:chOff x="0" y="0"/>
              <a:chExt cx="2786659" cy="653864"/>
            </a:xfrm>
          </p:grpSpPr>
          <p:sp>
            <p:nvSpPr>
              <p:cNvPr id="107" name="Freeform 107"/>
              <p:cNvSpPr/>
              <p:nvPr/>
            </p:nvSpPr>
            <p:spPr>
              <a:xfrm>
                <a:off x="0" y="0"/>
                <a:ext cx="2786659" cy="653864"/>
              </a:xfrm>
              <a:custGeom>
                <a:avLst/>
                <a:gdLst/>
                <a:ahLst/>
                <a:cxnLst/>
                <a:rect l="l" t="t" r="r" b="b"/>
                <a:pathLst>
                  <a:path w="2786659" h="653864">
                    <a:moveTo>
                      <a:pt x="0" y="0"/>
                    </a:moveTo>
                    <a:lnTo>
                      <a:pt x="2786659" y="0"/>
                    </a:lnTo>
                    <a:lnTo>
                      <a:pt x="2786659" y="653864"/>
                    </a:lnTo>
                    <a:lnTo>
                      <a:pt x="0" y="653864"/>
                    </a:lnTo>
                    <a:close/>
                  </a:path>
                </a:pathLst>
              </a:custGeom>
              <a:blipFill>
                <a:blip r:embed="rId3">
                  <a:alphaModFix amt="0"/>
                </a:blip>
                <a:stretch>
                  <a:fillRect t="-439375" r="-589083" b="-605081"/>
                </a:stretch>
              </a:blipFill>
            </p:spPr>
            <p:txBody>
              <a:bodyPr/>
              <a:lstStyle/>
              <a:p>
                <a:endParaRPr lang="en-US"/>
              </a:p>
            </p:txBody>
          </p:sp>
          <p:sp>
            <p:nvSpPr>
              <p:cNvPr id="108" name="TextBox 108"/>
              <p:cNvSpPr txBox="1"/>
              <p:nvPr/>
            </p:nvSpPr>
            <p:spPr>
              <a:xfrm>
                <a:off x="0" y="9525"/>
                <a:ext cx="2786659" cy="644339"/>
              </a:xfrm>
              <a:prstGeom prst="rect">
                <a:avLst/>
              </a:prstGeom>
            </p:spPr>
            <p:txBody>
              <a:bodyPr lIns="0" tIns="0" rIns="0" bIns="0" rtlCol="0" anchor="ctr"/>
              <a:lstStyle/>
              <a:p>
                <a:pPr algn="l">
                  <a:lnSpc>
                    <a:spcPts val="1066"/>
                  </a:lnSpc>
                </a:pPr>
                <a:r>
                  <a:rPr lang="en-US" sz="1000" b="1">
                    <a:solidFill>
                      <a:srgbClr val="FFFFFF"/>
                    </a:solidFill>
                    <a:latin typeface="Arial Bold"/>
                    <a:ea typeface="Arial Bold"/>
                    <a:cs typeface="Arial Bold"/>
                    <a:sym typeface="Arial Bold"/>
                  </a:rPr>
                  <a:t>Share BeReal.</a:t>
                </a:r>
              </a:p>
            </p:txBody>
          </p:sp>
        </p:grpSp>
        <p:sp>
          <p:nvSpPr>
            <p:cNvPr id="109" name="Freeform 109"/>
            <p:cNvSpPr/>
            <p:nvPr/>
          </p:nvSpPr>
          <p:spPr>
            <a:xfrm rot="5400000">
              <a:off x="4158185" y="7115938"/>
              <a:ext cx="152556" cy="80092"/>
            </a:xfrm>
            <a:custGeom>
              <a:avLst/>
              <a:gdLst/>
              <a:ahLst/>
              <a:cxnLst/>
              <a:rect l="l" t="t" r="r" b="b"/>
              <a:pathLst>
                <a:path w="152556" h="80092">
                  <a:moveTo>
                    <a:pt x="0" y="0"/>
                  </a:moveTo>
                  <a:lnTo>
                    <a:pt x="152556" y="0"/>
                  </a:lnTo>
                  <a:lnTo>
                    <a:pt x="152556" y="80092"/>
                  </a:lnTo>
                  <a:lnTo>
                    <a:pt x="0" y="80092"/>
                  </a:lnTo>
                  <a:lnTo>
                    <a:pt x="0" y="0"/>
                  </a:lnTo>
                  <a:close/>
                </a:path>
              </a:pathLst>
            </a:custGeom>
            <a:blipFill>
              <a:blip>
                <a:extLst>
                  <a:ext uri="{96DAC541-7B7A-43D3-8B79-37D633B846F1}">
                    <asvg:svgBlip xmlns:asvg="http://schemas.microsoft.com/office/drawing/2016/SVG/main" r:embed="rId11"/>
                  </a:ext>
                </a:extLst>
              </a:blip>
              <a:stretch>
                <a:fillRect/>
              </a:stretch>
            </a:blipFill>
          </p:spPr>
          <p:txBody>
            <a:bodyPr/>
            <a:lstStyle/>
            <a:p>
              <a:endParaRPr lang="en-US"/>
            </a:p>
          </p:txBody>
        </p:sp>
        <p:grpSp>
          <p:nvGrpSpPr>
            <p:cNvPr id="110" name="Group 110"/>
            <p:cNvGrpSpPr/>
            <p:nvPr/>
          </p:nvGrpSpPr>
          <p:grpSpPr>
            <a:xfrm>
              <a:off x="893722" y="7386228"/>
              <a:ext cx="3621976" cy="339911"/>
              <a:chOff x="0" y="0"/>
              <a:chExt cx="903586" cy="84799"/>
            </a:xfrm>
          </p:grpSpPr>
          <p:sp>
            <p:nvSpPr>
              <p:cNvPr id="111" name="Freeform 111"/>
              <p:cNvSpPr/>
              <p:nvPr/>
            </p:nvSpPr>
            <p:spPr>
              <a:xfrm>
                <a:off x="0" y="0"/>
                <a:ext cx="903586" cy="84799"/>
              </a:xfrm>
              <a:custGeom>
                <a:avLst/>
                <a:gdLst/>
                <a:ahLst/>
                <a:cxnLst/>
                <a:rect l="l" t="t" r="r" b="b"/>
                <a:pathLst>
                  <a:path w="903586" h="84799">
                    <a:moveTo>
                      <a:pt x="42399" y="0"/>
                    </a:moveTo>
                    <a:lnTo>
                      <a:pt x="861187" y="0"/>
                    </a:lnTo>
                    <a:cubicBezTo>
                      <a:pt x="872432" y="0"/>
                      <a:pt x="883216" y="4467"/>
                      <a:pt x="891167" y="12418"/>
                    </a:cubicBezTo>
                    <a:cubicBezTo>
                      <a:pt x="899119" y="20370"/>
                      <a:pt x="903586" y="31154"/>
                      <a:pt x="903586" y="42399"/>
                    </a:cubicBezTo>
                    <a:lnTo>
                      <a:pt x="903586" y="42399"/>
                    </a:lnTo>
                    <a:cubicBezTo>
                      <a:pt x="903586" y="65816"/>
                      <a:pt x="884603" y="84799"/>
                      <a:pt x="861187" y="84799"/>
                    </a:cubicBezTo>
                    <a:lnTo>
                      <a:pt x="42399" y="84799"/>
                    </a:lnTo>
                    <a:cubicBezTo>
                      <a:pt x="18983" y="84799"/>
                      <a:pt x="0" y="65816"/>
                      <a:pt x="0" y="42399"/>
                    </a:cubicBezTo>
                    <a:lnTo>
                      <a:pt x="0" y="42399"/>
                    </a:lnTo>
                    <a:cubicBezTo>
                      <a:pt x="0" y="18983"/>
                      <a:pt x="18983" y="0"/>
                      <a:pt x="42399" y="0"/>
                    </a:cubicBezTo>
                    <a:close/>
                  </a:path>
                </a:pathLst>
              </a:custGeom>
              <a:solidFill>
                <a:srgbClr val="363535"/>
              </a:solidFill>
            </p:spPr>
            <p:txBody>
              <a:bodyPr/>
              <a:lstStyle/>
              <a:p>
                <a:endParaRPr lang="en-US"/>
              </a:p>
            </p:txBody>
          </p:sp>
          <p:sp>
            <p:nvSpPr>
              <p:cNvPr id="112" name="TextBox 112"/>
              <p:cNvSpPr txBox="1"/>
              <p:nvPr/>
            </p:nvSpPr>
            <p:spPr>
              <a:xfrm>
                <a:off x="0" y="-47625"/>
                <a:ext cx="903586" cy="132424"/>
              </a:xfrm>
              <a:prstGeom prst="rect">
                <a:avLst/>
              </a:prstGeom>
            </p:spPr>
            <p:txBody>
              <a:bodyPr lIns="44620" tIns="44620" rIns="44620" bIns="44620" rtlCol="0" anchor="ctr"/>
              <a:lstStyle/>
              <a:p>
                <a:pPr algn="ctr">
                  <a:lnSpc>
                    <a:spcPts val="2340"/>
                  </a:lnSpc>
                </a:pPr>
                <a:endParaRPr/>
              </a:p>
            </p:txBody>
          </p:sp>
        </p:grpSp>
        <p:grpSp>
          <p:nvGrpSpPr>
            <p:cNvPr id="113" name="Group 113"/>
            <p:cNvGrpSpPr/>
            <p:nvPr/>
          </p:nvGrpSpPr>
          <p:grpSpPr>
            <a:xfrm>
              <a:off x="1638525" y="7386228"/>
              <a:ext cx="1448645" cy="339911"/>
              <a:chOff x="0" y="0"/>
              <a:chExt cx="2786659" cy="653864"/>
            </a:xfrm>
          </p:grpSpPr>
          <p:sp>
            <p:nvSpPr>
              <p:cNvPr id="114" name="Freeform 114"/>
              <p:cNvSpPr/>
              <p:nvPr/>
            </p:nvSpPr>
            <p:spPr>
              <a:xfrm>
                <a:off x="0" y="0"/>
                <a:ext cx="2786659" cy="653864"/>
              </a:xfrm>
              <a:custGeom>
                <a:avLst/>
                <a:gdLst/>
                <a:ahLst/>
                <a:cxnLst/>
                <a:rect l="l" t="t" r="r" b="b"/>
                <a:pathLst>
                  <a:path w="2786659" h="653864">
                    <a:moveTo>
                      <a:pt x="0" y="0"/>
                    </a:moveTo>
                    <a:lnTo>
                      <a:pt x="2786659" y="0"/>
                    </a:lnTo>
                    <a:lnTo>
                      <a:pt x="2786659" y="653864"/>
                    </a:lnTo>
                    <a:lnTo>
                      <a:pt x="0" y="653864"/>
                    </a:lnTo>
                    <a:close/>
                  </a:path>
                </a:pathLst>
              </a:custGeom>
              <a:blipFill>
                <a:blip r:embed="rId3">
                  <a:alphaModFix amt="0"/>
                </a:blip>
                <a:stretch>
                  <a:fillRect t="-439375" r="-589083" b="-605081"/>
                </a:stretch>
              </a:blipFill>
            </p:spPr>
            <p:txBody>
              <a:bodyPr/>
              <a:lstStyle/>
              <a:p>
                <a:endParaRPr lang="en-US"/>
              </a:p>
            </p:txBody>
          </p:sp>
          <p:sp>
            <p:nvSpPr>
              <p:cNvPr id="115" name="TextBox 115"/>
              <p:cNvSpPr txBox="1"/>
              <p:nvPr/>
            </p:nvSpPr>
            <p:spPr>
              <a:xfrm>
                <a:off x="0" y="9525"/>
                <a:ext cx="2786659" cy="644339"/>
              </a:xfrm>
              <a:prstGeom prst="rect">
                <a:avLst/>
              </a:prstGeom>
            </p:spPr>
            <p:txBody>
              <a:bodyPr lIns="0" tIns="0" rIns="0" bIns="0" rtlCol="0" anchor="ctr"/>
              <a:lstStyle/>
              <a:p>
                <a:pPr algn="l">
                  <a:lnSpc>
                    <a:spcPts val="1066"/>
                  </a:lnSpc>
                </a:pPr>
                <a:r>
                  <a:rPr lang="en-US" sz="1000" b="1">
                    <a:solidFill>
                      <a:srgbClr val="FFFFFF"/>
                    </a:solidFill>
                    <a:latin typeface="Arial Bold"/>
                    <a:ea typeface="Arial Bold"/>
                    <a:cs typeface="Arial Bold"/>
                    <a:sym typeface="Arial Bold"/>
                  </a:rPr>
                  <a:t>Rate BeReal.</a:t>
                </a:r>
              </a:p>
            </p:txBody>
          </p:sp>
        </p:grpSp>
        <p:sp>
          <p:nvSpPr>
            <p:cNvPr id="116" name="Freeform 116"/>
            <p:cNvSpPr/>
            <p:nvPr/>
          </p:nvSpPr>
          <p:spPr>
            <a:xfrm rot="5400000">
              <a:off x="4158185" y="7516138"/>
              <a:ext cx="152556" cy="80092"/>
            </a:xfrm>
            <a:custGeom>
              <a:avLst/>
              <a:gdLst/>
              <a:ahLst/>
              <a:cxnLst/>
              <a:rect l="l" t="t" r="r" b="b"/>
              <a:pathLst>
                <a:path w="152556" h="80092">
                  <a:moveTo>
                    <a:pt x="0" y="0"/>
                  </a:moveTo>
                  <a:lnTo>
                    <a:pt x="152556" y="0"/>
                  </a:lnTo>
                  <a:lnTo>
                    <a:pt x="152556" y="80092"/>
                  </a:lnTo>
                  <a:lnTo>
                    <a:pt x="0" y="80092"/>
                  </a:lnTo>
                  <a:lnTo>
                    <a:pt x="0" y="0"/>
                  </a:lnTo>
                  <a:close/>
                </a:path>
              </a:pathLst>
            </a:custGeom>
            <a:blipFill>
              <a:blip>
                <a:extLst>
                  <a:ext uri="{96DAC541-7B7A-43D3-8B79-37D633B846F1}">
                    <asvg:svgBlip xmlns:asvg="http://schemas.microsoft.com/office/drawing/2016/SVG/main" r:embed="rId11"/>
                  </a:ext>
                </a:extLst>
              </a:blip>
              <a:stretch>
                <a:fillRect/>
              </a:stretch>
            </a:blipFill>
          </p:spPr>
          <p:txBody>
            <a:bodyPr/>
            <a:lstStyle/>
            <a:p>
              <a:endParaRPr lang="en-US"/>
            </a:p>
          </p:txBody>
        </p:sp>
        <p:grpSp>
          <p:nvGrpSpPr>
            <p:cNvPr id="117" name="Group 117"/>
            <p:cNvGrpSpPr/>
            <p:nvPr/>
          </p:nvGrpSpPr>
          <p:grpSpPr>
            <a:xfrm>
              <a:off x="893722" y="7785439"/>
              <a:ext cx="3621976" cy="339911"/>
              <a:chOff x="0" y="0"/>
              <a:chExt cx="903586" cy="84799"/>
            </a:xfrm>
          </p:grpSpPr>
          <p:sp>
            <p:nvSpPr>
              <p:cNvPr id="118" name="Freeform 118"/>
              <p:cNvSpPr/>
              <p:nvPr/>
            </p:nvSpPr>
            <p:spPr>
              <a:xfrm>
                <a:off x="0" y="0"/>
                <a:ext cx="903586" cy="84799"/>
              </a:xfrm>
              <a:custGeom>
                <a:avLst/>
                <a:gdLst/>
                <a:ahLst/>
                <a:cxnLst/>
                <a:rect l="l" t="t" r="r" b="b"/>
                <a:pathLst>
                  <a:path w="903586" h="84799">
                    <a:moveTo>
                      <a:pt x="42399" y="0"/>
                    </a:moveTo>
                    <a:lnTo>
                      <a:pt x="861187" y="0"/>
                    </a:lnTo>
                    <a:cubicBezTo>
                      <a:pt x="872432" y="0"/>
                      <a:pt x="883216" y="4467"/>
                      <a:pt x="891167" y="12418"/>
                    </a:cubicBezTo>
                    <a:cubicBezTo>
                      <a:pt x="899119" y="20370"/>
                      <a:pt x="903586" y="31154"/>
                      <a:pt x="903586" y="42399"/>
                    </a:cubicBezTo>
                    <a:lnTo>
                      <a:pt x="903586" y="42399"/>
                    </a:lnTo>
                    <a:cubicBezTo>
                      <a:pt x="903586" y="65816"/>
                      <a:pt x="884603" y="84799"/>
                      <a:pt x="861187" y="84799"/>
                    </a:cubicBezTo>
                    <a:lnTo>
                      <a:pt x="42399" y="84799"/>
                    </a:lnTo>
                    <a:cubicBezTo>
                      <a:pt x="18983" y="84799"/>
                      <a:pt x="0" y="65816"/>
                      <a:pt x="0" y="42399"/>
                    </a:cubicBezTo>
                    <a:lnTo>
                      <a:pt x="0" y="42399"/>
                    </a:lnTo>
                    <a:cubicBezTo>
                      <a:pt x="0" y="18983"/>
                      <a:pt x="18983" y="0"/>
                      <a:pt x="42399" y="0"/>
                    </a:cubicBezTo>
                    <a:close/>
                  </a:path>
                </a:pathLst>
              </a:custGeom>
              <a:solidFill>
                <a:srgbClr val="363535"/>
              </a:solidFill>
            </p:spPr>
            <p:txBody>
              <a:bodyPr/>
              <a:lstStyle/>
              <a:p>
                <a:endParaRPr lang="en-US"/>
              </a:p>
            </p:txBody>
          </p:sp>
          <p:sp>
            <p:nvSpPr>
              <p:cNvPr id="119" name="TextBox 119"/>
              <p:cNvSpPr txBox="1"/>
              <p:nvPr/>
            </p:nvSpPr>
            <p:spPr>
              <a:xfrm>
                <a:off x="0" y="-47625"/>
                <a:ext cx="903586" cy="132424"/>
              </a:xfrm>
              <a:prstGeom prst="rect">
                <a:avLst/>
              </a:prstGeom>
            </p:spPr>
            <p:txBody>
              <a:bodyPr lIns="44620" tIns="44620" rIns="44620" bIns="44620" rtlCol="0" anchor="ctr"/>
              <a:lstStyle/>
              <a:p>
                <a:pPr algn="ctr">
                  <a:lnSpc>
                    <a:spcPts val="2340"/>
                  </a:lnSpc>
                </a:pPr>
                <a:endParaRPr/>
              </a:p>
            </p:txBody>
          </p:sp>
        </p:grpSp>
        <p:grpSp>
          <p:nvGrpSpPr>
            <p:cNvPr id="120" name="Group 120"/>
            <p:cNvGrpSpPr/>
            <p:nvPr/>
          </p:nvGrpSpPr>
          <p:grpSpPr>
            <a:xfrm>
              <a:off x="1638525" y="7785439"/>
              <a:ext cx="1448645" cy="339911"/>
              <a:chOff x="0" y="0"/>
              <a:chExt cx="2786659" cy="653864"/>
            </a:xfrm>
          </p:grpSpPr>
          <p:sp>
            <p:nvSpPr>
              <p:cNvPr id="121" name="Freeform 121"/>
              <p:cNvSpPr/>
              <p:nvPr/>
            </p:nvSpPr>
            <p:spPr>
              <a:xfrm>
                <a:off x="0" y="0"/>
                <a:ext cx="2786659" cy="653864"/>
              </a:xfrm>
              <a:custGeom>
                <a:avLst/>
                <a:gdLst/>
                <a:ahLst/>
                <a:cxnLst/>
                <a:rect l="l" t="t" r="r" b="b"/>
                <a:pathLst>
                  <a:path w="2786659" h="653864">
                    <a:moveTo>
                      <a:pt x="0" y="0"/>
                    </a:moveTo>
                    <a:lnTo>
                      <a:pt x="2786659" y="0"/>
                    </a:lnTo>
                    <a:lnTo>
                      <a:pt x="2786659" y="653864"/>
                    </a:lnTo>
                    <a:lnTo>
                      <a:pt x="0" y="653864"/>
                    </a:lnTo>
                    <a:close/>
                  </a:path>
                </a:pathLst>
              </a:custGeom>
              <a:blipFill>
                <a:blip r:embed="rId3">
                  <a:alphaModFix amt="0"/>
                </a:blip>
                <a:stretch>
                  <a:fillRect t="-439375" r="-589083" b="-605081"/>
                </a:stretch>
              </a:blipFill>
            </p:spPr>
            <p:txBody>
              <a:bodyPr/>
              <a:lstStyle/>
              <a:p>
                <a:endParaRPr lang="en-US"/>
              </a:p>
            </p:txBody>
          </p:sp>
          <p:sp>
            <p:nvSpPr>
              <p:cNvPr id="122" name="TextBox 122"/>
              <p:cNvSpPr txBox="1"/>
              <p:nvPr/>
            </p:nvSpPr>
            <p:spPr>
              <a:xfrm>
                <a:off x="0" y="9525"/>
                <a:ext cx="2786659" cy="644339"/>
              </a:xfrm>
              <a:prstGeom prst="rect">
                <a:avLst/>
              </a:prstGeom>
            </p:spPr>
            <p:txBody>
              <a:bodyPr lIns="0" tIns="0" rIns="0" bIns="0" rtlCol="0" anchor="ctr"/>
              <a:lstStyle/>
              <a:p>
                <a:pPr algn="l">
                  <a:lnSpc>
                    <a:spcPts val="1066"/>
                  </a:lnSpc>
                </a:pPr>
                <a:r>
                  <a:rPr lang="en-US" sz="1000" b="1">
                    <a:solidFill>
                      <a:srgbClr val="FFFFFF"/>
                    </a:solidFill>
                    <a:latin typeface="Arial Bold"/>
                    <a:ea typeface="Arial Bold"/>
                    <a:cs typeface="Arial Bold"/>
                    <a:sym typeface="Arial Bold"/>
                  </a:rPr>
                  <a:t>Help</a:t>
                </a:r>
              </a:p>
            </p:txBody>
          </p:sp>
        </p:grpSp>
        <p:sp>
          <p:nvSpPr>
            <p:cNvPr id="123" name="Freeform 123"/>
            <p:cNvSpPr/>
            <p:nvPr/>
          </p:nvSpPr>
          <p:spPr>
            <a:xfrm rot="5400000">
              <a:off x="4158185" y="7915348"/>
              <a:ext cx="152556" cy="80092"/>
            </a:xfrm>
            <a:custGeom>
              <a:avLst/>
              <a:gdLst/>
              <a:ahLst/>
              <a:cxnLst/>
              <a:rect l="l" t="t" r="r" b="b"/>
              <a:pathLst>
                <a:path w="152556" h="80092">
                  <a:moveTo>
                    <a:pt x="0" y="0"/>
                  </a:moveTo>
                  <a:lnTo>
                    <a:pt x="152556" y="0"/>
                  </a:lnTo>
                  <a:lnTo>
                    <a:pt x="152556" y="80092"/>
                  </a:lnTo>
                  <a:lnTo>
                    <a:pt x="0" y="80092"/>
                  </a:lnTo>
                  <a:lnTo>
                    <a:pt x="0" y="0"/>
                  </a:lnTo>
                  <a:close/>
                </a:path>
              </a:pathLst>
            </a:custGeom>
            <a:blipFill>
              <a:blip>
                <a:extLst>
                  <a:ext uri="{96DAC541-7B7A-43D3-8B79-37D633B846F1}">
                    <asvg:svgBlip xmlns:asvg="http://schemas.microsoft.com/office/drawing/2016/SVG/main" r:embed="rId11"/>
                  </a:ext>
                </a:extLst>
              </a:blip>
              <a:stretch>
                <a:fillRect/>
              </a:stretch>
            </a:blipFill>
          </p:spPr>
          <p:txBody>
            <a:bodyPr/>
            <a:lstStyle/>
            <a:p>
              <a:endParaRPr lang="en-US"/>
            </a:p>
          </p:txBody>
        </p:sp>
        <p:grpSp>
          <p:nvGrpSpPr>
            <p:cNvPr id="124" name="Group 124"/>
            <p:cNvGrpSpPr/>
            <p:nvPr/>
          </p:nvGrpSpPr>
          <p:grpSpPr>
            <a:xfrm>
              <a:off x="893722" y="8184649"/>
              <a:ext cx="3621976" cy="339911"/>
              <a:chOff x="0" y="0"/>
              <a:chExt cx="903586" cy="84799"/>
            </a:xfrm>
          </p:grpSpPr>
          <p:sp>
            <p:nvSpPr>
              <p:cNvPr id="125" name="Freeform 125"/>
              <p:cNvSpPr/>
              <p:nvPr/>
            </p:nvSpPr>
            <p:spPr>
              <a:xfrm>
                <a:off x="0" y="0"/>
                <a:ext cx="903586" cy="84799"/>
              </a:xfrm>
              <a:custGeom>
                <a:avLst/>
                <a:gdLst/>
                <a:ahLst/>
                <a:cxnLst/>
                <a:rect l="l" t="t" r="r" b="b"/>
                <a:pathLst>
                  <a:path w="903586" h="84799">
                    <a:moveTo>
                      <a:pt x="42399" y="0"/>
                    </a:moveTo>
                    <a:lnTo>
                      <a:pt x="861187" y="0"/>
                    </a:lnTo>
                    <a:cubicBezTo>
                      <a:pt x="872432" y="0"/>
                      <a:pt x="883216" y="4467"/>
                      <a:pt x="891167" y="12418"/>
                    </a:cubicBezTo>
                    <a:cubicBezTo>
                      <a:pt x="899119" y="20370"/>
                      <a:pt x="903586" y="31154"/>
                      <a:pt x="903586" y="42399"/>
                    </a:cubicBezTo>
                    <a:lnTo>
                      <a:pt x="903586" y="42399"/>
                    </a:lnTo>
                    <a:cubicBezTo>
                      <a:pt x="903586" y="65816"/>
                      <a:pt x="884603" y="84799"/>
                      <a:pt x="861187" y="84799"/>
                    </a:cubicBezTo>
                    <a:lnTo>
                      <a:pt x="42399" y="84799"/>
                    </a:lnTo>
                    <a:cubicBezTo>
                      <a:pt x="18983" y="84799"/>
                      <a:pt x="0" y="65816"/>
                      <a:pt x="0" y="42399"/>
                    </a:cubicBezTo>
                    <a:lnTo>
                      <a:pt x="0" y="42399"/>
                    </a:lnTo>
                    <a:cubicBezTo>
                      <a:pt x="0" y="18983"/>
                      <a:pt x="18983" y="0"/>
                      <a:pt x="42399" y="0"/>
                    </a:cubicBezTo>
                    <a:close/>
                  </a:path>
                </a:pathLst>
              </a:custGeom>
              <a:solidFill>
                <a:srgbClr val="363535"/>
              </a:solidFill>
            </p:spPr>
            <p:txBody>
              <a:bodyPr/>
              <a:lstStyle/>
              <a:p>
                <a:endParaRPr lang="en-US"/>
              </a:p>
            </p:txBody>
          </p:sp>
          <p:sp>
            <p:nvSpPr>
              <p:cNvPr id="126" name="TextBox 126"/>
              <p:cNvSpPr txBox="1"/>
              <p:nvPr/>
            </p:nvSpPr>
            <p:spPr>
              <a:xfrm>
                <a:off x="0" y="-47625"/>
                <a:ext cx="903586" cy="132424"/>
              </a:xfrm>
              <a:prstGeom prst="rect">
                <a:avLst/>
              </a:prstGeom>
            </p:spPr>
            <p:txBody>
              <a:bodyPr lIns="44620" tIns="44620" rIns="44620" bIns="44620" rtlCol="0" anchor="ctr"/>
              <a:lstStyle/>
              <a:p>
                <a:pPr algn="ctr">
                  <a:lnSpc>
                    <a:spcPts val="2340"/>
                  </a:lnSpc>
                </a:pPr>
                <a:endParaRPr/>
              </a:p>
            </p:txBody>
          </p:sp>
        </p:grpSp>
        <p:grpSp>
          <p:nvGrpSpPr>
            <p:cNvPr id="127" name="Group 127"/>
            <p:cNvGrpSpPr/>
            <p:nvPr/>
          </p:nvGrpSpPr>
          <p:grpSpPr>
            <a:xfrm>
              <a:off x="1638525" y="8186706"/>
              <a:ext cx="2239440" cy="339911"/>
              <a:chOff x="0" y="0"/>
              <a:chExt cx="4307858" cy="653864"/>
            </a:xfrm>
          </p:grpSpPr>
          <p:sp>
            <p:nvSpPr>
              <p:cNvPr id="128" name="Freeform 128"/>
              <p:cNvSpPr/>
              <p:nvPr/>
            </p:nvSpPr>
            <p:spPr>
              <a:xfrm>
                <a:off x="0" y="0"/>
                <a:ext cx="4307858" cy="653864"/>
              </a:xfrm>
              <a:custGeom>
                <a:avLst/>
                <a:gdLst/>
                <a:ahLst/>
                <a:cxnLst/>
                <a:rect l="l" t="t" r="r" b="b"/>
                <a:pathLst>
                  <a:path w="4307858" h="653864">
                    <a:moveTo>
                      <a:pt x="0" y="0"/>
                    </a:moveTo>
                    <a:lnTo>
                      <a:pt x="4307858" y="0"/>
                    </a:lnTo>
                    <a:lnTo>
                      <a:pt x="4307858" y="653864"/>
                    </a:lnTo>
                    <a:lnTo>
                      <a:pt x="0" y="653864"/>
                    </a:lnTo>
                    <a:close/>
                  </a:path>
                </a:pathLst>
              </a:custGeom>
              <a:blipFill>
                <a:blip r:embed="rId3">
                  <a:alphaModFix amt="0"/>
                </a:blip>
                <a:stretch>
                  <a:fillRect t="-439375" r="-345752" b="-605081"/>
                </a:stretch>
              </a:blipFill>
            </p:spPr>
            <p:txBody>
              <a:bodyPr/>
              <a:lstStyle/>
              <a:p>
                <a:endParaRPr lang="en-US"/>
              </a:p>
            </p:txBody>
          </p:sp>
          <p:sp>
            <p:nvSpPr>
              <p:cNvPr id="129" name="TextBox 129"/>
              <p:cNvSpPr txBox="1"/>
              <p:nvPr/>
            </p:nvSpPr>
            <p:spPr>
              <a:xfrm>
                <a:off x="0" y="9525"/>
                <a:ext cx="4307858" cy="644339"/>
              </a:xfrm>
              <a:prstGeom prst="rect">
                <a:avLst/>
              </a:prstGeom>
            </p:spPr>
            <p:txBody>
              <a:bodyPr lIns="0" tIns="0" rIns="0" bIns="0" rtlCol="0" anchor="ctr"/>
              <a:lstStyle/>
              <a:p>
                <a:pPr algn="l">
                  <a:lnSpc>
                    <a:spcPts val="1066"/>
                  </a:lnSpc>
                </a:pPr>
                <a:r>
                  <a:rPr lang="en-US" sz="1000" b="1">
                    <a:solidFill>
                      <a:srgbClr val="FFFFFF"/>
                    </a:solidFill>
                    <a:latin typeface="Arial Bold"/>
                    <a:ea typeface="Arial Bold"/>
                    <a:cs typeface="Arial Bold"/>
                    <a:sym typeface="Arial Bold"/>
                  </a:rPr>
                  <a:t>About</a:t>
                </a:r>
              </a:p>
            </p:txBody>
          </p:sp>
        </p:grpSp>
        <p:sp>
          <p:nvSpPr>
            <p:cNvPr id="130" name="Freeform 130"/>
            <p:cNvSpPr/>
            <p:nvPr/>
          </p:nvSpPr>
          <p:spPr>
            <a:xfrm rot="5400000">
              <a:off x="4158185" y="8314559"/>
              <a:ext cx="152556" cy="80092"/>
            </a:xfrm>
            <a:custGeom>
              <a:avLst/>
              <a:gdLst/>
              <a:ahLst/>
              <a:cxnLst/>
              <a:rect l="l" t="t" r="r" b="b"/>
              <a:pathLst>
                <a:path w="152556" h="80092">
                  <a:moveTo>
                    <a:pt x="0" y="0"/>
                  </a:moveTo>
                  <a:lnTo>
                    <a:pt x="152556" y="0"/>
                  </a:lnTo>
                  <a:lnTo>
                    <a:pt x="152556" y="80092"/>
                  </a:lnTo>
                  <a:lnTo>
                    <a:pt x="0" y="80092"/>
                  </a:lnTo>
                  <a:lnTo>
                    <a:pt x="0" y="0"/>
                  </a:lnTo>
                  <a:close/>
                </a:path>
              </a:pathLst>
            </a:custGeom>
            <a:blipFill>
              <a:blip>
                <a:extLst>
                  <a:ext uri="{96DAC541-7B7A-43D3-8B79-37D633B846F1}">
                    <asvg:svgBlip xmlns:asvg="http://schemas.microsoft.com/office/drawing/2016/SVG/main" r:embed="rId11"/>
                  </a:ext>
                </a:extLst>
              </a:blip>
              <a:stretch>
                <a:fillRect/>
              </a:stretch>
            </a:blipFill>
          </p:spPr>
          <p:txBody>
            <a:bodyPr/>
            <a:lstStyle/>
            <a:p>
              <a:endParaRPr lang="en-US"/>
            </a:p>
          </p:txBody>
        </p:sp>
        <p:sp>
          <p:nvSpPr>
            <p:cNvPr id="131" name="Freeform 131"/>
            <p:cNvSpPr/>
            <p:nvPr/>
          </p:nvSpPr>
          <p:spPr>
            <a:xfrm>
              <a:off x="1111103" y="7071896"/>
              <a:ext cx="153747" cy="190990"/>
            </a:xfrm>
            <a:custGeom>
              <a:avLst/>
              <a:gdLst/>
              <a:ahLst/>
              <a:cxnLst/>
              <a:rect l="l" t="t" r="r" b="b"/>
              <a:pathLst>
                <a:path w="153747" h="190990">
                  <a:moveTo>
                    <a:pt x="0" y="0"/>
                  </a:moveTo>
                  <a:lnTo>
                    <a:pt x="153747" y="0"/>
                  </a:lnTo>
                  <a:lnTo>
                    <a:pt x="153747" y="190990"/>
                  </a:lnTo>
                  <a:lnTo>
                    <a:pt x="0" y="190990"/>
                  </a:lnTo>
                  <a:lnTo>
                    <a:pt x="0" y="0"/>
                  </a:lnTo>
                  <a:close/>
                </a:path>
              </a:pathLst>
            </a:custGeom>
            <a:blipFill>
              <a:blip>
                <a:extLst>
                  <a:ext uri="{96DAC541-7B7A-43D3-8B79-37D633B846F1}">
                    <asvg:svgBlip xmlns:asvg="http://schemas.microsoft.com/office/drawing/2016/SVG/main" r:embed="rId18"/>
                  </a:ext>
                </a:extLst>
              </a:blip>
              <a:stretch>
                <a:fillRect/>
              </a:stretch>
            </a:blipFill>
          </p:spPr>
          <p:txBody>
            <a:bodyPr/>
            <a:lstStyle/>
            <a:p>
              <a:endParaRPr lang="en-US"/>
            </a:p>
          </p:txBody>
        </p:sp>
        <p:sp>
          <p:nvSpPr>
            <p:cNvPr id="132" name="Freeform 132"/>
            <p:cNvSpPr/>
            <p:nvPr/>
          </p:nvSpPr>
          <p:spPr>
            <a:xfrm>
              <a:off x="1069132" y="7423166"/>
              <a:ext cx="237690" cy="228182"/>
            </a:xfrm>
            <a:custGeom>
              <a:avLst/>
              <a:gdLst/>
              <a:ahLst/>
              <a:cxnLst/>
              <a:rect l="l" t="t" r="r" b="b"/>
              <a:pathLst>
                <a:path w="237690" h="228182">
                  <a:moveTo>
                    <a:pt x="0" y="0"/>
                  </a:moveTo>
                  <a:lnTo>
                    <a:pt x="237690" y="0"/>
                  </a:lnTo>
                  <a:lnTo>
                    <a:pt x="237690" y="228183"/>
                  </a:lnTo>
                  <a:lnTo>
                    <a:pt x="0" y="228183"/>
                  </a:lnTo>
                  <a:lnTo>
                    <a:pt x="0" y="0"/>
                  </a:lnTo>
                  <a:close/>
                </a:path>
              </a:pathLst>
            </a:custGeom>
            <a:blipFill>
              <a:blip>
                <a:extLst>
                  <a:ext uri="{96DAC541-7B7A-43D3-8B79-37D633B846F1}">
                    <asvg:svgBlip xmlns:asvg="http://schemas.microsoft.com/office/drawing/2016/SVG/main" r:embed="rId19"/>
                  </a:ext>
                </a:extLst>
              </a:blip>
              <a:stretch>
                <a:fillRect/>
              </a:stretch>
            </a:blipFill>
          </p:spPr>
          <p:txBody>
            <a:bodyPr/>
            <a:lstStyle/>
            <a:p>
              <a:endParaRPr lang="en-US"/>
            </a:p>
          </p:txBody>
        </p:sp>
        <p:sp>
          <p:nvSpPr>
            <p:cNvPr id="133" name="Freeform 133"/>
            <p:cNvSpPr/>
            <p:nvPr/>
          </p:nvSpPr>
          <p:spPr>
            <a:xfrm>
              <a:off x="1096248" y="7863729"/>
              <a:ext cx="183458" cy="183458"/>
            </a:xfrm>
            <a:custGeom>
              <a:avLst/>
              <a:gdLst/>
              <a:ahLst/>
              <a:cxnLst/>
              <a:rect l="l" t="t" r="r" b="b"/>
              <a:pathLst>
                <a:path w="183458" h="183458">
                  <a:moveTo>
                    <a:pt x="0" y="0"/>
                  </a:moveTo>
                  <a:lnTo>
                    <a:pt x="183458" y="0"/>
                  </a:lnTo>
                  <a:lnTo>
                    <a:pt x="183458" y="183459"/>
                  </a:lnTo>
                  <a:lnTo>
                    <a:pt x="0" y="183459"/>
                  </a:lnTo>
                  <a:lnTo>
                    <a:pt x="0" y="0"/>
                  </a:lnTo>
                  <a:close/>
                </a:path>
              </a:pathLst>
            </a:custGeom>
            <a:blipFill>
              <a:blip>
                <a:extLst>
                  <a:ext uri="{96DAC541-7B7A-43D3-8B79-37D633B846F1}">
                    <asvg:svgBlip xmlns:asvg="http://schemas.microsoft.com/office/drawing/2016/SVG/main" r:embed="rId20"/>
                  </a:ext>
                </a:extLst>
              </a:blip>
              <a:stretch>
                <a:fillRect/>
              </a:stretch>
            </a:blipFill>
          </p:spPr>
          <p:txBody>
            <a:bodyPr/>
            <a:lstStyle/>
            <a:p>
              <a:endParaRPr lang="en-US"/>
            </a:p>
          </p:txBody>
        </p:sp>
        <p:sp>
          <p:nvSpPr>
            <p:cNvPr id="134" name="Freeform 134"/>
            <p:cNvSpPr/>
            <p:nvPr/>
          </p:nvSpPr>
          <p:spPr>
            <a:xfrm>
              <a:off x="1141971" y="7907355"/>
              <a:ext cx="92012" cy="92012"/>
            </a:xfrm>
            <a:custGeom>
              <a:avLst/>
              <a:gdLst/>
              <a:ahLst/>
              <a:cxnLst/>
              <a:rect l="l" t="t" r="r" b="b"/>
              <a:pathLst>
                <a:path w="92012" h="92012">
                  <a:moveTo>
                    <a:pt x="0" y="0"/>
                  </a:moveTo>
                  <a:lnTo>
                    <a:pt x="92012" y="0"/>
                  </a:lnTo>
                  <a:lnTo>
                    <a:pt x="92012" y="92012"/>
                  </a:lnTo>
                  <a:lnTo>
                    <a:pt x="0" y="92012"/>
                  </a:lnTo>
                  <a:lnTo>
                    <a:pt x="0" y="0"/>
                  </a:lnTo>
                  <a:close/>
                </a:path>
              </a:pathLst>
            </a:custGeom>
            <a:blipFill>
              <a:blip>
                <a:extLst>
                  <a:ext uri="{96DAC541-7B7A-43D3-8B79-37D633B846F1}">
                    <asvg:svgBlip xmlns:asvg="http://schemas.microsoft.com/office/drawing/2016/SVG/main" r:embed="rId20"/>
                  </a:ext>
                </a:extLst>
              </a:blip>
              <a:stretch>
                <a:fillRect/>
              </a:stretch>
            </a:blipFill>
          </p:spPr>
          <p:txBody>
            <a:bodyPr/>
            <a:lstStyle/>
            <a:p>
              <a:endParaRPr lang="en-US"/>
            </a:p>
          </p:txBody>
        </p:sp>
        <p:sp>
          <p:nvSpPr>
            <p:cNvPr id="135" name="Freeform 135"/>
            <p:cNvSpPr/>
            <p:nvPr/>
          </p:nvSpPr>
          <p:spPr>
            <a:xfrm>
              <a:off x="1139873" y="7907355"/>
              <a:ext cx="96207" cy="96207"/>
            </a:xfrm>
            <a:custGeom>
              <a:avLst/>
              <a:gdLst/>
              <a:ahLst/>
              <a:cxnLst/>
              <a:rect l="l" t="t" r="r" b="b"/>
              <a:pathLst>
                <a:path w="96207" h="96207">
                  <a:moveTo>
                    <a:pt x="0" y="0"/>
                  </a:moveTo>
                  <a:lnTo>
                    <a:pt x="96207" y="0"/>
                  </a:lnTo>
                  <a:lnTo>
                    <a:pt x="96207" y="96207"/>
                  </a:lnTo>
                  <a:lnTo>
                    <a:pt x="0" y="96207"/>
                  </a:lnTo>
                  <a:lnTo>
                    <a:pt x="0" y="0"/>
                  </a:lnTo>
                  <a:close/>
                </a:path>
              </a:pathLst>
            </a:custGeom>
            <a:blipFill>
              <a:blip>
                <a:extLst>
                  <a:ext uri="{96DAC541-7B7A-43D3-8B79-37D633B846F1}">
                    <asvg:svgBlip xmlns:asvg="http://schemas.microsoft.com/office/drawing/2016/SVG/main" r:embed="rId21"/>
                  </a:ext>
                </a:extLst>
              </a:blip>
              <a:stretch>
                <a:fillRect/>
              </a:stretch>
            </a:blipFill>
          </p:spPr>
          <p:txBody>
            <a:bodyPr/>
            <a:lstStyle/>
            <a:p>
              <a:endParaRPr lang="en-US"/>
            </a:p>
          </p:txBody>
        </p:sp>
        <p:sp>
          <p:nvSpPr>
            <p:cNvPr id="136" name="Freeform 136"/>
            <p:cNvSpPr/>
            <p:nvPr/>
          </p:nvSpPr>
          <p:spPr>
            <a:xfrm>
              <a:off x="1073458" y="8264711"/>
              <a:ext cx="206248" cy="206248"/>
            </a:xfrm>
            <a:custGeom>
              <a:avLst/>
              <a:gdLst/>
              <a:ahLst/>
              <a:cxnLst/>
              <a:rect l="l" t="t" r="r" b="b"/>
              <a:pathLst>
                <a:path w="206248" h="206248">
                  <a:moveTo>
                    <a:pt x="0" y="0"/>
                  </a:moveTo>
                  <a:lnTo>
                    <a:pt x="206248" y="0"/>
                  </a:lnTo>
                  <a:lnTo>
                    <a:pt x="206248" y="206248"/>
                  </a:lnTo>
                  <a:lnTo>
                    <a:pt x="0" y="206248"/>
                  </a:lnTo>
                  <a:lnTo>
                    <a:pt x="0" y="0"/>
                  </a:lnTo>
                  <a:close/>
                </a:path>
              </a:pathLst>
            </a:custGeom>
            <a:blipFill>
              <a:blip>
                <a:extLst>
                  <a:ext uri="{96DAC541-7B7A-43D3-8B79-37D633B846F1}">
                    <asvg:svgBlip xmlns:asvg="http://schemas.microsoft.com/office/drawing/2016/SVG/main" r:embed="rId22"/>
                  </a:ext>
                </a:extLst>
              </a:blip>
              <a:stretch>
                <a:fillRect/>
              </a:stretch>
            </a:blipFill>
          </p:spPr>
          <p:txBody>
            <a:bodyPr/>
            <a:lstStyle/>
            <a:p>
              <a:endParaRPr lang="en-US"/>
            </a:p>
          </p:txBody>
        </p:sp>
        <p:grpSp>
          <p:nvGrpSpPr>
            <p:cNvPr id="137" name="Group 137"/>
            <p:cNvGrpSpPr/>
            <p:nvPr/>
          </p:nvGrpSpPr>
          <p:grpSpPr>
            <a:xfrm>
              <a:off x="1018058" y="6573880"/>
              <a:ext cx="1071613" cy="434701"/>
              <a:chOff x="0" y="0"/>
              <a:chExt cx="2360231" cy="957431"/>
            </a:xfrm>
          </p:grpSpPr>
          <p:sp>
            <p:nvSpPr>
              <p:cNvPr id="138" name="Freeform 138"/>
              <p:cNvSpPr/>
              <p:nvPr/>
            </p:nvSpPr>
            <p:spPr>
              <a:xfrm>
                <a:off x="0" y="0"/>
                <a:ext cx="2360231" cy="957431"/>
              </a:xfrm>
              <a:custGeom>
                <a:avLst/>
                <a:gdLst/>
                <a:ahLst/>
                <a:cxnLst/>
                <a:rect l="l" t="t" r="r" b="b"/>
                <a:pathLst>
                  <a:path w="2360231" h="957431">
                    <a:moveTo>
                      <a:pt x="0" y="0"/>
                    </a:moveTo>
                    <a:lnTo>
                      <a:pt x="2360231" y="0"/>
                    </a:lnTo>
                    <a:lnTo>
                      <a:pt x="2360231" y="957431"/>
                    </a:lnTo>
                    <a:lnTo>
                      <a:pt x="0" y="957431"/>
                    </a:lnTo>
                    <a:close/>
                  </a:path>
                </a:pathLst>
              </a:custGeom>
              <a:blipFill>
                <a:blip r:embed="rId3">
                  <a:alphaModFix amt="0"/>
                </a:blip>
                <a:stretch>
                  <a:fillRect t="-300064" r="-713581" b="-381525"/>
                </a:stretch>
              </a:blipFill>
            </p:spPr>
            <p:txBody>
              <a:bodyPr/>
              <a:lstStyle/>
              <a:p>
                <a:endParaRPr lang="en-US"/>
              </a:p>
            </p:txBody>
          </p:sp>
          <p:sp>
            <p:nvSpPr>
              <p:cNvPr id="139" name="TextBox 139"/>
              <p:cNvSpPr txBox="1"/>
              <p:nvPr/>
            </p:nvSpPr>
            <p:spPr>
              <a:xfrm>
                <a:off x="0" y="0"/>
                <a:ext cx="2360231" cy="957431"/>
              </a:xfrm>
              <a:prstGeom prst="rect">
                <a:avLst/>
              </a:prstGeom>
            </p:spPr>
            <p:txBody>
              <a:bodyPr lIns="0" tIns="0" rIns="0" bIns="0" rtlCol="0" anchor="ctr"/>
              <a:lstStyle/>
              <a:p>
                <a:pPr algn="l">
                  <a:lnSpc>
                    <a:spcPts val="1280"/>
                  </a:lnSpc>
                </a:pPr>
                <a:r>
                  <a:rPr lang="en-US" sz="1200">
                    <a:solidFill>
                      <a:srgbClr val="FFFFFF"/>
                    </a:solidFill>
                    <a:latin typeface="Arial"/>
                    <a:ea typeface="Arial"/>
                    <a:cs typeface="Arial"/>
                    <a:sym typeface="Arial"/>
                  </a:rPr>
                  <a:t>ABOUT</a:t>
                </a:r>
              </a:p>
            </p:txBody>
          </p:sp>
        </p:grpSp>
        <p:grpSp>
          <p:nvGrpSpPr>
            <p:cNvPr id="140" name="Group 140"/>
            <p:cNvGrpSpPr/>
            <p:nvPr/>
          </p:nvGrpSpPr>
          <p:grpSpPr>
            <a:xfrm>
              <a:off x="947257" y="3380429"/>
              <a:ext cx="3621976" cy="339911"/>
              <a:chOff x="0" y="0"/>
              <a:chExt cx="903586" cy="84799"/>
            </a:xfrm>
          </p:grpSpPr>
          <p:sp>
            <p:nvSpPr>
              <p:cNvPr id="141" name="Freeform 141"/>
              <p:cNvSpPr/>
              <p:nvPr/>
            </p:nvSpPr>
            <p:spPr>
              <a:xfrm>
                <a:off x="0" y="0"/>
                <a:ext cx="903586" cy="84799"/>
              </a:xfrm>
              <a:custGeom>
                <a:avLst/>
                <a:gdLst/>
                <a:ahLst/>
                <a:cxnLst/>
                <a:rect l="l" t="t" r="r" b="b"/>
                <a:pathLst>
                  <a:path w="903586" h="84799">
                    <a:moveTo>
                      <a:pt x="42399" y="0"/>
                    </a:moveTo>
                    <a:lnTo>
                      <a:pt x="861187" y="0"/>
                    </a:lnTo>
                    <a:cubicBezTo>
                      <a:pt x="872432" y="0"/>
                      <a:pt x="883216" y="4467"/>
                      <a:pt x="891167" y="12418"/>
                    </a:cubicBezTo>
                    <a:cubicBezTo>
                      <a:pt x="899119" y="20370"/>
                      <a:pt x="903586" y="31154"/>
                      <a:pt x="903586" y="42399"/>
                    </a:cubicBezTo>
                    <a:lnTo>
                      <a:pt x="903586" y="42399"/>
                    </a:lnTo>
                    <a:cubicBezTo>
                      <a:pt x="903586" y="65816"/>
                      <a:pt x="884603" y="84799"/>
                      <a:pt x="861187" y="84799"/>
                    </a:cubicBezTo>
                    <a:lnTo>
                      <a:pt x="42399" y="84799"/>
                    </a:lnTo>
                    <a:cubicBezTo>
                      <a:pt x="18983" y="84799"/>
                      <a:pt x="0" y="65816"/>
                      <a:pt x="0" y="42399"/>
                    </a:cubicBezTo>
                    <a:lnTo>
                      <a:pt x="0" y="42399"/>
                    </a:lnTo>
                    <a:cubicBezTo>
                      <a:pt x="0" y="18983"/>
                      <a:pt x="18983" y="0"/>
                      <a:pt x="42399" y="0"/>
                    </a:cubicBezTo>
                    <a:close/>
                  </a:path>
                </a:pathLst>
              </a:custGeom>
              <a:solidFill>
                <a:srgbClr val="363535"/>
              </a:solidFill>
            </p:spPr>
            <p:txBody>
              <a:bodyPr/>
              <a:lstStyle/>
              <a:p>
                <a:endParaRPr lang="en-US"/>
              </a:p>
            </p:txBody>
          </p:sp>
          <p:sp>
            <p:nvSpPr>
              <p:cNvPr id="142" name="TextBox 142"/>
              <p:cNvSpPr txBox="1"/>
              <p:nvPr/>
            </p:nvSpPr>
            <p:spPr>
              <a:xfrm>
                <a:off x="0" y="-47625"/>
                <a:ext cx="903586" cy="132424"/>
              </a:xfrm>
              <a:prstGeom prst="rect">
                <a:avLst/>
              </a:prstGeom>
            </p:spPr>
            <p:txBody>
              <a:bodyPr lIns="44620" tIns="44620" rIns="44620" bIns="44620" rtlCol="0" anchor="ctr"/>
              <a:lstStyle/>
              <a:p>
                <a:pPr algn="ctr">
                  <a:lnSpc>
                    <a:spcPts val="2340"/>
                  </a:lnSpc>
                </a:pPr>
                <a:endParaRPr/>
              </a:p>
            </p:txBody>
          </p:sp>
        </p:grpSp>
        <p:grpSp>
          <p:nvGrpSpPr>
            <p:cNvPr id="143" name="Group 143"/>
            <p:cNvGrpSpPr/>
            <p:nvPr/>
          </p:nvGrpSpPr>
          <p:grpSpPr>
            <a:xfrm>
              <a:off x="1692060" y="3378373"/>
              <a:ext cx="2555892" cy="339911"/>
              <a:chOff x="0" y="0"/>
              <a:chExt cx="4916594" cy="653864"/>
            </a:xfrm>
          </p:grpSpPr>
          <p:sp>
            <p:nvSpPr>
              <p:cNvPr id="144" name="Freeform 144"/>
              <p:cNvSpPr/>
              <p:nvPr/>
            </p:nvSpPr>
            <p:spPr>
              <a:xfrm>
                <a:off x="0" y="0"/>
                <a:ext cx="4916594" cy="653864"/>
              </a:xfrm>
              <a:custGeom>
                <a:avLst/>
                <a:gdLst/>
                <a:ahLst/>
                <a:cxnLst/>
                <a:rect l="l" t="t" r="r" b="b"/>
                <a:pathLst>
                  <a:path w="4916594" h="653864">
                    <a:moveTo>
                      <a:pt x="0" y="0"/>
                    </a:moveTo>
                    <a:lnTo>
                      <a:pt x="4916594" y="0"/>
                    </a:lnTo>
                    <a:lnTo>
                      <a:pt x="4916594" y="653864"/>
                    </a:lnTo>
                    <a:lnTo>
                      <a:pt x="0" y="653864"/>
                    </a:lnTo>
                    <a:close/>
                  </a:path>
                </a:pathLst>
              </a:custGeom>
              <a:blipFill>
                <a:blip r:embed="rId3">
                  <a:alphaModFix amt="0"/>
                </a:blip>
                <a:stretch>
                  <a:fillRect t="-439375" r="-290563" b="-605081"/>
                </a:stretch>
              </a:blipFill>
            </p:spPr>
            <p:txBody>
              <a:bodyPr/>
              <a:lstStyle/>
              <a:p>
                <a:endParaRPr lang="en-US"/>
              </a:p>
            </p:txBody>
          </p:sp>
          <p:sp>
            <p:nvSpPr>
              <p:cNvPr id="145" name="TextBox 145"/>
              <p:cNvSpPr txBox="1"/>
              <p:nvPr/>
            </p:nvSpPr>
            <p:spPr>
              <a:xfrm>
                <a:off x="0" y="9525"/>
                <a:ext cx="4916594" cy="644339"/>
              </a:xfrm>
              <a:prstGeom prst="rect">
                <a:avLst/>
              </a:prstGeom>
            </p:spPr>
            <p:txBody>
              <a:bodyPr lIns="0" tIns="0" rIns="0" bIns="0" rtlCol="0" anchor="ctr"/>
              <a:lstStyle/>
              <a:p>
                <a:pPr algn="just">
                  <a:lnSpc>
                    <a:spcPts val="1066"/>
                  </a:lnSpc>
                </a:pPr>
                <a:r>
                  <a:rPr lang="en-US" sz="1000" b="1">
                    <a:solidFill>
                      <a:srgbClr val="FFFFFF"/>
                    </a:solidFill>
                    <a:latin typeface="Arial Bold"/>
                    <a:ea typeface="Arial Bold"/>
                    <a:cs typeface="Arial Bold"/>
                    <a:sym typeface="Arial Bold"/>
                  </a:rPr>
                  <a:t>Opt-in - Community Board  </a:t>
                </a:r>
              </a:p>
            </p:txBody>
          </p:sp>
        </p:grpSp>
        <p:sp>
          <p:nvSpPr>
            <p:cNvPr id="146" name="Freeform 146"/>
            <p:cNvSpPr/>
            <p:nvPr/>
          </p:nvSpPr>
          <p:spPr>
            <a:xfrm rot="5400000">
              <a:off x="4211720" y="3510339"/>
              <a:ext cx="152556" cy="80092"/>
            </a:xfrm>
            <a:custGeom>
              <a:avLst/>
              <a:gdLst/>
              <a:ahLst/>
              <a:cxnLst/>
              <a:rect l="l" t="t" r="r" b="b"/>
              <a:pathLst>
                <a:path w="152556" h="80092">
                  <a:moveTo>
                    <a:pt x="0" y="0"/>
                  </a:moveTo>
                  <a:lnTo>
                    <a:pt x="152556" y="0"/>
                  </a:lnTo>
                  <a:lnTo>
                    <a:pt x="152556" y="80092"/>
                  </a:lnTo>
                  <a:lnTo>
                    <a:pt x="0" y="80092"/>
                  </a:lnTo>
                  <a:lnTo>
                    <a:pt x="0" y="0"/>
                  </a:lnTo>
                  <a:close/>
                </a:path>
              </a:pathLst>
            </a:custGeom>
            <a:blipFill>
              <a:blip>
                <a:extLst>
                  <a:ext uri="{96DAC541-7B7A-43D3-8B79-37D633B846F1}">
                    <asvg:svgBlip xmlns:asvg="http://schemas.microsoft.com/office/drawing/2016/SVG/main" r:embed="rId11"/>
                  </a:ext>
                </a:extLst>
              </a:blip>
              <a:stretch>
                <a:fillRect/>
              </a:stretch>
            </a:blipFill>
          </p:spPr>
          <p:txBody>
            <a:bodyPr/>
            <a:lstStyle/>
            <a:p>
              <a:endParaRPr lang="en-US"/>
            </a:p>
          </p:txBody>
        </p:sp>
        <p:grpSp>
          <p:nvGrpSpPr>
            <p:cNvPr id="147" name="Group 147"/>
            <p:cNvGrpSpPr/>
            <p:nvPr/>
          </p:nvGrpSpPr>
          <p:grpSpPr>
            <a:xfrm>
              <a:off x="947257" y="3777583"/>
              <a:ext cx="3621976" cy="339911"/>
              <a:chOff x="0" y="0"/>
              <a:chExt cx="903586" cy="84799"/>
            </a:xfrm>
          </p:grpSpPr>
          <p:sp>
            <p:nvSpPr>
              <p:cNvPr id="148" name="Freeform 148"/>
              <p:cNvSpPr/>
              <p:nvPr/>
            </p:nvSpPr>
            <p:spPr>
              <a:xfrm>
                <a:off x="0" y="0"/>
                <a:ext cx="903586" cy="84799"/>
              </a:xfrm>
              <a:custGeom>
                <a:avLst/>
                <a:gdLst/>
                <a:ahLst/>
                <a:cxnLst/>
                <a:rect l="l" t="t" r="r" b="b"/>
                <a:pathLst>
                  <a:path w="903586" h="84799">
                    <a:moveTo>
                      <a:pt x="42399" y="0"/>
                    </a:moveTo>
                    <a:lnTo>
                      <a:pt x="861187" y="0"/>
                    </a:lnTo>
                    <a:cubicBezTo>
                      <a:pt x="872432" y="0"/>
                      <a:pt x="883216" y="4467"/>
                      <a:pt x="891167" y="12418"/>
                    </a:cubicBezTo>
                    <a:cubicBezTo>
                      <a:pt x="899119" y="20370"/>
                      <a:pt x="903586" y="31154"/>
                      <a:pt x="903586" y="42399"/>
                    </a:cubicBezTo>
                    <a:lnTo>
                      <a:pt x="903586" y="42399"/>
                    </a:lnTo>
                    <a:cubicBezTo>
                      <a:pt x="903586" y="65816"/>
                      <a:pt x="884603" y="84799"/>
                      <a:pt x="861187" y="84799"/>
                    </a:cubicBezTo>
                    <a:lnTo>
                      <a:pt x="42399" y="84799"/>
                    </a:lnTo>
                    <a:cubicBezTo>
                      <a:pt x="18983" y="84799"/>
                      <a:pt x="0" y="65816"/>
                      <a:pt x="0" y="42399"/>
                    </a:cubicBezTo>
                    <a:lnTo>
                      <a:pt x="0" y="42399"/>
                    </a:lnTo>
                    <a:cubicBezTo>
                      <a:pt x="0" y="18983"/>
                      <a:pt x="18983" y="0"/>
                      <a:pt x="42399" y="0"/>
                    </a:cubicBezTo>
                    <a:close/>
                  </a:path>
                </a:pathLst>
              </a:custGeom>
              <a:solidFill>
                <a:srgbClr val="363535"/>
              </a:solidFill>
            </p:spPr>
            <p:txBody>
              <a:bodyPr/>
              <a:lstStyle/>
              <a:p>
                <a:endParaRPr lang="en-US"/>
              </a:p>
            </p:txBody>
          </p:sp>
          <p:sp>
            <p:nvSpPr>
              <p:cNvPr id="149" name="TextBox 149"/>
              <p:cNvSpPr txBox="1"/>
              <p:nvPr/>
            </p:nvSpPr>
            <p:spPr>
              <a:xfrm>
                <a:off x="0" y="-47625"/>
                <a:ext cx="903586" cy="132424"/>
              </a:xfrm>
              <a:prstGeom prst="rect">
                <a:avLst/>
              </a:prstGeom>
            </p:spPr>
            <p:txBody>
              <a:bodyPr lIns="44620" tIns="44620" rIns="44620" bIns="44620" rtlCol="0" anchor="ctr"/>
              <a:lstStyle/>
              <a:p>
                <a:pPr algn="ctr">
                  <a:lnSpc>
                    <a:spcPts val="2340"/>
                  </a:lnSpc>
                </a:pPr>
                <a:endParaRPr/>
              </a:p>
            </p:txBody>
          </p:sp>
        </p:grpSp>
        <p:grpSp>
          <p:nvGrpSpPr>
            <p:cNvPr id="150" name="Group 150"/>
            <p:cNvGrpSpPr/>
            <p:nvPr/>
          </p:nvGrpSpPr>
          <p:grpSpPr>
            <a:xfrm>
              <a:off x="1692060" y="3777583"/>
              <a:ext cx="2877173" cy="339911"/>
              <a:chOff x="0" y="0"/>
              <a:chExt cx="5534620" cy="653864"/>
            </a:xfrm>
          </p:grpSpPr>
          <p:sp>
            <p:nvSpPr>
              <p:cNvPr id="151" name="Freeform 151"/>
              <p:cNvSpPr/>
              <p:nvPr/>
            </p:nvSpPr>
            <p:spPr>
              <a:xfrm>
                <a:off x="0" y="0"/>
                <a:ext cx="5534620" cy="653864"/>
              </a:xfrm>
              <a:custGeom>
                <a:avLst/>
                <a:gdLst/>
                <a:ahLst/>
                <a:cxnLst/>
                <a:rect l="l" t="t" r="r" b="b"/>
                <a:pathLst>
                  <a:path w="5534620" h="653864">
                    <a:moveTo>
                      <a:pt x="0" y="0"/>
                    </a:moveTo>
                    <a:lnTo>
                      <a:pt x="5534620" y="0"/>
                    </a:lnTo>
                    <a:lnTo>
                      <a:pt x="5534620" y="653864"/>
                    </a:lnTo>
                    <a:lnTo>
                      <a:pt x="0" y="653864"/>
                    </a:lnTo>
                    <a:close/>
                  </a:path>
                </a:pathLst>
              </a:custGeom>
              <a:blipFill>
                <a:blip r:embed="rId3">
                  <a:alphaModFix amt="0"/>
                </a:blip>
                <a:stretch>
                  <a:fillRect t="-439375" r="-246950" b="-605081"/>
                </a:stretch>
              </a:blipFill>
            </p:spPr>
            <p:txBody>
              <a:bodyPr/>
              <a:lstStyle/>
              <a:p>
                <a:endParaRPr lang="en-US"/>
              </a:p>
            </p:txBody>
          </p:sp>
          <p:sp>
            <p:nvSpPr>
              <p:cNvPr id="152" name="TextBox 152"/>
              <p:cNvSpPr txBox="1"/>
              <p:nvPr/>
            </p:nvSpPr>
            <p:spPr>
              <a:xfrm>
                <a:off x="0" y="9525"/>
                <a:ext cx="5534620" cy="644339"/>
              </a:xfrm>
              <a:prstGeom prst="rect">
                <a:avLst/>
              </a:prstGeom>
            </p:spPr>
            <p:txBody>
              <a:bodyPr lIns="0" tIns="0" rIns="0" bIns="0" rtlCol="0" anchor="ctr"/>
              <a:lstStyle/>
              <a:p>
                <a:pPr algn="l">
                  <a:lnSpc>
                    <a:spcPts val="1066"/>
                  </a:lnSpc>
                </a:pPr>
                <a:r>
                  <a:rPr lang="en-US" sz="1000" b="1">
                    <a:solidFill>
                      <a:srgbClr val="FFFFFF"/>
                    </a:solidFill>
                    <a:latin typeface="Arial Bold"/>
                    <a:ea typeface="Arial Bold"/>
                    <a:cs typeface="Arial Bold"/>
                    <a:sym typeface="Arial Bold"/>
                  </a:rPr>
                  <a:t>Opt-out - Community Board </a:t>
                </a:r>
              </a:p>
            </p:txBody>
          </p:sp>
        </p:grpSp>
        <p:sp>
          <p:nvSpPr>
            <p:cNvPr id="153" name="Freeform 153"/>
            <p:cNvSpPr/>
            <p:nvPr/>
          </p:nvSpPr>
          <p:spPr>
            <a:xfrm rot="5400000">
              <a:off x="4211720" y="3907493"/>
              <a:ext cx="152556" cy="80092"/>
            </a:xfrm>
            <a:custGeom>
              <a:avLst/>
              <a:gdLst/>
              <a:ahLst/>
              <a:cxnLst/>
              <a:rect l="l" t="t" r="r" b="b"/>
              <a:pathLst>
                <a:path w="152556" h="80092">
                  <a:moveTo>
                    <a:pt x="0" y="0"/>
                  </a:moveTo>
                  <a:lnTo>
                    <a:pt x="152556" y="0"/>
                  </a:lnTo>
                  <a:lnTo>
                    <a:pt x="152556" y="80092"/>
                  </a:lnTo>
                  <a:lnTo>
                    <a:pt x="0" y="80092"/>
                  </a:lnTo>
                  <a:lnTo>
                    <a:pt x="0" y="0"/>
                  </a:lnTo>
                  <a:close/>
                </a:path>
              </a:pathLst>
            </a:custGeom>
            <a:blipFill>
              <a:blip>
                <a:extLst>
                  <a:ext uri="{96DAC541-7B7A-43D3-8B79-37D633B846F1}">
                    <asvg:svgBlip xmlns:asvg="http://schemas.microsoft.com/office/drawing/2016/SVG/main" r:embed="rId11"/>
                  </a:ext>
                </a:extLst>
              </a:blip>
              <a:stretch>
                <a:fillRect/>
              </a:stretch>
            </a:blipFill>
          </p:spPr>
          <p:txBody>
            <a:bodyPr/>
            <a:lstStyle/>
            <a:p>
              <a:endParaRPr lang="en-US"/>
            </a:p>
          </p:txBody>
        </p:sp>
        <p:sp>
          <p:nvSpPr>
            <p:cNvPr id="154" name="Freeform 154"/>
            <p:cNvSpPr/>
            <p:nvPr/>
          </p:nvSpPr>
          <p:spPr>
            <a:xfrm>
              <a:off x="1169250" y="3428380"/>
              <a:ext cx="163380" cy="236783"/>
            </a:xfrm>
            <a:custGeom>
              <a:avLst/>
              <a:gdLst/>
              <a:ahLst/>
              <a:cxnLst/>
              <a:rect l="l" t="t" r="r" b="b"/>
              <a:pathLst>
                <a:path w="163380" h="236783">
                  <a:moveTo>
                    <a:pt x="0" y="0"/>
                  </a:moveTo>
                  <a:lnTo>
                    <a:pt x="163380" y="0"/>
                  </a:lnTo>
                  <a:lnTo>
                    <a:pt x="163380" y="236783"/>
                  </a:lnTo>
                  <a:lnTo>
                    <a:pt x="0" y="236783"/>
                  </a:lnTo>
                  <a:lnTo>
                    <a:pt x="0" y="0"/>
                  </a:lnTo>
                  <a:close/>
                </a:path>
              </a:pathLst>
            </a:custGeom>
            <a:blipFill>
              <a:blip>
                <a:extLst>
                  <a:ext uri="{96DAC541-7B7A-43D3-8B79-37D633B846F1}">
                    <asvg:svgBlip xmlns:asvg="http://schemas.microsoft.com/office/drawing/2016/SVG/main" r:embed="rId23"/>
                  </a:ext>
                </a:extLst>
              </a:blip>
              <a:stretch>
                <a:fillRect/>
              </a:stretch>
            </a:blipFill>
          </p:spPr>
          <p:txBody>
            <a:bodyPr/>
            <a:lstStyle/>
            <a:p>
              <a:endParaRPr lang="en-US"/>
            </a:p>
          </p:txBody>
        </p:sp>
        <p:sp>
          <p:nvSpPr>
            <p:cNvPr id="155" name="Freeform 155"/>
            <p:cNvSpPr/>
            <p:nvPr/>
          </p:nvSpPr>
          <p:spPr>
            <a:xfrm>
              <a:off x="1169250" y="3825443"/>
              <a:ext cx="217253" cy="217253"/>
            </a:xfrm>
            <a:custGeom>
              <a:avLst/>
              <a:gdLst/>
              <a:ahLst/>
              <a:cxnLst/>
              <a:rect l="l" t="t" r="r" b="b"/>
              <a:pathLst>
                <a:path w="217253" h="217253">
                  <a:moveTo>
                    <a:pt x="0" y="0"/>
                  </a:moveTo>
                  <a:lnTo>
                    <a:pt x="217253" y="0"/>
                  </a:lnTo>
                  <a:lnTo>
                    <a:pt x="217253" y="217253"/>
                  </a:lnTo>
                  <a:lnTo>
                    <a:pt x="0" y="217253"/>
                  </a:lnTo>
                  <a:lnTo>
                    <a:pt x="0" y="0"/>
                  </a:lnTo>
                  <a:close/>
                </a:path>
              </a:pathLst>
            </a:custGeom>
            <a:blipFill>
              <a:blip>
                <a:extLst>
                  <a:ext uri="{96DAC541-7B7A-43D3-8B79-37D633B846F1}">
                    <asvg:svgBlip xmlns:asvg="http://schemas.microsoft.com/office/drawing/2016/SVG/main" r:embed="rId24"/>
                  </a:ext>
                </a:extLst>
              </a:blip>
              <a:stretch>
                <a:fillRect/>
              </a:stretch>
            </a:blipFill>
          </p:spPr>
          <p:txBody>
            <a:bodyPr/>
            <a:lstStyle/>
            <a:p>
              <a:endParaRPr lang="en-US"/>
            </a:p>
          </p:txBody>
        </p:sp>
        <p:grpSp>
          <p:nvGrpSpPr>
            <p:cNvPr id="156" name="Group 156"/>
            <p:cNvGrpSpPr/>
            <p:nvPr/>
          </p:nvGrpSpPr>
          <p:grpSpPr>
            <a:xfrm>
              <a:off x="947257" y="2965090"/>
              <a:ext cx="3621976" cy="339911"/>
              <a:chOff x="0" y="0"/>
              <a:chExt cx="903586" cy="84799"/>
            </a:xfrm>
          </p:grpSpPr>
          <p:sp>
            <p:nvSpPr>
              <p:cNvPr id="157" name="Freeform 157"/>
              <p:cNvSpPr/>
              <p:nvPr/>
            </p:nvSpPr>
            <p:spPr>
              <a:xfrm>
                <a:off x="0" y="0"/>
                <a:ext cx="903586" cy="84799"/>
              </a:xfrm>
              <a:custGeom>
                <a:avLst/>
                <a:gdLst/>
                <a:ahLst/>
                <a:cxnLst/>
                <a:rect l="l" t="t" r="r" b="b"/>
                <a:pathLst>
                  <a:path w="903586" h="84799">
                    <a:moveTo>
                      <a:pt x="42399" y="0"/>
                    </a:moveTo>
                    <a:lnTo>
                      <a:pt x="861187" y="0"/>
                    </a:lnTo>
                    <a:cubicBezTo>
                      <a:pt x="872432" y="0"/>
                      <a:pt x="883216" y="4467"/>
                      <a:pt x="891167" y="12418"/>
                    </a:cubicBezTo>
                    <a:cubicBezTo>
                      <a:pt x="899119" y="20370"/>
                      <a:pt x="903586" y="31154"/>
                      <a:pt x="903586" y="42399"/>
                    </a:cubicBezTo>
                    <a:lnTo>
                      <a:pt x="903586" y="42399"/>
                    </a:lnTo>
                    <a:cubicBezTo>
                      <a:pt x="903586" y="65816"/>
                      <a:pt x="884603" y="84799"/>
                      <a:pt x="861187" y="84799"/>
                    </a:cubicBezTo>
                    <a:lnTo>
                      <a:pt x="42399" y="84799"/>
                    </a:lnTo>
                    <a:cubicBezTo>
                      <a:pt x="18983" y="84799"/>
                      <a:pt x="0" y="65816"/>
                      <a:pt x="0" y="42399"/>
                    </a:cubicBezTo>
                    <a:lnTo>
                      <a:pt x="0" y="42399"/>
                    </a:lnTo>
                    <a:cubicBezTo>
                      <a:pt x="0" y="18983"/>
                      <a:pt x="18983" y="0"/>
                      <a:pt x="42399" y="0"/>
                    </a:cubicBezTo>
                    <a:close/>
                  </a:path>
                </a:pathLst>
              </a:custGeom>
              <a:solidFill>
                <a:srgbClr val="363535"/>
              </a:solidFill>
            </p:spPr>
            <p:txBody>
              <a:bodyPr/>
              <a:lstStyle/>
              <a:p>
                <a:endParaRPr lang="en-US"/>
              </a:p>
            </p:txBody>
          </p:sp>
          <p:sp>
            <p:nvSpPr>
              <p:cNvPr id="158" name="TextBox 158"/>
              <p:cNvSpPr txBox="1"/>
              <p:nvPr/>
            </p:nvSpPr>
            <p:spPr>
              <a:xfrm>
                <a:off x="0" y="-47625"/>
                <a:ext cx="903586" cy="132424"/>
              </a:xfrm>
              <a:prstGeom prst="rect">
                <a:avLst/>
              </a:prstGeom>
            </p:spPr>
            <p:txBody>
              <a:bodyPr lIns="44620" tIns="44620" rIns="44620" bIns="44620" rtlCol="0" anchor="ctr"/>
              <a:lstStyle/>
              <a:p>
                <a:pPr algn="ctr">
                  <a:lnSpc>
                    <a:spcPts val="2340"/>
                  </a:lnSpc>
                </a:pPr>
                <a:endParaRPr/>
              </a:p>
            </p:txBody>
          </p:sp>
        </p:grpSp>
        <p:grpSp>
          <p:nvGrpSpPr>
            <p:cNvPr id="159" name="Group 159"/>
            <p:cNvGrpSpPr/>
            <p:nvPr/>
          </p:nvGrpSpPr>
          <p:grpSpPr>
            <a:xfrm>
              <a:off x="1692060" y="2965090"/>
              <a:ext cx="2877173" cy="339911"/>
              <a:chOff x="0" y="0"/>
              <a:chExt cx="5534620" cy="653864"/>
            </a:xfrm>
          </p:grpSpPr>
          <p:sp>
            <p:nvSpPr>
              <p:cNvPr id="160" name="Freeform 160"/>
              <p:cNvSpPr/>
              <p:nvPr/>
            </p:nvSpPr>
            <p:spPr>
              <a:xfrm>
                <a:off x="0" y="0"/>
                <a:ext cx="5534620" cy="653864"/>
              </a:xfrm>
              <a:custGeom>
                <a:avLst/>
                <a:gdLst/>
                <a:ahLst/>
                <a:cxnLst/>
                <a:rect l="l" t="t" r="r" b="b"/>
                <a:pathLst>
                  <a:path w="5534620" h="653864">
                    <a:moveTo>
                      <a:pt x="0" y="0"/>
                    </a:moveTo>
                    <a:lnTo>
                      <a:pt x="5534620" y="0"/>
                    </a:lnTo>
                    <a:lnTo>
                      <a:pt x="5534620" y="653864"/>
                    </a:lnTo>
                    <a:lnTo>
                      <a:pt x="0" y="653864"/>
                    </a:lnTo>
                    <a:close/>
                  </a:path>
                </a:pathLst>
              </a:custGeom>
              <a:blipFill>
                <a:blip r:embed="rId3">
                  <a:alphaModFix amt="0"/>
                </a:blip>
                <a:stretch>
                  <a:fillRect t="-439375" r="-246950" b="-605081"/>
                </a:stretch>
              </a:blipFill>
            </p:spPr>
            <p:txBody>
              <a:bodyPr/>
              <a:lstStyle/>
              <a:p>
                <a:endParaRPr lang="en-US"/>
              </a:p>
            </p:txBody>
          </p:sp>
          <p:sp>
            <p:nvSpPr>
              <p:cNvPr id="161" name="TextBox 161"/>
              <p:cNvSpPr txBox="1"/>
              <p:nvPr/>
            </p:nvSpPr>
            <p:spPr>
              <a:xfrm>
                <a:off x="0" y="9525"/>
                <a:ext cx="5534620" cy="644339"/>
              </a:xfrm>
              <a:prstGeom prst="rect">
                <a:avLst/>
              </a:prstGeom>
            </p:spPr>
            <p:txBody>
              <a:bodyPr lIns="0" tIns="0" rIns="0" bIns="0" rtlCol="0" anchor="ctr"/>
              <a:lstStyle/>
              <a:p>
                <a:pPr algn="l">
                  <a:lnSpc>
                    <a:spcPts val="1066"/>
                  </a:lnSpc>
                </a:pPr>
                <a:r>
                  <a:rPr lang="en-US" sz="1000" b="1">
                    <a:solidFill>
                      <a:srgbClr val="FFFFFF"/>
                    </a:solidFill>
                    <a:latin typeface="Arial Bold"/>
                    <a:ea typeface="Arial Bold"/>
                    <a:cs typeface="Arial Bold"/>
                    <a:sym typeface="Arial Bold"/>
                  </a:rPr>
                  <a:t>Audio</a:t>
                </a:r>
              </a:p>
            </p:txBody>
          </p:sp>
        </p:grpSp>
        <p:sp>
          <p:nvSpPr>
            <p:cNvPr id="162" name="Freeform 162"/>
            <p:cNvSpPr/>
            <p:nvPr/>
          </p:nvSpPr>
          <p:spPr>
            <a:xfrm rot="5400000">
              <a:off x="4211720" y="3094999"/>
              <a:ext cx="152556" cy="80092"/>
            </a:xfrm>
            <a:custGeom>
              <a:avLst/>
              <a:gdLst/>
              <a:ahLst/>
              <a:cxnLst/>
              <a:rect l="l" t="t" r="r" b="b"/>
              <a:pathLst>
                <a:path w="152556" h="80092">
                  <a:moveTo>
                    <a:pt x="0" y="0"/>
                  </a:moveTo>
                  <a:lnTo>
                    <a:pt x="152556" y="0"/>
                  </a:lnTo>
                  <a:lnTo>
                    <a:pt x="152556" y="80092"/>
                  </a:lnTo>
                  <a:lnTo>
                    <a:pt x="0" y="80092"/>
                  </a:lnTo>
                  <a:lnTo>
                    <a:pt x="0" y="0"/>
                  </a:lnTo>
                  <a:close/>
                </a:path>
              </a:pathLst>
            </a:custGeom>
            <a:blipFill>
              <a:blip>
                <a:extLst>
                  <a:ext uri="{96DAC541-7B7A-43D3-8B79-37D633B846F1}">
                    <asvg:svgBlip xmlns:asvg="http://schemas.microsoft.com/office/drawing/2016/SVG/main" r:embed="rId11"/>
                  </a:ext>
                </a:extLst>
              </a:blip>
              <a:stretch>
                <a:fillRect/>
              </a:stretch>
            </a:blipFill>
          </p:spPr>
          <p:txBody>
            <a:bodyPr/>
            <a:lstStyle/>
            <a:p>
              <a:endParaRPr lang="en-US"/>
            </a:p>
          </p:txBody>
        </p:sp>
        <p:sp>
          <p:nvSpPr>
            <p:cNvPr id="163" name="Freeform 163"/>
            <p:cNvSpPr/>
            <p:nvPr/>
          </p:nvSpPr>
          <p:spPr>
            <a:xfrm>
              <a:off x="1148492" y="3035433"/>
              <a:ext cx="204896" cy="223930"/>
            </a:xfrm>
            <a:custGeom>
              <a:avLst/>
              <a:gdLst/>
              <a:ahLst/>
              <a:cxnLst/>
              <a:rect l="l" t="t" r="r" b="b"/>
              <a:pathLst>
                <a:path w="204896" h="223930">
                  <a:moveTo>
                    <a:pt x="0" y="0"/>
                  </a:moveTo>
                  <a:lnTo>
                    <a:pt x="204896" y="0"/>
                  </a:lnTo>
                  <a:lnTo>
                    <a:pt x="204896" y="223930"/>
                  </a:lnTo>
                  <a:lnTo>
                    <a:pt x="0" y="223930"/>
                  </a:lnTo>
                  <a:lnTo>
                    <a:pt x="0" y="0"/>
                  </a:lnTo>
                  <a:close/>
                </a:path>
              </a:pathLst>
            </a:custGeom>
            <a:blipFill>
              <a:blip>
                <a:extLst>
                  <a:ext uri="{96DAC541-7B7A-43D3-8B79-37D633B846F1}">
                    <asvg:svgBlip xmlns:asvg="http://schemas.microsoft.com/office/drawing/2016/SVG/main" r:embed="rId25"/>
                  </a:ext>
                </a:extLst>
              </a:blip>
              <a:stretch>
                <a:fillRect/>
              </a:stretch>
            </a:blipFill>
          </p:spPr>
          <p:txBody>
            <a:bodyPr/>
            <a:lstStyle/>
            <a:p>
              <a:endParaRPr lang="en-US"/>
            </a:p>
          </p:txBody>
        </p:sp>
        <p:sp>
          <p:nvSpPr>
            <p:cNvPr id="164" name="TextBox 164"/>
            <p:cNvSpPr txBox="1"/>
            <p:nvPr/>
          </p:nvSpPr>
          <p:spPr>
            <a:xfrm>
              <a:off x="569848" y="10129685"/>
              <a:ext cx="717143" cy="184346"/>
            </a:xfrm>
            <a:prstGeom prst="rect">
              <a:avLst/>
            </a:prstGeom>
          </p:spPr>
          <p:txBody>
            <a:bodyPr lIns="0" tIns="0" rIns="0" bIns="0" rtlCol="0" anchor="t">
              <a:spAutoFit/>
            </a:bodyPr>
            <a:lstStyle/>
            <a:p>
              <a:pPr algn="ctr">
                <a:lnSpc>
                  <a:spcPts val="946"/>
                </a:lnSpc>
                <a:spcBef>
                  <a:spcPct val="0"/>
                </a:spcBef>
              </a:pPr>
              <a:r>
                <a:rPr lang="en-US" sz="788" b="1">
                  <a:solidFill>
                    <a:srgbClr val="FFFFFF"/>
                  </a:solidFill>
                  <a:latin typeface="Calibri (MS) Bold"/>
                  <a:ea typeface="Calibri (MS) Bold"/>
                  <a:cs typeface="Calibri (MS) Bold"/>
                  <a:sym typeface="Calibri (MS) Bold"/>
                </a:rPr>
                <a:t>Home</a:t>
              </a:r>
            </a:p>
          </p:txBody>
        </p:sp>
        <p:sp>
          <p:nvSpPr>
            <p:cNvPr id="165" name="TextBox 165"/>
            <p:cNvSpPr txBox="1"/>
            <p:nvPr/>
          </p:nvSpPr>
          <p:spPr>
            <a:xfrm>
              <a:off x="1520961" y="10129685"/>
              <a:ext cx="717143" cy="184346"/>
            </a:xfrm>
            <a:prstGeom prst="rect">
              <a:avLst/>
            </a:prstGeom>
          </p:spPr>
          <p:txBody>
            <a:bodyPr lIns="0" tIns="0" rIns="0" bIns="0" rtlCol="0" anchor="t">
              <a:spAutoFit/>
            </a:bodyPr>
            <a:lstStyle/>
            <a:p>
              <a:pPr algn="ctr">
                <a:lnSpc>
                  <a:spcPts val="946"/>
                </a:lnSpc>
                <a:spcBef>
                  <a:spcPct val="0"/>
                </a:spcBef>
              </a:pPr>
              <a:r>
                <a:rPr lang="en-US" sz="788" b="1">
                  <a:solidFill>
                    <a:srgbClr val="FFFFFF"/>
                  </a:solidFill>
                  <a:latin typeface="Calibri (MS) Bold"/>
                  <a:ea typeface="Calibri (MS) Bold"/>
                  <a:cs typeface="Calibri (MS) Bold"/>
                  <a:sym typeface="Calibri (MS) Bold"/>
                </a:rPr>
                <a:t>Chat</a:t>
              </a:r>
            </a:p>
          </p:txBody>
        </p:sp>
        <p:sp>
          <p:nvSpPr>
            <p:cNvPr id="166" name="TextBox 166"/>
            <p:cNvSpPr txBox="1"/>
            <p:nvPr/>
          </p:nvSpPr>
          <p:spPr>
            <a:xfrm>
              <a:off x="3279783" y="10129685"/>
              <a:ext cx="717143" cy="184346"/>
            </a:xfrm>
            <a:prstGeom prst="rect">
              <a:avLst/>
            </a:prstGeom>
          </p:spPr>
          <p:txBody>
            <a:bodyPr lIns="0" tIns="0" rIns="0" bIns="0" rtlCol="0" anchor="t">
              <a:spAutoFit/>
            </a:bodyPr>
            <a:lstStyle/>
            <a:p>
              <a:pPr algn="ctr">
                <a:lnSpc>
                  <a:spcPts val="946"/>
                </a:lnSpc>
                <a:spcBef>
                  <a:spcPct val="0"/>
                </a:spcBef>
              </a:pPr>
              <a:r>
                <a:rPr lang="en-US" sz="788" b="1">
                  <a:solidFill>
                    <a:srgbClr val="FFFFFF"/>
                  </a:solidFill>
                  <a:latin typeface="Calibri (MS) Bold"/>
                  <a:ea typeface="Calibri (MS) Bold"/>
                  <a:cs typeface="Calibri (MS) Bold"/>
                  <a:sym typeface="Calibri (MS) Bold"/>
                </a:rPr>
                <a:t>Memories</a:t>
              </a:r>
            </a:p>
          </p:txBody>
        </p:sp>
        <p:sp>
          <p:nvSpPr>
            <p:cNvPr id="167" name="TextBox 167"/>
            <p:cNvSpPr txBox="1"/>
            <p:nvPr/>
          </p:nvSpPr>
          <p:spPr>
            <a:xfrm>
              <a:off x="4197197" y="10129685"/>
              <a:ext cx="717143" cy="184346"/>
            </a:xfrm>
            <a:prstGeom prst="rect">
              <a:avLst/>
            </a:prstGeom>
          </p:spPr>
          <p:txBody>
            <a:bodyPr lIns="0" tIns="0" rIns="0" bIns="0" rtlCol="0" anchor="t">
              <a:spAutoFit/>
            </a:bodyPr>
            <a:lstStyle/>
            <a:p>
              <a:pPr algn="ctr">
                <a:lnSpc>
                  <a:spcPts val="946"/>
                </a:lnSpc>
                <a:spcBef>
                  <a:spcPct val="0"/>
                </a:spcBef>
              </a:pPr>
              <a:r>
                <a:rPr lang="en-US" sz="788" b="1">
                  <a:solidFill>
                    <a:srgbClr val="FFFFFF"/>
                  </a:solidFill>
                  <a:latin typeface="Calibri (MS) Bold"/>
                  <a:ea typeface="Calibri (MS) Bold"/>
                  <a:cs typeface="Calibri (MS) Bold"/>
                  <a:sym typeface="Calibri (MS) Bold"/>
                </a:rPr>
                <a:t>Profile</a:t>
              </a:r>
            </a:p>
          </p:txBody>
        </p:sp>
        <p:grpSp>
          <p:nvGrpSpPr>
            <p:cNvPr id="168" name="Group 168"/>
            <p:cNvGrpSpPr/>
            <p:nvPr/>
          </p:nvGrpSpPr>
          <p:grpSpPr>
            <a:xfrm>
              <a:off x="1062101" y="2444037"/>
              <a:ext cx="1686652" cy="475360"/>
              <a:chOff x="0" y="0"/>
              <a:chExt cx="3714854" cy="1046982"/>
            </a:xfrm>
          </p:grpSpPr>
          <p:sp>
            <p:nvSpPr>
              <p:cNvPr id="169" name="Freeform 169"/>
              <p:cNvSpPr/>
              <p:nvPr/>
            </p:nvSpPr>
            <p:spPr>
              <a:xfrm>
                <a:off x="0" y="0"/>
                <a:ext cx="3714854" cy="1046982"/>
              </a:xfrm>
              <a:custGeom>
                <a:avLst/>
                <a:gdLst/>
                <a:ahLst/>
                <a:cxnLst/>
                <a:rect l="l" t="t" r="r" b="b"/>
                <a:pathLst>
                  <a:path w="3714854" h="1046982">
                    <a:moveTo>
                      <a:pt x="0" y="0"/>
                    </a:moveTo>
                    <a:lnTo>
                      <a:pt x="3714854" y="0"/>
                    </a:lnTo>
                    <a:lnTo>
                      <a:pt x="3714854" y="1046982"/>
                    </a:lnTo>
                    <a:lnTo>
                      <a:pt x="0" y="1046982"/>
                    </a:lnTo>
                    <a:close/>
                  </a:path>
                </a:pathLst>
              </a:custGeom>
              <a:blipFill>
                <a:blip r:embed="rId3">
                  <a:alphaModFix amt="0"/>
                </a:blip>
                <a:stretch>
                  <a:fillRect t="-274399" r="-416908" b="-340339"/>
                </a:stretch>
              </a:blipFill>
            </p:spPr>
            <p:txBody>
              <a:bodyPr/>
              <a:lstStyle/>
              <a:p>
                <a:endParaRPr lang="en-US"/>
              </a:p>
            </p:txBody>
          </p:sp>
          <p:sp>
            <p:nvSpPr>
              <p:cNvPr id="170" name="TextBox 170"/>
              <p:cNvSpPr txBox="1"/>
              <p:nvPr/>
            </p:nvSpPr>
            <p:spPr>
              <a:xfrm>
                <a:off x="0" y="0"/>
                <a:ext cx="3714854" cy="1046982"/>
              </a:xfrm>
              <a:prstGeom prst="rect">
                <a:avLst/>
              </a:prstGeom>
            </p:spPr>
            <p:txBody>
              <a:bodyPr lIns="0" tIns="0" rIns="0" bIns="0" rtlCol="0" anchor="ctr"/>
              <a:lstStyle/>
              <a:p>
                <a:pPr algn="l">
                  <a:lnSpc>
                    <a:spcPts val="1280"/>
                  </a:lnSpc>
                </a:pPr>
                <a:r>
                  <a:rPr lang="en-US" sz="1200">
                    <a:solidFill>
                      <a:srgbClr val="FFFFFF"/>
                    </a:solidFill>
                    <a:latin typeface="Arial"/>
                    <a:ea typeface="Arial"/>
                    <a:cs typeface="Arial"/>
                    <a:sym typeface="Arial"/>
                  </a:rPr>
                  <a:t>FEATURES</a:t>
                </a:r>
              </a:p>
            </p:txBody>
          </p:sp>
        </p:grpSp>
        <p:grpSp>
          <p:nvGrpSpPr>
            <p:cNvPr id="171" name="Group 171"/>
            <p:cNvGrpSpPr/>
            <p:nvPr/>
          </p:nvGrpSpPr>
          <p:grpSpPr>
            <a:xfrm>
              <a:off x="822920" y="8599108"/>
              <a:ext cx="3746312" cy="423598"/>
              <a:chOff x="0" y="0"/>
              <a:chExt cx="797762" cy="90203"/>
            </a:xfrm>
          </p:grpSpPr>
          <p:sp>
            <p:nvSpPr>
              <p:cNvPr id="172" name="Freeform 172"/>
              <p:cNvSpPr/>
              <p:nvPr/>
            </p:nvSpPr>
            <p:spPr>
              <a:xfrm>
                <a:off x="0" y="0"/>
                <a:ext cx="797762" cy="90203"/>
              </a:xfrm>
              <a:custGeom>
                <a:avLst/>
                <a:gdLst/>
                <a:ahLst/>
                <a:cxnLst/>
                <a:rect l="l" t="t" r="r" b="b"/>
                <a:pathLst>
                  <a:path w="797762" h="90203">
                    <a:moveTo>
                      <a:pt x="45102" y="0"/>
                    </a:moveTo>
                    <a:lnTo>
                      <a:pt x="752661" y="0"/>
                    </a:lnTo>
                    <a:cubicBezTo>
                      <a:pt x="777569" y="0"/>
                      <a:pt x="797762" y="20193"/>
                      <a:pt x="797762" y="45102"/>
                    </a:cubicBezTo>
                    <a:lnTo>
                      <a:pt x="797762" y="45102"/>
                    </a:lnTo>
                    <a:cubicBezTo>
                      <a:pt x="797762" y="57063"/>
                      <a:pt x="793010" y="68535"/>
                      <a:pt x="784552" y="76993"/>
                    </a:cubicBezTo>
                    <a:cubicBezTo>
                      <a:pt x="776094" y="85452"/>
                      <a:pt x="764622" y="90203"/>
                      <a:pt x="752661" y="90203"/>
                    </a:cubicBezTo>
                    <a:lnTo>
                      <a:pt x="45102" y="90203"/>
                    </a:lnTo>
                    <a:cubicBezTo>
                      <a:pt x="33140" y="90203"/>
                      <a:pt x="21668" y="85452"/>
                      <a:pt x="13210" y="76993"/>
                    </a:cubicBezTo>
                    <a:cubicBezTo>
                      <a:pt x="4752" y="68535"/>
                      <a:pt x="0" y="57063"/>
                      <a:pt x="0" y="45102"/>
                    </a:cubicBezTo>
                    <a:lnTo>
                      <a:pt x="0" y="45102"/>
                    </a:lnTo>
                    <a:cubicBezTo>
                      <a:pt x="0" y="33140"/>
                      <a:pt x="4752" y="21668"/>
                      <a:pt x="13210" y="13210"/>
                    </a:cubicBezTo>
                    <a:cubicBezTo>
                      <a:pt x="21668" y="4752"/>
                      <a:pt x="33140" y="0"/>
                      <a:pt x="45102" y="0"/>
                    </a:cubicBezTo>
                    <a:close/>
                  </a:path>
                </a:pathLst>
              </a:custGeom>
              <a:solidFill>
                <a:srgbClr val="363535"/>
              </a:solidFill>
            </p:spPr>
            <p:txBody>
              <a:bodyPr/>
              <a:lstStyle/>
              <a:p>
                <a:endParaRPr lang="en-US"/>
              </a:p>
            </p:txBody>
          </p:sp>
          <p:sp>
            <p:nvSpPr>
              <p:cNvPr id="173" name="TextBox 173"/>
              <p:cNvSpPr txBox="1"/>
              <p:nvPr/>
            </p:nvSpPr>
            <p:spPr>
              <a:xfrm>
                <a:off x="0" y="-47625"/>
                <a:ext cx="797762" cy="137828"/>
              </a:xfrm>
              <a:prstGeom prst="rect">
                <a:avLst/>
              </a:prstGeom>
            </p:spPr>
            <p:txBody>
              <a:bodyPr lIns="52273" tIns="52273" rIns="52273" bIns="52273" rtlCol="0" anchor="ctr"/>
              <a:lstStyle/>
              <a:p>
                <a:pPr algn="ctr">
                  <a:lnSpc>
                    <a:spcPts val="2339"/>
                  </a:lnSpc>
                </a:pPr>
                <a:endParaRPr/>
              </a:p>
            </p:txBody>
          </p:sp>
        </p:grpSp>
        <p:grpSp>
          <p:nvGrpSpPr>
            <p:cNvPr id="174" name="Group 174"/>
            <p:cNvGrpSpPr/>
            <p:nvPr/>
          </p:nvGrpSpPr>
          <p:grpSpPr>
            <a:xfrm>
              <a:off x="1954215" y="8526617"/>
              <a:ext cx="1500989" cy="583096"/>
              <a:chOff x="0" y="0"/>
              <a:chExt cx="2464592" cy="957431"/>
            </a:xfrm>
          </p:grpSpPr>
          <p:sp>
            <p:nvSpPr>
              <p:cNvPr id="175" name="Freeform 175"/>
              <p:cNvSpPr/>
              <p:nvPr/>
            </p:nvSpPr>
            <p:spPr>
              <a:xfrm>
                <a:off x="0" y="0"/>
                <a:ext cx="2464592" cy="957431"/>
              </a:xfrm>
              <a:custGeom>
                <a:avLst/>
                <a:gdLst/>
                <a:ahLst/>
                <a:cxnLst/>
                <a:rect l="l" t="t" r="r" b="b"/>
                <a:pathLst>
                  <a:path w="2464592" h="957431">
                    <a:moveTo>
                      <a:pt x="0" y="0"/>
                    </a:moveTo>
                    <a:lnTo>
                      <a:pt x="2464592" y="0"/>
                    </a:lnTo>
                    <a:lnTo>
                      <a:pt x="2464592" y="957431"/>
                    </a:lnTo>
                    <a:lnTo>
                      <a:pt x="0" y="957431"/>
                    </a:lnTo>
                    <a:close/>
                  </a:path>
                </a:pathLst>
              </a:custGeom>
              <a:blipFill>
                <a:blip r:embed="rId3">
                  <a:alphaModFix amt="0"/>
                </a:blip>
                <a:stretch>
                  <a:fillRect t="-300064" r="-679131" b="-381525"/>
                </a:stretch>
              </a:blipFill>
            </p:spPr>
            <p:txBody>
              <a:bodyPr/>
              <a:lstStyle/>
              <a:p>
                <a:endParaRPr lang="en-US"/>
              </a:p>
            </p:txBody>
          </p:sp>
          <p:sp>
            <p:nvSpPr>
              <p:cNvPr id="176" name="TextBox 176"/>
              <p:cNvSpPr txBox="1"/>
              <p:nvPr/>
            </p:nvSpPr>
            <p:spPr>
              <a:xfrm>
                <a:off x="0" y="0"/>
                <a:ext cx="2464592" cy="957431"/>
              </a:xfrm>
              <a:prstGeom prst="rect">
                <a:avLst/>
              </a:prstGeom>
            </p:spPr>
            <p:txBody>
              <a:bodyPr lIns="0" tIns="0" rIns="0" bIns="0" rtlCol="0" anchor="ctr"/>
              <a:lstStyle/>
              <a:p>
                <a:pPr algn="ctr">
                  <a:lnSpc>
                    <a:spcPts val="1600"/>
                  </a:lnSpc>
                </a:pPr>
                <a:r>
                  <a:rPr lang="en-US" sz="1500" b="1">
                    <a:solidFill>
                      <a:srgbClr val="FF0229"/>
                    </a:solidFill>
                    <a:latin typeface="Arial Bold"/>
                    <a:ea typeface="Arial Bold"/>
                    <a:cs typeface="Arial Bold"/>
                    <a:sym typeface="Arial Bold"/>
                  </a:rPr>
                  <a:t>Log Out</a:t>
                </a:r>
              </a:p>
            </p:txBody>
          </p:sp>
        </p:grpSp>
        <p:sp>
          <p:nvSpPr>
            <p:cNvPr id="177" name="TextBox 177"/>
            <p:cNvSpPr txBox="1"/>
            <p:nvPr/>
          </p:nvSpPr>
          <p:spPr>
            <a:xfrm>
              <a:off x="1914619" y="9170803"/>
              <a:ext cx="1613146" cy="202227"/>
            </a:xfrm>
            <a:prstGeom prst="rect">
              <a:avLst/>
            </a:prstGeom>
          </p:spPr>
          <p:txBody>
            <a:bodyPr lIns="0" tIns="0" rIns="0" bIns="0" rtlCol="0" anchor="t">
              <a:spAutoFit/>
            </a:bodyPr>
            <a:lstStyle/>
            <a:p>
              <a:pPr algn="ctr">
                <a:lnSpc>
                  <a:spcPts val="1135"/>
                </a:lnSpc>
                <a:spcBef>
                  <a:spcPct val="0"/>
                </a:spcBef>
              </a:pPr>
              <a:r>
                <a:rPr lang="en-US" sz="946">
                  <a:solidFill>
                    <a:srgbClr val="FFFFFF"/>
                  </a:solidFill>
                  <a:latin typeface="Calibri (MS)"/>
                  <a:ea typeface="Calibri (MS)"/>
                  <a:cs typeface="Calibri (MS)"/>
                  <a:sym typeface="Calibri (MS)"/>
                </a:rPr>
                <a:t>Version 4.99.2AB</a:t>
              </a:r>
            </a:p>
          </p:txBody>
        </p:sp>
      </p:grpSp>
      <p:grpSp>
        <p:nvGrpSpPr>
          <p:cNvPr id="2" name="Group 1">
            <a:extLst>
              <a:ext uri="{FF2B5EF4-FFF2-40B4-BE49-F238E27FC236}">
                <a16:creationId xmlns:a16="http://schemas.microsoft.com/office/drawing/2014/main" id="{DD8C7B0E-1F0B-A0F0-1F4C-54889277FC6A}"/>
              </a:ext>
            </a:extLst>
          </p:cNvPr>
          <p:cNvGrpSpPr/>
          <p:nvPr/>
        </p:nvGrpSpPr>
        <p:grpSpPr>
          <a:xfrm>
            <a:off x="3311469" y="3446756"/>
            <a:ext cx="5037461" cy="5377862"/>
            <a:chOff x="3311469" y="3446756"/>
            <a:chExt cx="5037461" cy="5377862"/>
          </a:xfrm>
        </p:grpSpPr>
        <p:sp>
          <p:nvSpPr>
            <p:cNvPr id="178" name="Freeform 178"/>
            <p:cNvSpPr/>
            <p:nvPr/>
          </p:nvSpPr>
          <p:spPr>
            <a:xfrm rot="-4559073" flipV="1">
              <a:off x="4377311" y="4470884"/>
              <a:ext cx="4995748" cy="2947491"/>
            </a:xfrm>
            <a:custGeom>
              <a:avLst/>
              <a:gdLst/>
              <a:ahLst/>
              <a:cxnLst/>
              <a:rect l="l" t="t" r="r" b="b"/>
              <a:pathLst>
                <a:path w="4995748" h="2947491">
                  <a:moveTo>
                    <a:pt x="0" y="2947491"/>
                  </a:moveTo>
                  <a:lnTo>
                    <a:pt x="4995748" y="2947491"/>
                  </a:lnTo>
                  <a:lnTo>
                    <a:pt x="4995748" y="0"/>
                  </a:lnTo>
                  <a:lnTo>
                    <a:pt x="0" y="0"/>
                  </a:lnTo>
                  <a:lnTo>
                    <a:pt x="0" y="2947491"/>
                  </a:lnTo>
                  <a:close/>
                </a:path>
              </a:pathLst>
            </a:custGeom>
            <a:blipFill>
              <a:blip>
                <a:extLst>
                  <a:ext uri="{96DAC541-7B7A-43D3-8B79-37D633B846F1}">
                    <asvg:svgBlip xmlns:asvg="http://schemas.microsoft.com/office/drawing/2016/SVG/main" r:embed="rId26"/>
                  </a:ext>
                </a:extLst>
              </a:blip>
              <a:stretch>
                <a:fillRect/>
              </a:stretch>
            </a:blipFill>
          </p:spPr>
          <p:txBody>
            <a:bodyPr/>
            <a:lstStyle/>
            <a:p>
              <a:endParaRPr lang="en-US"/>
            </a:p>
          </p:txBody>
        </p:sp>
        <p:grpSp>
          <p:nvGrpSpPr>
            <p:cNvPr id="179" name="Group 179"/>
            <p:cNvGrpSpPr/>
            <p:nvPr/>
          </p:nvGrpSpPr>
          <p:grpSpPr>
            <a:xfrm>
              <a:off x="3311469" y="8047823"/>
              <a:ext cx="4542818" cy="776795"/>
              <a:chOff x="0" y="0"/>
              <a:chExt cx="6057090" cy="1035726"/>
            </a:xfrm>
          </p:grpSpPr>
          <p:grpSp>
            <p:nvGrpSpPr>
              <p:cNvPr id="180" name="Group 180"/>
              <p:cNvGrpSpPr/>
              <p:nvPr/>
            </p:nvGrpSpPr>
            <p:grpSpPr>
              <a:xfrm>
                <a:off x="0" y="0"/>
                <a:ext cx="2445244" cy="1035726"/>
                <a:chOff x="0" y="0"/>
                <a:chExt cx="4101730" cy="1737360"/>
              </a:xfrm>
            </p:grpSpPr>
            <p:sp>
              <p:nvSpPr>
                <p:cNvPr id="181" name="Freeform 181"/>
                <p:cNvSpPr/>
                <p:nvPr/>
              </p:nvSpPr>
              <p:spPr>
                <a:xfrm>
                  <a:off x="0" y="0"/>
                  <a:ext cx="4101730" cy="1737360"/>
                </a:xfrm>
                <a:custGeom>
                  <a:avLst/>
                  <a:gdLst/>
                  <a:ahLst/>
                  <a:cxnLst/>
                  <a:rect l="l" t="t" r="r" b="b"/>
                  <a:pathLst>
                    <a:path w="4101730" h="1737360">
                      <a:moveTo>
                        <a:pt x="0" y="0"/>
                      </a:moveTo>
                      <a:lnTo>
                        <a:pt x="4101730" y="0"/>
                      </a:lnTo>
                      <a:lnTo>
                        <a:pt x="4101730" y="1737360"/>
                      </a:lnTo>
                      <a:lnTo>
                        <a:pt x="0" y="1737360"/>
                      </a:lnTo>
                      <a:close/>
                    </a:path>
                  </a:pathLst>
                </a:custGeom>
                <a:blipFill>
                  <a:blip r:embed="rId3">
                    <a:alphaModFix amt="0"/>
                  </a:blip>
                  <a:stretch>
                    <a:fillRect t="-165360" r="-368153" b="-165360"/>
                  </a:stretch>
                </a:blipFill>
              </p:spPr>
              <p:txBody>
                <a:bodyPr/>
                <a:lstStyle/>
                <a:p>
                  <a:endParaRPr lang="en-US"/>
                </a:p>
              </p:txBody>
            </p:sp>
            <p:sp>
              <p:nvSpPr>
                <p:cNvPr id="182" name="TextBox 182"/>
                <p:cNvSpPr txBox="1"/>
                <p:nvPr/>
              </p:nvSpPr>
              <p:spPr>
                <a:xfrm>
                  <a:off x="0" y="9525"/>
                  <a:ext cx="4101730" cy="1727835"/>
                </a:xfrm>
                <a:prstGeom prst="rect">
                  <a:avLst/>
                </a:prstGeom>
              </p:spPr>
              <p:txBody>
                <a:bodyPr lIns="0" tIns="0" rIns="0" bIns="0" rtlCol="0" anchor="ctr"/>
                <a:lstStyle/>
                <a:p>
                  <a:pPr algn="l">
                    <a:lnSpc>
                      <a:spcPts val="2453"/>
                    </a:lnSpc>
                  </a:pPr>
                  <a:r>
                    <a:rPr lang="en-US" sz="2300" b="1">
                      <a:solidFill>
                        <a:srgbClr val="FFFFFF"/>
                      </a:solidFill>
                      <a:latin typeface="Arial Bold"/>
                      <a:ea typeface="Arial Bold"/>
                      <a:cs typeface="Arial Bold"/>
                      <a:sym typeface="Arial Bold"/>
                    </a:rPr>
                    <a:t>Opt-in (Join)</a:t>
                  </a:r>
                </a:p>
              </p:txBody>
            </p:sp>
          </p:grpSp>
          <p:grpSp>
            <p:nvGrpSpPr>
              <p:cNvPr id="183" name="Group 183"/>
              <p:cNvGrpSpPr/>
              <p:nvPr/>
            </p:nvGrpSpPr>
            <p:grpSpPr>
              <a:xfrm>
                <a:off x="2198409" y="0"/>
                <a:ext cx="1413437" cy="1035726"/>
                <a:chOff x="0" y="0"/>
                <a:chExt cx="2370945" cy="1737360"/>
              </a:xfrm>
            </p:grpSpPr>
            <p:sp>
              <p:nvSpPr>
                <p:cNvPr id="184" name="Freeform 184"/>
                <p:cNvSpPr/>
                <p:nvPr/>
              </p:nvSpPr>
              <p:spPr>
                <a:xfrm>
                  <a:off x="0" y="0"/>
                  <a:ext cx="2370945" cy="1737360"/>
                </a:xfrm>
                <a:custGeom>
                  <a:avLst/>
                  <a:gdLst/>
                  <a:ahLst/>
                  <a:cxnLst/>
                  <a:rect l="l" t="t" r="r" b="b"/>
                  <a:pathLst>
                    <a:path w="2370945" h="1737360">
                      <a:moveTo>
                        <a:pt x="0" y="0"/>
                      </a:moveTo>
                      <a:lnTo>
                        <a:pt x="2370945" y="0"/>
                      </a:lnTo>
                      <a:lnTo>
                        <a:pt x="2370945" y="1737360"/>
                      </a:lnTo>
                      <a:lnTo>
                        <a:pt x="0" y="1737360"/>
                      </a:lnTo>
                      <a:close/>
                    </a:path>
                  </a:pathLst>
                </a:custGeom>
                <a:blipFill>
                  <a:blip r:embed="rId3">
                    <a:alphaModFix amt="0"/>
                  </a:blip>
                  <a:stretch>
                    <a:fillRect t="-165360" r="-709904" b="-165360"/>
                  </a:stretch>
                </a:blipFill>
              </p:spPr>
              <p:txBody>
                <a:bodyPr/>
                <a:lstStyle/>
                <a:p>
                  <a:endParaRPr lang="en-US"/>
                </a:p>
              </p:txBody>
            </p:sp>
            <p:sp>
              <p:nvSpPr>
                <p:cNvPr id="185" name="TextBox 185"/>
                <p:cNvSpPr txBox="1"/>
                <p:nvPr/>
              </p:nvSpPr>
              <p:spPr>
                <a:xfrm>
                  <a:off x="0" y="9525"/>
                  <a:ext cx="2370945" cy="1727835"/>
                </a:xfrm>
                <a:prstGeom prst="rect">
                  <a:avLst/>
                </a:prstGeom>
              </p:spPr>
              <p:txBody>
                <a:bodyPr lIns="0" tIns="0" rIns="0" bIns="0" rtlCol="0" anchor="ctr"/>
                <a:lstStyle/>
                <a:p>
                  <a:pPr algn="ctr">
                    <a:lnSpc>
                      <a:spcPts val="2453"/>
                    </a:lnSpc>
                  </a:pPr>
                  <a:r>
                    <a:rPr lang="en-US" sz="2300" b="1">
                      <a:solidFill>
                        <a:srgbClr val="FFDE59"/>
                      </a:solidFill>
                      <a:latin typeface="Arial Bold"/>
                      <a:ea typeface="Arial Bold"/>
                      <a:cs typeface="Arial Bold"/>
                      <a:sym typeface="Arial Bold"/>
                    </a:rPr>
                    <a:t>or</a:t>
                  </a:r>
                </a:p>
              </p:txBody>
            </p:sp>
          </p:grpSp>
          <p:grpSp>
            <p:nvGrpSpPr>
              <p:cNvPr id="186" name="Group 186"/>
              <p:cNvGrpSpPr/>
              <p:nvPr/>
            </p:nvGrpSpPr>
            <p:grpSpPr>
              <a:xfrm>
                <a:off x="3611847" y="0"/>
                <a:ext cx="2445244" cy="1035726"/>
                <a:chOff x="0" y="0"/>
                <a:chExt cx="4101730" cy="1737360"/>
              </a:xfrm>
            </p:grpSpPr>
            <p:sp>
              <p:nvSpPr>
                <p:cNvPr id="187" name="Freeform 187"/>
                <p:cNvSpPr/>
                <p:nvPr/>
              </p:nvSpPr>
              <p:spPr>
                <a:xfrm>
                  <a:off x="0" y="0"/>
                  <a:ext cx="4101730" cy="1737360"/>
                </a:xfrm>
                <a:custGeom>
                  <a:avLst/>
                  <a:gdLst/>
                  <a:ahLst/>
                  <a:cxnLst/>
                  <a:rect l="l" t="t" r="r" b="b"/>
                  <a:pathLst>
                    <a:path w="4101730" h="1737360">
                      <a:moveTo>
                        <a:pt x="0" y="0"/>
                      </a:moveTo>
                      <a:lnTo>
                        <a:pt x="4101730" y="0"/>
                      </a:lnTo>
                      <a:lnTo>
                        <a:pt x="4101730" y="1737360"/>
                      </a:lnTo>
                      <a:lnTo>
                        <a:pt x="0" y="1737360"/>
                      </a:lnTo>
                      <a:close/>
                    </a:path>
                  </a:pathLst>
                </a:custGeom>
                <a:blipFill>
                  <a:blip r:embed="rId3">
                    <a:alphaModFix amt="0"/>
                  </a:blip>
                  <a:stretch>
                    <a:fillRect t="-165360" r="-368153" b="-165360"/>
                  </a:stretch>
                </a:blipFill>
              </p:spPr>
              <p:txBody>
                <a:bodyPr/>
                <a:lstStyle/>
                <a:p>
                  <a:endParaRPr lang="en-US"/>
                </a:p>
              </p:txBody>
            </p:sp>
            <p:sp>
              <p:nvSpPr>
                <p:cNvPr id="188" name="TextBox 188"/>
                <p:cNvSpPr txBox="1"/>
                <p:nvPr/>
              </p:nvSpPr>
              <p:spPr>
                <a:xfrm>
                  <a:off x="0" y="9525"/>
                  <a:ext cx="4101730" cy="1727835"/>
                </a:xfrm>
                <a:prstGeom prst="rect">
                  <a:avLst/>
                </a:prstGeom>
              </p:spPr>
              <p:txBody>
                <a:bodyPr lIns="0" tIns="0" rIns="0" bIns="0" rtlCol="0" anchor="ctr"/>
                <a:lstStyle/>
                <a:p>
                  <a:pPr algn="l">
                    <a:lnSpc>
                      <a:spcPts val="2453"/>
                    </a:lnSpc>
                  </a:pPr>
                  <a:r>
                    <a:rPr lang="en-US" sz="2300" b="1" dirty="0">
                      <a:solidFill>
                        <a:srgbClr val="FFFFFF"/>
                      </a:solidFill>
                      <a:latin typeface="Arial Bold"/>
                      <a:ea typeface="Arial Bold"/>
                      <a:cs typeface="Arial Bold"/>
                      <a:sym typeface="Arial Bold"/>
                    </a:rPr>
                    <a:t>Opt-out (Leave)</a:t>
                  </a:r>
                </a:p>
              </p:txBody>
            </p:sp>
          </p:grpSp>
        </p:grpSp>
      </p:grpSp>
      <p:grpSp>
        <p:nvGrpSpPr>
          <p:cNvPr id="189" name="Group 189"/>
          <p:cNvGrpSpPr/>
          <p:nvPr/>
        </p:nvGrpSpPr>
        <p:grpSpPr>
          <a:xfrm>
            <a:off x="13521346" y="1339763"/>
            <a:ext cx="4123128" cy="8158320"/>
            <a:chOff x="0" y="0"/>
            <a:chExt cx="5497506" cy="10877759"/>
          </a:xfrm>
        </p:grpSpPr>
        <p:grpSp>
          <p:nvGrpSpPr>
            <p:cNvPr id="190" name="Group 190"/>
            <p:cNvGrpSpPr>
              <a:grpSpLocks noChangeAspect="1"/>
            </p:cNvGrpSpPr>
            <p:nvPr/>
          </p:nvGrpSpPr>
          <p:grpSpPr>
            <a:xfrm>
              <a:off x="0" y="0"/>
              <a:ext cx="5497506" cy="10877759"/>
              <a:chOff x="0" y="0"/>
              <a:chExt cx="2620010" cy="5184140"/>
            </a:xfrm>
          </p:grpSpPr>
          <p:sp>
            <p:nvSpPr>
              <p:cNvPr id="191" name="Freeform 191"/>
              <p:cNvSpPr/>
              <p:nvPr/>
            </p:nvSpPr>
            <p:spPr>
              <a:xfrm>
                <a:off x="53340" y="25400"/>
                <a:ext cx="2513330" cy="5132070"/>
              </a:xfrm>
              <a:custGeom>
                <a:avLst/>
                <a:gdLst/>
                <a:ahLst/>
                <a:cxnLst/>
                <a:rect l="l" t="t" r="r" b="b"/>
                <a:pathLst>
                  <a:path w="2513330" h="5132070">
                    <a:moveTo>
                      <a:pt x="2159000" y="0"/>
                    </a:moveTo>
                    <a:lnTo>
                      <a:pt x="354330" y="0"/>
                    </a:lnTo>
                    <a:cubicBezTo>
                      <a:pt x="158750" y="0"/>
                      <a:pt x="0" y="158750"/>
                      <a:pt x="0" y="354330"/>
                    </a:cubicBezTo>
                    <a:lnTo>
                      <a:pt x="0" y="4777740"/>
                    </a:lnTo>
                    <a:cubicBezTo>
                      <a:pt x="0" y="4973320"/>
                      <a:pt x="158750" y="5132070"/>
                      <a:pt x="354330" y="5132070"/>
                    </a:cubicBezTo>
                    <a:lnTo>
                      <a:pt x="2159000" y="5132070"/>
                    </a:lnTo>
                    <a:cubicBezTo>
                      <a:pt x="2354580" y="5132070"/>
                      <a:pt x="2513330" y="4973320"/>
                      <a:pt x="2513330" y="4777740"/>
                    </a:cubicBezTo>
                    <a:lnTo>
                      <a:pt x="2513330" y="354330"/>
                    </a:lnTo>
                    <a:cubicBezTo>
                      <a:pt x="2513330" y="158750"/>
                      <a:pt x="2354580" y="0"/>
                      <a:pt x="2159000" y="0"/>
                    </a:cubicBezTo>
                    <a:close/>
                    <a:moveTo>
                      <a:pt x="1558290" y="162560"/>
                    </a:moveTo>
                    <a:cubicBezTo>
                      <a:pt x="1576070" y="162560"/>
                      <a:pt x="1590040" y="176530"/>
                      <a:pt x="1590040" y="194310"/>
                    </a:cubicBezTo>
                    <a:cubicBezTo>
                      <a:pt x="1590040" y="212090"/>
                      <a:pt x="1576070" y="226060"/>
                      <a:pt x="1558290" y="226060"/>
                    </a:cubicBezTo>
                    <a:cubicBezTo>
                      <a:pt x="1540510" y="226060"/>
                      <a:pt x="1526540" y="212090"/>
                      <a:pt x="1526540" y="194310"/>
                    </a:cubicBezTo>
                    <a:cubicBezTo>
                      <a:pt x="1526540" y="176530"/>
                      <a:pt x="1541780" y="162560"/>
                      <a:pt x="1558290" y="162560"/>
                    </a:cubicBezTo>
                    <a:close/>
                    <a:moveTo>
                      <a:pt x="1089660" y="172720"/>
                    </a:moveTo>
                    <a:lnTo>
                      <a:pt x="1394460" y="172720"/>
                    </a:lnTo>
                    <a:cubicBezTo>
                      <a:pt x="1405890" y="172720"/>
                      <a:pt x="1416050" y="181610"/>
                      <a:pt x="1416050" y="194310"/>
                    </a:cubicBezTo>
                    <a:cubicBezTo>
                      <a:pt x="1416050" y="207010"/>
                      <a:pt x="1405890" y="215900"/>
                      <a:pt x="1394460" y="215900"/>
                    </a:cubicBezTo>
                    <a:lnTo>
                      <a:pt x="1089660" y="215900"/>
                    </a:lnTo>
                    <a:cubicBezTo>
                      <a:pt x="1078230" y="215900"/>
                      <a:pt x="1068070" y="207010"/>
                      <a:pt x="1068070" y="194310"/>
                    </a:cubicBezTo>
                    <a:cubicBezTo>
                      <a:pt x="1068070" y="181610"/>
                      <a:pt x="1078230" y="172720"/>
                      <a:pt x="1089660" y="172720"/>
                    </a:cubicBezTo>
                    <a:close/>
                    <a:moveTo>
                      <a:pt x="2383790" y="4798060"/>
                    </a:moveTo>
                    <a:cubicBezTo>
                      <a:pt x="2383790" y="4913630"/>
                      <a:pt x="2289810" y="5007610"/>
                      <a:pt x="2174240" y="5007610"/>
                    </a:cubicBezTo>
                    <a:lnTo>
                      <a:pt x="341630" y="5007610"/>
                    </a:lnTo>
                    <a:cubicBezTo>
                      <a:pt x="226060" y="5007610"/>
                      <a:pt x="132080" y="4913630"/>
                      <a:pt x="132080" y="4798060"/>
                    </a:cubicBezTo>
                    <a:lnTo>
                      <a:pt x="132080" y="340360"/>
                    </a:lnTo>
                    <a:cubicBezTo>
                      <a:pt x="132080" y="224790"/>
                      <a:pt x="226060" y="130810"/>
                      <a:pt x="341630" y="130810"/>
                    </a:cubicBezTo>
                    <a:lnTo>
                      <a:pt x="614680" y="130810"/>
                    </a:lnTo>
                    <a:lnTo>
                      <a:pt x="614680" y="187960"/>
                    </a:lnTo>
                    <a:cubicBezTo>
                      <a:pt x="614680" y="252730"/>
                      <a:pt x="668020" y="306070"/>
                      <a:pt x="732790" y="306070"/>
                    </a:cubicBezTo>
                    <a:lnTo>
                      <a:pt x="1783080" y="306070"/>
                    </a:lnTo>
                    <a:cubicBezTo>
                      <a:pt x="1847850" y="306070"/>
                      <a:pt x="1901190" y="252730"/>
                      <a:pt x="1901190" y="187960"/>
                    </a:cubicBezTo>
                    <a:lnTo>
                      <a:pt x="1901190" y="130810"/>
                    </a:lnTo>
                    <a:lnTo>
                      <a:pt x="2172970" y="130810"/>
                    </a:lnTo>
                    <a:cubicBezTo>
                      <a:pt x="2288540" y="130810"/>
                      <a:pt x="2382520" y="224790"/>
                      <a:pt x="2382520" y="340360"/>
                    </a:cubicBezTo>
                    <a:lnTo>
                      <a:pt x="2382520" y="4798060"/>
                    </a:lnTo>
                    <a:close/>
                  </a:path>
                </a:pathLst>
              </a:custGeom>
              <a:solidFill>
                <a:srgbClr val="000000"/>
              </a:solidFill>
            </p:spPr>
            <p:txBody>
              <a:bodyPr/>
              <a:lstStyle/>
              <a:p>
                <a:endParaRPr lang="en-US"/>
              </a:p>
            </p:txBody>
          </p:sp>
          <p:sp>
            <p:nvSpPr>
              <p:cNvPr id="192" name="Freeform 192"/>
              <p:cNvSpPr/>
              <p:nvPr/>
            </p:nvSpPr>
            <p:spPr>
              <a:xfrm>
                <a:off x="185420" y="156210"/>
                <a:ext cx="2250453" cy="4876800"/>
              </a:xfrm>
              <a:custGeom>
                <a:avLst/>
                <a:gdLst/>
                <a:ahLst/>
                <a:cxnLst/>
                <a:rect l="l" t="t" r="r" b="b"/>
                <a:pathLst>
                  <a:path w="2250453" h="4876800">
                    <a:moveTo>
                      <a:pt x="2040890" y="0"/>
                    </a:moveTo>
                    <a:lnTo>
                      <a:pt x="1769110" y="0"/>
                    </a:lnTo>
                    <a:lnTo>
                      <a:pt x="1769110" y="57150"/>
                    </a:lnTo>
                    <a:cubicBezTo>
                      <a:pt x="1769110" y="121920"/>
                      <a:pt x="1715770" y="175260"/>
                      <a:pt x="1651000" y="175260"/>
                    </a:cubicBezTo>
                    <a:lnTo>
                      <a:pt x="601980" y="175260"/>
                    </a:lnTo>
                    <a:cubicBezTo>
                      <a:pt x="537210" y="175260"/>
                      <a:pt x="483870" y="121920"/>
                      <a:pt x="483870" y="57150"/>
                    </a:cubicBezTo>
                    <a:lnTo>
                      <a:pt x="483870" y="0"/>
                    </a:lnTo>
                    <a:lnTo>
                      <a:pt x="209550" y="0"/>
                    </a:lnTo>
                    <a:cubicBezTo>
                      <a:pt x="93980" y="0"/>
                      <a:pt x="0" y="93980"/>
                      <a:pt x="0" y="209550"/>
                    </a:cubicBezTo>
                    <a:lnTo>
                      <a:pt x="0" y="4667250"/>
                    </a:lnTo>
                    <a:cubicBezTo>
                      <a:pt x="0" y="4782820"/>
                      <a:pt x="93980" y="4876800"/>
                      <a:pt x="209550" y="4876800"/>
                    </a:cubicBezTo>
                    <a:lnTo>
                      <a:pt x="2040890" y="4876800"/>
                    </a:lnTo>
                    <a:cubicBezTo>
                      <a:pt x="2156460" y="4876800"/>
                      <a:pt x="2250440" y="4782820"/>
                      <a:pt x="2250440" y="4667250"/>
                    </a:cubicBezTo>
                    <a:lnTo>
                      <a:pt x="2250440" y="209550"/>
                    </a:lnTo>
                    <a:cubicBezTo>
                      <a:pt x="2251710" y="93980"/>
                      <a:pt x="2157730" y="0"/>
                      <a:pt x="2040890" y="0"/>
                    </a:cubicBezTo>
                    <a:close/>
                  </a:path>
                </a:pathLst>
              </a:custGeom>
              <a:blipFill>
                <a:blip r:embed="rId3"/>
                <a:stretch>
                  <a:fillRect l="-245588" t="-3203" r="-245531" b="-3098"/>
                </a:stretch>
              </a:blipFill>
            </p:spPr>
            <p:txBody>
              <a:bodyPr/>
              <a:lstStyle/>
              <a:p>
                <a:endParaRPr lang="en-US"/>
              </a:p>
            </p:txBody>
          </p:sp>
          <p:sp>
            <p:nvSpPr>
              <p:cNvPr id="193" name="Freeform 193"/>
              <p:cNvSpPr/>
              <p:nvPr/>
            </p:nvSpPr>
            <p:spPr>
              <a:xfrm>
                <a:off x="1121410" y="198120"/>
                <a:ext cx="347980" cy="43180"/>
              </a:xfrm>
              <a:custGeom>
                <a:avLst/>
                <a:gdLst/>
                <a:ahLst/>
                <a:cxnLst/>
                <a:rect l="l" t="t" r="r" b="b"/>
                <a:pathLst>
                  <a:path w="347980" h="43180">
                    <a:moveTo>
                      <a:pt x="326390" y="0"/>
                    </a:moveTo>
                    <a:lnTo>
                      <a:pt x="21590" y="0"/>
                    </a:lnTo>
                    <a:cubicBezTo>
                      <a:pt x="10160" y="0"/>
                      <a:pt x="0" y="8890"/>
                      <a:pt x="0" y="21590"/>
                    </a:cubicBezTo>
                    <a:cubicBezTo>
                      <a:pt x="0" y="34290"/>
                      <a:pt x="10160" y="43180"/>
                      <a:pt x="21590" y="43180"/>
                    </a:cubicBezTo>
                    <a:lnTo>
                      <a:pt x="326390" y="43180"/>
                    </a:lnTo>
                    <a:cubicBezTo>
                      <a:pt x="337820" y="43180"/>
                      <a:pt x="347980" y="34290"/>
                      <a:pt x="347980" y="21590"/>
                    </a:cubicBezTo>
                    <a:cubicBezTo>
                      <a:pt x="347980" y="8890"/>
                      <a:pt x="337820" y="0"/>
                      <a:pt x="326390" y="0"/>
                    </a:cubicBezTo>
                    <a:close/>
                  </a:path>
                </a:pathLst>
              </a:custGeom>
              <a:solidFill>
                <a:srgbClr val="606060"/>
              </a:solidFill>
            </p:spPr>
            <p:txBody>
              <a:bodyPr/>
              <a:lstStyle/>
              <a:p>
                <a:endParaRPr lang="en-US"/>
              </a:p>
            </p:txBody>
          </p:sp>
          <p:sp>
            <p:nvSpPr>
              <p:cNvPr id="194" name="Freeform 194"/>
              <p:cNvSpPr/>
              <p:nvPr/>
            </p:nvSpPr>
            <p:spPr>
              <a:xfrm>
                <a:off x="1579738" y="187960"/>
                <a:ext cx="63785" cy="63501"/>
              </a:xfrm>
              <a:custGeom>
                <a:avLst/>
                <a:gdLst/>
                <a:ahLst/>
                <a:cxnLst/>
                <a:rect l="l" t="t" r="r" b="b"/>
                <a:pathLst>
                  <a:path w="63785" h="63501">
                    <a:moveTo>
                      <a:pt x="31892" y="0"/>
                    </a:moveTo>
                    <a:cubicBezTo>
                      <a:pt x="20515" y="-51"/>
                      <a:pt x="9980" y="5989"/>
                      <a:pt x="4277" y="15834"/>
                    </a:cubicBezTo>
                    <a:cubicBezTo>
                      <a:pt x="-1426" y="25678"/>
                      <a:pt x="-1426" y="37822"/>
                      <a:pt x="4277" y="47666"/>
                    </a:cubicBezTo>
                    <a:cubicBezTo>
                      <a:pt x="9980" y="57511"/>
                      <a:pt x="20515" y="63551"/>
                      <a:pt x="31892" y="63500"/>
                    </a:cubicBezTo>
                    <a:cubicBezTo>
                      <a:pt x="43269" y="63551"/>
                      <a:pt x="53804" y="57511"/>
                      <a:pt x="59507" y="47666"/>
                    </a:cubicBezTo>
                    <a:cubicBezTo>
                      <a:pt x="65210" y="37822"/>
                      <a:pt x="65210" y="25678"/>
                      <a:pt x="59507" y="15834"/>
                    </a:cubicBezTo>
                    <a:cubicBezTo>
                      <a:pt x="53804" y="5989"/>
                      <a:pt x="43269" y="-51"/>
                      <a:pt x="31892" y="0"/>
                    </a:cubicBezTo>
                    <a:close/>
                  </a:path>
                </a:pathLst>
              </a:custGeom>
              <a:solidFill>
                <a:srgbClr val="606060"/>
              </a:solidFill>
            </p:spPr>
            <p:txBody>
              <a:bodyPr/>
              <a:lstStyle/>
              <a:p>
                <a:endParaRPr lang="en-US"/>
              </a:p>
            </p:txBody>
          </p:sp>
          <p:sp>
            <p:nvSpPr>
              <p:cNvPr id="195" name="Freeform 195"/>
              <p:cNvSpPr/>
              <p:nvPr/>
            </p:nvSpPr>
            <p:spPr>
              <a:xfrm>
                <a:off x="0" y="685800"/>
                <a:ext cx="27940" cy="213360"/>
              </a:xfrm>
              <a:custGeom>
                <a:avLst/>
                <a:gdLst/>
                <a:ahLst/>
                <a:cxnLst/>
                <a:rect l="l" t="t" r="r" b="b"/>
                <a:pathLst>
                  <a:path w="27940" h="213360">
                    <a:moveTo>
                      <a:pt x="0" y="26670"/>
                    </a:moveTo>
                    <a:lnTo>
                      <a:pt x="0" y="185420"/>
                    </a:lnTo>
                    <a:cubicBezTo>
                      <a:pt x="0" y="200660"/>
                      <a:pt x="12700" y="213360"/>
                      <a:pt x="27940" y="213360"/>
                    </a:cubicBezTo>
                    <a:lnTo>
                      <a:pt x="27940" y="0"/>
                    </a:lnTo>
                    <a:cubicBezTo>
                      <a:pt x="12700" y="0"/>
                      <a:pt x="0" y="11430"/>
                      <a:pt x="0" y="26670"/>
                    </a:cubicBezTo>
                    <a:close/>
                  </a:path>
                </a:pathLst>
              </a:custGeom>
              <a:solidFill>
                <a:srgbClr val="B8B8B8"/>
              </a:solidFill>
            </p:spPr>
            <p:txBody>
              <a:bodyPr/>
              <a:lstStyle/>
              <a:p>
                <a:endParaRPr lang="en-US"/>
              </a:p>
            </p:txBody>
          </p:sp>
          <p:sp>
            <p:nvSpPr>
              <p:cNvPr id="196" name="Freeform 196"/>
              <p:cNvSpPr/>
              <p:nvPr/>
            </p:nvSpPr>
            <p:spPr>
              <a:xfrm>
                <a:off x="0" y="1057910"/>
                <a:ext cx="27940" cy="384810"/>
              </a:xfrm>
              <a:custGeom>
                <a:avLst/>
                <a:gdLst/>
                <a:ahLst/>
                <a:cxnLst/>
                <a:rect l="l" t="t" r="r" b="b"/>
                <a:pathLst>
                  <a:path w="27940" h="384810">
                    <a:moveTo>
                      <a:pt x="0" y="26670"/>
                    </a:moveTo>
                    <a:lnTo>
                      <a:pt x="0" y="356870"/>
                    </a:lnTo>
                    <a:cubicBezTo>
                      <a:pt x="0" y="372110"/>
                      <a:pt x="12700" y="384810"/>
                      <a:pt x="27940" y="384810"/>
                    </a:cubicBezTo>
                    <a:lnTo>
                      <a:pt x="27940" y="0"/>
                    </a:lnTo>
                    <a:cubicBezTo>
                      <a:pt x="12700" y="0"/>
                      <a:pt x="0" y="11430"/>
                      <a:pt x="0" y="26670"/>
                    </a:cubicBezTo>
                    <a:close/>
                  </a:path>
                </a:pathLst>
              </a:custGeom>
              <a:solidFill>
                <a:srgbClr val="B8B8B8"/>
              </a:solidFill>
            </p:spPr>
            <p:txBody>
              <a:bodyPr/>
              <a:lstStyle/>
              <a:p>
                <a:endParaRPr lang="en-US"/>
              </a:p>
            </p:txBody>
          </p:sp>
          <p:sp>
            <p:nvSpPr>
              <p:cNvPr id="197" name="Freeform 197"/>
              <p:cNvSpPr/>
              <p:nvPr/>
            </p:nvSpPr>
            <p:spPr>
              <a:xfrm>
                <a:off x="0" y="1526540"/>
                <a:ext cx="27940" cy="386080"/>
              </a:xfrm>
              <a:custGeom>
                <a:avLst/>
                <a:gdLst/>
                <a:ahLst/>
                <a:cxnLst/>
                <a:rect l="l" t="t" r="r" b="b"/>
                <a:pathLst>
                  <a:path w="27940" h="386080">
                    <a:moveTo>
                      <a:pt x="0" y="27940"/>
                    </a:moveTo>
                    <a:lnTo>
                      <a:pt x="0" y="358140"/>
                    </a:lnTo>
                    <a:cubicBezTo>
                      <a:pt x="0" y="373380"/>
                      <a:pt x="12700" y="386080"/>
                      <a:pt x="27940" y="386080"/>
                    </a:cubicBezTo>
                    <a:lnTo>
                      <a:pt x="27940" y="0"/>
                    </a:lnTo>
                    <a:cubicBezTo>
                      <a:pt x="12700" y="0"/>
                      <a:pt x="0" y="12700"/>
                      <a:pt x="0" y="27940"/>
                    </a:cubicBezTo>
                    <a:close/>
                  </a:path>
                </a:pathLst>
              </a:custGeom>
              <a:solidFill>
                <a:srgbClr val="B8B8B8"/>
              </a:solidFill>
            </p:spPr>
            <p:txBody>
              <a:bodyPr/>
              <a:lstStyle/>
              <a:p>
                <a:endParaRPr lang="en-US"/>
              </a:p>
            </p:txBody>
          </p:sp>
          <p:sp>
            <p:nvSpPr>
              <p:cNvPr id="198" name="Freeform 198"/>
              <p:cNvSpPr/>
              <p:nvPr/>
            </p:nvSpPr>
            <p:spPr>
              <a:xfrm>
                <a:off x="2592070" y="1184910"/>
                <a:ext cx="27940" cy="618490"/>
              </a:xfrm>
              <a:custGeom>
                <a:avLst/>
                <a:gdLst/>
                <a:ahLst/>
                <a:cxnLst/>
                <a:rect l="l" t="t" r="r" b="b"/>
                <a:pathLst>
                  <a:path w="27940" h="618490">
                    <a:moveTo>
                      <a:pt x="0" y="0"/>
                    </a:moveTo>
                    <a:lnTo>
                      <a:pt x="0" y="618490"/>
                    </a:lnTo>
                    <a:cubicBezTo>
                      <a:pt x="15240" y="618490"/>
                      <a:pt x="27940" y="605790"/>
                      <a:pt x="27940" y="590550"/>
                    </a:cubicBezTo>
                    <a:lnTo>
                      <a:pt x="27940" y="27940"/>
                    </a:lnTo>
                    <a:cubicBezTo>
                      <a:pt x="27940" y="12700"/>
                      <a:pt x="15240" y="0"/>
                      <a:pt x="0" y="0"/>
                    </a:cubicBezTo>
                    <a:close/>
                  </a:path>
                </a:pathLst>
              </a:custGeom>
              <a:solidFill>
                <a:srgbClr val="B8B8B8"/>
              </a:solidFill>
            </p:spPr>
            <p:txBody>
              <a:bodyPr/>
              <a:lstStyle/>
              <a:p>
                <a:endParaRPr lang="en-US"/>
              </a:p>
            </p:txBody>
          </p:sp>
          <p:sp>
            <p:nvSpPr>
              <p:cNvPr id="199" name="Freeform 199"/>
              <p:cNvSpPr/>
              <p:nvPr/>
            </p:nvSpPr>
            <p:spPr>
              <a:xfrm>
                <a:off x="27940" y="0"/>
                <a:ext cx="2564130" cy="5182870"/>
              </a:xfrm>
              <a:custGeom>
                <a:avLst/>
                <a:gdLst/>
                <a:ahLst/>
                <a:cxnLst/>
                <a:rect l="l" t="t" r="r" b="b"/>
                <a:pathLst>
                  <a:path w="2564130" h="5182870">
                    <a:moveTo>
                      <a:pt x="2564130" y="1184910"/>
                    </a:moveTo>
                    <a:lnTo>
                      <a:pt x="2564130" y="379730"/>
                    </a:lnTo>
                    <a:cubicBezTo>
                      <a:pt x="2564130" y="353060"/>
                      <a:pt x="2561590" y="327660"/>
                      <a:pt x="2556510" y="303530"/>
                    </a:cubicBezTo>
                    <a:cubicBezTo>
                      <a:pt x="2553970" y="290830"/>
                      <a:pt x="2551430" y="279400"/>
                      <a:pt x="2547620" y="266700"/>
                    </a:cubicBezTo>
                    <a:cubicBezTo>
                      <a:pt x="2542540" y="248920"/>
                      <a:pt x="2534920" y="231140"/>
                      <a:pt x="2527300" y="214630"/>
                    </a:cubicBezTo>
                    <a:cubicBezTo>
                      <a:pt x="2522220" y="203200"/>
                      <a:pt x="2515870" y="193040"/>
                      <a:pt x="2509520" y="182880"/>
                    </a:cubicBezTo>
                    <a:cubicBezTo>
                      <a:pt x="2503170" y="172720"/>
                      <a:pt x="2496820" y="162560"/>
                      <a:pt x="2489200" y="152400"/>
                    </a:cubicBezTo>
                    <a:cubicBezTo>
                      <a:pt x="2477770" y="137160"/>
                      <a:pt x="2466340" y="124460"/>
                      <a:pt x="2453640" y="110490"/>
                    </a:cubicBezTo>
                    <a:cubicBezTo>
                      <a:pt x="2444750" y="101600"/>
                      <a:pt x="2435860" y="93980"/>
                      <a:pt x="2426970" y="86360"/>
                    </a:cubicBezTo>
                    <a:cubicBezTo>
                      <a:pt x="2360930" y="31750"/>
                      <a:pt x="2277110" y="0"/>
                      <a:pt x="2185670" y="0"/>
                    </a:cubicBezTo>
                    <a:lnTo>
                      <a:pt x="379730" y="0"/>
                    </a:lnTo>
                    <a:cubicBezTo>
                      <a:pt x="288290" y="0"/>
                      <a:pt x="203200" y="33020"/>
                      <a:pt x="138430" y="86360"/>
                    </a:cubicBezTo>
                    <a:cubicBezTo>
                      <a:pt x="129540" y="93980"/>
                      <a:pt x="120650" y="102870"/>
                      <a:pt x="111760" y="110490"/>
                    </a:cubicBezTo>
                    <a:cubicBezTo>
                      <a:pt x="99060" y="123190"/>
                      <a:pt x="86360" y="137160"/>
                      <a:pt x="76200" y="152400"/>
                    </a:cubicBezTo>
                    <a:cubicBezTo>
                      <a:pt x="68580" y="162560"/>
                      <a:pt x="62230" y="172720"/>
                      <a:pt x="55880" y="182880"/>
                    </a:cubicBezTo>
                    <a:cubicBezTo>
                      <a:pt x="49530" y="193040"/>
                      <a:pt x="43180" y="204470"/>
                      <a:pt x="38100" y="214630"/>
                    </a:cubicBezTo>
                    <a:cubicBezTo>
                      <a:pt x="29210" y="232410"/>
                      <a:pt x="22860" y="248920"/>
                      <a:pt x="16510" y="266700"/>
                    </a:cubicBezTo>
                    <a:cubicBezTo>
                      <a:pt x="12700" y="279400"/>
                      <a:pt x="10160" y="290830"/>
                      <a:pt x="7620" y="303530"/>
                    </a:cubicBezTo>
                    <a:cubicBezTo>
                      <a:pt x="2540" y="327660"/>
                      <a:pt x="0" y="354330"/>
                      <a:pt x="0" y="379730"/>
                    </a:cubicBezTo>
                    <a:lnTo>
                      <a:pt x="0" y="4803140"/>
                    </a:lnTo>
                    <a:cubicBezTo>
                      <a:pt x="0" y="5012690"/>
                      <a:pt x="170180" y="5182870"/>
                      <a:pt x="379730" y="5182870"/>
                    </a:cubicBezTo>
                    <a:lnTo>
                      <a:pt x="2184400" y="5182870"/>
                    </a:lnTo>
                    <a:cubicBezTo>
                      <a:pt x="2393950" y="5182870"/>
                      <a:pt x="2564130" y="5012690"/>
                      <a:pt x="2564130" y="4803140"/>
                    </a:cubicBezTo>
                    <a:lnTo>
                      <a:pt x="2564130" y="1184910"/>
                    </a:lnTo>
                    <a:close/>
                    <a:moveTo>
                      <a:pt x="2538730" y="1184910"/>
                    </a:moveTo>
                    <a:lnTo>
                      <a:pt x="2538730" y="4804410"/>
                    </a:lnTo>
                    <a:cubicBezTo>
                      <a:pt x="2538730" y="4999990"/>
                      <a:pt x="2379980" y="5158740"/>
                      <a:pt x="2184400" y="5158740"/>
                    </a:cubicBezTo>
                    <a:lnTo>
                      <a:pt x="379730" y="5158740"/>
                    </a:lnTo>
                    <a:cubicBezTo>
                      <a:pt x="184150" y="5158740"/>
                      <a:pt x="25400" y="4999990"/>
                      <a:pt x="25400" y="4804410"/>
                    </a:cubicBezTo>
                    <a:lnTo>
                      <a:pt x="25400" y="381000"/>
                    </a:lnTo>
                    <a:cubicBezTo>
                      <a:pt x="25400" y="184150"/>
                      <a:pt x="184150" y="25400"/>
                      <a:pt x="379730" y="25400"/>
                    </a:cubicBezTo>
                    <a:lnTo>
                      <a:pt x="2184400" y="25400"/>
                    </a:lnTo>
                    <a:cubicBezTo>
                      <a:pt x="2379980" y="25400"/>
                      <a:pt x="2538730" y="184150"/>
                      <a:pt x="2538730" y="379730"/>
                    </a:cubicBezTo>
                    <a:lnTo>
                      <a:pt x="2538730" y="1184910"/>
                    </a:lnTo>
                    <a:close/>
                  </a:path>
                </a:pathLst>
              </a:custGeom>
              <a:solidFill>
                <a:srgbClr val="E9E9E9"/>
              </a:solidFill>
            </p:spPr>
            <p:txBody>
              <a:bodyPr/>
              <a:lstStyle/>
              <a:p>
                <a:endParaRPr lang="en-US"/>
              </a:p>
            </p:txBody>
          </p:sp>
        </p:grpSp>
        <p:grpSp>
          <p:nvGrpSpPr>
            <p:cNvPr id="200" name="Group 200"/>
            <p:cNvGrpSpPr/>
            <p:nvPr/>
          </p:nvGrpSpPr>
          <p:grpSpPr>
            <a:xfrm>
              <a:off x="245142" y="2772"/>
              <a:ext cx="5094399" cy="10758476"/>
              <a:chOff x="0" y="-47625"/>
              <a:chExt cx="1084832" cy="2290974"/>
            </a:xfrm>
          </p:grpSpPr>
          <p:sp>
            <p:nvSpPr>
              <p:cNvPr id="201" name="Freeform 201"/>
              <p:cNvSpPr/>
              <p:nvPr/>
            </p:nvSpPr>
            <p:spPr>
              <a:xfrm>
                <a:off x="3066" y="-28358"/>
                <a:ext cx="1081766" cy="2271707"/>
              </a:xfrm>
              <a:prstGeom prst="roundRect">
                <a:avLst/>
              </a:prstGeom>
              <a:solidFill>
                <a:srgbClr val="141414"/>
              </a:solidFill>
            </p:spPr>
            <p:txBody>
              <a:bodyPr/>
              <a:lstStyle/>
              <a:p>
                <a:endParaRPr lang="en-US"/>
              </a:p>
            </p:txBody>
          </p:sp>
          <p:sp>
            <p:nvSpPr>
              <p:cNvPr id="202" name="TextBox 202"/>
              <p:cNvSpPr txBox="1"/>
              <p:nvPr/>
            </p:nvSpPr>
            <p:spPr>
              <a:xfrm>
                <a:off x="0" y="-47625"/>
                <a:ext cx="1066268" cy="2255003"/>
              </a:xfrm>
              <a:prstGeom prst="rect">
                <a:avLst/>
              </a:prstGeom>
            </p:spPr>
            <p:txBody>
              <a:bodyPr lIns="1575095" tIns="1575095" rIns="1575095" bIns="1575095" rtlCol="0" anchor="ctr"/>
              <a:lstStyle/>
              <a:p>
                <a:pPr algn="ctr">
                  <a:lnSpc>
                    <a:spcPts val="2339"/>
                  </a:lnSpc>
                </a:pPr>
                <a:endParaRPr/>
              </a:p>
            </p:txBody>
          </p:sp>
        </p:grpSp>
        <p:sp>
          <p:nvSpPr>
            <p:cNvPr id="203" name="Freeform 203"/>
            <p:cNvSpPr/>
            <p:nvPr/>
          </p:nvSpPr>
          <p:spPr>
            <a:xfrm>
              <a:off x="543693" y="426616"/>
              <a:ext cx="874433" cy="874433"/>
            </a:xfrm>
            <a:custGeom>
              <a:avLst/>
              <a:gdLst/>
              <a:ahLst/>
              <a:cxnLst/>
              <a:rect l="l" t="t" r="r" b="b"/>
              <a:pathLst>
                <a:path w="874433" h="874433">
                  <a:moveTo>
                    <a:pt x="0" y="0"/>
                  </a:moveTo>
                  <a:lnTo>
                    <a:pt x="874433" y="0"/>
                  </a:lnTo>
                  <a:lnTo>
                    <a:pt x="874433" y="874433"/>
                  </a:lnTo>
                  <a:lnTo>
                    <a:pt x="0" y="874433"/>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n-US"/>
            </a:p>
          </p:txBody>
        </p:sp>
        <p:grpSp>
          <p:nvGrpSpPr>
            <p:cNvPr id="204" name="Group 204"/>
            <p:cNvGrpSpPr/>
            <p:nvPr/>
          </p:nvGrpSpPr>
          <p:grpSpPr>
            <a:xfrm>
              <a:off x="2016471" y="412927"/>
              <a:ext cx="1464565" cy="888123"/>
              <a:chOff x="0" y="0"/>
              <a:chExt cx="1578858" cy="957431"/>
            </a:xfrm>
          </p:grpSpPr>
          <p:sp>
            <p:nvSpPr>
              <p:cNvPr id="205" name="Freeform 205"/>
              <p:cNvSpPr/>
              <p:nvPr/>
            </p:nvSpPr>
            <p:spPr>
              <a:xfrm>
                <a:off x="0" y="0"/>
                <a:ext cx="1578858" cy="957431"/>
              </a:xfrm>
              <a:custGeom>
                <a:avLst/>
                <a:gdLst/>
                <a:ahLst/>
                <a:cxnLst/>
                <a:rect l="l" t="t" r="r" b="b"/>
                <a:pathLst>
                  <a:path w="1578858" h="957431">
                    <a:moveTo>
                      <a:pt x="0" y="0"/>
                    </a:moveTo>
                    <a:lnTo>
                      <a:pt x="1578858" y="0"/>
                    </a:lnTo>
                    <a:lnTo>
                      <a:pt x="1578858" y="957431"/>
                    </a:lnTo>
                    <a:lnTo>
                      <a:pt x="0" y="957431"/>
                    </a:lnTo>
                    <a:close/>
                  </a:path>
                </a:pathLst>
              </a:custGeom>
              <a:blipFill>
                <a:blip r:embed="rId3">
                  <a:alphaModFix amt="0"/>
                </a:blip>
                <a:stretch>
                  <a:fillRect t="-300064" r="-1116220" b="-381525"/>
                </a:stretch>
              </a:blipFill>
            </p:spPr>
            <p:txBody>
              <a:bodyPr/>
              <a:lstStyle/>
              <a:p>
                <a:endParaRPr lang="en-US"/>
              </a:p>
            </p:txBody>
          </p:sp>
          <p:sp>
            <p:nvSpPr>
              <p:cNvPr id="206" name="TextBox 206"/>
              <p:cNvSpPr txBox="1"/>
              <p:nvPr/>
            </p:nvSpPr>
            <p:spPr>
              <a:xfrm>
                <a:off x="0" y="19050"/>
                <a:ext cx="1578858" cy="938381"/>
              </a:xfrm>
              <a:prstGeom prst="rect">
                <a:avLst/>
              </a:prstGeom>
            </p:spPr>
            <p:txBody>
              <a:bodyPr lIns="0" tIns="0" rIns="0" bIns="0" rtlCol="0" anchor="ctr"/>
              <a:lstStyle/>
              <a:p>
                <a:pPr algn="ctr">
                  <a:lnSpc>
                    <a:spcPts val="2240"/>
                  </a:lnSpc>
                </a:pPr>
                <a:r>
                  <a:rPr lang="en-US" sz="2100" b="1">
                    <a:solidFill>
                      <a:srgbClr val="FFFFFF"/>
                    </a:solidFill>
                    <a:latin typeface="Arial Bold"/>
                    <a:ea typeface="Arial Bold"/>
                    <a:cs typeface="Arial Bold"/>
                    <a:sym typeface="Arial Bold"/>
                  </a:rPr>
                  <a:t>Settings</a:t>
                </a:r>
              </a:p>
            </p:txBody>
          </p:sp>
        </p:grpSp>
        <p:sp>
          <p:nvSpPr>
            <p:cNvPr id="207" name="Freeform 207"/>
            <p:cNvSpPr/>
            <p:nvPr/>
          </p:nvSpPr>
          <p:spPr>
            <a:xfrm rot="-5572345">
              <a:off x="619072" y="723774"/>
              <a:ext cx="591586" cy="310582"/>
            </a:xfrm>
            <a:custGeom>
              <a:avLst/>
              <a:gdLst/>
              <a:ahLst/>
              <a:cxnLst/>
              <a:rect l="l" t="t" r="r" b="b"/>
              <a:pathLst>
                <a:path w="591586" h="310582">
                  <a:moveTo>
                    <a:pt x="0" y="0"/>
                  </a:moveTo>
                  <a:lnTo>
                    <a:pt x="591586" y="0"/>
                  </a:lnTo>
                  <a:lnTo>
                    <a:pt x="591586" y="310583"/>
                  </a:lnTo>
                  <a:lnTo>
                    <a:pt x="0" y="310583"/>
                  </a:lnTo>
                  <a:lnTo>
                    <a:pt x="0" y="0"/>
                  </a:lnTo>
                  <a:close/>
                </a:path>
              </a:pathLst>
            </a:custGeom>
            <a:blipFill>
              <a:blip>
                <a:extLst>
                  <a:ext uri="{96DAC541-7B7A-43D3-8B79-37D633B846F1}">
                    <asvg:svgBlip xmlns:asvg="http://schemas.microsoft.com/office/drawing/2016/SVG/main" r:embed="rId11"/>
                  </a:ext>
                </a:extLst>
              </a:blip>
              <a:stretch>
                <a:fillRect/>
              </a:stretch>
            </a:blipFill>
          </p:spPr>
          <p:txBody>
            <a:bodyPr/>
            <a:lstStyle/>
            <a:p>
              <a:endParaRPr lang="en-US"/>
            </a:p>
          </p:txBody>
        </p:sp>
        <p:grpSp>
          <p:nvGrpSpPr>
            <p:cNvPr id="208" name="Group 208"/>
            <p:cNvGrpSpPr/>
            <p:nvPr/>
          </p:nvGrpSpPr>
          <p:grpSpPr>
            <a:xfrm>
              <a:off x="875597" y="1484961"/>
              <a:ext cx="3746312" cy="775797"/>
              <a:chOff x="0" y="0"/>
              <a:chExt cx="797762" cy="165203"/>
            </a:xfrm>
          </p:grpSpPr>
          <p:sp>
            <p:nvSpPr>
              <p:cNvPr id="209" name="Freeform 209"/>
              <p:cNvSpPr/>
              <p:nvPr/>
            </p:nvSpPr>
            <p:spPr>
              <a:xfrm>
                <a:off x="0" y="0"/>
                <a:ext cx="797762" cy="165203"/>
              </a:xfrm>
              <a:custGeom>
                <a:avLst/>
                <a:gdLst/>
                <a:ahLst/>
                <a:cxnLst/>
                <a:rect l="l" t="t" r="r" b="b"/>
                <a:pathLst>
                  <a:path w="797762" h="165203">
                    <a:moveTo>
                      <a:pt x="4204" y="0"/>
                    </a:moveTo>
                    <a:lnTo>
                      <a:pt x="793558" y="0"/>
                    </a:lnTo>
                    <a:cubicBezTo>
                      <a:pt x="795880" y="0"/>
                      <a:pt x="797762" y="1882"/>
                      <a:pt x="797762" y="4204"/>
                    </a:cubicBezTo>
                    <a:lnTo>
                      <a:pt x="797762" y="160999"/>
                    </a:lnTo>
                    <a:cubicBezTo>
                      <a:pt x="797762" y="163321"/>
                      <a:pt x="795880" y="165203"/>
                      <a:pt x="793558" y="165203"/>
                    </a:cubicBezTo>
                    <a:lnTo>
                      <a:pt x="4204" y="165203"/>
                    </a:lnTo>
                    <a:cubicBezTo>
                      <a:pt x="1882" y="165203"/>
                      <a:pt x="0" y="163321"/>
                      <a:pt x="0" y="160999"/>
                    </a:cubicBezTo>
                    <a:lnTo>
                      <a:pt x="0" y="4204"/>
                    </a:lnTo>
                    <a:cubicBezTo>
                      <a:pt x="0" y="1882"/>
                      <a:pt x="1882" y="0"/>
                      <a:pt x="4204" y="0"/>
                    </a:cubicBezTo>
                    <a:close/>
                  </a:path>
                </a:pathLst>
              </a:custGeom>
              <a:solidFill>
                <a:srgbClr val="363535"/>
              </a:solidFill>
            </p:spPr>
            <p:txBody>
              <a:bodyPr/>
              <a:lstStyle/>
              <a:p>
                <a:endParaRPr lang="en-US"/>
              </a:p>
            </p:txBody>
          </p:sp>
          <p:sp>
            <p:nvSpPr>
              <p:cNvPr id="210" name="TextBox 210"/>
              <p:cNvSpPr txBox="1"/>
              <p:nvPr/>
            </p:nvSpPr>
            <p:spPr>
              <a:xfrm>
                <a:off x="0" y="-47625"/>
                <a:ext cx="797762" cy="212828"/>
              </a:xfrm>
              <a:prstGeom prst="rect">
                <a:avLst/>
              </a:prstGeom>
            </p:spPr>
            <p:txBody>
              <a:bodyPr lIns="1575095" tIns="1575095" rIns="1575095" bIns="1575095" rtlCol="0" anchor="ctr"/>
              <a:lstStyle/>
              <a:p>
                <a:pPr algn="ctr">
                  <a:lnSpc>
                    <a:spcPts val="2339"/>
                  </a:lnSpc>
                </a:pPr>
                <a:endParaRPr/>
              </a:p>
            </p:txBody>
          </p:sp>
        </p:grpSp>
        <p:grpSp>
          <p:nvGrpSpPr>
            <p:cNvPr id="211" name="Group 211"/>
            <p:cNvGrpSpPr/>
            <p:nvPr/>
          </p:nvGrpSpPr>
          <p:grpSpPr>
            <a:xfrm>
              <a:off x="1089481" y="1633357"/>
              <a:ext cx="412259" cy="508812"/>
              <a:chOff x="0" y="0"/>
              <a:chExt cx="658562" cy="812800"/>
            </a:xfrm>
          </p:grpSpPr>
          <p:sp>
            <p:nvSpPr>
              <p:cNvPr id="212" name="Freeform 212"/>
              <p:cNvSpPr/>
              <p:nvPr/>
            </p:nvSpPr>
            <p:spPr>
              <a:xfrm>
                <a:off x="0" y="0"/>
                <a:ext cx="658562" cy="812800"/>
              </a:xfrm>
              <a:custGeom>
                <a:avLst/>
                <a:gdLst/>
                <a:ahLst/>
                <a:cxnLst/>
                <a:rect l="l" t="t" r="r" b="b"/>
                <a:pathLst>
                  <a:path w="658562" h="812800">
                    <a:moveTo>
                      <a:pt x="329281" y="0"/>
                    </a:moveTo>
                    <a:cubicBezTo>
                      <a:pt x="147424" y="0"/>
                      <a:pt x="0" y="181951"/>
                      <a:pt x="0" y="406400"/>
                    </a:cubicBezTo>
                    <a:cubicBezTo>
                      <a:pt x="0" y="630849"/>
                      <a:pt x="147424" y="812800"/>
                      <a:pt x="329281" y="812800"/>
                    </a:cubicBezTo>
                    <a:cubicBezTo>
                      <a:pt x="511138" y="812800"/>
                      <a:pt x="658562" y="630849"/>
                      <a:pt x="658562" y="406400"/>
                    </a:cubicBezTo>
                    <a:cubicBezTo>
                      <a:pt x="658562" y="181951"/>
                      <a:pt x="511138" y="0"/>
                      <a:pt x="329281" y="0"/>
                    </a:cubicBezTo>
                    <a:close/>
                  </a:path>
                </a:pathLst>
              </a:custGeom>
              <a:blipFill>
                <a:blip r:embed="rId8"/>
                <a:stretch>
                  <a:fillRect l="-155679" t="-3152" b="-34610"/>
                </a:stretch>
              </a:blipFill>
              <a:ln w="9525" cap="sq">
                <a:solidFill>
                  <a:srgbClr val="000000"/>
                </a:solidFill>
                <a:prstDash val="solid"/>
                <a:miter/>
              </a:ln>
            </p:spPr>
            <p:txBody>
              <a:bodyPr/>
              <a:lstStyle/>
              <a:p>
                <a:endParaRPr lang="en-US"/>
              </a:p>
            </p:txBody>
          </p:sp>
        </p:grpSp>
        <p:sp>
          <p:nvSpPr>
            <p:cNvPr id="213" name="TextBox 213"/>
            <p:cNvSpPr txBox="1"/>
            <p:nvPr/>
          </p:nvSpPr>
          <p:spPr>
            <a:xfrm>
              <a:off x="1797705" y="1895257"/>
              <a:ext cx="493835" cy="230405"/>
            </a:xfrm>
            <a:prstGeom prst="rect">
              <a:avLst/>
            </a:prstGeom>
          </p:spPr>
          <p:txBody>
            <a:bodyPr wrap="square" lIns="0" tIns="0" rIns="0" bIns="0" rtlCol="0" anchor="t">
              <a:spAutoFit/>
            </a:bodyPr>
            <a:lstStyle/>
            <a:p>
              <a:pPr algn="ctr">
                <a:lnSpc>
                  <a:spcPts val="1352"/>
                </a:lnSpc>
                <a:spcBef>
                  <a:spcPct val="0"/>
                </a:spcBef>
              </a:pPr>
              <a:r>
                <a:rPr lang="en-US" sz="1126" dirty="0">
                  <a:solidFill>
                    <a:srgbClr val="FFFFFF"/>
                  </a:solidFill>
                  <a:latin typeface="Calibri (MS)"/>
                  <a:ea typeface="Calibri (MS)"/>
                  <a:cs typeface="Calibri (MS)"/>
                  <a:sym typeface="Calibri (MS)"/>
                </a:rPr>
                <a:t>Jon J</a:t>
              </a:r>
            </a:p>
          </p:txBody>
        </p:sp>
        <p:grpSp>
          <p:nvGrpSpPr>
            <p:cNvPr id="214" name="Group 214"/>
            <p:cNvGrpSpPr/>
            <p:nvPr/>
          </p:nvGrpSpPr>
          <p:grpSpPr>
            <a:xfrm>
              <a:off x="1490433" y="1440097"/>
              <a:ext cx="949804" cy="583096"/>
              <a:chOff x="0" y="0"/>
              <a:chExt cx="1559557" cy="957431"/>
            </a:xfrm>
          </p:grpSpPr>
          <p:sp>
            <p:nvSpPr>
              <p:cNvPr id="215" name="Freeform 215"/>
              <p:cNvSpPr/>
              <p:nvPr/>
            </p:nvSpPr>
            <p:spPr>
              <a:xfrm>
                <a:off x="0" y="0"/>
                <a:ext cx="1559557" cy="957431"/>
              </a:xfrm>
              <a:custGeom>
                <a:avLst/>
                <a:gdLst/>
                <a:ahLst/>
                <a:cxnLst/>
                <a:rect l="l" t="t" r="r" b="b"/>
                <a:pathLst>
                  <a:path w="1559557" h="957431">
                    <a:moveTo>
                      <a:pt x="0" y="0"/>
                    </a:moveTo>
                    <a:lnTo>
                      <a:pt x="1559557" y="0"/>
                    </a:lnTo>
                    <a:lnTo>
                      <a:pt x="1559557" y="957431"/>
                    </a:lnTo>
                    <a:lnTo>
                      <a:pt x="0" y="957431"/>
                    </a:lnTo>
                    <a:close/>
                  </a:path>
                </a:pathLst>
              </a:custGeom>
              <a:blipFill>
                <a:blip r:embed="rId3">
                  <a:alphaModFix amt="0"/>
                </a:blip>
                <a:stretch>
                  <a:fillRect t="-300064" r="-1131272" b="-381525"/>
                </a:stretch>
              </a:blipFill>
            </p:spPr>
            <p:txBody>
              <a:bodyPr/>
              <a:lstStyle/>
              <a:p>
                <a:endParaRPr lang="en-US"/>
              </a:p>
            </p:txBody>
          </p:sp>
          <p:sp>
            <p:nvSpPr>
              <p:cNvPr id="216" name="TextBox 216"/>
              <p:cNvSpPr txBox="1"/>
              <p:nvPr/>
            </p:nvSpPr>
            <p:spPr>
              <a:xfrm>
                <a:off x="0" y="19050"/>
                <a:ext cx="1559557" cy="938381"/>
              </a:xfrm>
              <a:prstGeom prst="rect">
                <a:avLst/>
              </a:prstGeom>
            </p:spPr>
            <p:txBody>
              <a:bodyPr lIns="0" tIns="0" rIns="0" bIns="0" rtlCol="0" anchor="ctr"/>
              <a:lstStyle/>
              <a:p>
                <a:pPr algn="ctr">
                  <a:lnSpc>
                    <a:spcPts val="2133"/>
                  </a:lnSpc>
                </a:pPr>
                <a:r>
                  <a:rPr lang="en-US" sz="2000" b="1">
                    <a:solidFill>
                      <a:srgbClr val="FFFFFF"/>
                    </a:solidFill>
                    <a:latin typeface="Arial Bold"/>
                    <a:ea typeface="Arial Bold"/>
                    <a:cs typeface="Arial Bold"/>
                    <a:sym typeface="Arial Bold"/>
                  </a:rPr>
                  <a:t>Jon</a:t>
                </a:r>
              </a:p>
            </p:txBody>
          </p:sp>
        </p:grpSp>
        <p:sp>
          <p:nvSpPr>
            <p:cNvPr id="217" name="Freeform 217"/>
            <p:cNvSpPr/>
            <p:nvPr/>
          </p:nvSpPr>
          <p:spPr>
            <a:xfrm rot="5400000">
              <a:off x="3965801" y="1745233"/>
              <a:ext cx="384374" cy="201796"/>
            </a:xfrm>
            <a:custGeom>
              <a:avLst/>
              <a:gdLst/>
              <a:ahLst/>
              <a:cxnLst/>
              <a:rect l="l" t="t" r="r" b="b"/>
              <a:pathLst>
                <a:path w="384374" h="201796">
                  <a:moveTo>
                    <a:pt x="0" y="0"/>
                  </a:moveTo>
                  <a:lnTo>
                    <a:pt x="384374" y="0"/>
                  </a:lnTo>
                  <a:lnTo>
                    <a:pt x="384374" y="201796"/>
                  </a:lnTo>
                  <a:lnTo>
                    <a:pt x="0" y="201796"/>
                  </a:lnTo>
                  <a:lnTo>
                    <a:pt x="0" y="0"/>
                  </a:lnTo>
                  <a:close/>
                </a:path>
              </a:pathLst>
            </a:custGeom>
            <a:blipFill>
              <a:blip>
                <a:extLst>
                  <a:ext uri="{96DAC541-7B7A-43D3-8B79-37D633B846F1}">
                    <asvg:svgBlip xmlns:asvg="http://schemas.microsoft.com/office/drawing/2016/SVG/main" r:embed="rId11"/>
                  </a:ext>
                </a:extLst>
              </a:blip>
              <a:stretch>
                <a:fillRect/>
              </a:stretch>
            </a:blipFill>
          </p:spPr>
          <p:txBody>
            <a:bodyPr/>
            <a:lstStyle/>
            <a:p>
              <a:endParaRPr lang="en-US"/>
            </a:p>
          </p:txBody>
        </p:sp>
        <p:grpSp>
          <p:nvGrpSpPr>
            <p:cNvPr id="218" name="Group 218"/>
            <p:cNvGrpSpPr/>
            <p:nvPr/>
          </p:nvGrpSpPr>
          <p:grpSpPr>
            <a:xfrm>
              <a:off x="893722" y="4065754"/>
              <a:ext cx="4201659" cy="320401"/>
              <a:chOff x="0" y="0"/>
              <a:chExt cx="9254165" cy="705685"/>
            </a:xfrm>
          </p:grpSpPr>
          <p:sp>
            <p:nvSpPr>
              <p:cNvPr id="219" name="Freeform 219"/>
              <p:cNvSpPr/>
              <p:nvPr/>
            </p:nvSpPr>
            <p:spPr>
              <a:xfrm>
                <a:off x="0" y="0"/>
                <a:ext cx="9254165" cy="705685"/>
              </a:xfrm>
              <a:custGeom>
                <a:avLst/>
                <a:gdLst/>
                <a:ahLst/>
                <a:cxnLst/>
                <a:rect l="l" t="t" r="r" b="b"/>
                <a:pathLst>
                  <a:path w="9254165" h="705685">
                    <a:moveTo>
                      <a:pt x="0" y="0"/>
                    </a:moveTo>
                    <a:lnTo>
                      <a:pt x="9254165" y="0"/>
                    </a:lnTo>
                    <a:lnTo>
                      <a:pt x="9254165" y="705685"/>
                    </a:lnTo>
                    <a:lnTo>
                      <a:pt x="0" y="705685"/>
                    </a:lnTo>
                    <a:close/>
                  </a:path>
                </a:pathLst>
              </a:custGeom>
              <a:blipFill>
                <a:blip r:embed="rId3">
                  <a:alphaModFix amt="0"/>
                </a:blip>
                <a:stretch>
                  <a:fillRect t="-407110" r="-107500" b="-553304"/>
                </a:stretch>
              </a:blipFill>
            </p:spPr>
            <p:txBody>
              <a:bodyPr/>
              <a:lstStyle/>
              <a:p>
                <a:endParaRPr lang="en-US"/>
              </a:p>
            </p:txBody>
          </p:sp>
          <p:sp>
            <p:nvSpPr>
              <p:cNvPr id="220" name="TextBox 220"/>
              <p:cNvSpPr txBox="1"/>
              <p:nvPr/>
            </p:nvSpPr>
            <p:spPr>
              <a:xfrm>
                <a:off x="0" y="0"/>
                <a:ext cx="9254165" cy="705685"/>
              </a:xfrm>
              <a:prstGeom prst="rect">
                <a:avLst/>
              </a:prstGeom>
            </p:spPr>
            <p:txBody>
              <a:bodyPr lIns="0" tIns="0" rIns="0" bIns="0" rtlCol="0" anchor="ctr"/>
              <a:lstStyle/>
              <a:p>
                <a:pPr algn="l">
                  <a:lnSpc>
                    <a:spcPts val="533"/>
                  </a:lnSpc>
                </a:pPr>
                <a:r>
                  <a:rPr lang="en-US" sz="500">
                    <a:solidFill>
                      <a:srgbClr val="FFFFFF"/>
                    </a:solidFill>
                    <a:latin typeface="Arial"/>
                    <a:ea typeface="Arial"/>
                    <a:cs typeface="Arial"/>
                    <a:sym typeface="Arial"/>
                  </a:rPr>
                  <a:t>You can only opt-in or opt-out of current boards.</a:t>
                </a:r>
              </a:p>
              <a:p>
                <a:pPr algn="l">
                  <a:lnSpc>
                    <a:spcPts val="533"/>
                  </a:lnSpc>
                </a:pPr>
                <a:endParaRPr lang="en-US" sz="500">
                  <a:solidFill>
                    <a:srgbClr val="FFFFFF"/>
                  </a:solidFill>
                  <a:latin typeface="Arial"/>
                  <a:ea typeface="Arial"/>
                  <a:cs typeface="Arial"/>
                  <a:sym typeface="Arial"/>
                </a:endParaRPr>
              </a:p>
              <a:p>
                <a:pPr algn="l">
                  <a:lnSpc>
                    <a:spcPts val="533"/>
                  </a:lnSpc>
                </a:pPr>
                <a:r>
                  <a:rPr lang="en-US" sz="500">
                    <a:solidFill>
                      <a:srgbClr val="FFFFFF"/>
                    </a:solidFill>
                    <a:latin typeface="Arial"/>
                    <a:ea typeface="Arial"/>
                    <a:cs typeface="Arial"/>
                    <a:sym typeface="Arial"/>
                  </a:rPr>
                  <a:t>Choose board(s). </a:t>
                </a:r>
              </a:p>
            </p:txBody>
          </p:sp>
        </p:grpSp>
        <p:grpSp>
          <p:nvGrpSpPr>
            <p:cNvPr id="221" name="Group 221"/>
            <p:cNvGrpSpPr/>
            <p:nvPr/>
          </p:nvGrpSpPr>
          <p:grpSpPr>
            <a:xfrm>
              <a:off x="893722" y="4659205"/>
              <a:ext cx="3621976" cy="339911"/>
              <a:chOff x="0" y="0"/>
              <a:chExt cx="903586" cy="84799"/>
            </a:xfrm>
          </p:grpSpPr>
          <p:sp>
            <p:nvSpPr>
              <p:cNvPr id="222" name="Freeform 222"/>
              <p:cNvSpPr/>
              <p:nvPr/>
            </p:nvSpPr>
            <p:spPr>
              <a:xfrm>
                <a:off x="0" y="0"/>
                <a:ext cx="903586" cy="84799"/>
              </a:xfrm>
              <a:custGeom>
                <a:avLst/>
                <a:gdLst/>
                <a:ahLst/>
                <a:cxnLst/>
                <a:rect l="l" t="t" r="r" b="b"/>
                <a:pathLst>
                  <a:path w="903586" h="84799">
                    <a:moveTo>
                      <a:pt x="4434" y="0"/>
                    </a:moveTo>
                    <a:lnTo>
                      <a:pt x="899152" y="0"/>
                    </a:lnTo>
                    <a:cubicBezTo>
                      <a:pt x="900328" y="0"/>
                      <a:pt x="901456" y="467"/>
                      <a:pt x="902287" y="1299"/>
                    </a:cubicBezTo>
                    <a:cubicBezTo>
                      <a:pt x="903119" y="2130"/>
                      <a:pt x="903586" y="3258"/>
                      <a:pt x="903586" y="4434"/>
                    </a:cubicBezTo>
                    <a:lnTo>
                      <a:pt x="903586" y="80365"/>
                    </a:lnTo>
                    <a:cubicBezTo>
                      <a:pt x="903586" y="82814"/>
                      <a:pt x="901601" y="84799"/>
                      <a:pt x="899152" y="84799"/>
                    </a:cubicBezTo>
                    <a:lnTo>
                      <a:pt x="4434" y="84799"/>
                    </a:lnTo>
                    <a:cubicBezTo>
                      <a:pt x="1985" y="84799"/>
                      <a:pt x="0" y="82814"/>
                      <a:pt x="0" y="80365"/>
                    </a:cubicBezTo>
                    <a:lnTo>
                      <a:pt x="0" y="4434"/>
                    </a:lnTo>
                    <a:cubicBezTo>
                      <a:pt x="0" y="1985"/>
                      <a:pt x="1985" y="0"/>
                      <a:pt x="4434" y="0"/>
                    </a:cubicBezTo>
                    <a:close/>
                  </a:path>
                </a:pathLst>
              </a:custGeom>
              <a:solidFill>
                <a:srgbClr val="363535"/>
              </a:solidFill>
            </p:spPr>
            <p:txBody>
              <a:bodyPr/>
              <a:lstStyle/>
              <a:p>
                <a:endParaRPr lang="en-US"/>
              </a:p>
            </p:txBody>
          </p:sp>
          <p:sp>
            <p:nvSpPr>
              <p:cNvPr id="223" name="TextBox 223"/>
              <p:cNvSpPr txBox="1"/>
              <p:nvPr/>
            </p:nvSpPr>
            <p:spPr>
              <a:xfrm>
                <a:off x="0" y="-47625"/>
                <a:ext cx="903586" cy="132424"/>
              </a:xfrm>
              <a:prstGeom prst="rect">
                <a:avLst/>
              </a:prstGeom>
            </p:spPr>
            <p:txBody>
              <a:bodyPr lIns="1344474" tIns="1344474" rIns="1344474" bIns="1344474" rtlCol="0" anchor="ctr"/>
              <a:lstStyle/>
              <a:p>
                <a:pPr algn="ctr">
                  <a:lnSpc>
                    <a:spcPts val="2339"/>
                  </a:lnSpc>
                </a:pPr>
                <a:endParaRPr/>
              </a:p>
            </p:txBody>
          </p:sp>
        </p:grpSp>
        <p:grpSp>
          <p:nvGrpSpPr>
            <p:cNvPr id="224" name="Group 224"/>
            <p:cNvGrpSpPr/>
            <p:nvPr/>
          </p:nvGrpSpPr>
          <p:grpSpPr>
            <a:xfrm>
              <a:off x="1638525" y="4659205"/>
              <a:ext cx="1448645" cy="339911"/>
              <a:chOff x="0" y="0"/>
              <a:chExt cx="2786659" cy="653864"/>
            </a:xfrm>
          </p:grpSpPr>
          <p:sp>
            <p:nvSpPr>
              <p:cNvPr id="225" name="Freeform 225"/>
              <p:cNvSpPr/>
              <p:nvPr/>
            </p:nvSpPr>
            <p:spPr>
              <a:xfrm>
                <a:off x="0" y="0"/>
                <a:ext cx="2786659" cy="653864"/>
              </a:xfrm>
              <a:custGeom>
                <a:avLst/>
                <a:gdLst/>
                <a:ahLst/>
                <a:cxnLst/>
                <a:rect l="l" t="t" r="r" b="b"/>
                <a:pathLst>
                  <a:path w="2786659" h="653864">
                    <a:moveTo>
                      <a:pt x="0" y="0"/>
                    </a:moveTo>
                    <a:lnTo>
                      <a:pt x="2786659" y="0"/>
                    </a:lnTo>
                    <a:lnTo>
                      <a:pt x="2786659" y="653864"/>
                    </a:lnTo>
                    <a:lnTo>
                      <a:pt x="0" y="653864"/>
                    </a:lnTo>
                    <a:close/>
                  </a:path>
                </a:pathLst>
              </a:custGeom>
              <a:blipFill>
                <a:blip r:embed="rId3">
                  <a:alphaModFix amt="0"/>
                </a:blip>
                <a:stretch>
                  <a:fillRect t="-439375" r="-589083" b="-605081"/>
                </a:stretch>
              </a:blipFill>
            </p:spPr>
            <p:txBody>
              <a:bodyPr/>
              <a:lstStyle/>
              <a:p>
                <a:endParaRPr lang="en-US"/>
              </a:p>
            </p:txBody>
          </p:sp>
          <p:sp>
            <p:nvSpPr>
              <p:cNvPr id="226" name="TextBox 226"/>
              <p:cNvSpPr txBox="1"/>
              <p:nvPr/>
            </p:nvSpPr>
            <p:spPr>
              <a:xfrm>
                <a:off x="0" y="9525"/>
                <a:ext cx="2786659" cy="644339"/>
              </a:xfrm>
              <a:prstGeom prst="rect">
                <a:avLst/>
              </a:prstGeom>
            </p:spPr>
            <p:txBody>
              <a:bodyPr lIns="0" tIns="0" rIns="0" bIns="0" rtlCol="0" anchor="ctr"/>
              <a:lstStyle/>
              <a:p>
                <a:pPr algn="l">
                  <a:lnSpc>
                    <a:spcPts val="1066"/>
                  </a:lnSpc>
                </a:pPr>
                <a:r>
                  <a:rPr lang="en-US" sz="1000" b="1">
                    <a:solidFill>
                      <a:srgbClr val="FFFFFF"/>
                    </a:solidFill>
                    <a:latin typeface="Arial Bold"/>
                    <a:ea typeface="Arial Bold"/>
                    <a:cs typeface="Arial Bold"/>
                    <a:sym typeface="Arial Bold"/>
                  </a:rPr>
                  <a:t>CRAMMING</a:t>
                </a:r>
              </a:p>
            </p:txBody>
          </p:sp>
        </p:grpSp>
        <p:grpSp>
          <p:nvGrpSpPr>
            <p:cNvPr id="227" name="Group 227"/>
            <p:cNvGrpSpPr/>
            <p:nvPr/>
          </p:nvGrpSpPr>
          <p:grpSpPr>
            <a:xfrm>
              <a:off x="893722" y="5059405"/>
              <a:ext cx="3621976" cy="339911"/>
              <a:chOff x="0" y="0"/>
              <a:chExt cx="903586" cy="84799"/>
            </a:xfrm>
          </p:grpSpPr>
          <p:sp>
            <p:nvSpPr>
              <p:cNvPr id="228" name="Freeform 228"/>
              <p:cNvSpPr/>
              <p:nvPr/>
            </p:nvSpPr>
            <p:spPr>
              <a:xfrm>
                <a:off x="0" y="0"/>
                <a:ext cx="903586" cy="84799"/>
              </a:xfrm>
              <a:custGeom>
                <a:avLst/>
                <a:gdLst/>
                <a:ahLst/>
                <a:cxnLst/>
                <a:rect l="l" t="t" r="r" b="b"/>
                <a:pathLst>
                  <a:path w="903586" h="84799">
                    <a:moveTo>
                      <a:pt x="4434" y="0"/>
                    </a:moveTo>
                    <a:lnTo>
                      <a:pt x="899152" y="0"/>
                    </a:lnTo>
                    <a:cubicBezTo>
                      <a:pt x="900328" y="0"/>
                      <a:pt x="901456" y="467"/>
                      <a:pt x="902287" y="1299"/>
                    </a:cubicBezTo>
                    <a:cubicBezTo>
                      <a:pt x="903119" y="2130"/>
                      <a:pt x="903586" y="3258"/>
                      <a:pt x="903586" y="4434"/>
                    </a:cubicBezTo>
                    <a:lnTo>
                      <a:pt x="903586" y="80365"/>
                    </a:lnTo>
                    <a:cubicBezTo>
                      <a:pt x="903586" y="82814"/>
                      <a:pt x="901601" y="84799"/>
                      <a:pt x="899152" y="84799"/>
                    </a:cubicBezTo>
                    <a:lnTo>
                      <a:pt x="4434" y="84799"/>
                    </a:lnTo>
                    <a:cubicBezTo>
                      <a:pt x="1985" y="84799"/>
                      <a:pt x="0" y="82814"/>
                      <a:pt x="0" y="80365"/>
                    </a:cubicBezTo>
                    <a:lnTo>
                      <a:pt x="0" y="4434"/>
                    </a:lnTo>
                    <a:cubicBezTo>
                      <a:pt x="0" y="1985"/>
                      <a:pt x="1985" y="0"/>
                      <a:pt x="4434" y="0"/>
                    </a:cubicBezTo>
                    <a:close/>
                  </a:path>
                </a:pathLst>
              </a:custGeom>
              <a:solidFill>
                <a:srgbClr val="363535"/>
              </a:solidFill>
            </p:spPr>
            <p:txBody>
              <a:bodyPr/>
              <a:lstStyle/>
              <a:p>
                <a:endParaRPr lang="en-US"/>
              </a:p>
            </p:txBody>
          </p:sp>
          <p:sp>
            <p:nvSpPr>
              <p:cNvPr id="229" name="TextBox 229"/>
              <p:cNvSpPr txBox="1"/>
              <p:nvPr/>
            </p:nvSpPr>
            <p:spPr>
              <a:xfrm>
                <a:off x="0" y="-47625"/>
                <a:ext cx="903586" cy="132424"/>
              </a:xfrm>
              <a:prstGeom prst="rect">
                <a:avLst/>
              </a:prstGeom>
            </p:spPr>
            <p:txBody>
              <a:bodyPr lIns="1344474" tIns="1344474" rIns="1344474" bIns="1344474" rtlCol="0" anchor="ctr"/>
              <a:lstStyle/>
              <a:p>
                <a:pPr algn="ctr">
                  <a:lnSpc>
                    <a:spcPts val="2339"/>
                  </a:lnSpc>
                </a:pPr>
                <a:endParaRPr/>
              </a:p>
            </p:txBody>
          </p:sp>
        </p:grpSp>
        <p:grpSp>
          <p:nvGrpSpPr>
            <p:cNvPr id="230" name="Group 230"/>
            <p:cNvGrpSpPr/>
            <p:nvPr/>
          </p:nvGrpSpPr>
          <p:grpSpPr>
            <a:xfrm>
              <a:off x="1638525" y="5059405"/>
              <a:ext cx="1448645" cy="339911"/>
              <a:chOff x="0" y="0"/>
              <a:chExt cx="2786659" cy="653864"/>
            </a:xfrm>
          </p:grpSpPr>
          <p:sp>
            <p:nvSpPr>
              <p:cNvPr id="231" name="Freeform 231"/>
              <p:cNvSpPr/>
              <p:nvPr/>
            </p:nvSpPr>
            <p:spPr>
              <a:xfrm>
                <a:off x="0" y="0"/>
                <a:ext cx="2786659" cy="653864"/>
              </a:xfrm>
              <a:custGeom>
                <a:avLst/>
                <a:gdLst/>
                <a:ahLst/>
                <a:cxnLst/>
                <a:rect l="l" t="t" r="r" b="b"/>
                <a:pathLst>
                  <a:path w="2786659" h="653864">
                    <a:moveTo>
                      <a:pt x="0" y="0"/>
                    </a:moveTo>
                    <a:lnTo>
                      <a:pt x="2786659" y="0"/>
                    </a:lnTo>
                    <a:lnTo>
                      <a:pt x="2786659" y="653864"/>
                    </a:lnTo>
                    <a:lnTo>
                      <a:pt x="0" y="653864"/>
                    </a:lnTo>
                    <a:close/>
                  </a:path>
                </a:pathLst>
              </a:custGeom>
              <a:blipFill>
                <a:blip r:embed="rId3">
                  <a:alphaModFix amt="0"/>
                </a:blip>
                <a:stretch>
                  <a:fillRect t="-439375" r="-589083" b="-605081"/>
                </a:stretch>
              </a:blipFill>
            </p:spPr>
            <p:txBody>
              <a:bodyPr/>
              <a:lstStyle/>
              <a:p>
                <a:endParaRPr lang="en-US"/>
              </a:p>
            </p:txBody>
          </p:sp>
          <p:sp>
            <p:nvSpPr>
              <p:cNvPr id="232" name="TextBox 232"/>
              <p:cNvSpPr txBox="1"/>
              <p:nvPr/>
            </p:nvSpPr>
            <p:spPr>
              <a:xfrm>
                <a:off x="0" y="9525"/>
                <a:ext cx="2786659" cy="644339"/>
              </a:xfrm>
              <a:prstGeom prst="rect">
                <a:avLst/>
              </a:prstGeom>
            </p:spPr>
            <p:txBody>
              <a:bodyPr lIns="0" tIns="0" rIns="0" bIns="0" rtlCol="0" anchor="ctr"/>
              <a:lstStyle/>
              <a:p>
                <a:pPr algn="l">
                  <a:lnSpc>
                    <a:spcPts val="1066"/>
                  </a:lnSpc>
                </a:pPr>
                <a:r>
                  <a:rPr lang="en-US" sz="1000" b="1">
                    <a:solidFill>
                      <a:srgbClr val="FFFFFF"/>
                    </a:solidFill>
                    <a:latin typeface="Arial Bold"/>
                    <a:ea typeface="Arial Bold"/>
                    <a:cs typeface="Arial Bold"/>
                    <a:sym typeface="Arial Bold"/>
                  </a:rPr>
                  <a:t>HIKE</a:t>
                </a:r>
              </a:p>
            </p:txBody>
          </p:sp>
        </p:grpSp>
        <p:grpSp>
          <p:nvGrpSpPr>
            <p:cNvPr id="233" name="Group 233"/>
            <p:cNvGrpSpPr/>
            <p:nvPr/>
          </p:nvGrpSpPr>
          <p:grpSpPr>
            <a:xfrm>
              <a:off x="893722" y="5458615"/>
              <a:ext cx="3621976" cy="339911"/>
              <a:chOff x="0" y="0"/>
              <a:chExt cx="903586" cy="84799"/>
            </a:xfrm>
          </p:grpSpPr>
          <p:sp>
            <p:nvSpPr>
              <p:cNvPr id="234" name="Freeform 234"/>
              <p:cNvSpPr/>
              <p:nvPr/>
            </p:nvSpPr>
            <p:spPr>
              <a:xfrm>
                <a:off x="0" y="0"/>
                <a:ext cx="903586" cy="84799"/>
              </a:xfrm>
              <a:custGeom>
                <a:avLst/>
                <a:gdLst/>
                <a:ahLst/>
                <a:cxnLst/>
                <a:rect l="l" t="t" r="r" b="b"/>
                <a:pathLst>
                  <a:path w="903586" h="84799">
                    <a:moveTo>
                      <a:pt x="4434" y="0"/>
                    </a:moveTo>
                    <a:lnTo>
                      <a:pt x="899152" y="0"/>
                    </a:lnTo>
                    <a:cubicBezTo>
                      <a:pt x="900328" y="0"/>
                      <a:pt x="901456" y="467"/>
                      <a:pt x="902287" y="1299"/>
                    </a:cubicBezTo>
                    <a:cubicBezTo>
                      <a:pt x="903119" y="2130"/>
                      <a:pt x="903586" y="3258"/>
                      <a:pt x="903586" y="4434"/>
                    </a:cubicBezTo>
                    <a:lnTo>
                      <a:pt x="903586" y="80365"/>
                    </a:lnTo>
                    <a:cubicBezTo>
                      <a:pt x="903586" y="82814"/>
                      <a:pt x="901601" y="84799"/>
                      <a:pt x="899152" y="84799"/>
                    </a:cubicBezTo>
                    <a:lnTo>
                      <a:pt x="4434" y="84799"/>
                    </a:lnTo>
                    <a:cubicBezTo>
                      <a:pt x="1985" y="84799"/>
                      <a:pt x="0" y="82814"/>
                      <a:pt x="0" y="80365"/>
                    </a:cubicBezTo>
                    <a:lnTo>
                      <a:pt x="0" y="4434"/>
                    </a:lnTo>
                    <a:cubicBezTo>
                      <a:pt x="0" y="1985"/>
                      <a:pt x="1985" y="0"/>
                      <a:pt x="4434" y="0"/>
                    </a:cubicBezTo>
                    <a:close/>
                  </a:path>
                </a:pathLst>
              </a:custGeom>
              <a:solidFill>
                <a:srgbClr val="363535"/>
              </a:solidFill>
            </p:spPr>
            <p:txBody>
              <a:bodyPr/>
              <a:lstStyle/>
              <a:p>
                <a:endParaRPr lang="en-US"/>
              </a:p>
            </p:txBody>
          </p:sp>
          <p:sp>
            <p:nvSpPr>
              <p:cNvPr id="235" name="TextBox 235"/>
              <p:cNvSpPr txBox="1"/>
              <p:nvPr/>
            </p:nvSpPr>
            <p:spPr>
              <a:xfrm>
                <a:off x="0" y="-47625"/>
                <a:ext cx="903586" cy="132424"/>
              </a:xfrm>
              <a:prstGeom prst="rect">
                <a:avLst/>
              </a:prstGeom>
            </p:spPr>
            <p:txBody>
              <a:bodyPr lIns="1344474" tIns="1344474" rIns="1344474" bIns="1344474" rtlCol="0" anchor="ctr"/>
              <a:lstStyle/>
              <a:p>
                <a:pPr algn="ctr">
                  <a:lnSpc>
                    <a:spcPts val="2339"/>
                  </a:lnSpc>
                </a:pPr>
                <a:endParaRPr/>
              </a:p>
            </p:txBody>
          </p:sp>
        </p:grpSp>
        <p:grpSp>
          <p:nvGrpSpPr>
            <p:cNvPr id="236" name="Group 236"/>
            <p:cNvGrpSpPr/>
            <p:nvPr/>
          </p:nvGrpSpPr>
          <p:grpSpPr>
            <a:xfrm>
              <a:off x="1638525" y="5458615"/>
              <a:ext cx="1448645" cy="339911"/>
              <a:chOff x="0" y="0"/>
              <a:chExt cx="2786659" cy="653864"/>
            </a:xfrm>
          </p:grpSpPr>
          <p:sp>
            <p:nvSpPr>
              <p:cNvPr id="237" name="Freeform 237"/>
              <p:cNvSpPr/>
              <p:nvPr/>
            </p:nvSpPr>
            <p:spPr>
              <a:xfrm>
                <a:off x="0" y="0"/>
                <a:ext cx="2786659" cy="653864"/>
              </a:xfrm>
              <a:custGeom>
                <a:avLst/>
                <a:gdLst/>
                <a:ahLst/>
                <a:cxnLst/>
                <a:rect l="l" t="t" r="r" b="b"/>
                <a:pathLst>
                  <a:path w="2786659" h="653864">
                    <a:moveTo>
                      <a:pt x="0" y="0"/>
                    </a:moveTo>
                    <a:lnTo>
                      <a:pt x="2786659" y="0"/>
                    </a:lnTo>
                    <a:lnTo>
                      <a:pt x="2786659" y="653864"/>
                    </a:lnTo>
                    <a:lnTo>
                      <a:pt x="0" y="653864"/>
                    </a:lnTo>
                    <a:close/>
                  </a:path>
                </a:pathLst>
              </a:custGeom>
              <a:blipFill>
                <a:blip r:embed="rId3">
                  <a:alphaModFix amt="0"/>
                </a:blip>
                <a:stretch>
                  <a:fillRect t="-439375" r="-589083" b="-605081"/>
                </a:stretch>
              </a:blipFill>
            </p:spPr>
            <p:txBody>
              <a:bodyPr/>
              <a:lstStyle/>
              <a:p>
                <a:endParaRPr lang="en-US"/>
              </a:p>
            </p:txBody>
          </p:sp>
          <p:sp>
            <p:nvSpPr>
              <p:cNvPr id="238" name="TextBox 238"/>
              <p:cNvSpPr txBox="1"/>
              <p:nvPr/>
            </p:nvSpPr>
            <p:spPr>
              <a:xfrm>
                <a:off x="0" y="9525"/>
                <a:ext cx="2786659" cy="644339"/>
              </a:xfrm>
              <a:prstGeom prst="rect">
                <a:avLst/>
              </a:prstGeom>
            </p:spPr>
            <p:txBody>
              <a:bodyPr lIns="0" tIns="0" rIns="0" bIns="0" rtlCol="0" anchor="ctr"/>
              <a:lstStyle/>
              <a:p>
                <a:pPr algn="l">
                  <a:lnSpc>
                    <a:spcPts val="1066"/>
                  </a:lnSpc>
                </a:pPr>
                <a:r>
                  <a:rPr lang="en-US" sz="1000" b="1">
                    <a:solidFill>
                      <a:srgbClr val="FFFFFF"/>
                    </a:solidFill>
                    <a:latin typeface="Arial Bold"/>
                    <a:ea typeface="Arial Bold"/>
                    <a:cs typeface="Arial Bold"/>
                    <a:sym typeface="Arial Bold"/>
                  </a:rPr>
                  <a:t>COFFEE</a:t>
                </a:r>
              </a:p>
            </p:txBody>
          </p:sp>
        </p:grpSp>
        <p:grpSp>
          <p:nvGrpSpPr>
            <p:cNvPr id="239" name="Group 239"/>
            <p:cNvGrpSpPr/>
            <p:nvPr/>
          </p:nvGrpSpPr>
          <p:grpSpPr>
            <a:xfrm>
              <a:off x="893722" y="5857826"/>
              <a:ext cx="3621976" cy="339911"/>
              <a:chOff x="0" y="0"/>
              <a:chExt cx="903586" cy="84799"/>
            </a:xfrm>
          </p:grpSpPr>
          <p:sp>
            <p:nvSpPr>
              <p:cNvPr id="240" name="Freeform 240"/>
              <p:cNvSpPr/>
              <p:nvPr/>
            </p:nvSpPr>
            <p:spPr>
              <a:xfrm>
                <a:off x="0" y="0"/>
                <a:ext cx="903586" cy="84799"/>
              </a:xfrm>
              <a:custGeom>
                <a:avLst/>
                <a:gdLst/>
                <a:ahLst/>
                <a:cxnLst/>
                <a:rect l="l" t="t" r="r" b="b"/>
                <a:pathLst>
                  <a:path w="903586" h="84799">
                    <a:moveTo>
                      <a:pt x="4434" y="0"/>
                    </a:moveTo>
                    <a:lnTo>
                      <a:pt x="899152" y="0"/>
                    </a:lnTo>
                    <a:cubicBezTo>
                      <a:pt x="900328" y="0"/>
                      <a:pt x="901456" y="467"/>
                      <a:pt x="902287" y="1299"/>
                    </a:cubicBezTo>
                    <a:cubicBezTo>
                      <a:pt x="903119" y="2130"/>
                      <a:pt x="903586" y="3258"/>
                      <a:pt x="903586" y="4434"/>
                    </a:cubicBezTo>
                    <a:lnTo>
                      <a:pt x="903586" y="80365"/>
                    </a:lnTo>
                    <a:cubicBezTo>
                      <a:pt x="903586" y="82814"/>
                      <a:pt x="901601" y="84799"/>
                      <a:pt x="899152" y="84799"/>
                    </a:cubicBezTo>
                    <a:lnTo>
                      <a:pt x="4434" y="84799"/>
                    </a:lnTo>
                    <a:cubicBezTo>
                      <a:pt x="1985" y="84799"/>
                      <a:pt x="0" y="82814"/>
                      <a:pt x="0" y="80365"/>
                    </a:cubicBezTo>
                    <a:lnTo>
                      <a:pt x="0" y="4434"/>
                    </a:lnTo>
                    <a:cubicBezTo>
                      <a:pt x="0" y="1985"/>
                      <a:pt x="1985" y="0"/>
                      <a:pt x="4434" y="0"/>
                    </a:cubicBezTo>
                    <a:close/>
                  </a:path>
                </a:pathLst>
              </a:custGeom>
              <a:solidFill>
                <a:srgbClr val="363535"/>
              </a:solidFill>
            </p:spPr>
            <p:txBody>
              <a:bodyPr/>
              <a:lstStyle/>
              <a:p>
                <a:endParaRPr lang="en-US"/>
              </a:p>
            </p:txBody>
          </p:sp>
          <p:sp>
            <p:nvSpPr>
              <p:cNvPr id="241" name="TextBox 241"/>
              <p:cNvSpPr txBox="1"/>
              <p:nvPr/>
            </p:nvSpPr>
            <p:spPr>
              <a:xfrm>
                <a:off x="0" y="-47625"/>
                <a:ext cx="903586" cy="132424"/>
              </a:xfrm>
              <a:prstGeom prst="rect">
                <a:avLst/>
              </a:prstGeom>
            </p:spPr>
            <p:txBody>
              <a:bodyPr lIns="1344474" tIns="1344474" rIns="1344474" bIns="1344474" rtlCol="0" anchor="ctr"/>
              <a:lstStyle/>
              <a:p>
                <a:pPr algn="ctr">
                  <a:lnSpc>
                    <a:spcPts val="2339"/>
                  </a:lnSpc>
                </a:pPr>
                <a:endParaRPr/>
              </a:p>
            </p:txBody>
          </p:sp>
        </p:grpSp>
        <p:grpSp>
          <p:nvGrpSpPr>
            <p:cNvPr id="242" name="Group 242"/>
            <p:cNvGrpSpPr/>
            <p:nvPr/>
          </p:nvGrpSpPr>
          <p:grpSpPr>
            <a:xfrm>
              <a:off x="1638525" y="5859882"/>
              <a:ext cx="2239440" cy="339911"/>
              <a:chOff x="0" y="0"/>
              <a:chExt cx="4307858" cy="653864"/>
            </a:xfrm>
          </p:grpSpPr>
          <p:sp>
            <p:nvSpPr>
              <p:cNvPr id="243" name="Freeform 243"/>
              <p:cNvSpPr/>
              <p:nvPr/>
            </p:nvSpPr>
            <p:spPr>
              <a:xfrm>
                <a:off x="0" y="0"/>
                <a:ext cx="4307858" cy="653864"/>
              </a:xfrm>
              <a:custGeom>
                <a:avLst/>
                <a:gdLst/>
                <a:ahLst/>
                <a:cxnLst/>
                <a:rect l="l" t="t" r="r" b="b"/>
                <a:pathLst>
                  <a:path w="4307858" h="653864">
                    <a:moveTo>
                      <a:pt x="0" y="0"/>
                    </a:moveTo>
                    <a:lnTo>
                      <a:pt x="4307858" y="0"/>
                    </a:lnTo>
                    <a:lnTo>
                      <a:pt x="4307858" y="653864"/>
                    </a:lnTo>
                    <a:lnTo>
                      <a:pt x="0" y="653864"/>
                    </a:lnTo>
                    <a:close/>
                  </a:path>
                </a:pathLst>
              </a:custGeom>
              <a:blipFill>
                <a:blip r:embed="rId3">
                  <a:alphaModFix amt="0"/>
                </a:blip>
                <a:stretch>
                  <a:fillRect t="-439375" r="-345752" b="-605081"/>
                </a:stretch>
              </a:blipFill>
            </p:spPr>
            <p:txBody>
              <a:bodyPr/>
              <a:lstStyle/>
              <a:p>
                <a:endParaRPr lang="en-US"/>
              </a:p>
            </p:txBody>
          </p:sp>
          <p:sp>
            <p:nvSpPr>
              <p:cNvPr id="244" name="TextBox 244"/>
              <p:cNvSpPr txBox="1"/>
              <p:nvPr/>
            </p:nvSpPr>
            <p:spPr>
              <a:xfrm>
                <a:off x="0" y="9525"/>
                <a:ext cx="4307858" cy="644339"/>
              </a:xfrm>
              <a:prstGeom prst="rect">
                <a:avLst/>
              </a:prstGeom>
            </p:spPr>
            <p:txBody>
              <a:bodyPr lIns="0" tIns="0" rIns="0" bIns="0" rtlCol="0" anchor="ctr"/>
              <a:lstStyle/>
              <a:p>
                <a:pPr algn="l">
                  <a:lnSpc>
                    <a:spcPts val="1066"/>
                  </a:lnSpc>
                </a:pPr>
                <a:r>
                  <a:rPr lang="en-US" sz="1000" b="1">
                    <a:solidFill>
                      <a:srgbClr val="FFFFFF"/>
                    </a:solidFill>
                    <a:latin typeface="Arial Bold"/>
                    <a:ea typeface="Arial Bold"/>
                    <a:cs typeface="Arial Bold"/>
                    <a:sym typeface="Arial Bold"/>
                  </a:rPr>
                  <a:t>HAUNTED</a:t>
                </a:r>
              </a:p>
            </p:txBody>
          </p:sp>
        </p:grpSp>
        <p:grpSp>
          <p:nvGrpSpPr>
            <p:cNvPr id="245" name="Group 245"/>
            <p:cNvGrpSpPr/>
            <p:nvPr/>
          </p:nvGrpSpPr>
          <p:grpSpPr>
            <a:xfrm>
              <a:off x="893722" y="6257036"/>
              <a:ext cx="3621976" cy="339911"/>
              <a:chOff x="0" y="0"/>
              <a:chExt cx="903586" cy="84799"/>
            </a:xfrm>
          </p:grpSpPr>
          <p:sp>
            <p:nvSpPr>
              <p:cNvPr id="246" name="Freeform 246"/>
              <p:cNvSpPr/>
              <p:nvPr/>
            </p:nvSpPr>
            <p:spPr>
              <a:xfrm>
                <a:off x="0" y="0"/>
                <a:ext cx="903586" cy="84799"/>
              </a:xfrm>
              <a:custGeom>
                <a:avLst/>
                <a:gdLst/>
                <a:ahLst/>
                <a:cxnLst/>
                <a:rect l="l" t="t" r="r" b="b"/>
                <a:pathLst>
                  <a:path w="903586" h="84799">
                    <a:moveTo>
                      <a:pt x="4434" y="0"/>
                    </a:moveTo>
                    <a:lnTo>
                      <a:pt x="899152" y="0"/>
                    </a:lnTo>
                    <a:cubicBezTo>
                      <a:pt x="900328" y="0"/>
                      <a:pt x="901456" y="467"/>
                      <a:pt x="902287" y="1299"/>
                    </a:cubicBezTo>
                    <a:cubicBezTo>
                      <a:pt x="903119" y="2130"/>
                      <a:pt x="903586" y="3258"/>
                      <a:pt x="903586" y="4434"/>
                    </a:cubicBezTo>
                    <a:lnTo>
                      <a:pt x="903586" y="80365"/>
                    </a:lnTo>
                    <a:cubicBezTo>
                      <a:pt x="903586" y="82814"/>
                      <a:pt x="901601" y="84799"/>
                      <a:pt x="899152" y="84799"/>
                    </a:cubicBezTo>
                    <a:lnTo>
                      <a:pt x="4434" y="84799"/>
                    </a:lnTo>
                    <a:cubicBezTo>
                      <a:pt x="1985" y="84799"/>
                      <a:pt x="0" y="82814"/>
                      <a:pt x="0" y="80365"/>
                    </a:cubicBezTo>
                    <a:lnTo>
                      <a:pt x="0" y="4434"/>
                    </a:lnTo>
                    <a:cubicBezTo>
                      <a:pt x="0" y="1985"/>
                      <a:pt x="1985" y="0"/>
                      <a:pt x="4434" y="0"/>
                    </a:cubicBezTo>
                    <a:close/>
                  </a:path>
                </a:pathLst>
              </a:custGeom>
              <a:solidFill>
                <a:srgbClr val="363535"/>
              </a:solidFill>
            </p:spPr>
            <p:txBody>
              <a:bodyPr/>
              <a:lstStyle/>
              <a:p>
                <a:endParaRPr lang="en-US"/>
              </a:p>
            </p:txBody>
          </p:sp>
          <p:sp>
            <p:nvSpPr>
              <p:cNvPr id="247" name="TextBox 247"/>
              <p:cNvSpPr txBox="1"/>
              <p:nvPr/>
            </p:nvSpPr>
            <p:spPr>
              <a:xfrm>
                <a:off x="0" y="-47625"/>
                <a:ext cx="903586" cy="132424"/>
              </a:xfrm>
              <a:prstGeom prst="rect">
                <a:avLst/>
              </a:prstGeom>
            </p:spPr>
            <p:txBody>
              <a:bodyPr lIns="1344474" tIns="1344474" rIns="1344474" bIns="1344474" rtlCol="0" anchor="ctr"/>
              <a:lstStyle/>
              <a:p>
                <a:pPr algn="ctr">
                  <a:lnSpc>
                    <a:spcPts val="2339"/>
                  </a:lnSpc>
                </a:pPr>
                <a:endParaRPr/>
              </a:p>
            </p:txBody>
          </p:sp>
        </p:grpSp>
        <p:grpSp>
          <p:nvGrpSpPr>
            <p:cNvPr id="248" name="Group 248"/>
            <p:cNvGrpSpPr/>
            <p:nvPr/>
          </p:nvGrpSpPr>
          <p:grpSpPr>
            <a:xfrm>
              <a:off x="1638525" y="6257036"/>
              <a:ext cx="1448645" cy="339911"/>
              <a:chOff x="0" y="0"/>
              <a:chExt cx="2786659" cy="653864"/>
            </a:xfrm>
          </p:grpSpPr>
          <p:sp>
            <p:nvSpPr>
              <p:cNvPr id="249" name="Freeform 249"/>
              <p:cNvSpPr/>
              <p:nvPr/>
            </p:nvSpPr>
            <p:spPr>
              <a:xfrm>
                <a:off x="0" y="0"/>
                <a:ext cx="2786659" cy="653864"/>
              </a:xfrm>
              <a:custGeom>
                <a:avLst/>
                <a:gdLst/>
                <a:ahLst/>
                <a:cxnLst/>
                <a:rect l="l" t="t" r="r" b="b"/>
                <a:pathLst>
                  <a:path w="2786659" h="653864">
                    <a:moveTo>
                      <a:pt x="0" y="0"/>
                    </a:moveTo>
                    <a:lnTo>
                      <a:pt x="2786659" y="0"/>
                    </a:lnTo>
                    <a:lnTo>
                      <a:pt x="2786659" y="653864"/>
                    </a:lnTo>
                    <a:lnTo>
                      <a:pt x="0" y="653864"/>
                    </a:lnTo>
                    <a:close/>
                  </a:path>
                </a:pathLst>
              </a:custGeom>
              <a:blipFill>
                <a:blip r:embed="rId3">
                  <a:alphaModFix amt="0"/>
                </a:blip>
                <a:stretch>
                  <a:fillRect t="-439375" r="-589083" b="-605081"/>
                </a:stretch>
              </a:blipFill>
            </p:spPr>
            <p:txBody>
              <a:bodyPr/>
              <a:lstStyle/>
              <a:p>
                <a:endParaRPr lang="en-US"/>
              </a:p>
            </p:txBody>
          </p:sp>
          <p:sp>
            <p:nvSpPr>
              <p:cNvPr id="250" name="TextBox 250"/>
              <p:cNvSpPr txBox="1"/>
              <p:nvPr/>
            </p:nvSpPr>
            <p:spPr>
              <a:xfrm>
                <a:off x="0" y="9525"/>
                <a:ext cx="2786659" cy="644339"/>
              </a:xfrm>
              <a:prstGeom prst="rect">
                <a:avLst/>
              </a:prstGeom>
            </p:spPr>
            <p:txBody>
              <a:bodyPr lIns="0" tIns="0" rIns="0" bIns="0" rtlCol="0" anchor="ctr"/>
              <a:lstStyle/>
              <a:p>
                <a:pPr algn="l">
                  <a:lnSpc>
                    <a:spcPts val="1066"/>
                  </a:lnSpc>
                </a:pPr>
                <a:r>
                  <a:rPr lang="en-US" sz="1000" b="1">
                    <a:solidFill>
                      <a:srgbClr val="FFFFFF"/>
                    </a:solidFill>
                    <a:latin typeface="Arial Bold"/>
                    <a:ea typeface="Arial Bold"/>
                    <a:cs typeface="Arial Bold"/>
                    <a:sym typeface="Arial Bold"/>
                  </a:rPr>
                  <a:t>GAME TIME</a:t>
                </a:r>
              </a:p>
            </p:txBody>
          </p:sp>
        </p:grpSp>
        <p:grpSp>
          <p:nvGrpSpPr>
            <p:cNvPr id="251" name="Group 251"/>
            <p:cNvGrpSpPr/>
            <p:nvPr/>
          </p:nvGrpSpPr>
          <p:grpSpPr>
            <a:xfrm>
              <a:off x="914865" y="6660447"/>
              <a:ext cx="3621976" cy="339911"/>
              <a:chOff x="0" y="0"/>
              <a:chExt cx="903586" cy="84799"/>
            </a:xfrm>
          </p:grpSpPr>
          <p:sp>
            <p:nvSpPr>
              <p:cNvPr id="252" name="Freeform 252"/>
              <p:cNvSpPr/>
              <p:nvPr/>
            </p:nvSpPr>
            <p:spPr>
              <a:xfrm>
                <a:off x="0" y="0"/>
                <a:ext cx="903586" cy="84799"/>
              </a:xfrm>
              <a:custGeom>
                <a:avLst/>
                <a:gdLst/>
                <a:ahLst/>
                <a:cxnLst/>
                <a:rect l="l" t="t" r="r" b="b"/>
                <a:pathLst>
                  <a:path w="903586" h="84799">
                    <a:moveTo>
                      <a:pt x="4434" y="0"/>
                    </a:moveTo>
                    <a:lnTo>
                      <a:pt x="899152" y="0"/>
                    </a:lnTo>
                    <a:cubicBezTo>
                      <a:pt x="900328" y="0"/>
                      <a:pt x="901456" y="467"/>
                      <a:pt x="902287" y="1299"/>
                    </a:cubicBezTo>
                    <a:cubicBezTo>
                      <a:pt x="903119" y="2130"/>
                      <a:pt x="903586" y="3258"/>
                      <a:pt x="903586" y="4434"/>
                    </a:cubicBezTo>
                    <a:lnTo>
                      <a:pt x="903586" y="80365"/>
                    </a:lnTo>
                    <a:cubicBezTo>
                      <a:pt x="903586" y="82814"/>
                      <a:pt x="901601" y="84799"/>
                      <a:pt x="899152" y="84799"/>
                    </a:cubicBezTo>
                    <a:lnTo>
                      <a:pt x="4434" y="84799"/>
                    </a:lnTo>
                    <a:cubicBezTo>
                      <a:pt x="1985" y="84799"/>
                      <a:pt x="0" y="82814"/>
                      <a:pt x="0" y="80365"/>
                    </a:cubicBezTo>
                    <a:lnTo>
                      <a:pt x="0" y="4434"/>
                    </a:lnTo>
                    <a:cubicBezTo>
                      <a:pt x="0" y="1985"/>
                      <a:pt x="1985" y="0"/>
                      <a:pt x="4434" y="0"/>
                    </a:cubicBezTo>
                    <a:close/>
                  </a:path>
                </a:pathLst>
              </a:custGeom>
              <a:solidFill>
                <a:srgbClr val="363535"/>
              </a:solidFill>
            </p:spPr>
            <p:txBody>
              <a:bodyPr/>
              <a:lstStyle/>
              <a:p>
                <a:endParaRPr lang="en-US"/>
              </a:p>
            </p:txBody>
          </p:sp>
          <p:sp>
            <p:nvSpPr>
              <p:cNvPr id="253" name="TextBox 253"/>
              <p:cNvSpPr txBox="1"/>
              <p:nvPr/>
            </p:nvSpPr>
            <p:spPr>
              <a:xfrm>
                <a:off x="0" y="-47625"/>
                <a:ext cx="903586" cy="132424"/>
              </a:xfrm>
              <a:prstGeom prst="rect">
                <a:avLst/>
              </a:prstGeom>
            </p:spPr>
            <p:txBody>
              <a:bodyPr lIns="1344474" tIns="1344474" rIns="1344474" bIns="1344474" rtlCol="0" anchor="ctr"/>
              <a:lstStyle/>
              <a:p>
                <a:pPr algn="ctr">
                  <a:lnSpc>
                    <a:spcPts val="2339"/>
                  </a:lnSpc>
                </a:pPr>
                <a:endParaRPr/>
              </a:p>
            </p:txBody>
          </p:sp>
        </p:grpSp>
        <p:grpSp>
          <p:nvGrpSpPr>
            <p:cNvPr id="254" name="Group 254"/>
            <p:cNvGrpSpPr/>
            <p:nvPr/>
          </p:nvGrpSpPr>
          <p:grpSpPr>
            <a:xfrm>
              <a:off x="1638525" y="6660447"/>
              <a:ext cx="1448645" cy="339911"/>
              <a:chOff x="0" y="0"/>
              <a:chExt cx="2786659" cy="653864"/>
            </a:xfrm>
          </p:grpSpPr>
          <p:sp>
            <p:nvSpPr>
              <p:cNvPr id="255" name="Freeform 255"/>
              <p:cNvSpPr/>
              <p:nvPr/>
            </p:nvSpPr>
            <p:spPr>
              <a:xfrm>
                <a:off x="0" y="0"/>
                <a:ext cx="2786659" cy="653864"/>
              </a:xfrm>
              <a:custGeom>
                <a:avLst/>
                <a:gdLst/>
                <a:ahLst/>
                <a:cxnLst/>
                <a:rect l="l" t="t" r="r" b="b"/>
                <a:pathLst>
                  <a:path w="2786659" h="653864">
                    <a:moveTo>
                      <a:pt x="0" y="0"/>
                    </a:moveTo>
                    <a:lnTo>
                      <a:pt x="2786659" y="0"/>
                    </a:lnTo>
                    <a:lnTo>
                      <a:pt x="2786659" y="653864"/>
                    </a:lnTo>
                    <a:lnTo>
                      <a:pt x="0" y="653864"/>
                    </a:lnTo>
                    <a:close/>
                  </a:path>
                </a:pathLst>
              </a:custGeom>
              <a:blipFill>
                <a:blip r:embed="rId3">
                  <a:alphaModFix amt="0"/>
                </a:blip>
                <a:stretch>
                  <a:fillRect t="-439375" r="-589083" b="-605081"/>
                </a:stretch>
              </a:blipFill>
            </p:spPr>
            <p:txBody>
              <a:bodyPr/>
              <a:lstStyle/>
              <a:p>
                <a:endParaRPr lang="en-US"/>
              </a:p>
            </p:txBody>
          </p:sp>
          <p:sp>
            <p:nvSpPr>
              <p:cNvPr id="256" name="TextBox 256"/>
              <p:cNvSpPr txBox="1"/>
              <p:nvPr/>
            </p:nvSpPr>
            <p:spPr>
              <a:xfrm>
                <a:off x="0" y="9525"/>
                <a:ext cx="2786659" cy="644339"/>
              </a:xfrm>
              <a:prstGeom prst="rect">
                <a:avLst/>
              </a:prstGeom>
            </p:spPr>
            <p:txBody>
              <a:bodyPr lIns="0" tIns="0" rIns="0" bIns="0" rtlCol="0" anchor="ctr"/>
              <a:lstStyle/>
              <a:p>
                <a:pPr algn="l">
                  <a:lnSpc>
                    <a:spcPts val="1066"/>
                  </a:lnSpc>
                </a:pPr>
                <a:r>
                  <a:rPr lang="en-US" sz="1000" b="1">
                    <a:solidFill>
                      <a:srgbClr val="FFFFFF"/>
                    </a:solidFill>
                    <a:latin typeface="Arial Bold"/>
                    <a:ea typeface="Arial Bold"/>
                    <a:cs typeface="Arial Bold"/>
                    <a:sym typeface="Arial Bold"/>
                  </a:rPr>
                  <a:t>LITTLE WINS</a:t>
                </a:r>
              </a:p>
            </p:txBody>
          </p:sp>
        </p:grpSp>
        <p:sp>
          <p:nvSpPr>
            <p:cNvPr id="257" name="Freeform 257"/>
            <p:cNvSpPr/>
            <p:nvPr/>
          </p:nvSpPr>
          <p:spPr>
            <a:xfrm>
              <a:off x="1153331" y="4730680"/>
              <a:ext cx="174843" cy="174843"/>
            </a:xfrm>
            <a:custGeom>
              <a:avLst/>
              <a:gdLst/>
              <a:ahLst/>
              <a:cxnLst/>
              <a:rect l="l" t="t" r="r" b="b"/>
              <a:pathLst>
                <a:path w="174843" h="174843">
                  <a:moveTo>
                    <a:pt x="0" y="0"/>
                  </a:moveTo>
                  <a:lnTo>
                    <a:pt x="174843" y="0"/>
                  </a:lnTo>
                  <a:lnTo>
                    <a:pt x="174843" y="174843"/>
                  </a:lnTo>
                  <a:lnTo>
                    <a:pt x="0" y="174843"/>
                  </a:lnTo>
                  <a:lnTo>
                    <a:pt x="0" y="0"/>
                  </a:lnTo>
                  <a:close/>
                </a:path>
              </a:pathLst>
            </a:custGeom>
            <a:blipFill>
              <a:blip>
                <a:extLst>
                  <a:ext uri="{96DAC541-7B7A-43D3-8B79-37D633B846F1}">
                    <asvg:svgBlip xmlns:asvg="http://schemas.microsoft.com/office/drawing/2016/SVG/main" r:embed="rId27"/>
                  </a:ext>
                </a:extLst>
              </a:blip>
              <a:stretch>
                <a:fillRect/>
              </a:stretch>
            </a:blipFill>
          </p:spPr>
          <p:txBody>
            <a:bodyPr/>
            <a:lstStyle/>
            <a:p>
              <a:endParaRPr lang="en-US"/>
            </a:p>
          </p:txBody>
        </p:sp>
        <p:sp>
          <p:nvSpPr>
            <p:cNvPr id="258" name="Freeform 258"/>
            <p:cNvSpPr/>
            <p:nvPr/>
          </p:nvSpPr>
          <p:spPr>
            <a:xfrm>
              <a:off x="1188521" y="4766542"/>
              <a:ext cx="108970" cy="58299"/>
            </a:xfrm>
            <a:custGeom>
              <a:avLst/>
              <a:gdLst/>
              <a:ahLst/>
              <a:cxnLst/>
              <a:rect l="l" t="t" r="r" b="b"/>
              <a:pathLst>
                <a:path w="108970" h="58299">
                  <a:moveTo>
                    <a:pt x="0" y="0"/>
                  </a:moveTo>
                  <a:lnTo>
                    <a:pt x="108970" y="0"/>
                  </a:lnTo>
                  <a:lnTo>
                    <a:pt x="108970" y="58299"/>
                  </a:lnTo>
                  <a:lnTo>
                    <a:pt x="0" y="58299"/>
                  </a:lnTo>
                  <a:lnTo>
                    <a:pt x="0" y="0"/>
                  </a:lnTo>
                  <a:close/>
                </a:path>
              </a:pathLst>
            </a:custGeom>
            <a:blipFill>
              <a:blip>
                <a:extLst>
                  <a:ext uri="{96DAC541-7B7A-43D3-8B79-37D633B846F1}">
                    <asvg:svgBlip xmlns:asvg="http://schemas.microsoft.com/office/drawing/2016/SVG/main" r:embed="rId28"/>
                  </a:ext>
                </a:extLst>
              </a:blip>
              <a:stretch>
                <a:fillRect/>
              </a:stretch>
            </a:blipFill>
          </p:spPr>
          <p:txBody>
            <a:bodyPr/>
            <a:lstStyle/>
            <a:p>
              <a:endParaRPr lang="en-US"/>
            </a:p>
          </p:txBody>
        </p:sp>
        <p:sp>
          <p:nvSpPr>
            <p:cNvPr id="259" name="TextBox 259"/>
            <p:cNvSpPr txBox="1"/>
            <p:nvPr/>
          </p:nvSpPr>
          <p:spPr>
            <a:xfrm>
              <a:off x="1174398" y="4740128"/>
              <a:ext cx="137216" cy="57500"/>
            </a:xfrm>
            <a:prstGeom prst="rect">
              <a:avLst/>
            </a:prstGeom>
          </p:spPr>
          <p:txBody>
            <a:bodyPr lIns="0" tIns="0" rIns="0" bIns="0" rtlCol="0" anchor="t">
              <a:spAutoFit/>
            </a:bodyPr>
            <a:lstStyle/>
            <a:p>
              <a:pPr algn="ctr">
                <a:lnSpc>
                  <a:spcPts val="166"/>
                </a:lnSpc>
                <a:spcBef>
                  <a:spcPct val="0"/>
                </a:spcBef>
              </a:pPr>
              <a:r>
                <a:rPr lang="en-US" sz="139" b="1" spc="18">
                  <a:solidFill>
                    <a:srgbClr val="FFFFFF"/>
                  </a:solidFill>
                  <a:latin typeface="Calibri (MS) Bold"/>
                  <a:ea typeface="Calibri (MS) Bold"/>
                  <a:cs typeface="Calibri (MS) Bold"/>
                  <a:sym typeface="Calibri (MS) Bold"/>
                </a:rPr>
                <a:t>CRAMMING</a:t>
              </a:r>
            </a:p>
          </p:txBody>
        </p:sp>
        <p:sp>
          <p:nvSpPr>
            <p:cNvPr id="260" name="Freeform 260"/>
            <p:cNvSpPr/>
            <p:nvPr/>
          </p:nvSpPr>
          <p:spPr>
            <a:xfrm rot="-3394830" flipV="1">
              <a:off x="1164086" y="4802808"/>
              <a:ext cx="26954" cy="8472"/>
            </a:xfrm>
            <a:custGeom>
              <a:avLst/>
              <a:gdLst/>
              <a:ahLst/>
              <a:cxnLst/>
              <a:rect l="l" t="t" r="r" b="b"/>
              <a:pathLst>
                <a:path w="26954" h="8472">
                  <a:moveTo>
                    <a:pt x="0" y="8472"/>
                  </a:moveTo>
                  <a:lnTo>
                    <a:pt x="26953" y="8472"/>
                  </a:lnTo>
                  <a:lnTo>
                    <a:pt x="26953" y="0"/>
                  </a:lnTo>
                  <a:lnTo>
                    <a:pt x="0" y="0"/>
                  </a:lnTo>
                  <a:lnTo>
                    <a:pt x="0" y="8472"/>
                  </a:lnTo>
                  <a:close/>
                </a:path>
              </a:pathLst>
            </a:custGeom>
            <a:blipFill>
              <a:blip>
                <a:extLst>
                  <a:ext uri="{96DAC541-7B7A-43D3-8B79-37D633B846F1}">
                    <asvg:svgBlip xmlns:asvg="http://schemas.microsoft.com/office/drawing/2016/SVG/main" r:embed="rId29"/>
                  </a:ext>
                </a:extLst>
              </a:blip>
              <a:stretch>
                <a:fillRect l="-116778"/>
              </a:stretch>
            </a:blipFill>
          </p:spPr>
          <p:txBody>
            <a:bodyPr/>
            <a:lstStyle/>
            <a:p>
              <a:endParaRPr lang="en-US"/>
            </a:p>
          </p:txBody>
        </p:sp>
        <p:sp>
          <p:nvSpPr>
            <p:cNvPr id="261" name="Freeform 261"/>
            <p:cNvSpPr/>
            <p:nvPr/>
          </p:nvSpPr>
          <p:spPr>
            <a:xfrm rot="-6716943">
              <a:off x="1295118" y="4803152"/>
              <a:ext cx="24760" cy="7783"/>
            </a:xfrm>
            <a:custGeom>
              <a:avLst/>
              <a:gdLst/>
              <a:ahLst/>
              <a:cxnLst/>
              <a:rect l="l" t="t" r="r" b="b"/>
              <a:pathLst>
                <a:path w="24760" h="7783">
                  <a:moveTo>
                    <a:pt x="0" y="0"/>
                  </a:moveTo>
                  <a:lnTo>
                    <a:pt x="24760" y="0"/>
                  </a:lnTo>
                  <a:lnTo>
                    <a:pt x="24760" y="7783"/>
                  </a:lnTo>
                  <a:lnTo>
                    <a:pt x="0" y="7783"/>
                  </a:lnTo>
                  <a:lnTo>
                    <a:pt x="0" y="0"/>
                  </a:lnTo>
                  <a:close/>
                </a:path>
              </a:pathLst>
            </a:custGeom>
            <a:blipFill>
              <a:blip>
                <a:extLst>
                  <a:ext uri="{96DAC541-7B7A-43D3-8B79-37D633B846F1}">
                    <asvg:svgBlip xmlns:asvg="http://schemas.microsoft.com/office/drawing/2016/SVG/main" r:embed="rId29"/>
                  </a:ext>
                </a:extLst>
              </a:blip>
              <a:stretch>
                <a:fillRect l="-116778"/>
              </a:stretch>
            </a:blipFill>
          </p:spPr>
          <p:txBody>
            <a:bodyPr/>
            <a:lstStyle/>
            <a:p>
              <a:endParaRPr lang="en-US"/>
            </a:p>
          </p:txBody>
        </p:sp>
        <p:sp>
          <p:nvSpPr>
            <p:cNvPr id="262" name="Freeform 262"/>
            <p:cNvSpPr/>
            <p:nvPr/>
          </p:nvSpPr>
          <p:spPr>
            <a:xfrm rot="2699999">
              <a:off x="1184857" y="4783847"/>
              <a:ext cx="113112" cy="113112"/>
            </a:xfrm>
            <a:custGeom>
              <a:avLst/>
              <a:gdLst/>
              <a:ahLst/>
              <a:cxnLst/>
              <a:rect l="l" t="t" r="r" b="b"/>
              <a:pathLst>
                <a:path w="113112" h="113112">
                  <a:moveTo>
                    <a:pt x="0" y="0"/>
                  </a:moveTo>
                  <a:lnTo>
                    <a:pt x="113112" y="0"/>
                  </a:lnTo>
                  <a:lnTo>
                    <a:pt x="113112" y="113112"/>
                  </a:lnTo>
                  <a:lnTo>
                    <a:pt x="0" y="113112"/>
                  </a:lnTo>
                  <a:lnTo>
                    <a:pt x="0" y="0"/>
                  </a:lnTo>
                  <a:close/>
                </a:path>
              </a:pathLst>
            </a:custGeom>
            <a:blipFill>
              <a:blip>
                <a:extLst>
                  <a:ext uri="{96DAC541-7B7A-43D3-8B79-37D633B846F1}">
                    <asvg:svgBlip xmlns:asvg="http://schemas.microsoft.com/office/drawing/2016/SVG/main" r:embed="rId30"/>
                  </a:ext>
                </a:extLst>
              </a:blip>
              <a:stretch>
                <a:fillRect/>
              </a:stretch>
            </a:blipFill>
          </p:spPr>
          <p:txBody>
            <a:bodyPr/>
            <a:lstStyle/>
            <a:p>
              <a:endParaRPr lang="en-US"/>
            </a:p>
          </p:txBody>
        </p:sp>
        <p:sp>
          <p:nvSpPr>
            <p:cNvPr id="263" name="TextBox 263"/>
            <p:cNvSpPr txBox="1"/>
            <p:nvPr/>
          </p:nvSpPr>
          <p:spPr>
            <a:xfrm>
              <a:off x="1215914" y="4879126"/>
              <a:ext cx="49676" cy="8739"/>
            </a:xfrm>
            <a:prstGeom prst="rect">
              <a:avLst/>
            </a:prstGeom>
          </p:spPr>
          <p:txBody>
            <a:bodyPr lIns="0" tIns="0" rIns="0" bIns="0" rtlCol="0" anchor="t">
              <a:spAutoFit/>
            </a:bodyPr>
            <a:lstStyle/>
            <a:p>
              <a:pPr algn="ctr">
                <a:lnSpc>
                  <a:spcPts val="52"/>
                </a:lnSpc>
                <a:spcBef>
                  <a:spcPct val="0"/>
                </a:spcBef>
              </a:pPr>
              <a:r>
                <a:rPr lang="en-US" sz="100" b="1" spc="5">
                  <a:solidFill>
                    <a:srgbClr val="FFFFFF"/>
                  </a:solidFill>
                  <a:latin typeface="Calibri (MS) Bold"/>
                  <a:ea typeface="Calibri (MS) Bold"/>
                  <a:cs typeface="Calibri (MS) Bold"/>
                  <a:sym typeface="Calibri (MS) Bold"/>
                </a:rPr>
                <a:t>October2026</a:t>
              </a:r>
            </a:p>
          </p:txBody>
        </p:sp>
        <p:sp>
          <p:nvSpPr>
            <p:cNvPr id="264" name="Freeform 264"/>
            <p:cNvSpPr/>
            <p:nvPr/>
          </p:nvSpPr>
          <p:spPr>
            <a:xfrm rot="2699999">
              <a:off x="1198325" y="4825213"/>
              <a:ext cx="84855" cy="84855"/>
            </a:xfrm>
            <a:custGeom>
              <a:avLst/>
              <a:gdLst/>
              <a:ahLst/>
              <a:cxnLst/>
              <a:rect l="l" t="t" r="r" b="b"/>
              <a:pathLst>
                <a:path w="84855" h="84855">
                  <a:moveTo>
                    <a:pt x="0" y="0"/>
                  </a:moveTo>
                  <a:lnTo>
                    <a:pt x="84855" y="0"/>
                  </a:lnTo>
                  <a:lnTo>
                    <a:pt x="84855" y="84855"/>
                  </a:lnTo>
                  <a:lnTo>
                    <a:pt x="0" y="84855"/>
                  </a:lnTo>
                  <a:lnTo>
                    <a:pt x="0" y="0"/>
                  </a:lnTo>
                  <a:close/>
                </a:path>
              </a:pathLst>
            </a:custGeom>
            <a:blipFill>
              <a:blip>
                <a:extLst>
                  <a:ext uri="{96DAC541-7B7A-43D3-8B79-37D633B846F1}">
                    <asvg:svgBlip xmlns:asvg="http://schemas.microsoft.com/office/drawing/2016/SVG/main" r:embed="rId30"/>
                  </a:ext>
                </a:extLst>
              </a:blip>
              <a:stretch>
                <a:fillRect/>
              </a:stretch>
            </a:blipFill>
          </p:spPr>
          <p:txBody>
            <a:bodyPr/>
            <a:lstStyle/>
            <a:p>
              <a:endParaRPr lang="en-US"/>
            </a:p>
          </p:txBody>
        </p:sp>
        <p:sp>
          <p:nvSpPr>
            <p:cNvPr id="265" name="Freeform 265"/>
            <p:cNvSpPr/>
            <p:nvPr/>
          </p:nvSpPr>
          <p:spPr>
            <a:xfrm>
              <a:off x="1223662" y="4785431"/>
              <a:ext cx="38688" cy="37914"/>
            </a:xfrm>
            <a:custGeom>
              <a:avLst/>
              <a:gdLst/>
              <a:ahLst/>
              <a:cxnLst/>
              <a:rect l="l" t="t" r="r" b="b"/>
              <a:pathLst>
                <a:path w="38688" h="37914">
                  <a:moveTo>
                    <a:pt x="0" y="0"/>
                  </a:moveTo>
                  <a:lnTo>
                    <a:pt x="38688" y="0"/>
                  </a:lnTo>
                  <a:lnTo>
                    <a:pt x="38688" y="37914"/>
                  </a:lnTo>
                  <a:lnTo>
                    <a:pt x="0" y="37914"/>
                  </a:lnTo>
                  <a:lnTo>
                    <a:pt x="0" y="0"/>
                  </a:lnTo>
                  <a:close/>
                </a:path>
              </a:pathLst>
            </a:custGeom>
            <a:blipFill>
              <a:blip r:embed="rId31"/>
              <a:stretch>
                <a:fillRect/>
              </a:stretch>
            </a:blipFill>
          </p:spPr>
          <p:txBody>
            <a:bodyPr/>
            <a:lstStyle/>
            <a:p>
              <a:endParaRPr lang="en-US"/>
            </a:p>
          </p:txBody>
        </p:sp>
        <p:sp>
          <p:nvSpPr>
            <p:cNvPr id="266" name="TextBox 266"/>
            <p:cNvSpPr txBox="1"/>
            <p:nvPr/>
          </p:nvSpPr>
          <p:spPr>
            <a:xfrm>
              <a:off x="1200981" y="4849525"/>
              <a:ext cx="80864" cy="14058"/>
            </a:xfrm>
            <a:prstGeom prst="rect">
              <a:avLst/>
            </a:prstGeom>
          </p:spPr>
          <p:txBody>
            <a:bodyPr lIns="0" tIns="0" rIns="0" bIns="0" rtlCol="0" anchor="t">
              <a:spAutoFit/>
            </a:bodyPr>
            <a:lstStyle/>
            <a:p>
              <a:pPr algn="ctr">
                <a:lnSpc>
                  <a:spcPts val="84"/>
                </a:lnSpc>
                <a:spcBef>
                  <a:spcPct val="0"/>
                </a:spcBef>
              </a:pPr>
              <a:r>
                <a:rPr lang="en-US" sz="100" b="1">
                  <a:solidFill>
                    <a:srgbClr val="FFFFFF"/>
                  </a:solidFill>
                  <a:latin typeface="Calibri (MS) Bold"/>
                  <a:ea typeface="Calibri (MS) Bold"/>
                  <a:cs typeface="Calibri (MS) Bold"/>
                  <a:sym typeface="Calibri (MS) Bold"/>
                </a:rPr>
                <a:t> REAL PASSPORT</a:t>
              </a:r>
            </a:p>
          </p:txBody>
        </p:sp>
        <p:sp>
          <p:nvSpPr>
            <p:cNvPr id="267" name="TextBox 267"/>
            <p:cNvSpPr txBox="1"/>
            <p:nvPr/>
          </p:nvSpPr>
          <p:spPr>
            <a:xfrm>
              <a:off x="1164888" y="4824791"/>
              <a:ext cx="38357" cy="8739"/>
            </a:xfrm>
            <a:prstGeom prst="rect">
              <a:avLst/>
            </a:prstGeom>
          </p:spPr>
          <p:txBody>
            <a:bodyPr lIns="0" tIns="0" rIns="0" bIns="0" rtlCol="0" anchor="t">
              <a:spAutoFit/>
            </a:bodyPr>
            <a:lstStyle/>
            <a:p>
              <a:pPr algn="ctr">
                <a:lnSpc>
                  <a:spcPts val="52"/>
                </a:lnSpc>
                <a:spcBef>
                  <a:spcPct val="0"/>
                </a:spcBef>
              </a:pPr>
              <a:r>
                <a:rPr lang="en-US" sz="100" b="1">
                  <a:solidFill>
                    <a:srgbClr val="FFDE59"/>
                  </a:solidFill>
                  <a:latin typeface="Calibri (MS) Bold"/>
                  <a:ea typeface="Calibri (MS) Bold"/>
                  <a:cs typeface="Calibri (MS) Bold"/>
                  <a:sym typeface="Calibri (MS) Bold"/>
                </a:rPr>
                <a:t>BeReal.</a:t>
              </a:r>
            </a:p>
          </p:txBody>
        </p:sp>
        <p:sp>
          <p:nvSpPr>
            <p:cNvPr id="268" name="TextBox 268"/>
            <p:cNvSpPr txBox="1"/>
            <p:nvPr/>
          </p:nvSpPr>
          <p:spPr>
            <a:xfrm>
              <a:off x="1277378" y="4824791"/>
              <a:ext cx="38357" cy="8739"/>
            </a:xfrm>
            <a:prstGeom prst="rect">
              <a:avLst/>
            </a:prstGeom>
          </p:spPr>
          <p:txBody>
            <a:bodyPr lIns="0" tIns="0" rIns="0" bIns="0" rtlCol="0" anchor="t">
              <a:spAutoFit/>
            </a:bodyPr>
            <a:lstStyle/>
            <a:p>
              <a:pPr algn="ctr">
                <a:lnSpc>
                  <a:spcPts val="52"/>
                </a:lnSpc>
                <a:spcBef>
                  <a:spcPct val="0"/>
                </a:spcBef>
              </a:pPr>
              <a:r>
                <a:rPr lang="en-US" sz="100" b="1">
                  <a:solidFill>
                    <a:srgbClr val="FFDE59"/>
                  </a:solidFill>
                  <a:latin typeface="Calibri (MS) Bold"/>
                  <a:ea typeface="Calibri (MS) Bold"/>
                  <a:cs typeface="Calibri (MS) Bold"/>
                  <a:sym typeface="Calibri (MS) Bold"/>
                </a:rPr>
                <a:t>Unfiltered</a:t>
              </a:r>
            </a:p>
          </p:txBody>
        </p:sp>
        <p:sp>
          <p:nvSpPr>
            <p:cNvPr id="269" name="Freeform 269"/>
            <p:cNvSpPr/>
            <p:nvPr/>
          </p:nvSpPr>
          <p:spPr>
            <a:xfrm>
              <a:off x="1153331" y="5134653"/>
              <a:ext cx="174843" cy="174843"/>
            </a:xfrm>
            <a:custGeom>
              <a:avLst/>
              <a:gdLst/>
              <a:ahLst/>
              <a:cxnLst/>
              <a:rect l="l" t="t" r="r" b="b"/>
              <a:pathLst>
                <a:path w="174843" h="174843">
                  <a:moveTo>
                    <a:pt x="0" y="0"/>
                  </a:moveTo>
                  <a:lnTo>
                    <a:pt x="174843" y="0"/>
                  </a:lnTo>
                  <a:lnTo>
                    <a:pt x="174843" y="174843"/>
                  </a:lnTo>
                  <a:lnTo>
                    <a:pt x="0" y="174843"/>
                  </a:lnTo>
                  <a:lnTo>
                    <a:pt x="0" y="0"/>
                  </a:lnTo>
                  <a:close/>
                </a:path>
              </a:pathLst>
            </a:custGeom>
            <a:blipFill>
              <a:blip>
                <a:extLst>
                  <a:ext uri="{96DAC541-7B7A-43D3-8B79-37D633B846F1}">
                    <asvg:svgBlip xmlns:asvg="http://schemas.microsoft.com/office/drawing/2016/SVG/main" r:embed="rId32"/>
                  </a:ext>
                </a:extLst>
              </a:blip>
              <a:stretch>
                <a:fillRect/>
              </a:stretch>
            </a:blipFill>
          </p:spPr>
          <p:txBody>
            <a:bodyPr/>
            <a:lstStyle/>
            <a:p>
              <a:endParaRPr lang="en-US"/>
            </a:p>
          </p:txBody>
        </p:sp>
        <p:sp>
          <p:nvSpPr>
            <p:cNvPr id="270" name="Freeform 270"/>
            <p:cNvSpPr/>
            <p:nvPr/>
          </p:nvSpPr>
          <p:spPr>
            <a:xfrm>
              <a:off x="1188521" y="5170515"/>
              <a:ext cx="108970" cy="58299"/>
            </a:xfrm>
            <a:custGeom>
              <a:avLst/>
              <a:gdLst/>
              <a:ahLst/>
              <a:cxnLst/>
              <a:rect l="l" t="t" r="r" b="b"/>
              <a:pathLst>
                <a:path w="108970" h="58299">
                  <a:moveTo>
                    <a:pt x="0" y="0"/>
                  </a:moveTo>
                  <a:lnTo>
                    <a:pt x="108970" y="0"/>
                  </a:lnTo>
                  <a:lnTo>
                    <a:pt x="108970" y="58299"/>
                  </a:lnTo>
                  <a:lnTo>
                    <a:pt x="0" y="58299"/>
                  </a:lnTo>
                  <a:lnTo>
                    <a:pt x="0" y="0"/>
                  </a:lnTo>
                  <a:close/>
                </a:path>
              </a:pathLst>
            </a:custGeom>
            <a:blipFill>
              <a:blip>
                <a:extLst>
                  <a:ext uri="{96DAC541-7B7A-43D3-8B79-37D633B846F1}">
                    <asvg:svgBlip xmlns:asvg="http://schemas.microsoft.com/office/drawing/2016/SVG/main" r:embed="rId33"/>
                  </a:ext>
                </a:extLst>
              </a:blip>
              <a:stretch>
                <a:fillRect/>
              </a:stretch>
            </a:blipFill>
          </p:spPr>
          <p:txBody>
            <a:bodyPr/>
            <a:lstStyle/>
            <a:p>
              <a:endParaRPr lang="en-US"/>
            </a:p>
          </p:txBody>
        </p:sp>
        <p:sp>
          <p:nvSpPr>
            <p:cNvPr id="271" name="TextBox 271"/>
            <p:cNvSpPr txBox="1"/>
            <p:nvPr/>
          </p:nvSpPr>
          <p:spPr>
            <a:xfrm>
              <a:off x="1211570" y="5144102"/>
              <a:ext cx="62872" cy="33244"/>
            </a:xfrm>
            <a:prstGeom prst="rect">
              <a:avLst/>
            </a:prstGeom>
          </p:spPr>
          <p:txBody>
            <a:bodyPr lIns="0" tIns="0" rIns="0" bIns="0" rtlCol="0" anchor="t">
              <a:spAutoFit/>
            </a:bodyPr>
            <a:lstStyle/>
            <a:p>
              <a:pPr algn="ctr">
                <a:lnSpc>
                  <a:spcPts val="166"/>
                </a:lnSpc>
                <a:spcBef>
                  <a:spcPct val="0"/>
                </a:spcBef>
              </a:pPr>
              <a:r>
                <a:rPr lang="en-US" sz="139" b="1" spc="18">
                  <a:solidFill>
                    <a:srgbClr val="FFFFFF"/>
                  </a:solidFill>
                  <a:latin typeface="Calibri (MS) Bold"/>
                  <a:ea typeface="Calibri (MS) Bold"/>
                  <a:cs typeface="Calibri (MS) Bold"/>
                  <a:sym typeface="Calibri (MS) Bold"/>
                </a:rPr>
                <a:t>HIKE</a:t>
              </a:r>
            </a:p>
          </p:txBody>
        </p:sp>
        <p:sp>
          <p:nvSpPr>
            <p:cNvPr id="272" name="Freeform 272"/>
            <p:cNvSpPr/>
            <p:nvPr/>
          </p:nvSpPr>
          <p:spPr>
            <a:xfrm rot="-3394830" flipV="1">
              <a:off x="1164086" y="5206781"/>
              <a:ext cx="26954" cy="8472"/>
            </a:xfrm>
            <a:custGeom>
              <a:avLst/>
              <a:gdLst/>
              <a:ahLst/>
              <a:cxnLst/>
              <a:rect l="l" t="t" r="r" b="b"/>
              <a:pathLst>
                <a:path w="26954" h="8472">
                  <a:moveTo>
                    <a:pt x="0" y="8472"/>
                  </a:moveTo>
                  <a:lnTo>
                    <a:pt x="26953" y="8472"/>
                  </a:lnTo>
                  <a:lnTo>
                    <a:pt x="26953" y="0"/>
                  </a:lnTo>
                  <a:lnTo>
                    <a:pt x="0" y="0"/>
                  </a:lnTo>
                  <a:lnTo>
                    <a:pt x="0" y="8472"/>
                  </a:lnTo>
                  <a:close/>
                </a:path>
              </a:pathLst>
            </a:custGeom>
            <a:blipFill>
              <a:blip>
                <a:extLst>
                  <a:ext uri="{96DAC541-7B7A-43D3-8B79-37D633B846F1}">
                    <asvg:svgBlip xmlns:asvg="http://schemas.microsoft.com/office/drawing/2016/SVG/main" r:embed="rId29"/>
                  </a:ext>
                </a:extLst>
              </a:blip>
              <a:stretch>
                <a:fillRect l="-116778"/>
              </a:stretch>
            </a:blipFill>
          </p:spPr>
          <p:txBody>
            <a:bodyPr/>
            <a:lstStyle/>
            <a:p>
              <a:endParaRPr lang="en-US"/>
            </a:p>
          </p:txBody>
        </p:sp>
        <p:sp>
          <p:nvSpPr>
            <p:cNvPr id="273" name="Freeform 273"/>
            <p:cNvSpPr/>
            <p:nvPr/>
          </p:nvSpPr>
          <p:spPr>
            <a:xfrm rot="-6716943">
              <a:off x="1295118" y="5207126"/>
              <a:ext cx="24760" cy="7783"/>
            </a:xfrm>
            <a:custGeom>
              <a:avLst/>
              <a:gdLst/>
              <a:ahLst/>
              <a:cxnLst/>
              <a:rect l="l" t="t" r="r" b="b"/>
              <a:pathLst>
                <a:path w="24760" h="7783">
                  <a:moveTo>
                    <a:pt x="0" y="0"/>
                  </a:moveTo>
                  <a:lnTo>
                    <a:pt x="24760" y="0"/>
                  </a:lnTo>
                  <a:lnTo>
                    <a:pt x="24760" y="7782"/>
                  </a:lnTo>
                  <a:lnTo>
                    <a:pt x="0" y="7782"/>
                  </a:lnTo>
                  <a:lnTo>
                    <a:pt x="0" y="0"/>
                  </a:lnTo>
                  <a:close/>
                </a:path>
              </a:pathLst>
            </a:custGeom>
            <a:blipFill>
              <a:blip>
                <a:extLst>
                  <a:ext uri="{96DAC541-7B7A-43D3-8B79-37D633B846F1}">
                    <asvg:svgBlip xmlns:asvg="http://schemas.microsoft.com/office/drawing/2016/SVG/main" r:embed="rId29"/>
                  </a:ext>
                </a:extLst>
              </a:blip>
              <a:stretch>
                <a:fillRect l="-116778"/>
              </a:stretch>
            </a:blipFill>
          </p:spPr>
          <p:txBody>
            <a:bodyPr/>
            <a:lstStyle/>
            <a:p>
              <a:endParaRPr lang="en-US"/>
            </a:p>
          </p:txBody>
        </p:sp>
        <p:sp>
          <p:nvSpPr>
            <p:cNvPr id="274" name="Freeform 274"/>
            <p:cNvSpPr/>
            <p:nvPr/>
          </p:nvSpPr>
          <p:spPr>
            <a:xfrm rot="2699999">
              <a:off x="1184857" y="5187820"/>
              <a:ext cx="113112" cy="113112"/>
            </a:xfrm>
            <a:custGeom>
              <a:avLst/>
              <a:gdLst/>
              <a:ahLst/>
              <a:cxnLst/>
              <a:rect l="l" t="t" r="r" b="b"/>
              <a:pathLst>
                <a:path w="113112" h="113112">
                  <a:moveTo>
                    <a:pt x="0" y="0"/>
                  </a:moveTo>
                  <a:lnTo>
                    <a:pt x="113112" y="0"/>
                  </a:lnTo>
                  <a:lnTo>
                    <a:pt x="113112" y="113112"/>
                  </a:lnTo>
                  <a:lnTo>
                    <a:pt x="0" y="113112"/>
                  </a:lnTo>
                  <a:lnTo>
                    <a:pt x="0" y="0"/>
                  </a:lnTo>
                  <a:close/>
                </a:path>
              </a:pathLst>
            </a:custGeom>
            <a:blipFill>
              <a:blip>
                <a:extLst>
                  <a:ext uri="{96DAC541-7B7A-43D3-8B79-37D633B846F1}">
                    <asvg:svgBlip xmlns:asvg="http://schemas.microsoft.com/office/drawing/2016/SVG/main" r:embed="rId34"/>
                  </a:ext>
                </a:extLst>
              </a:blip>
              <a:stretch>
                <a:fillRect/>
              </a:stretch>
            </a:blipFill>
          </p:spPr>
          <p:txBody>
            <a:bodyPr/>
            <a:lstStyle/>
            <a:p>
              <a:endParaRPr lang="en-US"/>
            </a:p>
          </p:txBody>
        </p:sp>
        <p:sp>
          <p:nvSpPr>
            <p:cNvPr id="275" name="TextBox 275"/>
            <p:cNvSpPr txBox="1"/>
            <p:nvPr/>
          </p:nvSpPr>
          <p:spPr>
            <a:xfrm>
              <a:off x="1215914" y="5283099"/>
              <a:ext cx="49676" cy="8739"/>
            </a:xfrm>
            <a:prstGeom prst="rect">
              <a:avLst/>
            </a:prstGeom>
          </p:spPr>
          <p:txBody>
            <a:bodyPr lIns="0" tIns="0" rIns="0" bIns="0" rtlCol="0" anchor="t">
              <a:spAutoFit/>
            </a:bodyPr>
            <a:lstStyle/>
            <a:p>
              <a:pPr algn="ctr">
                <a:lnSpc>
                  <a:spcPts val="52"/>
                </a:lnSpc>
                <a:spcBef>
                  <a:spcPct val="0"/>
                </a:spcBef>
              </a:pPr>
              <a:r>
                <a:rPr lang="en-US" sz="100" b="1" spc="5">
                  <a:solidFill>
                    <a:srgbClr val="FFFFFF"/>
                  </a:solidFill>
                  <a:latin typeface="Calibri (MS) Bold"/>
                  <a:ea typeface="Calibri (MS) Bold"/>
                  <a:cs typeface="Calibri (MS) Bold"/>
                  <a:sym typeface="Calibri (MS) Bold"/>
                </a:rPr>
                <a:t>October2026</a:t>
              </a:r>
            </a:p>
          </p:txBody>
        </p:sp>
        <p:sp>
          <p:nvSpPr>
            <p:cNvPr id="276" name="Freeform 276"/>
            <p:cNvSpPr/>
            <p:nvPr/>
          </p:nvSpPr>
          <p:spPr>
            <a:xfrm rot="2699999">
              <a:off x="1198325" y="5229186"/>
              <a:ext cx="84855" cy="84855"/>
            </a:xfrm>
            <a:custGeom>
              <a:avLst/>
              <a:gdLst/>
              <a:ahLst/>
              <a:cxnLst/>
              <a:rect l="l" t="t" r="r" b="b"/>
              <a:pathLst>
                <a:path w="84855" h="84855">
                  <a:moveTo>
                    <a:pt x="0" y="0"/>
                  </a:moveTo>
                  <a:lnTo>
                    <a:pt x="84855" y="0"/>
                  </a:lnTo>
                  <a:lnTo>
                    <a:pt x="84855" y="84855"/>
                  </a:lnTo>
                  <a:lnTo>
                    <a:pt x="0" y="84855"/>
                  </a:lnTo>
                  <a:lnTo>
                    <a:pt x="0" y="0"/>
                  </a:lnTo>
                  <a:close/>
                </a:path>
              </a:pathLst>
            </a:custGeom>
            <a:blipFill>
              <a:blip>
                <a:extLst>
                  <a:ext uri="{96DAC541-7B7A-43D3-8B79-37D633B846F1}">
                    <asvg:svgBlip xmlns:asvg="http://schemas.microsoft.com/office/drawing/2016/SVG/main" r:embed="rId34"/>
                  </a:ext>
                </a:extLst>
              </a:blip>
              <a:stretch>
                <a:fillRect/>
              </a:stretch>
            </a:blipFill>
          </p:spPr>
          <p:txBody>
            <a:bodyPr/>
            <a:lstStyle/>
            <a:p>
              <a:endParaRPr lang="en-US"/>
            </a:p>
          </p:txBody>
        </p:sp>
        <p:sp>
          <p:nvSpPr>
            <p:cNvPr id="277" name="TextBox 277"/>
            <p:cNvSpPr txBox="1"/>
            <p:nvPr/>
          </p:nvSpPr>
          <p:spPr>
            <a:xfrm>
              <a:off x="1200981" y="5253499"/>
              <a:ext cx="80864" cy="14058"/>
            </a:xfrm>
            <a:prstGeom prst="rect">
              <a:avLst/>
            </a:prstGeom>
          </p:spPr>
          <p:txBody>
            <a:bodyPr lIns="0" tIns="0" rIns="0" bIns="0" rtlCol="0" anchor="t">
              <a:spAutoFit/>
            </a:bodyPr>
            <a:lstStyle/>
            <a:p>
              <a:pPr algn="ctr">
                <a:lnSpc>
                  <a:spcPts val="84"/>
                </a:lnSpc>
                <a:spcBef>
                  <a:spcPct val="0"/>
                </a:spcBef>
              </a:pPr>
              <a:r>
                <a:rPr lang="en-US" sz="100" b="1">
                  <a:solidFill>
                    <a:srgbClr val="FFFFFF"/>
                  </a:solidFill>
                  <a:latin typeface="Calibri (MS) Bold"/>
                  <a:ea typeface="Calibri (MS) Bold"/>
                  <a:cs typeface="Calibri (MS) Bold"/>
                  <a:sym typeface="Calibri (MS) Bold"/>
                </a:rPr>
                <a:t> REAL PASSPORT</a:t>
              </a:r>
            </a:p>
          </p:txBody>
        </p:sp>
        <p:sp>
          <p:nvSpPr>
            <p:cNvPr id="278" name="TextBox 278"/>
            <p:cNvSpPr txBox="1"/>
            <p:nvPr/>
          </p:nvSpPr>
          <p:spPr>
            <a:xfrm>
              <a:off x="1164888" y="5228765"/>
              <a:ext cx="38357" cy="8739"/>
            </a:xfrm>
            <a:prstGeom prst="rect">
              <a:avLst/>
            </a:prstGeom>
          </p:spPr>
          <p:txBody>
            <a:bodyPr lIns="0" tIns="0" rIns="0" bIns="0" rtlCol="0" anchor="t">
              <a:spAutoFit/>
            </a:bodyPr>
            <a:lstStyle/>
            <a:p>
              <a:pPr algn="ctr">
                <a:lnSpc>
                  <a:spcPts val="52"/>
                </a:lnSpc>
                <a:spcBef>
                  <a:spcPct val="0"/>
                </a:spcBef>
              </a:pPr>
              <a:r>
                <a:rPr lang="en-US" sz="100" b="1">
                  <a:solidFill>
                    <a:srgbClr val="FFDE59"/>
                  </a:solidFill>
                  <a:latin typeface="Calibri (MS) Bold"/>
                  <a:ea typeface="Calibri (MS) Bold"/>
                  <a:cs typeface="Calibri (MS) Bold"/>
                  <a:sym typeface="Calibri (MS) Bold"/>
                </a:rPr>
                <a:t>BeReal.</a:t>
              </a:r>
            </a:p>
          </p:txBody>
        </p:sp>
        <p:sp>
          <p:nvSpPr>
            <p:cNvPr id="279" name="TextBox 279"/>
            <p:cNvSpPr txBox="1"/>
            <p:nvPr/>
          </p:nvSpPr>
          <p:spPr>
            <a:xfrm>
              <a:off x="1277378" y="5228765"/>
              <a:ext cx="38357" cy="8739"/>
            </a:xfrm>
            <a:prstGeom prst="rect">
              <a:avLst/>
            </a:prstGeom>
          </p:spPr>
          <p:txBody>
            <a:bodyPr lIns="0" tIns="0" rIns="0" bIns="0" rtlCol="0" anchor="t">
              <a:spAutoFit/>
            </a:bodyPr>
            <a:lstStyle/>
            <a:p>
              <a:pPr algn="ctr">
                <a:lnSpc>
                  <a:spcPts val="52"/>
                </a:lnSpc>
                <a:spcBef>
                  <a:spcPct val="0"/>
                </a:spcBef>
              </a:pPr>
              <a:r>
                <a:rPr lang="en-US" sz="100" b="1">
                  <a:solidFill>
                    <a:srgbClr val="FFDE59"/>
                  </a:solidFill>
                  <a:latin typeface="Calibri (MS) Bold"/>
                  <a:ea typeface="Calibri (MS) Bold"/>
                  <a:cs typeface="Calibri (MS) Bold"/>
                  <a:sym typeface="Calibri (MS) Bold"/>
                </a:rPr>
                <a:t>Unfiltered</a:t>
              </a:r>
            </a:p>
          </p:txBody>
        </p:sp>
        <p:sp>
          <p:nvSpPr>
            <p:cNvPr id="280" name="Freeform 280"/>
            <p:cNvSpPr/>
            <p:nvPr/>
          </p:nvSpPr>
          <p:spPr>
            <a:xfrm>
              <a:off x="1213258" y="5193117"/>
              <a:ext cx="54988" cy="33818"/>
            </a:xfrm>
            <a:custGeom>
              <a:avLst/>
              <a:gdLst/>
              <a:ahLst/>
              <a:cxnLst/>
              <a:rect l="l" t="t" r="r" b="b"/>
              <a:pathLst>
                <a:path w="54988" h="33818">
                  <a:moveTo>
                    <a:pt x="0" y="0"/>
                  </a:moveTo>
                  <a:lnTo>
                    <a:pt x="54989" y="0"/>
                  </a:lnTo>
                  <a:lnTo>
                    <a:pt x="54989" y="33818"/>
                  </a:lnTo>
                  <a:lnTo>
                    <a:pt x="0" y="33818"/>
                  </a:lnTo>
                  <a:lnTo>
                    <a:pt x="0" y="0"/>
                  </a:lnTo>
                  <a:close/>
                </a:path>
              </a:pathLst>
            </a:custGeom>
            <a:blipFill>
              <a:blip>
                <a:extLst>
                  <a:ext uri="{96DAC541-7B7A-43D3-8B79-37D633B846F1}">
                    <asvg:svgBlip xmlns:asvg="http://schemas.microsoft.com/office/drawing/2016/SVG/main" r:embed="rId35"/>
                  </a:ext>
                </a:extLst>
              </a:blip>
              <a:stretch>
                <a:fillRect/>
              </a:stretch>
            </a:blipFill>
          </p:spPr>
          <p:txBody>
            <a:bodyPr/>
            <a:lstStyle/>
            <a:p>
              <a:endParaRPr lang="en-US"/>
            </a:p>
          </p:txBody>
        </p:sp>
        <p:sp>
          <p:nvSpPr>
            <p:cNvPr id="281" name="Freeform 281"/>
            <p:cNvSpPr/>
            <p:nvPr/>
          </p:nvSpPr>
          <p:spPr>
            <a:xfrm>
              <a:off x="1156704" y="5530589"/>
              <a:ext cx="173956" cy="173956"/>
            </a:xfrm>
            <a:custGeom>
              <a:avLst/>
              <a:gdLst/>
              <a:ahLst/>
              <a:cxnLst/>
              <a:rect l="l" t="t" r="r" b="b"/>
              <a:pathLst>
                <a:path w="173956" h="173956">
                  <a:moveTo>
                    <a:pt x="0" y="0"/>
                  </a:moveTo>
                  <a:lnTo>
                    <a:pt x="173956" y="0"/>
                  </a:lnTo>
                  <a:lnTo>
                    <a:pt x="173956" y="173956"/>
                  </a:lnTo>
                  <a:lnTo>
                    <a:pt x="0" y="173956"/>
                  </a:lnTo>
                  <a:lnTo>
                    <a:pt x="0" y="0"/>
                  </a:lnTo>
                  <a:close/>
                </a:path>
              </a:pathLst>
            </a:custGeom>
            <a:blipFill>
              <a:blip>
                <a:extLst>
                  <a:ext uri="{96DAC541-7B7A-43D3-8B79-37D633B846F1}">
                    <asvg:svgBlip xmlns:asvg="http://schemas.microsoft.com/office/drawing/2016/SVG/main" r:embed="rId36"/>
                  </a:ext>
                </a:extLst>
              </a:blip>
              <a:stretch>
                <a:fillRect/>
              </a:stretch>
            </a:blipFill>
          </p:spPr>
          <p:txBody>
            <a:bodyPr/>
            <a:lstStyle/>
            <a:p>
              <a:endParaRPr lang="en-US"/>
            </a:p>
          </p:txBody>
        </p:sp>
        <p:sp>
          <p:nvSpPr>
            <p:cNvPr id="282" name="Freeform 282"/>
            <p:cNvSpPr/>
            <p:nvPr/>
          </p:nvSpPr>
          <p:spPr>
            <a:xfrm>
              <a:off x="1191716" y="5566270"/>
              <a:ext cx="108417" cy="58003"/>
            </a:xfrm>
            <a:custGeom>
              <a:avLst/>
              <a:gdLst/>
              <a:ahLst/>
              <a:cxnLst/>
              <a:rect l="l" t="t" r="r" b="b"/>
              <a:pathLst>
                <a:path w="108417" h="58003">
                  <a:moveTo>
                    <a:pt x="0" y="0"/>
                  </a:moveTo>
                  <a:lnTo>
                    <a:pt x="108416" y="0"/>
                  </a:lnTo>
                  <a:lnTo>
                    <a:pt x="108416" y="58003"/>
                  </a:lnTo>
                  <a:lnTo>
                    <a:pt x="0" y="58003"/>
                  </a:lnTo>
                  <a:lnTo>
                    <a:pt x="0" y="0"/>
                  </a:lnTo>
                  <a:close/>
                </a:path>
              </a:pathLst>
            </a:custGeom>
            <a:blipFill>
              <a:blip>
                <a:extLst>
                  <a:ext uri="{96DAC541-7B7A-43D3-8B79-37D633B846F1}">
                    <asvg:svgBlip xmlns:asvg="http://schemas.microsoft.com/office/drawing/2016/SVG/main" r:embed="rId37"/>
                  </a:ext>
                </a:extLst>
              </a:blip>
              <a:stretch>
                <a:fillRect/>
              </a:stretch>
            </a:blipFill>
          </p:spPr>
          <p:txBody>
            <a:bodyPr/>
            <a:lstStyle/>
            <a:p>
              <a:endParaRPr lang="en-US"/>
            </a:p>
          </p:txBody>
        </p:sp>
        <p:sp>
          <p:nvSpPr>
            <p:cNvPr id="283" name="TextBox 283"/>
            <p:cNvSpPr txBox="1"/>
            <p:nvPr/>
          </p:nvSpPr>
          <p:spPr>
            <a:xfrm>
              <a:off x="1197028" y="5539990"/>
              <a:ext cx="97792" cy="40503"/>
            </a:xfrm>
            <a:prstGeom prst="rect">
              <a:avLst/>
            </a:prstGeom>
          </p:spPr>
          <p:txBody>
            <a:bodyPr lIns="0" tIns="0" rIns="0" bIns="0" rtlCol="0" anchor="t">
              <a:spAutoFit/>
            </a:bodyPr>
            <a:lstStyle/>
            <a:p>
              <a:pPr algn="ctr">
                <a:lnSpc>
                  <a:spcPts val="166"/>
                </a:lnSpc>
                <a:spcBef>
                  <a:spcPct val="0"/>
                </a:spcBef>
              </a:pPr>
              <a:r>
                <a:rPr lang="en-US" sz="138" b="1" spc="18">
                  <a:solidFill>
                    <a:srgbClr val="FFFFFF"/>
                  </a:solidFill>
                  <a:latin typeface="Calibri (MS) Bold"/>
                  <a:ea typeface="Calibri (MS) Bold"/>
                  <a:cs typeface="Calibri (MS) Bold"/>
                  <a:sym typeface="Calibri (MS) Bold"/>
                </a:rPr>
                <a:t>COFFEE</a:t>
              </a:r>
            </a:p>
          </p:txBody>
        </p:sp>
        <p:sp>
          <p:nvSpPr>
            <p:cNvPr id="284" name="Freeform 284"/>
            <p:cNvSpPr/>
            <p:nvPr/>
          </p:nvSpPr>
          <p:spPr>
            <a:xfrm rot="-3394830" flipV="1">
              <a:off x="1167404" y="5602351"/>
              <a:ext cx="26817" cy="8429"/>
            </a:xfrm>
            <a:custGeom>
              <a:avLst/>
              <a:gdLst/>
              <a:ahLst/>
              <a:cxnLst/>
              <a:rect l="l" t="t" r="r" b="b"/>
              <a:pathLst>
                <a:path w="26817" h="8429">
                  <a:moveTo>
                    <a:pt x="0" y="8430"/>
                  </a:moveTo>
                  <a:lnTo>
                    <a:pt x="26817" y="8430"/>
                  </a:lnTo>
                  <a:lnTo>
                    <a:pt x="26817" y="0"/>
                  </a:lnTo>
                  <a:lnTo>
                    <a:pt x="0" y="0"/>
                  </a:lnTo>
                  <a:lnTo>
                    <a:pt x="0" y="8430"/>
                  </a:lnTo>
                  <a:close/>
                </a:path>
              </a:pathLst>
            </a:custGeom>
            <a:blipFill>
              <a:blip>
                <a:extLst>
                  <a:ext uri="{96DAC541-7B7A-43D3-8B79-37D633B846F1}">
                    <asvg:svgBlip xmlns:asvg="http://schemas.microsoft.com/office/drawing/2016/SVG/main" r:embed="rId29"/>
                  </a:ext>
                </a:extLst>
              </a:blip>
              <a:stretch>
                <a:fillRect l="-116778"/>
              </a:stretch>
            </a:blipFill>
          </p:spPr>
          <p:txBody>
            <a:bodyPr/>
            <a:lstStyle/>
            <a:p>
              <a:endParaRPr lang="en-US"/>
            </a:p>
          </p:txBody>
        </p:sp>
        <p:sp>
          <p:nvSpPr>
            <p:cNvPr id="285" name="Freeform 285"/>
            <p:cNvSpPr/>
            <p:nvPr/>
          </p:nvSpPr>
          <p:spPr>
            <a:xfrm rot="-6716943">
              <a:off x="1297772" y="5602694"/>
              <a:ext cx="24634" cy="7743"/>
            </a:xfrm>
            <a:custGeom>
              <a:avLst/>
              <a:gdLst/>
              <a:ahLst/>
              <a:cxnLst/>
              <a:rect l="l" t="t" r="r" b="b"/>
              <a:pathLst>
                <a:path w="24634" h="7743">
                  <a:moveTo>
                    <a:pt x="0" y="0"/>
                  </a:moveTo>
                  <a:lnTo>
                    <a:pt x="24634" y="0"/>
                  </a:lnTo>
                  <a:lnTo>
                    <a:pt x="24634" y="7744"/>
                  </a:lnTo>
                  <a:lnTo>
                    <a:pt x="0" y="7744"/>
                  </a:lnTo>
                  <a:lnTo>
                    <a:pt x="0" y="0"/>
                  </a:lnTo>
                  <a:close/>
                </a:path>
              </a:pathLst>
            </a:custGeom>
            <a:blipFill>
              <a:blip>
                <a:extLst>
                  <a:ext uri="{96DAC541-7B7A-43D3-8B79-37D633B846F1}">
                    <asvg:svgBlip xmlns:asvg="http://schemas.microsoft.com/office/drawing/2016/SVG/main" r:embed="rId29"/>
                  </a:ext>
                </a:extLst>
              </a:blip>
              <a:stretch>
                <a:fillRect l="-116778"/>
              </a:stretch>
            </a:blipFill>
          </p:spPr>
          <p:txBody>
            <a:bodyPr/>
            <a:lstStyle/>
            <a:p>
              <a:endParaRPr lang="en-US"/>
            </a:p>
          </p:txBody>
        </p:sp>
        <p:sp>
          <p:nvSpPr>
            <p:cNvPr id="286" name="Freeform 286"/>
            <p:cNvSpPr/>
            <p:nvPr/>
          </p:nvSpPr>
          <p:spPr>
            <a:xfrm rot="2699999">
              <a:off x="1188070" y="5583487"/>
              <a:ext cx="112539" cy="112539"/>
            </a:xfrm>
            <a:custGeom>
              <a:avLst/>
              <a:gdLst/>
              <a:ahLst/>
              <a:cxnLst/>
              <a:rect l="l" t="t" r="r" b="b"/>
              <a:pathLst>
                <a:path w="112539" h="112539">
                  <a:moveTo>
                    <a:pt x="0" y="0"/>
                  </a:moveTo>
                  <a:lnTo>
                    <a:pt x="112538" y="0"/>
                  </a:lnTo>
                  <a:lnTo>
                    <a:pt x="112538" y="112538"/>
                  </a:lnTo>
                  <a:lnTo>
                    <a:pt x="0" y="112538"/>
                  </a:lnTo>
                  <a:lnTo>
                    <a:pt x="0" y="0"/>
                  </a:lnTo>
                  <a:close/>
                </a:path>
              </a:pathLst>
            </a:custGeom>
            <a:blipFill>
              <a:blip>
                <a:extLst>
                  <a:ext uri="{96DAC541-7B7A-43D3-8B79-37D633B846F1}">
                    <asvg:svgBlip xmlns:asvg="http://schemas.microsoft.com/office/drawing/2016/SVG/main" r:embed="rId38"/>
                  </a:ext>
                </a:extLst>
              </a:blip>
              <a:stretch>
                <a:fillRect/>
              </a:stretch>
            </a:blipFill>
          </p:spPr>
          <p:txBody>
            <a:bodyPr/>
            <a:lstStyle/>
            <a:p>
              <a:endParaRPr lang="en-US"/>
            </a:p>
          </p:txBody>
        </p:sp>
        <p:sp>
          <p:nvSpPr>
            <p:cNvPr id="287" name="TextBox 287"/>
            <p:cNvSpPr txBox="1"/>
            <p:nvPr/>
          </p:nvSpPr>
          <p:spPr>
            <a:xfrm>
              <a:off x="1218970" y="5678282"/>
              <a:ext cx="49424" cy="8695"/>
            </a:xfrm>
            <a:prstGeom prst="rect">
              <a:avLst/>
            </a:prstGeom>
          </p:spPr>
          <p:txBody>
            <a:bodyPr lIns="0" tIns="0" rIns="0" bIns="0" rtlCol="0" anchor="t">
              <a:spAutoFit/>
            </a:bodyPr>
            <a:lstStyle/>
            <a:p>
              <a:pPr algn="ctr">
                <a:lnSpc>
                  <a:spcPts val="51"/>
                </a:lnSpc>
                <a:spcBef>
                  <a:spcPct val="0"/>
                </a:spcBef>
              </a:pPr>
              <a:r>
                <a:rPr lang="en-US" sz="100" b="1" spc="5">
                  <a:solidFill>
                    <a:srgbClr val="FFFFFF"/>
                  </a:solidFill>
                  <a:latin typeface="Calibri (MS) Bold"/>
                  <a:ea typeface="Calibri (MS) Bold"/>
                  <a:cs typeface="Calibri (MS) Bold"/>
                  <a:sym typeface="Calibri (MS) Bold"/>
                </a:rPr>
                <a:t>October2026</a:t>
              </a:r>
            </a:p>
          </p:txBody>
        </p:sp>
        <p:sp>
          <p:nvSpPr>
            <p:cNvPr id="288" name="Freeform 288"/>
            <p:cNvSpPr/>
            <p:nvPr/>
          </p:nvSpPr>
          <p:spPr>
            <a:xfrm rot="2699999">
              <a:off x="1201470" y="5624643"/>
              <a:ext cx="84424" cy="84424"/>
            </a:xfrm>
            <a:custGeom>
              <a:avLst/>
              <a:gdLst/>
              <a:ahLst/>
              <a:cxnLst/>
              <a:rect l="l" t="t" r="r" b="b"/>
              <a:pathLst>
                <a:path w="84424" h="84424">
                  <a:moveTo>
                    <a:pt x="0" y="0"/>
                  </a:moveTo>
                  <a:lnTo>
                    <a:pt x="84424" y="0"/>
                  </a:lnTo>
                  <a:lnTo>
                    <a:pt x="84424" y="84425"/>
                  </a:lnTo>
                  <a:lnTo>
                    <a:pt x="0" y="84425"/>
                  </a:lnTo>
                  <a:lnTo>
                    <a:pt x="0" y="0"/>
                  </a:lnTo>
                  <a:close/>
                </a:path>
              </a:pathLst>
            </a:custGeom>
            <a:blipFill>
              <a:blip>
                <a:extLst>
                  <a:ext uri="{96DAC541-7B7A-43D3-8B79-37D633B846F1}">
                    <asvg:svgBlip xmlns:asvg="http://schemas.microsoft.com/office/drawing/2016/SVG/main" r:embed="rId38"/>
                  </a:ext>
                </a:extLst>
              </a:blip>
              <a:stretch>
                <a:fillRect/>
              </a:stretch>
            </a:blipFill>
          </p:spPr>
          <p:txBody>
            <a:bodyPr/>
            <a:lstStyle/>
            <a:p>
              <a:endParaRPr lang="en-US"/>
            </a:p>
          </p:txBody>
        </p:sp>
        <p:sp>
          <p:nvSpPr>
            <p:cNvPr id="289" name="TextBox 289"/>
            <p:cNvSpPr txBox="1"/>
            <p:nvPr/>
          </p:nvSpPr>
          <p:spPr>
            <a:xfrm>
              <a:off x="1204112" y="5648832"/>
              <a:ext cx="80454" cy="13987"/>
            </a:xfrm>
            <a:prstGeom prst="rect">
              <a:avLst/>
            </a:prstGeom>
          </p:spPr>
          <p:txBody>
            <a:bodyPr lIns="0" tIns="0" rIns="0" bIns="0" rtlCol="0" anchor="t">
              <a:spAutoFit/>
            </a:bodyPr>
            <a:lstStyle/>
            <a:p>
              <a:pPr algn="ctr">
                <a:lnSpc>
                  <a:spcPts val="83"/>
                </a:lnSpc>
                <a:spcBef>
                  <a:spcPct val="0"/>
                </a:spcBef>
              </a:pPr>
              <a:r>
                <a:rPr lang="en-US" sz="100" b="1">
                  <a:solidFill>
                    <a:srgbClr val="FFFFFF"/>
                  </a:solidFill>
                  <a:latin typeface="Calibri (MS) Bold"/>
                  <a:ea typeface="Calibri (MS) Bold"/>
                  <a:cs typeface="Calibri (MS) Bold"/>
                  <a:sym typeface="Calibri (MS) Bold"/>
                </a:rPr>
                <a:t> REAL PASSPORT</a:t>
              </a:r>
            </a:p>
          </p:txBody>
        </p:sp>
        <p:sp>
          <p:nvSpPr>
            <p:cNvPr id="290" name="TextBox 290"/>
            <p:cNvSpPr txBox="1"/>
            <p:nvPr/>
          </p:nvSpPr>
          <p:spPr>
            <a:xfrm>
              <a:off x="1168203" y="5624224"/>
              <a:ext cx="38162" cy="8695"/>
            </a:xfrm>
            <a:prstGeom prst="rect">
              <a:avLst/>
            </a:prstGeom>
          </p:spPr>
          <p:txBody>
            <a:bodyPr lIns="0" tIns="0" rIns="0" bIns="0" rtlCol="0" anchor="t">
              <a:spAutoFit/>
            </a:bodyPr>
            <a:lstStyle/>
            <a:p>
              <a:pPr algn="ctr">
                <a:lnSpc>
                  <a:spcPts val="51"/>
                </a:lnSpc>
                <a:spcBef>
                  <a:spcPct val="0"/>
                </a:spcBef>
              </a:pPr>
              <a:r>
                <a:rPr lang="en-US" sz="100" b="1">
                  <a:solidFill>
                    <a:srgbClr val="FFDE59"/>
                  </a:solidFill>
                  <a:latin typeface="Calibri (MS) Bold"/>
                  <a:ea typeface="Calibri (MS) Bold"/>
                  <a:cs typeface="Calibri (MS) Bold"/>
                  <a:sym typeface="Calibri (MS) Bold"/>
                </a:rPr>
                <a:t>BeReal.</a:t>
              </a:r>
            </a:p>
          </p:txBody>
        </p:sp>
        <p:sp>
          <p:nvSpPr>
            <p:cNvPr id="291" name="TextBox 291"/>
            <p:cNvSpPr txBox="1"/>
            <p:nvPr/>
          </p:nvSpPr>
          <p:spPr>
            <a:xfrm>
              <a:off x="1280122" y="5624224"/>
              <a:ext cx="38162" cy="8695"/>
            </a:xfrm>
            <a:prstGeom prst="rect">
              <a:avLst/>
            </a:prstGeom>
          </p:spPr>
          <p:txBody>
            <a:bodyPr lIns="0" tIns="0" rIns="0" bIns="0" rtlCol="0" anchor="t">
              <a:spAutoFit/>
            </a:bodyPr>
            <a:lstStyle/>
            <a:p>
              <a:pPr algn="ctr">
                <a:lnSpc>
                  <a:spcPts val="51"/>
                </a:lnSpc>
                <a:spcBef>
                  <a:spcPct val="0"/>
                </a:spcBef>
              </a:pPr>
              <a:r>
                <a:rPr lang="en-US" sz="100" b="1">
                  <a:solidFill>
                    <a:srgbClr val="FFDE59"/>
                  </a:solidFill>
                  <a:latin typeface="Calibri (MS) Bold"/>
                  <a:ea typeface="Calibri (MS) Bold"/>
                  <a:cs typeface="Calibri (MS) Bold"/>
                  <a:sym typeface="Calibri (MS) Bold"/>
                </a:rPr>
                <a:t>Unfiltered</a:t>
              </a:r>
            </a:p>
          </p:txBody>
        </p:sp>
        <p:sp>
          <p:nvSpPr>
            <p:cNvPr id="292" name="Freeform 292"/>
            <p:cNvSpPr/>
            <p:nvPr/>
          </p:nvSpPr>
          <p:spPr>
            <a:xfrm>
              <a:off x="1227550" y="5591908"/>
              <a:ext cx="32264" cy="36663"/>
            </a:xfrm>
            <a:custGeom>
              <a:avLst/>
              <a:gdLst/>
              <a:ahLst/>
              <a:cxnLst/>
              <a:rect l="l" t="t" r="r" b="b"/>
              <a:pathLst>
                <a:path w="32264" h="36663">
                  <a:moveTo>
                    <a:pt x="0" y="0"/>
                  </a:moveTo>
                  <a:lnTo>
                    <a:pt x="32264" y="0"/>
                  </a:lnTo>
                  <a:lnTo>
                    <a:pt x="32264" y="36663"/>
                  </a:lnTo>
                  <a:lnTo>
                    <a:pt x="0" y="36663"/>
                  </a:lnTo>
                  <a:lnTo>
                    <a:pt x="0" y="0"/>
                  </a:lnTo>
                  <a:close/>
                </a:path>
              </a:pathLst>
            </a:custGeom>
            <a:blipFill>
              <a:blip>
                <a:extLst>
                  <a:ext uri="{96DAC541-7B7A-43D3-8B79-37D633B846F1}">
                    <asvg:svgBlip xmlns:asvg="http://schemas.microsoft.com/office/drawing/2016/SVG/main" r:embed="rId39"/>
                  </a:ext>
                </a:extLst>
              </a:blip>
              <a:stretch>
                <a:fillRect/>
              </a:stretch>
            </a:blipFill>
          </p:spPr>
          <p:txBody>
            <a:bodyPr/>
            <a:lstStyle/>
            <a:p>
              <a:endParaRPr lang="en-US"/>
            </a:p>
          </p:txBody>
        </p:sp>
        <p:sp>
          <p:nvSpPr>
            <p:cNvPr id="293" name="Freeform 293"/>
            <p:cNvSpPr/>
            <p:nvPr/>
          </p:nvSpPr>
          <p:spPr>
            <a:xfrm>
              <a:off x="1159190" y="5934657"/>
              <a:ext cx="168984" cy="168984"/>
            </a:xfrm>
            <a:custGeom>
              <a:avLst/>
              <a:gdLst/>
              <a:ahLst/>
              <a:cxnLst/>
              <a:rect l="l" t="t" r="r" b="b"/>
              <a:pathLst>
                <a:path w="168984" h="168984">
                  <a:moveTo>
                    <a:pt x="0" y="0"/>
                  </a:moveTo>
                  <a:lnTo>
                    <a:pt x="168984" y="0"/>
                  </a:lnTo>
                  <a:lnTo>
                    <a:pt x="168984" y="168983"/>
                  </a:lnTo>
                  <a:lnTo>
                    <a:pt x="0" y="168983"/>
                  </a:lnTo>
                  <a:lnTo>
                    <a:pt x="0" y="0"/>
                  </a:lnTo>
                  <a:close/>
                </a:path>
              </a:pathLst>
            </a:custGeom>
            <a:blipFill>
              <a:blip>
                <a:extLst>
                  <a:ext uri="{96DAC541-7B7A-43D3-8B79-37D633B846F1}">
                    <asvg:svgBlip xmlns:asvg="http://schemas.microsoft.com/office/drawing/2016/SVG/main" r:embed="rId40"/>
                  </a:ext>
                </a:extLst>
              </a:blip>
              <a:stretch>
                <a:fillRect/>
              </a:stretch>
            </a:blipFill>
          </p:spPr>
          <p:txBody>
            <a:bodyPr/>
            <a:lstStyle/>
            <a:p>
              <a:endParaRPr lang="en-US"/>
            </a:p>
          </p:txBody>
        </p:sp>
        <p:sp>
          <p:nvSpPr>
            <p:cNvPr id="294" name="Freeform 294"/>
            <p:cNvSpPr/>
            <p:nvPr/>
          </p:nvSpPr>
          <p:spPr>
            <a:xfrm>
              <a:off x="1193201" y="5969317"/>
              <a:ext cx="105318" cy="56345"/>
            </a:xfrm>
            <a:custGeom>
              <a:avLst/>
              <a:gdLst/>
              <a:ahLst/>
              <a:cxnLst/>
              <a:rect l="l" t="t" r="r" b="b"/>
              <a:pathLst>
                <a:path w="105318" h="56345">
                  <a:moveTo>
                    <a:pt x="0" y="0"/>
                  </a:moveTo>
                  <a:lnTo>
                    <a:pt x="105318" y="0"/>
                  </a:lnTo>
                  <a:lnTo>
                    <a:pt x="105318" y="56345"/>
                  </a:lnTo>
                  <a:lnTo>
                    <a:pt x="0" y="56345"/>
                  </a:lnTo>
                  <a:lnTo>
                    <a:pt x="0" y="0"/>
                  </a:lnTo>
                  <a:close/>
                </a:path>
              </a:pathLst>
            </a:custGeom>
            <a:blipFill>
              <a:blip>
                <a:extLst>
                  <a:ext uri="{96DAC541-7B7A-43D3-8B79-37D633B846F1}">
                    <asvg:svgBlip xmlns:asvg="http://schemas.microsoft.com/office/drawing/2016/SVG/main" r:embed="rId41"/>
                  </a:ext>
                </a:extLst>
              </a:blip>
              <a:stretch>
                <a:fillRect/>
              </a:stretch>
            </a:blipFill>
          </p:spPr>
          <p:txBody>
            <a:bodyPr/>
            <a:lstStyle/>
            <a:p>
              <a:endParaRPr lang="en-US"/>
            </a:p>
          </p:txBody>
        </p:sp>
        <p:sp>
          <p:nvSpPr>
            <p:cNvPr id="295" name="Freeform 295"/>
            <p:cNvSpPr/>
            <p:nvPr/>
          </p:nvSpPr>
          <p:spPr>
            <a:xfrm>
              <a:off x="1223693" y="5983576"/>
              <a:ext cx="46849" cy="50922"/>
            </a:xfrm>
            <a:custGeom>
              <a:avLst/>
              <a:gdLst/>
              <a:ahLst/>
              <a:cxnLst/>
              <a:rect l="l" t="t" r="r" b="b"/>
              <a:pathLst>
                <a:path w="46849" h="50922">
                  <a:moveTo>
                    <a:pt x="0" y="0"/>
                  </a:moveTo>
                  <a:lnTo>
                    <a:pt x="46849" y="0"/>
                  </a:lnTo>
                  <a:lnTo>
                    <a:pt x="46849" y="50922"/>
                  </a:lnTo>
                  <a:lnTo>
                    <a:pt x="0" y="50922"/>
                  </a:lnTo>
                  <a:lnTo>
                    <a:pt x="0" y="0"/>
                  </a:lnTo>
                  <a:close/>
                </a:path>
              </a:pathLst>
            </a:custGeom>
            <a:blipFill>
              <a:blip>
                <a:extLst>
                  <a:ext uri="{96DAC541-7B7A-43D3-8B79-37D633B846F1}">
                    <asvg:svgBlip xmlns:asvg="http://schemas.microsoft.com/office/drawing/2016/SVG/main" r:embed="rId42"/>
                  </a:ext>
                </a:extLst>
              </a:blip>
              <a:stretch>
                <a:fillRect/>
              </a:stretch>
            </a:blipFill>
          </p:spPr>
          <p:txBody>
            <a:bodyPr/>
            <a:lstStyle/>
            <a:p>
              <a:endParaRPr lang="en-US"/>
            </a:p>
          </p:txBody>
        </p:sp>
        <p:sp>
          <p:nvSpPr>
            <p:cNvPr id="296" name="TextBox 296"/>
            <p:cNvSpPr txBox="1"/>
            <p:nvPr/>
          </p:nvSpPr>
          <p:spPr>
            <a:xfrm>
              <a:off x="1186893" y="5943789"/>
              <a:ext cx="117934" cy="47568"/>
            </a:xfrm>
            <a:prstGeom prst="rect">
              <a:avLst/>
            </a:prstGeom>
          </p:spPr>
          <p:txBody>
            <a:bodyPr lIns="0" tIns="0" rIns="0" bIns="0" rtlCol="0" anchor="t">
              <a:spAutoFit/>
            </a:bodyPr>
            <a:lstStyle/>
            <a:p>
              <a:pPr algn="ctr">
                <a:lnSpc>
                  <a:spcPts val="161"/>
                </a:lnSpc>
                <a:spcBef>
                  <a:spcPct val="0"/>
                </a:spcBef>
              </a:pPr>
              <a:r>
                <a:rPr lang="en-US" sz="134" b="1" spc="18">
                  <a:solidFill>
                    <a:srgbClr val="FFFFFF"/>
                  </a:solidFill>
                  <a:latin typeface="Calibri (MS) Bold"/>
                  <a:ea typeface="Calibri (MS) Bold"/>
                  <a:cs typeface="Calibri (MS) Bold"/>
                  <a:sym typeface="Calibri (MS) Bold"/>
                </a:rPr>
                <a:t>HAUNTED</a:t>
              </a:r>
            </a:p>
          </p:txBody>
        </p:sp>
        <p:sp>
          <p:nvSpPr>
            <p:cNvPr id="297" name="Freeform 297"/>
            <p:cNvSpPr/>
            <p:nvPr/>
          </p:nvSpPr>
          <p:spPr>
            <a:xfrm rot="-3394830" flipV="1">
              <a:off x="1169873" y="5996012"/>
              <a:ext cx="34041" cy="10700"/>
            </a:xfrm>
            <a:custGeom>
              <a:avLst/>
              <a:gdLst/>
              <a:ahLst/>
              <a:cxnLst/>
              <a:rect l="l" t="t" r="r" b="b"/>
              <a:pathLst>
                <a:path w="34041" h="10700">
                  <a:moveTo>
                    <a:pt x="0" y="10700"/>
                  </a:moveTo>
                  <a:lnTo>
                    <a:pt x="34040" y="10700"/>
                  </a:lnTo>
                  <a:lnTo>
                    <a:pt x="34040" y="0"/>
                  </a:lnTo>
                  <a:lnTo>
                    <a:pt x="0" y="0"/>
                  </a:lnTo>
                  <a:lnTo>
                    <a:pt x="0" y="10700"/>
                  </a:lnTo>
                  <a:close/>
                </a:path>
              </a:pathLst>
            </a:custGeom>
            <a:blipFill>
              <a:blip>
                <a:extLst>
                  <a:ext uri="{96DAC541-7B7A-43D3-8B79-37D633B846F1}">
                    <asvg:svgBlip xmlns:asvg="http://schemas.microsoft.com/office/drawing/2016/SVG/main" r:embed="rId29"/>
                  </a:ext>
                </a:extLst>
              </a:blip>
              <a:stretch>
                <a:fillRect l="-116778"/>
              </a:stretch>
            </a:blipFill>
          </p:spPr>
          <p:txBody>
            <a:bodyPr/>
            <a:lstStyle/>
            <a:p>
              <a:endParaRPr lang="en-US"/>
            </a:p>
          </p:txBody>
        </p:sp>
        <p:sp>
          <p:nvSpPr>
            <p:cNvPr id="298" name="Freeform 298"/>
            <p:cNvSpPr/>
            <p:nvPr/>
          </p:nvSpPr>
          <p:spPr>
            <a:xfrm rot="-6716943">
              <a:off x="1287806" y="5996012"/>
              <a:ext cx="34041" cy="10700"/>
            </a:xfrm>
            <a:custGeom>
              <a:avLst/>
              <a:gdLst/>
              <a:ahLst/>
              <a:cxnLst/>
              <a:rect l="l" t="t" r="r" b="b"/>
              <a:pathLst>
                <a:path w="34041" h="10700">
                  <a:moveTo>
                    <a:pt x="0" y="0"/>
                  </a:moveTo>
                  <a:lnTo>
                    <a:pt x="34041" y="0"/>
                  </a:lnTo>
                  <a:lnTo>
                    <a:pt x="34041" y="10700"/>
                  </a:lnTo>
                  <a:lnTo>
                    <a:pt x="0" y="10700"/>
                  </a:lnTo>
                  <a:lnTo>
                    <a:pt x="0" y="0"/>
                  </a:lnTo>
                  <a:close/>
                </a:path>
              </a:pathLst>
            </a:custGeom>
            <a:blipFill>
              <a:blip>
                <a:extLst>
                  <a:ext uri="{96DAC541-7B7A-43D3-8B79-37D633B846F1}">
                    <asvg:svgBlip xmlns:asvg="http://schemas.microsoft.com/office/drawing/2016/SVG/main" r:embed="rId29"/>
                  </a:ext>
                </a:extLst>
              </a:blip>
              <a:stretch>
                <a:fillRect l="-116778"/>
              </a:stretch>
            </a:blipFill>
          </p:spPr>
          <p:txBody>
            <a:bodyPr/>
            <a:lstStyle/>
            <a:p>
              <a:endParaRPr lang="en-US"/>
            </a:p>
          </p:txBody>
        </p:sp>
        <p:sp>
          <p:nvSpPr>
            <p:cNvPr id="299" name="Freeform 299"/>
            <p:cNvSpPr/>
            <p:nvPr/>
          </p:nvSpPr>
          <p:spPr>
            <a:xfrm rot="2699999">
              <a:off x="1189659" y="5988172"/>
              <a:ext cx="109322" cy="109322"/>
            </a:xfrm>
            <a:custGeom>
              <a:avLst/>
              <a:gdLst/>
              <a:ahLst/>
              <a:cxnLst/>
              <a:rect l="l" t="t" r="r" b="b"/>
              <a:pathLst>
                <a:path w="109322" h="109322">
                  <a:moveTo>
                    <a:pt x="0" y="0"/>
                  </a:moveTo>
                  <a:lnTo>
                    <a:pt x="109322" y="0"/>
                  </a:lnTo>
                  <a:lnTo>
                    <a:pt x="109322" y="109322"/>
                  </a:lnTo>
                  <a:lnTo>
                    <a:pt x="0" y="109322"/>
                  </a:lnTo>
                  <a:lnTo>
                    <a:pt x="0" y="0"/>
                  </a:lnTo>
                  <a:close/>
                </a:path>
              </a:pathLst>
            </a:custGeom>
            <a:blipFill>
              <a:blip>
                <a:extLst>
                  <a:ext uri="{96DAC541-7B7A-43D3-8B79-37D633B846F1}">
                    <asvg:svgBlip xmlns:asvg="http://schemas.microsoft.com/office/drawing/2016/SVG/main" r:embed="rId43"/>
                  </a:ext>
                </a:extLst>
              </a:blip>
              <a:stretch>
                <a:fillRect/>
              </a:stretch>
            </a:blipFill>
          </p:spPr>
          <p:txBody>
            <a:bodyPr/>
            <a:lstStyle/>
            <a:p>
              <a:endParaRPr lang="en-US"/>
            </a:p>
          </p:txBody>
        </p:sp>
        <p:sp>
          <p:nvSpPr>
            <p:cNvPr id="300" name="TextBox 300"/>
            <p:cNvSpPr txBox="1"/>
            <p:nvPr/>
          </p:nvSpPr>
          <p:spPr>
            <a:xfrm>
              <a:off x="1219676" y="6078128"/>
              <a:ext cx="48011" cy="8446"/>
            </a:xfrm>
            <a:prstGeom prst="rect">
              <a:avLst/>
            </a:prstGeom>
          </p:spPr>
          <p:txBody>
            <a:bodyPr lIns="0" tIns="0" rIns="0" bIns="0" rtlCol="0" anchor="t">
              <a:spAutoFit/>
            </a:bodyPr>
            <a:lstStyle/>
            <a:p>
              <a:pPr algn="ctr">
                <a:lnSpc>
                  <a:spcPts val="50"/>
                </a:lnSpc>
                <a:spcBef>
                  <a:spcPct val="0"/>
                </a:spcBef>
              </a:pPr>
              <a:r>
                <a:rPr lang="en-US" sz="100" b="1" spc="5">
                  <a:solidFill>
                    <a:srgbClr val="FFFFFF"/>
                  </a:solidFill>
                  <a:latin typeface="Calibri (MS) Bold"/>
                  <a:ea typeface="Calibri (MS) Bold"/>
                  <a:cs typeface="Calibri (MS) Bold"/>
                  <a:sym typeface="Calibri (MS) Bold"/>
                </a:rPr>
                <a:t>October2026</a:t>
              </a:r>
            </a:p>
          </p:txBody>
        </p:sp>
        <p:sp>
          <p:nvSpPr>
            <p:cNvPr id="301" name="Freeform 301"/>
            <p:cNvSpPr/>
            <p:nvPr/>
          </p:nvSpPr>
          <p:spPr>
            <a:xfrm rot="2699999">
              <a:off x="1202676" y="6026022"/>
              <a:ext cx="82011" cy="82011"/>
            </a:xfrm>
            <a:custGeom>
              <a:avLst/>
              <a:gdLst/>
              <a:ahLst/>
              <a:cxnLst/>
              <a:rect l="l" t="t" r="r" b="b"/>
              <a:pathLst>
                <a:path w="82011" h="82011">
                  <a:moveTo>
                    <a:pt x="0" y="0"/>
                  </a:moveTo>
                  <a:lnTo>
                    <a:pt x="82012" y="0"/>
                  </a:lnTo>
                  <a:lnTo>
                    <a:pt x="82012" y="82011"/>
                  </a:lnTo>
                  <a:lnTo>
                    <a:pt x="0" y="82011"/>
                  </a:lnTo>
                  <a:lnTo>
                    <a:pt x="0" y="0"/>
                  </a:lnTo>
                  <a:close/>
                </a:path>
              </a:pathLst>
            </a:custGeom>
            <a:blipFill>
              <a:blip>
                <a:extLst>
                  <a:ext uri="{96DAC541-7B7A-43D3-8B79-37D633B846F1}">
                    <asvg:svgBlip xmlns:asvg="http://schemas.microsoft.com/office/drawing/2016/SVG/main" r:embed="rId43"/>
                  </a:ext>
                </a:extLst>
              </a:blip>
              <a:stretch>
                <a:fillRect/>
              </a:stretch>
            </a:blipFill>
          </p:spPr>
          <p:txBody>
            <a:bodyPr/>
            <a:lstStyle/>
            <a:p>
              <a:endParaRPr lang="en-US"/>
            </a:p>
          </p:txBody>
        </p:sp>
        <p:sp>
          <p:nvSpPr>
            <p:cNvPr id="302" name="TextBox 302"/>
            <p:cNvSpPr txBox="1"/>
            <p:nvPr/>
          </p:nvSpPr>
          <p:spPr>
            <a:xfrm>
              <a:off x="1205243" y="6049520"/>
              <a:ext cx="78154" cy="13587"/>
            </a:xfrm>
            <a:prstGeom prst="rect">
              <a:avLst/>
            </a:prstGeom>
          </p:spPr>
          <p:txBody>
            <a:bodyPr lIns="0" tIns="0" rIns="0" bIns="0" rtlCol="0" anchor="t">
              <a:spAutoFit/>
            </a:bodyPr>
            <a:lstStyle/>
            <a:p>
              <a:pPr algn="ctr">
                <a:lnSpc>
                  <a:spcPts val="81"/>
                </a:lnSpc>
                <a:spcBef>
                  <a:spcPct val="0"/>
                </a:spcBef>
              </a:pPr>
              <a:r>
                <a:rPr lang="en-US" sz="100" b="1">
                  <a:solidFill>
                    <a:srgbClr val="FFFFFF"/>
                  </a:solidFill>
                  <a:latin typeface="Calibri (MS) Bold"/>
                  <a:ea typeface="Calibri (MS) Bold"/>
                  <a:cs typeface="Calibri (MS) Bold"/>
                  <a:sym typeface="Calibri (MS) Bold"/>
                </a:rPr>
                <a:t> REAL PASSPORT</a:t>
              </a:r>
            </a:p>
          </p:txBody>
        </p:sp>
        <p:sp>
          <p:nvSpPr>
            <p:cNvPr id="303" name="TextBox 303"/>
            <p:cNvSpPr txBox="1"/>
            <p:nvPr/>
          </p:nvSpPr>
          <p:spPr>
            <a:xfrm>
              <a:off x="1170360" y="6025615"/>
              <a:ext cx="37071" cy="8446"/>
            </a:xfrm>
            <a:prstGeom prst="rect">
              <a:avLst/>
            </a:prstGeom>
          </p:spPr>
          <p:txBody>
            <a:bodyPr lIns="0" tIns="0" rIns="0" bIns="0" rtlCol="0" anchor="t">
              <a:spAutoFit/>
            </a:bodyPr>
            <a:lstStyle/>
            <a:p>
              <a:pPr algn="ctr">
                <a:lnSpc>
                  <a:spcPts val="50"/>
                </a:lnSpc>
                <a:spcBef>
                  <a:spcPct val="0"/>
                </a:spcBef>
              </a:pPr>
              <a:r>
                <a:rPr lang="en-US" sz="100" b="1">
                  <a:solidFill>
                    <a:srgbClr val="FFDE59"/>
                  </a:solidFill>
                  <a:latin typeface="Calibri (MS) Bold"/>
                  <a:ea typeface="Calibri (MS) Bold"/>
                  <a:cs typeface="Calibri (MS) Bold"/>
                  <a:sym typeface="Calibri (MS) Bold"/>
                </a:rPr>
                <a:t>BeReal.</a:t>
              </a:r>
            </a:p>
          </p:txBody>
        </p:sp>
        <p:sp>
          <p:nvSpPr>
            <p:cNvPr id="304" name="TextBox 304"/>
            <p:cNvSpPr txBox="1"/>
            <p:nvPr/>
          </p:nvSpPr>
          <p:spPr>
            <a:xfrm>
              <a:off x="1279080" y="6025615"/>
              <a:ext cx="37071" cy="8446"/>
            </a:xfrm>
            <a:prstGeom prst="rect">
              <a:avLst/>
            </a:prstGeom>
          </p:spPr>
          <p:txBody>
            <a:bodyPr lIns="0" tIns="0" rIns="0" bIns="0" rtlCol="0" anchor="t">
              <a:spAutoFit/>
            </a:bodyPr>
            <a:lstStyle/>
            <a:p>
              <a:pPr algn="ctr">
                <a:lnSpc>
                  <a:spcPts val="50"/>
                </a:lnSpc>
                <a:spcBef>
                  <a:spcPct val="0"/>
                </a:spcBef>
              </a:pPr>
              <a:r>
                <a:rPr lang="en-US" sz="100" b="1">
                  <a:solidFill>
                    <a:srgbClr val="FFDE59"/>
                  </a:solidFill>
                  <a:latin typeface="Calibri (MS) Bold"/>
                  <a:ea typeface="Calibri (MS) Bold"/>
                  <a:cs typeface="Calibri (MS) Bold"/>
                  <a:sym typeface="Calibri (MS) Bold"/>
                </a:rPr>
                <a:t>Unfiltered</a:t>
              </a:r>
            </a:p>
          </p:txBody>
        </p:sp>
        <p:sp>
          <p:nvSpPr>
            <p:cNvPr id="305" name="Freeform 305"/>
            <p:cNvSpPr/>
            <p:nvPr/>
          </p:nvSpPr>
          <p:spPr>
            <a:xfrm>
              <a:off x="1159190" y="6736647"/>
              <a:ext cx="184168" cy="184168"/>
            </a:xfrm>
            <a:custGeom>
              <a:avLst/>
              <a:gdLst/>
              <a:ahLst/>
              <a:cxnLst/>
              <a:rect l="l" t="t" r="r" b="b"/>
              <a:pathLst>
                <a:path w="184168" h="184168">
                  <a:moveTo>
                    <a:pt x="0" y="0"/>
                  </a:moveTo>
                  <a:lnTo>
                    <a:pt x="184168" y="0"/>
                  </a:lnTo>
                  <a:lnTo>
                    <a:pt x="184168" y="184168"/>
                  </a:lnTo>
                  <a:lnTo>
                    <a:pt x="0" y="184168"/>
                  </a:lnTo>
                  <a:lnTo>
                    <a:pt x="0" y="0"/>
                  </a:lnTo>
                  <a:close/>
                </a:path>
              </a:pathLst>
            </a:custGeom>
            <a:blipFill>
              <a:blip>
                <a:extLst>
                  <a:ext uri="{96DAC541-7B7A-43D3-8B79-37D633B846F1}">
                    <asvg:svgBlip xmlns:asvg="http://schemas.microsoft.com/office/drawing/2016/SVG/main" r:embed="rId27"/>
                  </a:ext>
                </a:extLst>
              </a:blip>
              <a:stretch>
                <a:fillRect/>
              </a:stretch>
            </a:blipFill>
          </p:spPr>
          <p:txBody>
            <a:bodyPr/>
            <a:lstStyle/>
            <a:p>
              <a:endParaRPr lang="en-US"/>
            </a:p>
          </p:txBody>
        </p:sp>
        <p:sp>
          <p:nvSpPr>
            <p:cNvPr id="306" name="Freeform 306"/>
            <p:cNvSpPr/>
            <p:nvPr/>
          </p:nvSpPr>
          <p:spPr>
            <a:xfrm>
              <a:off x="1196257" y="6774423"/>
              <a:ext cx="114781" cy="61408"/>
            </a:xfrm>
            <a:custGeom>
              <a:avLst/>
              <a:gdLst/>
              <a:ahLst/>
              <a:cxnLst/>
              <a:rect l="l" t="t" r="r" b="b"/>
              <a:pathLst>
                <a:path w="114781" h="61408">
                  <a:moveTo>
                    <a:pt x="0" y="0"/>
                  </a:moveTo>
                  <a:lnTo>
                    <a:pt x="114781" y="0"/>
                  </a:lnTo>
                  <a:lnTo>
                    <a:pt x="114781" y="61408"/>
                  </a:lnTo>
                  <a:lnTo>
                    <a:pt x="0" y="61408"/>
                  </a:lnTo>
                  <a:lnTo>
                    <a:pt x="0" y="0"/>
                  </a:lnTo>
                  <a:close/>
                </a:path>
              </a:pathLst>
            </a:custGeom>
            <a:blipFill>
              <a:blip>
                <a:extLst>
                  <a:ext uri="{96DAC541-7B7A-43D3-8B79-37D633B846F1}">
                    <asvg:svgBlip xmlns:asvg="http://schemas.microsoft.com/office/drawing/2016/SVG/main" r:embed="rId28"/>
                  </a:ext>
                </a:extLst>
              </a:blip>
              <a:stretch>
                <a:fillRect/>
              </a:stretch>
            </a:blipFill>
          </p:spPr>
          <p:txBody>
            <a:bodyPr/>
            <a:lstStyle/>
            <a:p>
              <a:endParaRPr lang="en-US"/>
            </a:p>
          </p:txBody>
        </p:sp>
        <p:sp>
          <p:nvSpPr>
            <p:cNvPr id="307" name="TextBox 307"/>
            <p:cNvSpPr txBox="1"/>
            <p:nvPr/>
          </p:nvSpPr>
          <p:spPr>
            <a:xfrm>
              <a:off x="1178104" y="6746600"/>
              <a:ext cx="151087" cy="64462"/>
            </a:xfrm>
            <a:prstGeom prst="rect">
              <a:avLst/>
            </a:prstGeom>
          </p:spPr>
          <p:txBody>
            <a:bodyPr lIns="0" tIns="0" rIns="0" bIns="0" rtlCol="0" anchor="t">
              <a:spAutoFit/>
            </a:bodyPr>
            <a:lstStyle/>
            <a:p>
              <a:pPr algn="ctr">
                <a:lnSpc>
                  <a:spcPts val="175"/>
                </a:lnSpc>
                <a:spcBef>
                  <a:spcPct val="0"/>
                </a:spcBef>
              </a:pPr>
              <a:r>
                <a:rPr lang="en-US" sz="146" b="1" spc="19">
                  <a:solidFill>
                    <a:srgbClr val="FFFFFF"/>
                  </a:solidFill>
                  <a:latin typeface="Calibri (MS) Bold"/>
                  <a:ea typeface="Calibri (MS) Bold"/>
                  <a:cs typeface="Calibri (MS) Bold"/>
                  <a:sym typeface="Calibri (MS) Bold"/>
                </a:rPr>
                <a:t>LITTLE WINS</a:t>
              </a:r>
            </a:p>
          </p:txBody>
        </p:sp>
        <p:sp>
          <p:nvSpPr>
            <p:cNvPr id="308" name="Freeform 308"/>
            <p:cNvSpPr/>
            <p:nvPr/>
          </p:nvSpPr>
          <p:spPr>
            <a:xfrm rot="2699999">
              <a:off x="1192397" y="6792650"/>
              <a:ext cx="119145" cy="119145"/>
            </a:xfrm>
            <a:custGeom>
              <a:avLst/>
              <a:gdLst/>
              <a:ahLst/>
              <a:cxnLst/>
              <a:rect l="l" t="t" r="r" b="b"/>
              <a:pathLst>
                <a:path w="119145" h="119145">
                  <a:moveTo>
                    <a:pt x="0" y="0"/>
                  </a:moveTo>
                  <a:lnTo>
                    <a:pt x="119146" y="0"/>
                  </a:lnTo>
                  <a:lnTo>
                    <a:pt x="119146" y="119145"/>
                  </a:lnTo>
                  <a:lnTo>
                    <a:pt x="0" y="119145"/>
                  </a:lnTo>
                  <a:lnTo>
                    <a:pt x="0" y="0"/>
                  </a:lnTo>
                  <a:close/>
                </a:path>
              </a:pathLst>
            </a:custGeom>
            <a:blipFill>
              <a:blip>
                <a:extLst>
                  <a:ext uri="{96DAC541-7B7A-43D3-8B79-37D633B846F1}">
                    <asvg:svgBlip xmlns:asvg="http://schemas.microsoft.com/office/drawing/2016/SVG/main" r:embed="rId30"/>
                  </a:ext>
                </a:extLst>
              </a:blip>
              <a:stretch>
                <a:fillRect/>
              </a:stretch>
            </a:blipFill>
          </p:spPr>
          <p:txBody>
            <a:bodyPr/>
            <a:lstStyle/>
            <a:p>
              <a:endParaRPr lang="en-US"/>
            </a:p>
          </p:txBody>
        </p:sp>
        <p:sp>
          <p:nvSpPr>
            <p:cNvPr id="309" name="TextBox 309"/>
            <p:cNvSpPr txBox="1"/>
            <p:nvPr/>
          </p:nvSpPr>
          <p:spPr>
            <a:xfrm>
              <a:off x="1225111" y="6893011"/>
              <a:ext cx="52325" cy="9205"/>
            </a:xfrm>
            <a:prstGeom prst="rect">
              <a:avLst/>
            </a:prstGeom>
          </p:spPr>
          <p:txBody>
            <a:bodyPr lIns="0" tIns="0" rIns="0" bIns="0" rtlCol="0" anchor="t">
              <a:spAutoFit/>
            </a:bodyPr>
            <a:lstStyle/>
            <a:p>
              <a:pPr algn="ctr">
                <a:lnSpc>
                  <a:spcPts val="54"/>
                </a:lnSpc>
                <a:spcBef>
                  <a:spcPct val="0"/>
                </a:spcBef>
              </a:pPr>
              <a:r>
                <a:rPr lang="en-US" sz="100" b="1" spc="6">
                  <a:solidFill>
                    <a:srgbClr val="FFFFFF"/>
                  </a:solidFill>
                  <a:latin typeface="Calibri (MS) Bold"/>
                  <a:ea typeface="Calibri (MS) Bold"/>
                  <a:cs typeface="Calibri (MS) Bold"/>
                  <a:sym typeface="Calibri (MS) Bold"/>
                </a:rPr>
                <a:t>October2026</a:t>
              </a:r>
            </a:p>
          </p:txBody>
        </p:sp>
        <p:sp>
          <p:nvSpPr>
            <p:cNvPr id="310" name="Freeform 310"/>
            <p:cNvSpPr/>
            <p:nvPr/>
          </p:nvSpPr>
          <p:spPr>
            <a:xfrm rot="2699999">
              <a:off x="1206584" y="6836223"/>
              <a:ext cx="89381" cy="89381"/>
            </a:xfrm>
            <a:custGeom>
              <a:avLst/>
              <a:gdLst/>
              <a:ahLst/>
              <a:cxnLst/>
              <a:rect l="l" t="t" r="r" b="b"/>
              <a:pathLst>
                <a:path w="89381" h="89381">
                  <a:moveTo>
                    <a:pt x="0" y="0"/>
                  </a:moveTo>
                  <a:lnTo>
                    <a:pt x="89380" y="0"/>
                  </a:lnTo>
                  <a:lnTo>
                    <a:pt x="89380" y="89380"/>
                  </a:lnTo>
                  <a:lnTo>
                    <a:pt x="0" y="89380"/>
                  </a:lnTo>
                  <a:lnTo>
                    <a:pt x="0" y="0"/>
                  </a:lnTo>
                  <a:close/>
                </a:path>
              </a:pathLst>
            </a:custGeom>
            <a:blipFill>
              <a:blip>
                <a:extLst>
                  <a:ext uri="{96DAC541-7B7A-43D3-8B79-37D633B846F1}">
                    <asvg:svgBlip xmlns:asvg="http://schemas.microsoft.com/office/drawing/2016/SVG/main" r:embed="rId30"/>
                  </a:ext>
                </a:extLst>
              </a:blip>
              <a:stretch>
                <a:fillRect/>
              </a:stretch>
            </a:blipFill>
          </p:spPr>
          <p:txBody>
            <a:bodyPr/>
            <a:lstStyle/>
            <a:p>
              <a:endParaRPr lang="en-US"/>
            </a:p>
          </p:txBody>
        </p:sp>
        <p:sp>
          <p:nvSpPr>
            <p:cNvPr id="311" name="TextBox 311"/>
            <p:cNvSpPr txBox="1"/>
            <p:nvPr/>
          </p:nvSpPr>
          <p:spPr>
            <a:xfrm>
              <a:off x="1209381" y="6861832"/>
              <a:ext cx="85177" cy="14808"/>
            </a:xfrm>
            <a:prstGeom prst="rect">
              <a:avLst/>
            </a:prstGeom>
          </p:spPr>
          <p:txBody>
            <a:bodyPr lIns="0" tIns="0" rIns="0" bIns="0" rtlCol="0" anchor="t">
              <a:spAutoFit/>
            </a:bodyPr>
            <a:lstStyle/>
            <a:p>
              <a:pPr algn="ctr">
                <a:lnSpc>
                  <a:spcPts val="88"/>
                </a:lnSpc>
                <a:spcBef>
                  <a:spcPct val="0"/>
                </a:spcBef>
              </a:pPr>
              <a:r>
                <a:rPr lang="en-US" sz="100" b="1">
                  <a:solidFill>
                    <a:srgbClr val="FFFFFF"/>
                  </a:solidFill>
                  <a:latin typeface="Calibri (MS) Bold"/>
                  <a:ea typeface="Calibri (MS) Bold"/>
                  <a:cs typeface="Calibri (MS) Bold"/>
                  <a:sym typeface="Calibri (MS) Bold"/>
                </a:rPr>
                <a:t> REAL PASSPORT</a:t>
              </a:r>
            </a:p>
          </p:txBody>
        </p:sp>
        <p:sp>
          <p:nvSpPr>
            <p:cNvPr id="312" name="TextBox 312"/>
            <p:cNvSpPr txBox="1"/>
            <p:nvPr/>
          </p:nvSpPr>
          <p:spPr>
            <a:xfrm>
              <a:off x="1171364" y="6835778"/>
              <a:ext cx="40402" cy="9205"/>
            </a:xfrm>
            <a:prstGeom prst="rect">
              <a:avLst/>
            </a:prstGeom>
          </p:spPr>
          <p:txBody>
            <a:bodyPr lIns="0" tIns="0" rIns="0" bIns="0" rtlCol="0" anchor="t">
              <a:spAutoFit/>
            </a:bodyPr>
            <a:lstStyle/>
            <a:p>
              <a:pPr algn="ctr">
                <a:lnSpc>
                  <a:spcPts val="54"/>
                </a:lnSpc>
                <a:spcBef>
                  <a:spcPct val="0"/>
                </a:spcBef>
              </a:pPr>
              <a:r>
                <a:rPr lang="en-US" sz="100" b="1">
                  <a:solidFill>
                    <a:srgbClr val="FFDE59"/>
                  </a:solidFill>
                  <a:latin typeface="Calibri (MS) Bold"/>
                  <a:ea typeface="Calibri (MS) Bold"/>
                  <a:cs typeface="Calibri (MS) Bold"/>
                  <a:sym typeface="Calibri (MS) Bold"/>
                </a:rPr>
                <a:t>BeReal.</a:t>
              </a:r>
            </a:p>
          </p:txBody>
        </p:sp>
        <p:sp>
          <p:nvSpPr>
            <p:cNvPr id="313" name="TextBox 313"/>
            <p:cNvSpPr txBox="1"/>
            <p:nvPr/>
          </p:nvSpPr>
          <p:spPr>
            <a:xfrm>
              <a:off x="1289853" y="6835778"/>
              <a:ext cx="40402" cy="9205"/>
            </a:xfrm>
            <a:prstGeom prst="rect">
              <a:avLst/>
            </a:prstGeom>
          </p:spPr>
          <p:txBody>
            <a:bodyPr lIns="0" tIns="0" rIns="0" bIns="0" rtlCol="0" anchor="t">
              <a:spAutoFit/>
            </a:bodyPr>
            <a:lstStyle/>
            <a:p>
              <a:pPr algn="ctr">
                <a:lnSpc>
                  <a:spcPts val="54"/>
                </a:lnSpc>
                <a:spcBef>
                  <a:spcPct val="0"/>
                </a:spcBef>
              </a:pPr>
              <a:r>
                <a:rPr lang="en-US" sz="100" b="1">
                  <a:solidFill>
                    <a:srgbClr val="FFDE59"/>
                  </a:solidFill>
                  <a:latin typeface="Calibri (MS) Bold"/>
                  <a:ea typeface="Calibri (MS) Bold"/>
                  <a:cs typeface="Calibri (MS) Bold"/>
                  <a:sym typeface="Calibri (MS) Bold"/>
                </a:rPr>
                <a:t>Unfiltered</a:t>
              </a:r>
            </a:p>
          </p:txBody>
        </p:sp>
        <p:sp>
          <p:nvSpPr>
            <p:cNvPr id="314" name="Freeform 314"/>
            <p:cNvSpPr/>
            <p:nvPr/>
          </p:nvSpPr>
          <p:spPr>
            <a:xfrm>
              <a:off x="1226084" y="6802595"/>
              <a:ext cx="50381" cy="37786"/>
            </a:xfrm>
            <a:custGeom>
              <a:avLst/>
              <a:gdLst/>
              <a:ahLst/>
              <a:cxnLst/>
              <a:rect l="l" t="t" r="r" b="b"/>
              <a:pathLst>
                <a:path w="50381" h="37786">
                  <a:moveTo>
                    <a:pt x="0" y="0"/>
                  </a:moveTo>
                  <a:lnTo>
                    <a:pt x="50381" y="0"/>
                  </a:lnTo>
                  <a:lnTo>
                    <a:pt x="50381" y="37786"/>
                  </a:lnTo>
                  <a:lnTo>
                    <a:pt x="0" y="37786"/>
                  </a:lnTo>
                  <a:lnTo>
                    <a:pt x="0" y="0"/>
                  </a:lnTo>
                  <a:close/>
                </a:path>
              </a:pathLst>
            </a:custGeom>
            <a:blipFill>
              <a:blip>
                <a:extLst>
                  <a:ext uri="{96DAC541-7B7A-43D3-8B79-37D633B846F1}">
                    <asvg:svgBlip xmlns:asvg="http://schemas.microsoft.com/office/drawing/2016/SVG/main" r:embed="rId44"/>
                  </a:ext>
                </a:extLst>
              </a:blip>
              <a:stretch>
                <a:fillRect/>
              </a:stretch>
            </a:blipFill>
          </p:spPr>
          <p:txBody>
            <a:bodyPr/>
            <a:lstStyle/>
            <a:p>
              <a:endParaRPr lang="en-US"/>
            </a:p>
          </p:txBody>
        </p:sp>
        <p:sp>
          <p:nvSpPr>
            <p:cNvPr id="315" name="Freeform 315"/>
            <p:cNvSpPr/>
            <p:nvPr/>
          </p:nvSpPr>
          <p:spPr>
            <a:xfrm rot="-4941124">
              <a:off x="1164691" y="6812193"/>
              <a:ext cx="28382" cy="18590"/>
            </a:xfrm>
            <a:custGeom>
              <a:avLst/>
              <a:gdLst/>
              <a:ahLst/>
              <a:cxnLst/>
              <a:rect l="l" t="t" r="r" b="b"/>
              <a:pathLst>
                <a:path w="28382" h="18590">
                  <a:moveTo>
                    <a:pt x="0" y="0"/>
                  </a:moveTo>
                  <a:lnTo>
                    <a:pt x="28383" y="0"/>
                  </a:lnTo>
                  <a:lnTo>
                    <a:pt x="28383" y="18590"/>
                  </a:lnTo>
                  <a:lnTo>
                    <a:pt x="0" y="18590"/>
                  </a:lnTo>
                  <a:lnTo>
                    <a:pt x="0" y="0"/>
                  </a:lnTo>
                  <a:close/>
                </a:path>
              </a:pathLst>
            </a:custGeom>
            <a:blipFill>
              <a:blip>
                <a:extLst>
                  <a:ext uri="{96DAC541-7B7A-43D3-8B79-37D633B846F1}">
                    <asvg:svgBlip xmlns:asvg="http://schemas.microsoft.com/office/drawing/2016/SVG/main" r:embed="rId45"/>
                  </a:ext>
                </a:extLst>
              </a:blip>
              <a:stretch>
                <a:fillRect/>
              </a:stretch>
            </a:blipFill>
          </p:spPr>
          <p:txBody>
            <a:bodyPr/>
            <a:lstStyle/>
            <a:p>
              <a:endParaRPr lang="en-US"/>
            </a:p>
          </p:txBody>
        </p:sp>
        <p:sp>
          <p:nvSpPr>
            <p:cNvPr id="316" name="Freeform 316"/>
            <p:cNvSpPr/>
            <p:nvPr/>
          </p:nvSpPr>
          <p:spPr>
            <a:xfrm rot="5120367" flipH="1">
              <a:off x="1308710" y="6811790"/>
              <a:ext cx="28382" cy="18590"/>
            </a:xfrm>
            <a:custGeom>
              <a:avLst/>
              <a:gdLst/>
              <a:ahLst/>
              <a:cxnLst/>
              <a:rect l="l" t="t" r="r" b="b"/>
              <a:pathLst>
                <a:path w="28382" h="18590">
                  <a:moveTo>
                    <a:pt x="28382" y="0"/>
                  </a:moveTo>
                  <a:lnTo>
                    <a:pt x="0" y="0"/>
                  </a:lnTo>
                  <a:lnTo>
                    <a:pt x="0" y="18591"/>
                  </a:lnTo>
                  <a:lnTo>
                    <a:pt x="28382" y="18591"/>
                  </a:lnTo>
                  <a:lnTo>
                    <a:pt x="28382" y="0"/>
                  </a:lnTo>
                  <a:close/>
                </a:path>
              </a:pathLst>
            </a:custGeom>
            <a:blipFill>
              <a:blip>
                <a:extLst>
                  <a:ext uri="{96DAC541-7B7A-43D3-8B79-37D633B846F1}">
                    <asvg:svgBlip xmlns:asvg="http://schemas.microsoft.com/office/drawing/2016/SVG/main" r:embed="rId45"/>
                  </a:ext>
                </a:extLst>
              </a:blip>
              <a:stretch>
                <a:fillRect/>
              </a:stretch>
            </a:blipFill>
          </p:spPr>
          <p:txBody>
            <a:bodyPr/>
            <a:lstStyle/>
            <a:p>
              <a:endParaRPr lang="en-US"/>
            </a:p>
          </p:txBody>
        </p:sp>
        <p:sp>
          <p:nvSpPr>
            <p:cNvPr id="317" name="Freeform 317"/>
            <p:cNvSpPr/>
            <p:nvPr/>
          </p:nvSpPr>
          <p:spPr>
            <a:xfrm>
              <a:off x="1153331" y="6337437"/>
              <a:ext cx="180702" cy="180702"/>
            </a:xfrm>
            <a:custGeom>
              <a:avLst/>
              <a:gdLst/>
              <a:ahLst/>
              <a:cxnLst/>
              <a:rect l="l" t="t" r="r" b="b"/>
              <a:pathLst>
                <a:path w="180702" h="180702">
                  <a:moveTo>
                    <a:pt x="0" y="0"/>
                  </a:moveTo>
                  <a:lnTo>
                    <a:pt x="180702" y="0"/>
                  </a:lnTo>
                  <a:lnTo>
                    <a:pt x="180702" y="180702"/>
                  </a:lnTo>
                  <a:lnTo>
                    <a:pt x="0" y="180702"/>
                  </a:lnTo>
                  <a:lnTo>
                    <a:pt x="0" y="0"/>
                  </a:lnTo>
                  <a:close/>
                </a:path>
              </a:pathLst>
            </a:custGeom>
            <a:blipFill>
              <a:blip>
                <a:extLst>
                  <a:ext uri="{96DAC541-7B7A-43D3-8B79-37D633B846F1}">
                    <asvg:svgBlip xmlns:asvg="http://schemas.microsoft.com/office/drawing/2016/SVG/main" r:embed="rId46"/>
                  </a:ext>
                </a:extLst>
              </a:blip>
              <a:stretch>
                <a:fillRect/>
              </a:stretch>
            </a:blipFill>
          </p:spPr>
          <p:txBody>
            <a:bodyPr/>
            <a:lstStyle/>
            <a:p>
              <a:endParaRPr lang="en-US"/>
            </a:p>
          </p:txBody>
        </p:sp>
        <p:sp>
          <p:nvSpPr>
            <p:cNvPr id="318" name="Freeform 318"/>
            <p:cNvSpPr/>
            <p:nvPr/>
          </p:nvSpPr>
          <p:spPr>
            <a:xfrm>
              <a:off x="1189700" y="6374501"/>
              <a:ext cx="112621" cy="60252"/>
            </a:xfrm>
            <a:custGeom>
              <a:avLst/>
              <a:gdLst/>
              <a:ahLst/>
              <a:cxnLst/>
              <a:rect l="l" t="t" r="r" b="b"/>
              <a:pathLst>
                <a:path w="112621" h="60252">
                  <a:moveTo>
                    <a:pt x="0" y="0"/>
                  </a:moveTo>
                  <a:lnTo>
                    <a:pt x="112622" y="0"/>
                  </a:lnTo>
                  <a:lnTo>
                    <a:pt x="112622" y="60253"/>
                  </a:lnTo>
                  <a:lnTo>
                    <a:pt x="0" y="60253"/>
                  </a:lnTo>
                  <a:lnTo>
                    <a:pt x="0" y="0"/>
                  </a:lnTo>
                  <a:close/>
                </a:path>
              </a:pathLst>
            </a:custGeom>
            <a:blipFill>
              <a:blip>
                <a:extLst>
                  <a:ext uri="{96DAC541-7B7A-43D3-8B79-37D633B846F1}">
                    <asvg:svgBlip xmlns:asvg="http://schemas.microsoft.com/office/drawing/2016/SVG/main" r:embed="rId47"/>
                  </a:ext>
                </a:extLst>
              </a:blip>
              <a:stretch>
                <a:fillRect/>
              </a:stretch>
            </a:blipFill>
          </p:spPr>
          <p:txBody>
            <a:bodyPr/>
            <a:lstStyle/>
            <a:p>
              <a:endParaRPr lang="en-US"/>
            </a:p>
          </p:txBody>
        </p:sp>
        <p:sp>
          <p:nvSpPr>
            <p:cNvPr id="319" name="TextBox 319"/>
            <p:cNvSpPr txBox="1"/>
            <p:nvPr/>
          </p:nvSpPr>
          <p:spPr>
            <a:xfrm>
              <a:off x="1174530" y="6347202"/>
              <a:ext cx="142962" cy="59660"/>
            </a:xfrm>
            <a:prstGeom prst="rect">
              <a:avLst/>
            </a:prstGeom>
          </p:spPr>
          <p:txBody>
            <a:bodyPr lIns="0" tIns="0" rIns="0" bIns="0" rtlCol="0" anchor="t">
              <a:spAutoFit/>
            </a:bodyPr>
            <a:lstStyle/>
            <a:p>
              <a:pPr algn="ctr">
                <a:lnSpc>
                  <a:spcPts val="172"/>
                </a:lnSpc>
                <a:spcBef>
                  <a:spcPct val="0"/>
                </a:spcBef>
              </a:pPr>
              <a:r>
                <a:rPr lang="en-US" sz="143" b="1" spc="19">
                  <a:solidFill>
                    <a:srgbClr val="FFFFFF"/>
                  </a:solidFill>
                  <a:latin typeface="Calibri (MS) Bold"/>
                  <a:ea typeface="Calibri (MS) Bold"/>
                  <a:cs typeface="Calibri (MS) Bold"/>
                  <a:sym typeface="Calibri (MS) Bold"/>
                </a:rPr>
                <a:t>GAME TIME</a:t>
              </a:r>
            </a:p>
          </p:txBody>
        </p:sp>
        <p:sp>
          <p:nvSpPr>
            <p:cNvPr id="320" name="Freeform 320"/>
            <p:cNvSpPr/>
            <p:nvPr/>
          </p:nvSpPr>
          <p:spPr>
            <a:xfrm rot="2699999">
              <a:off x="1185913" y="6392386"/>
              <a:ext cx="116903" cy="116903"/>
            </a:xfrm>
            <a:custGeom>
              <a:avLst/>
              <a:gdLst/>
              <a:ahLst/>
              <a:cxnLst/>
              <a:rect l="l" t="t" r="r" b="b"/>
              <a:pathLst>
                <a:path w="116903" h="116903">
                  <a:moveTo>
                    <a:pt x="0" y="0"/>
                  </a:moveTo>
                  <a:lnTo>
                    <a:pt x="116903" y="0"/>
                  </a:lnTo>
                  <a:lnTo>
                    <a:pt x="116903" y="116903"/>
                  </a:lnTo>
                  <a:lnTo>
                    <a:pt x="0" y="116903"/>
                  </a:lnTo>
                  <a:lnTo>
                    <a:pt x="0" y="0"/>
                  </a:lnTo>
                  <a:close/>
                </a:path>
              </a:pathLst>
            </a:custGeom>
            <a:blipFill>
              <a:blip>
                <a:extLst>
                  <a:ext uri="{96DAC541-7B7A-43D3-8B79-37D633B846F1}">
                    <asvg:svgBlip xmlns:asvg="http://schemas.microsoft.com/office/drawing/2016/SVG/main" r:embed="rId48"/>
                  </a:ext>
                </a:extLst>
              </a:blip>
              <a:stretch>
                <a:fillRect/>
              </a:stretch>
            </a:blipFill>
          </p:spPr>
          <p:txBody>
            <a:bodyPr/>
            <a:lstStyle/>
            <a:p>
              <a:endParaRPr lang="en-US"/>
            </a:p>
          </p:txBody>
        </p:sp>
        <p:sp>
          <p:nvSpPr>
            <p:cNvPr id="321" name="TextBox 321"/>
            <p:cNvSpPr txBox="1"/>
            <p:nvPr/>
          </p:nvSpPr>
          <p:spPr>
            <a:xfrm>
              <a:off x="1218012" y="6490858"/>
              <a:ext cx="51341" cy="9032"/>
            </a:xfrm>
            <a:prstGeom prst="rect">
              <a:avLst/>
            </a:prstGeom>
          </p:spPr>
          <p:txBody>
            <a:bodyPr lIns="0" tIns="0" rIns="0" bIns="0" rtlCol="0" anchor="t">
              <a:spAutoFit/>
            </a:bodyPr>
            <a:lstStyle/>
            <a:p>
              <a:pPr algn="ctr">
                <a:lnSpc>
                  <a:spcPts val="53"/>
                </a:lnSpc>
                <a:spcBef>
                  <a:spcPct val="0"/>
                </a:spcBef>
              </a:pPr>
              <a:r>
                <a:rPr lang="en-US" sz="100" b="1" spc="6">
                  <a:solidFill>
                    <a:srgbClr val="FFFFFF"/>
                  </a:solidFill>
                  <a:latin typeface="Calibri (MS) Bold"/>
                  <a:ea typeface="Calibri (MS) Bold"/>
                  <a:cs typeface="Calibri (MS) Bold"/>
                  <a:sym typeface="Calibri (MS) Bold"/>
                </a:rPr>
                <a:t>October2026</a:t>
              </a:r>
            </a:p>
          </p:txBody>
        </p:sp>
        <p:sp>
          <p:nvSpPr>
            <p:cNvPr id="322" name="Freeform 322"/>
            <p:cNvSpPr/>
            <p:nvPr/>
          </p:nvSpPr>
          <p:spPr>
            <a:xfrm rot="2699999">
              <a:off x="1199833" y="6435138"/>
              <a:ext cx="87699" cy="87699"/>
            </a:xfrm>
            <a:custGeom>
              <a:avLst/>
              <a:gdLst/>
              <a:ahLst/>
              <a:cxnLst/>
              <a:rect l="l" t="t" r="r" b="b"/>
              <a:pathLst>
                <a:path w="87699" h="87699">
                  <a:moveTo>
                    <a:pt x="0" y="0"/>
                  </a:moveTo>
                  <a:lnTo>
                    <a:pt x="87698" y="0"/>
                  </a:lnTo>
                  <a:lnTo>
                    <a:pt x="87698" y="87699"/>
                  </a:lnTo>
                  <a:lnTo>
                    <a:pt x="0" y="87699"/>
                  </a:lnTo>
                  <a:lnTo>
                    <a:pt x="0" y="0"/>
                  </a:lnTo>
                  <a:close/>
                </a:path>
              </a:pathLst>
            </a:custGeom>
            <a:blipFill>
              <a:blip>
                <a:extLst>
                  <a:ext uri="{96DAC541-7B7A-43D3-8B79-37D633B846F1}">
                    <asvg:svgBlip xmlns:asvg="http://schemas.microsoft.com/office/drawing/2016/SVG/main" r:embed="rId48"/>
                  </a:ext>
                </a:extLst>
              </a:blip>
              <a:stretch>
                <a:fillRect/>
              </a:stretch>
            </a:blipFill>
          </p:spPr>
          <p:txBody>
            <a:bodyPr/>
            <a:lstStyle/>
            <a:p>
              <a:endParaRPr lang="en-US"/>
            </a:p>
          </p:txBody>
        </p:sp>
        <p:sp>
          <p:nvSpPr>
            <p:cNvPr id="323" name="TextBox 323"/>
            <p:cNvSpPr txBox="1"/>
            <p:nvPr/>
          </p:nvSpPr>
          <p:spPr>
            <a:xfrm>
              <a:off x="1202578" y="6460265"/>
              <a:ext cx="83574" cy="14529"/>
            </a:xfrm>
            <a:prstGeom prst="rect">
              <a:avLst/>
            </a:prstGeom>
          </p:spPr>
          <p:txBody>
            <a:bodyPr lIns="0" tIns="0" rIns="0" bIns="0" rtlCol="0" anchor="t">
              <a:spAutoFit/>
            </a:bodyPr>
            <a:lstStyle/>
            <a:p>
              <a:pPr algn="ctr">
                <a:lnSpc>
                  <a:spcPts val="87"/>
                </a:lnSpc>
                <a:spcBef>
                  <a:spcPct val="0"/>
                </a:spcBef>
              </a:pPr>
              <a:r>
                <a:rPr lang="en-US" sz="100" b="1">
                  <a:solidFill>
                    <a:srgbClr val="FFFFFF"/>
                  </a:solidFill>
                  <a:latin typeface="Calibri (MS) Bold"/>
                  <a:ea typeface="Calibri (MS) Bold"/>
                  <a:cs typeface="Calibri (MS) Bold"/>
                  <a:sym typeface="Calibri (MS) Bold"/>
                </a:rPr>
                <a:t> REAL PASSPORT</a:t>
              </a:r>
            </a:p>
          </p:txBody>
        </p:sp>
        <p:sp>
          <p:nvSpPr>
            <p:cNvPr id="324" name="TextBox 324"/>
            <p:cNvSpPr txBox="1"/>
            <p:nvPr/>
          </p:nvSpPr>
          <p:spPr>
            <a:xfrm>
              <a:off x="1165276" y="6434702"/>
              <a:ext cx="39642" cy="9032"/>
            </a:xfrm>
            <a:prstGeom prst="rect">
              <a:avLst/>
            </a:prstGeom>
          </p:spPr>
          <p:txBody>
            <a:bodyPr lIns="0" tIns="0" rIns="0" bIns="0" rtlCol="0" anchor="t">
              <a:spAutoFit/>
            </a:bodyPr>
            <a:lstStyle/>
            <a:p>
              <a:pPr algn="ctr">
                <a:lnSpc>
                  <a:spcPts val="53"/>
                </a:lnSpc>
                <a:spcBef>
                  <a:spcPct val="0"/>
                </a:spcBef>
              </a:pPr>
              <a:r>
                <a:rPr lang="en-US" sz="100" b="1">
                  <a:solidFill>
                    <a:srgbClr val="FFDE59"/>
                  </a:solidFill>
                  <a:latin typeface="Calibri (MS) Bold"/>
                  <a:ea typeface="Calibri (MS) Bold"/>
                  <a:cs typeface="Calibri (MS) Bold"/>
                  <a:sym typeface="Calibri (MS) Bold"/>
                </a:rPr>
                <a:t>BeReal.</a:t>
              </a:r>
            </a:p>
          </p:txBody>
        </p:sp>
        <p:sp>
          <p:nvSpPr>
            <p:cNvPr id="325" name="TextBox 325"/>
            <p:cNvSpPr txBox="1"/>
            <p:nvPr/>
          </p:nvSpPr>
          <p:spPr>
            <a:xfrm>
              <a:off x="1281535" y="6434702"/>
              <a:ext cx="39642" cy="9032"/>
            </a:xfrm>
            <a:prstGeom prst="rect">
              <a:avLst/>
            </a:prstGeom>
          </p:spPr>
          <p:txBody>
            <a:bodyPr lIns="0" tIns="0" rIns="0" bIns="0" rtlCol="0" anchor="t">
              <a:spAutoFit/>
            </a:bodyPr>
            <a:lstStyle/>
            <a:p>
              <a:pPr algn="ctr">
                <a:lnSpc>
                  <a:spcPts val="53"/>
                </a:lnSpc>
                <a:spcBef>
                  <a:spcPct val="0"/>
                </a:spcBef>
              </a:pPr>
              <a:r>
                <a:rPr lang="en-US" sz="100" b="1">
                  <a:solidFill>
                    <a:srgbClr val="FFDE59"/>
                  </a:solidFill>
                  <a:latin typeface="Calibri (MS) Bold"/>
                  <a:ea typeface="Calibri (MS) Bold"/>
                  <a:cs typeface="Calibri (MS) Bold"/>
                  <a:sym typeface="Calibri (MS) Bold"/>
                </a:rPr>
                <a:t>Unfiltered</a:t>
              </a:r>
            </a:p>
          </p:txBody>
        </p:sp>
        <p:sp>
          <p:nvSpPr>
            <p:cNvPr id="326" name="Freeform 326"/>
            <p:cNvSpPr/>
            <p:nvPr/>
          </p:nvSpPr>
          <p:spPr>
            <a:xfrm rot="-4941124">
              <a:off x="1158729" y="6411561"/>
              <a:ext cx="27848" cy="18241"/>
            </a:xfrm>
            <a:custGeom>
              <a:avLst/>
              <a:gdLst/>
              <a:ahLst/>
              <a:cxnLst/>
              <a:rect l="l" t="t" r="r" b="b"/>
              <a:pathLst>
                <a:path w="27848" h="18241">
                  <a:moveTo>
                    <a:pt x="0" y="0"/>
                  </a:moveTo>
                  <a:lnTo>
                    <a:pt x="27848" y="0"/>
                  </a:lnTo>
                  <a:lnTo>
                    <a:pt x="27848" y="18240"/>
                  </a:lnTo>
                  <a:lnTo>
                    <a:pt x="0" y="18240"/>
                  </a:lnTo>
                  <a:lnTo>
                    <a:pt x="0" y="0"/>
                  </a:lnTo>
                  <a:close/>
                </a:path>
              </a:pathLst>
            </a:custGeom>
            <a:blipFill>
              <a:blip>
                <a:extLst>
                  <a:ext uri="{96DAC541-7B7A-43D3-8B79-37D633B846F1}">
                    <asvg:svgBlip xmlns:asvg="http://schemas.microsoft.com/office/drawing/2016/SVG/main" r:embed="rId45"/>
                  </a:ext>
                </a:extLst>
              </a:blip>
              <a:stretch>
                <a:fillRect/>
              </a:stretch>
            </a:blipFill>
          </p:spPr>
          <p:txBody>
            <a:bodyPr/>
            <a:lstStyle/>
            <a:p>
              <a:endParaRPr lang="en-US"/>
            </a:p>
          </p:txBody>
        </p:sp>
        <p:sp>
          <p:nvSpPr>
            <p:cNvPr id="327" name="Freeform 327"/>
            <p:cNvSpPr/>
            <p:nvPr/>
          </p:nvSpPr>
          <p:spPr>
            <a:xfrm rot="5120367" flipH="1">
              <a:off x="1300037" y="6411166"/>
              <a:ext cx="27848" cy="18241"/>
            </a:xfrm>
            <a:custGeom>
              <a:avLst/>
              <a:gdLst/>
              <a:ahLst/>
              <a:cxnLst/>
              <a:rect l="l" t="t" r="r" b="b"/>
              <a:pathLst>
                <a:path w="27848" h="18241">
                  <a:moveTo>
                    <a:pt x="27848" y="0"/>
                  </a:moveTo>
                  <a:lnTo>
                    <a:pt x="0" y="0"/>
                  </a:lnTo>
                  <a:lnTo>
                    <a:pt x="0" y="18240"/>
                  </a:lnTo>
                  <a:lnTo>
                    <a:pt x="27848" y="18240"/>
                  </a:lnTo>
                  <a:lnTo>
                    <a:pt x="27848" y="0"/>
                  </a:lnTo>
                  <a:close/>
                </a:path>
              </a:pathLst>
            </a:custGeom>
            <a:blipFill>
              <a:blip>
                <a:extLst>
                  <a:ext uri="{96DAC541-7B7A-43D3-8B79-37D633B846F1}">
                    <asvg:svgBlip xmlns:asvg="http://schemas.microsoft.com/office/drawing/2016/SVG/main" r:embed="rId45"/>
                  </a:ext>
                </a:extLst>
              </a:blip>
              <a:stretch>
                <a:fillRect/>
              </a:stretch>
            </a:blipFill>
          </p:spPr>
          <p:txBody>
            <a:bodyPr/>
            <a:lstStyle/>
            <a:p>
              <a:endParaRPr lang="en-US"/>
            </a:p>
          </p:txBody>
        </p:sp>
        <p:sp>
          <p:nvSpPr>
            <p:cNvPr id="328" name="Freeform 328"/>
            <p:cNvSpPr/>
            <p:nvPr/>
          </p:nvSpPr>
          <p:spPr>
            <a:xfrm rot="-971120">
              <a:off x="1204101" y="6407310"/>
              <a:ext cx="18138" cy="16959"/>
            </a:xfrm>
            <a:custGeom>
              <a:avLst/>
              <a:gdLst/>
              <a:ahLst/>
              <a:cxnLst/>
              <a:rect l="l" t="t" r="r" b="b"/>
              <a:pathLst>
                <a:path w="18138" h="16959">
                  <a:moveTo>
                    <a:pt x="0" y="0"/>
                  </a:moveTo>
                  <a:lnTo>
                    <a:pt x="18138" y="0"/>
                  </a:lnTo>
                  <a:lnTo>
                    <a:pt x="18138" y="16959"/>
                  </a:lnTo>
                  <a:lnTo>
                    <a:pt x="0" y="16959"/>
                  </a:lnTo>
                  <a:lnTo>
                    <a:pt x="0" y="0"/>
                  </a:lnTo>
                  <a:close/>
                </a:path>
              </a:pathLst>
            </a:custGeom>
            <a:blipFill>
              <a:blip>
                <a:extLst>
                  <a:ext uri="{96DAC541-7B7A-43D3-8B79-37D633B846F1}">
                    <asvg:svgBlip xmlns:asvg="http://schemas.microsoft.com/office/drawing/2016/SVG/main" r:embed="rId49"/>
                  </a:ext>
                </a:extLst>
              </a:blip>
              <a:stretch>
                <a:fillRect/>
              </a:stretch>
            </a:blipFill>
          </p:spPr>
          <p:txBody>
            <a:bodyPr/>
            <a:lstStyle/>
            <a:p>
              <a:endParaRPr lang="en-US"/>
            </a:p>
          </p:txBody>
        </p:sp>
        <p:sp>
          <p:nvSpPr>
            <p:cNvPr id="329" name="Freeform 329"/>
            <p:cNvSpPr/>
            <p:nvPr/>
          </p:nvSpPr>
          <p:spPr>
            <a:xfrm>
              <a:off x="1271021" y="6409690"/>
              <a:ext cx="18307" cy="18124"/>
            </a:xfrm>
            <a:custGeom>
              <a:avLst/>
              <a:gdLst/>
              <a:ahLst/>
              <a:cxnLst/>
              <a:rect l="l" t="t" r="r" b="b"/>
              <a:pathLst>
                <a:path w="18307" h="18124">
                  <a:moveTo>
                    <a:pt x="0" y="0"/>
                  </a:moveTo>
                  <a:lnTo>
                    <a:pt x="18307" y="0"/>
                  </a:lnTo>
                  <a:lnTo>
                    <a:pt x="18307" y="18124"/>
                  </a:lnTo>
                  <a:lnTo>
                    <a:pt x="0" y="18124"/>
                  </a:lnTo>
                  <a:lnTo>
                    <a:pt x="0" y="0"/>
                  </a:lnTo>
                  <a:close/>
                </a:path>
              </a:pathLst>
            </a:custGeom>
            <a:blipFill>
              <a:blip>
                <a:extLst>
                  <a:ext uri="{96DAC541-7B7A-43D3-8B79-37D633B846F1}">
                    <asvg:svgBlip xmlns:asvg="http://schemas.microsoft.com/office/drawing/2016/SVG/main" r:embed="rId50"/>
                  </a:ext>
                </a:extLst>
              </a:blip>
              <a:stretch>
                <a:fillRect/>
              </a:stretch>
            </a:blipFill>
          </p:spPr>
          <p:txBody>
            <a:bodyPr/>
            <a:lstStyle/>
            <a:p>
              <a:endParaRPr lang="en-US"/>
            </a:p>
          </p:txBody>
        </p:sp>
        <p:sp>
          <p:nvSpPr>
            <p:cNvPr id="330" name="Freeform 330"/>
            <p:cNvSpPr/>
            <p:nvPr/>
          </p:nvSpPr>
          <p:spPr>
            <a:xfrm>
              <a:off x="1234528" y="6386245"/>
              <a:ext cx="18307" cy="18873"/>
            </a:xfrm>
            <a:custGeom>
              <a:avLst/>
              <a:gdLst/>
              <a:ahLst/>
              <a:cxnLst/>
              <a:rect l="l" t="t" r="r" b="b"/>
              <a:pathLst>
                <a:path w="18307" h="18873">
                  <a:moveTo>
                    <a:pt x="0" y="0"/>
                  </a:moveTo>
                  <a:lnTo>
                    <a:pt x="18308" y="0"/>
                  </a:lnTo>
                  <a:lnTo>
                    <a:pt x="18308" y="18873"/>
                  </a:lnTo>
                  <a:lnTo>
                    <a:pt x="0" y="18873"/>
                  </a:lnTo>
                  <a:lnTo>
                    <a:pt x="0" y="0"/>
                  </a:lnTo>
                  <a:close/>
                </a:path>
              </a:pathLst>
            </a:custGeom>
            <a:blipFill>
              <a:blip>
                <a:extLst>
                  <a:ext uri="{96DAC541-7B7A-43D3-8B79-37D633B846F1}">
                    <asvg:svgBlip xmlns:asvg="http://schemas.microsoft.com/office/drawing/2016/SVG/main" r:embed="rId51"/>
                  </a:ext>
                </a:extLst>
              </a:blip>
              <a:stretch>
                <a:fillRect/>
              </a:stretch>
            </a:blipFill>
          </p:spPr>
          <p:txBody>
            <a:bodyPr/>
            <a:lstStyle/>
            <a:p>
              <a:endParaRPr lang="en-US"/>
            </a:p>
          </p:txBody>
        </p:sp>
        <p:sp>
          <p:nvSpPr>
            <p:cNvPr id="331" name="Freeform 331"/>
            <p:cNvSpPr/>
            <p:nvPr/>
          </p:nvSpPr>
          <p:spPr>
            <a:xfrm>
              <a:off x="1229325" y="6415789"/>
              <a:ext cx="36614" cy="27278"/>
            </a:xfrm>
            <a:custGeom>
              <a:avLst/>
              <a:gdLst/>
              <a:ahLst/>
              <a:cxnLst/>
              <a:rect l="l" t="t" r="r" b="b"/>
              <a:pathLst>
                <a:path w="36614" h="27278">
                  <a:moveTo>
                    <a:pt x="0" y="0"/>
                  </a:moveTo>
                  <a:lnTo>
                    <a:pt x="36614" y="0"/>
                  </a:lnTo>
                  <a:lnTo>
                    <a:pt x="36614" y="27278"/>
                  </a:lnTo>
                  <a:lnTo>
                    <a:pt x="0" y="27278"/>
                  </a:lnTo>
                  <a:lnTo>
                    <a:pt x="0" y="0"/>
                  </a:lnTo>
                  <a:close/>
                </a:path>
              </a:pathLst>
            </a:custGeom>
            <a:blipFill>
              <a:blip>
                <a:extLst>
                  <a:ext uri="{96DAC541-7B7A-43D3-8B79-37D633B846F1}">
                    <asvg:svgBlip xmlns:asvg="http://schemas.microsoft.com/office/drawing/2016/SVG/main" r:embed="rId52"/>
                  </a:ext>
                </a:extLst>
              </a:blip>
              <a:stretch>
                <a:fillRect/>
              </a:stretch>
            </a:blipFill>
          </p:spPr>
          <p:txBody>
            <a:bodyPr/>
            <a:lstStyle/>
            <a:p>
              <a:endParaRPr lang="en-US"/>
            </a:p>
          </p:txBody>
        </p:sp>
        <p:grpSp>
          <p:nvGrpSpPr>
            <p:cNvPr id="332" name="Group 332"/>
            <p:cNvGrpSpPr/>
            <p:nvPr/>
          </p:nvGrpSpPr>
          <p:grpSpPr>
            <a:xfrm>
              <a:off x="893722" y="3631052"/>
              <a:ext cx="2193448" cy="434701"/>
              <a:chOff x="0" y="0"/>
              <a:chExt cx="4831074" cy="957431"/>
            </a:xfrm>
          </p:grpSpPr>
          <p:sp>
            <p:nvSpPr>
              <p:cNvPr id="333" name="Freeform 333"/>
              <p:cNvSpPr/>
              <p:nvPr/>
            </p:nvSpPr>
            <p:spPr>
              <a:xfrm>
                <a:off x="0" y="0"/>
                <a:ext cx="4831074" cy="957431"/>
              </a:xfrm>
              <a:custGeom>
                <a:avLst/>
                <a:gdLst/>
                <a:ahLst/>
                <a:cxnLst/>
                <a:rect l="l" t="t" r="r" b="b"/>
                <a:pathLst>
                  <a:path w="4831074" h="957431">
                    <a:moveTo>
                      <a:pt x="0" y="0"/>
                    </a:moveTo>
                    <a:lnTo>
                      <a:pt x="4831074" y="0"/>
                    </a:lnTo>
                    <a:lnTo>
                      <a:pt x="4831074" y="957431"/>
                    </a:lnTo>
                    <a:lnTo>
                      <a:pt x="0" y="957431"/>
                    </a:lnTo>
                    <a:close/>
                  </a:path>
                </a:pathLst>
              </a:custGeom>
              <a:blipFill>
                <a:blip r:embed="rId3">
                  <a:alphaModFix amt="0"/>
                </a:blip>
                <a:stretch>
                  <a:fillRect t="-300064" r="-297476" b="-381525"/>
                </a:stretch>
              </a:blipFill>
            </p:spPr>
            <p:txBody>
              <a:bodyPr/>
              <a:lstStyle/>
              <a:p>
                <a:endParaRPr lang="en-US"/>
              </a:p>
            </p:txBody>
          </p:sp>
          <p:sp>
            <p:nvSpPr>
              <p:cNvPr id="334" name="TextBox 334"/>
              <p:cNvSpPr txBox="1"/>
              <p:nvPr/>
            </p:nvSpPr>
            <p:spPr>
              <a:xfrm>
                <a:off x="0" y="0"/>
                <a:ext cx="4831074" cy="957431"/>
              </a:xfrm>
              <a:prstGeom prst="rect">
                <a:avLst/>
              </a:prstGeom>
            </p:spPr>
            <p:txBody>
              <a:bodyPr lIns="0" tIns="0" rIns="0" bIns="0" rtlCol="0" anchor="ctr"/>
              <a:lstStyle/>
              <a:p>
                <a:pPr algn="l">
                  <a:lnSpc>
                    <a:spcPts val="1280"/>
                  </a:lnSpc>
                </a:pPr>
                <a:r>
                  <a:rPr lang="en-US" sz="1200">
                    <a:solidFill>
                      <a:srgbClr val="FFFFFF"/>
                    </a:solidFill>
                    <a:latin typeface="Arial"/>
                    <a:ea typeface="Arial"/>
                    <a:cs typeface="Arial"/>
                    <a:sym typeface="Arial"/>
                  </a:rPr>
                  <a:t>COMMUNITY BOARD</a:t>
                </a:r>
              </a:p>
            </p:txBody>
          </p:sp>
        </p:grpSp>
      </p:grpSp>
      <p:sp>
        <p:nvSpPr>
          <p:cNvPr id="335" name="TextBox 335"/>
          <p:cNvSpPr txBox="1"/>
          <p:nvPr/>
        </p:nvSpPr>
        <p:spPr>
          <a:xfrm>
            <a:off x="9020175" y="6591299"/>
            <a:ext cx="123825" cy="294953"/>
          </a:xfrm>
          <a:prstGeom prst="rect">
            <a:avLst/>
          </a:prstGeom>
        </p:spPr>
        <p:txBody>
          <a:bodyPr wrap="square" lIns="0" tIns="0" rIns="0" bIns="0" rtlCol="0" anchor="t">
            <a:spAutoFit/>
          </a:bodyPr>
          <a:lstStyle/>
          <a:p>
            <a:pPr algn="ctr">
              <a:lnSpc>
                <a:spcPts val="2340"/>
              </a:lnSpc>
              <a:spcBef>
                <a:spcPct val="0"/>
              </a:spcBef>
            </a:pPr>
            <a:r>
              <a:rPr lang="en-US" sz="1950" b="1" dirty="0">
                <a:solidFill>
                  <a:srgbClr val="FFFFFF"/>
                </a:solidFill>
                <a:latin typeface="Calibri (MS) Bold"/>
                <a:ea typeface="Calibri (MS) Bold"/>
                <a:cs typeface="Calibri (MS) Bold"/>
                <a:sym typeface="Calibri (MS) Bold"/>
              </a:rPr>
              <a:t>👀</a:t>
            </a:r>
          </a:p>
        </p:txBody>
      </p:sp>
      <p:grpSp>
        <p:nvGrpSpPr>
          <p:cNvPr id="336" name="Group 336"/>
          <p:cNvGrpSpPr/>
          <p:nvPr/>
        </p:nvGrpSpPr>
        <p:grpSpPr>
          <a:xfrm>
            <a:off x="8478601" y="9506003"/>
            <a:ext cx="3532819" cy="580191"/>
            <a:chOff x="0" y="0"/>
            <a:chExt cx="5623571" cy="923552"/>
          </a:xfrm>
        </p:grpSpPr>
        <p:sp>
          <p:nvSpPr>
            <p:cNvPr id="337" name="Freeform 337"/>
            <p:cNvSpPr/>
            <p:nvPr/>
          </p:nvSpPr>
          <p:spPr>
            <a:xfrm>
              <a:off x="0" y="0"/>
              <a:ext cx="5623571" cy="923552"/>
            </a:xfrm>
            <a:custGeom>
              <a:avLst/>
              <a:gdLst/>
              <a:ahLst/>
              <a:cxnLst/>
              <a:rect l="l" t="t" r="r" b="b"/>
              <a:pathLst>
                <a:path w="5623571" h="923552">
                  <a:moveTo>
                    <a:pt x="0" y="0"/>
                  </a:moveTo>
                  <a:lnTo>
                    <a:pt x="5623571" y="0"/>
                  </a:lnTo>
                  <a:lnTo>
                    <a:pt x="5623571" y="923552"/>
                  </a:lnTo>
                  <a:lnTo>
                    <a:pt x="0" y="923552"/>
                  </a:lnTo>
                  <a:close/>
                </a:path>
              </a:pathLst>
            </a:custGeom>
            <a:blipFill>
              <a:blip r:embed="rId3">
                <a:alphaModFix amt="0"/>
              </a:blip>
              <a:stretch>
                <a:fillRect t="-311072" r="-241462" b="-399189"/>
              </a:stretch>
            </a:blipFill>
          </p:spPr>
          <p:txBody>
            <a:bodyPr/>
            <a:lstStyle/>
            <a:p>
              <a:endParaRPr lang="en-US"/>
            </a:p>
          </p:txBody>
        </p:sp>
        <p:sp>
          <p:nvSpPr>
            <p:cNvPr id="338" name="TextBox 338"/>
            <p:cNvSpPr txBox="1"/>
            <p:nvPr/>
          </p:nvSpPr>
          <p:spPr>
            <a:xfrm>
              <a:off x="0" y="0"/>
              <a:ext cx="5623571" cy="923552"/>
            </a:xfrm>
            <a:prstGeom prst="rect">
              <a:avLst/>
            </a:prstGeom>
          </p:spPr>
          <p:txBody>
            <a:bodyPr lIns="0" tIns="0" rIns="0" bIns="0" rtlCol="0" anchor="ctr"/>
            <a:lstStyle/>
            <a:p>
              <a:pPr algn="ctr">
                <a:lnSpc>
                  <a:spcPts val="1920"/>
                </a:lnSpc>
              </a:pPr>
              <a:r>
                <a:rPr lang="en-US" sz="1800" b="1">
                  <a:solidFill>
                    <a:srgbClr val="FFFFFF"/>
                  </a:solidFill>
                  <a:latin typeface="Arial Bold"/>
                  <a:ea typeface="Arial Bold"/>
                  <a:cs typeface="Arial Bold"/>
                  <a:sym typeface="Arial Bold"/>
                </a:rPr>
                <a:t>User Selects</a:t>
              </a:r>
            </a:p>
          </p:txBody>
        </p:sp>
      </p:grpSp>
      <p:grpSp>
        <p:nvGrpSpPr>
          <p:cNvPr id="339" name="Group 339"/>
          <p:cNvGrpSpPr/>
          <p:nvPr/>
        </p:nvGrpSpPr>
        <p:grpSpPr>
          <a:xfrm>
            <a:off x="13708117" y="9468114"/>
            <a:ext cx="3749587" cy="655967"/>
            <a:chOff x="0" y="0"/>
            <a:chExt cx="5968624" cy="1044174"/>
          </a:xfrm>
        </p:grpSpPr>
        <p:sp>
          <p:nvSpPr>
            <p:cNvPr id="340" name="Freeform 340"/>
            <p:cNvSpPr/>
            <p:nvPr/>
          </p:nvSpPr>
          <p:spPr>
            <a:xfrm>
              <a:off x="0" y="0"/>
              <a:ext cx="5968624" cy="1044174"/>
            </a:xfrm>
            <a:custGeom>
              <a:avLst/>
              <a:gdLst/>
              <a:ahLst/>
              <a:cxnLst/>
              <a:rect l="l" t="t" r="r" b="b"/>
              <a:pathLst>
                <a:path w="5968624" h="1044174">
                  <a:moveTo>
                    <a:pt x="0" y="0"/>
                  </a:moveTo>
                  <a:lnTo>
                    <a:pt x="5968624" y="0"/>
                  </a:lnTo>
                  <a:lnTo>
                    <a:pt x="5968624" y="1044174"/>
                  </a:lnTo>
                  <a:lnTo>
                    <a:pt x="0" y="1044174"/>
                  </a:lnTo>
                  <a:close/>
                </a:path>
              </a:pathLst>
            </a:custGeom>
            <a:blipFill>
              <a:blip r:embed="rId3">
                <a:alphaModFix amt="0"/>
              </a:blip>
              <a:stretch>
                <a:fillRect t="-275137" r="-221722" b="-341523"/>
              </a:stretch>
            </a:blipFill>
          </p:spPr>
          <p:txBody>
            <a:bodyPr/>
            <a:lstStyle/>
            <a:p>
              <a:endParaRPr lang="en-US"/>
            </a:p>
          </p:txBody>
        </p:sp>
        <p:sp>
          <p:nvSpPr>
            <p:cNvPr id="341" name="TextBox 341"/>
            <p:cNvSpPr txBox="1"/>
            <p:nvPr/>
          </p:nvSpPr>
          <p:spPr>
            <a:xfrm>
              <a:off x="0" y="0"/>
              <a:ext cx="5968624" cy="1044174"/>
            </a:xfrm>
            <a:prstGeom prst="rect">
              <a:avLst/>
            </a:prstGeom>
          </p:spPr>
          <p:txBody>
            <a:bodyPr lIns="0" tIns="0" rIns="0" bIns="0" rtlCol="0" anchor="ctr"/>
            <a:lstStyle/>
            <a:p>
              <a:pPr algn="ctr">
                <a:lnSpc>
                  <a:spcPts val="1920"/>
                </a:lnSpc>
              </a:pPr>
              <a:r>
                <a:rPr lang="en-US" sz="1800" b="1">
                  <a:solidFill>
                    <a:srgbClr val="FFFFFF"/>
                  </a:solidFill>
                  <a:latin typeface="Arial Bold"/>
                  <a:ea typeface="Arial Bold"/>
                  <a:cs typeface="Arial Bold"/>
                  <a:sym typeface="Arial Bold"/>
                </a:rPr>
                <a:t>Select Board(s)</a:t>
              </a:r>
            </a:p>
          </p:txBody>
        </p:sp>
      </p:grpSp>
      <p:grpSp>
        <p:nvGrpSpPr>
          <p:cNvPr id="342" name="Group 342"/>
          <p:cNvGrpSpPr/>
          <p:nvPr/>
        </p:nvGrpSpPr>
        <p:grpSpPr>
          <a:xfrm>
            <a:off x="12551754" y="9614995"/>
            <a:ext cx="724412" cy="362206"/>
            <a:chOff x="0" y="0"/>
            <a:chExt cx="812800" cy="406400"/>
          </a:xfrm>
        </p:grpSpPr>
        <p:sp>
          <p:nvSpPr>
            <p:cNvPr id="343" name="Freeform 343"/>
            <p:cNvSpPr/>
            <p:nvPr/>
          </p:nvSpPr>
          <p:spPr>
            <a:xfrm>
              <a:off x="0" y="0"/>
              <a:ext cx="812800" cy="406400"/>
            </a:xfrm>
            <a:custGeom>
              <a:avLst/>
              <a:gdLst/>
              <a:ahLst/>
              <a:cxnLst/>
              <a:rect l="l" t="t" r="r" b="b"/>
              <a:pathLst>
                <a:path w="812800" h="406400">
                  <a:moveTo>
                    <a:pt x="0" y="0"/>
                  </a:moveTo>
                  <a:lnTo>
                    <a:pt x="609600" y="0"/>
                  </a:lnTo>
                  <a:lnTo>
                    <a:pt x="812800" y="203200"/>
                  </a:lnTo>
                  <a:lnTo>
                    <a:pt x="609600" y="406400"/>
                  </a:lnTo>
                  <a:lnTo>
                    <a:pt x="0" y="406400"/>
                  </a:lnTo>
                  <a:lnTo>
                    <a:pt x="203200" y="203200"/>
                  </a:lnTo>
                  <a:lnTo>
                    <a:pt x="0" y="0"/>
                  </a:lnTo>
                  <a:close/>
                </a:path>
              </a:pathLst>
            </a:custGeom>
            <a:solidFill>
              <a:srgbClr val="FFDE59"/>
            </a:solidFill>
          </p:spPr>
          <p:txBody>
            <a:bodyPr/>
            <a:lstStyle/>
            <a:p>
              <a:endParaRPr lang="en-US"/>
            </a:p>
          </p:txBody>
        </p:sp>
        <p:sp>
          <p:nvSpPr>
            <p:cNvPr id="344" name="TextBox 344"/>
            <p:cNvSpPr txBox="1"/>
            <p:nvPr/>
          </p:nvSpPr>
          <p:spPr>
            <a:xfrm>
              <a:off x="177800" y="-47625"/>
              <a:ext cx="558800" cy="454025"/>
            </a:xfrm>
            <a:prstGeom prst="rect">
              <a:avLst/>
            </a:prstGeom>
          </p:spPr>
          <p:txBody>
            <a:bodyPr lIns="50800" tIns="50800" rIns="50800" bIns="50800" rtlCol="0" anchor="ctr"/>
            <a:lstStyle/>
            <a:p>
              <a:pPr algn="ctr">
                <a:lnSpc>
                  <a:spcPts val="2340"/>
                </a:lnSpc>
              </a:pPr>
              <a:endParaRPr/>
            </a:p>
          </p:txBody>
        </p:sp>
      </p:grpSp>
      <p:grpSp>
        <p:nvGrpSpPr>
          <p:cNvPr id="345" name="Group 345"/>
          <p:cNvGrpSpPr/>
          <p:nvPr/>
        </p:nvGrpSpPr>
        <p:grpSpPr>
          <a:xfrm>
            <a:off x="12551754" y="5207852"/>
            <a:ext cx="724412" cy="362206"/>
            <a:chOff x="0" y="0"/>
            <a:chExt cx="812800" cy="406400"/>
          </a:xfrm>
        </p:grpSpPr>
        <p:sp>
          <p:nvSpPr>
            <p:cNvPr id="346" name="Freeform 346"/>
            <p:cNvSpPr/>
            <p:nvPr/>
          </p:nvSpPr>
          <p:spPr>
            <a:xfrm>
              <a:off x="0" y="0"/>
              <a:ext cx="812800" cy="406400"/>
            </a:xfrm>
            <a:custGeom>
              <a:avLst/>
              <a:gdLst/>
              <a:ahLst/>
              <a:cxnLst/>
              <a:rect l="l" t="t" r="r" b="b"/>
              <a:pathLst>
                <a:path w="812800" h="406400">
                  <a:moveTo>
                    <a:pt x="0" y="0"/>
                  </a:moveTo>
                  <a:lnTo>
                    <a:pt x="609600" y="0"/>
                  </a:lnTo>
                  <a:lnTo>
                    <a:pt x="812800" y="203200"/>
                  </a:lnTo>
                  <a:lnTo>
                    <a:pt x="609600" y="406400"/>
                  </a:lnTo>
                  <a:lnTo>
                    <a:pt x="0" y="406400"/>
                  </a:lnTo>
                  <a:lnTo>
                    <a:pt x="203200" y="203200"/>
                  </a:lnTo>
                  <a:lnTo>
                    <a:pt x="0" y="0"/>
                  </a:lnTo>
                  <a:close/>
                </a:path>
              </a:pathLst>
            </a:custGeom>
            <a:solidFill>
              <a:srgbClr val="FFDE59"/>
            </a:solidFill>
          </p:spPr>
          <p:txBody>
            <a:bodyPr/>
            <a:lstStyle/>
            <a:p>
              <a:endParaRPr lang="en-US"/>
            </a:p>
          </p:txBody>
        </p:sp>
        <p:sp>
          <p:nvSpPr>
            <p:cNvPr id="347" name="TextBox 347"/>
            <p:cNvSpPr txBox="1"/>
            <p:nvPr/>
          </p:nvSpPr>
          <p:spPr>
            <a:xfrm>
              <a:off x="177800" y="-47625"/>
              <a:ext cx="558800" cy="454025"/>
            </a:xfrm>
            <a:prstGeom prst="rect">
              <a:avLst/>
            </a:prstGeom>
          </p:spPr>
          <p:txBody>
            <a:bodyPr lIns="50800" tIns="50800" rIns="50800" bIns="50800" rtlCol="0" anchor="ctr"/>
            <a:lstStyle/>
            <a:p>
              <a:pPr algn="ctr">
                <a:lnSpc>
                  <a:spcPts val="2340"/>
                </a:lnSpc>
              </a:pPr>
              <a:endParaRPr/>
            </a:p>
          </p:txBody>
        </p:sp>
      </p:grpSp>
      <p:grpSp>
        <p:nvGrpSpPr>
          <p:cNvPr id="348" name="Group 348"/>
          <p:cNvGrpSpPr/>
          <p:nvPr/>
        </p:nvGrpSpPr>
        <p:grpSpPr>
          <a:xfrm>
            <a:off x="10894551" y="5439889"/>
            <a:ext cx="195525" cy="136001"/>
            <a:chOff x="0" y="0"/>
            <a:chExt cx="748908" cy="520916"/>
          </a:xfrm>
        </p:grpSpPr>
        <p:sp>
          <p:nvSpPr>
            <p:cNvPr id="349" name="Freeform 349"/>
            <p:cNvSpPr/>
            <p:nvPr/>
          </p:nvSpPr>
          <p:spPr>
            <a:xfrm>
              <a:off x="0" y="0"/>
              <a:ext cx="748908" cy="520916"/>
            </a:xfrm>
            <a:custGeom>
              <a:avLst/>
              <a:gdLst/>
              <a:ahLst/>
              <a:cxnLst/>
              <a:rect l="l" t="t" r="r" b="b"/>
              <a:pathLst>
                <a:path w="748908" h="520916">
                  <a:moveTo>
                    <a:pt x="0" y="0"/>
                  </a:moveTo>
                  <a:lnTo>
                    <a:pt x="748908" y="0"/>
                  </a:lnTo>
                  <a:lnTo>
                    <a:pt x="748908" y="520916"/>
                  </a:lnTo>
                  <a:lnTo>
                    <a:pt x="0" y="520916"/>
                  </a:lnTo>
                  <a:close/>
                </a:path>
              </a:pathLst>
            </a:custGeom>
            <a:blipFill>
              <a:blip r:embed="rId3">
                <a:alphaModFix amt="0"/>
              </a:blip>
              <a:stretch>
                <a:fillRect t="-551512" r="-2464052" b="-785032"/>
              </a:stretch>
            </a:blipFill>
          </p:spPr>
          <p:txBody>
            <a:bodyPr/>
            <a:lstStyle/>
            <a:p>
              <a:endParaRPr lang="en-US"/>
            </a:p>
          </p:txBody>
        </p:sp>
        <p:sp>
          <p:nvSpPr>
            <p:cNvPr id="350" name="TextBox 350"/>
            <p:cNvSpPr txBox="1"/>
            <p:nvPr/>
          </p:nvSpPr>
          <p:spPr>
            <a:xfrm>
              <a:off x="0" y="0"/>
              <a:ext cx="748908" cy="520916"/>
            </a:xfrm>
            <a:prstGeom prst="rect">
              <a:avLst/>
            </a:prstGeom>
          </p:spPr>
          <p:txBody>
            <a:bodyPr lIns="0" tIns="0" rIns="0" bIns="0" rtlCol="0" anchor="ctr"/>
            <a:lstStyle/>
            <a:p>
              <a:pPr algn="ctr">
                <a:lnSpc>
                  <a:spcPts val="746"/>
                </a:lnSpc>
              </a:pPr>
              <a:r>
                <a:rPr lang="en-US" sz="700" b="1">
                  <a:solidFill>
                    <a:srgbClr val="FFFFFF"/>
                  </a:solidFill>
                  <a:latin typeface="Arial Bold"/>
                  <a:ea typeface="Arial Bold"/>
                  <a:cs typeface="Arial Bold"/>
                  <a:sym typeface="Arial Bold"/>
                </a:rPr>
                <a:t>ON</a:t>
              </a:r>
            </a:p>
          </p:txBody>
        </p:sp>
      </p:grpSp>
      <p:grpSp>
        <p:nvGrpSpPr>
          <p:cNvPr id="351" name="Group 351"/>
          <p:cNvGrpSpPr/>
          <p:nvPr/>
        </p:nvGrpSpPr>
        <p:grpSpPr>
          <a:xfrm>
            <a:off x="16090183" y="5821496"/>
            <a:ext cx="584839" cy="102826"/>
            <a:chOff x="0" y="0"/>
            <a:chExt cx="779785" cy="137102"/>
          </a:xfrm>
        </p:grpSpPr>
        <p:grpSp>
          <p:nvGrpSpPr>
            <p:cNvPr id="352" name="Group 352"/>
            <p:cNvGrpSpPr/>
            <p:nvPr/>
          </p:nvGrpSpPr>
          <p:grpSpPr>
            <a:xfrm>
              <a:off x="0" y="0"/>
              <a:ext cx="197108" cy="137102"/>
              <a:chOff x="0" y="0"/>
              <a:chExt cx="748908" cy="520916"/>
            </a:xfrm>
          </p:grpSpPr>
          <p:sp>
            <p:nvSpPr>
              <p:cNvPr id="353" name="Freeform 353"/>
              <p:cNvSpPr/>
              <p:nvPr/>
            </p:nvSpPr>
            <p:spPr>
              <a:xfrm>
                <a:off x="0" y="0"/>
                <a:ext cx="748908" cy="520916"/>
              </a:xfrm>
              <a:custGeom>
                <a:avLst/>
                <a:gdLst/>
                <a:ahLst/>
                <a:cxnLst/>
                <a:rect l="l" t="t" r="r" b="b"/>
                <a:pathLst>
                  <a:path w="748908" h="520916">
                    <a:moveTo>
                      <a:pt x="0" y="0"/>
                    </a:moveTo>
                    <a:lnTo>
                      <a:pt x="748908" y="0"/>
                    </a:lnTo>
                    <a:lnTo>
                      <a:pt x="748908" y="520916"/>
                    </a:lnTo>
                    <a:lnTo>
                      <a:pt x="0" y="520916"/>
                    </a:lnTo>
                    <a:close/>
                  </a:path>
                </a:pathLst>
              </a:custGeom>
              <a:blipFill>
                <a:blip r:embed="rId3">
                  <a:alphaModFix amt="0"/>
                </a:blip>
                <a:stretch>
                  <a:fillRect t="-551512" r="-2464052" b="-785032"/>
                </a:stretch>
              </a:blipFill>
            </p:spPr>
            <p:txBody>
              <a:bodyPr/>
              <a:lstStyle/>
              <a:p>
                <a:endParaRPr lang="en-US"/>
              </a:p>
            </p:txBody>
          </p:sp>
          <p:sp>
            <p:nvSpPr>
              <p:cNvPr id="354" name="TextBox 354"/>
              <p:cNvSpPr txBox="1"/>
              <p:nvPr/>
            </p:nvSpPr>
            <p:spPr>
              <a:xfrm>
                <a:off x="0" y="0"/>
                <a:ext cx="748908" cy="520916"/>
              </a:xfrm>
              <a:prstGeom prst="rect">
                <a:avLst/>
              </a:prstGeom>
            </p:spPr>
            <p:txBody>
              <a:bodyPr lIns="0" tIns="0" rIns="0" bIns="0" rtlCol="0" anchor="ctr"/>
              <a:lstStyle/>
              <a:p>
                <a:pPr algn="ctr">
                  <a:lnSpc>
                    <a:spcPts val="533"/>
                  </a:lnSpc>
                </a:pPr>
                <a:r>
                  <a:rPr lang="en-US" sz="500" b="1">
                    <a:solidFill>
                      <a:srgbClr val="FFFFFF"/>
                    </a:solidFill>
                    <a:latin typeface="Arial Bold"/>
                    <a:ea typeface="Arial Bold"/>
                    <a:cs typeface="Arial Bold"/>
                    <a:sym typeface="Arial Bold"/>
                  </a:rPr>
                  <a:t>ON</a:t>
                </a:r>
              </a:p>
            </p:txBody>
          </p:sp>
        </p:grpSp>
        <p:grpSp>
          <p:nvGrpSpPr>
            <p:cNvPr id="355" name="Group 355"/>
            <p:cNvGrpSpPr/>
            <p:nvPr/>
          </p:nvGrpSpPr>
          <p:grpSpPr>
            <a:xfrm>
              <a:off x="582677" y="0"/>
              <a:ext cx="197108" cy="137102"/>
              <a:chOff x="0" y="0"/>
              <a:chExt cx="748908" cy="520916"/>
            </a:xfrm>
          </p:grpSpPr>
          <p:sp>
            <p:nvSpPr>
              <p:cNvPr id="356" name="Freeform 356"/>
              <p:cNvSpPr/>
              <p:nvPr/>
            </p:nvSpPr>
            <p:spPr>
              <a:xfrm>
                <a:off x="0" y="0"/>
                <a:ext cx="748908" cy="520916"/>
              </a:xfrm>
              <a:custGeom>
                <a:avLst/>
                <a:gdLst/>
                <a:ahLst/>
                <a:cxnLst/>
                <a:rect l="l" t="t" r="r" b="b"/>
                <a:pathLst>
                  <a:path w="748908" h="520916">
                    <a:moveTo>
                      <a:pt x="0" y="0"/>
                    </a:moveTo>
                    <a:lnTo>
                      <a:pt x="748908" y="0"/>
                    </a:lnTo>
                    <a:lnTo>
                      <a:pt x="748908" y="520916"/>
                    </a:lnTo>
                    <a:lnTo>
                      <a:pt x="0" y="520916"/>
                    </a:lnTo>
                    <a:close/>
                  </a:path>
                </a:pathLst>
              </a:custGeom>
              <a:blipFill>
                <a:blip r:embed="rId3">
                  <a:alphaModFix amt="0"/>
                </a:blip>
                <a:stretch>
                  <a:fillRect t="-551512" r="-2464052" b="-785032"/>
                </a:stretch>
              </a:blipFill>
            </p:spPr>
            <p:txBody>
              <a:bodyPr/>
              <a:lstStyle/>
              <a:p>
                <a:endParaRPr lang="en-US"/>
              </a:p>
            </p:txBody>
          </p:sp>
          <p:sp>
            <p:nvSpPr>
              <p:cNvPr id="357" name="TextBox 357"/>
              <p:cNvSpPr txBox="1"/>
              <p:nvPr/>
            </p:nvSpPr>
            <p:spPr>
              <a:xfrm>
                <a:off x="0" y="0"/>
                <a:ext cx="748908" cy="520916"/>
              </a:xfrm>
              <a:prstGeom prst="rect">
                <a:avLst/>
              </a:prstGeom>
            </p:spPr>
            <p:txBody>
              <a:bodyPr lIns="0" tIns="0" rIns="0" bIns="0" rtlCol="0" anchor="ctr"/>
              <a:lstStyle/>
              <a:p>
                <a:pPr algn="ctr">
                  <a:lnSpc>
                    <a:spcPts val="533"/>
                  </a:lnSpc>
                </a:pPr>
                <a:r>
                  <a:rPr lang="en-US" sz="500" b="1">
                    <a:solidFill>
                      <a:srgbClr val="FFFFFF"/>
                    </a:solidFill>
                    <a:latin typeface="Arial Bold"/>
                    <a:ea typeface="Arial Bold"/>
                    <a:cs typeface="Arial Bold"/>
                    <a:sym typeface="Arial Bold"/>
                  </a:rPr>
                  <a:t>OFF</a:t>
                </a:r>
              </a:p>
            </p:txBody>
          </p:sp>
        </p:grpSp>
        <p:sp>
          <p:nvSpPr>
            <p:cNvPr id="358" name="Freeform 358"/>
            <p:cNvSpPr/>
            <p:nvPr/>
          </p:nvSpPr>
          <p:spPr>
            <a:xfrm>
              <a:off x="252495" y="16192"/>
              <a:ext cx="274795" cy="120910"/>
            </a:xfrm>
            <a:custGeom>
              <a:avLst/>
              <a:gdLst/>
              <a:ahLst/>
              <a:cxnLst/>
              <a:rect l="l" t="t" r="r" b="b"/>
              <a:pathLst>
                <a:path w="274795" h="120910">
                  <a:moveTo>
                    <a:pt x="0" y="0"/>
                  </a:moveTo>
                  <a:lnTo>
                    <a:pt x="274795" y="0"/>
                  </a:lnTo>
                  <a:lnTo>
                    <a:pt x="274795" y="120910"/>
                  </a:lnTo>
                  <a:lnTo>
                    <a:pt x="0" y="120910"/>
                  </a:lnTo>
                  <a:lnTo>
                    <a:pt x="0" y="0"/>
                  </a:lnTo>
                  <a:close/>
                </a:path>
              </a:pathLst>
            </a:custGeom>
            <a:blipFill>
              <a:blip>
                <a:extLst>
                  <a:ext uri="{96DAC541-7B7A-43D3-8B79-37D633B846F1}">
                    <asvg:svgBlip xmlns:asvg="http://schemas.microsoft.com/office/drawing/2016/SVG/main" r:embed="rId53"/>
                  </a:ext>
                </a:extLst>
              </a:blip>
              <a:stretch>
                <a:fillRect/>
              </a:stretch>
            </a:blipFill>
          </p:spPr>
          <p:txBody>
            <a:bodyPr/>
            <a:lstStyle/>
            <a:p>
              <a:endParaRPr lang="en-US"/>
            </a:p>
          </p:txBody>
        </p:sp>
      </p:grpSp>
      <p:grpSp>
        <p:nvGrpSpPr>
          <p:cNvPr id="359" name="Group 359"/>
          <p:cNvGrpSpPr/>
          <p:nvPr/>
        </p:nvGrpSpPr>
        <p:grpSpPr>
          <a:xfrm>
            <a:off x="16090183" y="5518645"/>
            <a:ext cx="584839" cy="102826"/>
            <a:chOff x="0" y="0"/>
            <a:chExt cx="779785" cy="137102"/>
          </a:xfrm>
        </p:grpSpPr>
        <p:grpSp>
          <p:nvGrpSpPr>
            <p:cNvPr id="360" name="Group 360"/>
            <p:cNvGrpSpPr/>
            <p:nvPr/>
          </p:nvGrpSpPr>
          <p:grpSpPr>
            <a:xfrm>
              <a:off x="0" y="0"/>
              <a:ext cx="197108" cy="137102"/>
              <a:chOff x="0" y="0"/>
              <a:chExt cx="748908" cy="520916"/>
            </a:xfrm>
          </p:grpSpPr>
          <p:sp>
            <p:nvSpPr>
              <p:cNvPr id="361" name="Freeform 361"/>
              <p:cNvSpPr/>
              <p:nvPr/>
            </p:nvSpPr>
            <p:spPr>
              <a:xfrm>
                <a:off x="0" y="0"/>
                <a:ext cx="748908" cy="520916"/>
              </a:xfrm>
              <a:custGeom>
                <a:avLst/>
                <a:gdLst/>
                <a:ahLst/>
                <a:cxnLst/>
                <a:rect l="l" t="t" r="r" b="b"/>
                <a:pathLst>
                  <a:path w="748908" h="520916">
                    <a:moveTo>
                      <a:pt x="0" y="0"/>
                    </a:moveTo>
                    <a:lnTo>
                      <a:pt x="748908" y="0"/>
                    </a:lnTo>
                    <a:lnTo>
                      <a:pt x="748908" y="520916"/>
                    </a:lnTo>
                    <a:lnTo>
                      <a:pt x="0" y="520916"/>
                    </a:lnTo>
                    <a:close/>
                  </a:path>
                </a:pathLst>
              </a:custGeom>
              <a:blipFill>
                <a:blip r:embed="rId3">
                  <a:alphaModFix amt="0"/>
                </a:blip>
                <a:stretch>
                  <a:fillRect t="-551512" r="-2464052" b="-785032"/>
                </a:stretch>
              </a:blipFill>
            </p:spPr>
            <p:txBody>
              <a:bodyPr/>
              <a:lstStyle/>
              <a:p>
                <a:endParaRPr lang="en-US"/>
              </a:p>
            </p:txBody>
          </p:sp>
          <p:sp>
            <p:nvSpPr>
              <p:cNvPr id="362" name="TextBox 362"/>
              <p:cNvSpPr txBox="1"/>
              <p:nvPr/>
            </p:nvSpPr>
            <p:spPr>
              <a:xfrm>
                <a:off x="0" y="0"/>
                <a:ext cx="748908" cy="520916"/>
              </a:xfrm>
              <a:prstGeom prst="rect">
                <a:avLst/>
              </a:prstGeom>
            </p:spPr>
            <p:txBody>
              <a:bodyPr lIns="0" tIns="0" rIns="0" bIns="0" rtlCol="0" anchor="ctr"/>
              <a:lstStyle/>
              <a:p>
                <a:pPr algn="ctr">
                  <a:lnSpc>
                    <a:spcPts val="533"/>
                  </a:lnSpc>
                </a:pPr>
                <a:r>
                  <a:rPr lang="en-US" sz="500" b="1">
                    <a:solidFill>
                      <a:srgbClr val="FFFFFF"/>
                    </a:solidFill>
                    <a:latin typeface="Arial Bold"/>
                    <a:ea typeface="Arial Bold"/>
                    <a:cs typeface="Arial Bold"/>
                    <a:sym typeface="Arial Bold"/>
                  </a:rPr>
                  <a:t>ON</a:t>
                </a:r>
              </a:p>
            </p:txBody>
          </p:sp>
        </p:grpSp>
        <p:grpSp>
          <p:nvGrpSpPr>
            <p:cNvPr id="363" name="Group 363"/>
            <p:cNvGrpSpPr/>
            <p:nvPr/>
          </p:nvGrpSpPr>
          <p:grpSpPr>
            <a:xfrm>
              <a:off x="582677" y="0"/>
              <a:ext cx="197108" cy="137102"/>
              <a:chOff x="0" y="0"/>
              <a:chExt cx="748908" cy="520916"/>
            </a:xfrm>
          </p:grpSpPr>
          <p:sp>
            <p:nvSpPr>
              <p:cNvPr id="364" name="Freeform 364"/>
              <p:cNvSpPr/>
              <p:nvPr/>
            </p:nvSpPr>
            <p:spPr>
              <a:xfrm>
                <a:off x="0" y="0"/>
                <a:ext cx="748908" cy="520916"/>
              </a:xfrm>
              <a:custGeom>
                <a:avLst/>
                <a:gdLst/>
                <a:ahLst/>
                <a:cxnLst/>
                <a:rect l="l" t="t" r="r" b="b"/>
                <a:pathLst>
                  <a:path w="748908" h="520916">
                    <a:moveTo>
                      <a:pt x="0" y="0"/>
                    </a:moveTo>
                    <a:lnTo>
                      <a:pt x="748908" y="0"/>
                    </a:lnTo>
                    <a:lnTo>
                      <a:pt x="748908" y="520916"/>
                    </a:lnTo>
                    <a:lnTo>
                      <a:pt x="0" y="520916"/>
                    </a:lnTo>
                    <a:close/>
                  </a:path>
                </a:pathLst>
              </a:custGeom>
              <a:blipFill>
                <a:blip r:embed="rId3">
                  <a:alphaModFix amt="0"/>
                </a:blip>
                <a:stretch>
                  <a:fillRect t="-551512" r="-2464052" b="-785032"/>
                </a:stretch>
              </a:blipFill>
            </p:spPr>
            <p:txBody>
              <a:bodyPr/>
              <a:lstStyle/>
              <a:p>
                <a:endParaRPr lang="en-US"/>
              </a:p>
            </p:txBody>
          </p:sp>
          <p:sp>
            <p:nvSpPr>
              <p:cNvPr id="365" name="TextBox 365"/>
              <p:cNvSpPr txBox="1"/>
              <p:nvPr/>
            </p:nvSpPr>
            <p:spPr>
              <a:xfrm>
                <a:off x="0" y="0"/>
                <a:ext cx="748908" cy="520916"/>
              </a:xfrm>
              <a:prstGeom prst="rect">
                <a:avLst/>
              </a:prstGeom>
            </p:spPr>
            <p:txBody>
              <a:bodyPr lIns="0" tIns="0" rIns="0" bIns="0" rtlCol="0" anchor="ctr"/>
              <a:lstStyle/>
              <a:p>
                <a:pPr algn="ctr">
                  <a:lnSpc>
                    <a:spcPts val="533"/>
                  </a:lnSpc>
                </a:pPr>
                <a:r>
                  <a:rPr lang="en-US" sz="500" b="1">
                    <a:solidFill>
                      <a:srgbClr val="FFFFFF"/>
                    </a:solidFill>
                    <a:latin typeface="Arial Bold"/>
                    <a:ea typeface="Arial Bold"/>
                    <a:cs typeface="Arial Bold"/>
                    <a:sym typeface="Arial Bold"/>
                  </a:rPr>
                  <a:t>OFF</a:t>
                </a:r>
              </a:p>
            </p:txBody>
          </p:sp>
        </p:grpSp>
        <p:sp>
          <p:nvSpPr>
            <p:cNvPr id="366" name="Freeform 366"/>
            <p:cNvSpPr/>
            <p:nvPr/>
          </p:nvSpPr>
          <p:spPr>
            <a:xfrm>
              <a:off x="252495" y="16192"/>
              <a:ext cx="274795" cy="120910"/>
            </a:xfrm>
            <a:custGeom>
              <a:avLst/>
              <a:gdLst/>
              <a:ahLst/>
              <a:cxnLst/>
              <a:rect l="l" t="t" r="r" b="b"/>
              <a:pathLst>
                <a:path w="274795" h="120910">
                  <a:moveTo>
                    <a:pt x="0" y="0"/>
                  </a:moveTo>
                  <a:lnTo>
                    <a:pt x="274795" y="0"/>
                  </a:lnTo>
                  <a:lnTo>
                    <a:pt x="274795" y="120910"/>
                  </a:lnTo>
                  <a:lnTo>
                    <a:pt x="0" y="120910"/>
                  </a:lnTo>
                  <a:lnTo>
                    <a:pt x="0" y="0"/>
                  </a:lnTo>
                  <a:close/>
                </a:path>
              </a:pathLst>
            </a:custGeom>
            <a:blipFill>
              <a:blip>
                <a:extLst>
                  <a:ext uri="{96DAC541-7B7A-43D3-8B79-37D633B846F1}">
                    <asvg:svgBlip xmlns:asvg="http://schemas.microsoft.com/office/drawing/2016/SVG/main" r:embed="rId53"/>
                  </a:ext>
                </a:extLst>
              </a:blip>
              <a:stretch>
                <a:fillRect/>
              </a:stretch>
            </a:blipFill>
          </p:spPr>
          <p:txBody>
            <a:bodyPr/>
            <a:lstStyle/>
            <a:p>
              <a:endParaRPr lang="en-US"/>
            </a:p>
          </p:txBody>
        </p:sp>
      </p:grpSp>
      <p:grpSp>
        <p:nvGrpSpPr>
          <p:cNvPr id="367" name="Group 367"/>
          <p:cNvGrpSpPr/>
          <p:nvPr/>
        </p:nvGrpSpPr>
        <p:grpSpPr>
          <a:xfrm>
            <a:off x="16090183" y="5207852"/>
            <a:ext cx="584839" cy="102826"/>
            <a:chOff x="0" y="0"/>
            <a:chExt cx="779785" cy="137102"/>
          </a:xfrm>
        </p:grpSpPr>
        <p:grpSp>
          <p:nvGrpSpPr>
            <p:cNvPr id="368" name="Group 368"/>
            <p:cNvGrpSpPr/>
            <p:nvPr/>
          </p:nvGrpSpPr>
          <p:grpSpPr>
            <a:xfrm>
              <a:off x="0" y="0"/>
              <a:ext cx="197108" cy="137102"/>
              <a:chOff x="0" y="0"/>
              <a:chExt cx="748908" cy="520916"/>
            </a:xfrm>
          </p:grpSpPr>
          <p:sp>
            <p:nvSpPr>
              <p:cNvPr id="369" name="Freeform 369"/>
              <p:cNvSpPr/>
              <p:nvPr/>
            </p:nvSpPr>
            <p:spPr>
              <a:xfrm>
                <a:off x="0" y="0"/>
                <a:ext cx="748908" cy="520916"/>
              </a:xfrm>
              <a:custGeom>
                <a:avLst/>
                <a:gdLst/>
                <a:ahLst/>
                <a:cxnLst/>
                <a:rect l="l" t="t" r="r" b="b"/>
                <a:pathLst>
                  <a:path w="748908" h="520916">
                    <a:moveTo>
                      <a:pt x="0" y="0"/>
                    </a:moveTo>
                    <a:lnTo>
                      <a:pt x="748908" y="0"/>
                    </a:lnTo>
                    <a:lnTo>
                      <a:pt x="748908" y="520916"/>
                    </a:lnTo>
                    <a:lnTo>
                      <a:pt x="0" y="520916"/>
                    </a:lnTo>
                    <a:close/>
                  </a:path>
                </a:pathLst>
              </a:custGeom>
              <a:blipFill>
                <a:blip r:embed="rId3">
                  <a:alphaModFix amt="0"/>
                </a:blip>
                <a:stretch>
                  <a:fillRect t="-551512" r="-2464052" b="-785032"/>
                </a:stretch>
              </a:blipFill>
            </p:spPr>
            <p:txBody>
              <a:bodyPr/>
              <a:lstStyle/>
              <a:p>
                <a:endParaRPr lang="en-US"/>
              </a:p>
            </p:txBody>
          </p:sp>
          <p:sp>
            <p:nvSpPr>
              <p:cNvPr id="370" name="TextBox 370"/>
              <p:cNvSpPr txBox="1"/>
              <p:nvPr/>
            </p:nvSpPr>
            <p:spPr>
              <a:xfrm>
                <a:off x="0" y="0"/>
                <a:ext cx="748908" cy="520916"/>
              </a:xfrm>
              <a:prstGeom prst="rect">
                <a:avLst/>
              </a:prstGeom>
            </p:spPr>
            <p:txBody>
              <a:bodyPr lIns="0" tIns="0" rIns="0" bIns="0" rtlCol="0" anchor="ctr"/>
              <a:lstStyle/>
              <a:p>
                <a:pPr algn="ctr">
                  <a:lnSpc>
                    <a:spcPts val="533"/>
                  </a:lnSpc>
                </a:pPr>
                <a:r>
                  <a:rPr lang="en-US" sz="500" b="1">
                    <a:solidFill>
                      <a:srgbClr val="FFFFFF"/>
                    </a:solidFill>
                    <a:latin typeface="Arial Bold"/>
                    <a:ea typeface="Arial Bold"/>
                    <a:cs typeface="Arial Bold"/>
                    <a:sym typeface="Arial Bold"/>
                  </a:rPr>
                  <a:t>ON</a:t>
                </a:r>
              </a:p>
            </p:txBody>
          </p:sp>
        </p:grpSp>
        <p:grpSp>
          <p:nvGrpSpPr>
            <p:cNvPr id="371" name="Group 371"/>
            <p:cNvGrpSpPr/>
            <p:nvPr/>
          </p:nvGrpSpPr>
          <p:grpSpPr>
            <a:xfrm>
              <a:off x="582677" y="0"/>
              <a:ext cx="197108" cy="137102"/>
              <a:chOff x="0" y="0"/>
              <a:chExt cx="748908" cy="520916"/>
            </a:xfrm>
          </p:grpSpPr>
          <p:sp>
            <p:nvSpPr>
              <p:cNvPr id="372" name="Freeform 372"/>
              <p:cNvSpPr/>
              <p:nvPr/>
            </p:nvSpPr>
            <p:spPr>
              <a:xfrm>
                <a:off x="0" y="0"/>
                <a:ext cx="748908" cy="520916"/>
              </a:xfrm>
              <a:custGeom>
                <a:avLst/>
                <a:gdLst/>
                <a:ahLst/>
                <a:cxnLst/>
                <a:rect l="l" t="t" r="r" b="b"/>
                <a:pathLst>
                  <a:path w="748908" h="520916">
                    <a:moveTo>
                      <a:pt x="0" y="0"/>
                    </a:moveTo>
                    <a:lnTo>
                      <a:pt x="748908" y="0"/>
                    </a:lnTo>
                    <a:lnTo>
                      <a:pt x="748908" y="520916"/>
                    </a:lnTo>
                    <a:lnTo>
                      <a:pt x="0" y="520916"/>
                    </a:lnTo>
                    <a:close/>
                  </a:path>
                </a:pathLst>
              </a:custGeom>
              <a:blipFill>
                <a:blip r:embed="rId3">
                  <a:alphaModFix amt="0"/>
                </a:blip>
                <a:stretch>
                  <a:fillRect t="-551512" r="-2464052" b="-785032"/>
                </a:stretch>
              </a:blipFill>
            </p:spPr>
            <p:txBody>
              <a:bodyPr/>
              <a:lstStyle/>
              <a:p>
                <a:endParaRPr lang="en-US"/>
              </a:p>
            </p:txBody>
          </p:sp>
          <p:sp>
            <p:nvSpPr>
              <p:cNvPr id="373" name="TextBox 373"/>
              <p:cNvSpPr txBox="1"/>
              <p:nvPr/>
            </p:nvSpPr>
            <p:spPr>
              <a:xfrm>
                <a:off x="0" y="0"/>
                <a:ext cx="748908" cy="520916"/>
              </a:xfrm>
              <a:prstGeom prst="rect">
                <a:avLst/>
              </a:prstGeom>
            </p:spPr>
            <p:txBody>
              <a:bodyPr lIns="0" tIns="0" rIns="0" bIns="0" rtlCol="0" anchor="ctr"/>
              <a:lstStyle/>
              <a:p>
                <a:pPr algn="ctr">
                  <a:lnSpc>
                    <a:spcPts val="533"/>
                  </a:lnSpc>
                </a:pPr>
                <a:r>
                  <a:rPr lang="en-US" sz="500" b="1">
                    <a:solidFill>
                      <a:srgbClr val="FFFFFF"/>
                    </a:solidFill>
                    <a:latin typeface="Arial Bold"/>
                    <a:ea typeface="Arial Bold"/>
                    <a:cs typeface="Arial Bold"/>
                    <a:sym typeface="Arial Bold"/>
                  </a:rPr>
                  <a:t>OFF</a:t>
                </a:r>
              </a:p>
            </p:txBody>
          </p:sp>
        </p:grpSp>
        <p:sp>
          <p:nvSpPr>
            <p:cNvPr id="374" name="Freeform 374"/>
            <p:cNvSpPr/>
            <p:nvPr/>
          </p:nvSpPr>
          <p:spPr>
            <a:xfrm>
              <a:off x="210942" y="3492"/>
              <a:ext cx="289132" cy="120910"/>
            </a:xfrm>
            <a:custGeom>
              <a:avLst/>
              <a:gdLst/>
              <a:ahLst/>
              <a:cxnLst/>
              <a:rect l="l" t="t" r="r" b="b"/>
              <a:pathLst>
                <a:path w="289132" h="120910">
                  <a:moveTo>
                    <a:pt x="0" y="0"/>
                  </a:moveTo>
                  <a:lnTo>
                    <a:pt x="289132" y="0"/>
                  </a:lnTo>
                  <a:lnTo>
                    <a:pt x="289132" y="120910"/>
                  </a:lnTo>
                  <a:lnTo>
                    <a:pt x="0" y="120910"/>
                  </a:lnTo>
                  <a:lnTo>
                    <a:pt x="0" y="0"/>
                  </a:lnTo>
                  <a:close/>
                </a:path>
              </a:pathLst>
            </a:custGeom>
            <a:blipFill>
              <a:blip r:embed="rId54"/>
              <a:stretch>
                <a:fillRect/>
              </a:stretch>
            </a:blipFill>
          </p:spPr>
          <p:txBody>
            <a:bodyPr/>
            <a:lstStyle/>
            <a:p>
              <a:endParaRPr lang="en-US"/>
            </a:p>
          </p:txBody>
        </p:sp>
      </p:grpSp>
      <p:grpSp>
        <p:nvGrpSpPr>
          <p:cNvPr id="375" name="Group 375"/>
          <p:cNvGrpSpPr/>
          <p:nvPr/>
        </p:nvGrpSpPr>
        <p:grpSpPr>
          <a:xfrm>
            <a:off x="16090183" y="4903010"/>
            <a:ext cx="584839" cy="102826"/>
            <a:chOff x="0" y="0"/>
            <a:chExt cx="779785" cy="137102"/>
          </a:xfrm>
        </p:grpSpPr>
        <p:sp>
          <p:nvSpPr>
            <p:cNvPr id="376" name="Freeform 376"/>
            <p:cNvSpPr/>
            <p:nvPr/>
          </p:nvSpPr>
          <p:spPr>
            <a:xfrm>
              <a:off x="252495" y="0"/>
              <a:ext cx="274795" cy="120910"/>
            </a:xfrm>
            <a:custGeom>
              <a:avLst/>
              <a:gdLst/>
              <a:ahLst/>
              <a:cxnLst/>
              <a:rect l="l" t="t" r="r" b="b"/>
              <a:pathLst>
                <a:path w="274795" h="120910">
                  <a:moveTo>
                    <a:pt x="0" y="0"/>
                  </a:moveTo>
                  <a:lnTo>
                    <a:pt x="274795" y="0"/>
                  </a:lnTo>
                  <a:lnTo>
                    <a:pt x="274795" y="120910"/>
                  </a:lnTo>
                  <a:lnTo>
                    <a:pt x="0" y="120910"/>
                  </a:lnTo>
                  <a:lnTo>
                    <a:pt x="0" y="0"/>
                  </a:lnTo>
                  <a:close/>
                </a:path>
              </a:pathLst>
            </a:custGeom>
            <a:blipFill>
              <a:blip>
                <a:extLst>
                  <a:ext uri="{96DAC541-7B7A-43D3-8B79-37D633B846F1}">
                    <asvg:svgBlip xmlns:asvg="http://schemas.microsoft.com/office/drawing/2016/SVG/main" r:embed="rId53"/>
                  </a:ext>
                </a:extLst>
              </a:blip>
              <a:stretch>
                <a:fillRect/>
              </a:stretch>
            </a:blipFill>
          </p:spPr>
          <p:txBody>
            <a:bodyPr/>
            <a:lstStyle/>
            <a:p>
              <a:endParaRPr lang="en-US"/>
            </a:p>
          </p:txBody>
        </p:sp>
        <p:grpSp>
          <p:nvGrpSpPr>
            <p:cNvPr id="377" name="Group 377"/>
            <p:cNvGrpSpPr/>
            <p:nvPr/>
          </p:nvGrpSpPr>
          <p:grpSpPr>
            <a:xfrm>
              <a:off x="0" y="0"/>
              <a:ext cx="197108" cy="137102"/>
              <a:chOff x="0" y="0"/>
              <a:chExt cx="748908" cy="520916"/>
            </a:xfrm>
          </p:grpSpPr>
          <p:sp>
            <p:nvSpPr>
              <p:cNvPr id="378" name="Freeform 378"/>
              <p:cNvSpPr/>
              <p:nvPr/>
            </p:nvSpPr>
            <p:spPr>
              <a:xfrm>
                <a:off x="0" y="0"/>
                <a:ext cx="748908" cy="520916"/>
              </a:xfrm>
              <a:custGeom>
                <a:avLst/>
                <a:gdLst/>
                <a:ahLst/>
                <a:cxnLst/>
                <a:rect l="l" t="t" r="r" b="b"/>
                <a:pathLst>
                  <a:path w="748908" h="520916">
                    <a:moveTo>
                      <a:pt x="0" y="0"/>
                    </a:moveTo>
                    <a:lnTo>
                      <a:pt x="748908" y="0"/>
                    </a:lnTo>
                    <a:lnTo>
                      <a:pt x="748908" y="520916"/>
                    </a:lnTo>
                    <a:lnTo>
                      <a:pt x="0" y="520916"/>
                    </a:lnTo>
                    <a:close/>
                  </a:path>
                </a:pathLst>
              </a:custGeom>
              <a:blipFill>
                <a:blip r:embed="rId3">
                  <a:alphaModFix amt="0"/>
                </a:blip>
                <a:stretch>
                  <a:fillRect t="-551512" r="-2464052" b="-785032"/>
                </a:stretch>
              </a:blipFill>
            </p:spPr>
            <p:txBody>
              <a:bodyPr/>
              <a:lstStyle/>
              <a:p>
                <a:endParaRPr lang="en-US"/>
              </a:p>
            </p:txBody>
          </p:sp>
          <p:sp>
            <p:nvSpPr>
              <p:cNvPr id="379" name="TextBox 379"/>
              <p:cNvSpPr txBox="1"/>
              <p:nvPr/>
            </p:nvSpPr>
            <p:spPr>
              <a:xfrm>
                <a:off x="0" y="0"/>
                <a:ext cx="748908" cy="520916"/>
              </a:xfrm>
              <a:prstGeom prst="rect">
                <a:avLst/>
              </a:prstGeom>
            </p:spPr>
            <p:txBody>
              <a:bodyPr lIns="0" tIns="0" rIns="0" bIns="0" rtlCol="0" anchor="ctr"/>
              <a:lstStyle/>
              <a:p>
                <a:pPr algn="ctr">
                  <a:lnSpc>
                    <a:spcPts val="533"/>
                  </a:lnSpc>
                </a:pPr>
                <a:r>
                  <a:rPr lang="en-US" sz="500" b="1">
                    <a:solidFill>
                      <a:srgbClr val="FFFFFF"/>
                    </a:solidFill>
                    <a:latin typeface="Arial Bold"/>
                    <a:ea typeface="Arial Bold"/>
                    <a:cs typeface="Arial Bold"/>
                    <a:sym typeface="Arial Bold"/>
                  </a:rPr>
                  <a:t>ON</a:t>
                </a:r>
              </a:p>
            </p:txBody>
          </p:sp>
        </p:grpSp>
        <p:grpSp>
          <p:nvGrpSpPr>
            <p:cNvPr id="380" name="Group 380"/>
            <p:cNvGrpSpPr/>
            <p:nvPr/>
          </p:nvGrpSpPr>
          <p:grpSpPr>
            <a:xfrm>
              <a:off x="582677" y="0"/>
              <a:ext cx="197108" cy="137102"/>
              <a:chOff x="0" y="0"/>
              <a:chExt cx="748908" cy="520916"/>
            </a:xfrm>
          </p:grpSpPr>
          <p:sp>
            <p:nvSpPr>
              <p:cNvPr id="381" name="Freeform 381"/>
              <p:cNvSpPr/>
              <p:nvPr/>
            </p:nvSpPr>
            <p:spPr>
              <a:xfrm>
                <a:off x="0" y="0"/>
                <a:ext cx="748908" cy="520916"/>
              </a:xfrm>
              <a:custGeom>
                <a:avLst/>
                <a:gdLst/>
                <a:ahLst/>
                <a:cxnLst/>
                <a:rect l="l" t="t" r="r" b="b"/>
                <a:pathLst>
                  <a:path w="748908" h="520916">
                    <a:moveTo>
                      <a:pt x="0" y="0"/>
                    </a:moveTo>
                    <a:lnTo>
                      <a:pt x="748908" y="0"/>
                    </a:lnTo>
                    <a:lnTo>
                      <a:pt x="748908" y="520916"/>
                    </a:lnTo>
                    <a:lnTo>
                      <a:pt x="0" y="520916"/>
                    </a:lnTo>
                    <a:close/>
                  </a:path>
                </a:pathLst>
              </a:custGeom>
              <a:blipFill>
                <a:blip r:embed="rId3">
                  <a:alphaModFix amt="0"/>
                </a:blip>
                <a:stretch>
                  <a:fillRect t="-551512" r="-2464052" b="-785032"/>
                </a:stretch>
              </a:blipFill>
            </p:spPr>
            <p:txBody>
              <a:bodyPr/>
              <a:lstStyle/>
              <a:p>
                <a:endParaRPr lang="en-US"/>
              </a:p>
            </p:txBody>
          </p:sp>
          <p:sp>
            <p:nvSpPr>
              <p:cNvPr id="382" name="TextBox 382"/>
              <p:cNvSpPr txBox="1"/>
              <p:nvPr/>
            </p:nvSpPr>
            <p:spPr>
              <a:xfrm>
                <a:off x="0" y="0"/>
                <a:ext cx="748908" cy="520916"/>
              </a:xfrm>
              <a:prstGeom prst="rect">
                <a:avLst/>
              </a:prstGeom>
            </p:spPr>
            <p:txBody>
              <a:bodyPr lIns="0" tIns="0" rIns="0" bIns="0" rtlCol="0" anchor="ctr"/>
              <a:lstStyle/>
              <a:p>
                <a:pPr algn="ctr">
                  <a:lnSpc>
                    <a:spcPts val="533"/>
                  </a:lnSpc>
                </a:pPr>
                <a:r>
                  <a:rPr lang="en-US" sz="500" b="1">
                    <a:solidFill>
                      <a:srgbClr val="FFFFFF"/>
                    </a:solidFill>
                    <a:latin typeface="Arial Bold"/>
                    <a:ea typeface="Arial Bold"/>
                    <a:cs typeface="Arial Bold"/>
                    <a:sym typeface="Arial Bold"/>
                  </a:rPr>
                  <a:t>OFF</a:t>
                </a:r>
              </a:p>
            </p:txBody>
          </p:sp>
        </p:grpSp>
      </p:grpSp>
      <p:grpSp>
        <p:nvGrpSpPr>
          <p:cNvPr id="383" name="Group 383"/>
          <p:cNvGrpSpPr/>
          <p:nvPr/>
        </p:nvGrpSpPr>
        <p:grpSpPr>
          <a:xfrm>
            <a:off x="16090183" y="6427198"/>
            <a:ext cx="584839" cy="102826"/>
            <a:chOff x="0" y="0"/>
            <a:chExt cx="779785" cy="137102"/>
          </a:xfrm>
        </p:grpSpPr>
        <p:grpSp>
          <p:nvGrpSpPr>
            <p:cNvPr id="384" name="Group 384"/>
            <p:cNvGrpSpPr/>
            <p:nvPr/>
          </p:nvGrpSpPr>
          <p:grpSpPr>
            <a:xfrm>
              <a:off x="0" y="0"/>
              <a:ext cx="197108" cy="137102"/>
              <a:chOff x="0" y="0"/>
              <a:chExt cx="748908" cy="520916"/>
            </a:xfrm>
          </p:grpSpPr>
          <p:sp>
            <p:nvSpPr>
              <p:cNvPr id="385" name="Freeform 385"/>
              <p:cNvSpPr/>
              <p:nvPr/>
            </p:nvSpPr>
            <p:spPr>
              <a:xfrm>
                <a:off x="0" y="0"/>
                <a:ext cx="748908" cy="520916"/>
              </a:xfrm>
              <a:custGeom>
                <a:avLst/>
                <a:gdLst/>
                <a:ahLst/>
                <a:cxnLst/>
                <a:rect l="l" t="t" r="r" b="b"/>
                <a:pathLst>
                  <a:path w="748908" h="520916">
                    <a:moveTo>
                      <a:pt x="0" y="0"/>
                    </a:moveTo>
                    <a:lnTo>
                      <a:pt x="748908" y="0"/>
                    </a:lnTo>
                    <a:lnTo>
                      <a:pt x="748908" y="520916"/>
                    </a:lnTo>
                    <a:lnTo>
                      <a:pt x="0" y="520916"/>
                    </a:lnTo>
                    <a:close/>
                  </a:path>
                </a:pathLst>
              </a:custGeom>
              <a:blipFill>
                <a:blip r:embed="rId3">
                  <a:alphaModFix amt="0"/>
                </a:blip>
                <a:stretch>
                  <a:fillRect t="-551512" r="-2464052" b="-785032"/>
                </a:stretch>
              </a:blipFill>
            </p:spPr>
            <p:txBody>
              <a:bodyPr/>
              <a:lstStyle/>
              <a:p>
                <a:endParaRPr lang="en-US"/>
              </a:p>
            </p:txBody>
          </p:sp>
          <p:sp>
            <p:nvSpPr>
              <p:cNvPr id="386" name="TextBox 386"/>
              <p:cNvSpPr txBox="1"/>
              <p:nvPr/>
            </p:nvSpPr>
            <p:spPr>
              <a:xfrm>
                <a:off x="0" y="0"/>
                <a:ext cx="748908" cy="520916"/>
              </a:xfrm>
              <a:prstGeom prst="rect">
                <a:avLst/>
              </a:prstGeom>
            </p:spPr>
            <p:txBody>
              <a:bodyPr lIns="0" tIns="0" rIns="0" bIns="0" rtlCol="0" anchor="ctr"/>
              <a:lstStyle/>
              <a:p>
                <a:pPr algn="ctr">
                  <a:lnSpc>
                    <a:spcPts val="533"/>
                  </a:lnSpc>
                </a:pPr>
                <a:r>
                  <a:rPr lang="en-US" sz="500" b="1">
                    <a:solidFill>
                      <a:srgbClr val="FFFFFF"/>
                    </a:solidFill>
                    <a:latin typeface="Arial Bold"/>
                    <a:ea typeface="Arial Bold"/>
                    <a:cs typeface="Arial Bold"/>
                    <a:sym typeface="Arial Bold"/>
                  </a:rPr>
                  <a:t>ON</a:t>
                </a:r>
              </a:p>
            </p:txBody>
          </p:sp>
        </p:grpSp>
        <p:grpSp>
          <p:nvGrpSpPr>
            <p:cNvPr id="387" name="Group 387"/>
            <p:cNvGrpSpPr/>
            <p:nvPr/>
          </p:nvGrpSpPr>
          <p:grpSpPr>
            <a:xfrm>
              <a:off x="582677" y="0"/>
              <a:ext cx="197108" cy="137102"/>
              <a:chOff x="0" y="0"/>
              <a:chExt cx="748908" cy="520916"/>
            </a:xfrm>
          </p:grpSpPr>
          <p:sp>
            <p:nvSpPr>
              <p:cNvPr id="388" name="Freeform 388"/>
              <p:cNvSpPr/>
              <p:nvPr/>
            </p:nvSpPr>
            <p:spPr>
              <a:xfrm>
                <a:off x="0" y="0"/>
                <a:ext cx="748908" cy="520916"/>
              </a:xfrm>
              <a:custGeom>
                <a:avLst/>
                <a:gdLst/>
                <a:ahLst/>
                <a:cxnLst/>
                <a:rect l="l" t="t" r="r" b="b"/>
                <a:pathLst>
                  <a:path w="748908" h="520916">
                    <a:moveTo>
                      <a:pt x="0" y="0"/>
                    </a:moveTo>
                    <a:lnTo>
                      <a:pt x="748908" y="0"/>
                    </a:lnTo>
                    <a:lnTo>
                      <a:pt x="748908" y="520916"/>
                    </a:lnTo>
                    <a:lnTo>
                      <a:pt x="0" y="520916"/>
                    </a:lnTo>
                    <a:close/>
                  </a:path>
                </a:pathLst>
              </a:custGeom>
              <a:blipFill>
                <a:blip r:embed="rId3">
                  <a:alphaModFix amt="0"/>
                </a:blip>
                <a:stretch>
                  <a:fillRect t="-551512" r="-2464052" b="-785032"/>
                </a:stretch>
              </a:blipFill>
            </p:spPr>
            <p:txBody>
              <a:bodyPr/>
              <a:lstStyle/>
              <a:p>
                <a:endParaRPr lang="en-US"/>
              </a:p>
            </p:txBody>
          </p:sp>
          <p:sp>
            <p:nvSpPr>
              <p:cNvPr id="389" name="TextBox 389"/>
              <p:cNvSpPr txBox="1"/>
              <p:nvPr/>
            </p:nvSpPr>
            <p:spPr>
              <a:xfrm>
                <a:off x="0" y="0"/>
                <a:ext cx="748908" cy="520916"/>
              </a:xfrm>
              <a:prstGeom prst="rect">
                <a:avLst/>
              </a:prstGeom>
            </p:spPr>
            <p:txBody>
              <a:bodyPr lIns="0" tIns="0" rIns="0" bIns="0" rtlCol="0" anchor="ctr"/>
              <a:lstStyle/>
              <a:p>
                <a:pPr algn="ctr">
                  <a:lnSpc>
                    <a:spcPts val="533"/>
                  </a:lnSpc>
                </a:pPr>
                <a:r>
                  <a:rPr lang="en-US" sz="500" b="1">
                    <a:solidFill>
                      <a:srgbClr val="FFFFFF"/>
                    </a:solidFill>
                    <a:latin typeface="Arial Bold"/>
                    <a:ea typeface="Arial Bold"/>
                    <a:cs typeface="Arial Bold"/>
                    <a:sym typeface="Arial Bold"/>
                  </a:rPr>
                  <a:t>OFF</a:t>
                </a:r>
              </a:p>
            </p:txBody>
          </p:sp>
        </p:grpSp>
        <p:sp>
          <p:nvSpPr>
            <p:cNvPr id="390" name="Freeform 390"/>
            <p:cNvSpPr/>
            <p:nvPr/>
          </p:nvSpPr>
          <p:spPr>
            <a:xfrm>
              <a:off x="238158" y="16192"/>
              <a:ext cx="289132" cy="120910"/>
            </a:xfrm>
            <a:custGeom>
              <a:avLst/>
              <a:gdLst/>
              <a:ahLst/>
              <a:cxnLst/>
              <a:rect l="l" t="t" r="r" b="b"/>
              <a:pathLst>
                <a:path w="289132" h="120910">
                  <a:moveTo>
                    <a:pt x="0" y="0"/>
                  </a:moveTo>
                  <a:lnTo>
                    <a:pt x="289132" y="0"/>
                  </a:lnTo>
                  <a:lnTo>
                    <a:pt x="289132" y="120910"/>
                  </a:lnTo>
                  <a:lnTo>
                    <a:pt x="0" y="120910"/>
                  </a:lnTo>
                  <a:lnTo>
                    <a:pt x="0" y="0"/>
                  </a:lnTo>
                  <a:close/>
                </a:path>
              </a:pathLst>
            </a:custGeom>
            <a:blipFill>
              <a:blip r:embed="rId54"/>
              <a:stretch>
                <a:fillRect/>
              </a:stretch>
            </a:blipFill>
          </p:spPr>
          <p:txBody>
            <a:bodyPr/>
            <a:lstStyle/>
            <a:p>
              <a:endParaRPr lang="en-US"/>
            </a:p>
          </p:txBody>
        </p:sp>
      </p:grpSp>
      <p:grpSp>
        <p:nvGrpSpPr>
          <p:cNvPr id="391" name="Group 391"/>
          <p:cNvGrpSpPr/>
          <p:nvPr/>
        </p:nvGrpSpPr>
        <p:grpSpPr>
          <a:xfrm>
            <a:off x="16090183" y="6124347"/>
            <a:ext cx="584839" cy="102826"/>
            <a:chOff x="0" y="0"/>
            <a:chExt cx="779785" cy="137102"/>
          </a:xfrm>
        </p:grpSpPr>
        <p:sp>
          <p:nvSpPr>
            <p:cNvPr id="392" name="Freeform 392"/>
            <p:cNvSpPr/>
            <p:nvPr/>
          </p:nvSpPr>
          <p:spPr>
            <a:xfrm>
              <a:off x="238158" y="0"/>
              <a:ext cx="289132" cy="120910"/>
            </a:xfrm>
            <a:custGeom>
              <a:avLst/>
              <a:gdLst/>
              <a:ahLst/>
              <a:cxnLst/>
              <a:rect l="l" t="t" r="r" b="b"/>
              <a:pathLst>
                <a:path w="289132" h="120910">
                  <a:moveTo>
                    <a:pt x="0" y="0"/>
                  </a:moveTo>
                  <a:lnTo>
                    <a:pt x="289132" y="0"/>
                  </a:lnTo>
                  <a:lnTo>
                    <a:pt x="289132" y="120910"/>
                  </a:lnTo>
                  <a:lnTo>
                    <a:pt x="0" y="120910"/>
                  </a:lnTo>
                  <a:lnTo>
                    <a:pt x="0" y="0"/>
                  </a:lnTo>
                  <a:close/>
                </a:path>
              </a:pathLst>
            </a:custGeom>
            <a:blipFill>
              <a:blip r:embed="rId54"/>
              <a:stretch>
                <a:fillRect/>
              </a:stretch>
            </a:blipFill>
          </p:spPr>
          <p:txBody>
            <a:bodyPr/>
            <a:lstStyle/>
            <a:p>
              <a:endParaRPr lang="en-US"/>
            </a:p>
          </p:txBody>
        </p:sp>
        <p:grpSp>
          <p:nvGrpSpPr>
            <p:cNvPr id="393" name="Group 393"/>
            <p:cNvGrpSpPr/>
            <p:nvPr/>
          </p:nvGrpSpPr>
          <p:grpSpPr>
            <a:xfrm>
              <a:off x="0" y="0"/>
              <a:ext cx="197108" cy="137102"/>
              <a:chOff x="0" y="0"/>
              <a:chExt cx="748908" cy="520916"/>
            </a:xfrm>
          </p:grpSpPr>
          <p:sp>
            <p:nvSpPr>
              <p:cNvPr id="394" name="Freeform 394"/>
              <p:cNvSpPr/>
              <p:nvPr/>
            </p:nvSpPr>
            <p:spPr>
              <a:xfrm>
                <a:off x="0" y="0"/>
                <a:ext cx="748908" cy="520916"/>
              </a:xfrm>
              <a:custGeom>
                <a:avLst/>
                <a:gdLst/>
                <a:ahLst/>
                <a:cxnLst/>
                <a:rect l="l" t="t" r="r" b="b"/>
                <a:pathLst>
                  <a:path w="748908" h="520916">
                    <a:moveTo>
                      <a:pt x="0" y="0"/>
                    </a:moveTo>
                    <a:lnTo>
                      <a:pt x="748908" y="0"/>
                    </a:lnTo>
                    <a:lnTo>
                      <a:pt x="748908" y="520916"/>
                    </a:lnTo>
                    <a:lnTo>
                      <a:pt x="0" y="520916"/>
                    </a:lnTo>
                    <a:close/>
                  </a:path>
                </a:pathLst>
              </a:custGeom>
              <a:blipFill>
                <a:blip r:embed="rId3">
                  <a:alphaModFix amt="0"/>
                </a:blip>
                <a:stretch>
                  <a:fillRect t="-551512" r="-2464052" b="-785032"/>
                </a:stretch>
              </a:blipFill>
            </p:spPr>
            <p:txBody>
              <a:bodyPr/>
              <a:lstStyle/>
              <a:p>
                <a:endParaRPr lang="en-US"/>
              </a:p>
            </p:txBody>
          </p:sp>
          <p:sp>
            <p:nvSpPr>
              <p:cNvPr id="395" name="TextBox 395"/>
              <p:cNvSpPr txBox="1"/>
              <p:nvPr/>
            </p:nvSpPr>
            <p:spPr>
              <a:xfrm>
                <a:off x="0" y="0"/>
                <a:ext cx="748908" cy="520916"/>
              </a:xfrm>
              <a:prstGeom prst="rect">
                <a:avLst/>
              </a:prstGeom>
            </p:spPr>
            <p:txBody>
              <a:bodyPr lIns="0" tIns="0" rIns="0" bIns="0" rtlCol="0" anchor="ctr"/>
              <a:lstStyle/>
              <a:p>
                <a:pPr algn="ctr">
                  <a:lnSpc>
                    <a:spcPts val="533"/>
                  </a:lnSpc>
                </a:pPr>
                <a:r>
                  <a:rPr lang="en-US" sz="500" b="1">
                    <a:solidFill>
                      <a:srgbClr val="FFFFFF"/>
                    </a:solidFill>
                    <a:latin typeface="Arial Bold"/>
                    <a:ea typeface="Arial Bold"/>
                    <a:cs typeface="Arial Bold"/>
                    <a:sym typeface="Arial Bold"/>
                  </a:rPr>
                  <a:t>ON</a:t>
                </a:r>
              </a:p>
            </p:txBody>
          </p:sp>
        </p:grpSp>
        <p:grpSp>
          <p:nvGrpSpPr>
            <p:cNvPr id="396" name="Group 396"/>
            <p:cNvGrpSpPr/>
            <p:nvPr/>
          </p:nvGrpSpPr>
          <p:grpSpPr>
            <a:xfrm>
              <a:off x="582677" y="0"/>
              <a:ext cx="197108" cy="137102"/>
              <a:chOff x="0" y="0"/>
              <a:chExt cx="748908" cy="520916"/>
            </a:xfrm>
          </p:grpSpPr>
          <p:sp>
            <p:nvSpPr>
              <p:cNvPr id="397" name="Freeform 397"/>
              <p:cNvSpPr/>
              <p:nvPr/>
            </p:nvSpPr>
            <p:spPr>
              <a:xfrm>
                <a:off x="0" y="0"/>
                <a:ext cx="748908" cy="520916"/>
              </a:xfrm>
              <a:custGeom>
                <a:avLst/>
                <a:gdLst/>
                <a:ahLst/>
                <a:cxnLst/>
                <a:rect l="l" t="t" r="r" b="b"/>
                <a:pathLst>
                  <a:path w="748908" h="520916">
                    <a:moveTo>
                      <a:pt x="0" y="0"/>
                    </a:moveTo>
                    <a:lnTo>
                      <a:pt x="748908" y="0"/>
                    </a:lnTo>
                    <a:lnTo>
                      <a:pt x="748908" y="520916"/>
                    </a:lnTo>
                    <a:lnTo>
                      <a:pt x="0" y="520916"/>
                    </a:lnTo>
                    <a:close/>
                  </a:path>
                </a:pathLst>
              </a:custGeom>
              <a:blipFill>
                <a:blip r:embed="rId3">
                  <a:alphaModFix amt="0"/>
                </a:blip>
                <a:stretch>
                  <a:fillRect t="-551512" r="-2464052" b="-785032"/>
                </a:stretch>
              </a:blipFill>
            </p:spPr>
            <p:txBody>
              <a:bodyPr/>
              <a:lstStyle/>
              <a:p>
                <a:endParaRPr lang="en-US"/>
              </a:p>
            </p:txBody>
          </p:sp>
          <p:sp>
            <p:nvSpPr>
              <p:cNvPr id="398" name="TextBox 398"/>
              <p:cNvSpPr txBox="1"/>
              <p:nvPr/>
            </p:nvSpPr>
            <p:spPr>
              <a:xfrm>
                <a:off x="0" y="0"/>
                <a:ext cx="748908" cy="520916"/>
              </a:xfrm>
              <a:prstGeom prst="rect">
                <a:avLst/>
              </a:prstGeom>
            </p:spPr>
            <p:txBody>
              <a:bodyPr lIns="0" tIns="0" rIns="0" bIns="0" rtlCol="0" anchor="ctr"/>
              <a:lstStyle/>
              <a:p>
                <a:pPr algn="ctr">
                  <a:lnSpc>
                    <a:spcPts val="533"/>
                  </a:lnSpc>
                </a:pPr>
                <a:r>
                  <a:rPr lang="en-US" sz="500" b="1">
                    <a:solidFill>
                      <a:srgbClr val="FFFFFF"/>
                    </a:solidFill>
                    <a:latin typeface="Arial Bold"/>
                    <a:ea typeface="Arial Bold"/>
                    <a:cs typeface="Arial Bold"/>
                    <a:sym typeface="Arial Bold"/>
                  </a:rPr>
                  <a:t>OFF</a:t>
                </a:r>
              </a:p>
            </p:txBody>
          </p:sp>
        </p:grpSp>
      </p:grpSp>
      <p:grpSp>
        <p:nvGrpSpPr>
          <p:cNvPr id="399" name="Group 2">
            <a:extLst>
              <a:ext uri="{FF2B5EF4-FFF2-40B4-BE49-F238E27FC236}">
                <a16:creationId xmlns:a16="http://schemas.microsoft.com/office/drawing/2014/main" id="{740805D6-5C11-BEEB-A183-2ABF57E2F64D}"/>
              </a:ext>
            </a:extLst>
          </p:cNvPr>
          <p:cNvGrpSpPr/>
          <p:nvPr/>
        </p:nvGrpSpPr>
        <p:grpSpPr>
          <a:xfrm>
            <a:off x="960120" y="734066"/>
            <a:ext cx="10972800" cy="480060"/>
            <a:chOff x="0" y="0"/>
            <a:chExt cx="14630400" cy="640080"/>
          </a:xfrm>
        </p:grpSpPr>
        <p:sp>
          <p:nvSpPr>
            <p:cNvPr id="400" name="Freeform 3">
              <a:extLst>
                <a:ext uri="{FF2B5EF4-FFF2-40B4-BE49-F238E27FC236}">
                  <a16:creationId xmlns:a16="http://schemas.microsoft.com/office/drawing/2014/main" id="{8B8D5E28-8FF8-9D2B-932F-CD8530AF6C46}"/>
                </a:ext>
              </a:extLst>
            </p:cNvPr>
            <p:cNvSpPr/>
            <p:nvPr/>
          </p:nvSpPr>
          <p:spPr>
            <a:xfrm>
              <a:off x="0" y="0"/>
              <a:ext cx="14630400" cy="640080"/>
            </a:xfrm>
            <a:custGeom>
              <a:avLst/>
              <a:gdLst/>
              <a:ahLst/>
              <a:cxnLst/>
              <a:rect l="l" t="t" r="r" b="b"/>
              <a:pathLst>
                <a:path w="14630400" h="640080">
                  <a:moveTo>
                    <a:pt x="0" y="0"/>
                  </a:moveTo>
                  <a:lnTo>
                    <a:pt x="14630400" y="0"/>
                  </a:lnTo>
                  <a:lnTo>
                    <a:pt x="14630400" y="640080"/>
                  </a:lnTo>
                  <a:lnTo>
                    <a:pt x="0" y="640080"/>
                  </a:lnTo>
                  <a:close/>
                </a:path>
              </a:pathLst>
            </a:custGeom>
            <a:blipFill>
              <a:blip r:embed="rId3">
                <a:alphaModFix amt="0"/>
              </a:blip>
              <a:stretch>
                <a:fillRect t="-395372" b="-395372"/>
              </a:stretch>
            </a:blipFill>
          </p:spPr>
          <p:txBody>
            <a:bodyPr/>
            <a:lstStyle/>
            <a:p>
              <a:endParaRPr lang="en-US"/>
            </a:p>
          </p:txBody>
        </p:sp>
        <p:sp>
          <p:nvSpPr>
            <p:cNvPr id="401" name="TextBox 4">
              <a:extLst>
                <a:ext uri="{FF2B5EF4-FFF2-40B4-BE49-F238E27FC236}">
                  <a16:creationId xmlns:a16="http://schemas.microsoft.com/office/drawing/2014/main" id="{CF04B43A-0D4A-D296-C072-014A875096CF}"/>
                </a:ext>
              </a:extLst>
            </p:cNvPr>
            <p:cNvSpPr txBox="1"/>
            <p:nvPr/>
          </p:nvSpPr>
          <p:spPr>
            <a:xfrm>
              <a:off x="0" y="-19050"/>
              <a:ext cx="14630400" cy="659130"/>
            </a:xfrm>
            <a:prstGeom prst="rect">
              <a:avLst/>
            </a:prstGeom>
          </p:spPr>
          <p:txBody>
            <a:bodyPr lIns="0" tIns="0" rIns="0" bIns="0" rtlCol="0" anchor="ctr"/>
            <a:lstStyle/>
            <a:p>
              <a:pPr algn="l">
                <a:lnSpc>
                  <a:spcPts val="2160"/>
                </a:lnSpc>
              </a:pPr>
              <a:r>
                <a:rPr lang="en-US" sz="1800" b="1" spc="450" dirty="0">
                  <a:solidFill>
                    <a:srgbClr val="FFFFFF"/>
                  </a:solidFill>
                  <a:latin typeface="Arial Bold"/>
                  <a:ea typeface="Arial Bold"/>
                  <a:cs typeface="Arial Bold"/>
                  <a:sym typeface="Arial Bold"/>
                </a:rPr>
                <a:t>FEATURE CONCEPT - OCTOBER 2026</a:t>
              </a:r>
            </a:p>
          </p:txBody>
        </p:sp>
      </p:grpSp>
      <p:grpSp>
        <p:nvGrpSpPr>
          <p:cNvPr id="402" name="Group 5">
            <a:extLst>
              <a:ext uri="{FF2B5EF4-FFF2-40B4-BE49-F238E27FC236}">
                <a16:creationId xmlns:a16="http://schemas.microsoft.com/office/drawing/2014/main" id="{9FA46834-E211-3FA0-D237-81F45AA7B57B}"/>
              </a:ext>
            </a:extLst>
          </p:cNvPr>
          <p:cNvGrpSpPr/>
          <p:nvPr/>
        </p:nvGrpSpPr>
        <p:grpSpPr>
          <a:xfrm>
            <a:off x="960120" y="1214126"/>
            <a:ext cx="8183880" cy="718073"/>
            <a:chOff x="0" y="0"/>
            <a:chExt cx="10911840" cy="957431"/>
          </a:xfrm>
        </p:grpSpPr>
        <p:sp>
          <p:nvSpPr>
            <p:cNvPr id="403" name="Freeform 6">
              <a:extLst>
                <a:ext uri="{FF2B5EF4-FFF2-40B4-BE49-F238E27FC236}">
                  <a16:creationId xmlns:a16="http://schemas.microsoft.com/office/drawing/2014/main" id="{E21EDB95-7B99-3F02-371C-A242C71EBED1}"/>
                </a:ext>
              </a:extLst>
            </p:cNvPr>
            <p:cNvSpPr/>
            <p:nvPr/>
          </p:nvSpPr>
          <p:spPr>
            <a:xfrm>
              <a:off x="0" y="0"/>
              <a:ext cx="10911840" cy="957431"/>
            </a:xfrm>
            <a:custGeom>
              <a:avLst/>
              <a:gdLst/>
              <a:ahLst/>
              <a:cxnLst/>
              <a:rect l="l" t="t" r="r" b="b"/>
              <a:pathLst>
                <a:path w="10911840" h="957431">
                  <a:moveTo>
                    <a:pt x="0" y="0"/>
                  </a:moveTo>
                  <a:lnTo>
                    <a:pt x="10911840" y="0"/>
                  </a:lnTo>
                  <a:lnTo>
                    <a:pt x="10911840" y="957431"/>
                  </a:lnTo>
                  <a:lnTo>
                    <a:pt x="0" y="957431"/>
                  </a:lnTo>
                  <a:close/>
                </a:path>
              </a:pathLst>
            </a:custGeom>
            <a:blipFill>
              <a:blip r:embed="rId3">
                <a:alphaModFix amt="0"/>
              </a:blip>
              <a:stretch>
                <a:fillRect t="-300064" r="-75977" b="-381525"/>
              </a:stretch>
            </a:blipFill>
          </p:spPr>
          <p:txBody>
            <a:bodyPr/>
            <a:lstStyle/>
            <a:p>
              <a:endParaRPr lang="en-US"/>
            </a:p>
          </p:txBody>
        </p:sp>
        <p:sp>
          <p:nvSpPr>
            <p:cNvPr id="404" name="TextBox 7">
              <a:extLst>
                <a:ext uri="{FF2B5EF4-FFF2-40B4-BE49-F238E27FC236}">
                  <a16:creationId xmlns:a16="http://schemas.microsoft.com/office/drawing/2014/main" id="{9C8D844B-B5AE-72DC-1D96-1A0ED004B0B3}"/>
                </a:ext>
              </a:extLst>
            </p:cNvPr>
            <p:cNvSpPr txBox="1"/>
            <p:nvPr/>
          </p:nvSpPr>
          <p:spPr>
            <a:xfrm>
              <a:off x="0" y="19050"/>
              <a:ext cx="10911840" cy="938381"/>
            </a:xfrm>
            <a:prstGeom prst="rect">
              <a:avLst/>
            </a:prstGeom>
          </p:spPr>
          <p:txBody>
            <a:bodyPr lIns="0" tIns="0" rIns="0" bIns="0" rtlCol="0" anchor="ctr"/>
            <a:lstStyle/>
            <a:p>
              <a:pPr algn="l">
                <a:lnSpc>
                  <a:spcPts val="3733"/>
                </a:lnSpc>
              </a:pPr>
              <a:r>
                <a:rPr lang="en-US" sz="3500" b="1">
                  <a:solidFill>
                    <a:srgbClr val="FFDE59"/>
                  </a:solidFill>
                  <a:latin typeface="Arial Bold"/>
                  <a:ea typeface="Arial Bold"/>
                  <a:cs typeface="Arial Bold"/>
                  <a:sym typeface="Arial Bold"/>
                </a:rPr>
                <a:t>BeReal.</a:t>
              </a:r>
            </a:p>
          </p:txBody>
        </p:sp>
      </p:grpSp>
      <p:grpSp>
        <p:nvGrpSpPr>
          <p:cNvPr id="405" name="Group 8">
            <a:extLst>
              <a:ext uri="{FF2B5EF4-FFF2-40B4-BE49-F238E27FC236}">
                <a16:creationId xmlns:a16="http://schemas.microsoft.com/office/drawing/2014/main" id="{128AD7B5-259A-8940-308C-620625FB6ABF}"/>
              </a:ext>
            </a:extLst>
          </p:cNvPr>
          <p:cNvGrpSpPr/>
          <p:nvPr/>
        </p:nvGrpSpPr>
        <p:grpSpPr>
          <a:xfrm>
            <a:off x="960120" y="2114645"/>
            <a:ext cx="10972800" cy="480060"/>
            <a:chOff x="0" y="0"/>
            <a:chExt cx="14630400" cy="640080"/>
          </a:xfrm>
        </p:grpSpPr>
        <p:sp>
          <p:nvSpPr>
            <p:cNvPr id="406" name="Freeform 9">
              <a:extLst>
                <a:ext uri="{FF2B5EF4-FFF2-40B4-BE49-F238E27FC236}">
                  <a16:creationId xmlns:a16="http://schemas.microsoft.com/office/drawing/2014/main" id="{9101670E-AA3C-76C2-BF97-F31DDFAEAB7C}"/>
                </a:ext>
              </a:extLst>
            </p:cNvPr>
            <p:cNvSpPr/>
            <p:nvPr/>
          </p:nvSpPr>
          <p:spPr>
            <a:xfrm>
              <a:off x="0" y="0"/>
              <a:ext cx="14630400" cy="640080"/>
            </a:xfrm>
            <a:custGeom>
              <a:avLst/>
              <a:gdLst/>
              <a:ahLst/>
              <a:cxnLst/>
              <a:rect l="l" t="t" r="r" b="b"/>
              <a:pathLst>
                <a:path w="14630400" h="640080">
                  <a:moveTo>
                    <a:pt x="0" y="0"/>
                  </a:moveTo>
                  <a:lnTo>
                    <a:pt x="14630400" y="0"/>
                  </a:lnTo>
                  <a:lnTo>
                    <a:pt x="14630400" y="640080"/>
                  </a:lnTo>
                  <a:lnTo>
                    <a:pt x="0" y="640080"/>
                  </a:lnTo>
                  <a:close/>
                </a:path>
              </a:pathLst>
            </a:custGeom>
            <a:blipFill>
              <a:blip r:embed="rId3">
                <a:alphaModFix amt="0"/>
              </a:blip>
              <a:stretch>
                <a:fillRect t="-395372" b="-395372"/>
              </a:stretch>
            </a:blipFill>
          </p:spPr>
          <p:txBody>
            <a:bodyPr/>
            <a:lstStyle/>
            <a:p>
              <a:endParaRPr lang="en-US"/>
            </a:p>
          </p:txBody>
        </p:sp>
        <p:sp>
          <p:nvSpPr>
            <p:cNvPr id="407" name="TextBox 10">
              <a:extLst>
                <a:ext uri="{FF2B5EF4-FFF2-40B4-BE49-F238E27FC236}">
                  <a16:creationId xmlns:a16="http://schemas.microsoft.com/office/drawing/2014/main" id="{A723E3FB-42DE-33FB-76CC-445C89847D34}"/>
                </a:ext>
              </a:extLst>
            </p:cNvPr>
            <p:cNvSpPr txBox="1"/>
            <p:nvPr/>
          </p:nvSpPr>
          <p:spPr>
            <a:xfrm>
              <a:off x="0" y="-19050"/>
              <a:ext cx="14630400" cy="659130"/>
            </a:xfrm>
            <a:prstGeom prst="rect">
              <a:avLst/>
            </a:prstGeom>
          </p:spPr>
          <p:txBody>
            <a:bodyPr lIns="0" tIns="0" rIns="0" bIns="0" rtlCol="0" anchor="ctr"/>
            <a:lstStyle/>
            <a:p>
              <a:pPr algn="l">
                <a:lnSpc>
                  <a:spcPts val="2160"/>
                </a:lnSpc>
              </a:pPr>
              <a:r>
                <a:rPr lang="en-US" sz="1800" b="1" spc="450">
                  <a:solidFill>
                    <a:srgbClr val="FFFFFF"/>
                  </a:solidFill>
                  <a:latin typeface="Arial Bold"/>
                  <a:ea typeface="Arial Bold"/>
                  <a:cs typeface="Arial Bold"/>
                  <a:sym typeface="Arial Bold"/>
                </a:rPr>
                <a:t>BEREAL PASSPORT &amp; COMMUNITY BOARDS</a:t>
              </a:r>
            </a:p>
          </p:txBody>
        </p:sp>
      </p:gr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2" name="TextBox 2"/>
          <p:cNvSpPr txBox="1"/>
          <p:nvPr/>
        </p:nvSpPr>
        <p:spPr>
          <a:xfrm>
            <a:off x="960120" y="666750"/>
            <a:ext cx="16367760" cy="206467"/>
          </a:xfrm>
          <a:prstGeom prst="rect">
            <a:avLst/>
          </a:prstGeom>
        </p:spPr>
        <p:txBody>
          <a:bodyPr lIns="0" tIns="0" rIns="0" bIns="0" rtlCol="0" anchor="t">
            <a:spAutoFit/>
          </a:bodyPr>
          <a:lstStyle/>
          <a:p>
            <a:pPr algn="l">
              <a:lnSpc>
                <a:spcPts val="1559"/>
              </a:lnSpc>
            </a:pPr>
            <a:r>
              <a:rPr lang="en-US" b="1" spc="599">
                <a:solidFill>
                  <a:srgbClr val="93A9CF"/>
                </a:solidFill>
                <a:latin typeface="Arial Bold"/>
                <a:ea typeface="Arial Bold"/>
                <a:cs typeface="Arial Bold"/>
                <a:sym typeface="Arial Bold"/>
              </a:rPr>
              <a:t>DESIGN DECISIONS</a:t>
            </a:r>
          </a:p>
        </p:txBody>
      </p:sp>
      <p:sp>
        <p:nvSpPr>
          <p:cNvPr id="3" name="TextBox 3"/>
          <p:cNvSpPr txBox="1"/>
          <p:nvPr/>
        </p:nvSpPr>
        <p:spPr>
          <a:xfrm>
            <a:off x="960120" y="1179195"/>
            <a:ext cx="16367760" cy="578428"/>
          </a:xfrm>
          <a:prstGeom prst="rect">
            <a:avLst/>
          </a:prstGeom>
        </p:spPr>
        <p:txBody>
          <a:bodyPr lIns="0" tIns="0" rIns="0" bIns="0" rtlCol="0" anchor="t">
            <a:spAutoFit/>
          </a:bodyPr>
          <a:lstStyle/>
          <a:p>
            <a:pPr algn="l">
              <a:lnSpc>
                <a:spcPts val="4799"/>
              </a:lnSpc>
            </a:pPr>
            <a:r>
              <a:rPr lang="en-US" sz="3999" b="1" dirty="0">
                <a:solidFill>
                  <a:srgbClr val="FFFFFF"/>
                </a:solidFill>
                <a:latin typeface="Arial Bold"/>
                <a:ea typeface="Arial Bold"/>
                <a:cs typeface="Arial Bold"/>
                <a:sym typeface="Arial Bold"/>
              </a:rPr>
              <a:t>Key Decisions And Their Trade-offs</a:t>
            </a:r>
          </a:p>
        </p:txBody>
      </p:sp>
      <p:sp>
        <p:nvSpPr>
          <p:cNvPr id="4" name="TextBox 4"/>
          <p:cNvSpPr txBox="1"/>
          <p:nvPr/>
        </p:nvSpPr>
        <p:spPr>
          <a:xfrm>
            <a:off x="1325880" y="2495550"/>
            <a:ext cx="5120640" cy="339090"/>
          </a:xfrm>
          <a:prstGeom prst="rect">
            <a:avLst/>
          </a:prstGeom>
        </p:spPr>
        <p:txBody>
          <a:bodyPr lIns="0" tIns="0" rIns="0" bIns="0" rtlCol="0" anchor="t">
            <a:spAutoFit/>
          </a:bodyPr>
          <a:lstStyle/>
          <a:p>
            <a:pPr algn="l">
              <a:lnSpc>
                <a:spcPts val="1559"/>
              </a:lnSpc>
            </a:pPr>
            <a:r>
              <a:rPr lang="en-US" sz="1299" b="1" spc="399">
                <a:solidFill>
                  <a:srgbClr val="FFDE59"/>
                </a:solidFill>
                <a:latin typeface="Arial Bold"/>
                <a:ea typeface="Arial Bold"/>
                <a:cs typeface="Arial Bold"/>
                <a:sym typeface="Arial Bold"/>
              </a:rPr>
              <a:t>DECISION</a:t>
            </a:r>
          </a:p>
        </p:txBody>
      </p:sp>
      <p:sp>
        <p:nvSpPr>
          <p:cNvPr id="5" name="TextBox 5"/>
          <p:cNvSpPr txBox="1"/>
          <p:nvPr/>
        </p:nvSpPr>
        <p:spPr>
          <a:xfrm>
            <a:off x="6812280" y="2495550"/>
            <a:ext cx="5669280" cy="339090"/>
          </a:xfrm>
          <a:prstGeom prst="rect">
            <a:avLst/>
          </a:prstGeom>
        </p:spPr>
        <p:txBody>
          <a:bodyPr lIns="0" tIns="0" rIns="0" bIns="0" rtlCol="0" anchor="t">
            <a:spAutoFit/>
          </a:bodyPr>
          <a:lstStyle/>
          <a:p>
            <a:pPr algn="l">
              <a:lnSpc>
                <a:spcPts val="1559"/>
              </a:lnSpc>
            </a:pPr>
            <a:r>
              <a:rPr lang="en-US" sz="1299" b="1" spc="399">
                <a:solidFill>
                  <a:srgbClr val="FFDE59"/>
                </a:solidFill>
                <a:latin typeface="Arial Bold"/>
                <a:ea typeface="Arial Bold"/>
                <a:cs typeface="Arial Bold"/>
                <a:sym typeface="Arial Bold"/>
              </a:rPr>
              <a:t>WHY</a:t>
            </a:r>
          </a:p>
        </p:txBody>
      </p:sp>
      <p:sp>
        <p:nvSpPr>
          <p:cNvPr id="6" name="TextBox 6"/>
          <p:cNvSpPr txBox="1"/>
          <p:nvPr/>
        </p:nvSpPr>
        <p:spPr>
          <a:xfrm>
            <a:off x="12847320" y="2495550"/>
            <a:ext cx="4114800" cy="339090"/>
          </a:xfrm>
          <a:prstGeom prst="rect">
            <a:avLst/>
          </a:prstGeom>
        </p:spPr>
        <p:txBody>
          <a:bodyPr lIns="0" tIns="0" rIns="0" bIns="0" rtlCol="0" anchor="t">
            <a:spAutoFit/>
          </a:bodyPr>
          <a:lstStyle/>
          <a:p>
            <a:pPr algn="l">
              <a:lnSpc>
                <a:spcPts val="1559"/>
              </a:lnSpc>
            </a:pPr>
            <a:r>
              <a:rPr lang="en-US" sz="1299" b="1" spc="399">
                <a:solidFill>
                  <a:srgbClr val="FFDE59"/>
                </a:solidFill>
                <a:latin typeface="Arial Bold"/>
                <a:ea typeface="Arial Bold"/>
                <a:cs typeface="Arial Bold"/>
                <a:sym typeface="Arial Bold"/>
              </a:rPr>
              <a:t>TRADE-OFF</a:t>
            </a:r>
          </a:p>
        </p:txBody>
      </p:sp>
      <p:grpSp>
        <p:nvGrpSpPr>
          <p:cNvPr id="7" name="Group 7"/>
          <p:cNvGrpSpPr/>
          <p:nvPr/>
        </p:nvGrpSpPr>
        <p:grpSpPr>
          <a:xfrm>
            <a:off x="960120" y="2971800"/>
            <a:ext cx="16367760" cy="1051560"/>
            <a:chOff x="0" y="0"/>
            <a:chExt cx="21823680" cy="1402080"/>
          </a:xfrm>
        </p:grpSpPr>
        <p:sp>
          <p:nvSpPr>
            <p:cNvPr id="8" name="Freeform 8"/>
            <p:cNvSpPr/>
            <p:nvPr/>
          </p:nvSpPr>
          <p:spPr>
            <a:xfrm>
              <a:off x="0" y="0"/>
              <a:ext cx="21823680" cy="1402080"/>
            </a:xfrm>
            <a:custGeom>
              <a:avLst/>
              <a:gdLst/>
              <a:ahLst/>
              <a:cxnLst/>
              <a:rect l="l" t="t" r="r" b="b"/>
              <a:pathLst>
                <a:path w="21823680" h="1402080">
                  <a:moveTo>
                    <a:pt x="0" y="146304"/>
                  </a:moveTo>
                  <a:cubicBezTo>
                    <a:pt x="0" y="65532"/>
                    <a:pt x="65532" y="0"/>
                    <a:pt x="146304" y="0"/>
                  </a:cubicBezTo>
                  <a:lnTo>
                    <a:pt x="21677376" y="0"/>
                  </a:lnTo>
                  <a:cubicBezTo>
                    <a:pt x="21758148" y="0"/>
                    <a:pt x="21823680" y="65532"/>
                    <a:pt x="21823680" y="146304"/>
                  </a:cubicBezTo>
                  <a:lnTo>
                    <a:pt x="21823680" y="1255776"/>
                  </a:lnTo>
                  <a:cubicBezTo>
                    <a:pt x="21823680" y="1336548"/>
                    <a:pt x="21758148" y="1402080"/>
                    <a:pt x="21677376" y="1402080"/>
                  </a:cubicBezTo>
                  <a:lnTo>
                    <a:pt x="146304" y="1402080"/>
                  </a:lnTo>
                  <a:cubicBezTo>
                    <a:pt x="65532" y="1402080"/>
                    <a:pt x="0" y="1336548"/>
                    <a:pt x="0" y="1255776"/>
                  </a:cubicBezTo>
                  <a:close/>
                </a:path>
              </a:pathLst>
            </a:custGeom>
            <a:solidFill>
              <a:srgbClr val="222222"/>
            </a:solidFill>
          </p:spPr>
          <p:txBody>
            <a:bodyPr/>
            <a:lstStyle/>
            <a:p>
              <a:endParaRPr lang="en-US"/>
            </a:p>
          </p:txBody>
        </p:sp>
      </p:grpSp>
      <p:grpSp>
        <p:nvGrpSpPr>
          <p:cNvPr id="9" name="Group 9"/>
          <p:cNvGrpSpPr/>
          <p:nvPr/>
        </p:nvGrpSpPr>
        <p:grpSpPr>
          <a:xfrm>
            <a:off x="1325880" y="2971800"/>
            <a:ext cx="5120640" cy="1051560"/>
            <a:chOff x="0" y="0"/>
            <a:chExt cx="6827520" cy="1402080"/>
          </a:xfrm>
        </p:grpSpPr>
        <p:sp>
          <p:nvSpPr>
            <p:cNvPr id="10" name="Freeform 10"/>
            <p:cNvSpPr/>
            <p:nvPr/>
          </p:nvSpPr>
          <p:spPr>
            <a:xfrm>
              <a:off x="0" y="0"/>
              <a:ext cx="6827520" cy="1402080"/>
            </a:xfrm>
            <a:custGeom>
              <a:avLst/>
              <a:gdLst/>
              <a:ahLst/>
              <a:cxnLst/>
              <a:rect l="l" t="t" r="r" b="b"/>
              <a:pathLst>
                <a:path w="6827520" h="1402080">
                  <a:moveTo>
                    <a:pt x="0" y="0"/>
                  </a:moveTo>
                  <a:lnTo>
                    <a:pt x="6827520" y="0"/>
                  </a:lnTo>
                  <a:lnTo>
                    <a:pt x="6827520" y="1402080"/>
                  </a:lnTo>
                  <a:lnTo>
                    <a:pt x="0" y="1402080"/>
                  </a:lnTo>
                  <a:close/>
                </a:path>
              </a:pathLst>
            </a:custGeom>
            <a:blipFill>
              <a:blip r:embed="rId3">
                <a:alphaModFix amt="0"/>
              </a:blip>
              <a:stretch>
                <a:fillRect t="-44883" b="-44883"/>
              </a:stretch>
            </a:blipFill>
          </p:spPr>
          <p:txBody>
            <a:bodyPr/>
            <a:lstStyle/>
            <a:p>
              <a:endParaRPr lang="en-US"/>
            </a:p>
          </p:txBody>
        </p:sp>
        <p:sp>
          <p:nvSpPr>
            <p:cNvPr id="11" name="TextBox 11"/>
            <p:cNvSpPr txBox="1"/>
            <p:nvPr/>
          </p:nvSpPr>
          <p:spPr>
            <a:xfrm>
              <a:off x="0" y="-19050"/>
              <a:ext cx="6827520" cy="1421130"/>
            </a:xfrm>
            <a:prstGeom prst="rect">
              <a:avLst/>
            </a:prstGeom>
          </p:spPr>
          <p:txBody>
            <a:bodyPr lIns="0" tIns="0" rIns="0" bIns="0" rtlCol="0" anchor="ctr"/>
            <a:lstStyle/>
            <a:p>
              <a:pPr algn="l">
                <a:lnSpc>
                  <a:spcPts val="2160"/>
                </a:lnSpc>
              </a:pPr>
              <a:r>
                <a:rPr lang="en-US" sz="1800" b="1">
                  <a:solidFill>
                    <a:srgbClr val="FFFFFF"/>
                  </a:solidFill>
                  <a:latin typeface="Arial Bold"/>
                  <a:ea typeface="Arial Bold"/>
                  <a:cs typeface="Arial Bold"/>
                  <a:sym typeface="Arial Bold"/>
                </a:rPr>
                <a:t>Pick a board after the photo</a:t>
              </a:r>
            </a:p>
          </p:txBody>
        </p:sp>
      </p:grpSp>
      <p:grpSp>
        <p:nvGrpSpPr>
          <p:cNvPr id="12" name="Group 12"/>
          <p:cNvGrpSpPr/>
          <p:nvPr/>
        </p:nvGrpSpPr>
        <p:grpSpPr>
          <a:xfrm>
            <a:off x="6812280" y="2971800"/>
            <a:ext cx="5669280" cy="1051560"/>
            <a:chOff x="0" y="0"/>
            <a:chExt cx="7559040" cy="1402080"/>
          </a:xfrm>
        </p:grpSpPr>
        <p:sp>
          <p:nvSpPr>
            <p:cNvPr id="13" name="Freeform 13"/>
            <p:cNvSpPr/>
            <p:nvPr/>
          </p:nvSpPr>
          <p:spPr>
            <a:xfrm>
              <a:off x="0" y="0"/>
              <a:ext cx="7559040" cy="1402080"/>
            </a:xfrm>
            <a:custGeom>
              <a:avLst/>
              <a:gdLst/>
              <a:ahLst/>
              <a:cxnLst/>
              <a:rect l="l" t="t" r="r" b="b"/>
              <a:pathLst>
                <a:path w="7559040" h="1402080">
                  <a:moveTo>
                    <a:pt x="0" y="0"/>
                  </a:moveTo>
                  <a:lnTo>
                    <a:pt x="7559040" y="0"/>
                  </a:lnTo>
                  <a:lnTo>
                    <a:pt x="7559040" y="1402080"/>
                  </a:lnTo>
                  <a:lnTo>
                    <a:pt x="0" y="1402080"/>
                  </a:lnTo>
                  <a:close/>
                </a:path>
              </a:pathLst>
            </a:custGeom>
            <a:blipFill>
              <a:blip r:embed="rId3">
                <a:alphaModFix amt="0"/>
              </a:blip>
              <a:stretch>
                <a:fillRect t="-55049" b="-55049"/>
              </a:stretch>
            </a:blipFill>
          </p:spPr>
          <p:txBody>
            <a:bodyPr/>
            <a:lstStyle/>
            <a:p>
              <a:endParaRPr lang="en-US"/>
            </a:p>
          </p:txBody>
        </p:sp>
        <p:sp>
          <p:nvSpPr>
            <p:cNvPr id="14" name="TextBox 14"/>
            <p:cNvSpPr txBox="1"/>
            <p:nvPr/>
          </p:nvSpPr>
          <p:spPr>
            <a:xfrm>
              <a:off x="0" y="-28575"/>
              <a:ext cx="7559040" cy="1430655"/>
            </a:xfrm>
            <a:prstGeom prst="rect">
              <a:avLst/>
            </a:prstGeom>
          </p:spPr>
          <p:txBody>
            <a:bodyPr lIns="0" tIns="0" rIns="0" bIns="0" rtlCol="0" anchor="ctr"/>
            <a:lstStyle/>
            <a:p>
              <a:pPr algn="l">
                <a:lnSpc>
                  <a:spcPts val="1919"/>
                </a:lnSpc>
              </a:pPr>
              <a:r>
                <a:rPr lang="en-US" sz="1599">
                  <a:solidFill>
                    <a:srgbClr val="FFFFFF"/>
                  </a:solidFill>
                  <a:latin typeface="Calibri (MS)"/>
                  <a:ea typeface="Calibri (MS)"/>
                  <a:cs typeface="Calibri (MS)"/>
                  <a:sym typeface="Calibri (MS)"/>
                </a:rPr>
                <a:t>Capture stays instant, exactly like BeReal today</a:t>
              </a:r>
            </a:p>
          </p:txBody>
        </p:sp>
      </p:grpSp>
      <p:grpSp>
        <p:nvGrpSpPr>
          <p:cNvPr id="15" name="Group 15"/>
          <p:cNvGrpSpPr/>
          <p:nvPr/>
        </p:nvGrpSpPr>
        <p:grpSpPr>
          <a:xfrm>
            <a:off x="12847320" y="2971800"/>
            <a:ext cx="4114800" cy="1051560"/>
            <a:chOff x="0" y="0"/>
            <a:chExt cx="5486400" cy="1402080"/>
          </a:xfrm>
        </p:grpSpPr>
        <p:sp>
          <p:nvSpPr>
            <p:cNvPr id="16" name="Freeform 16"/>
            <p:cNvSpPr/>
            <p:nvPr/>
          </p:nvSpPr>
          <p:spPr>
            <a:xfrm>
              <a:off x="0" y="0"/>
              <a:ext cx="5486400" cy="1402080"/>
            </a:xfrm>
            <a:custGeom>
              <a:avLst/>
              <a:gdLst/>
              <a:ahLst/>
              <a:cxnLst/>
              <a:rect l="l" t="t" r="r" b="b"/>
              <a:pathLst>
                <a:path w="5486400" h="1402080">
                  <a:moveTo>
                    <a:pt x="0" y="0"/>
                  </a:moveTo>
                  <a:lnTo>
                    <a:pt x="5486400" y="0"/>
                  </a:lnTo>
                  <a:lnTo>
                    <a:pt x="5486400" y="1402080"/>
                  </a:lnTo>
                  <a:lnTo>
                    <a:pt x="0" y="1402080"/>
                  </a:lnTo>
                  <a:close/>
                </a:path>
              </a:pathLst>
            </a:custGeom>
            <a:blipFill>
              <a:blip r:embed="rId3">
                <a:alphaModFix amt="0"/>
              </a:blip>
              <a:stretch>
                <a:fillRect t="-26245" b="-26245"/>
              </a:stretch>
            </a:blipFill>
          </p:spPr>
          <p:txBody>
            <a:bodyPr/>
            <a:lstStyle/>
            <a:p>
              <a:endParaRPr lang="en-US"/>
            </a:p>
          </p:txBody>
        </p:sp>
        <p:sp>
          <p:nvSpPr>
            <p:cNvPr id="17" name="TextBox 17"/>
            <p:cNvSpPr txBox="1"/>
            <p:nvPr/>
          </p:nvSpPr>
          <p:spPr>
            <a:xfrm>
              <a:off x="0" y="-28575"/>
              <a:ext cx="5486400" cy="1430655"/>
            </a:xfrm>
            <a:prstGeom prst="rect">
              <a:avLst/>
            </a:prstGeom>
          </p:spPr>
          <p:txBody>
            <a:bodyPr lIns="0" tIns="0" rIns="0" bIns="0" rtlCol="0" anchor="ctr"/>
            <a:lstStyle/>
            <a:p>
              <a:pPr algn="l">
                <a:lnSpc>
                  <a:spcPts val="1919"/>
                </a:lnSpc>
              </a:pPr>
              <a:r>
                <a:rPr lang="en-US" sz="1599">
                  <a:solidFill>
                    <a:srgbClr val="B4B4BC"/>
                  </a:solidFill>
                  <a:latin typeface="Calibri (MS)"/>
                  <a:ea typeface="Calibri (MS)"/>
                  <a:cs typeface="Calibri (MS)"/>
                  <a:sym typeface="Calibri (MS)"/>
                </a:rPr>
                <a:t>One extra step; testers noticed the taps</a:t>
              </a:r>
            </a:p>
          </p:txBody>
        </p:sp>
      </p:grpSp>
      <p:grpSp>
        <p:nvGrpSpPr>
          <p:cNvPr id="18" name="Group 18"/>
          <p:cNvGrpSpPr/>
          <p:nvPr/>
        </p:nvGrpSpPr>
        <p:grpSpPr>
          <a:xfrm>
            <a:off x="960120" y="4187952"/>
            <a:ext cx="16367760" cy="1051560"/>
            <a:chOff x="0" y="0"/>
            <a:chExt cx="21823680" cy="1402080"/>
          </a:xfrm>
        </p:grpSpPr>
        <p:sp>
          <p:nvSpPr>
            <p:cNvPr id="19" name="Freeform 19"/>
            <p:cNvSpPr/>
            <p:nvPr/>
          </p:nvSpPr>
          <p:spPr>
            <a:xfrm>
              <a:off x="0" y="0"/>
              <a:ext cx="21823680" cy="1402080"/>
            </a:xfrm>
            <a:custGeom>
              <a:avLst/>
              <a:gdLst/>
              <a:ahLst/>
              <a:cxnLst/>
              <a:rect l="l" t="t" r="r" b="b"/>
              <a:pathLst>
                <a:path w="21823680" h="1402080">
                  <a:moveTo>
                    <a:pt x="0" y="146304"/>
                  </a:moveTo>
                  <a:cubicBezTo>
                    <a:pt x="0" y="65532"/>
                    <a:pt x="65532" y="0"/>
                    <a:pt x="146304" y="0"/>
                  </a:cubicBezTo>
                  <a:lnTo>
                    <a:pt x="21677376" y="0"/>
                  </a:lnTo>
                  <a:cubicBezTo>
                    <a:pt x="21758148" y="0"/>
                    <a:pt x="21823680" y="65532"/>
                    <a:pt x="21823680" y="146304"/>
                  </a:cubicBezTo>
                  <a:lnTo>
                    <a:pt x="21823680" y="1255776"/>
                  </a:lnTo>
                  <a:cubicBezTo>
                    <a:pt x="21823680" y="1336548"/>
                    <a:pt x="21758148" y="1402080"/>
                    <a:pt x="21677376" y="1402080"/>
                  </a:cubicBezTo>
                  <a:lnTo>
                    <a:pt x="146304" y="1402080"/>
                  </a:lnTo>
                  <a:cubicBezTo>
                    <a:pt x="65532" y="1402080"/>
                    <a:pt x="0" y="1336548"/>
                    <a:pt x="0" y="1255776"/>
                  </a:cubicBezTo>
                  <a:close/>
                </a:path>
              </a:pathLst>
            </a:custGeom>
            <a:solidFill>
              <a:srgbClr val="222222"/>
            </a:solidFill>
          </p:spPr>
          <p:txBody>
            <a:bodyPr/>
            <a:lstStyle/>
            <a:p>
              <a:endParaRPr lang="en-US"/>
            </a:p>
          </p:txBody>
        </p:sp>
      </p:grpSp>
      <p:grpSp>
        <p:nvGrpSpPr>
          <p:cNvPr id="20" name="Group 20"/>
          <p:cNvGrpSpPr/>
          <p:nvPr/>
        </p:nvGrpSpPr>
        <p:grpSpPr>
          <a:xfrm>
            <a:off x="1325880" y="4187952"/>
            <a:ext cx="5120640" cy="1051560"/>
            <a:chOff x="0" y="0"/>
            <a:chExt cx="6827520" cy="1402080"/>
          </a:xfrm>
        </p:grpSpPr>
        <p:sp>
          <p:nvSpPr>
            <p:cNvPr id="21" name="Freeform 21"/>
            <p:cNvSpPr/>
            <p:nvPr/>
          </p:nvSpPr>
          <p:spPr>
            <a:xfrm>
              <a:off x="0" y="0"/>
              <a:ext cx="6827520" cy="1402080"/>
            </a:xfrm>
            <a:custGeom>
              <a:avLst/>
              <a:gdLst/>
              <a:ahLst/>
              <a:cxnLst/>
              <a:rect l="l" t="t" r="r" b="b"/>
              <a:pathLst>
                <a:path w="6827520" h="1402080">
                  <a:moveTo>
                    <a:pt x="0" y="0"/>
                  </a:moveTo>
                  <a:lnTo>
                    <a:pt x="6827520" y="0"/>
                  </a:lnTo>
                  <a:lnTo>
                    <a:pt x="6827520" y="1402080"/>
                  </a:lnTo>
                  <a:lnTo>
                    <a:pt x="0" y="1402080"/>
                  </a:lnTo>
                  <a:close/>
                </a:path>
              </a:pathLst>
            </a:custGeom>
            <a:blipFill>
              <a:blip r:embed="rId3">
                <a:alphaModFix amt="0"/>
              </a:blip>
              <a:stretch>
                <a:fillRect t="-44883" b="-44883"/>
              </a:stretch>
            </a:blipFill>
          </p:spPr>
          <p:txBody>
            <a:bodyPr/>
            <a:lstStyle/>
            <a:p>
              <a:endParaRPr lang="en-US"/>
            </a:p>
          </p:txBody>
        </p:sp>
        <p:sp>
          <p:nvSpPr>
            <p:cNvPr id="22" name="TextBox 22"/>
            <p:cNvSpPr txBox="1"/>
            <p:nvPr/>
          </p:nvSpPr>
          <p:spPr>
            <a:xfrm>
              <a:off x="0" y="-19050"/>
              <a:ext cx="6827520" cy="1421130"/>
            </a:xfrm>
            <a:prstGeom prst="rect">
              <a:avLst/>
            </a:prstGeom>
          </p:spPr>
          <p:txBody>
            <a:bodyPr lIns="0" tIns="0" rIns="0" bIns="0" rtlCol="0" anchor="ctr"/>
            <a:lstStyle/>
            <a:p>
              <a:pPr algn="l">
                <a:lnSpc>
                  <a:spcPts val="2160"/>
                </a:lnSpc>
              </a:pPr>
              <a:r>
                <a:rPr lang="en-US" sz="1800" b="1">
                  <a:solidFill>
                    <a:srgbClr val="FFFFFF"/>
                  </a:solidFill>
                  <a:latin typeface="Arial Bold"/>
                  <a:ea typeface="Arial Bold"/>
                  <a:cs typeface="Arial Bold"/>
                  <a:sym typeface="Arial Bold"/>
                </a:rPr>
                <a:t>Opt-in only</a:t>
              </a:r>
            </a:p>
          </p:txBody>
        </p:sp>
      </p:grpSp>
      <p:grpSp>
        <p:nvGrpSpPr>
          <p:cNvPr id="23" name="Group 23"/>
          <p:cNvGrpSpPr/>
          <p:nvPr/>
        </p:nvGrpSpPr>
        <p:grpSpPr>
          <a:xfrm>
            <a:off x="6812280" y="4187952"/>
            <a:ext cx="5669280" cy="1051560"/>
            <a:chOff x="0" y="0"/>
            <a:chExt cx="7559040" cy="1402080"/>
          </a:xfrm>
        </p:grpSpPr>
        <p:sp>
          <p:nvSpPr>
            <p:cNvPr id="24" name="Freeform 24"/>
            <p:cNvSpPr/>
            <p:nvPr/>
          </p:nvSpPr>
          <p:spPr>
            <a:xfrm>
              <a:off x="0" y="0"/>
              <a:ext cx="7559040" cy="1402080"/>
            </a:xfrm>
            <a:custGeom>
              <a:avLst/>
              <a:gdLst/>
              <a:ahLst/>
              <a:cxnLst/>
              <a:rect l="l" t="t" r="r" b="b"/>
              <a:pathLst>
                <a:path w="7559040" h="1402080">
                  <a:moveTo>
                    <a:pt x="0" y="0"/>
                  </a:moveTo>
                  <a:lnTo>
                    <a:pt x="7559040" y="0"/>
                  </a:lnTo>
                  <a:lnTo>
                    <a:pt x="7559040" y="1402080"/>
                  </a:lnTo>
                  <a:lnTo>
                    <a:pt x="0" y="1402080"/>
                  </a:lnTo>
                  <a:close/>
                </a:path>
              </a:pathLst>
            </a:custGeom>
            <a:blipFill>
              <a:blip r:embed="rId3">
                <a:alphaModFix amt="0"/>
              </a:blip>
              <a:stretch>
                <a:fillRect t="-55049" b="-55049"/>
              </a:stretch>
            </a:blipFill>
          </p:spPr>
          <p:txBody>
            <a:bodyPr/>
            <a:lstStyle/>
            <a:p>
              <a:endParaRPr lang="en-US"/>
            </a:p>
          </p:txBody>
        </p:sp>
        <p:sp>
          <p:nvSpPr>
            <p:cNvPr id="25" name="TextBox 25"/>
            <p:cNvSpPr txBox="1"/>
            <p:nvPr/>
          </p:nvSpPr>
          <p:spPr>
            <a:xfrm>
              <a:off x="0" y="-28575"/>
              <a:ext cx="7559040" cy="1430655"/>
            </a:xfrm>
            <a:prstGeom prst="rect">
              <a:avLst/>
            </a:prstGeom>
          </p:spPr>
          <p:txBody>
            <a:bodyPr lIns="0" tIns="0" rIns="0" bIns="0" rtlCol="0" anchor="ctr"/>
            <a:lstStyle/>
            <a:p>
              <a:pPr algn="l">
                <a:lnSpc>
                  <a:spcPts val="1919"/>
                </a:lnSpc>
              </a:pPr>
              <a:r>
                <a:rPr lang="en-US" sz="1599">
                  <a:solidFill>
                    <a:srgbClr val="FFFFFF"/>
                  </a:solidFill>
                  <a:latin typeface="Calibri (MS)"/>
                  <a:ea typeface="Calibri (MS)"/>
                  <a:cs typeface="Calibri (MS)"/>
                  <a:sym typeface="Calibri (MS)"/>
                </a:rPr>
                <a:t>No one is pushed into boards; random posts still work</a:t>
              </a:r>
            </a:p>
          </p:txBody>
        </p:sp>
      </p:grpSp>
      <p:grpSp>
        <p:nvGrpSpPr>
          <p:cNvPr id="26" name="Group 26"/>
          <p:cNvGrpSpPr/>
          <p:nvPr/>
        </p:nvGrpSpPr>
        <p:grpSpPr>
          <a:xfrm>
            <a:off x="12847320" y="4187952"/>
            <a:ext cx="4114800" cy="1051560"/>
            <a:chOff x="0" y="0"/>
            <a:chExt cx="5486400" cy="1402080"/>
          </a:xfrm>
        </p:grpSpPr>
        <p:sp>
          <p:nvSpPr>
            <p:cNvPr id="27" name="Freeform 27"/>
            <p:cNvSpPr/>
            <p:nvPr/>
          </p:nvSpPr>
          <p:spPr>
            <a:xfrm>
              <a:off x="0" y="0"/>
              <a:ext cx="5486400" cy="1402080"/>
            </a:xfrm>
            <a:custGeom>
              <a:avLst/>
              <a:gdLst/>
              <a:ahLst/>
              <a:cxnLst/>
              <a:rect l="l" t="t" r="r" b="b"/>
              <a:pathLst>
                <a:path w="5486400" h="1402080">
                  <a:moveTo>
                    <a:pt x="0" y="0"/>
                  </a:moveTo>
                  <a:lnTo>
                    <a:pt x="5486400" y="0"/>
                  </a:lnTo>
                  <a:lnTo>
                    <a:pt x="5486400" y="1402080"/>
                  </a:lnTo>
                  <a:lnTo>
                    <a:pt x="0" y="1402080"/>
                  </a:lnTo>
                  <a:close/>
                </a:path>
              </a:pathLst>
            </a:custGeom>
            <a:blipFill>
              <a:blip r:embed="rId3">
                <a:alphaModFix amt="0"/>
              </a:blip>
              <a:stretch>
                <a:fillRect t="-26245" b="-26245"/>
              </a:stretch>
            </a:blipFill>
          </p:spPr>
          <p:txBody>
            <a:bodyPr/>
            <a:lstStyle/>
            <a:p>
              <a:endParaRPr lang="en-US"/>
            </a:p>
          </p:txBody>
        </p:sp>
        <p:sp>
          <p:nvSpPr>
            <p:cNvPr id="28" name="TextBox 28"/>
            <p:cNvSpPr txBox="1"/>
            <p:nvPr/>
          </p:nvSpPr>
          <p:spPr>
            <a:xfrm>
              <a:off x="0" y="-28575"/>
              <a:ext cx="5486400" cy="1430655"/>
            </a:xfrm>
            <a:prstGeom prst="rect">
              <a:avLst/>
            </a:prstGeom>
          </p:spPr>
          <p:txBody>
            <a:bodyPr lIns="0" tIns="0" rIns="0" bIns="0" rtlCol="0" anchor="ctr"/>
            <a:lstStyle/>
            <a:p>
              <a:pPr algn="l">
                <a:lnSpc>
                  <a:spcPts val="1919"/>
                </a:lnSpc>
              </a:pPr>
              <a:r>
                <a:rPr lang="en-US" sz="1599">
                  <a:solidFill>
                    <a:srgbClr val="B4B4BC"/>
                  </a:solidFill>
                  <a:latin typeface="Calibri (MS)"/>
                  <a:ea typeface="Calibri (MS)"/>
                  <a:cs typeface="Calibri (MS)"/>
                  <a:sym typeface="Calibri (MS)"/>
                </a:rPr>
                <a:t>Smaller reach at launch</a:t>
              </a:r>
            </a:p>
          </p:txBody>
        </p:sp>
      </p:grpSp>
      <p:grpSp>
        <p:nvGrpSpPr>
          <p:cNvPr id="29" name="Group 29"/>
          <p:cNvGrpSpPr/>
          <p:nvPr/>
        </p:nvGrpSpPr>
        <p:grpSpPr>
          <a:xfrm>
            <a:off x="960120" y="5404104"/>
            <a:ext cx="16367760" cy="1051560"/>
            <a:chOff x="0" y="0"/>
            <a:chExt cx="21823680" cy="1402080"/>
          </a:xfrm>
        </p:grpSpPr>
        <p:sp>
          <p:nvSpPr>
            <p:cNvPr id="30" name="Freeform 30"/>
            <p:cNvSpPr/>
            <p:nvPr/>
          </p:nvSpPr>
          <p:spPr>
            <a:xfrm>
              <a:off x="0" y="0"/>
              <a:ext cx="21823680" cy="1402080"/>
            </a:xfrm>
            <a:custGeom>
              <a:avLst/>
              <a:gdLst/>
              <a:ahLst/>
              <a:cxnLst/>
              <a:rect l="l" t="t" r="r" b="b"/>
              <a:pathLst>
                <a:path w="21823680" h="1402080">
                  <a:moveTo>
                    <a:pt x="0" y="146304"/>
                  </a:moveTo>
                  <a:cubicBezTo>
                    <a:pt x="0" y="65532"/>
                    <a:pt x="65532" y="0"/>
                    <a:pt x="146304" y="0"/>
                  </a:cubicBezTo>
                  <a:lnTo>
                    <a:pt x="21677376" y="0"/>
                  </a:lnTo>
                  <a:cubicBezTo>
                    <a:pt x="21758148" y="0"/>
                    <a:pt x="21823680" y="65532"/>
                    <a:pt x="21823680" y="146304"/>
                  </a:cubicBezTo>
                  <a:lnTo>
                    <a:pt x="21823680" y="1255776"/>
                  </a:lnTo>
                  <a:cubicBezTo>
                    <a:pt x="21823680" y="1336548"/>
                    <a:pt x="21758148" y="1402080"/>
                    <a:pt x="21677376" y="1402080"/>
                  </a:cubicBezTo>
                  <a:lnTo>
                    <a:pt x="146304" y="1402080"/>
                  </a:lnTo>
                  <a:cubicBezTo>
                    <a:pt x="65532" y="1402080"/>
                    <a:pt x="0" y="1336548"/>
                    <a:pt x="0" y="1255776"/>
                  </a:cubicBezTo>
                  <a:close/>
                </a:path>
              </a:pathLst>
            </a:custGeom>
            <a:solidFill>
              <a:srgbClr val="222222"/>
            </a:solidFill>
          </p:spPr>
          <p:txBody>
            <a:bodyPr/>
            <a:lstStyle/>
            <a:p>
              <a:endParaRPr lang="en-US"/>
            </a:p>
          </p:txBody>
        </p:sp>
      </p:grpSp>
      <p:grpSp>
        <p:nvGrpSpPr>
          <p:cNvPr id="31" name="Group 31"/>
          <p:cNvGrpSpPr/>
          <p:nvPr/>
        </p:nvGrpSpPr>
        <p:grpSpPr>
          <a:xfrm>
            <a:off x="1325880" y="5404104"/>
            <a:ext cx="5120640" cy="1051560"/>
            <a:chOff x="0" y="0"/>
            <a:chExt cx="6827520" cy="1402080"/>
          </a:xfrm>
        </p:grpSpPr>
        <p:sp>
          <p:nvSpPr>
            <p:cNvPr id="32" name="Freeform 32"/>
            <p:cNvSpPr/>
            <p:nvPr/>
          </p:nvSpPr>
          <p:spPr>
            <a:xfrm>
              <a:off x="0" y="0"/>
              <a:ext cx="6827520" cy="1402080"/>
            </a:xfrm>
            <a:custGeom>
              <a:avLst/>
              <a:gdLst/>
              <a:ahLst/>
              <a:cxnLst/>
              <a:rect l="l" t="t" r="r" b="b"/>
              <a:pathLst>
                <a:path w="6827520" h="1402080">
                  <a:moveTo>
                    <a:pt x="0" y="0"/>
                  </a:moveTo>
                  <a:lnTo>
                    <a:pt x="6827520" y="0"/>
                  </a:lnTo>
                  <a:lnTo>
                    <a:pt x="6827520" y="1402080"/>
                  </a:lnTo>
                  <a:lnTo>
                    <a:pt x="0" y="1402080"/>
                  </a:lnTo>
                  <a:close/>
                </a:path>
              </a:pathLst>
            </a:custGeom>
            <a:blipFill>
              <a:blip r:embed="rId3">
                <a:alphaModFix amt="0"/>
              </a:blip>
              <a:stretch>
                <a:fillRect t="-44883" b="-44883"/>
              </a:stretch>
            </a:blipFill>
          </p:spPr>
          <p:txBody>
            <a:bodyPr/>
            <a:lstStyle/>
            <a:p>
              <a:endParaRPr lang="en-US"/>
            </a:p>
          </p:txBody>
        </p:sp>
        <p:sp>
          <p:nvSpPr>
            <p:cNvPr id="33" name="TextBox 33"/>
            <p:cNvSpPr txBox="1"/>
            <p:nvPr/>
          </p:nvSpPr>
          <p:spPr>
            <a:xfrm>
              <a:off x="0" y="-19050"/>
              <a:ext cx="6827520" cy="1421130"/>
            </a:xfrm>
            <a:prstGeom prst="rect">
              <a:avLst/>
            </a:prstGeom>
          </p:spPr>
          <p:txBody>
            <a:bodyPr lIns="0" tIns="0" rIns="0" bIns="0" rtlCol="0" anchor="ctr"/>
            <a:lstStyle/>
            <a:p>
              <a:pPr algn="l">
                <a:lnSpc>
                  <a:spcPts val="2160"/>
                </a:lnSpc>
              </a:pPr>
              <a:r>
                <a:rPr lang="en-US" sz="1800" b="1">
                  <a:solidFill>
                    <a:srgbClr val="FFFFFF"/>
                  </a:solidFill>
                  <a:latin typeface="Arial Bold"/>
                  <a:ea typeface="Arial Bold"/>
                  <a:cs typeface="Arial Bold"/>
                  <a:sym typeface="Arial Bold"/>
                </a:rPr>
                <a:t>Squad-only reactions, no public likes</a:t>
              </a:r>
            </a:p>
          </p:txBody>
        </p:sp>
      </p:grpSp>
      <p:grpSp>
        <p:nvGrpSpPr>
          <p:cNvPr id="34" name="Group 34"/>
          <p:cNvGrpSpPr/>
          <p:nvPr/>
        </p:nvGrpSpPr>
        <p:grpSpPr>
          <a:xfrm>
            <a:off x="6812280" y="5404104"/>
            <a:ext cx="5669280" cy="1051560"/>
            <a:chOff x="0" y="0"/>
            <a:chExt cx="7559040" cy="1402080"/>
          </a:xfrm>
        </p:grpSpPr>
        <p:sp>
          <p:nvSpPr>
            <p:cNvPr id="35" name="Freeform 35"/>
            <p:cNvSpPr/>
            <p:nvPr/>
          </p:nvSpPr>
          <p:spPr>
            <a:xfrm>
              <a:off x="0" y="0"/>
              <a:ext cx="7559040" cy="1402080"/>
            </a:xfrm>
            <a:custGeom>
              <a:avLst/>
              <a:gdLst/>
              <a:ahLst/>
              <a:cxnLst/>
              <a:rect l="l" t="t" r="r" b="b"/>
              <a:pathLst>
                <a:path w="7559040" h="1402080">
                  <a:moveTo>
                    <a:pt x="0" y="0"/>
                  </a:moveTo>
                  <a:lnTo>
                    <a:pt x="7559040" y="0"/>
                  </a:lnTo>
                  <a:lnTo>
                    <a:pt x="7559040" y="1402080"/>
                  </a:lnTo>
                  <a:lnTo>
                    <a:pt x="0" y="1402080"/>
                  </a:lnTo>
                  <a:close/>
                </a:path>
              </a:pathLst>
            </a:custGeom>
            <a:blipFill>
              <a:blip r:embed="rId3">
                <a:alphaModFix amt="0"/>
              </a:blip>
              <a:stretch>
                <a:fillRect t="-55049" b="-55049"/>
              </a:stretch>
            </a:blipFill>
          </p:spPr>
          <p:txBody>
            <a:bodyPr/>
            <a:lstStyle/>
            <a:p>
              <a:endParaRPr lang="en-US"/>
            </a:p>
          </p:txBody>
        </p:sp>
        <p:sp>
          <p:nvSpPr>
            <p:cNvPr id="36" name="TextBox 36"/>
            <p:cNvSpPr txBox="1"/>
            <p:nvPr/>
          </p:nvSpPr>
          <p:spPr>
            <a:xfrm>
              <a:off x="0" y="-28575"/>
              <a:ext cx="7559040" cy="1430655"/>
            </a:xfrm>
            <a:prstGeom prst="rect">
              <a:avLst/>
            </a:prstGeom>
          </p:spPr>
          <p:txBody>
            <a:bodyPr lIns="0" tIns="0" rIns="0" bIns="0" rtlCol="0" anchor="ctr"/>
            <a:lstStyle/>
            <a:p>
              <a:pPr algn="l">
                <a:lnSpc>
                  <a:spcPts val="1919"/>
                </a:lnSpc>
              </a:pPr>
              <a:r>
                <a:rPr lang="en-US" sz="1599">
                  <a:solidFill>
                    <a:srgbClr val="FFFFFF"/>
                  </a:solidFill>
                  <a:latin typeface="Calibri (MS)"/>
                  <a:ea typeface="Calibri (MS)"/>
                  <a:cs typeface="Calibri (MS)"/>
                  <a:sym typeface="Calibri (MS)"/>
                </a:rPr>
                <a:t>Avoids performance and vanity metrics</a:t>
              </a:r>
            </a:p>
          </p:txBody>
        </p:sp>
      </p:grpSp>
      <p:grpSp>
        <p:nvGrpSpPr>
          <p:cNvPr id="37" name="Group 37"/>
          <p:cNvGrpSpPr/>
          <p:nvPr/>
        </p:nvGrpSpPr>
        <p:grpSpPr>
          <a:xfrm>
            <a:off x="12847320" y="5404104"/>
            <a:ext cx="4114800" cy="1051560"/>
            <a:chOff x="0" y="0"/>
            <a:chExt cx="5486400" cy="1402080"/>
          </a:xfrm>
        </p:grpSpPr>
        <p:sp>
          <p:nvSpPr>
            <p:cNvPr id="38" name="Freeform 38"/>
            <p:cNvSpPr/>
            <p:nvPr/>
          </p:nvSpPr>
          <p:spPr>
            <a:xfrm>
              <a:off x="0" y="0"/>
              <a:ext cx="5486400" cy="1402080"/>
            </a:xfrm>
            <a:custGeom>
              <a:avLst/>
              <a:gdLst/>
              <a:ahLst/>
              <a:cxnLst/>
              <a:rect l="l" t="t" r="r" b="b"/>
              <a:pathLst>
                <a:path w="5486400" h="1402080">
                  <a:moveTo>
                    <a:pt x="0" y="0"/>
                  </a:moveTo>
                  <a:lnTo>
                    <a:pt x="5486400" y="0"/>
                  </a:lnTo>
                  <a:lnTo>
                    <a:pt x="5486400" y="1402080"/>
                  </a:lnTo>
                  <a:lnTo>
                    <a:pt x="0" y="1402080"/>
                  </a:lnTo>
                  <a:close/>
                </a:path>
              </a:pathLst>
            </a:custGeom>
            <a:blipFill>
              <a:blip r:embed="rId3">
                <a:alphaModFix amt="0"/>
              </a:blip>
              <a:stretch>
                <a:fillRect t="-26245" b="-26245"/>
              </a:stretch>
            </a:blipFill>
          </p:spPr>
          <p:txBody>
            <a:bodyPr/>
            <a:lstStyle/>
            <a:p>
              <a:endParaRPr lang="en-US"/>
            </a:p>
          </p:txBody>
        </p:sp>
        <p:sp>
          <p:nvSpPr>
            <p:cNvPr id="39" name="TextBox 39"/>
            <p:cNvSpPr txBox="1"/>
            <p:nvPr/>
          </p:nvSpPr>
          <p:spPr>
            <a:xfrm>
              <a:off x="0" y="-28575"/>
              <a:ext cx="5486400" cy="1430655"/>
            </a:xfrm>
            <a:prstGeom prst="rect">
              <a:avLst/>
            </a:prstGeom>
          </p:spPr>
          <p:txBody>
            <a:bodyPr lIns="0" tIns="0" rIns="0" bIns="0" rtlCol="0" anchor="ctr"/>
            <a:lstStyle/>
            <a:p>
              <a:pPr algn="l">
                <a:lnSpc>
                  <a:spcPts val="1919"/>
                </a:lnSpc>
              </a:pPr>
              <a:r>
                <a:rPr lang="en-US" sz="1599">
                  <a:solidFill>
                    <a:srgbClr val="B4B4BC"/>
                  </a:solidFill>
                  <a:latin typeface="Calibri (MS)"/>
                  <a:ea typeface="Calibri (MS)"/>
                  <a:cs typeface="Calibri (MS)"/>
                  <a:sym typeface="Calibri (MS)"/>
                </a:rPr>
                <a:t>Less viral spread</a:t>
              </a:r>
            </a:p>
          </p:txBody>
        </p:sp>
      </p:grpSp>
      <p:grpSp>
        <p:nvGrpSpPr>
          <p:cNvPr id="40" name="Group 40"/>
          <p:cNvGrpSpPr/>
          <p:nvPr/>
        </p:nvGrpSpPr>
        <p:grpSpPr>
          <a:xfrm>
            <a:off x="960120" y="6620256"/>
            <a:ext cx="16367760" cy="1051560"/>
            <a:chOff x="0" y="0"/>
            <a:chExt cx="21823680" cy="1402080"/>
          </a:xfrm>
        </p:grpSpPr>
        <p:sp>
          <p:nvSpPr>
            <p:cNvPr id="41" name="Freeform 41"/>
            <p:cNvSpPr/>
            <p:nvPr/>
          </p:nvSpPr>
          <p:spPr>
            <a:xfrm>
              <a:off x="0" y="0"/>
              <a:ext cx="21823680" cy="1402080"/>
            </a:xfrm>
            <a:custGeom>
              <a:avLst/>
              <a:gdLst/>
              <a:ahLst/>
              <a:cxnLst/>
              <a:rect l="l" t="t" r="r" b="b"/>
              <a:pathLst>
                <a:path w="21823680" h="1402080">
                  <a:moveTo>
                    <a:pt x="0" y="146304"/>
                  </a:moveTo>
                  <a:cubicBezTo>
                    <a:pt x="0" y="65532"/>
                    <a:pt x="65532" y="0"/>
                    <a:pt x="146304" y="0"/>
                  </a:cubicBezTo>
                  <a:lnTo>
                    <a:pt x="21677376" y="0"/>
                  </a:lnTo>
                  <a:cubicBezTo>
                    <a:pt x="21758148" y="0"/>
                    <a:pt x="21823680" y="65532"/>
                    <a:pt x="21823680" y="146304"/>
                  </a:cubicBezTo>
                  <a:lnTo>
                    <a:pt x="21823680" y="1255776"/>
                  </a:lnTo>
                  <a:cubicBezTo>
                    <a:pt x="21823680" y="1336548"/>
                    <a:pt x="21758148" y="1402080"/>
                    <a:pt x="21677376" y="1402080"/>
                  </a:cubicBezTo>
                  <a:lnTo>
                    <a:pt x="146304" y="1402080"/>
                  </a:lnTo>
                  <a:cubicBezTo>
                    <a:pt x="65532" y="1402080"/>
                    <a:pt x="0" y="1336548"/>
                    <a:pt x="0" y="1255776"/>
                  </a:cubicBezTo>
                  <a:close/>
                </a:path>
              </a:pathLst>
            </a:custGeom>
            <a:solidFill>
              <a:srgbClr val="222222"/>
            </a:solidFill>
          </p:spPr>
          <p:txBody>
            <a:bodyPr/>
            <a:lstStyle/>
            <a:p>
              <a:endParaRPr lang="en-US"/>
            </a:p>
          </p:txBody>
        </p:sp>
      </p:grpSp>
      <p:grpSp>
        <p:nvGrpSpPr>
          <p:cNvPr id="42" name="Group 42"/>
          <p:cNvGrpSpPr/>
          <p:nvPr/>
        </p:nvGrpSpPr>
        <p:grpSpPr>
          <a:xfrm>
            <a:off x="1325880" y="6620256"/>
            <a:ext cx="5120640" cy="1051560"/>
            <a:chOff x="0" y="0"/>
            <a:chExt cx="6827520" cy="1402080"/>
          </a:xfrm>
        </p:grpSpPr>
        <p:sp>
          <p:nvSpPr>
            <p:cNvPr id="43" name="Freeform 43"/>
            <p:cNvSpPr/>
            <p:nvPr/>
          </p:nvSpPr>
          <p:spPr>
            <a:xfrm>
              <a:off x="0" y="0"/>
              <a:ext cx="6827520" cy="1402080"/>
            </a:xfrm>
            <a:custGeom>
              <a:avLst/>
              <a:gdLst/>
              <a:ahLst/>
              <a:cxnLst/>
              <a:rect l="l" t="t" r="r" b="b"/>
              <a:pathLst>
                <a:path w="6827520" h="1402080">
                  <a:moveTo>
                    <a:pt x="0" y="0"/>
                  </a:moveTo>
                  <a:lnTo>
                    <a:pt x="6827520" y="0"/>
                  </a:lnTo>
                  <a:lnTo>
                    <a:pt x="6827520" y="1402080"/>
                  </a:lnTo>
                  <a:lnTo>
                    <a:pt x="0" y="1402080"/>
                  </a:lnTo>
                  <a:close/>
                </a:path>
              </a:pathLst>
            </a:custGeom>
            <a:blipFill>
              <a:blip r:embed="rId3">
                <a:alphaModFix amt="0"/>
              </a:blip>
              <a:stretch>
                <a:fillRect t="-44883" b="-44883"/>
              </a:stretch>
            </a:blipFill>
          </p:spPr>
          <p:txBody>
            <a:bodyPr/>
            <a:lstStyle/>
            <a:p>
              <a:endParaRPr lang="en-US"/>
            </a:p>
          </p:txBody>
        </p:sp>
        <p:sp>
          <p:nvSpPr>
            <p:cNvPr id="44" name="TextBox 44"/>
            <p:cNvSpPr txBox="1"/>
            <p:nvPr/>
          </p:nvSpPr>
          <p:spPr>
            <a:xfrm>
              <a:off x="0" y="-19050"/>
              <a:ext cx="6827520" cy="1421130"/>
            </a:xfrm>
            <a:prstGeom prst="rect">
              <a:avLst/>
            </a:prstGeom>
          </p:spPr>
          <p:txBody>
            <a:bodyPr lIns="0" tIns="0" rIns="0" bIns="0" rtlCol="0" anchor="ctr"/>
            <a:lstStyle/>
            <a:p>
              <a:pPr algn="l">
                <a:lnSpc>
                  <a:spcPts val="2160"/>
                </a:lnSpc>
              </a:pPr>
              <a:r>
                <a:rPr lang="en-US" sz="1800" b="1">
                  <a:solidFill>
                    <a:srgbClr val="FFFFFF"/>
                  </a:solidFill>
                  <a:latin typeface="Arial Bold"/>
                  <a:ea typeface="Arial Bold"/>
                  <a:cs typeface="Arial Bold"/>
                  <a:sym typeface="Arial Bold"/>
                </a:rPr>
                <a:t>Hooks that invite, never guilt</a:t>
              </a:r>
            </a:p>
          </p:txBody>
        </p:sp>
      </p:grpSp>
      <p:grpSp>
        <p:nvGrpSpPr>
          <p:cNvPr id="45" name="Group 45"/>
          <p:cNvGrpSpPr/>
          <p:nvPr/>
        </p:nvGrpSpPr>
        <p:grpSpPr>
          <a:xfrm>
            <a:off x="6812280" y="6620256"/>
            <a:ext cx="5669280" cy="1051560"/>
            <a:chOff x="0" y="0"/>
            <a:chExt cx="7559040" cy="1402080"/>
          </a:xfrm>
        </p:grpSpPr>
        <p:sp>
          <p:nvSpPr>
            <p:cNvPr id="46" name="Freeform 46"/>
            <p:cNvSpPr/>
            <p:nvPr/>
          </p:nvSpPr>
          <p:spPr>
            <a:xfrm>
              <a:off x="0" y="0"/>
              <a:ext cx="7559040" cy="1402080"/>
            </a:xfrm>
            <a:custGeom>
              <a:avLst/>
              <a:gdLst/>
              <a:ahLst/>
              <a:cxnLst/>
              <a:rect l="l" t="t" r="r" b="b"/>
              <a:pathLst>
                <a:path w="7559040" h="1402080">
                  <a:moveTo>
                    <a:pt x="0" y="0"/>
                  </a:moveTo>
                  <a:lnTo>
                    <a:pt x="7559040" y="0"/>
                  </a:lnTo>
                  <a:lnTo>
                    <a:pt x="7559040" y="1402080"/>
                  </a:lnTo>
                  <a:lnTo>
                    <a:pt x="0" y="1402080"/>
                  </a:lnTo>
                  <a:close/>
                </a:path>
              </a:pathLst>
            </a:custGeom>
            <a:blipFill>
              <a:blip r:embed="rId3">
                <a:alphaModFix amt="0"/>
              </a:blip>
              <a:stretch>
                <a:fillRect t="-55049" b="-55049"/>
              </a:stretch>
            </a:blipFill>
          </p:spPr>
          <p:txBody>
            <a:bodyPr/>
            <a:lstStyle/>
            <a:p>
              <a:endParaRPr lang="en-US"/>
            </a:p>
          </p:txBody>
        </p:sp>
        <p:sp>
          <p:nvSpPr>
            <p:cNvPr id="47" name="TextBox 47"/>
            <p:cNvSpPr txBox="1"/>
            <p:nvPr/>
          </p:nvSpPr>
          <p:spPr>
            <a:xfrm>
              <a:off x="0" y="-28575"/>
              <a:ext cx="7559040" cy="1430655"/>
            </a:xfrm>
            <a:prstGeom prst="rect">
              <a:avLst/>
            </a:prstGeom>
          </p:spPr>
          <p:txBody>
            <a:bodyPr lIns="0" tIns="0" rIns="0" bIns="0" rtlCol="0" anchor="ctr"/>
            <a:lstStyle/>
            <a:p>
              <a:pPr algn="l">
                <a:lnSpc>
                  <a:spcPts val="1919"/>
                </a:lnSpc>
              </a:pPr>
              <a:r>
                <a:rPr lang="en-US" sz="1599">
                  <a:solidFill>
                    <a:srgbClr val="FFFFFF"/>
                  </a:solidFill>
                  <a:latin typeface="Calibri (MS)"/>
                  <a:ea typeface="Calibri (MS)"/>
                  <a:cs typeface="Calibri (MS)"/>
                  <a:sym typeface="Calibri (MS)"/>
                </a:rPr>
                <a:t>No loss framing, no streak-breaking shame</a:t>
              </a:r>
            </a:p>
          </p:txBody>
        </p:sp>
      </p:grpSp>
      <p:grpSp>
        <p:nvGrpSpPr>
          <p:cNvPr id="48" name="Group 48"/>
          <p:cNvGrpSpPr/>
          <p:nvPr/>
        </p:nvGrpSpPr>
        <p:grpSpPr>
          <a:xfrm>
            <a:off x="12847320" y="6620256"/>
            <a:ext cx="4114800" cy="1051560"/>
            <a:chOff x="0" y="0"/>
            <a:chExt cx="5486400" cy="1402080"/>
          </a:xfrm>
        </p:grpSpPr>
        <p:sp>
          <p:nvSpPr>
            <p:cNvPr id="49" name="Freeform 49"/>
            <p:cNvSpPr/>
            <p:nvPr/>
          </p:nvSpPr>
          <p:spPr>
            <a:xfrm>
              <a:off x="0" y="0"/>
              <a:ext cx="5486400" cy="1402080"/>
            </a:xfrm>
            <a:custGeom>
              <a:avLst/>
              <a:gdLst/>
              <a:ahLst/>
              <a:cxnLst/>
              <a:rect l="l" t="t" r="r" b="b"/>
              <a:pathLst>
                <a:path w="5486400" h="1402080">
                  <a:moveTo>
                    <a:pt x="0" y="0"/>
                  </a:moveTo>
                  <a:lnTo>
                    <a:pt x="5486400" y="0"/>
                  </a:lnTo>
                  <a:lnTo>
                    <a:pt x="5486400" y="1402080"/>
                  </a:lnTo>
                  <a:lnTo>
                    <a:pt x="0" y="1402080"/>
                  </a:lnTo>
                  <a:close/>
                </a:path>
              </a:pathLst>
            </a:custGeom>
            <a:blipFill>
              <a:blip r:embed="rId3">
                <a:alphaModFix amt="0"/>
              </a:blip>
              <a:stretch>
                <a:fillRect t="-26245" b="-26245"/>
              </a:stretch>
            </a:blipFill>
          </p:spPr>
          <p:txBody>
            <a:bodyPr/>
            <a:lstStyle/>
            <a:p>
              <a:endParaRPr lang="en-US"/>
            </a:p>
          </p:txBody>
        </p:sp>
        <p:sp>
          <p:nvSpPr>
            <p:cNvPr id="50" name="TextBox 50"/>
            <p:cNvSpPr txBox="1"/>
            <p:nvPr/>
          </p:nvSpPr>
          <p:spPr>
            <a:xfrm>
              <a:off x="0" y="-28575"/>
              <a:ext cx="5486400" cy="1430655"/>
            </a:xfrm>
            <a:prstGeom prst="rect">
              <a:avLst/>
            </a:prstGeom>
          </p:spPr>
          <p:txBody>
            <a:bodyPr lIns="0" tIns="0" rIns="0" bIns="0" rtlCol="0" anchor="ctr"/>
            <a:lstStyle/>
            <a:p>
              <a:pPr algn="l">
                <a:lnSpc>
                  <a:spcPts val="1919"/>
                </a:lnSpc>
              </a:pPr>
              <a:r>
                <a:rPr lang="en-US" sz="1599">
                  <a:solidFill>
                    <a:srgbClr val="B4B4BC"/>
                  </a:solidFill>
                  <a:latin typeface="Calibri (MS)"/>
                  <a:ea typeface="Calibri (MS)"/>
                  <a:cs typeface="Calibri (MS)"/>
                  <a:sym typeface="Calibri (MS)"/>
                </a:rPr>
                <a:t>A softer nudge than classic streaks</a:t>
              </a:r>
            </a:p>
          </p:txBody>
        </p:sp>
      </p:grpSp>
      <p:grpSp>
        <p:nvGrpSpPr>
          <p:cNvPr id="51" name="Group 51"/>
          <p:cNvGrpSpPr/>
          <p:nvPr/>
        </p:nvGrpSpPr>
        <p:grpSpPr>
          <a:xfrm>
            <a:off x="960120" y="7836408"/>
            <a:ext cx="16367760" cy="1051560"/>
            <a:chOff x="0" y="0"/>
            <a:chExt cx="21823680" cy="1402080"/>
          </a:xfrm>
        </p:grpSpPr>
        <p:sp>
          <p:nvSpPr>
            <p:cNvPr id="52" name="Freeform 52"/>
            <p:cNvSpPr/>
            <p:nvPr/>
          </p:nvSpPr>
          <p:spPr>
            <a:xfrm>
              <a:off x="0" y="0"/>
              <a:ext cx="21823680" cy="1402080"/>
            </a:xfrm>
            <a:custGeom>
              <a:avLst/>
              <a:gdLst/>
              <a:ahLst/>
              <a:cxnLst/>
              <a:rect l="l" t="t" r="r" b="b"/>
              <a:pathLst>
                <a:path w="21823680" h="1402080">
                  <a:moveTo>
                    <a:pt x="0" y="146304"/>
                  </a:moveTo>
                  <a:cubicBezTo>
                    <a:pt x="0" y="65532"/>
                    <a:pt x="65532" y="0"/>
                    <a:pt x="146304" y="0"/>
                  </a:cubicBezTo>
                  <a:lnTo>
                    <a:pt x="21677376" y="0"/>
                  </a:lnTo>
                  <a:cubicBezTo>
                    <a:pt x="21758148" y="0"/>
                    <a:pt x="21823680" y="65532"/>
                    <a:pt x="21823680" y="146304"/>
                  </a:cubicBezTo>
                  <a:lnTo>
                    <a:pt x="21823680" y="1255776"/>
                  </a:lnTo>
                  <a:cubicBezTo>
                    <a:pt x="21823680" y="1336548"/>
                    <a:pt x="21758148" y="1402080"/>
                    <a:pt x="21677376" y="1402080"/>
                  </a:cubicBezTo>
                  <a:lnTo>
                    <a:pt x="146304" y="1402080"/>
                  </a:lnTo>
                  <a:cubicBezTo>
                    <a:pt x="65532" y="1402080"/>
                    <a:pt x="0" y="1336548"/>
                    <a:pt x="0" y="1255776"/>
                  </a:cubicBezTo>
                  <a:close/>
                </a:path>
              </a:pathLst>
            </a:custGeom>
            <a:solidFill>
              <a:srgbClr val="222222"/>
            </a:solidFill>
          </p:spPr>
          <p:txBody>
            <a:bodyPr/>
            <a:lstStyle/>
            <a:p>
              <a:endParaRPr lang="en-US"/>
            </a:p>
          </p:txBody>
        </p:sp>
      </p:grpSp>
      <p:grpSp>
        <p:nvGrpSpPr>
          <p:cNvPr id="53" name="Group 53"/>
          <p:cNvGrpSpPr/>
          <p:nvPr/>
        </p:nvGrpSpPr>
        <p:grpSpPr>
          <a:xfrm>
            <a:off x="1325880" y="7836408"/>
            <a:ext cx="5120640" cy="1051560"/>
            <a:chOff x="0" y="0"/>
            <a:chExt cx="6827520" cy="1402080"/>
          </a:xfrm>
        </p:grpSpPr>
        <p:sp>
          <p:nvSpPr>
            <p:cNvPr id="54" name="Freeform 54"/>
            <p:cNvSpPr/>
            <p:nvPr/>
          </p:nvSpPr>
          <p:spPr>
            <a:xfrm>
              <a:off x="0" y="0"/>
              <a:ext cx="6827520" cy="1402080"/>
            </a:xfrm>
            <a:custGeom>
              <a:avLst/>
              <a:gdLst/>
              <a:ahLst/>
              <a:cxnLst/>
              <a:rect l="l" t="t" r="r" b="b"/>
              <a:pathLst>
                <a:path w="6827520" h="1402080">
                  <a:moveTo>
                    <a:pt x="0" y="0"/>
                  </a:moveTo>
                  <a:lnTo>
                    <a:pt x="6827520" y="0"/>
                  </a:lnTo>
                  <a:lnTo>
                    <a:pt x="6827520" y="1402080"/>
                  </a:lnTo>
                  <a:lnTo>
                    <a:pt x="0" y="1402080"/>
                  </a:lnTo>
                  <a:close/>
                </a:path>
              </a:pathLst>
            </a:custGeom>
            <a:blipFill>
              <a:blip r:embed="rId3">
                <a:alphaModFix amt="0"/>
              </a:blip>
              <a:stretch>
                <a:fillRect t="-44883" b="-44883"/>
              </a:stretch>
            </a:blipFill>
          </p:spPr>
          <p:txBody>
            <a:bodyPr/>
            <a:lstStyle/>
            <a:p>
              <a:endParaRPr lang="en-US"/>
            </a:p>
          </p:txBody>
        </p:sp>
        <p:sp>
          <p:nvSpPr>
            <p:cNvPr id="55" name="TextBox 55"/>
            <p:cNvSpPr txBox="1"/>
            <p:nvPr/>
          </p:nvSpPr>
          <p:spPr>
            <a:xfrm>
              <a:off x="0" y="-19050"/>
              <a:ext cx="6827520" cy="1421130"/>
            </a:xfrm>
            <a:prstGeom prst="rect">
              <a:avLst/>
            </a:prstGeom>
          </p:spPr>
          <p:txBody>
            <a:bodyPr lIns="0" tIns="0" rIns="0" bIns="0" rtlCol="0" anchor="ctr"/>
            <a:lstStyle/>
            <a:p>
              <a:pPr algn="l">
                <a:lnSpc>
                  <a:spcPts val="2160"/>
                </a:lnSpc>
              </a:pPr>
              <a:r>
                <a:rPr lang="en-US" sz="1800" b="1">
                  <a:solidFill>
                    <a:srgbClr val="FFFFFF"/>
                  </a:solidFill>
                  <a:latin typeface="Arial Bold"/>
                  <a:ea typeface="Arial Bold"/>
                  <a:cs typeface="Arial Bold"/>
                  <a:sym typeface="Arial Bold"/>
                </a:rPr>
                <a:t>Monthly boards that close into a capsule</a:t>
              </a:r>
            </a:p>
          </p:txBody>
        </p:sp>
      </p:grpSp>
      <p:grpSp>
        <p:nvGrpSpPr>
          <p:cNvPr id="56" name="Group 56"/>
          <p:cNvGrpSpPr/>
          <p:nvPr/>
        </p:nvGrpSpPr>
        <p:grpSpPr>
          <a:xfrm>
            <a:off x="6812280" y="7836408"/>
            <a:ext cx="5669280" cy="1051560"/>
            <a:chOff x="0" y="0"/>
            <a:chExt cx="7559040" cy="1402080"/>
          </a:xfrm>
        </p:grpSpPr>
        <p:sp>
          <p:nvSpPr>
            <p:cNvPr id="57" name="Freeform 57"/>
            <p:cNvSpPr/>
            <p:nvPr/>
          </p:nvSpPr>
          <p:spPr>
            <a:xfrm>
              <a:off x="0" y="0"/>
              <a:ext cx="7559040" cy="1402080"/>
            </a:xfrm>
            <a:custGeom>
              <a:avLst/>
              <a:gdLst/>
              <a:ahLst/>
              <a:cxnLst/>
              <a:rect l="l" t="t" r="r" b="b"/>
              <a:pathLst>
                <a:path w="7559040" h="1402080">
                  <a:moveTo>
                    <a:pt x="0" y="0"/>
                  </a:moveTo>
                  <a:lnTo>
                    <a:pt x="7559040" y="0"/>
                  </a:lnTo>
                  <a:lnTo>
                    <a:pt x="7559040" y="1402080"/>
                  </a:lnTo>
                  <a:lnTo>
                    <a:pt x="0" y="1402080"/>
                  </a:lnTo>
                  <a:close/>
                </a:path>
              </a:pathLst>
            </a:custGeom>
            <a:blipFill>
              <a:blip r:embed="rId3">
                <a:alphaModFix amt="0"/>
              </a:blip>
              <a:stretch>
                <a:fillRect t="-55049" b="-55049"/>
              </a:stretch>
            </a:blipFill>
          </p:spPr>
          <p:txBody>
            <a:bodyPr/>
            <a:lstStyle/>
            <a:p>
              <a:endParaRPr lang="en-US"/>
            </a:p>
          </p:txBody>
        </p:sp>
        <p:sp>
          <p:nvSpPr>
            <p:cNvPr id="58" name="TextBox 58"/>
            <p:cNvSpPr txBox="1"/>
            <p:nvPr/>
          </p:nvSpPr>
          <p:spPr>
            <a:xfrm>
              <a:off x="0" y="-28575"/>
              <a:ext cx="7559040" cy="1430655"/>
            </a:xfrm>
            <a:prstGeom prst="rect">
              <a:avLst/>
            </a:prstGeom>
          </p:spPr>
          <p:txBody>
            <a:bodyPr lIns="0" tIns="0" rIns="0" bIns="0" rtlCol="0" anchor="ctr"/>
            <a:lstStyle/>
            <a:p>
              <a:pPr algn="l">
                <a:lnSpc>
                  <a:spcPts val="1919"/>
                </a:lnSpc>
              </a:pPr>
              <a:r>
                <a:rPr lang="en-US" sz="1599">
                  <a:solidFill>
                    <a:srgbClr val="FFFFFF"/>
                  </a:solidFill>
                  <a:latin typeface="Calibri (MS)"/>
                  <a:ea typeface="Calibri (MS)"/>
                  <a:cs typeface="Calibri (MS)"/>
                  <a:sym typeface="Calibri (MS)"/>
                </a:rPr>
                <a:t>A keepsake, not an endless treadmill</a:t>
              </a:r>
            </a:p>
          </p:txBody>
        </p:sp>
      </p:grpSp>
      <p:grpSp>
        <p:nvGrpSpPr>
          <p:cNvPr id="59" name="Group 59"/>
          <p:cNvGrpSpPr/>
          <p:nvPr/>
        </p:nvGrpSpPr>
        <p:grpSpPr>
          <a:xfrm>
            <a:off x="12847320" y="7836408"/>
            <a:ext cx="4114800" cy="1051560"/>
            <a:chOff x="0" y="0"/>
            <a:chExt cx="5486400" cy="1402080"/>
          </a:xfrm>
        </p:grpSpPr>
        <p:sp>
          <p:nvSpPr>
            <p:cNvPr id="60" name="Freeform 60"/>
            <p:cNvSpPr/>
            <p:nvPr/>
          </p:nvSpPr>
          <p:spPr>
            <a:xfrm>
              <a:off x="0" y="0"/>
              <a:ext cx="5486400" cy="1402080"/>
            </a:xfrm>
            <a:custGeom>
              <a:avLst/>
              <a:gdLst/>
              <a:ahLst/>
              <a:cxnLst/>
              <a:rect l="l" t="t" r="r" b="b"/>
              <a:pathLst>
                <a:path w="5486400" h="1402080">
                  <a:moveTo>
                    <a:pt x="0" y="0"/>
                  </a:moveTo>
                  <a:lnTo>
                    <a:pt x="5486400" y="0"/>
                  </a:lnTo>
                  <a:lnTo>
                    <a:pt x="5486400" y="1402080"/>
                  </a:lnTo>
                  <a:lnTo>
                    <a:pt x="0" y="1402080"/>
                  </a:lnTo>
                  <a:close/>
                </a:path>
              </a:pathLst>
            </a:custGeom>
            <a:blipFill>
              <a:blip r:embed="rId3">
                <a:alphaModFix amt="0"/>
              </a:blip>
              <a:stretch>
                <a:fillRect t="-26245" b="-26245"/>
              </a:stretch>
            </a:blipFill>
          </p:spPr>
          <p:txBody>
            <a:bodyPr/>
            <a:lstStyle/>
            <a:p>
              <a:endParaRPr lang="en-US"/>
            </a:p>
          </p:txBody>
        </p:sp>
        <p:sp>
          <p:nvSpPr>
            <p:cNvPr id="61" name="TextBox 61"/>
            <p:cNvSpPr txBox="1"/>
            <p:nvPr/>
          </p:nvSpPr>
          <p:spPr>
            <a:xfrm>
              <a:off x="0" y="-28575"/>
              <a:ext cx="5486400" cy="1430655"/>
            </a:xfrm>
            <a:prstGeom prst="rect">
              <a:avLst/>
            </a:prstGeom>
          </p:spPr>
          <p:txBody>
            <a:bodyPr lIns="0" tIns="0" rIns="0" bIns="0" rtlCol="0" anchor="ctr"/>
            <a:lstStyle/>
            <a:p>
              <a:pPr algn="l">
                <a:lnSpc>
                  <a:spcPts val="1919"/>
                </a:lnSpc>
              </a:pPr>
              <a:r>
                <a:rPr lang="en-US" sz="1599">
                  <a:solidFill>
                    <a:srgbClr val="B4B4BC"/>
                  </a:solidFill>
                  <a:latin typeface="Calibri (MS)"/>
                  <a:ea typeface="Calibri (MS)"/>
                  <a:cs typeface="Calibri (MS)"/>
                  <a:sym typeface="Calibri (MS)"/>
                </a:rPr>
                <a:t>Content resets every month</a:t>
              </a:r>
            </a:p>
          </p:txBody>
        </p:sp>
      </p:gr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grpSp>
        <p:nvGrpSpPr>
          <p:cNvPr id="2" name="Group 2"/>
          <p:cNvGrpSpPr/>
          <p:nvPr/>
        </p:nvGrpSpPr>
        <p:grpSpPr>
          <a:xfrm>
            <a:off x="960120" y="685800"/>
            <a:ext cx="10972800" cy="480060"/>
            <a:chOff x="0" y="0"/>
            <a:chExt cx="14630400" cy="640080"/>
          </a:xfrm>
        </p:grpSpPr>
        <p:sp>
          <p:nvSpPr>
            <p:cNvPr id="3" name="Freeform 3"/>
            <p:cNvSpPr/>
            <p:nvPr/>
          </p:nvSpPr>
          <p:spPr>
            <a:xfrm>
              <a:off x="0" y="0"/>
              <a:ext cx="14630400" cy="640080"/>
            </a:xfrm>
            <a:custGeom>
              <a:avLst/>
              <a:gdLst/>
              <a:ahLst/>
              <a:cxnLst/>
              <a:rect l="l" t="t" r="r" b="b"/>
              <a:pathLst>
                <a:path w="14630400" h="640080">
                  <a:moveTo>
                    <a:pt x="0" y="0"/>
                  </a:moveTo>
                  <a:lnTo>
                    <a:pt x="14630400" y="0"/>
                  </a:lnTo>
                  <a:lnTo>
                    <a:pt x="14630400" y="640080"/>
                  </a:lnTo>
                  <a:lnTo>
                    <a:pt x="0" y="640080"/>
                  </a:lnTo>
                  <a:close/>
                </a:path>
              </a:pathLst>
            </a:custGeom>
            <a:blipFill>
              <a:blip r:embed="rId3">
                <a:alphaModFix amt="0"/>
              </a:blip>
              <a:stretch>
                <a:fillRect t="-395372" b="-395372"/>
              </a:stretch>
            </a:blipFill>
          </p:spPr>
          <p:txBody>
            <a:bodyPr/>
            <a:lstStyle/>
            <a:p>
              <a:endParaRPr lang="en-US"/>
            </a:p>
          </p:txBody>
        </p:sp>
        <p:sp>
          <p:nvSpPr>
            <p:cNvPr id="4" name="TextBox 4"/>
            <p:cNvSpPr txBox="1"/>
            <p:nvPr/>
          </p:nvSpPr>
          <p:spPr>
            <a:xfrm>
              <a:off x="0" y="-19050"/>
              <a:ext cx="14630400" cy="659130"/>
            </a:xfrm>
            <a:prstGeom prst="rect">
              <a:avLst/>
            </a:prstGeom>
          </p:spPr>
          <p:txBody>
            <a:bodyPr lIns="0" tIns="0" rIns="0" bIns="0" rtlCol="0" anchor="ctr"/>
            <a:lstStyle/>
            <a:p>
              <a:pPr algn="l">
                <a:lnSpc>
                  <a:spcPts val="2160"/>
                </a:lnSpc>
              </a:pPr>
              <a:r>
                <a:rPr lang="en-US" sz="1800" b="1" spc="450" dirty="0">
                  <a:solidFill>
                    <a:srgbClr val="93A9CF"/>
                  </a:solidFill>
                  <a:latin typeface="Arial Bold"/>
                  <a:ea typeface="Arial Bold"/>
                  <a:cs typeface="Arial Bold"/>
                  <a:sym typeface="Arial Bold"/>
                </a:rPr>
                <a:t>WHY  THIS STILL  FEELS LIKE BEREAL </a:t>
              </a:r>
            </a:p>
          </p:txBody>
        </p:sp>
      </p:grpSp>
      <p:grpSp>
        <p:nvGrpSpPr>
          <p:cNvPr id="5" name="Group 5"/>
          <p:cNvGrpSpPr/>
          <p:nvPr/>
        </p:nvGrpSpPr>
        <p:grpSpPr>
          <a:xfrm>
            <a:off x="960120" y="1294525"/>
            <a:ext cx="11904974" cy="1303020"/>
            <a:chOff x="0" y="0"/>
            <a:chExt cx="15873298" cy="1737360"/>
          </a:xfrm>
        </p:grpSpPr>
        <p:sp>
          <p:nvSpPr>
            <p:cNvPr id="6" name="Freeform 6"/>
            <p:cNvSpPr/>
            <p:nvPr/>
          </p:nvSpPr>
          <p:spPr>
            <a:xfrm>
              <a:off x="0" y="0"/>
              <a:ext cx="15873298" cy="1737360"/>
            </a:xfrm>
            <a:custGeom>
              <a:avLst/>
              <a:gdLst/>
              <a:ahLst/>
              <a:cxnLst/>
              <a:rect l="l" t="t" r="r" b="b"/>
              <a:pathLst>
                <a:path w="15873298" h="1737360">
                  <a:moveTo>
                    <a:pt x="0" y="0"/>
                  </a:moveTo>
                  <a:lnTo>
                    <a:pt x="15873298" y="0"/>
                  </a:lnTo>
                  <a:lnTo>
                    <a:pt x="15873298" y="1737360"/>
                  </a:lnTo>
                  <a:lnTo>
                    <a:pt x="0" y="1737360"/>
                  </a:lnTo>
                  <a:close/>
                </a:path>
              </a:pathLst>
            </a:custGeom>
            <a:blipFill>
              <a:blip r:embed="rId3">
                <a:alphaModFix amt="0"/>
              </a:blip>
              <a:stretch>
                <a:fillRect t="-114084" r="7830" b="-114084"/>
              </a:stretch>
            </a:blipFill>
          </p:spPr>
          <p:txBody>
            <a:bodyPr/>
            <a:lstStyle/>
            <a:p>
              <a:endParaRPr lang="en-US"/>
            </a:p>
          </p:txBody>
        </p:sp>
        <p:sp>
          <p:nvSpPr>
            <p:cNvPr id="7" name="TextBox 7"/>
            <p:cNvSpPr txBox="1"/>
            <p:nvPr/>
          </p:nvSpPr>
          <p:spPr>
            <a:xfrm>
              <a:off x="0" y="38100"/>
              <a:ext cx="15873298" cy="1699260"/>
            </a:xfrm>
            <a:prstGeom prst="rect">
              <a:avLst/>
            </a:prstGeom>
          </p:spPr>
          <p:txBody>
            <a:bodyPr lIns="0" tIns="0" rIns="0" bIns="0" rtlCol="0" anchor="ctr"/>
            <a:lstStyle/>
            <a:p>
              <a:pPr algn="l">
                <a:lnSpc>
                  <a:spcPts val="5100"/>
                </a:lnSpc>
              </a:pPr>
              <a:r>
                <a:rPr lang="en-US" sz="4800" b="1" dirty="0">
                  <a:solidFill>
                    <a:srgbClr val="FFFFFF"/>
                  </a:solidFill>
                  <a:latin typeface="Arial Bold"/>
                  <a:ea typeface="Arial Bold"/>
                  <a:cs typeface="Arial Bold"/>
                  <a:sym typeface="Arial Bold"/>
                </a:rPr>
                <a:t>Additive, Not Addictive</a:t>
              </a:r>
            </a:p>
          </p:txBody>
        </p:sp>
      </p:grpSp>
      <p:grpSp>
        <p:nvGrpSpPr>
          <p:cNvPr id="8" name="Group 8"/>
          <p:cNvGrpSpPr/>
          <p:nvPr/>
        </p:nvGrpSpPr>
        <p:grpSpPr>
          <a:xfrm>
            <a:off x="1028700" y="3487981"/>
            <a:ext cx="7530433" cy="1191119"/>
            <a:chOff x="0" y="0"/>
            <a:chExt cx="10040578" cy="1588159"/>
          </a:xfrm>
        </p:grpSpPr>
        <p:grpSp>
          <p:nvGrpSpPr>
            <p:cNvPr id="9" name="Group 9"/>
            <p:cNvGrpSpPr/>
            <p:nvPr/>
          </p:nvGrpSpPr>
          <p:grpSpPr>
            <a:xfrm>
              <a:off x="0" y="0"/>
              <a:ext cx="953159" cy="953159"/>
              <a:chOff x="0" y="0"/>
              <a:chExt cx="812800" cy="812800"/>
            </a:xfrm>
          </p:grpSpPr>
          <p:sp>
            <p:nvSpPr>
              <p:cNvPr id="10" name="Freeform 10"/>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DE59"/>
              </a:solidFill>
            </p:spPr>
            <p:txBody>
              <a:bodyPr/>
              <a:lstStyle/>
              <a:p>
                <a:endParaRPr lang="en-US"/>
              </a:p>
            </p:txBody>
          </p:sp>
          <p:sp>
            <p:nvSpPr>
              <p:cNvPr id="11" name="TextBox 11"/>
              <p:cNvSpPr txBox="1"/>
              <p:nvPr/>
            </p:nvSpPr>
            <p:spPr>
              <a:xfrm>
                <a:off x="76200" y="38100"/>
                <a:ext cx="660400" cy="698500"/>
              </a:xfrm>
              <a:prstGeom prst="rect">
                <a:avLst/>
              </a:prstGeom>
            </p:spPr>
            <p:txBody>
              <a:bodyPr lIns="50800" tIns="50800" rIns="50800" bIns="50800" rtlCol="0" anchor="ctr"/>
              <a:lstStyle/>
              <a:p>
                <a:pPr algn="ctr">
                  <a:lnSpc>
                    <a:spcPts val="2595"/>
                  </a:lnSpc>
                </a:pPr>
                <a:endParaRPr/>
              </a:p>
            </p:txBody>
          </p:sp>
        </p:grpSp>
        <p:sp>
          <p:nvSpPr>
            <p:cNvPr id="12" name="Freeform 12"/>
            <p:cNvSpPr/>
            <p:nvPr/>
          </p:nvSpPr>
          <p:spPr>
            <a:xfrm>
              <a:off x="203377" y="191993"/>
              <a:ext cx="546405" cy="569172"/>
            </a:xfrm>
            <a:custGeom>
              <a:avLst/>
              <a:gdLst/>
              <a:ahLst/>
              <a:cxnLst/>
              <a:rect l="l" t="t" r="r" b="b"/>
              <a:pathLst>
                <a:path w="546405" h="569172">
                  <a:moveTo>
                    <a:pt x="0" y="0"/>
                  </a:moveTo>
                  <a:lnTo>
                    <a:pt x="546405" y="0"/>
                  </a:lnTo>
                  <a:lnTo>
                    <a:pt x="546405" y="569173"/>
                  </a:lnTo>
                  <a:lnTo>
                    <a:pt x="0" y="569173"/>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n-US"/>
            </a:p>
          </p:txBody>
        </p:sp>
        <p:sp>
          <p:nvSpPr>
            <p:cNvPr id="13" name="TextBox 13"/>
            <p:cNvSpPr txBox="1"/>
            <p:nvPr/>
          </p:nvSpPr>
          <p:spPr>
            <a:xfrm>
              <a:off x="2017757" y="6680"/>
              <a:ext cx="2909843" cy="431059"/>
            </a:xfrm>
            <a:prstGeom prst="rect">
              <a:avLst/>
            </a:prstGeom>
          </p:spPr>
          <p:txBody>
            <a:bodyPr wrap="square" lIns="0" tIns="0" rIns="0" bIns="0" rtlCol="0" anchor="t">
              <a:spAutoFit/>
            </a:bodyPr>
            <a:lstStyle/>
            <a:p>
              <a:pPr>
                <a:lnSpc>
                  <a:spcPts val="2595"/>
                </a:lnSpc>
                <a:spcBef>
                  <a:spcPct val="0"/>
                </a:spcBef>
              </a:pPr>
              <a:r>
                <a:rPr lang="en-US" sz="2163" b="1" dirty="0">
                  <a:solidFill>
                    <a:srgbClr val="FFFFFF"/>
                  </a:solidFill>
                  <a:latin typeface="Calibri (MS) Bold"/>
                  <a:ea typeface="Calibri (MS) Bold"/>
                  <a:cs typeface="Calibri (MS) Bold"/>
                  <a:sym typeface="Calibri (MS) Bold"/>
                </a:rPr>
                <a:t>Same real photo</a:t>
              </a:r>
            </a:p>
          </p:txBody>
        </p:sp>
        <p:sp>
          <p:nvSpPr>
            <p:cNvPr id="14" name="TextBox 14"/>
            <p:cNvSpPr txBox="1"/>
            <p:nvPr/>
          </p:nvSpPr>
          <p:spPr>
            <a:xfrm>
              <a:off x="2017758" y="934109"/>
              <a:ext cx="8022820" cy="654050"/>
            </a:xfrm>
            <a:prstGeom prst="rect">
              <a:avLst/>
            </a:prstGeom>
          </p:spPr>
          <p:txBody>
            <a:bodyPr lIns="0" tIns="0" rIns="0" bIns="0" rtlCol="0" anchor="t">
              <a:spAutoFit/>
            </a:bodyPr>
            <a:lstStyle/>
            <a:p>
              <a:pPr algn="l">
                <a:lnSpc>
                  <a:spcPts val="1875"/>
                </a:lnSpc>
                <a:spcBef>
                  <a:spcPct val="0"/>
                </a:spcBef>
              </a:pPr>
              <a:r>
                <a:rPr lang="en-US" sz="1563">
                  <a:solidFill>
                    <a:srgbClr val="FFFFFF"/>
                  </a:solidFill>
                  <a:latin typeface="Calibri (MS)"/>
                  <a:ea typeface="Calibri (MS)"/>
                  <a:cs typeface="Calibri (MS)"/>
                  <a:sym typeface="Calibri (MS)"/>
                </a:rPr>
                <a:t>No filters, no retakes, no new content requirement , and tagging is a layer on top.</a:t>
              </a:r>
            </a:p>
          </p:txBody>
        </p:sp>
      </p:grpSp>
      <p:grpSp>
        <p:nvGrpSpPr>
          <p:cNvPr id="15" name="Group 15"/>
          <p:cNvGrpSpPr/>
          <p:nvPr/>
        </p:nvGrpSpPr>
        <p:grpSpPr>
          <a:xfrm>
            <a:off x="1028700" y="7003200"/>
            <a:ext cx="7530434" cy="1191119"/>
            <a:chOff x="0" y="0"/>
            <a:chExt cx="10040579" cy="1588159"/>
          </a:xfrm>
        </p:grpSpPr>
        <p:grpSp>
          <p:nvGrpSpPr>
            <p:cNvPr id="16" name="Group 16"/>
            <p:cNvGrpSpPr/>
            <p:nvPr/>
          </p:nvGrpSpPr>
          <p:grpSpPr>
            <a:xfrm>
              <a:off x="0" y="0"/>
              <a:ext cx="953159" cy="953159"/>
              <a:chOff x="0" y="0"/>
              <a:chExt cx="812800" cy="812800"/>
            </a:xfrm>
          </p:grpSpPr>
          <p:sp>
            <p:nvSpPr>
              <p:cNvPr id="17" name="Freeform 17"/>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DE59"/>
              </a:solidFill>
            </p:spPr>
            <p:txBody>
              <a:bodyPr/>
              <a:lstStyle/>
              <a:p>
                <a:endParaRPr lang="en-US"/>
              </a:p>
            </p:txBody>
          </p:sp>
          <p:sp>
            <p:nvSpPr>
              <p:cNvPr id="18" name="TextBox 18"/>
              <p:cNvSpPr txBox="1"/>
              <p:nvPr/>
            </p:nvSpPr>
            <p:spPr>
              <a:xfrm>
                <a:off x="76200" y="38100"/>
                <a:ext cx="660400" cy="698500"/>
              </a:xfrm>
              <a:prstGeom prst="rect">
                <a:avLst/>
              </a:prstGeom>
            </p:spPr>
            <p:txBody>
              <a:bodyPr lIns="50800" tIns="50800" rIns="50800" bIns="50800" rtlCol="0" anchor="ctr"/>
              <a:lstStyle/>
              <a:p>
                <a:pPr algn="ctr">
                  <a:lnSpc>
                    <a:spcPts val="2595"/>
                  </a:lnSpc>
                </a:pPr>
                <a:endParaRPr/>
              </a:p>
            </p:txBody>
          </p:sp>
        </p:grpSp>
        <p:sp>
          <p:nvSpPr>
            <p:cNvPr id="19" name="Freeform 19"/>
            <p:cNvSpPr/>
            <p:nvPr/>
          </p:nvSpPr>
          <p:spPr>
            <a:xfrm>
              <a:off x="203377" y="191993"/>
              <a:ext cx="546405" cy="569172"/>
            </a:xfrm>
            <a:custGeom>
              <a:avLst/>
              <a:gdLst/>
              <a:ahLst/>
              <a:cxnLst/>
              <a:rect l="l" t="t" r="r" b="b"/>
              <a:pathLst>
                <a:path w="546405" h="569172">
                  <a:moveTo>
                    <a:pt x="0" y="0"/>
                  </a:moveTo>
                  <a:lnTo>
                    <a:pt x="546405" y="0"/>
                  </a:lnTo>
                  <a:lnTo>
                    <a:pt x="546405" y="569173"/>
                  </a:lnTo>
                  <a:lnTo>
                    <a:pt x="0" y="569173"/>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n-US"/>
            </a:p>
          </p:txBody>
        </p:sp>
        <p:sp>
          <p:nvSpPr>
            <p:cNvPr id="20" name="TextBox 20"/>
            <p:cNvSpPr txBox="1"/>
            <p:nvPr/>
          </p:nvSpPr>
          <p:spPr>
            <a:xfrm>
              <a:off x="2017758" y="6680"/>
              <a:ext cx="2493764" cy="469900"/>
            </a:xfrm>
            <a:prstGeom prst="rect">
              <a:avLst/>
            </a:prstGeom>
          </p:spPr>
          <p:txBody>
            <a:bodyPr lIns="0" tIns="0" rIns="0" bIns="0" rtlCol="0" anchor="t">
              <a:spAutoFit/>
            </a:bodyPr>
            <a:lstStyle/>
            <a:p>
              <a:pPr algn="l">
                <a:lnSpc>
                  <a:spcPts val="2595"/>
                </a:lnSpc>
                <a:spcBef>
                  <a:spcPct val="0"/>
                </a:spcBef>
              </a:pPr>
              <a:r>
                <a:rPr lang="en-US" sz="2163" b="1">
                  <a:solidFill>
                    <a:srgbClr val="FFFFFF"/>
                  </a:solidFill>
                  <a:latin typeface="Calibri (MS) Bold"/>
                  <a:ea typeface="Calibri (MS) Bold"/>
                  <a:cs typeface="Calibri (MS) Bold"/>
                  <a:sym typeface="Calibri (MS) Bold"/>
                </a:rPr>
                <a:t>Time-boxed</a:t>
              </a:r>
            </a:p>
          </p:txBody>
        </p:sp>
        <p:sp>
          <p:nvSpPr>
            <p:cNvPr id="21" name="TextBox 21"/>
            <p:cNvSpPr txBox="1"/>
            <p:nvPr/>
          </p:nvSpPr>
          <p:spPr>
            <a:xfrm>
              <a:off x="2017758" y="934109"/>
              <a:ext cx="8022820" cy="654050"/>
            </a:xfrm>
            <a:prstGeom prst="rect">
              <a:avLst/>
            </a:prstGeom>
          </p:spPr>
          <p:txBody>
            <a:bodyPr lIns="0" tIns="0" rIns="0" bIns="0" rtlCol="0" anchor="t">
              <a:spAutoFit/>
            </a:bodyPr>
            <a:lstStyle/>
            <a:p>
              <a:pPr algn="l">
                <a:lnSpc>
                  <a:spcPts val="1875"/>
                </a:lnSpc>
                <a:spcBef>
                  <a:spcPct val="0"/>
                </a:spcBef>
              </a:pPr>
              <a:r>
                <a:rPr lang="en-US" sz="1563">
                  <a:solidFill>
                    <a:srgbClr val="FFFFFF"/>
                  </a:solidFill>
                  <a:latin typeface="Calibri (MS)"/>
                  <a:ea typeface="Calibri (MS)"/>
                  <a:cs typeface="Calibri (MS)"/>
                  <a:sym typeface="Calibri (MS)"/>
                </a:rPr>
                <a:t>Boards close at month end and become a keepsake, not an infinite treadmill.</a:t>
              </a:r>
            </a:p>
          </p:txBody>
        </p:sp>
      </p:grpSp>
      <p:grpSp>
        <p:nvGrpSpPr>
          <p:cNvPr id="22" name="Group 22"/>
          <p:cNvGrpSpPr/>
          <p:nvPr/>
        </p:nvGrpSpPr>
        <p:grpSpPr>
          <a:xfrm>
            <a:off x="10307688" y="3487981"/>
            <a:ext cx="7530433" cy="1191119"/>
            <a:chOff x="0" y="0"/>
            <a:chExt cx="10040578" cy="1588159"/>
          </a:xfrm>
        </p:grpSpPr>
        <p:grpSp>
          <p:nvGrpSpPr>
            <p:cNvPr id="23" name="Group 23"/>
            <p:cNvGrpSpPr/>
            <p:nvPr/>
          </p:nvGrpSpPr>
          <p:grpSpPr>
            <a:xfrm>
              <a:off x="0" y="0"/>
              <a:ext cx="953159" cy="953159"/>
              <a:chOff x="0" y="0"/>
              <a:chExt cx="812800" cy="812800"/>
            </a:xfrm>
          </p:grpSpPr>
          <p:sp>
            <p:nvSpPr>
              <p:cNvPr id="24" name="Freeform 24"/>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DE59"/>
              </a:solidFill>
            </p:spPr>
            <p:txBody>
              <a:bodyPr/>
              <a:lstStyle/>
              <a:p>
                <a:endParaRPr lang="en-US"/>
              </a:p>
            </p:txBody>
          </p:sp>
          <p:sp>
            <p:nvSpPr>
              <p:cNvPr id="25" name="TextBox 25"/>
              <p:cNvSpPr txBox="1"/>
              <p:nvPr/>
            </p:nvSpPr>
            <p:spPr>
              <a:xfrm>
                <a:off x="76200" y="38100"/>
                <a:ext cx="660400" cy="698500"/>
              </a:xfrm>
              <a:prstGeom prst="rect">
                <a:avLst/>
              </a:prstGeom>
            </p:spPr>
            <p:txBody>
              <a:bodyPr lIns="50800" tIns="50800" rIns="50800" bIns="50800" rtlCol="0" anchor="ctr"/>
              <a:lstStyle/>
              <a:p>
                <a:pPr algn="ctr">
                  <a:lnSpc>
                    <a:spcPts val="2595"/>
                  </a:lnSpc>
                </a:pPr>
                <a:endParaRPr/>
              </a:p>
            </p:txBody>
          </p:sp>
        </p:grpSp>
        <p:sp>
          <p:nvSpPr>
            <p:cNvPr id="26" name="Freeform 26"/>
            <p:cNvSpPr/>
            <p:nvPr/>
          </p:nvSpPr>
          <p:spPr>
            <a:xfrm>
              <a:off x="203377" y="191993"/>
              <a:ext cx="546405" cy="569172"/>
            </a:xfrm>
            <a:custGeom>
              <a:avLst/>
              <a:gdLst/>
              <a:ahLst/>
              <a:cxnLst/>
              <a:rect l="l" t="t" r="r" b="b"/>
              <a:pathLst>
                <a:path w="546405" h="569172">
                  <a:moveTo>
                    <a:pt x="0" y="0"/>
                  </a:moveTo>
                  <a:lnTo>
                    <a:pt x="546405" y="0"/>
                  </a:lnTo>
                  <a:lnTo>
                    <a:pt x="546405" y="569173"/>
                  </a:lnTo>
                  <a:lnTo>
                    <a:pt x="0" y="569173"/>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n-US"/>
            </a:p>
          </p:txBody>
        </p:sp>
        <p:sp>
          <p:nvSpPr>
            <p:cNvPr id="27" name="TextBox 27"/>
            <p:cNvSpPr txBox="1"/>
            <p:nvPr/>
          </p:nvSpPr>
          <p:spPr>
            <a:xfrm>
              <a:off x="2017757" y="6680"/>
              <a:ext cx="3443505" cy="431059"/>
            </a:xfrm>
            <a:prstGeom prst="rect">
              <a:avLst/>
            </a:prstGeom>
          </p:spPr>
          <p:txBody>
            <a:bodyPr lIns="0" tIns="0" rIns="0" bIns="0" rtlCol="0" anchor="t">
              <a:spAutoFit/>
            </a:bodyPr>
            <a:lstStyle/>
            <a:p>
              <a:pPr algn="l">
                <a:lnSpc>
                  <a:spcPts val="2595"/>
                </a:lnSpc>
                <a:spcBef>
                  <a:spcPct val="0"/>
                </a:spcBef>
              </a:pPr>
              <a:r>
                <a:rPr lang="en-US" sz="2163" b="1" dirty="0">
                  <a:solidFill>
                    <a:srgbClr val="FFFFFF"/>
                  </a:solidFill>
                  <a:latin typeface="Calibri (MS) Bold"/>
                  <a:ea typeface="Calibri (MS) Bold"/>
                  <a:cs typeface="Calibri (MS) Bold"/>
                  <a:sym typeface="Calibri (MS) Bold"/>
                </a:rPr>
                <a:t>Opt-in only</a:t>
              </a:r>
            </a:p>
          </p:txBody>
        </p:sp>
        <p:sp>
          <p:nvSpPr>
            <p:cNvPr id="28" name="TextBox 28"/>
            <p:cNvSpPr txBox="1"/>
            <p:nvPr/>
          </p:nvSpPr>
          <p:spPr>
            <a:xfrm>
              <a:off x="2017758" y="934109"/>
              <a:ext cx="8022820" cy="654050"/>
            </a:xfrm>
            <a:prstGeom prst="rect">
              <a:avLst/>
            </a:prstGeom>
          </p:spPr>
          <p:txBody>
            <a:bodyPr lIns="0" tIns="0" rIns="0" bIns="0" rtlCol="0" anchor="t">
              <a:spAutoFit/>
            </a:bodyPr>
            <a:lstStyle/>
            <a:p>
              <a:pPr algn="l">
                <a:lnSpc>
                  <a:spcPts val="1875"/>
                </a:lnSpc>
                <a:spcBef>
                  <a:spcPct val="0"/>
                </a:spcBef>
              </a:pPr>
              <a:r>
                <a:rPr lang="en-US" sz="1563">
                  <a:solidFill>
                    <a:srgbClr val="FFFFFF"/>
                  </a:solidFill>
                  <a:latin typeface="Calibri (MS)"/>
                  <a:ea typeface="Calibri (MS)"/>
                  <a:cs typeface="Calibri (MS)"/>
                  <a:sym typeface="Calibri (MS)"/>
                </a:rPr>
                <a:t>Random, untagged posting stays fully supported for anyone who ignores boards.</a:t>
              </a:r>
            </a:p>
          </p:txBody>
        </p:sp>
      </p:grpSp>
      <p:grpSp>
        <p:nvGrpSpPr>
          <p:cNvPr id="29" name="Group 29"/>
          <p:cNvGrpSpPr/>
          <p:nvPr/>
        </p:nvGrpSpPr>
        <p:grpSpPr>
          <a:xfrm>
            <a:off x="10307688" y="7003200"/>
            <a:ext cx="7530434" cy="1191119"/>
            <a:chOff x="0" y="0"/>
            <a:chExt cx="10040579" cy="1588159"/>
          </a:xfrm>
        </p:grpSpPr>
        <p:grpSp>
          <p:nvGrpSpPr>
            <p:cNvPr id="30" name="Group 30"/>
            <p:cNvGrpSpPr/>
            <p:nvPr/>
          </p:nvGrpSpPr>
          <p:grpSpPr>
            <a:xfrm>
              <a:off x="0" y="0"/>
              <a:ext cx="953159" cy="953159"/>
              <a:chOff x="0" y="0"/>
              <a:chExt cx="812800" cy="812800"/>
            </a:xfrm>
          </p:grpSpPr>
          <p:sp>
            <p:nvSpPr>
              <p:cNvPr id="31" name="Freeform 31"/>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DE59"/>
              </a:solidFill>
            </p:spPr>
            <p:txBody>
              <a:bodyPr/>
              <a:lstStyle/>
              <a:p>
                <a:endParaRPr lang="en-US"/>
              </a:p>
            </p:txBody>
          </p:sp>
          <p:sp>
            <p:nvSpPr>
              <p:cNvPr id="32" name="TextBox 32"/>
              <p:cNvSpPr txBox="1"/>
              <p:nvPr/>
            </p:nvSpPr>
            <p:spPr>
              <a:xfrm>
                <a:off x="76200" y="38100"/>
                <a:ext cx="660400" cy="698500"/>
              </a:xfrm>
              <a:prstGeom prst="rect">
                <a:avLst/>
              </a:prstGeom>
            </p:spPr>
            <p:txBody>
              <a:bodyPr lIns="50800" tIns="50800" rIns="50800" bIns="50800" rtlCol="0" anchor="ctr"/>
              <a:lstStyle/>
              <a:p>
                <a:pPr algn="ctr">
                  <a:lnSpc>
                    <a:spcPts val="2595"/>
                  </a:lnSpc>
                </a:pPr>
                <a:endParaRPr/>
              </a:p>
            </p:txBody>
          </p:sp>
        </p:grpSp>
        <p:sp>
          <p:nvSpPr>
            <p:cNvPr id="33" name="Freeform 33"/>
            <p:cNvSpPr/>
            <p:nvPr/>
          </p:nvSpPr>
          <p:spPr>
            <a:xfrm>
              <a:off x="203377" y="191993"/>
              <a:ext cx="546405" cy="569172"/>
            </a:xfrm>
            <a:custGeom>
              <a:avLst/>
              <a:gdLst/>
              <a:ahLst/>
              <a:cxnLst/>
              <a:rect l="l" t="t" r="r" b="b"/>
              <a:pathLst>
                <a:path w="546405" h="569172">
                  <a:moveTo>
                    <a:pt x="0" y="0"/>
                  </a:moveTo>
                  <a:lnTo>
                    <a:pt x="546405" y="0"/>
                  </a:lnTo>
                  <a:lnTo>
                    <a:pt x="546405" y="569173"/>
                  </a:lnTo>
                  <a:lnTo>
                    <a:pt x="0" y="569173"/>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n-US"/>
            </a:p>
          </p:txBody>
        </p:sp>
        <p:sp>
          <p:nvSpPr>
            <p:cNvPr id="34" name="TextBox 34"/>
            <p:cNvSpPr txBox="1"/>
            <p:nvPr/>
          </p:nvSpPr>
          <p:spPr>
            <a:xfrm>
              <a:off x="2017758" y="6680"/>
              <a:ext cx="4011410" cy="469900"/>
            </a:xfrm>
            <a:prstGeom prst="rect">
              <a:avLst/>
            </a:prstGeom>
          </p:spPr>
          <p:txBody>
            <a:bodyPr lIns="0" tIns="0" rIns="0" bIns="0" rtlCol="0" anchor="t">
              <a:spAutoFit/>
            </a:bodyPr>
            <a:lstStyle/>
            <a:p>
              <a:pPr algn="l">
                <a:lnSpc>
                  <a:spcPts val="2595"/>
                </a:lnSpc>
                <a:spcBef>
                  <a:spcPct val="0"/>
                </a:spcBef>
              </a:pPr>
              <a:r>
                <a:rPr lang="en-US" sz="2163" b="1">
                  <a:solidFill>
                    <a:srgbClr val="FFFFFF"/>
                  </a:solidFill>
                  <a:latin typeface="Calibri (MS) Bold"/>
                  <a:ea typeface="Calibri (MS) Bold"/>
                  <a:cs typeface="Calibri (MS) Bold"/>
                  <a:sym typeface="Calibri (MS) Bold"/>
                </a:rPr>
                <a:t>No shame mechanics</a:t>
              </a:r>
            </a:p>
          </p:txBody>
        </p:sp>
        <p:sp>
          <p:nvSpPr>
            <p:cNvPr id="35" name="TextBox 35"/>
            <p:cNvSpPr txBox="1"/>
            <p:nvPr/>
          </p:nvSpPr>
          <p:spPr>
            <a:xfrm>
              <a:off x="2017758" y="934109"/>
              <a:ext cx="8022820" cy="654050"/>
            </a:xfrm>
            <a:prstGeom prst="rect">
              <a:avLst/>
            </a:prstGeom>
          </p:spPr>
          <p:txBody>
            <a:bodyPr lIns="0" tIns="0" rIns="0" bIns="0" rtlCol="0" anchor="t">
              <a:spAutoFit/>
            </a:bodyPr>
            <a:lstStyle/>
            <a:p>
              <a:pPr algn="l">
                <a:lnSpc>
                  <a:spcPts val="1875"/>
                </a:lnSpc>
                <a:spcBef>
                  <a:spcPct val="0"/>
                </a:spcBef>
              </a:pPr>
              <a:r>
                <a:rPr lang="en-US" sz="1563">
                  <a:solidFill>
                    <a:srgbClr val="FFFFFF"/>
                  </a:solidFill>
                  <a:latin typeface="Calibri (MS)"/>
                  <a:ea typeface="Calibri (MS)"/>
                  <a:cs typeface="Calibri (MS)"/>
                  <a:sym typeface="Calibri (MS)"/>
                </a:rPr>
                <a:t>Stamps and the leaderboard reward participation, no streak-loss messaging.</a:t>
              </a:r>
            </a:p>
          </p:txBody>
        </p:sp>
      </p:gr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2" name="TextBox 2"/>
          <p:cNvSpPr txBox="1"/>
          <p:nvPr/>
        </p:nvSpPr>
        <p:spPr>
          <a:xfrm>
            <a:off x="960120" y="666750"/>
            <a:ext cx="9144000" cy="411651"/>
          </a:xfrm>
          <a:prstGeom prst="rect">
            <a:avLst/>
          </a:prstGeom>
        </p:spPr>
        <p:txBody>
          <a:bodyPr lIns="0" tIns="0" rIns="0" bIns="0" rtlCol="0" anchor="t">
            <a:spAutoFit/>
          </a:bodyPr>
          <a:lstStyle/>
          <a:p>
            <a:pPr>
              <a:lnSpc>
                <a:spcPts val="1559"/>
              </a:lnSpc>
            </a:pPr>
            <a:r>
              <a:rPr lang="en-US" b="1" spc="599" dirty="0">
                <a:solidFill>
                  <a:srgbClr val="93A9CF"/>
                </a:solidFill>
                <a:latin typeface="Arial Bold"/>
                <a:ea typeface="Arial Bold"/>
                <a:cs typeface="Arial Bold"/>
                <a:sym typeface="Arial Bold"/>
              </a:rPr>
              <a:t>PART 3 OF 4</a:t>
            </a:r>
          </a:p>
          <a:p>
            <a:pPr algn="l">
              <a:lnSpc>
                <a:spcPts val="1559"/>
              </a:lnSpc>
            </a:pPr>
            <a:endParaRPr lang="en-US" b="1" spc="599" dirty="0">
              <a:solidFill>
                <a:srgbClr val="93A9CF"/>
              </a:solidFill>
              <a:latin typeface="Arial Bold"/>
              <a:ea typeface="Arial Bold"/>
              <a:cs typeface="Arial Bold"/>
              <a:sym typeface="Arial Bold"/>
            </a:endParaRPr>
          </a:p>
        </p:txBody>
      </p:sp>
      <p:sp>
        <p:nvSpPr>
          <p:cNvPr id="3" name="TextBox 3"/>
          <p:cNvSpPr txBox="1"/>
          <p:nvPr/>
        </p:nvSpPr>
        <p:spPr>
          <a:xfrm>
            <a:off x="960120" y="1670685"/>
            <a:ext cx="8229600" cy="2992755"/>
          </a:xfrm>
          <a:prstGeom prst="rect">
            <a:avLst/>
          </a:prstGeom>
        </p:spPr>
        <p:txBody>
          <a:bodyPr lIns="0" tIns="0" rIns="0" bIns="0" rtlCol="0" anchor="t">
            <a:spAutoFit/>
          </a:bodyPr>
          <a:lstStyle/>
          <a:p>
            <a:pPr algn="l">
              <a:lnSpc>
                <a:spcPts val="24000"/>
              </a:lnSpc>
            </a:pPr>
            <a:r>
              <a:rPr lang="en-US" sz="20000" b="1">
                <a:solidFill>
                  <a:srgbClr val="FFDE59"/>
                </a:solidFill>
                <a:latin typeface="Arial Bold"/>
                <a:ea typeface="Arial Bold"/>
                <a:cs typeface="Arial Bold"/>
                <a:sym typeface="Arial Bold"/>
              </a:rPr>
              <a:t>03</a:t>
            </a:r>
          </a:p>
        </p:txBody>
      </p:sp>
      <p:sp>
        <p:nvSpPr>
          <p:cNvPr id="4" name="TextBox 4"/>
          <p:cNvSpPr txBox="1"/>
          <p:nvPr/>
        </p:nvSpPr>
        <p:spPr>
          <a:xfrm>
            <a:off x="960120" y="4863465"/>
            <a:ext cx="10515600" cy="923330"/>
          </a:xfrm>
          <a:prstGeom prst="rect">
            <a:avLst/>
          </a:prstGeom>
        </p:spPr>
        <p:txBody>
          <a:bodyPr lIns="0" tIns="0" rIns="0" bIns="0" rtlCol="0" anchor="t">
            <a:spAutoFit/>
          </a:bodyPr>
          <a:lstStyle/>
          <a:p>
            <a:pPr algn="l">
              <a:lnSpc>
                <a:spcPts val="7200"/>
              </a:lnSpc>
            </a:pPr>
            <a:r>
              <a:rPr lang="en-US" sz="6000" b="1" dirty="0">
                <a:solidFill>
                  <a:srgbClr val="FFFFFF"/>
                </a:solidFill>
                <a:latin typeface="Arial Bold"/>
                <a:ea typeface="Arial Bold"/>
                <a:cs typeface="Arial Bold"/>
                <a:sym typeface="Arial Bold"/>
              </a:rPr>
              <a:t>User Testing</a:t>
            </a:r>
          </a:p>
        </p:txBody>
      </p:sp>
      <p:sp>
        <p:nvSpPr>
          <p:cNvPr id="5" name="TextBox 5"/>
          <p:cNvSpPr txBox="1"/>
          <p:nvPr/>
        </p:nvSpPr>
        <p:spPr>
          <a:xfrm>
            <a:off x="960120" y="6124575"/>
            <a:ext cx="9601200" cy="962025"/>
          </a:xfrm>
          <a:prstGeom prst="rect">
            <a:avLst/>
          </a:prstGeom>
        </p:spPr>
        <p:txBody>
          <a:bodyPr lIns="0" tIns="0" rIns="0" bIns="0" rtlCol="0" anchor="t">
            <a:spAutoFit/>
          </a:bodyPr>
          <a:lstStyle/>
          <a:p>
            <a:pPr algn="l">
              <a:lnSpc>
                <a:spcPts val="2639"/>
              </a:lnSpc>
            </a:pPr>
            <a:r>
              <a:rPr lang="en-US" sz="2199" dirty="0">
                <a:solidFill>
                  <a:srgbClr val="B4B4BC"/>
                </a:solidFill>
                <a:latin typeface="Calibri (MS)"/>
                <a:ea typeface="Calibri (MS)"/>
                <a:cs typeface="Calibri (MS)"/>
                <a:sym typeface="Calibri (MS)"/>
              </a:rPr>
              <a:t>Five people, three tasks, one survey: what users actually did and said.</a:t>
            </a:r>
          </a:p>
        </p:txBody>
      </p:sp>
      <p:grpSp>
        <p:nvGrpSpPr>
          <p:cNvPr id="6" name="Group 6"/>
          <p:cNvGrpSpPr/>
          <p:nvPr/>
        </p:nvGrpSpPr>
        <p:grpSpPr>
          <a:xfrm rot="-300000">
            <a:off x="11887200" y="2194560"/>
            <a:ext cx="4754880" cy="4754880"/>
            <a:chOff x="0" y="0"/>
            <a:chExt cx="6339840" cy="6339840"/>
          </a:xfrm>
        </p:grpSpPr>
        <p:sp>
          <p:nvSpPr>
            <p:cNvPr id="7" name="Freeform 7" descr="game.png"/>
            <p:cNvSpPr/>
            <p:nvPr/>
          </p:nvSpPr>
          <p:spPr>
            <a:xfrm>
              <a:off x="0" y="0"/>
              <a:ext cx="6339840" cy="6339840"/>
            </a:xfrm>
            <a:custGeom>
              <a:avLst/>
              <a:gdLst/>
              <a:ahLst/>
              <a:cxnLst/>
              <a:rect l="l" t="t" r="r" b="b"/>
              <a:pathLst>
                <a:path w="6339840" h="6339840">
                  <a:moveTo>
                    <a:pt x="0" y="0"/>
                  </a:moveTo>
                  <a:lnTo>
                    <a:pt x="6339840" y="0"/>
                  </a:lnTo>
                  <a:lnTo>
                    <a:pt x="6339840" y="6339840"/>
                  </a:lnTo>
                  <a:lnTo>
                    <a:pt x="0" y="6339840"/>
                  </a:lnTo>
                  <a:lnTo>
                    <a:pt x="0" y="0"/>
                  </a:lnTo>
                  <a:close/>
                </a:path>
              </a:pathLst>
            </a:custGeom>
            <a:blipFill>
              <a:blip r:embed="rId3"/>
              <a:stretch>
                <a:fillRect t="-654" b="-654"/>
              </a:stretch>
            </a:blipFill>
          </p:spPr>
          <p:txBody>
            <a:bodyPr/>
            <a:lstStyle/>
            <a:p>
              <a:endParaRPr lang="en-US"/>
            </a:p>
          </p:txBody>
        </p:sp>
      </p:grpSp>
      <p:grpSp>
        <p:nvGrpSpPr>
          <p:cNvPr id="8" name="Group 8"/>
          <p:cNvGrpSpPr/>
          <p:nvPr/>
        </p:nvGrpSpPr>
        <p:grpSpPr>
          <a:xfrm>
            <a:off x="960120" y="8412480"/>
            <a:ext cx="3920490" cy="777240"/>
            <a:chOff x="0" y="0"/>
            <a:chExt cx="5227320" cy="1036320"/>
          </a:xfrm>
        </p:grpSpPr>
        <p:sp>
          <p:nvSpPr>
            <p:cNvPr id="9" name="Freeform 9"/>
            <p:cNvSpPr/>
            <p:nvPr/>
          </p:nvSpPr>
          <p:spPr>
            <a:xfrm>
              <a:off x="0" y="0"/>
              <a:ext cx="5227320" cy="1036320"/>
            </a:xfrm>
            <a:custGeom>
              <a:avLst/>
              <a:gdLst/>
              <a:ahLst/>
              <a:cxnLst/>
              <a:rect l="l" t="t" r="r" b="b"/>
              <a:pathLst>
                <a:path w="5227320" h="1036320">
                  <a:moveTo>
                    <a:pt x="0" y="146304"/>
                  </a:moveTo>
                  <a:cubicBezTo>
                    <a:pt x="0" y="65532"/>
                    <a:pt x="65532" y="0"/>
                    <a:pt x="146304" y="0"/>
                  </a:cubicBezTo>
                  <a:lnTo>
                    <a:pt x="5081016" y="0"/>
                  </a:lnTo>
                  <a:cubicBezTo>
                    <a:pt x="5161788" y="0"/>
                    <a:pt x="5227320" y="65532"/>
                    <a:pt x="5227320" y="146304"/>
                  </a:cubicBezTo>
                  <a:lnTo>
                    <a:pt x="5227320" y="890016"/>
                  </a:lnTo>
                  <a:cubicBezTo>
                    <a:pt x="5227320" y="970788"/>
                    <a:pt x="5161788" y="1036320"/>
                    <a:pt x="5081016" y="1036320"/>
                  </a:cubicBezTo>
                  <a:lnTo>
                    <a:pt x="146304" y="1036320"/>
                  </a:lnTo>
                  <a:cubicBezTo>
                    <a:pt x="65532" y="1036320"/>
                    <a:pt x="0" y="970788"/>
                    <a:pt x="0" y="890016"/>
                  </a:cubicBezTo>
                  <a:close/>
                </a:path>
              </a:pathLst>
            </a:custGeom>
            <a:solidFill>
              <a:srgbClr val="222222"/>
            </a:solidFill>
          </p:spPr>
          <p:txBody>
            <a:bodyPr/>
            <a:lstStyle/>
            <a:p>
              <a:endParaRPr lang="en-US"/>
            </a:p>
          </p:txBody>
        </p:sp>
      </p:grpSp>
      <p:grpSp>
        <p:nvGrpSpPr>
          <p:cNvPr id="10" name="Group 10"/>
          <p:cNvGrpSpPr/>
          <p:nvPr/>
        </p:nvGrpSpPr>
        <p:grpSpPr>
          <a:xfrm>
            <a:off x="1234440" y="8412480"/>
            <a:ext cx="3371850" cy="777240"/>
            <a:chOff x="0" y="0"/>
            <a:chExt cx="4495800" cy="1036320"/>
          </a:xfrm>
        </p:grpSpPr>
        <p:sp>
          <p:nvSpPr>
            <p:cNvPr id="11" name="Freeform 11"/>
            <p:cNvSpPr/>
            <p:nvPr/>
          </p:nvSpPr>
          <p:spPr>
            <a:xfrm>
              <a:off x="0" y="0"/>
              <a:ext cx="4495799" cy="1036320"/>
            </a:xfrm>
            <a:custGeom>
              <a:avLst/>
              <a:gdLst/>
              <a:ahLst/>
              <a:cxnLst/>
              <a:rect l="l" t="t" r="r" b="b"/>
              <a:pathLst>
                <a:path w="4495799" h="1036320">
                  <a:moveTo>
                    <a:pt x="0" y="0"/>
                  </a:moveTo>
                  <a:lnTo>
                    <a:pt x="4495799" y="0"/>
                  </a:lnTo>
                  <a:lnTo>
                    <a:pt x="4495799" y="1036320"/>
                  </a:lnTo>
                  <a:lnTo>
                    <a:pt x="0" y="1036320"/>
                  </a:lnTo>
                  <a:close/>
                </a:path>
              </a:pathLst>
            </a:custGeom>
            <a:blipFill>
              <a:blip r:embed="rId4">
                <a:alphaModFix amt="0"/>
              </a:blip>
              <a:stretch>
                <a:fillRect t="-34530" b="-34530"/>
              </a:stretch>
            </a:blipFill>
          </p:spPr>
          <p:txBody>
            <a:bodyPr/>
            <a:lstStyle/>
            <a:p>
              <a:endParaRPr lang="en-US"/>
            </a:p>
          </p:txBody>
        </p:sp>
        <p:sp>
          <p:nvSpPr>
            <p:cNvPr id="12" name="TextBox 12"/>
            <p:cNvSpPr txBox="1"/>
            <p:nvPr/>
          </p:nvSpPr>
          <p:spPr>
            <a:xfrm>
              <a:off x="0" y="-38100"/>
              <a:ext cx="4495800" cy="1074420"/>
            </a:xfrm>
            <a:prstGeom prst="rect">
              <a:avLst/>
            </a:prstGeom>
          </p:spPr>
          <p:txBody>
            <a:bodyPr lIns="0" tIns="0" rIns="0" bIns="0" rtlCol="0" anchor="ctr"/>
            <a:lstStyle/>
            <a:p>
              <a:pPr algn="l">
                <a:lnSpc>
                  <a:spcPts val="1800"/>
                </a:lnSpc>
              </a:pPr>
              <a:r>
                <a:rPr lang="en-US" sz="1500" b="1" dirty="0">
                  <a:solidFill>
                    <a:srgbClr val="B4B4BC"/>
                  </a:solidFill>
                  <a:latin typeface="Calibri (MS) Bold"/>
                  <a:ea typeface="Calibri (MS) Bold"/>
                  <a:cs typeface="Calibri (MS) Bold"/>
                  <a:sym typeface="Calibri (MS) Bold"/>
                </a:rPr>
                <a:t>01  </a:t>
              </a:r>
              <a:r>
                <a:rPr lang="en-US" sz="1500" dirty="0">
                  <a:solidFill>
                    <a:srgbClr val="B4B4BC"/>
                  </a:solidFill>
                  <a:latin typeface="Calibri (MS)"/>
                  <a:ea typeface="Calibri (MS)"/>
                  <a:cs typeface="Calibri (MS)"/>
                  <a:sym typeface="Calibri (MS)"/>
                </a:rPr>
                <a:t>Overview &amp; Research</a:t>
              </a:r>
            </a:p>
          </p:txBody>
        </p:sp>
      </p:grpSp>
      <p:grpSp>
        <p:nvGrpSpPr>
          <p:cNvPr id="13" name="Group 13"/>
          <p:cNvGrpSpPr/>
          <p:nvPr/>
        </p:nvGrpSpPr>
        <p:grpSpPr>
          <a:xfrm>
            <a:off x="5109210" y="8412480"/>
            <a:ext cx="3920490" cy="777240"/>
            <a:chOff x="0" y="0"/>
            <a:chExt cx="5227320" cy="1036320"/>
          </a:xfrm>
        </p:grpSpPr>
        <p:sp>
          <p:nvSpPr>
            <p:cNvPr id="14" name="Freeform 14"/>
            <p:cNvSpPr/>
            <p:nvPr/>
          </p:nvSpPr>
          <p:spPr>
            <a:xfrm>
              <a:off x="0" y="0"/>
              <a:ext cx="5227320" cy="1036320"/>
            </a:xfrm>
            <a:custGeom>
              <a:avLst/>
              <a:gdLst/>
              <a:ahLst/>
              <a:cxnLst/>
              <a:rect l="l" t="t" r="r" b="b"/>
              <a:pathLst>
                <a:path w="5227320" h="1036320">
                  <a:moveTo>
                    <a:pt x="0" y="146304"/>
                  </a:moveTo>
                  <a:cubicBezTo>
                    <a:pt x="0" y="65532"/>
                    <a:pt x="65532" y="0"/>
                    <a:pt x="146304" y="0"/>
                  </a:cubicBezTo>
                  <a:lnTo>
                    <a:pt x="5081016" y="0"/>
                  </a:lnTo>
                  <a:cubicBezTo>
                    <a:pt x="5161788" y="0"/>
                    <a:pt x="5227320" y="65532"/>
                    <a:pt x="5227320" y="146304"/>
                  </a:cubicBezTo>
                  <a:lnTo>
                    <a:pt x="5227320" y="890016"/>
                  </a:lnTo>
                  <a:cubicBezTo>
                    <a:pt x="5227320" y="970788"/>
                    <a:pt x="5161788" y="1036320"/>
                    <a:pt x="5081016" y="1036320"/>
                  </a:cubicBezTo>
                  <a:lnTo>
                    <a:pt x="146304" y="1036320"/>
                  </a:lnTo>
                  <a:cubicBezTo>
                    <a:pt x="65532" y="1036320"/>
                    <a:pt x="0" y="970788"/>
                    <a:pt x="0" y="890016"/>
                  </a:cubicBezTo>
                  <a:close/>
                </a:path>
              </a:pathLst>
            </a:custGeom>
            <a:solidFill>
              <a:srgbClr val="222222"/>
            </a:solidFill>
          </p:spPr>
          <p:txBody>
            <a:bodyPr/>
            <a:lstStyle/>
            <a:p>
              <a:endParaRPr lang="en-US"/>
            </a:p>
          </p:txBody>
        </p:sp>
      </p:grpSp>
      <p:grpSp>
        <p:nvGrpSpPr>
          <p:cNvPr id="15" name="Group 15"/>
          <p:cNvGrpSpPr/>
          <p:nvPr/>
        </p:nvGrpSpPr>
        <p:grpSpPr>
          <a:xfrm>
            <a:off x="5383530" y="8412480"/>
            <a:ext cx="3371850" cy="777240"/>
            <a:chOff x="0" y="0"/>
            <a:chExt cx="4495800" cy="1036320"/>
          </a:xfrm>
        </p:grpSpPr>
        <p:sp>
          <p:nvSpPr>
            <p:cNvPr id="16" name="Freeform 16"/>
            <p:cNvSpPr/>
            <p:nvPr/>
          </p:nvSpPr>
          <p:spPr>
            <a:xfrm>
              <a:off x="0" y="0"/>
              <a:ext cx="4495799" cy="1036320"/>
            </a:xfrm>
            <a:custGeom>
              <a:avLst/>
              <a:gdLst/>
              <a:ahLst/>
              <a:cxnLst/>
              <a:rect l="l" t="t" r="r" b="b"/>
              <a:pathLst>
                <a:path w="4495799" h="1036320">
                  <a:moveTo>
                    <a:pt x="0" y="0"/>
                  </a:moveTo>
                  <a:lnTo>
                    <a:pt x="4495799" y="0"/>
                  </a:lnTo>
                  <a:lnTo>
                    <a:pt x="4495799" y="1036320"/>
                  </a:lnTo>
                  <a:lnTo>
                    <a:pt x="0" y="1036320"/>
                  </a:lnTo>
                  <a:close/>
                </a:path>
              </a:pathLst>
            </a:custGeom>
            <a:blipFill>
              <a:blip r:embed="rId4">
                <a:alphaModFix amt="0"/>
              </a:blip>
              <a:stretch>
                <a:fillRect t="-34530" b="-34530"/>
              </a:stretch>
            </a:blipFill>
          </p:spPr>
          <p:txBody>
            <a:bodyPr/>
            <a:lstStyle/>
            <a:p>
              <a:endParaRPr lang="en-US"/>
            </a:p>
          </p:txBody>
        </p:sp>
        <p:sp>
          <p:nvSpPr>
            <p:cNvPr id="17" name="TextBox 17"/>
            <p:cNvSpPr txBox="1"/>
            <p:nvPr/>
          </p:nvSpPr>
          <p:spPr>
            <a:xfrm>
              <a:off x="0" y="-38100"/>
              <a:ext cx="4495800" cy="1074420"/>
            </a:xfrm>
            <a:prstGeom prst="rect">
              <a:avLst/>
            </a:prstGeom>
          </p:spPr>
          <p:txBody>
            <a:bodyPr lIns="0" tIns="0" rIns="0" bIns="0" rtlCol="0" anchor="ctr"/>
            <a:lstStyle/>
            <a:p>
              <a:pPr algn="l">
                <a:lnSpc>
                  <a:spcPts val="1800"/>
                </a:lnSpc>
              </a:pPr>
              <a:r>
                <a:rPr lang="en-US" sz="1500" b="1">
                  <a:solidFill>
                    <a:srgbClr val="B4B4BC"/>
                  </a:solidFill>
                  <a:latin typeface="Calibri (MS) Bold"/>
                  <a:ea typeface="Calibri (MS) Bold"/>
                  <a:cs typeface="Calibri (MS) Bold"/>
                  <a:sym typeface="Calibri (MS) Bold"/>
                </a:rPr>
                <a:t>02  </a:t>
              </a:r>
              <a:r>
                <a:rPr lang="en-US" sz="1500">
                  <a:solidFill>
                    <a:srgbClr val="B4B4BC"/>
                  </a:solidFill>
                  <a:latin typeface="Calibri (MS)"/>
                  <a:ea typeface="Calibri (MS)"/>
                  <a:cs typeface="Calibri (MS)"/>
                  <a:sym typeface="Calibri (MS)"/>
                </a:rPr>
                <a:t>Design</a:t>
              </a:r>
            </a:p>
          </p:txBody>
        </p:sp>
      </p:grpSp>
      <p:grpSp>
        <p:nvGrpSpPr>
          <p:cNvPr id="18" name="Group 18"/>
          <p:cNvGrpSpPr/>
          <p:nvPr/>
        </p:nvGrpSpPr>
        <p:grpSpPr>
          <a:xfrm>
            <a:off x="9258300" y="8412480"/>
            <a:ext cx="3920490" cy="777240"/>
            <a:chOff x="0" y="0"/>
            <a:chExt cx="5227320" cy="1036320"/>
          </a:xfrm>
        </p:grpSpPr>
        <p:sp>
          <p:nvSpPr>
            <p:cNvPr id="19" name="Freeform 19"/>
            <p:cNvSpPr/>
            <p:nvPr/>
          </p:nvSpPr>
          <p:spPr>
            <a:xfrm>
              <a:off x="0" y="0"/>
              <a:ext cx="5227320" cy="1036320"/>
            </a:xfrm>
            <a:custGeom>
              <a:avLst/>
              <a:gdLst/>
              <a:ahLst/>
              <a:cxnLst/>
              <a:rect l="l" t="t" r="r" b="b"/>
              <a:pathLst>
                <a:path w="5227320" h="1036320">
                  <a:moveTo>
                    <a:pt x="0" y="146304"/>
                  </a:moveTo>
                  <a:cubicBezTo>
                    <a:pt x="0" y="65532"/>
                    <a:pt x="65532" y="0"/>
                    <a:pt x="146304" y="0"/>
                  </a:cubicBezTo>
                  <a:lnTo>
                    <a:pt x="5081016" y="0"/>
                  </a:lnTo>
                  <a:cubicBezTo>
                    <a:pt x="5161788" y="0"/>
                    <a:pt x="5227320" y="65532"/>
                    <a:pt x="5227320" y="146304"/>
                  </a:cubicBezTo>
                  <a:lnTo>
                    <a:pt x="5227320" y="890016"/>
                  </a:lnTo>
                  <a:cubicBezTo>
                    <a:pt x="5227320" y="970788"/>
                    <a:pt x="5161788" y="1036320"/>
                    <a:pt x="5081016" y="1036320"/>
                  </a:cubicBezTo>
                  <a:lnTo>
                    <a:pt x="146304" y="1036320"/>
                  </a:lnTo>
                  <a:cubicBezTo>
                    <a:pt x="65532" y="1036320"/>
                    <a:pt x="0" y="970788"/>
                    <a:pt x="0" y="890016"/>
                  </a:cubicBezTo>
                  <a:close/>
                </a:path>
              </a:pathLst>
            </a:custGeom>
            <a:solidFill>
              <a:srgbClr val="FFDE59"/>
            </a:solidFill>
          </p:spPr>
          <p:txBody>
            <a:bodyPr/>
            <a:lstStyle/>
            <a:p>
              <a:endParaRPr lang="en-US"/>
            </a:p>
          </p:txBody>
        </p:sp>
      </p:grpSp>
      <p:grpSp>
        <p:nvGrpSpPr>
          <p:cNvPr id="20" name="Group 20"/>
          <p:cNvGrpSpPr/>
          <p:nvPr/>
        </p:nvGrpSpPr>
        <p:grpSpPr>
          <a:xfrm>
            <a:off x="9532620" y="8412480"/>
            <a:ext cx="3371850" cy="777240"/>
            <a:chOff x="0" y="0"/>
            <a:chExt cx="4495800" cy="1036320"/>
          </a:xfrm>
        </p:grpSpPr>
        <p:sp>
          <p:nvSpPr>
            <p:cNvPr id="21" name="Freeform 21"/>
            <p:cNvSpPr/>
            <p:nvPr/>
          </p:nvSpPr>
          <p:spPr>
            <a:xfrm>
              <a:off x="0" y="0"/>
              <a:ext cx="4495799" cy="1036320"/>
            </a:xfrm>
            <a:custGeom>
              <a:avLst/>
              <a:gdLst/>
              <a:ahLst/>
              <a:cxnLst/>
              <a:rect l="l" t="t" r="r" b="b"/>
              <a:pathLst>
                <a:path w="4495799" h="1036320">
                  <a:moveTo>
                    <a:pt x="0" y="0"/>
                  </a:moveTo>
                  <a:lnTo>
                    <a:pt x="4495799" y="0"/>
                  </a:lnTo>
                  <a:lnTo>
                    <a:pt x="4495799" y="1036320"/>
                  </a:lnTo>
                  <a:lnTo>
                    <a:pt x="0" y="1036320"/>
                  </a:lnTo>
                  <a:close/>
                </a:path>
              </a:pathLst>
            </a:custGeom>
            <a:blipFill>
              <a:blip r:embed="rId4">
                <a:alphaModFix amt="0"/>
              </a:blip>
              <a:stretch>
                <a:fillRect t="-34530" b="-34530"/>
              </a:stretch>
            </a:blipFill>
          </p:spPr>
          <p:txBody>
            <a:bodyPr/>
            <a:lstStyle/>
            <a:p>
              <a:endParaRPr lang="en-US"/>
            </a:p>
          </p:txBody>
        </p:sp>
        <p:sp>
          <p:nvSpPr>
            <p:cNvPr id="22" name="TextBox 22"/>
            <p:cNvSpPr txBox="1"/>
            <p:nvPr/>
          </p:nvSpPr>
          <p:spPr>
            <a:xfrm>
              <a:off x="0" y="-38100"/>
              <a:ext cx="4495800" cy="1074420"/>
            </a:xfrm>
            <a:prstGeom prst="rect">
              <a:avLst/>
            </a:prstGeom>
          </p:spPr>
          <p:txBody>
            <a:bodyPr lIns="0" tIns="0" rIns="0" bIns="0" rtlCol="0" anchor="ctr"/>
            <a:lstStyle/>
            <a:p>
              <a:pPr algn="l">
                <a:lnSpc>
                  <a:spcPts val="1800"/>
                </a:lnSpc>
              </a:pPr>
              <a:r>
                <a:rPr lang="en-US" sz="1500" b="1" dirty="0">
                  <a:solidFill>
                    <a:srgbClr val="0A0A0A"/>
                  </a:solidFill>
                  <a:latin typeface="Calibri (MS) Bold"/>
                  <a:ea typeface="Calibri (MS) Bold"/>
                  <a:cs typeface="Calibri (MS) Bold"/>
                  <a:sym typeface="Calibri (MS) Bold"/>
                </a:rPr>
                <a:t>03  </a:t>
              </a:r>
              <a:r>
                <a:rPr lang="en-US" sz="1500" dirty="0">
                  <a:solidFill>
                    <a:srgbClr val="0A0A0A"/>
                  </a:solidFill>
                  <a:latin typeface="Calibri (MS)"/>
                  <a:ea typeface="Calibri (MS)"/>
                  <a:cs typeface="Calibri (MS)"/>
                  <a:sym typeface="Calibri (MS)"/>
                </a:rPr>
                <a:t>User Testing</a:t>
              </a:r>
            </a:p>
          </p:txBody>
        </p:sp>
      </p:grpSp>
      <p:grpSp>
        <p:nvGrpSpPr>
          <p:cNvPr id="23" name="Group 23"/>
          <p:cNvGrpSpPr/>
          <p:nvPr/>
        </p:nvGrpSpPr>
        <p:grpSpPr>
          <a:xfrm>
            <a:off x="13407390" y="8412480"/>
            <a:ext cx="3920490" cy="777240"/>
            <a:chOff x="0" y="0"/>
            <a:chExt cx="5227320" cy="1036320"/>
          </a:xfrm>
        </p:grpSpPr>
        <p:sp>
          <p:nvSpPr>
            <p:cNvPr id="24" name="Freeform 24"/>
            <p:cNvSpPr/>
            <p:nvPr/>
          </p:nvSpPr>
          <p:spPr>
            <a:xfrm>
              <a:off x="0" y="0"/>
              <a:ext cx="5227320" cy="1036320"/>
            </a:xfrm>
            <a:custGeom>
              <a:avLst/>
              <a:gdLst/>
              <a:ahLst/>
              <a:cxnLst/>
              <a:rect l="l" t="t" r="r" b="b"/>
              <a:pathLst>
                <a:path w="5227320" h="1036320">
                  <a:moveTo>
                    <a:pt x="0" y="146304"/>
                  </a:moveTo>
                  <a:cubicBezTo>
                    <a:pt x="0" y="65532"/>
                    <a:pt x="65532" y="0"/>
                    <a:pt x="146304" y="0"/>
                  </a:cubicBezTo>
                  <a:lnTo>
                    <a:pt x="5081016" y="0"/>
                  </a:lnTo>
                  <a:cubicBezTo>
                    <a:pt x="5161788" y="0"/>
                    <a:pt x="5227320" y="65532"/>
                    <a:pt x="5227320" y="146304"/>
                  </a:cubicBezTo>
                  <a:lnTo>
                    <a:pt x="5227320" y="890016"/>
                  </a:lnTo>
                  <a:cubicBezTo>
                    <a:pt x="5227320" y="970788"/>
                    <a:pt x="5161788" y="1036320"/>
                    <a:pt x="5081016" y="1036320"/>
                  </a:cubicBezTo>
                  <a:lnTo>
                    <a:pt x="146304" y="1036320"/>
                  </a:lnTo>
                  <a:cubicBezTo>
                    <a:pt x="65532" y="1036320"/>
                    <a:pt x="0" y="970788"/>
                    <a:pt x="0" y="890016"/>
                  </a:cubicBezTo>
                  <a:close/>
                </a:path>
              </a:pathLst>
            </a:custGeom>
            <a:solidFill>
              <a:srgbClr val="222222"/>
            </a:solidFill>
          </p:spPr>
          <p:txBody>
            <a:bodyPr/>
            <a:lstStyle/>
            <a:p>
              <a:endParaRPr lang="en-US"/>
            </a:p>
          </p:txBody>
        </p:sp>
      </p:grpSp>
      <p:grpSp>
        <p:nvGrpSpPr>
          <p:cNvPr id="25" name="Group 25"/>
          <p:cNvGrpSpPr/>
          <p:nvPr/>
        </p:nvGrpSpPr>
        <p:grpSpPr>
          <a:xfrm>
            <a:off x="13681710" y="8412480"/>
            <a:ext cx="3371850" cy="777240"/>
            <a:chOff x="0" y="0"/>
            <a:chExt cx="4495800" cy="1036320"/>
          </a:xfrm>
        </p:grpSpPr>
        <p:sp>
          <p:nvSpPr>
            <p:cNvPr id="26" name="Freeform 26"/>
            <p:cNvSpPr/>
            <p:nvPr/>
          </p:nvSpPr>
          <p:spPr>
            <a:xfrm>
              <a:off x="0" y="0"/>
              <a:ext cx="4495799" cy="1036320"/>
            </a:xfrm>
            <a:custGeom>
              <a:avLst/>
              <a:gdLst/>
              <a:ahLst/>
              <a:cxnLst/>
              <a:rect l="l" t="t" r="r" b="b"/>
              <a:pathLst>
                <a:path w="4495799" h="1036320">
                  <a:moveTo>
                    <a:pt x="0" y="0"/>
                  </a:moveTo>
                  <a:lnTo>
                    <a:pt x="4495799" y="0"/>
                  </a:lnTo>
                  <a:lnTo>
                    <a:pt x="4495799" y="1036320"/>
                  </a:lnTo>
                  <a:lnTo>
                    <a:pt x="0" y="1036320"/>
                  </a:lnTo>
                  <a:close/>
                </a:path>
              </a:pathLst>
            </a:custGeom>
            <a:blipFill>
              <a:blip r:embed="rId4">
                <a:alphaModFix amt="0"/>
              </a:blip>
              <a:stretch>
                <a:fillRect t="-34530" b="-34530"/>
              </a:stretch>
            </a:blipFill>
          </p:spPr>
          <p:txBody>
            <a:bodyPr/>
            <a:lstStyle/>
            <a:p>
              <a:endParaRPr lang="en-US"/>
            </a:p>
          </p:txBody>
        </p:sp>
        <p:sp>
          <p:nvSpPr>
            <p:cNvPr id="27" name="TextBox 27"/>
            <p:cNvSpPr txBox="1"/>
            <p:nvPr/>
          </p:nvSpPr>
          <p:spPr>
            <a:xfrm>
              <a:off x="0" y="-38100"/>
              <a:ext cx="4495800" cy="1074420"/>
            </a:xfrm>
            <a:prstGeom prst="rect">
              <a:avLst/>
            </a:prstGeom>
          </p:spPr>
          <p:txBody>
            <a:bodyPr lIns="0" tIns="0" rIns="0" bIns="0" rtlCol="0" anchor="ctr"/>
            <a:lstStyle/>
            <a:p>
              <a:pPr algn="l">
                <a:lnSpc>
                  <a:spcPts val="1800"/>
                </a:lnSpc>
              </a:pPr>
              <a:r>
                <a:rPr lang="en-US" sz="1500" b="1" dirty="0">
                  <a:solidFill>
                    <a:srgbClr val="B4B4BC"/>
                  </a:solidFill>
                  <a:latin typeface="Calibri (MS) Bold"/>
                  <a:ea typeface="Calibri (MS) Bold"/>
                  <a:cs typeface="Calibri (MS) Bold"/>
                  <a:sym typeface="Calibri (MS) Bold"/>
                </a:rPr>
                <a:t>04  </a:t>
              </a:r>
              <a:r>
                <a:rPr lang="en-US" sz="1500" dirty="0">
                  <a:solidFill>
                    <a:srgbClr val="B4B4BC"/>
                  </a:solidFill>
                  <a:latin typeface="Calibri (MS)"/>
                  <a:ea typeface="Calibri (MS)"/>
                  <a:cs typeface="Calibri (MS)"/>
                  <a:sym typeface="Calibri (MS)"/>
                </a:rPr>
                <a:t>Recommendation &amp; Reflection</a:t>
              </a:r>
            </a:p>
          </p:txBody>
        </p:sp>
      </p:gr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2" name="TextBox 2"/>
          <p:cNvSpPr txBox="1"/>
          <p:nvPr/>
        </p:nvSpPr>
        <p:spPr>
          <a:xfrm>
            <a:off x="960120" y="666750"/>
            <a:ext cx="16367760" cy="285750"/>
          </a:xfrm>
          <a:prstGeom prst="rect">
            <a:avLst/>
          </a:prstGeom>
        </p:spPr>
        <p:txBody>
          <a:bodyPr lIns="0" tIns="0" rIns="0" bIns="0" rtlCol="0" anchor="t">
            <a:spAutoFit/>
          </a:bodyPr>
          <a:lstStyle/>
          <a:p>
            <a:pPr algn="l">
              <a:lnSpc>
                <a:spcPts val="2159"/>
              </a:lnSpc>
            </a:pPr>
            <a:r>
              <a:rPr lang="en-US" sz="1799" b="1" spc="830">
                <a:solidFill>
                  <a:srgbClr val="93A9CF"/>
                </a:solidFill>
                <a:latin typeface="Arial Bold"/>
                <a:ea typeface="Arial Bold"/>
                <a:cs typeface="Arial Bold"/>
                <a:sym typeface="Arial Bold"/>
              </a:rPr>
              <a:t>USER TESTING</a:t>
            </a:r>
          </a:p>
        </p:txBody>
      </p:sp>
      <p:sp>
        <p:nvSpPr>
          <p:cNvPr id="3" name="TextBox 3"/>
          <p:cNvSpPr txBox="1"/>
          <p:nvPr/>
        </p:nvSpPr>
        <p:spPr>
          <a:xfrm>
            <a:off x="960120" y="1169670"/>
            <a:ext cx="16367760" cy="638188"/>
          </a:xfrm>
          <a:prstGeom prst="rect">
            <a:avLst/>
          </a:prstGeom>
        </p:spPr>
        <p:txBody>
          <a:bodyPr lIns="0" tIns="0" rIns="0" bIns="0" rtlCol="0" anchor="t">
            <a:spAutoFit/>
          </a:bodyPr>
          <a:lstStyle/>
          <a:p>
            <a:pPr algn="l">
              <a:lnSpc>
                <a:spcPts val="5280"/>
              </a:lnSpc>
            </a:pPr>
            <a:r>
              <a:rPr lang="en-US" sz="4400" b="1" dirty="0">
                <a:solidFill>
                  <a:srgbClr val="FFFFFF"/>
                </a:solidFill>
                <a:latin typeface="Arial Bold"/>
                <a:ea typeface="Arial Bold"/>
                <a:cs typeface="Arial Bold"/>
                <a:sym typeface="Arial Bold"/>
              </a:rPr>
              <a:t>Five People, 40 Minutes, Three Tasks</a:t>
            </a:r>
          </a:p>
        </p:txBody>
      </p:sp>
      <p:sp>
        <p:nvSpPr>
          <p:cNvPr id="4" name="TextBox 4"/>
          <p:cNvSpPr txBox="1"/>
          <p:nvPr/>
        </p:nvSpPr>
        <p:spPr>
          <a:xfrm>
            <a:off x="960120" y="2724150"/>
            <a:ext cx="6949440" cy="339090"/>
          </a:xfrm>
          <a:prstGeom prst="rect">
            <a:avLst/>
          </a:prstGeom>
        </p:spPr>
        <p:txBody>
          <a:bodyPr lIns="0" tIns="0" rIns="0" bIns="0" rtlCol="0" anchor="t">
            <a:spAutoFit/>
          </a:bodyPr>
          <a:lstStyle/>
          <a:p>
            <a:pPr algn="l">
              <a:lnSpc>
                <a:spcPts val="1559"/>
              </a:lnSpc>
            </a:pPr>
            <a:r>
              <a:rPr lang="en-US" sz="1299" b="1" spc="399">
                <a:solidFill>
                  <a:srgbClr val="FFDE59"/>
                </a:solidFill>
                <a:latin typeface="Arial Bold"/>
                <a:ea typeface="Arial Bold"/>
                <a:cs typeface="Arial Bold"/>
                <a:sym typeface="Arial Bold"/>
              </a:rPr>
              <a:t>WHO TOOK PART</a:t>
            </a:r>
          </a:p>
        </p:txBody>
      </p:sp>
      <p:grpSp>
        <p:nvGrpSpPr>
          <p:cNvPr id="5" name="Group 5"/>
          <p:cNvGrpSpPr/>
          <p:nvPr/>
        </p:nvGrpSpPr>
        <p:grpSpPr>
          <a:xfrm>
            <a:off x="953767" y="3285487"/>
            <a:ext cx="6962137" cy="1521457"/>
            <a:chOff x="0" y="0"/>
            <a:chExt cx="9282849" cy="2028609"/>
          </a:xfrm>
        </p:grpSpPr>
        <p:sp>
          <p:nvSpPr>
            <p:cNvPr id="6" name="Freeform 6"/>
            <p:cNvSpPr/>
            <p:nvPr/>
          </p:nvSpPr>
          <p:spPr>
            <a:xfrm>
              <a:off x="0" y="0"/>
              <a:ext cx="9282938" cy="2028698"/>
            </a:xfrm>
            <a:custGeom>
              <a:avLst/>
              <a:gdLst/>
              <a:ahLst/>
              <a:cxnLst/>
              <a:rect l="l" t="t" r="r" b="b"/>
              <a:pathLst>
                <a:path w="9282938" h="2028698">
                  <a:moveTo>
                    <a:pt x="0" y="147574"/>
                  </a:moveTo>
                  <a:cubicBezTo>
                    <a:pt x="0" y="66040"/>
                    <a:pt x="66040" y="0"/>
                    <a:pt x="147574" y="0"/>
                  </a:cubicBezTo>
                  <a:lnTo>
                    <a:pt x="9135364" y="0"/>
                  </a:lnTo>
                  <a:cubicBezTo>
                    <a:pt x="9216898" y="0"/>
                    <a:pt x="9282938" y="66040"/>
                    <a:pt x="9282938" y="147574"/>
                  </a:cubicBezTo>
                  <a:lnTo>
                    <a:pt x="9282938" y="1881124"/>
                  </a:lnTo>
                  <a:cubicBezTo>
                    <a:pt x="9282938" y="1962658"/>
                    <a:pt x="9216898" y="2028698"/>
                    <a:pt x="9135364" y="2028698"/>
                  </a:cubicBezTo>
                  <a:lnTo>
                    <a:pt x="147574" y="2028698"/>
                  </a:lnTo>
                  <a:cubicBezTo>
                    <a:pt x="66040" y="2028571"/>
                    <a:pt x="0" y="1962531"/>
                    <a:pt x="0" y="1881124"/>
                  </a:cubicBezTo>
                  <a:close/>
                </a:path>
              </a:pathLst>
            </a:custGeom>
            <a:solidFill>
              <a:srgbClr val="222222"/>
            </a:solidFill>
            <a:ln w="12700" cap="sq">
              <a:solidFill>
                <a:srgbClr val="222222"/>
              </a:solidFill>
              <a:prstDash val="solid"/>
              <a:miter/>
            </a:ln>
          </p:spPr>
          <p:txBody>
            <a:bodyPr/>
            <a:lstStyle/>
            <a:p>
              <a:endParaRPr lang="en-US"/>
            </a:p>
          </p:txBody>
        </p:sp>
      </p:grpSp>
      <p:grpSp>
        <p:nvGrpSpPr>
          <p:cNvPr id="7" name="Group 7"/>
          <p:cNvGrpSpPr/>
          <p:nvPr/>
        </p:nvGrpSpPr>
        <p:grpSpPr>
          <a:xfrm>
            <a:off x="1325880" y="3474720"/>
            <a:ext cx="1188720" cy="1143000"/>
            <a:chOff x="0" y="0"/>
            <a:chExt cx="1584960" cy="1524000"/>
          </a:xfrm>
        </p:grpSpPr>
        <p:sp>
          <p:nvSpPr>
            <p:cNvPr id="8" name="Freeform 8"/>
            <p:cNvSpPr/>
            <p:nvPr/>
          </p:nvSpPr>
          <p:spPr>
            <a:xfrm>
              <a:off x="0" y="0"/>
              <a:ext cx="1584960" cy="1524000"/>
            </a:xfrm>
            <a:custGeom>
              <a:avLst/>
              <a:gdLst/>
              <a:ahLst/>
              <a:cxnLst/>
              <a:rect l="l" t="t" r="r" b="b"/>
              <a:pathLst>
                <a:path w="1584960" h="1524000">
                  <a:moveTo>
                    <a:pt x="0" y="0"/>
                  </a:moveTo>
                  <a:lnTo>
                    <a:pt x="1584960" y="0"/>
                  </a:lnTo>
                  <a:lnTo>
                    <a:pt x="1584960" y="1524000"/>
                  </a:lnTo>
                  <a:lnTo>
                    <a:pt x="0" y="1524000"/>
                  </a:lnTo>
                  <a:close/>
                </a:path>
              </a:pathLst>
            </a:custGeom>
            <a:blipFill>
              <a:blip r:embed="rId3">
                <a:alphaModFix amt="0"/>
              </a:blip>
              <a:stretch>
                <a:fillRect l="-73368" r="-73368"/>
              </a:stretch>
            </a:blipFill>
          </p:spPr>
          <p:txBody>
            <a:bodyPr/>
            <a:lstStyle/>
            <a:p>
              <a:endParaRPr lang="en-US"/>
            </a:p>
          </p:txBody>
        </p:sp>
        <p:sp>
          <p:nvSpPr>
            <p:cNvPr id="9" name="TextBox 9"/>
            <p:cNvSpPr txBox="1"/>
            <p:nvPr/>
          </p:nvSpPr>
          <p:spPr>
            <a:xfrm>
              <a:off x="0" y="-28575"/>
              <a:ext cx="1584960" cy="1552575"/>
            </a:xfrm>
            <a:prstGeom prst="rect">
              <a:avLst/>
            </a:prstGeom>
          </p:spPr>
          <p:txBody>
            <a:bodyPr lIns="0" tIns="0" rIns="0" bIns="0" rtlCol="0" anchor="ctr"/>
            <a:lstStyle/>
            <a:p>
              <a:pPr algn="l">
                <a:lnSpc>
                  <a:spcPts val="7200"/>
                </a:lnSpc>
              </a:pPr>
              <a:r>
                <a:rPr lang="en-US" sz="6000" b="1">
                  <a:solidFill>
                    <a:srgbClr val="FFDE59"/>
                  </a:solidFill>
                  <a:latin typeface="Arial Bold"/>
                  <a:ea typeface="Arial Bold"/>
                  <a:cs typeface="Arial Bold"/>
                  <a:sym typeface="Arial Bold"/>
                </a:rPr>
                <a:t>1</a:t>
              </a:r>
            </a:p>
          </p:txBody>
        </p:sp>
      </p:grpSp>
      <p:sp>
        <p:nvSpPr>
          <p:cNvPr id="10" name="TextBox 10"/>
          <p:cNvSpPr txBox="1"/>
          <p:nvPr/>
        </p:nvSpPr>
        <p:spPr>
          <a:xfrm>
            <a:off x="2697480" y="3628263"/>
            <a:ext cx="4937760" cy="577081"/>
          </a:xfrm>
          <a:prstGeom prst="rect">
            <a:avLst/>
          </a:prstGeom>
        </p:spPr>
        <p:txBody>
          <a:bodyPr lIns="0" tIns="0" rIns="0" bIns="0" rtlCol="0" anchor="t">
            <a:spAutoFit/>
          </a:bodyPr>
          <a:lstStyle/>
          <a:p>
            <a:pPr algn="l">
              <a:lnSpc>
                <a:spcPts val="2639"/>
              </a:lnSpc>
            </a:pPr>
            <a:r>
              <a:rPr lang="en-US" sz="2199" b="1" dirty="0">
                <a:solidFill>
                  <a:srgbClr val="FFFFFF"/>
                </a:solidFill>
                <a:latin typeface="Calibri (MS) Bold"/>
                <a:ea typeface="Calibri (MS) Bold"/>
                <a:cs typeface="Calibri (MS) Bold"/>
                <a:sym typeface="Calibri (MS) Bold"/>
              </a:rPr>
              <a:t>Daily User</a:t>
            </a:r>
          </a:p>
          <a:p>
            <a:pPr algn="l">
              <a:lnSpc>
                <a:spcPts val="1919"/>
              </a:lnSpc>
            </a:pPr>
            <a:r>
              <a:rPr lang="en-US" sz="1599" dirty="0">
                <a:solidFill>
                  <a:srgbClr val="A6A6AD"/>
                </a:solidFill>
                <a:latin typeface="Calibri (MS)"/>
                <a:ea typeface="Calibri (MS)"/>
                <a:cs typeface="Calibri (MS)"/>
                <a:sym typeface="Calibri (MS)"/>
              </a:rPr>
              <a:t>Uses BeReal most days</a:t>
            </a:r>
          </a:p>
        </p:txBody>
      </p:sp>
      <p:grpSp>
        <p:nvGrpSpPr>
          <p:cNvPr id="11" name="Group 11"/>
          <p:cNvGrpSpPr/>
          <p:nvPr/>
        </p:nvGrpSpPr>
        <p:grpSpPr>
          <a:xfrm>
            <a:off x="953767" y="5068567"/>
            <a:ext cx="6962137" cy="1521457"/>
            <a:chOff x="0" y="0"/>
            <a:chExt cx="9282849" cy="2028609"/>
          </a:xfrm>
        </p:grpSpPr>
        <p:sp>
          <p:nvSpPr>
            <p:cNvPr id="12" name="Freeform 12"/>
            <p:cNvSpPr/>
            <p:nvPr/>
          </p:nvSpPr>
          <p:spPr>
            <a:xfrm>
              <a:off x="0" y="0"/>
              <a:ext cx="9282938" cy="2028698"/>
            </a:xfrm>
            <a:custGeom>
              <a:avLst/>
              <a:gdLst/>
              <a:ahLst/>
              <a:cxnLst/>
              <a:rect l="l" t="t" r="r" b="b"/>
              <a:pathLst>
                <a:path w="9282938" h="2028698">
                  <a:moveTo>
                    <a:pt x="0" y="147574"/>
                  </a:moveTo>
                  <a:cubicBezTo>
                    <a:pt x="0" y="66040"/>
                    <a:pt x="66040" y="0"/>
                    <a:pt x="147574" y="0"/>
                  </a:cubicBezTo>
                  <a:lnTo>
                    <a:pt x="9135364" y="0"/>
                  </a:lnTo>
                  <a:cubicBezTo>
                    <a:pt x="9216898" y="0"/>
                    <a:pt x="9282938" y="66040"/>
                    <a:pt x="9282938" y="147574"/>
                  </a:cubicBezTo>
                  <a:lnTo>
                    <a:pt x="9282938" y="1881124"/>
                  </a:lnTo>
                  <a:cubicBezTo>
                    <a:pt x="9282938" y="1962658"/>
                    <a:pt x="9216898" y="2028698"/>
                    <a:pt x="9135364" y="2028698"/>
                  </a:cubicBezTo>
                  <a:lnTo>
                    <a:pt x="147574" y="2028698"/>
                  </a:lnTo>
                  <a:cubicBezTo>
                    <a:pt x="66040" y="2028571"/>
                    <a:pt x="0" y="1962531"/>
                    <a:pt x="0" y="1881124"/>
                  </a:cubicBezTo>
                  <a:close/>
                </a:path>
              </a:pathLst>
            </a:custGeom>
            <a:solidFill>
              <a:srgbClr val="222222"/>
            </a:solidFill>
            <a:ln w="12700" cap="sq">
              <a:solidFill>
                <a:srgbClr val="222222"/>
              </a:solidFill>
              <a:prstDash val="solid"/>
              <a:miter/>
            </a:ln>
          </p:spPr>
          <p:txBody>
            <a:bodyPr/>
            <a:lstStyle/>
            <a:p>
              <a:endParaRPr lang="en-US"/>
            </a:p>
          </p:txBody>
        </p:sp>
      </p:grpSp>
      <p:grpSp>
        <p:nvGrpSpPr>
          <p:cNvPr id="13" name="Group 13"/>
          <p:cNvGrpSpPr/>
          <p:nvPr/>
        </p:nvGrpSpPr>
        <p:grpSpPr>
          <a:xfrm>
            <a:off x="1325880" y="5257800"/>
            <a:ext cx="1188720" cy="1143000"/>
            <a:chOff x="0" y="0"/>
            <a:chExt cx="1584960" cy="1524000"/>
          </a:xfrm>
        </p:grpSpPr>
        <p:sp>
          <p:nvSpPr>
            <p:cNvPr id="14" name="Freeform 14"/>
            <p:cNvSpPr/>
            <p:nvPr/>
          </p:nvSpPr>
          <p:spPr>
            <a:xfrm>
              <a:off x="0" y="0"/>
              <a:ext cx="1584960" cy="1524000"/>
            </a:xfrm>
            <a:custGeom>
              <a:avLst/>
              <a:gdLst/>
              <a:ahLst/>
              <a:cxnLst/>
              <a:rect l="l" t="t" r="r" b="b"/>
              <a:pathLst>
                <a:path w="1584960" h="1524000">
                  <a:moveTo>
                    <a:pt x="0" y="0"/>
                  </a:moveTo>
                  <a:lnTo>
                    <a:pt x="1584960" y="0"/>
                  </a:lnTo>
                  <a:lnTo>
                    <a:pt x="1584960" y="1524000"/>
                  </a:lnTo>
                  <a:lnTo>
                    <a:pt x="0" y="1524000"/>
                  </a:lnTo>
                  <a:close/>
                </a:path>
              </a:pathLst>
            </a:custGeom>
            <a:blipFill>
              <a:blip r:embed="rId3">
                <a:alphaModFix amt="0"/>
              </a:blip>
              <a:stretch>
                <a:fillRect l="-73368" r="-73368"/>
              </a:stretch>
            </a:blipFill>
          </p:spPr>
          <p:txBody>
            <a:bodyPr/>
            <a:lstStyle/>
            <a:p>
              <a:endParaRPr lang="en-US"/>
            </a:p>
          </p:txBody>
        </p:sp>
        <p:sp>
          <p:nvSpPr>
            <p:cNvPr id="15" name="TextBox 15"/>
            <p:cNvSpPr txBox="1"/>
            <p:nvPr/>
          </p:nvSpPr>
          <p:spPr>
            <a:xfrm>
              <a:off x="0" y="-28575"/>
              <a:ext cx="1584960" cy="1552575"/>
            </a:xfrm>
            <a:prstGeom prst="rect">
              <a:avLst/>
            </a:prstGeom>
          </p:spPr>
          <p:txBody>
            <a:bodyPr lIns="0" tIns="0" rIns="0" bIns="0" rtlCol="0" anchor="ctr"/>
            <a:lstStyle/>
            <a:p>
              <a:pPr algn="l">
                <a:lnSpc>
                  <a:spcPts val="7200"/>
                </a:lnSpc>
              </a:pPr>
              <a:r>
                <a:rPr lang="en-US" sz="6000" b="1">
                  <a:solidFill>
                    <a:srgbClr val="FFDE59"/>
                  </a:solidFill>
                  <a:latin typeface="Arial Bold"/>
                  <a:ea typeface="Arial Bold"/>
                  <a:cs typeface="Arial Bold"/>
                  <a:sym typeface="Arial Bold"/>
                </a:rPr>
                <a:t>2</a:t>
              </a:r>
            </a:p>
          </p:txBody>
        </p:sp>
      </p:grpSp>
      <p:sp>
        <p:nvSpPr>
          <p:cNvPr id="16" name="TextBox 16"/>
          <p:cNvSpPr txBox="1"/>
          <p:nvPr/>
        </p:nvSpPr>
        <p:spPr>
          <a:xfrm>
            <a:off x="2697480" y="5411343"/>
            <a:ext cx="4937760" cy="577081"/>
          </a:xfrm>
          <a:prstGeom prst="rect">
            <a:avLst/>
          </a:prstGeom>
        </p:spPr>
        <p:txBody>
          <a:bodyPr lIns="0" tIns="0" rIns="0" bIns="0" rtlCol="0" anchor="t">
            <a:spAutoFit/>
          </a:bodyPr>
          <a:lstStyle/>
          <a:p>
            <a:pPr algn="l">
              <a:lnSpc>
                <a:spcPts val="2639"/>
              </a:lnSpc>
            </a:pPr>
            <a:r>
              <a:rPr lang="en-US" sz="2199" b="1" dirty="0">
                <a:solidFill>
                  <a:srgbClr val="FFFFFF"/>
                </a:solidFill>
                <a:latin typeface="Calibri (MS) Bold"/>
                <a:ea typeface="Calibri (MS) Bold"/>
                <a:cs typeface="Calibri (MS) Bold"/>
                <a:sym typeface="Calibri (MS) Bold"/>
              </a:rPr>
              <a:t>Occasional Users</a:t>
            </a:r>
          </a:p>
          <a:p>
            <a:pPr algn="l">
              <a:lnSpc>
                <a:spcPts val="1919"/>
              </a:lnSpc>
            </a:pPr>
            <a:r>
              <a:rPr lang="en-US" sz="1599" dirty="0">
                <a:solidFill>
                  <a:srgbClr val="A6A6AD"/>
                </a:solidFill>
                <a:latin typeface="Calibri (MS)"/>
                <a:ea typeface="Calibri (MS)"/>
                <a:cs typeface="Calibri (MS)"/>
                <a:sym typeface="Calibri (MS)"/>
              </a:rPr>
              <a:t>A few times a month</a:t>
            </a:r>
          </a:p>
        </p:txBody>
      </p:sp>
      <p:grpSp>
        <p:nvGrpSpPr>
          <p:cNvPr id="17" name="Group 17"/>
          <p:cNvGrpSpPr/>
          <p:nvPr/>
        </p:nvGrpSpPr>
        <p:grpSpPr>
          <a:xfrm>
            <a:off x="953767" y="6851647"/>
            <a:ext cx="6962137" cy="1521457"/>
            <a:chOff x="0" y="0"/>
            <a:chExt cx="9282849" cy="2028609"/>
          </a:xfrm>
        </p:grpSpPr>
        <p:sp>
          <p:nvSpPr>
            <p:cNvPr id="18" name="Freeform 18"/>
            <p:cNvSpPr/>
            <p:nvPr/>
          </p:nvSpPr>
          <p:spPr>
            <a:xfrm>
              <a:off x="0" y="0"/>
              <a:ext cx="9282938" cy="2028698"/>
            </a:xfrm>
            <a:custGeom>
              <a:avLst/>
              <a:gdLst/>
              <a:ahLst/>
              <a:cxnLst/>
              <a:rect l="l" t="t" r="r" b="b"/>
              <a:pathLst>
                <a:path w="9282938" h="2028698">
                  <a:moveTo>
                    <a:pt x="0" y="147574"/>
                  </a:moveTo>
                  <a:cubicBezTo>
                    <a:pt x="0" y="66040"/>
                    <a:pt x="66040" y="0"/>
                    <a:pt x="147574" y="0"/>
                  </a:cubicBezTo>
                  <a:lnTo>
                    <a:pt x="9135364" y="0"/>
                  </a:lnTo>
                  <a:cubicBezTo>
                    <a:pt x="9216898" y="0"/>
                    <a:pt x="9282938" y="66040"/>
                    <a:pt x="9282938" y="147574"/>
                  </a:cubicBezTo>
                  <a:lnTo>
                    <a:pt x="9282938" y="1881124"/>
                  </a:lnTo>
                  <a:cubicBezTo>
                    <a:pt x="9282938" y="1962658"/>
                    <a:pt x="9216898" y="2028698"/>
                    <a:pt x="9135364" y="2028698"/>
                  </a:cubicBezTo>
                  <a:lnTo>
                    <a:pt x="147574" y="2028698"/>
                  </a:lnTo>
                  <a:cubicBezTo>
                    <a:pt x="66040" y="2028571"/>
                    <a:pt x="0" y="1962531"/>
                    <a:pt x="0" y="1881124"/>
                  </a:cubicBezTo>
                  <a:close/>
                </a:path>
              </a:pathLst>
            </a:custGeom>
            <a:solidFill>
              <a:srgbClr val="222222"/>
            </a:solidFill>
            <a:ln w="12700" cap="sq">
              <a:solidFill>
                <a:srgbClr val="222222"/>
              </a:solidFill>
              <a:prstDash val="solid"/>
              <a:miter/>
            </a:ln>
          </p:spPr>
          <p:txBody>
            <a:bodyPr/>
            <a:lstStyle/>
            <a:p>
              <a:endParaRPr lang="en-US"/>
            </a:p>
          </p:txBody>
        </p:sp>
      </p:grpSp>
      <p:grpSp>
        <p:nvGrpSpPr>
          <p:cNvPr id="19" name="Group 19"/>
          <p:cNvGrpSpPr/>
          <p:nvPr/>
        </p:nvGrpSpPr>
        <p:grpSpPr>
          <a:xfrm>
            <a:off x="1325880" y="7040880"/>
            <a:ext cx="1188720" cy="1143000"/>
            <a:chOff x="0" y="0"/>
            <a:chExt cx="1584960" cy="1524000"/>
          </a:xfrm>
        </p:grpSpPr>
        <p:sp>
          <p:nvSpPr>
            <p:cNvPr id="20" name="Freeform 20"/>
            <p:cNvSpPr/>
            <p:nvPr/>
          </p:nvSpPr>
          <p:spPr>
            <a:xfrm>
              <a:off x="0" y="0"/>
              <a:ext cx="1584960" cy="1524000"/>
            </a:xfrm>
            <a:custGeom>
              <a:avLst/>
              <a:gdLst/>
              <a:ahLst/>
              <a:cxnLst/>
              <a:rect l="l" t="t" r="r" b="b"/>
              <a:pathLst>
                <a:path w="1584960" h="1524000">
                  <a:moveTo>
                    <a:pt x="0" y="0"/>
                  </a:moveTo>
                  <a:lnTo>
                    <a:pt x="1584960" y="0"/>
                  </a:lnTo>
                  <a:lnTo>
                    <a:pt x="1584960" y="1524000"/>
                  </a:lnTo>
                  <a:lnTo>
                    <a:pt x="0" y="1524000"/>
                  </a:lnTo>
                  <a:close/>
                </a:path>
              </a:pathLst>
            </a:custGeom>
            <a:blipFill>
              <a:blip r:embed="rId3">
                <a:alphaModFix amt="0"/>
              </a:blip>
              <a:stretch>
                <a:fillRect l="-73368" r="-73368"/>
              </a:stretch>
            </a:blipFill>
          </p:spPr>
          <p:txBody>
            <a:bodyPr/>
            <a:lstStyle/>
            <a:p>
              <a:endParaRPr lang="en-US"/>
            </a:p>
          </p:txBody>
        </p:sp>
        <p:sp>
          <p:nvSpPr>
            <p:cNvPr id="21" name="TextBox 21"/>
            <p:cNvSpPr txBox="1"/>
            <p:nvPr/>
          </p:nvSpPr>
          <p:spPr>
            <a:xfrm>
              <a:off x="0" y="-28575"/>
              <a:ext cx="1584960" cy="1552575"/>
            </a:xfrm>
            <a:prstGeom prst="rect">
              <a:avLst/>
            </a:prstGeom>
          </p:spPr>
          <p:txBody>
            <a:bodyPr lIns="0" tIns="0" rIns="0" bIns="0" rtlCol="0" anchor="ctr"/>
            <a:lstStyle/>
            <a:p>
              <a:pPr algn="l">
                <a:lnSpc>
                  <a:spcPts val="7200"/>
                </a:lnSpc>
              </a:pPr>
              <a:r>
                <a:rPr lang="en-US" sz="6000" b="1">
                  <a:solidFill>
                    <a:srgbClr val="FFDE59"/>
                  </a:solidFill>
                  <a:latin typeface="Arial Bold"/>
                  <a:ea typeface="Arial Bold"/>
                  <a:cs typeface="Arial Bold"/>
                  <a:sym typeface="Arial Bold"/>
                </a:rPr>
                <a:t>2</a:t>
              </a:r>
            </a:p>
          </p:txBody>
        </p:sp>
      </p:grpSp>
      <p:sp>
        <p:nvSpPr>
          <p:cNvPr id="22" name="TextBox 22"/>
          <p:cNvSpPr txBox="1"/>
          <p:nvPr/>
        </p:nvSpPr>
        <p:spPr>
          <a:xfrm>
            <a:off x="2697480" y="7194423"/>
            <a:ext cx="4937760" cy="577081"/>
          </a:xfrm>
          <a:prstGeom prst="rect">
            <a:avLst/>
          </a:prstGeom>
        </p:spPr>
        <p:txBody>
          <a:bodyPr lIns="0" tIns="0" rIns="0" bIns="0" rtlCol="0" anchor="t">
            <a:spAutoFit/>
          </a:bodyPr>
          <a:lstStyle/>
          <a:p>
            <a:pPr algn="l">
              <a:lnSpc>
                <a:spcPts val="2639"/>
              </a:lnSpc>
            </a:pPr>
            <a:r>
              <a:rPr lang="en-US" sz="2199" b="1" dirty="0">
                <a:solidFill>
                  <a:srgbClr val="FFFFFF"/>
                </a:solidFill>
                <a:latin typeface="Calibri (MS) Bold"/>
                <a:ea typeface="Calibri (MS) Bold"/>
                <a:cs typeface="Calibri (MS) Bold"/>
                <a:sym typeface="Calibri (MS) Bold"/>
              </a:rPr>
              <a:t>Rare Users</a:t>
            </a:r>
          </a:p>
          <a:p>
            <a:pPr algn="l">
              <a:lnSpc>
                <a:spcPts val="1919"/>
              </a:lnSpc>
            </a:pPr>
            <a:r>
              <a:rPr lang="en-US" sz="1599" dirty="0">
                <a:solidFill>
                  <a:srgbClr val="A6A6AD"/>
                </a:solidFill>
                <a:latin typeface="Calibri (MS)"/>
                <a:ea typeface="Calibri (MS)"/>
                <a:cs typeface="Calibri (MS)"/>
                <a:sym typeface="Calibri (MS)"/>
              </a:rPr>
              <a:t>Rarely or never</a:t>
            </a:r>
          </a:p>
        </p:txBody>
      </p:sp>
      <p:sp>
        <p:nvSpPr>
          <p:cNvPr id="23" name="TextBox 23"/>
          <p:cNvSpPr txBox="1"/>
          <p:nvPr/>
        </p:nvSpPr>
        <p:spPr>
          <a:xfrm>
            <a:off x="9418320" y="2724150"/>
            <a:ext cx="7909560" cy="339090"/>
          </a:xfrm>
          <a:prstGeom prst="rect">
            <a:avLst/>
          </a:prstGeom>
        </p:spPr>
        <p:txBody>
          <a:bodyPr lIns="0" tIns="0" rIns="0" bIns="0" rtlCol="0" anchor="t">
            <a:spAutoFit/>
          </a:bodyPr>
          <a:lstStyle/>
          <a:p>
            <a:pPr algn="l">
              <a:lnSpc>
                <a:spcPts val="1559"/>
              </a:lnSpc>
            </a:pPr>
            <a:r>
              <a:rPr lang="en-US" sz="1299" b="1" spc="399">
                <a:solidFill>
                  <a:srgbClr val="FFDE59"/>
                </a:solidFill>
                <a:latin typeface="Arial Bold"/>
                <a:ea typeface="Arial Bold"/>
                <a:cs typeface="Arial Bold"/>
                <a:sym typeface="Arial Bold"/>
              </a:rPr>
              <a:t>HOW THE SESSION RAN</a:t>
            </a:r>
          </a:p>
        </p:txBody>
      </p:sp>
      <p:grpSp>
        <p:nvGrpSpPr>
          <p:cNvPr id="24" name="Group 24"/>
          <p:cNvGrpSpPr/>
          <p:nvPr/>
        </p:nvGrpSpPr>
        <p:grpSpPr>
          <a:xfrm>
            <a:off x="9411967" y="3303775"/>
            <a:ext cx="579625" cy="579625"/>
            <a:chOff x="0" y="0"/>
            <a:chExt cx="772833" cy="772833"/>
          </a:xfrm>
        </p:grpSpPr>
        <p:sp>
          <p:nvSpPr>
            <p:cNvPr id="25" name="Freeform 25"/>
            <p:cNvSpPr/>
            <p:nvPr/>
          </p:nvSpPr>
          <p:spPr>
            <a:xfrm>
              <a:off x="0" y="0"/>
              <a:ext cx="772795" cy="772795"/>
            </a:xfrm>
            <a:custGeom>
              <a:avLst/>
              <a:gdLst/>
              <a:ahLst/>
              <a:cxnLst/>
              <a:rect l="l" t="t" r="r" b="b"/>
              <a:pathLst>
                <a:path w="772795" h="772795">
                  <a:moveTo>
                    <a:pt x="0" y="386461"/>
                  </a:moveTo>
                  <a:cubicBezTo>
                    <a:pt x="0" y="172974"/>
                    <a:pt x="172974" y="0"/>
                    <a:pt x="386461" y="0"/>
                  </a:cubicBezTo>
                  <a:cubicBezTo>
                    <a:pt x="599948" y="0"/>
                    <a:pt x="772795" y="172974"/>
                    <a:pt x="772795" y="386461"/>
                  </a:cubicBezTo>
                  <a:cubicBezTo>
                    <a:pt x="772795" y="599948"/>
                    <a:pt x="599821" y="772795"/>
                    <a:pt x="386461" y="772795"/>
                  </a:cubicBezTo>
                  <a:cubicBezTo>
                    <a:pt x="173101" y="772795"/>
                    <a:pt x="0" y="599821"/>
                    <a:pt x="0" y="386461"/>
                  </a:cubicBezTo>
                  <a:close/>
                </a:path>
              </a:pathLst>
            </a:custGeom>
            <a:solidFill>
              <a:srgbClr val="FFDE59"/>
            </a:solidFill>
            <a:ln w="12700" cap="sq">
              <a:solidFill>
                <a:srgbClr val="FFDE59"/>
              </a:solidFill>
              <a:prstDash val="solid"/>
              <a:miter/>
            </a:ln>
          </p:spPr>
          <p:txBody>
            <a:bodyPr/>
            <a:lstStyle/>
            <a:p>
              <a:endParaRPr lang="en-US"/>
            </a:p>
          </p:txBody>
        </p:sp>
      </p:grpSp>
      <p:grpSp>
        <p:nvGrpSpPr>
          <p:cNvPr id="26" name="Group 26"/>
          <p:cNvGrpSpPr/>
          <p:nvPr/>
        </p:nvGrpSpPr>
        <p:grpSpPr>
          <a:xfrm>
            <a:off x="9418320" y="3310128"/>
            <a:ext cx="566928" cy="566928"/>
            <a:chOff x="0" y="0"/>
            <a:chExt cx="755904" cy="755904"/>
          </a:xfrm>
        </p:grpSpPr>
        <p:sp>
          <p:nvSpPr>
            <p:cNvPr id="27" name="Freeform 27"/>
            <p:cNvSpPr/>
            <p:nvPr/>
          </p:nvSpPr>
          <p:spPr>
            <a:xfrm>
              <a:off x="0" y="0"/>
              <a:ext cx="755904" cy="755904"/>
            </a:xfrm>
            <a:custGeom>
              <a:avLst/>
              <a:gdLst/>
              <a:ahLst/>
              <a:cxnLst/>
              <a:rect l="l" t="t" r="r" b="b"/>
              <a:pathLst>
                <a:path w="755904" h="755904">
                  <a:moveTo>
                    <a:pt x="0" y="0"/>
                  </a:moveTo>
                  <a:lnTo>
                    <a:pt x="755904" y="0"/>
                  </a:lnTo>
                  <a:lnTo>
                    <a:pt x="755904" y="755904"/>
                  </a:lnTo>
                  <a:lnTo>
                    <a:pt x="0" y="755904"/>
                  </a:lnTo>
                  <a:close/>
                </a:path>
              </a:pathLst>
            </a:custGeom>
            <a:blipFill>
              <a:blip r:embed="rId3">
                <a:alphaModFix amt="0"/>
              </a:blip>
              <a:stretch>
                <a:fillRect l="-78303" r="-78303"/>
              </a:stretch>
            </a:blipFill>
          </p:spPr>
          <p:txBody>
            <a:bodyPr/>
            <a:lstStyle/>
            <a:p>
              <a:endParaRPr lang="en-US"/>
            </a:p>
          </p:txBody>
        </p:sp>
        <p:sp>
          <p:nvSpPr>
            <p:cNvPr id="28" name="TextBox 28"/>
            <p:cNvSpPr txBox="1"/>
            <p:nvPr/>
          </p:nvSpPr>
          <p:spPr>
            <a:xfrm>
              <a:off x="0" y="-19050"/>
              <a:ext cx="755904" cy="774954"/>
            </a:xfrm>
            <a:prstGeom prst="rect">
              <a:avLst/>
            </a:prstGeom>
          </p:spPr>
          <p:txBody>
            <a:bodyPr lIns="0" tIns="0" rIns="0" bIns="0" rtlCol="0" anchor="ctr"/>
            <a:lstStyle/>
            <a:p>
              <a:pPr algn="ctr">
                <a:lnSpc>
                  <a:spcPts val="2160"/>
                </a:lnSpc>
              </a:pPr>
              <a:r>
                <a:rPr lang="en-US" sz="1800" b="1">
                  <a:solidFill>
                    <a:srgbClr val="0A0A0A"/>
                  </a:solidFill>
                  <a:latin typeface="Arial Bold"/>
                  <a:ea typeface="Arial Bold"/>
                  <a:cs typeface="Arial Bold"/>
                  <a:sym typeface="Arial Bold"/>
                </a:rPr>
                <a:t>1</a:t>
              </a:r>
            </a:p>
          </p:txBody>
        </p:sp>
      </p:grpSp>
      <p:sp>
        <p:nvSpPr>
          <p:cNvPr id="29" name="TextBox 29"/>
          <p:cNvSpPr txBox="1"/>
          <p:nvPr/>
        </p:nvSpPr>
        <p:spPr>
          <a:xfrm>
            <a:off x="10287000" y="3235452"/>
            <a:ext cx="7040880" cy="422148"/>
          </a:xfrm>
          <a:prstGeom prst="rect">
            <a:avLst/>
          </a:prstGeom>
        </p:spPr>
        <p:txBody>
          <a:bodyPr lIns="0" tIns="0" rIns="0" bIns="0" rtlCol="0" anchor="t">
            <a:spAutoFit/>
          </a:bodyPr>
          <a:lstStyle/>
          <a:p>
            <a:pPr algn="l">
              <a:lnSpc>
                <a:spcPts val="2400"/>
              </a:lnSpc>
            </a:pPr>
            <a:r>
              <a:rPr lang="en-US" sz="2000" b="1">
                <a:solidFill>
                  <a:srgbClr val="FFFFFF"/>
                </a:solidFill>
                <a:latin typeface="Calibri (MS) Bold"/>
                <a:ea typeface="Calibri (MS) Bold"/>
                <a:cs typeface="Calibri (MS) Bold"/>
                <a:sym typeface="Calibri (MS) Bold"/>
              </a:rPr>
              <a:t>Warm-up  </a:t>
            </a:r>
            <a:r>
              <a:rPr lang="en-US" sz="2000">
                <a:solidFill>
                  <a:srgbClr val="93A9CF"/>
                </a:solidFill>
                <a:latin typeface="Calibri (MS)"/>
                <a:ea typeface="Calibri (MS)"/>
                <a:cs typeface="Calibri (MS)"/>
                <a:sym typeface="Calibri (MS)"/>
              </a:rPr>
              <a:t>5 min</a:t>
            </a:r>
          </a:p>
        </p:txBody>
      </p:sp>
      <p:sp>
        <p:nvSpPr>
          <p:cNvPr id="30" name="TextBox 30"/>
          <p:cNvSpPr txBox="1"/>
          <p:nvPr/>
        </p:nvSpPr>
        <p:spPr>
          <a:xfrm>
            <a:off x="10287000" y="3665220"/>
            <a:ext cx="7040880" cy="815340"/>
          </a:xfrm>
          <a:prstGeom prst="rect">
            <a:avLst/>
          </a:prstGeom>
        </p:spPr>
        <p:txBody>
          <a:bodyPr lIns="0" tIns="0" rIns="0" bIns="0" rtlCol="0" anchor="t">
            <a:spAutoFit/>
          </a:bodyPr>
          <a:lstStyle/>
          <a:p>
            <a:pPr algn="l">
              <a:lnSpc>
                <a:spcPts val="1800"/>
              </a:lnSpc>
            </a:pPr>
            <a:r>
              <a:rPr lang="en-US" sz="1500">
                <a:solidFill>
                  <a:srgbClr val="A6A6AD"/>
                </a:solidFill>
                <a:latin typeface="Calibri (MS)"/>
                <a:ea typeface="Calibri (MS)"/>
                <a:cs typeface="Calibri (MS)"/>
                <a:sym typeface="Calibri (MS)"/>
              </a:rPr>
              <a:t>How often people open and post on BeReal today.</a:t>
            </a:r>
          </a:p>
        </p:txBody>
      </p:sp>
      <p:grpSp>
        <p:nvGrpSpPr>
          <p:cNvPr id="31" name="Group 31"/>
          <p:cNvGrpSpPr/>
          <p:nvPr/>
        </p:nvGrpSpPr>
        <p:grpSpPr>
          <a:xfrm>
            <a:off x="9411967" y="4675375"/>
            <a:ext cx="579625" cy="579625"/>
            <a:chOff x="0" y="0"/>
            <a:chExt cx="772833" cy="772833"/>
          </a:xfrm>
        </p:grpSpPr>
        <p:sp>
          <p:nvSpPr>
            <p:cNvPr id="32" name="Freeform 32"/>
            <p:cNvSpPr/>
            <p:nvPr/>
          </p:nvSpPr>
          <p:spPr>
            <a:xfrm>
              <a:off x="0" y="0"/>
              <a:ext cx="772795" cy="772795"/>
            </a:xfrm>
            <a:custGeom>
              <a:avLst/>
              <a:gdLst/>
              <a:ahLst/>
              <a:cxnLst/>
              <a:rect l="l" t="t" r="r" b="b"/>
              <a:pathLst>
                <a:path w="772795" h="772795">
                  <a:moveTo>
                    <a:pt x="0" y="386461"/>
                  </a:moveTo>
                  <a:cubicBezTo>
                    <a:pt x="0" y="172974"/>
                    <a:pt x="172974" y="0"/>
                    <a:pt x="386461" y="0"/>
                  </a:cubicBezTo>
                  <a:cubicBezTo>
                    <a:pt x="599948" y="0"/>
                    <a:pt x="772795" y="172974"/>
                    <a:pt x="772795" y="386461"/>
                  </a:cubicBezTo>
                  <a:cubicBezTo>
                    <a:pt x="772795" y="599948"/>
                    <a:pt x="599821" y="772795"/>
                    <a:pt x="386461" y="772795"/>
                  </a:cubicBezTo>
                  <a:cubicBezTo>
                    <a:pt x="173101" y="772795"/>
                    <a:pt x="0" y="599821"/>
                    <a:pt x="0" y="386461"/>
                  </a:cubicBezTo>
                  <a:close/>
                </a:path>
              </a:pathLst>
            </a:custGeom>
            <a:solidFill>
              <a:srgbClr val="FFDE59"/>
            </a:solidFill>
            <a:ln w="12700" cap="sq">
              <a:solidFill>
                <a:srgbClr val="FFDE59"/>
              </a:solidFill>
              <a:prstDash val="solid"/>
              <a:miter/>
            </a:ln>
          </p:spPr>
          <p:txBody>
            <a:bodyPr/>
            <a:lstStyle/>
            <a:p>
              <a:endParaRPr lang="en-US"/>
            </a:p>
          </p:txBody>
        </p:sp>
      </p:grpSp>
      <p:grpSp>
        <p:nvGrpSpPr>
          <p:cNvPr id="33" name="Group 33"/>
          <p:cNvGrpSpPr/>
          <p:nvPr/>
        </p:nvGrpSpPr>
        <p:grpSpPr>
          <a:xfrm>
            <a:off x="9418320" y="4681728"/>
            <a:ext cx="566928" cy="566928"/>
            <a:chOff x="0" y="0"/>
            <a:chExt cx="755904" cy="755904"/>
          </a:xfrm>
        </p:grpSpPr>
        <p:sp>
          <p:nvSpPr>
            <p:cNvPr id="34" name="Freeform 34"/>
            <p:cNvSpPr/>
            <p:nvPr/>
          </p:nvSpPr>
          <p:spPr>
            <a:xfrm>
              <a:off x="0" y="0"/>
              <a:ext cx="755904" cy="755904"/>
            </a:xfrm>
            <a:custGeom>
              <a:avLst/>
              <a:gdLst/>
              <a:ahLst/>
              <a:cxnLst/>
              <a:rect l="l" t="t" r="r" b="b"/>
              <a:pathLst>
                <a:path w="755904" h="755904">
                  <a:moveTo>
                    <a:pt x="0" y="0"/>
                  </a:moveTo>
                  <a:lnTo>
                    <a:pt x="755904" y="0"/>
                  </a:lnTo>
                  <a:lnTo>
                    <a:pt x="755904" y="755904"/>
                  </a:lnTo>
                  <a:lnTo>
                    <a:pt x="0" y="755904"/>
                  </a:lnTo>
                  <a:close/>
                </a:path>
              </a:pathLst>
            </a:custGeom>
            <a:blipFill>
              <a:blip r:embed="rId3">
                <a:alphaModFix amt="0"/>
              </a:blip>
              <a:stretch>
                <a:fillRect l="-78303" r="-78303"/>
              </a:stretch>
            </a:blipFill>
          </p:spPr>
          <p:txBody>
            <a:bodyPr/>
            <a:lstStyle/>
            <a:p>
              <a:endParaRPr lang="en-US"/>
            </a:p>
          </p:txBody>
        </p:sp>
        <p:sp>
          <p:nvSpPr>
            <p:cNvPr id="35" name="TextBox 35"/>
            <p:cNvSpPr txBox="1"/>
            <p:nvPr/>
          </p:nvSpPr>
          <p:spPr>
            <a:xfrm>
              <a:off x="0" y="-19050"/>
              <a:ext cx="755904" cy="774954"/>
            </a:xfrm>
            <a:prstGeom prst="rect">
              <a:avLst/>
            </a:prstGeom>
          </p:spPr>
          <p:txBody>
            <a:bodyPr lIns="0" tIns="0" rIns="0" bIns="0" rtlCol="0" anchor="ctr"/>
            <a:lstStyle/>
            <a:p>
              <a:pPr algn="ctr">
                <a:lnSpc>
                  <a:spcPts val="2160"/>
                </a:lnSpc>
              </a:pPr>
              <a:r>
                <a:rPr lang="en-US" sz="1800" b="1">
                  <a:solidFill>
                    <a:srgbClr val="0A0A0A"/>
                  </a:solidFill>
                  <a:latin typeface="Arial Bold"/>
                  <a:ea typeface="Arial Bold"/>
                  <a:cs typeface="Arial Bold"/>
                  <a:sym typeface="Arial Bold"/>
                </a:rPr>
                <a:t>2</a:t>
              </a:r>
            </a:p>
          </p:txBody>
        </p:sp>
      </p:grpSp>
      <p:sp>
        <p:nvSpPr>
          <p:cNvPr id="36" name="TextBox 36"/>
          <p:cNvSpPr txBox="1"/>
          <p:nvPr/>
        </p:nvSpPr>
        <p:spPr>
          <a:xfrm>
            <a:off x="10287000" y="4607052"/>
            <a:ext cx="7040880" cy="307777"/>
          </a:xfrm>
          <a:prstGeom prst="rect">
            <a:avLst/>
          </a:prstGeom>
        </p:spPr>
        <p:txBody>
          <a:bodyPr lIns="0" tIns="0" rIns="0" bIns="0" rtlCol="0" anchor="t">
            <a:spAutoFit/>
          </a:bodyPr>
          <a:lstStyle/>
          <a:p>
            <a:pPr algn="l">
              <a:lnSpc>
                <a:spcPts val="2400"/>
              </a:lnSpc>
            </a:pPr>
            <a:r>
              <a:rPr lang="en-US" sz="2000" b="1" dirty="0">
                <a:solidFill>
                  <a:srgbClr val="FFFFFF"/>
                </a:solidFill>
                <a:latin typeface="Calibri (MS) Bold"/>
                <a:ea typeface="Calibri (MS) Bold"/>
                <a:cs typeface="Calibri (MS) Bold"/>
                <a:sym typeface="Calibri (MS) Bold"/>
              </a:rPr>
              <a:t>Prototype Tasks  </a:t>
            </a:r>
            <a:r>
              <a:rPr lang="en-US" sz="2000" dirty="0">
                <a:solidFill>
                  <a:srgbClr val="93A9CF"/>
                </a:solidFill>
                <a:latin typeface="Calibri (MS)"/>
                <a:ea typeface="Calibri (MS)"/>
                <a:cs typeface="Calibri (MS)"/>
                <a:sym typeface="Calibri (MS)"/>
              </a:rPr>
              <a:t>15 min</a:t>
            </a:r>
          </a:p>
        </p:txBody>
      </p:sp>
      <p:sp>
        <p:nvSpPr>
          <p:cNvPr id="37" name="TextBox 37"/>
          <p:cNvSpPr txBox="1"/>
          <p:nvPr/>
        </p:nvSpPr>
        <p:spPr>
          <a:xfrm>
            <a:off x="10287000" y="5036820"/>
            <a:ext cx="7040880" cy="815340"/>
          </a:xfrm>
          <a:prstGeom prst="rect">
            <a:avLst/>
          </a:prstGeom>
        </p:spPr>
        <p:txBody>
          <a:bodyPr lIns="0" tIns="0" rIns="0" bIns="0" rtlCol="0" anchor="t">
            <a:spAutoFit/>
          </a:bodyPr>
          <a:lstStyle/>
          <a:p>
            <a:pPr algn="l">
              <a:lnSpc>
                <a:spcPts val="1800"/>
              </a:lnSpc>
            </a:pPr>
            <a:r>
              <a:rPr lang="en-US" sz="1500">
                <a:solidFill>
                  <a:srgbClr val="A6A6AD"/>
                </a:solidFill>
                <a:latin typeface="Calibri (MS)"/>
                <a:ea typeface="Calibri (MS)"/>
                <a:cs typeface="Calibri (MS)"/>
                <a:sym typeface="Calibri (MS)"/>
              </a:rPr>
              <a:t>Respond to the 12:00 AM alert and post; find this month's stamps; explore the streak and leaderboard. Participants thought aloud.</a:t>
            </a:r>
          </a:p>
        </p:txBody>
      </p:sp>
      <p:grpSp>
        <p:nvGrpSpPr>
          <p:cNvPr id="38" name="Group 38"/>
          <p:cNvGrpSpPr/>
          <p:nvPr/>
        </p:nvGrpSpPr>
        <p:grpSpPr>
          <a:xfrm>
            <a:off x="9411967" y="6046975"/>
            <a:ext cx="579625" cy="579625"/>
            <a:chOff x="0" y="0"/>
            <a:chExt cx="772833" cy="772833"/>
          </a:xfrm>
        </p:grpSpPr>
        <p:sp>
          <p:nvSpPr>
            <p:cNvPr id="39" name="Freeform 39"/>
            <p:cNvSpPr/>
            <p:nvPr/>
          </p:nvSpPr>
          <p:spPr>
            <a:xfrm>
              <a:off x="0" y="0"/>
              <a:ext cx="772795" cy="772795"/>
            </a:xfrm>
            <a:custGeom>
              <a:avLst/>
              <a:gdLst/>
              <a:ahLst/>
              <a:cxnLst/>
              <a:rect l="l" t="t" r="r" b="b"/>
              <a:pathLst>
                <a:path w="772795" h="772795">
                  <a:moveTo>
                    <a:pt x="0" y="386461"/>
                  </a:moveTo>
                  <a:cubicBezTo>
                    <a:pt x="0" y="172974"/>
                    <a:pt x="172974" y="0"/>
                    <a:pt x="386461" y="0"/>
                  </a:cubicBezTo>
                  <a:cubicBezTo>
                    <a:pt x="599948" y="0"/>
                    <a:pt x="772795" y="172974"/>
                    <a:pt x="772795" y="386461"/>
                  </a:cubicBezTo>
                  <a:cubicBezTo>
                    <a:pt x="772795" y="599948"/>
                    <a:pt x="599821" y="772795"/>
                    <a:pt x="386461" y="772795"/>
                  </a:cubicBezTo>
                  <a:cubicBezTo>
                    <a:pt x="173101" y="772795"/>
                    <a:pt x="0" y="599821"/>
                    <a:pt x="0" y="386461"/>
                  </a:cubicBezTo>
                  <a:close/>
                </a:path>
              </a:pathLst>
            </a:custGeom>
            <a:solidFill>
              <a:srgbClr val="FFDE59"/>
            </a:solidFill>
            <a:ln w="12700" cap="sq">
              <a:solidFill>
                <a:srgbClr val="FFDE59"/>
              </a:solidFill>
              <a:prstDash val="solid"/>
              <a:miter/>
            </a:ln>
          </p:spPr>
          <p:txBody>
            <a:bodyPr/>
            <a:lstStyle/>
            <a:p>
              <a:endParaRPr lang="en-US"/>
            </a:p>
          </p:txBody>
        </p:sp>
      </p:grpSp>
      <p:grpSp>
        <p:nvGrpSpPr>
          <p:cNvPr id="40" name="Group 40"/>
          <p:cNvGrpSpPr/>
          <p:nvPr/>
        </p:nvGrpSpPr>
        <p:grpSpPr>
          <a:xfrm>
            <a:off x="9418320" y="6053328"/>
            <a:ext cx="566928" cy="566928"/>
            <a:chOff x="0" y="0"/>
            <a:chExt cx="755904" cy="755904"/>
          </a:xfrm>
        </p:grpSpPr>
        <p:sp>
          <p:nvSpPr>
            <p:cNvPr id="41" name="Freeform 41"/>
            <p:cNvSpPr/>
            <p:nvPr/>
          </p:nvSpPr>
          <p:spPr>
            <a:xfrm>
              <a:off x="0" y="0"/>
              <a:ext cx="755904" cy="755904"/>
            </a:xfrm>
            <a:custGeom>
              <a:avLst/>
              <a:gdLst/>
              <a:ahLst/>
              <a:cxnLst/>
              <a:rect l="l" t="t" r="r" b="b"/>
              <a:pathLst>
                <a:path w="755904" h="755904">
                  <a:moveTo>
                    <a:pt x="0" y="0"/>
                  </a:moveTo>
                  <a:lnTo>
                    <a:pt x="755904" y="0"/>
                  </a:lnTo>
                  <a:lnTo>
                    <a:pt x="755904" y="755904"/>
                  </a:lnTo>
                  <a:lnTo>
                    <a:pt x="0" y="755904"/>
                  </a:lnTo>
                  <a:close/>
                </a:path>
              </a:pathLst>
            </a:custGeom>
            <a:blipFill>
              <a:blip r:embed="rId3">
                <a:alphaModFix amt="0"/>
              </a:blip>
              <a:stretch>
                <a:fillRect l="-78303" r="-78303"/>
              </a:stretch>
            </a:blipFill>
          </p:spPr>
          <p:txBody>
            <a:bodyPr/>
            <a:lstStyle/>
            <a:p>
              <a:endParaRPr lang="en-US"/>
            </a:p>
          </p:txBody>
        </p:sp>
        <p:sp>
          <p:nvSpPr>
            <p:cNvPr id="42" name="TextBox 42"/>
            <p:cNvSpPr txBox="1"/>
            <p:nvPr/>
          </p:nvSpPr>
          <p:spPr>
            <a:xfrm>
              <a:off x="0" y="-19050"/>
              <a:ext cx="755904" cy="774954"/>
            </a:xfrm>
            <a:prstGeom prst="rect">
              <a:avLst/>
            </a:prstGeom>
          </p:spPr>
          <p:txBody>
            <a:bodyPr lIns="0" tIns="0" rIns="0" bIns="0" rtlCol="0" anchor="ctr"/>
            <a:lstStyle/>
            <a:p>
              <a:pPr algn="ctr">
                <a:lnSpc>
                  <a:spcPts val="2160"/>
                </a:lnSpc>
              </a:pPr>
              <a:r>
                <a:rPr lang="en-US" sz="1800" b="1">
                  <a:solidFill>
                    <a:srgbClr val="0A0A0A"/>
                  </a:solidFill>
                  <a:latin typeface="Arial Bold"/>
                  <a:ea typeface="Arial Bold"/>
                  <a:cs typeface="Arial Bold"/>
                  <a:sym typeface="Arial Bold"/>
                </a:rPr>
                <a:t>3</a:t>
              </a:r>
            </a:p>
          </p:txBody>
        </p:sp>
      </p:grpSp>
      <p:sp>
        <p:nvSpPr>
          <p:cNvPr id="43" name="TextBox 43"/>
          <p:cNvSpPr txBox="1"/>
          <p:nvPr/>
        </p:nvSpPr>
        <p:spPr>
          <a:xfrm>
            <a:off x="10287000" y="5978652"/>
            <a:ext cx="7040880" cy="422148"/>
          </a:xfrm>
          <a:prstGeom prst="rect">
            <a:avLst/>
          </a:prstGeom>
        </p:spPr>
        <p:txBody>
          <a:bodyPr lIns="0" tIns="0" rIns="0" bIns="0" rtlCol="0" anchor="t">
            <a:spAutoFit/>
          </a:bodyPr>
          <a:lstStyle/>
          <a:p>
            <a:pPr algn="l">
              <a:lnSpc>
                <a:spcPts val="2400"/>
              </a:lnSpc>
            </a:pPr>
            <a:r>
              <a:rPr lang="en-US" sz="2000" b="1">
                <a:solidFill>
                  <a:srgbClr val="FFFFFF"/>
                </a:solidFill>
                <a:latin typeface="Calibri (MS) Bold"/>
                <a:ea typeface="Calibri (MS) Bold"/>
                <a:cs typeface="Calibri (MS) Bold"/>
                <a:sym typeface="Calibri (MS) Bold"/>
              </a:rPr>
              <a:t>Debrief  </a:t>
            </a:r>
            <a:r>
              <a:rPr lang="en-US" sz="2000">
                <a:solidFill>
                  <a:srgbClr val="93A9CF"/>
                </a:solidFill>
                <a:latin typeface="Calibri (MS)"/>
                <a:ea typeface="Calibri (MS)"/>
                <a:cs typeface="Calibri (MS)"/>
                <a:sym typeface="Calibri (MS)"/>
              </a:rPr>
              <a:t>15 min</a:t>
            </a:r>
          </a:p>
        </p:txBody>
      </p:sp>
      <p:sp>
        <p:nvSpPr>
          <p:cNvPr id="44" name="TextBox 44"/>
          <p:cNvSpPr txBox="1"/>
          <p:nvPr/>
        </p:nvSpPr>
        <p:spPr>
          <a:xfrm>
            <a:off x="10287000" y="6408420"/>
            <a:ext cx="7040880" cy="815340"/>
          </a:xfrm>
          <a:prstGeom prst="rect">
            <a:avLst/>
          </a:prstGeom>
        </p:spPr>
        <p:txBody>
          <a:bodyPr lIns="0" tIns="0" rIns="0" bIns="0" rtlCol="0" anchor="t">
            <a:spAutoFit/>
          </a:bodyPr>
          <a:lstStyle/>
          <a:p>
            <a:pPr algn="l">
              <a:lnSpc>
                <a:spcPts val="1800"/>
              </a:lnSpc>
            </a:pPr>
            <a:r>
              <a:rPr lang="en-US" sz="1500">
                <a:solidFill>
                  <a:srgbClr val="A6A6AD"/>
                </a:solidFill>
                <a:latin typeface="Calibri (MS)"/>
                <a:ea typeface="Calibri (MS)"/>
                <a:cs typeface="Calibri (MS)"/>
                <a:sym typeface="Calibri (MS)"/>
              </a:rPr>
              <a:t>Interest, clarity, and whether it feels more or less like BeReal.</a:t>
            </a:r>
          </a:p>
        </p:txBody>
      </p:sp>
      <p:grpSp>
        <p:nvGrpSpPr>
          <p:cNvPr id="45" name="Group 45"/>
          <p:cNvGrpSpPr/>
          <p:nvPr/>
        </p:nvGrpSpPr>
        <p:grpSpPr>
          <a:xfrm>
            <a:off x="9411967" y="7418575"/>
            <a:ext cx="579625" cy="579625"/>
            <a:chOff x="0" y="0"/>
            <a:chExt cx="772833" cy="772833"/>
          </a:xfrm>
        </p:grpSpPr>
        <p:sp>
          <p:nvSpPr>
            <p:cNvPr id="46" name="Freeform 46"/>
            <p:cNvSpPr/>
            <p:nvPr/>
          </p:nvSpPr>
          <p:spPr>
            <a:xfrm>
              <a:off x="0" y="0"/>
              <a:ext cx="772795" cy="772795"/>
            </a:xfrm>
            <a:custGeom>
              <a:avLst/>
              <a:gdLst/>
              <a:ahLst/>
              <a:cxnLst/>
              <a:rect l="l" t="t" r="r" b="b"/>
              <a:pathLst>
                <a:path w="772795" h="772795">
                  <a:moveTo>
                    <a:pt x="0" y="386461"/>
                  </a:moveTo>
                  <a:cubicBezTo>
                    <a:pt x="0" y="172974"/>
                    <a:pt x="172974" y="0"/>
                    <a:pt x="386461" y="0"/>
                  </a:cubicBezTo>
                  <a:cubicBezTo>
                    <a:pt x="599948" y="0"/>
                    <a:pt x="772795" y="172974"/>
                    <a:pt x="772795" y="386461"/>
                  </a:cubicBezTo>
                  <a:cubicBezTo>
                    <a:pt x="772795" y="599948"/>
                    <a:pt x="599821" y="772795"/>
                    <a:pt x="386461" y="772795"/>
                  </a:cubicBezTo>
                  <a:cubicBezTo>
                    <a:pt x="173101" y="772795"/>
                    <a:pt x="0" y="599821"/>
                    <a:pt x="0" y="386461"/>
                  </a:cubicBezTo>
                  <a:close/>
                </a:path>
              </a:pathLst>
            </a:custGeom>
            <a:solidFill>
              <a:srgbClr val="FFDE59"/>
            </a:solidFill>
            <a:ln w="12700" cap="sq">
              <a:solidFill>
                <a:srgbClr val="FFDE59"/>
              </a:solidFill>
              <a:prstDash val="solid"/>
              <a:miter/>
            </a:ln>
          </p:spPr>
          <p:txBody>
            <a:bodyPr/>
            <a:lstStyle/>
            <a:p>
              <a:endParaRPr lang="en-US"/>
            </a:p>
          </p:txBody>
        </p:sp>
      </p:grpSp>
      <p:grpSp>
        <p:nvGrpSpPr>
          <p:cNvPr id="47" name="Group 47"/>
          <p:cNvGrpSpPr/>
          <p:nvPr/>
        </p:nvGrpSpPr>
        <p:grpSpPr>
          <a:xfrm>
            <a:off x="9418320" y="7424928"/>
            <a:ext cx="566928" cy="566928"/>
            <a:chOff x="0" y="0"/>
            <a:chExt cx="755904" cy="755904"/>
          </a:xfrm>
        </p:grpSpPr>
        <p:sp>
          <p:nvSpPr>
            <p:cNvPr id="48" name="Freeform 48"/>
            <p:cNvSpPr/>
            <p:nvPr/>
          </p:nvSpPr>
          <p:spPr>
            <a:xfrm>
              <a:off x="0" y="0"/>
              <a:ext cx="755904" cy="755904"/>
            </a:xfrm>
            <a:custGeom>
              <a:avLst/>
              <a:gdLst/>
              <a:ahLst/>
              <a:cxnLst/>
              <a:rect l="l" t="t" r="r" b="b"/>
              <a:pathLst>
                <a:path w="755904" h="755904">
                  <a:moveTo>
                    <a:pt x="0" y="0"/>
                  </a:moveTo>
                  <a:lnTo>
                    <a:pt x="755904" y="0"/>
                  </a:lnTo>
                  <a:lnTo>
                    <a:pt x="755904" y="755904"/>
                  </a:lnTo>
                  <a:lnTo>
                    <a:pt x="0" y="755904"/>
                  </a:lnTo>
                  <a:close/>
                </a:path>
              </a:pathLst>
            </a:custGeom>
            <a:blipFill>
              <a:blip r:embed="rId3">
                <a:alphaModFix amt="0"/>
              </a:blip>
              <a:stretch>
                <a:fillRect l="-78303" r="-78303"/>
              </a:stretch>
            </a:blipFill>
          </p:spPr>
          <p:txBody>
            <a:bodyPr/>
            <a:lstStyle/>
            <a:p>
              <a:endParaRPr lang="en-US"/>
            </a:p>
          </p:txBody>
        </p:sp>
        <p:sp>
          <p:nvSpPr>
            <p:cNvPr id="49" name="TextBox 49"/>
            <p:cNvSpPr txBox="1"/>
            <p:nvPr/>
          </p:nvSpPr>
          <p:spPr>
            <a:xfrm>
              <a:off x="0" y="-19050"/>
              <a:ext cx="755904" cy="774954"/>
            </a:xfrm>
            <a:prstGeom prst="rect">
              <a:avLst/>
            </a:prstGeom>
          </p:spPr>
          <p:txBody>
            <a:bodyPr lIns="0" tIns="0" rIns="0" bIns="0" rtlCol="0" anchor="ctr"/>
            <a:lstStyle/>
            <a:p>
              <a:pPr algn="ctr">
                <a:lnSpc>
                  <a:spcPts val="2160"/>
                </a:lnSpc>
              </a:pPr>
              <a:r>
                <a:rPr lang="en-US" sz="1800" b="1">
                  <a:solidFill>
                    <a:srgbClr val="0A0A0A"/>
                  </a:solidFill>
                  <a:latin typeface="Arial Bold"/>
                  <a:ea typeface="Arial Bold"/>
                  <a:cs typeface="Arial Bold"/>
                  <a:sym typeface="Arial Bold"/>
                </a:rPr>
                <a:t>4</a:t>
              </a:r>
            </a:p>
          </p:txBody>
        </p:sp>
      </p:grpSp>
      <p:sp>
        <p:nvSpPr>
          <p:cNvPr id="50" name="TextBox 50"/>
          <p:cNvSpPr txBox="1"/>
          <p:nvPr/>
        </p:nvSpPr>
        <p:spPr>
          <a:xfrm>
            <a:off x="10287000" y="7350252"/>
            <a:ext cx="7040880" cy="422148"/>
          </a:xfrm>
          <a:prstGeom prst="rect">
            <a:avLst/>
          </a:prstGeom>
        </p:spPr>
        <p:txBody>
          <a:bodyPr lIns="0" tIns="0" rIns="0" bIns="0" rtlCol="0" anchor="t">
            <a:spAutoFit/>
          </a:bodyPr>
          <a:lstStyle/>
          <a:p>
            <a:pPr algn="l">
              <a:lnSpc>
                <a:spcPts val="2400"/>
              </a:lnSpc>
            </a:pPr>
            <a:r>
              <a:rPr lang="en-US" sz="2000" b="1">
                <a:solidFill>
                  <a:srgbClr val="FFFFFF"/>
                </a:solidFill>
                <a:latin typeface="Calibri (MS) Bold"/>
                <a:ea typeface="Calibri (MS) Bold"/>
                <a:cs typeface="Calibri (MS) Bold"/>
                <a:sym typeface="Calibri (MS) Bold"/>
              </a:rPr>
              <a:t>Survey  </a:t>
            </a:r>
            <a:r>
              <a:rPr lang="en-US" sz="2000">
                <a:solidFill>
                  <a:srgbClr val="93A9CF"/>
                </a:solidFill>
                <a:latin typeface="Calibri (MS)"/>
                <a:ea typeface="Calibri (MS)"/>
                <a:cs typeface="Calibri (MS)"/>
                <a:sym typeface="Calibri (MS)"/>
              </a:rPr>
              <a:t>5 min</a:t>
            </a:r>
          </a:p>
        </p:txBody>
      </p:sp>
      <p:sp>
        <p:nvSpPr>
          <p:cNvPr id="51" name="TextBox 51"/>
          <p:cNvSpPr txBox="1"/>
          <p:nvPr/>
        </p:nvSpPr>
        <p:spPr>
          <a:xfrm>
            <a:off x="10287000" y="7780020"/>
            <a:ext cx="7040880" cy="815340"/>
          </a:xfrm>
          <a:prstGeom prst="rect">
            <a:avLst/>
          </a:prstGeom>
        </p:spPr>
        <p:txBody>
          <a:bodyPr lIns="0" tIns="0" rIns="0" bIns="0" rtlCol="0" anchor="t">
            <a:spAutoFit/>
          </a:bodyPr>
          <a:lstStyle/>
          <a:p>
            <a:pPr algn="l">
              <a:lnSpc>
                <a:spcPts val="1800"/>
              </a:lnSpc>
            </a:pPr>
            <a:r>
              <a:rPr lang="en-US" sz="1500">
                <a:solidFill>
                  <a:srgbClr val="A6A6AD"/>
                </a:solidFill>
                <a:latin typeface="Calibri (MS)"/>
                <a:ea typeface="Calibri (MS)"/>
                <a:cs typeface="Calibri (MS)"/>
                <a:sym typeface="Calibri (MS)"/>
              </a:rPr>
              <a:t>8 questions: usage, four 1–5 scales, launch yes/maybe/no, two open-ended.</a:t>
            </a:r>
          </a:p>
        </p:txBody>
      </p:sp>
      <p:sp>
        <p:nvSpPr>
          <p:cNvPr id="52" name="TextBox 52"/>
          <p:cNvSpPr txBox="1"/>
          <p:nvPr/>
        </p:nvSpPr>
        <p:spPr>
          <a:xfrm>
            <a:off x="960120" y="8978265"/>
            <a:ext cx="16367760" cy="210892"/>
          </a:xfrm>
          <a:prstGeom prst="rect">
            <a:avLst/>
          </a:prstGeom>
        </p:spPr>
        <p:txBody>
          <a:bodyPr lIns="0" tIns="0" rIns="0" bIns="0" rtlCol="0" anchor="t">
            <a:spAutoFit/>
          </a:bodyPr>
          <a:lstStyle/>
          <a:p>
            <a:pPr algn="l">
              <a:lnSpc>
                <a:spcPts val="1680"/>
              </a:lnSpc>
            </a:pPr>
            <a:r>
              <a:rPr lang="en-US" sz="1400" i="1" dirty="0">
                <a:solidFill>
                  <a:srgbClr val="A6A6AD"/>
                </a:solidFill>
                <a:latin typeface="Calibri (MS) Italics"/>
                <a:ea typeface="Calibri (MS) Italics"/>
                <a:cs typeface="Calibri (MS) Italics"/>
                <a:sym typeface="Calibri (MS) Italics"/>
              </a:rPr>
              <a:t>In person · October  2026 · clickable prototype, observer notes and a Google Form</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2" name="TextBox 2"/>
          <p:cNvSpPr txBox="1"/>
          <p:nvPr/>
        </p:nvSpPr>
        <p:spPr>
          <a:xfrm>
            <a:off x="960120" y="666750"/>
            <a:ext cx="16367760" cy="546240"/>
          </a:xfrm>
          <a:prstGeom prst="rect">
            <a:avLst/>
          </a:prstGeom>
        </p:spPr>
        <p:txBody>
          <a:bodyPr lIns="0" tIns="0" rIns="0" bIns="0" rtlCol="0" anchor="t">
            <a:spAutoFit/>
          </a:bodyPr>
          <a:lstStyle/>
          <a:p>
            <a:pPr>
              <a:lnSpc>
                <a:spcPts val="2159"/>
              </a:lnSpc>
            </a:pPr>
            <a:r>
              <a:rPr lang="en-US" sz="1799" b="1" spc="830" dirty="0">
                <a:solidFill>
                  <a:srgbClr val="93A9CF"/>
                </a:solidFill>
                <a:latin typeface="Arial Bold"/>
                <a:ea typeface="Arial Bold"/>
                <a:cs typeface="Arial Bold"/>
                <a:sym typeface="Arial Bold"/>
              </a:rPr>
              <a:t>SURVEY RESULTS</a:t>
            </a:r>
          </a:p>
          <a:p>
            <a:pPr algn="l">
              <a:lnSpc>
                <a:spcPts val="2159"/>
              </a:lnSpc>
            </a:pPr>
            <a:endParaRPr lang="en-US" sz="1799" b="1" spc="830" dirty="0">
              <a:solidFill>
                <a:srgbClr val="93A9CF"/>
              </a:solidFill>
              <a:latin typeface="Arial Bold"/>
              <a:ea typeface="Arial Bold"/>
              <a:cs typeface="Arial Bold"/>
              <a:sym typeface="Arial Bold"/>
            </a:endParaRPr>
          </a:p>
        </p:txBody>
      </p:sp>
      <p:sp>
        <p:nvSpPr>
          <p:cNvPr id="3" name="TextBox 3"/>
          <p:cNvSpPr txBox="1"/>
          <p:nvPr/>
        </p:nvSpPr>
        <p:spPr>
          <a:xfrm>
            <a:off x="960120" y="1169670"/>
            <a:ext cx="16367760" cy="638188"/>
          </a:xfrm>
          <a:prstGeom prst="rect">
            <a:avLst/>
          </a:prstGeom>
        </p:spPr>
        <p:txBody>
          <a:bodyPr lIns="0" tIns="0" rIns="0" bIns="0" rtlCol="0" anchor="t">
            <a:spAutoFit/>
          </a:bodyPr>
          <a:lstStyle/>
          <a:p>
            <a:pPr algn="l">
              <a:lnSpc>
                <a:spcPts val="5280"/>
              </a:lnSpc>
            </a:pPr>
            <a:r>
              <a:rPr lang="en-US" sz="4400" b="1" dirty="0">
                <a:solidFill>
                  <a:srgbClr val="FFFFFF"/>
                </a:solidFill>
                <a:latin typeface="Arial Bold"/>
                <a:ea typeface="Arial Bold"/>
                <a:cs typeface="Arial Bold"/>
                <a:sym typeface="Arial Bold"/>
              </a:rPr>
              <a:t>4 of 5 Would Open BeReal More Often</a:t>
            </a:r>
          </a:p>
        </p:txBody>
      </p:sp>
      <p:grpSp>
        <p:nvGrpSpPr>
          <p:cNvPr id="4" name="Group 4"/>
          <p:cNvGrpSpPr/>
          <p:nvPr/>
        </p:nvGrpSpPr>
        <p:grpSpPr>
          <a:xfrm>
            <a:off x="953767" y="2736847"/>
            <a:ext cx="6779257" cy="1750057"/>
            <a:chOff x="0" y="0"/>
            <a:chExt cx="9039009" cy="2333409"/>
          </a:xfrm>
        </p:grpSpPr>
        <p:sp>
          <p:nvSpPr>
            <p:cNvPr id="5" name="Freeform 5"/>
            <p:cNvSpPr/>
            <p:nvPr/>
          </p:nvSpPr>
          <p:spPr>
            <a:xfrm>
              <a:off x="0" y="0"/>
              <a:ext cx="9038971" cy="2333371"/>
            </a:xfrm>
            <a:custGeom>
              <a:avLst/>
              <a:gdLst/>
              <a:ahLst/>
              <a:cxnLst/>
              <a:rect l="l" t="t" r="r" b="b"/>
              <a:pathLst>
                <a:path w="9038971" h="2333371">
                  <a:moveTo>
                    <a:pt x="0" y="147320"/>
                  </a:moveTo>
                  <a:cubicBezTo>
                    <a:pt x="0" y="66040"/>
                    <a:pt x="66040" y="0"/>
                    <a:pt x="147320" y="0"/>
                  </a:cubicBezTo>
                  <a:lnTo>
                    <a:pt x="8891651" y="0"/>
                  </a:lnTo>
                  <a:cubicBezTo>
                    <a:pt x="8973058" y="0"/>
                    <a:pt x="9038971" y="66040"/>
                    <a:pt x="9038971" y="147320"/>
                  </a:cubicBezTo>
                  <a:lnTo>
                    <a:pt x="9038971" y="2186051"/>
                  </a:lnTo>
                  <a:cubicBezTo>
                    <a:pt x="9038971" y="2267458"/>
                    <a:pt x="8972931" y="2333371"/>
                    <a:pt x="8891651" y="2333371"/>
                  </a:cubicBezTo>
                  <a:lnTo>
                    <a:pt x="147320" y="2333371"/>
                  </a:lnTo>
                  <a:cubicBezTo>
                    <a:pt x="65913" y="2333371"/>
                    <a:pt x="0" y="2267331"/>
                    <a:pt x="0" y="2186051"/>
                  </a:cubicBezTo>
                  <a:close/>
                </a:path>
              </a:pathLst>
            </a:custGeom>
            <a:solidFill>
              <a:srgbClr val="222222"/>
            </a:solidFill>
            <a:ln w="12700" cap="sq">
              <a:solidFill>
                <a:srgbClr val="222222"/>
              </a:solidFill>
              <a:prstDash val="solid"/>
              <a:miter/>
            </a:ln>
          </p:spPr>
          <p:txBody>
            <a:bodyPr/>
            <a:lstStyle/>
            <a:p>
              <a:endParaRPr lang="en-US"/>
            </a:p>
          </p:txBody>
        </p:sp>
      </p:grpSp>
      <p:sp>
        <p:nvSpPr>
          <p:cNvPr id="6" name="TextBox 6"/>
          <p:cNvSpPr txBox="1"/>
          <p:nvPr/>
        </p:nvSpPr>
        <p:spPr>
          <a:xfrm>
            <a:off x="1325880" y="2934843"/>
            <a:ext cx="6035040" cy="786765"/>
          </a:xfrm>
          <a:prstGeom prst="rect">
            <a:avLst/>
          </a:prstGeom>
        </p:spPr>
        <p:txBody>
          <a:bodyPr lIns="0" tIns="0" rIns="0" bIns="0" rtlCol="0" anchor="t">
            <a:spAutoFit/>
          </a:bodyPr>
          <a:lstStyle/>
          <a:p>
            <a:pPr algn="l">
              <a:lnSpc>
                <a:spcPts val="4799"/>
              </a:lnSpc>
            </a:pPr>
            <a:r>
              <a:rPr lang="en-US" sz="3999" b="1">
                <a:solidFill>
                  <a:srgbClr val="FFDE59"/>
                </a:solidFill>
                <a:latin typeface="Arial Bold"/>
                <a:ea typeface="Arial Bold"/>
                <a:cs typeface="Arial Bold"/>
                <a:sym typeface="Arial Bold"/>
              </a:rPr>
              <a:t>4 of 5</a:t>
            </a:r>
          </a:p>
        </p:txBody>
      </p:sp>
      <p:sp>
        <p:nvSpPr>
          <p:cNvPr id="7" name="TextBox 7"/>
          <p:cNvSpPr txBox="1"/>
          <p:nvPr/>
        </p:nvSpPr>
        <p:spPr>
          <a:xfrm>
            <a:off x="1325880" y="3692652"/>
            <a:ext cx="6035040" cy="678180"/>
          </a:xfrm>
          <a:prstGeom prst="rect">
            <a:avLst/>
          </a:prstGeom>
        </p:spPr>
        <p:txBody>
          <a:bodyPr lIns="0" tIns="0" rIns="0" bIns="0" rtlCol="0" anchor="t">
            <a:spAutoFit/>
          </a:bodyPr>
          <a:lstStyle/>
          <a:p>
            <a:pPr algn="l">
              <a:lnSpc>
                <a:spcPts val="1800"/>
              </a:lnSpc>
            </a:pPr>
            <a:r>
              <a:rPr lang="en-US" sz="1500">
                <a:solidFill>
                  <a:srgbClr val="FFFFFF"/>
                </a:solidFill>
                <a:latin typeface="Calibri (MS)"/>
                <a:ea typeface="Calibri (MS)"/>
                <a:cs typeface="Calibri (MS)"/>
                <a:sym typeface="Calibri (MS)"/>
              </a:rPr>
              <a:t>rated 4 or 5 for understanding, authenticity and opening BeReal more often</a:t>
            </a:r>
          </a:p>
        </p:txBody>
      </p:sp>
      <p:grpSp>
        <p:nvGrpSpPr>
          <p:cNvPr id="8" name="Group 8"/>
          <p:cNvGrpSpPr/>
          <p:nvPr/>
        </p:nvGrpSpPr>
        <p:grpSpPr>
          <a:xfrm>
            <a:off x="953767" y="4748527"/>
            <a:ext cx="6779257" cy="1750057"/>
            <a:chOff x="0" y="0"/>
            <a:chExt cx="9039009" cy="2333409"/>
          </a:xfrm>
        </p:grpSpPr>
        <p:sp>
          <p:nvSpPr>
            <p:cNvPr id="9" name="Freeform 9"/>
            <p:cNvSpPr/>
            <p:nvPr/>
          </p:nvSpPr>
          <p:spPr>
            <a:xfrm>
              <a:off x="0" y="0"/>
              <a:ext cx="9038971" cy="2333371"/>
            </a:xfrm>
            <a:custGeom>
              <a:avLst/>
              <a:gdLst/>
              <a:ahLst/>
              <a:cxnLst/>
              <a:rect l="l" t="t" r="r" b="b"/>
              <a:pathLst>
                <a:path w="9038971" h="2333371">
                  <a:moveTo>
                    <a:pt x="0" y="147320"/>
                  </a:moveTo>
                  <a:cubicBezTo>
                    <a:pt x="0" y="66040"/>
                    <a:pt x="66040" y="0"/>
                    <a:pt x="147320" y="0"/>
                  </a:cubicBezTo>
                  <a:lnTo>
                    <a:pt x="8891651" y="0"/>
                  </a:lnTo>
                  <a:cubicBezTo>
                    <a:pt x="8973058" y="0"/>
                    <a:pt x="9038971" y="66040"/>
                    <a:pt x="9038971" y="147320"/>
                  </a:cubicBezTo>
                  <a:lnTo>
                    <a:pt x="9038971" y="2186051"/>
                  </a:lnTo>
                  <a:cubicBezTo>
                    <a:pt x="9038971" y="2267458"/>
                    <a:pt x="8972931" y="2333371"/>
                    <a:pt x="8891651" y="2333371"/>
                  </a:cubicBezTo>
                  <a:lnTo>
                    <a:pt x="147320" y="2333371"/>
                  </a:lnTo>
                  <a:cubicBezTo>
                    <a:pt x="65913" y="2333371"/>
                    <a:pt x="0" y="2267331"/>
                    <a:pt x="0" y="2186051"/>
                  </a:cubicBezTo>
                  <a:close/>
                </a:path>
              </a:pathLst>
            </a:custGeom>
            <a:solidFill>
              <a:srgbClr val="222222"/>
            </a:solidFill>
            <a:ln w="12700" cap="sq">
              <a:solidFill>
                <a:srgbClr val="222222"/>
              </a:solidFill>
              <a:prstDash val="solid"/>
              <a:miter/>
            </a:ln>
          </p:spPr>
          <p:txBody>
            <a:bodyPr/>
            <a:lstStyle/>
            <a:p>
              <a:endParaRPr lang="en-US"/>
            </a:p>
          </p:txBody>
        </p:sp>
      </p:grpSp>
      <p:sp>
        <p:nvSpPr>
          <p:cNvPr id="10" name="TextBox 10"/>
          <p:cNvSpPr txBox="1"/>
          <p:nvPr/>
        </p:nvSpPr>
        <p:spPr>
          <a:xfrm>
            <a:off x="1325880" y="4946523"/>
            <a:ext cx="6035040" cy="786765"/>
          </a:xfrm>
          <a:prstGeom prst="rect">
            <a:avLst/>
          </a:prstGeom>
        </p:spPr>
        <p:txBody>
          <a:bodyPr lIns="0" tIns="0" rIns="0" bIns="0" rtlCol="0" anchor="t">
            <a:spAutoFit/>
          </a:bodyPr>
          <a:lstStyle/>
          <a:p>
            <a:pPr algn="l">
              <a:lnSpc>
                <a:spcPts val="4799"/>
              </a:lnSpc>
            </a:pPr>
            <a:r>
              <a:rPr lang="en-US" sz="3999" b="1">
                <a:solidFill>
                  <a:srgbClr val="FFDE59"/>
                </a:solidFill>
                <a:latin typeface="Arial Bold"/>
                <a:ea typeface="Arial Bold"/>
                <a:cs typeface="Arial Bold"/>
                <a:sym typeface="Arial Bold"/>
              </a:rPr>
              <a:t>4.2 / 5</a:t>
            </a:r>
          </a:p>
        </p:txBody>
      </p:sp>
      <p:sp>
        <p:nvSpPr>
          <p:cNvPr id="11" name="TextBox 11"/>
          <p:cNvSpPr txBox="1"/>
          <p:nvPr/>
        </p:nvSpPr>
        <p:spPr>
          <a:xfrm>
            <a:off x="1325880" y="5704332"/>
            <a:ext cx="6035040" cy="678180"/>
          </a:xfrm>
          <a:prstGeom prst="rect">
            <a:avLst/>
          </a:prstGeom>
        </p:spPr>
        <p:txBody>
          <a:bodyPr lIns="0" tIns="0" rIns="0" bIns="0" rtlCol="0" anchor="t">
            <a:spAutoFit/>
          </a:bodyPr>
          <a:lstStyle/>
          <a:p>
            <a:pPr algn="l">
              <a:lnSpc>
                <a:spcPts val="1800"/>
              </a:lnSpc>
            </a:pPr>
            <a:r>
              <a:rPr lang="en-US" sz="1500">
                <a:solidFill>
                  <a:srgbClr val="FFFFFF"/>
                </a:solidFill>
                <a:latin typeface="Calibri (MS)"/>
                <a:ea typeface="Calibri (MS)"/>
                <a:cs typeface="Calibri (MS)"/>
                <a:sym typeface="Calibri (MS)"/>
              </a:rPr>
              <a:t>hooks felt low-pressure, the highest score; no one rated them below 3</a:t>
            </a:r>
          </a:p>
        </p:txBody>
      </p:sp>
      <p:grpSp>
        <p:nvGrpSpPr>
          <p:cNvPr id="12" name="Group 12"/>
          <p:cNvGrpSpPr/>
          <p:nvPr/>
        </p:nvGrpSpPr>
        <p:grpSpPr>
          <a:xfrm>
            <a:off x="953767" y="6760207"/>
            <a:ext cx="6779257" cy="1750057"/>
            <a:chOff x="0" y="0"/>
            <a:chExt cx="9039009" cy="2333409"/>
          </a:xfrm>
        </p:grpSpPr>
        <p:sp>
          <p:nvSpPr>
            <p:cNvPr id="13" name="Freeform 13"/>
            <p:cNvSpPr/>
            <p:nvPr/>
          </p:nvSpPr>
          <p:spPr>
            <a:xfrm>
              <a:off x="0" y="0"/>
              <a:ext cx="9038971" cy="2333371"/>
            </a:xfrm>
            <a:custGeom>
              <a:avLst/>
              <a:gdLst/>
              <a:ahLst/>
              <a:cxnLst/>
              <a:rect l="l" t="t" r="r" b="b"/>
              <a:pathLst>
                <a:path w="9038971" h="2333371">
                  <a:moveTo>
                    <a:pt x="0" y="147320"/>
                  </a:moveTo>
                  <a:cubicBezTo>
                    <a:pt x="0" y="66040"/>
                    <a:pt x="66040" y="0"/>
                    <a:pt x="147320" y="0"/>
                  </a:cubicBezTo>
                  <a:lnTo>
                    <a:pt x="8891651" y="0"/>
                  </a:lnTo>
                  <a:cubicBezTo>
                    <a:pt x="8973058" y="0"/>
                    <a:pt x="9038971" y="66040"/>
                    <a:pt x="9038971" y="147320"/>
                  </a:cubicBezTo>
                  <a:lnTo>
                    <a:pt x="9038971" y="2186051"/>
                  </a:lnTo>
                  <a:cubicBezTo>
                    <a:pt x="9038971" y="2267458"/>
                    <a:pt x="8972931" y="2333371"/>
                    <a:pt x="8891651" y="2333371"/>
                  </a:cubicBezTo>
                  <a:lnTo>
                    <a:pt x="147320" y="2333371"/>
                  </a:lnTo>
                  <a:cubicBezTo>
                    <a:pt x="65913" y="2333371"/>
                    <a:pt x="0" y="2267331"/>
                    <a:pt x="0" y="2186051"/>
                  </a:cubicBezTo>
                  <a:close/>
                </a:path>
              </a:pathLst>
            </a:custGeom>
            <a:solidFill>
              <a:srgbClr val="222222"/>
            </a:solidFill>
            <a:ln w="12700" cap="sq">
              <a:solidFill>
                <a:srgbClr val="222222"/>
              </a:solidFill>
              <a:prstDash val="solid"/>
              <a:miter/>
            </a:ln>
          </p:spPr>
          <p:txBody>
            <a:bodyPr/>
            <a:lstStyle/>
            <a:p>
              <a:endParaRPr lang="en-US"/>
            </a:p>
          </p:txBody>
        </p:sp>
      </p:grpSp>
      <p:sp>
        <p:nvSpPr>
          <p:cNvPr id="14" name="TextBox 14"/>
          <p:cNvSpPr txBox="1"/>
          <p:nvPr/>
        </p:nvSpPr>
        <p:spPr>
          <a:xfrm>
            <a:off x="1325880" y="6958203"/>
            <a:ext cx="6035040" cy="786765"/>
          </a:xfrm>
          <a:prstGeom prst="rect">
            <a:avLst/>
          </a:prstGeom>
        </p:spPr>
        <p:txBody>
          <a:bodyPr lIns="0" tIns="0" rIns="0" bIns="0" rtlCol="0" anchor="t">
            <a:spAutoFit/>
          </a:bodyPr>
          <a:lstStyle/>
          <a:p>
            <a:pPr algn="l">
              <a:lnSpc>
                <a:spcPts val="4799"/>
              </a:lnSpc>
            </a:pPr>
            <a:r>
              <a:rPr lang="en-US" sz="3999" b="1">
                <a:solidFill>
                  <a:srgbClr val="FFDE59"/>
                </a:solidFill>
                <a:latin typeface="Arial Bold"/>
                <a:ea typeface="Arial Bold"/>
                <a:cs typeface="Arial Bold"/>
                <a:sym typeface="Arial Bold"/>
              </a:rPr>
              <a:t>3 · 1 · 1</a:t>
            </a:r>
          </a:p>
        </p:txBody>
      </p:sp>
      <p:sp>
        <p:nvSpPr>
          <p:cNvPr id="15" name="TextBox 15"/>
          <p:cNvSpPr txBox="1"/>
          <p:nvPr/>
        </p:nvSpPr>
        <p:spPr>
          <a:xfrm>
            <a:off x="1325880" y="7716012"/>
            <a:ext cx="6035040" cy="678180"/>
          </a:xfrm>
          <a:prstGeom prst="rect">
            <a:avLst/>
          </a:prstGeom>
        </p:spPr>
        <p:txBody>
          <a:bodyPr lIns="0" tIns="0" rIns="0" bIns="0" rtlCol="0" anchor="t">
            <a:spAutoFit/>
          </a:bodyPr>
          <a:lstStyle/>
          <a:p>
            <a:pPr algn="l">
              <a:lnSpc>
                <a:spcPts val="1800"/>
              </a:lnSpc>
            </a:pPr>
            <a:r>
              <a:rPr lang="en-US" sz="1500">
                <a:solidFill>
                  <a:srgbClr val="FFFFFF"/>
                </a:solidFill>
                <a:latin typeface="Calibri (MS)"/>
                <a:ea typeface="Calibri (MS)"/>
                <a:cs typeface="Calibri (MS)"/>
                <a:sym typeface="Calibri (MS)"/>
              </a:rPr>
              <a:t>Yes · Maybe · No to launching the feature</a:t>
            </a:r>
          </a:p>
        </p:txBody>
      </p:sp>
      <p:pic>
        <p:nvPicPr>
          <p:cNvPr id="16" name="Picture 16"/>
          <p:cNvPicPr>
            <a:picLocks noChangeAspect="1"/>
          </p:cNvPicPr>
          <p:nvPr/>
        </p:nvPicPr>
        <p:blipFill>
          <a:blip r:embed="rId3"/>
          <a:stretch>
            <a:fillRect/>
          </a:stretch>
        </p:blipFill>
        <p:spPr>
          <a:xfrm>
            <a:off x="7319772" y="1741932"/>
            <a:ext cx="10917936" cy="7671816"/>
          </a:xfrm>
          <a:prstGeom prst="rect">
            <a:avLst/>
          </a:prstGeom>
        </p:spPr>
      </p:pic>
      <p:sp>
        <p:nvSpPr>
          <p:cNvPr id="17" name="TextBox 17"/>
          <p:cNvSpPr txBox="1"/>
          <p:nvPr/>
        </p:nvSpPr>
        <p:spPr>
          <a:xfrm>
            <a:off x="8953470" y="8713470"/>
            <a:ext cx="8305830" cy="219075"/>
          </a:xfrm>
          <a:prstGeom prst="rect">
            <a:avLst/>
          </a:prstGeom>
        </p:spPr>
        <p:txBody>
          <a:bodyPr lIns="0" tIns="0" rIns="0" bIns="0" rtlCol="0" anchor="t">
            <a:spAutoFit/>
          </a:bodyPr>
          <a:lstStyle/>
          <a:p>
            <a:pPr algn="l">
              <a:lnSpc>
                <a:spcPts val="1559"/>
              </a:lnSpc>
            </a:pPr>
            <a:r>
              <a:rPr lang="en-US" sz="1299" i="1">
                <a:solidFill>
                  <a:srgbClr val="A6A6AD"/>
                </a:solidFill>
                <a:latin typeface="Calibri (MS) Italics"/>
                <a:ea typeface="Calibri (MS) Italics"/>
                <a:cs typeface="Calibri (MS) Italics"/>
                <a:sym typeface="Calibri (MS) Italics"/>
              </a:rPr>
              <a:t>One non-user rated the first three questions 1. Without that response they average 4.25, 4.25 and 4.5.</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2" name="TextBox 2"/>
          <p:cNvSpPr txBox="1"/>
          <p:nvPr/>
        </p:nvSpPr>
        <p:spPr>
          <a:xfrm>
            <a:off x="960120" y="666750"/>
            <a:ext cx="16367760" cy="285750"/>
          </a:xfrm>
          <a:prstGeom prst="rect">
            <a:avLst/>
          </a:prstGeom>
        </p:spPr>
        <p:txBody>
          <a:bodyPr lIns="0" tIns="0" rIns="0" bIns="0" rtlCol="0" anchor="t">
            <a:spAutoFit/>
          </a:bodyPr>
          <a:lstStyle/>
          <a:p>
            <a:pPr algn="l">
              <a:lnSpc>
                <a:spcPts val="2159"/>
              </a:lnSpc>
            </a:pPr>
            <a:r>
              <a:rPr lang="en-US" sz="1799" b="1" spc="830" dirty="0">
                <a:solidFill>
                  <a:srgbClr val="93A9CF"/>
                </a:solidFill>
                <a:latin typeface="Arial Bold"/>
                <a:ea typeface="Arial Bold"/>
                <a:cs typeface="Arial Bold"/>
                <a:sym typeface="Arial Bold"/>
              </a:rPr>
              <a:t>KEY FINDINGS</a:t>
            </a:r>
          </a:p>
        </p:txBody>
      </p:sp>
      <p:sp>
        <p:nvSpPr>
          <p:cNvPr id="3" name="TextBox 3"/>
          <p:cNvSpPr txBox="1"/>
          <p:nvPr/>
        </p:nvSpPr>
        <p:spPr>
          <a:xfrm>
            <a:off x="960120" y="1169670"/>
            <a:ext cx="16367760" cy="638188"/>
          </a:xfrm>
          <a:prstGeom prst="rect">
            <a:avLst/>
          </a:prstGeom>
        </p:spPr>
        <p:txBody>
          <a:bodyPr lIns="0" tIns="0" rIns="0" bIns="0" rtlCol="0" anchor="t">
            <a:spAutoFit/>
          </a:bodyPr>
          <a:lstStyle/>
          <a:p>
            <a:pPr algn="l">
              <a:lnSpc>
                <a:spcPts val="5280"/>
              </a:lnSpc>
            </a:pPr>
            <a:r>
              <a:rPr lang="en-US" sz="4400" b="1" dirty="0">
                <a:solidFill>
                  <a:srgbClr val="FFFFFF"/>
                </a:solidFill>
                <a:latin typeface="Arial Bold"/>
                <a:ea typeface="Arial Bold"/>
                <a:cs typeface="Arial Bold"/>
                <a:sym typeface="Arial Bold"/>
              </a:rPr>
              <a:t>What We Learned</a:t>
            </a:r>
          </a:p>
        </p:txBody>
      </p:sp>
      <p:grpSp>
        <p:nvGrpSpPr>
          <p:cNvPr id="4" name="Group 4"/>
          <p:cNvGrpSpPr/>
          <p:nvPr/>
        </p:nvGrpSpPr>
        <p:grpSpPr>
          <a:xfrm>
            <a:off x="953767" y="2691127"/>
            <a:ext cx="8013697" cy="3121657"/>
            <a:chOff x="0" y="0"/>
            <a:chExt cx="10684929" cy="4162209"/>
          </a:xfrm>
        </p:grpSpPr>
        <p:sp>
          <p:nvSpPr>
            <p:cNvPr id="5" name="Freeform 5"/>
            <p:cNvSpPr/>
            <p:nvPr/>
          </p:nvSpPr>
          <p:spPr>
            <a:xfrm>
              <a:off x="0" y="0"/>
              <a:ext cx="10685018" cy="4162298"/>
            </a:xfrm>
            <a:custGeom>
              <a:avLst/>
              <a:gdLst/>
              <a:ahLst/>
              <a:cxnLst/>
              <a:rect l="l" t="t" r="r" b="b"/>
              <a:pathLst>
                <a:path w="10685018" h="4162298">
                  <a:moveTo>
                    <a:pt x="0" y="146939"/>
                  </a:moveTo>
                  <a:cubicBezTo>
                    <a:pt x="0" y="65786"/>
                    <a:pt x="65786" y="0"/>
                    <a:pt x="146939" y="0"/>
                  </a:cubicBezTo>
                  <a:lnTo>
                    <a:pt x="10538079" y="0"/>
                  </a:lnTo>
                  <a:cubicBezTo>
                    <a:pt x="10619232" y="0"/>
                    <a:pt x="10685018" y="65786"/>
                    <a:pt x="10685018" y="146939"/>
                  </a:cubicBezTo>
                  <a:lnTo>
                    <a:pt x="10685018" y="4015359"/>
                  </a:lnTo>
                  <a:cubicBezTo>
                    <a:pt x="10685018" y="4096512"/>
                    <a:pt x="10619232" y="4162298"/>
                    <a:pt x="10538079" y="4162298"/>
                  </a:cubicBezTo>
                  <a:lnTo>
                    <a:pt x="146939" y="4162298"/>
                  </a:lnTo>
                  <a:cubicBezTo>
                    <a:pt x="65786" y="4162171"/>
                    <a:pt x="0" y="4096512"/>
                    <a:pt x="0" y="4015359"/>
                  </a:cubicBezTo>
                  <a:close/>
                </a:path>
              </a:pathLst>
            </a:custGeom>
            <a:solidFill>
              <a:srgbClr val="222222"/>
            </a:solidFill>
            <a:ln w="12700" cap="sq">
              <a:solidFill>
                <a:srgbClr val="222222"/>
              </a:solidFill>
              <a:prstDash val="solid"/>
              <a:miter/>
            </a:ln>
          </p:spPr>
          <p:txBody>
            <a:bodyPr/>
            <a:lstStyle/>
            <a:p>
              <a:endParaRPr lang="en-US"/>
            </a:p>
          </p:txBody>
        </p:sp>
      </p:grpSp>
      <p:sp>
        <p:nvSpPr>
          <p:cNvPr id="6" name="TextBox 6"/>
          <p:cNvSpPr txBox="1"/>
          <p:nvPr/>
        </p:nvSpPr>
        <p:spPr>
          <a:xfrm>
            <a:off x="1371600" y="3044190"/>
            <a:ext cx="7178040" cy="339090"/>
          </a:xfrm>
          <a:prstGeom prst="rect">
            <a:avLst/>
          </a:prstGeom>
        </p:spPr>
        <p:txBody>
          <a:bodyPr lIns="0" tIns="0" rIns="0" bIns="0" rtlCol="0" anchor="t">
            <a:spAutoFit/>
          </a:bodyPr>
          <a:lstStyle/>
          <a:p>
            <a:pPr algn="l">
              <a:lnSpc>
                <a:spcPts val="1559"/>
              </a:lnSpc>
            </a:pPr>
            <a:r>
              <a:rPr lang="en-US" sz="1299" b="1" spc="399" dirty="0">
                <a:solidFill>
                  <a:srgbClr val="FFDE59"/>
                </a:solidFill>
                <a:latin typeface="Arial Bold"/>
                <a:ea typeface="Arial Bold"/>
                <a:cs typeface="Arial Bold"/>
                <a:sym typeface="Arial Bold"/>
              </a:rPr>
              <a:t>1  ·  MAU SIGNAL</a:t>
            </a:r>
          </a:p>
        </p:txBody>
      </p:sp>
      <p:sp>
        <p:nvSpPr>
          <p:cNvPr id="7" name="TextBox 7"/>
          <p:cNvSpPr txBox="1"/>
          <p:nvPr/>
        </p:nvSpPr>
        <p:spPr>
          <a:xfrm>
            <a:off x="1371600" y="3510915"/>
            <a:ext cx="7178040" cy="512445"/>
          </a:xfrm>
          <a:prstGeom prst="rect">
            <a:avLst/>
          </a:prstGeom>
        </p:spPr>
        <p:txBody>
          <a:bodyPr lIns="0" tIns="0" rIns="0" bIns="0" rtlCol="0" anchor="t">
            <a:spAutoFit/>
          </a:bodyPr>
          <a:lstStyle/>
          <a:p>
            <a:pPr algn="l">
              <a:lnSpc>
                <a:spcPts val="2879"/>
              </a:lnSpc>
            </a:pPr>
            <a:r>
              <a:rPr lang="en-US" sz="2400" b="1">
                <a:solidFill>
                  <a:srgbClr val="FFFFFF"/>
                </a:solidFill>
                <a:latin typeface="Arial Bold"/>
                <a:ea typeface="Arial Bold"/>
                <a:cs typeface="Arial Bold"/>
                <a:sym typeface="Arial Bold"/>
              </a:rPr>
              <a:t>Brings back occasional users</a:t>
            </a:r>
          </a:p>
        </p:txBody>
      </p:sp>
      <p:sp>
        <p:nvSpPr>
          <p:cNvPr id="8" name="TextBox 8"/>
          <p:cNvSpPr txBox="1"/>
          <p:nvPr/>
        </p:nvSpPr>
        <p:spPr>
          <a:xfrm>
            <a:off x="1371600" y="4168140"/>
            <a:ext cx="7178040" cy="723900"/>
          </a:xfrm>
          <a:prstGeom prst="rect">
            <a:avLst/>
          </a:prstGeom>
        </p:spPr>
        <p:txBody>
          <a:bodyPr lIns="0" tIns="0" rIns="0" bIns="0" rtlCol="0" anchor="t">
            <a:spAutoFit/>
          </a:bodyPr>
          <a:lstStyle/>
          <a:p>
            <a:pPr algn="l">
              <a:lnSpc>
                <a:spcPts val="2160"/>
              </a:lnSpc>
            </a:pPr>
            <a:r>
              <a:rPr lang="en-US" sz="1800" i="1">
                <a:solidFill>
                  <a:srgbClr val="93A9CF"/>
                </a:solidFill>
                <a:latin typeface="Calibri (MS) Italics"/>
                <a:ea typeface="Calibri (MS) Italics"/>
                <a:cs typeface="Calibri (MS) Italics"/>
                <a:sym typeface="Calibri (MS) Italics"/>
              </a:rPr>
              <a:t>“I'd definitely open the app more often because of this.”</a:t>
            </a:r>
          </a:p>
        </p:txBody>
      </p:sp>
      <p:sp>
        <p:nvSpPr>
          <p:cNvPr id="9" name="TextBox 9"/>
          <p:cNvSpPr txBox="1"/>
          <p:nvPr/>
        </p:nvSpPr>
        <p:spPr>
          <a:xfrm>
            <a:off x="1371600" y="4991100"/>
            <a:ext cx="7178040" cy="495300"/>
          </a:xfrm>
          <a:prstGeom prst="rect">
            <a:avLst/>
          </a:prstGeom>
        </p:spPr>
        <p:txBody>
          <a:bodyPr lIns="0" tIns="0" rIns="0" bIns="0" rtlCol="0" anchor="t">
            <a:spAutoFit/>
          </a:bodyPr>
          <a:lstStyle/>
          <a:p>
            <a:pPr algn="l">
              <a:lnSpc>
                <a:spcPts val="1800"/>
              </a:lnSpc>
            </a:pPr>
            <a:r>
              <a:rPr lang="en-US" sz="1500">
                <a:solidFill>
                  <a:srgbClr val="A6A6AD"/>
                </a:solidFill>
                <a:latin typeface="Calibri (MS)"/>
                <a:ea typeface="Calibri (MS)"/>
                <a:cs typeface="Calibri (MS)"/>
                <a:sym typeface="Calibri (MS)"/>
              </a:rPr>
              <a:t>Both occasional users rated “open more often” a 5</a:t>
            </a:r>
          </a:p>
        </p:txBody>
      </p:sp>
      <p:grpSp>
        <p:nvGrpSpPr>
          <p:cNvPr id="10" name="Group 10"/>
          <p:cNvGrpSpPr/>
          <p:nvPr/>
        </p:nvGrpSpPr>
        <p:grpSpPr>
          <a:xfrm>
            <a:off x="9320527" y="2691127"/>
            <a:ext cx="8013697" cy="3121657"/>
            <a:chOff x="0" y="0"/>
            <a:chExt cx="10684929" cy="4162209"/>
          </a:xfrm>
        </p:grpSpPr>
        <p:sp>
          <p:nvSpPr>
            <p:cNvPr id="11" name="Freeform 11"/>
            <p:cNvSpPr/>
            <p:nvPr/>
          </p:nvSpPr>
          <p:spPr>
            <a:xfrm>
              <a:off x="0" y="0"/>
              <a:ext cx="10685018" cy="4162298"/>
            </a:xfrm>
            <a:custGeom>
              <a:avLst/>
              <a:gdLst/>
              <a:ahLst/>
              <a:cxnLst/>
              <a:rect l="l" t="t" r="r" b="b"/>
              <a:pathLst>
                <a:path w="10685018" h="4162298">
                  <a:moveTo>
                    <a:pt x="0" y="146939"/>
                  </a:moveTo>
                  <a:cubicBezTo>
                    <a:pt x="0" y="65786"/>
                    <a:pt x="65786" y="0"/>
                    <a:pt x="146939" y="0"/>
                  </a:cubicBezTo>
                  <a:lnTo>
                    <a:pt x="10538079" y="0"/>
                  </a:lnTo>
                  <a:cubicBezTo>
                    <a:pt x="10619232" y="0"/>
                    <a:pt x="10685018" y="65786"/>
                    <a:pt x="10685018" y="146939"/>
                  </a:cubicBezTo>
                  <a:lnTo>
                    <a:pt x="10685018" y="4015359"/>
                  </a:lnTo>
                  <a:cubicBezTo>
                    <a:pt x="10685018" y="4096512"/>
                    <a:pt x="10619232" y="4162298"/>
                    <a:pt x="10538079" y="4162298"/>
                  </a:cubicBezTo>
                  <a:lnTo>
                    <a:pt x="146939" y="4162298"/>
                  </a:lnTo>
                  <a:cubicBezTo>
                    <a:pt x="65786" y="4162171"/>
                    <a:pt x="0" y="4096512"/>
                    <a:pt x="0" y="4015359"/>
                  </a:cubicBezTo>
                  <a:close/>
                </a:path>
              </a:pathLst>
            </a:custGeom>
            <a:solidFill>
              <a:srgbClr val="222222"/>
            </a:solidFill>
            <a:ln w="12700" cap="sq">
              <a:solidFill>
                <a:srgbClr val="222222"/>
              </a:solidFill>
              <a:prstDash val="solid"/>
              <a:miter/>
            </a:ln>
          </p:spPr>
          <p:txBody>
            <a:bodyPr/>
            <a:lstStyle/>
            <a:p>
              <a:endParaRPr lang="en-US"/>
            </a:p>
          </p:txBody>
        </p:sp>
      </p:grpSp>
      <p:sp>
        <p:nvSpPr>
          <p:cNvPr id="12" name="TextBox 12"/>
          <p:cNvSpPr txBox="1"/>
          <p:nvPr/>
        </p:nvSpPr>
        <p:spPr>
          <a:xfrm>
            <a:off x="9738360" y="3044190"/>
            <a:ext cx="7178040" cy="339090"/>
          </a:xfrm>
          <a:prstGeom prst="rect">
            <a:avLst/>
          </a:prstGeom>
        </p:spPr>
        <p:txBody>
          <a:bodyPr lIns="0" tIns="0" rIns="0" bIns="0" rtlCol="0" anchor="t">
            <a:spAutoFit/>
          </a:bodyPr>
          <a:lstStyle/>
          <a:p>
            <a:pPr algn="l">
              <a:lnSpc>
                <a:spcPts val="1559"/>
              </a:lnSpc>
            </a:pPr>
            <a:r>
              <a:rPr lang="en-US" sz="1299" b="1" spc="399">
                <a:solidFill>
                  <a:srgbClr val="FFDE59"/>
                </a:solidFill>
                <a:latin typeface="Arial Bold"/>
                <a:ea typeface="Arial Bold"/>
                <a:cs typeface="Arial Bold"/>
                <a:sym typeface="Arial Bold"/>
              </a:rPr>
              <a:t>2  ·  USABILITY</a:t>
            </a:r>
          </a:p>
        </p:txBody>
      </p:sp>
      <p:sp>
        <p:nvSpPr>
          <p:cNvPr id="13" name="TextBox 13"/>
          <p:cNvSpPr txBox="1"/>
          <p:nvPr/>
        </p:nvSpPr>
        <p:spPr>
          <a:xfrm>
            <a:off x="9738360" y="3510915"/>
            <a:ext cx="7178040" cy="512445"/>
          </a:xfrm>
          <a:prstGeom prst="rect">
            <a:avLst/>
          </a:prstGeom>
        </p:spPr>
        <p:txBody>
          <a:bodyPr lIns="0" tIns="0" rIns="0" bIns="0" rtlCol="0" anchor="t">
            <a:spAutoFit/>
          </a:bodyPr>
          <a:lstStyle/>
          <a:p>
            <a:pPr algn="l">
              <a:lnSpc>
                <a:spcPts val="2879"/>
              </a:lnSpc>
            </a:pPr>
            <a:r>
              <a:rPr lang="en-US" sz="2400" b="1">
                <a:solidFill>
                  <a:srgbClr val="FFFFFF"/>
                </a:solidFill>
                <a:latin typeface="Arial Bold"/>
                <a:ea typeface="Arial Bold"/>
                <a:cs typeface="Arial Bold"/>
                <a:sym typeface="Arial Bold"/>
              </a:rPr>
              <a:t>Too many taps from capture to post</a:t>
            </a:r>
          </a:p>
        </p:txBody>
      </p:sp>
      <p:sp>
        <p:nvSpPr>
          <p:cNvPr id="14" name="TextBox 14"/>
          <p:cNvSpPr txBox="1"/>
          <p:nvPr/>
        </p:nvSpPr>
        <p:spPr>
          <a:xfrm>
            <a:off x="9738360" y="4168140"/>
            <a:ext cx="7178040" cy="723900"/>
          </a:xfrm>
          <a:prstGeom prst="rect">
            <a:avLst/>
          </a:prstGeom>
        </p:spPr>
        <p:txBody>
          <a:bodyPr lIns="0" tIns="0" rIns="0" bIns="0" rtlCol="0" anchor="t">
            <a:spAutoFit/>
          </a:bodyPr>
          <a:lstStyle/>
          <a:p>
            <a:pPr algn="l">
              <a:lnSpc>
                <a:spcPts val="2160"/>
              </a:lnSpc>
            </a:pPr>
            <a:r>
              <a:rPr lang="en-US" sz="1800" i="1">
                <a:solidFill>
                  <a:srgbClr val="93A9CF"/>
                </a:solidFill>
                <a:latin typeface="Calibri (MS) Italics"/>
                <a:ea typeface="Calibri (MS) Italics"/>
                <a:cs typeface="Calibri (MS) Italics"/>
                <a:sym typeface="Calibri (MS) Italics"/>
              </a:rPr>
              <a:t>“There are a few too many button clicks in this flow.”</a:t>
            </a:r>
          </a:p>
        </p:txBody>
      </p:sp>
      <p:sp>
        <p:nvSpPr>
          <p:cNvPr id="15" name="TextBox 15"/>
          <p:cNvSpPr txBox="1"/>
          <p:nvPr/>
        </p:nvSpPr>
        <p:spPr>
          <a:xfrm>
            <a:off x="9738360" y="4991100"/>
            <a:ext cx="7178040" cy="495300"/>
          </a:xfrm>
          <a:prstGeom prst="rect">
            <a:avLst/>
          </a:prstGeom>
        </p:spPr>
        <p:txBody>
          <a:bodyPr lIns="0" tIns="0" rIns="0" bIns="0" rtlCol="0" anchor="t">
            <a:spAutoFit/>
          </a:bodyPr>
          <a:lstStyle/>
          <a:p>
            <a:pPr algn="l">
              <a:lnSpc>
                <a:spcPts val="1800"/>
              </a:lnSpc>
            </a:pPr>
            <a:r>
              <a:rPr lang="en-US" sz="1500">
                <a:solidFill>
                  <a:srgbClr val="A6A6AD"/>
                </a:solidFill>
                <a:latin typeface="Calibri (MS)"/>
                <a:ea typeface="Calibri (MS)"/>
                <a:cs typeface="Calibri (MS)"/>
                <a:sym typeface="Calibri (MS)"/>
              </a:rPr>
              <a:t>Raised twice in the session and again in the survey</a:t>
            </a:r>
          </a:p>
        </p:txBody>
      </p:sp>
      <p:grpSp>
        <p:nvGrpSpPr>
          <p:cNvPr id="16" name="Group 16"/>
          <p:cNvGrpSpPr/>
          <p:nvPr/>
        </p:nvGrpSpPr>
        <p:grpSpPr>
          <a:xfrm>
            <a:off x="953767" y="6120127"/>
            <a:ext cx="8013697" cy="3121657"/>
            <a:chOff x="0" y="0"/>
            <a:chExt cx="10684929" cy="4162209"/>
          </a:xfrm>
        </p:grpSpPr>
        <p:sp>
          <p:nvSpPr>
            <p:cNvPr id="17" name="Freeform 17"/>
            <p:cNvSpPr/>
            <p:nvPr/>
          </p:nvSpPr>
          <p:spPr>
            <a:xfrm>
              <a:off x="0" y="0"/>
              <a:ext cx="10685018" cy="4162298"/>
            </a:xfrm>
            <a:custGeom>
              <a:avLst/>
              <a:gdLst/>
              <a:ahLst/>
              <a:cxnLst/>
              <a:rect l="l" t="t" r="r" b="b"/>
              <a:pathLst>
                <a:path w="10685018" h="4162298">
                  <a:moveTo>
                    <a:pt x="0" y="146939"/>
                  </a:moveTo>
                  <a:cubicBezTo>
                    <a:pt x="0" y="65786"/>
                    <a:pt x="65786" y="0"/>
                    <a:pt x="146939" y="0"/>
                  </a:cubicBezTo>
                  <a:lnTo>
                    <a:pt x="10538079" y="0"/>
                  </a:lnTo>
                  <a:cubicBezTo>
                    <a:pt x="10619232" y="0"/>
                    <a:pt x="10685018" y="65786"/>
                    <a:pt x="10685018" y="146939"/>
                  </a:cubicBezTo>
                  <a:lnTo>
                    <a:pt x="10685018" y="4015359"/>
                  </a:lnTo>
                  <a:cubicBezTo>
                    <a:pt x="10685018" y="4096512"/>
                    <a:pt x="10619232" y="4162298"/>
                    <a:pt x="10538079" y="4162298"/>
                  </a:cubicBezTo>
                  <a:lnTo>
                    <a:pt x="146939" y="4162298"/>
                  </a:lnTo>
                  <a:cubicBezTo>
                    <a:pt x="65786" y="4162171"/>
                    <a:pt x="0" y="4096512"/>
                    <a:pt x="0" y="4015359"/>
                  </a:cubicBezTo>
                  <a:close/>
                </a:path>
              </a:pathLst>
            </a:custGeom>
            <a:solidFill>
              <a:srgbClr val="222222"/>
            </a:solidFill>
            <a:ln w="12700" cap="sq">
              <a:solidFill>
                <a:srgbClr val="222222"/>
              </a:solidFill>
              <a:prstDash val="solid"/>
              <a:miter/>
            </a:ln>
          </p:spPr>
          <p:txBody>
            <a:bodyPr/>
            <a:lstStyle/>
            <a:p>
              <a:endParaRPr lang="en-US"/>
            </a:p>
          </p:txBody>
        </p:sp>
      </p:grpSp>
      <p:sp>
        <p:nvSpPr>
          <p:cNvPr id="18" name="TextBox 18"/>
          <p:cNvSpPr txBox="1"/>
          <p:nvPr/>
        </p:nvSpPr>
        <p:spPr>
          <a:xfrm>
            <a:off x="1371600" y="6473190"/>
            <a:ext cx="7178040" cy="339090"/>
          </a:xfrm>
          <a:prstGeom prst="rect">
            <a:avLst/>
          </a:prstGeom>
        </p:spPr>
        <p:txBody>
          <a:bodyPr lIns="0" tIns="0" rIns="0" bIns="0" rtlCol="0" anchor="t">
            <a:spAutoFit/>
          </a:bodyPr>
          <a:lstStyle/>
          <a:p>
            <a:pPr algn="l">
              <a:lnSpc>
                <a:spcPts val="1559"/>
              </a:lnSpc>
            </a:pPr>
            <a:r>
              <a:rPr lang="en-US" sz="1299" b="1" spc="399" dirty="0">
                <a:solidFill>
                  <a:srgbClr val="FFDE59"/>
                </a:solidFill>
                <a:latin typeface="Arial Bold"/>
                <a:ea typeface="Arial Bold"/>
                <a:cs typeface="Arial Bold"/>
                <a:sym typeface="Arial Bold"/>
              </a:rPr>
              <a:t>3  ·  VALUE</a:t>
            </a:r>
          </a:p>
        </p:txBody>
      </p:sp>
      <p:sp>
        <p:nvSpPr>
          <p:cNvPr id="19" name="TextBox 19"/>
          <p:cNvSpPr txBox="1"/>
          <p:nvPr/>
        </p:nvSpPr>
        <p:spPr>
          <a:xfrm>
            <a:off x="1371600" y="6939915"/>
            <a:ext cx="7178040" cy="512445"/>
          </a:xfrm>
          <a:prstGeom prst="rect">
            <a:avLst/>
          </a:prstGeom>
        </p:spPr>
        <p:txBody>
          <a:bodyPr lIns="0" tIns="0" rIns="0" bIns="0" rtlCol="0" anchor="t">
            <a:spAutoFit/>
          </a:bodyPr>
          <a:lstStyle/>
          <a:p>
            <a:pPr algn="l">
              <a:lnSpc>
                <a:spcPts val="2879"/>
              </a:lnSpc>
            </a:pPr>
            <a:r>
              <a:rPr lang="en-US" sz="2400" b="1" dirty="0">
                <a:solidFill>
                  <a:srgbClr val="FFFFFF"/>
                </a:solidFill>
                <a:latin typeface="Arial Bold"/>
                <a:ea typeface="Arial Bold"/>
                <a:cs typeface="Arial Bold"/>
                <a:sym typeface="Arial Bold"/>
              </a:rPr>
              <a:t>Stamps and the Passport are the draw</a:t>
            </a:r>
          </a:p>
        </p:txBody>
      </p:sp>
      <p:sp>
        <p:nvSpPr>
          <p:cNvPr id="20" name="TextBox 20"/>
          <p:cNvSpPr txBox="1"/>
          <p:nvPr/>
        </p:nvSpPr>
        <p:spPr>
          <a:xfrm>
            <a:off x="1371600" y="7597140"/>
            <a:ext cx="7178040" cy="723900"/>
          </a:xfrm>
          <a:prstGeom prst="rect">
            <a:avLst/>
          </a:prstGeom>
        </p:spPr>
        <p:txBody>
          <a:bodyPr lIns="0" tIns="0" rIns="0" bIns="0" rtlCol="0" anchor="t">
            <a:spAutoFit/>
          </a:bodyPr>
          <a:lstStyle/>
          <a:p>
            <a:pPr algn="l">
              <a:lnSpc>
                <a:spcPts val="2160"/>
              </a:lnSpc>
            </a:pPr>
            <a:r>
              <a:rPr lang="en-US" sz="1800" i="1" dirty="0">
                <a:solidFill>
                  <a:srgbClr val="93A9CF"/>
                </a:solidFill>
                <a:latin typeface="Calibri (MS) Italics"/>
                <a:ea typeface="Calibri (MS) Italics"/>
                <a:cs typeface="Calibri (MS) Italics"/>
                <a:sym typeface="Calibri (MS) Italics"/>
              </a:rPr>
              <a:t>“The passport stamp designs themselves look really cool!”</a:t>
            </a:r>
          </a:p>
        </p:txBody>
      </p:sp>
      <p:sp>
        <p:nvSpPr>
          <p:cNvPr id="21" name="TextBox 21"/>
          <p:cNvSpPr txBox="1"/>
          <p:nvPr/>
        </p:nvSpPr>
        <p:spPr>
          <a:xfrm>
            <a:off x="1371600" y="8420100"/>
            <a:ext cx="7178040" cy="495300"/>
          </a:xfrm>
          <a:prstGeom prst="rect">
            <a:avLst/>
          </a:prstGeom>
        </p:spPr>
        <p:txBody>
          <a:bodyPr lIns="0" tIns="0" rIns="0" bIns="0" rtlCol="0" anchor="t">
            <a:spAutoFit/>
          </a:bodyPr>
          <a:lstStyle/>
          <a:p>
            <a:pPr algn="l">
              <a:lnSpc>
                <a:spcPts val="1800"/>
              </a:lnSpc>
            </a:pPr>
            <a:r>
              <a:rPr lang="en-US" sz="1500">
                <a:solidFill>
                  <a:srgbClr val="A6A6AD"/>
                </a:solidFill>
                <a:latin typeface="Calibri (MS)"/>
                <a:ea typeface="Calibri (MS)"/>
                <a:cs typeface="Calibri (MS)"/>
                <a:sym typeface="Calibri (MS)"/>
              </a:rPr>
              <a:t>Most-liked: layout, stamps, navigation, community posting</a:t>
            </a:r>
          </a:p>
        </p:txBody>
      </p:sp>
      <p:grpSp>
        <p:nvGrpSpPr>
          <p:cNvPr id="22" name="Group 22"/>
          <p:cNvGrpSpPr/>
          <p:nvPr/>
        </p:nvGrpSpPr>
        <p:grpSpPr>
          <a:xfrm>
            <a:off x="9320527" y="6120127"/>
            <a:ext cx="8013697" cy="3121657"/>
            <a:chOff x="0" y="0"/>
            <a:chExt cx="10684929" cy="4162209"/>
          </a:xfrm>
        </p:grpSpPr>
        <p:sp>
          <p:nvSpPr>
            <p:cNvPr id="23" name="Freeform 23"/>
            <p:cNvSpPr/>
            <p:nvPr/>
          </p:nvSpPr>
          <p:spPr>
            <a:xfrm>
              <a:off x="0" y="0"/>
              <a:ext cx="10685018" cy="4162298"/>
            </a:xfrm>
            <a:custGeom>
              <a:avLst/>
              <a:gdLst/>
              <a:ahLst/>
              <a:cxnLst/>
              <a:rect l="l" t="t" r="r" b="b"/>
              <a:pathLst>
                <a:path w="10685018" h="4162298">
                  <a:moveTo>
                    <a:pt x="0" y="146939"/>
                  </a:moveTo>
                  <a:cubicBezTo>
                    <a:pt x="0" y="65786"/>
                    <a:pt x="65786" y="0"/>
                    <a:pt x="146939" y="0"/>
                  </a:cubicBezTo>
                  <a:lnTo>
                    <a:pt x="10538079" y="0"/>
                  </a:lnTo>
                  <a:cubicBezTo>
                    <a:pt x="10619232" y="0"/>
                    <a:pt x="10685018" y="65786"/>
                    <a:pt x="10685018" y="146939"/>
                  </a:cubicBezTo>
                  <a:lnTo>
                    <a:pt x="10685018" y="4015359"/>
                  </a:lnTo>
                  <a:cubicBezTo>
                    <a:pt x="10685018" y="4096512"/>
                    <a:pt x="10619232" y="4162298"/>
                    <a:pt x="10538079" y="4162298"/>
                  </a:cubicBezTo>
                  <a:lnTo>
                    <a:pt x="146939" y="4162298"/>
                  </a:lnTo>
                  <a:cubicBezTo>
                    <a:pt x="65786" y="4162171"/>
                    <a:pt x="0" y="4096512"/>
                    <a:pt x="0" y="4015359"/>
                  </a:cubicBezTo>
                  <a:close/>
                </a:path>
              </a:pathLst>
            </a:custGeom>
            <a:solidFill>
              <a:srgbClr val="222222"/>
            </a:solidFill>
            <a:ln w="12700" cap="sq">
              <a:solidFill>
                <a:srgbClr val="222222"/>
              </a:solidFill>
              <a:prstDash val="solid"/>
              <a:miter/>
            </a:ln>
          </p:spPr>
          <p:txBody>
            <a:bodyPr/>
            <a:lstStyle/>
            <a:p>
              <a:endParaRPr lang="en-US"/>
            </a:p>
          </p:txBody>
        </p:sp>
      </p:grpSp>
      <p:sp>
        <p:nvSpPr>
          <p:cNvPr id="24" name="TextBox 24"/>
          <p:cNvSpPr txBox="1"/>
          <p:nvPr/>
        </p:nvSpPr>
        <p:spPr>
          <a:xfrm>
            <a:off x="9738360" y="6473190"/>
            <a:ext cx="7178040" cy="339090"/>
          </a:xfrm>
          <a:prstGeom prst="rect">
            <a:avLst/>
          </a:prstGeom>
        </p:spPr>
        <p:txBody>
          <a:bodyPr lIns="0" tIns="0" rIns="0" bIns="0" rtlCol="0" anchor="t">
            <a:spAutoFit/>
          </a:bodyPr>
          <a:lstStyle/>
          <a:p>
            <a:pPr algn="l">
              <a:lnSpc>
                <a:spcPts val="1559"/>
              </a:lnSpc>
            </a:pPr>
            <a:r>
              <a:rPr lang="en-US" sz="1299" b="1" spc="399">
                <a:solidFill>
                  <a:srgbClr val="FFDE59"/>
                </a:solidFill>
                <a:latin typeface="Arial Bold"/>
                <a:ea typeface="Arial Bold"/>
                <a:cs typeface="Arial Bold"/>
                <a:sym typeface="Arial Bold"/>
              </a:rPr>
              <a:t>4  ·  AUTHENTICITY</a:t>
            </a:r>
          </a:p>
        </p:txBody>
      </p:sp>
      <p:sp>
        <p:nvSpPr>
          <p:cNvPr id="25" name="TextBox 25"/>
          <p:cNvSpPr txBox="1"/>
          <p:nvPr/>
        </p:nvSpPr>
        <p:spPr>
          <a:xfrm>
            <a:off x="9738360" y="6939915"/>
            <a:ext cx="7178040" cy="512445"/>
          </a:xfrm>
          <a:prstGeom prst="rect">
            <a:avLst/>
          </a:prstGeom>
        </p:spPr>
        <p:txBody>
          <a:bodyPr lIns="0" tIns="0" rIns="0" bIns="0" rtlCol="0" anchor="t">
            <a:spAutoFit/>
          </a:bodyPr>
          <a:lstStyle/>
          <a:p>
            <a:pPr algn="l">
              <a:lnSpc>
                <a:spcPts val="2879"/>
              </a:lnSpc>
            </a:pPr>
            <a:r>
              <a:rPr lang="en-US" sz="2400" b="1">
                <a:solidFill>
                  <a:srgbClr val="FFFFFF"/>
                </a:solidFill>
                <a:latin typeface="Arial Bold"/>
                <a:ea typeface="Arial Bold"/>
                <a:cs typeface="Arial Bold"/>
                <a:sym typeface="Arial Bold"/>
              </a:rPr>
              <a:t>No pressure, but complexity hurts fit</a:t>
            </a:r>
          </a:p>
        </p:txBody>
      </p:sp>
      <p:sp>
        <p:nvSpPr>
          <p:cNvPr id="26" name="TextBox 26"/>
          <p:cNvSpPr txBox="1"/>
          <p:nvPr/>
        </p:nvSpPr>
        <p:spPr>
          <a:xfrm>
            <a:off x="9738360" y="7597140"/>
            <a:ext cx="7178040" cy="723900"/>
          </a:xfrm>
          <a:prstGeom prst="rect">
            <a:avLst/>
          </a:prstGeom>
        </p:spPr>
        <p:txBody>
          <a:bodyPr lIns="0" tIns="0" rIns="0" bIns="0" rtlCol="0" anchor="t">
            <a:spAutoFit/>
          </a:bodyPr>
          <a:lstStyle/>
          <a:p>
            <a:pPr algn="l">
              <a:lnSpc>
                <a:spcPts val="2160"/>
              </a:lnSpc>
            </a:pPr>
            <a:r>
              <a:rPr lang="en-US" sz="1800" i="1">
                <a:solidFill>
                  <a:srgbClr val="93A9CF"/>
                </a:solidFill>
                <a:latin typeface="Calibri (MS) Italics"/>
                <a:ea typeface="Calibri (MS) Italics"/>
                <a:cs typeface="Calibri (MS) Italics"/>
                <a:sym typeface="Calibri (MS) Italics"/>
              </a:rPr>
              <a:t>“It feels less authentic and overly complex.”</a:t>
            </a:r>
          </a:p>
        </p:txBody>
      </p:sp>
      <p:sp>
        <p:nvSpPr>
          <p:cNvPr id="27" name="TextBox 27"/>
          <p:cNvSpPr txBox="1"/>
          <p:nvPr/>
        </p:nvSpPr>
        <p:spPr>
          <a:xfrm>
            <a:off x="9738360" y="8420100"/>
            <a:ext cx="7178040" cy="495300"/>
          </a:xfrm>
          <a:prstGeom prst="rect">
            <a:avLst/>
          </a:prstGeom>
        </p:spPr>
        <p:txBody>
          <a:bodyPr lIns="0" tIns="0" rIns="0" bIns="0" rtlCol="0" anchor="t">
            <a:spAutoFit/>
          </a:bodyPr>
          <a:lstStyle/>
          <a:p>
            <a:pPr algn="l">
              <a:lnSpc>
                <a:spcPts val="1800"/>
              </a:lnSpc>
            </a:pPr>
            <a:r>
              <a:rPr lang="en-US" sz="1500">
                <a:solidFill>
                  <a:srgbClr val="A6A6AD"/>
                </a:solidFill>
                <a:latin typeface="Calibri (MS)"/>
                <a:ea typeface="Calibri (MS)"/>
                <a:cs typeface="Calibri (MS)"/>
                <a:sym typeface="Calibri (MS)"/>
              </a:rPr>
              <a:t>Hooks scored 4.2 / 5 for low pressure; one non-user found it complex</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2" name="TextBox 2"/>
          <p:cNvSpPr txBox="1"/>
          <p:nvPr/>
        </p:nvSpPr>
        <p:spPr>
          <a:xfrm>
            <a:off x="960120" y="666750"/>
            <a:ext cx="9144000" cy="206467"/>
          </a:xfrm>
          <a:prstGeom prst="rect">
            <a:avLst/>
          </a:prstGeom>
        </p:spPr>
        <p:txBody>
          <a:bodyPr lIns="0" tIns="0" rIns="0" bIns="0" rtlCol="0" anchor="t">
            <a:spAutoFit/>
          </a:bodyPr>
          <a:lstStyle/>
          <a:p>
            <a:pPr algn="l">
              <a:lnSpc>
                <a:spcPts val="1559"/>
              </a:lnSpc>
            </a:pPr>
            <a:r>
              <a:rPr lang="en-US" b="1" spc="599">
                <a:solidFill>
                  <a:srgbClr val="93A9CF"/>
                </a:solidFill>
                <a:latin typeface="Arial Bold"/>
                <a:ea typeface="Arial Bold"/>
                <a:cs typeface="Arial Bold"/>
                <a:sym typeface="Arial Bold"/>
              </a:rPr>
              <a:t>PART 4 OF 4</a:t>
            </a:r>
          </a:p>
        </p:txBody>
      </p:sp>
      <p:sp>
        <p:nvSpPr>
          <p:cNvPr id="3" name="TextBox 3"/>
          <p:cNvSpPr txBox="1"/>
          <p:nvPr/>
        </p:nvSpPr>
        <p:spPr>
          <a:xfrm>
            <a:off x="960120" y="1670685"/>
            <a:ext cx="8229600" cy="2992755"/>
          </a:xfrm>
          <a:prstGeom prst="rect">
            <a:avLst/>
          </a:prstGeom>
        </p:spPr>
        <p:txBody>
          <a:bodyPr lIns="0" tIns="0" rIns="0" bIns="0" rtlCol="0" anchor="t">
            <a:spAutoFit/>
          </a:bodyPr>
          <a:lstStyle/>
          <a:p>
            <a:pPr algn="l">
              <a:lnSpc>
                <a:spcPts val="24000"/>
              </a:lnSpc>
            </a:pPr>
            <a:r>
              <a:rPr lang="en-US" sz="20000" b="1">
                <a:solidFill>
                  <a:srgbClr val="FFDE59"/>
                </a:solidFill>
                <a:latin typeface="Arial Bold"/>
                <a:ea typeface="Arial Bold"/>
                <a:cs typeface="Arial Bold"/>
                <a:sym typeface="Arial Bold"/>
              </a:rPr>
              <a:t>04</a:t>
            </a:r>
          </a:p>
        </p:txBody>
      </p:sp>
      <p:sp>
        <p:nvSpPr>
          <p:cNvPr id="4" name="TextBox 4"/>
          <p:cNvSpPr txBox="1"/>
          <p:nvPr/>
        </p:nvSpPr>
        <p:spPr>
          <a:xfrm>
            <a:off x="960120" y="4863465"/>
            <a:ext cx="10515600" cy="1846659"/>
          </a:xfrm>
          <a:prstGeom prst="rect">
            <a:avLst/>
          </a:prstGeom>
        </p:spPr>
        <p:txBody>
          <a:bodyPr lIns="0" tIns="0" rIns="0" bIns="0" rtlCol="0" anchor="t">
            <a:spAutoFit/>
          </a:bodyPr>
          <a:lstStyle/>
          <a:p>
            <a:pPr algn="l">
              <a:lnSpc>
                <a:spcPts val="7200"/>
              </a:lnSpc>
            </a:pPr>
            <a:r>
              <a:rPr lang="en-US" sz="6000" b="1" dirty="0">
                <a:solidFill>
                  <a:srgbClr val="FFFFFF"/>
                </a:solidFill>
                <a:latin typeface="Arial Bold"/>
                <a:ea typeface="Arial Bold"/>
                <a:cs typeface="Arial Bold"/>
                <a:sym typeface="Arial Bold"/>
              </a:rPr>
              <a:t>Recommendation &amp;</a:t>
            </a:r>
          </a:p>
          <a:p>
            <a:pPr algn="l">
              <a:lnSpc>
                <a:spcPts val="7200"/>
              </a:lnSpc>
            </a:pPr>
            <a:r>
              <a:rPr lang="en-US" sz="6000" b="1" dirty="0">
                <a:solidFill>
                  <a:srgbClr val="FFFFFF"/>
                </a:solidFill>
                <a:latin typeface="Arial Bold"/>
                <a:ea typeface="Arial Bold"/>
                <a:cs typeface="Arial Bold"/>
                <a:sym typeface="Arial Bold"/>
              </a:rPr>
              <a:t>Reflection</a:t>
            </a:r>
          </a:p>
        </p:txBody>
      </p:sp>
      <p:sp>
        <p:nvSpPr>
          <p:cNvPr id="5" name="TextBox 5"/>
          <p:cNvSpPr txBox="1"/>
          <p:nvPr/>
        </p:nvSpPr>
        <p:spPr>
          <a:xfrm>
            <a:off x="960120" y="6947535"/>
            <a:ext cx="9601200" cy="962025"/>
          </a:xfrm>
          <a:prstGeom prst="rect">
            <a:avLst/>
          </a:prstGeom>
        </p:spPr>
        <p:txBody>
          <a:bodyPr lIns="0" tIns="0" rIns="0" bIns="0" rtlCol="0" anchor="t">
            <a:spAutoFit/>
          </a:bodyPr>
          <a:lstStyle/>
          <a:p>
            <a:pPr algn="l">
              <a:lnSpc>
                <a:spcPts val="2639"/>
              </a:lnSpc>
            </a:pPr>
            <a:r>
              <a:rPr lang="en-US" sz="2199">
                <a:solidFill>
                  <a:srgbClr val="B4B4BC"/>
                </a:solidFill>
                <a:latin typeface="Calibri (MS)"/>
                <a:ea typeface="Calibri (MS)"/>
                <a:cs typeface="Calibri (MS)"/>
                <a:sym typeface="Calibri (MS)"/>
              </a:rPr>
              <a:t>What BeReal should do next, and what I learned along the way.</a:t>
            </a:r>
          </a:p>
        </p:txBody>
      </p:sp>
      <p:grpSp>
        <p:nvGrpSpPr>
          <p:cNvPr id="6" name="Group 6"/>
          <p:cNvGrpSpPr/>
          <p:nvPr/>
        </p:nvGrpSpPr>
        <p:grpSpPr>
          <a:xfrm rot="480000">
            <a:off x="11887200" y="2194560"/>
            <a:ext cx="4754880" cy="4754880"/>
            <a:chOff x="0" y="0"/>
            <a:chExt cx="6339840" cy="6339840"/>
          </a:xfrm>
        </p:grpSpPr>
        <p:sp>
          <p:nvSpPr>
            <p:cNvPr id="7" name="Freeform 7" descr="wins.png"/>
            <p:cNvSpPr/>
            <p:nvPr/>
          </p:nvSpPr>
          <p:spPr>
            <a:xfrm>
              <a:off x="0" y="0"/>
              <a:ext cx="6339840" cy="6339840"/>
            </a:xfrm>
            <a:custGeom>
              <a:avLst/>
              <a:gdLst/>
              <a:ahLst/>
              <a:cxnLst/>
              <a:rect l="l" t="t" r="r" b="b"/>
              <a:pathLst>
                <a:path w="6339840" h="6339840">
                  <a:moveTo>
                    <a:pt x="0" y="0"/>
                  </a:moveTo>
                  <a:lnTo>
                    <a:pt x="6339840" y="0"/>
                  </a:lnTo>
                  <a:lnTo>
                    <a:pt x="6339840" y="6339840"/>
                  </a:lnTo>
                  <a:lnTo>
                    <a:pt x="0" y="6339840"/>
                  </a:lnTo>
                  <a:lnTo>
                    <a:pt x="0" y="0"/>
                  </a:lnTo>
                  <a:close/>
                </a:path>
              </a:pathLst>
            </a:custGeom>
            <a:blipFill>
              <a:blip r:embed="rId3"/>
              <a:stretch>
                <a:fillRect/>
              </a:stretch>
            </a:blipFill>
          </p:spPr>
          <p:txBody>
            <a:bodyPr/>
            <a:lstStyle/>
            <a:p>
              <a:endParaRPr lang="en-US"/>
            </a:p>
          </p:txBody>
        </p:sp>
      </p:grpSp>
      <p:grpSp>
        <p:nvGrpSpPr>
          <p:cNvPr id="8" name="Group 8"/>
          <p:cNvGrpSpPr/>
          <p:nvPr/>
        </p:nvGrpSpPr>
        <p:grpSpPr>
          <a:xfrm>
            <a:off x="960120" y="8412480"/>
            <a:ext cx="3920490" cy="777240"/>
            <a:chOff x="0" y="0"/>
            <a:chExt cx="5227320" cy="1036320"/>
          </a:xfrm>
        </p:grpSpPr>
        <p:sp>
          <p:nvSpPr>
            <p:cNvPr id="9" name="Freeform 9"/>
            <p:cNvSpPr/>
            <p:nvPr/>
          </p:nvSpPr>
          <p:spPr>
            <a:xfrm>
              <a:off x="0" y="0"/>
              <a:ext cx="5227320" cy="1036320"/>
            </a:xfrm>
            <a:custGeom>
              <a:avLst/>
              <a:gdLst/>
              <a:ahLst/>
              <a:cxnLst/>
              <a:rect l="l" t="t" r="r" b="b"/>
              <a:pathLst>
                <a:path w="5227320" h="1036320">
                  <a:moveTo>
                    <a:pt x="0" y="146304"/>
                  </a:moveTo>
                  <a:cubicBezTo>
                    <a:pt x="0" y="65532"/>
                    <a:pt x="65532" y="0"/>
                    <a:pt x="146304" y="0"/>
                  </a:cubicBezTo>
                  <a:lnTo>
                    <a:pt x="5081016" y="0"/>
                  </a:lnTo>
                  <a:cubicBezTo>
                    <a:pt x="5161788" y="0"/>
                    <a:pt x="5227320" y="65532"/>
                    <a:pt x="5227320" y="146304"/>
                  </a:cubicBezTo>
                  <a:lnTo>
                    <a:pt x="5227320" y="890016"/>
                  </a:lnTo>
                  <a:cubicBezTo>
                    <a:pt x="5227320" y="970788"/>
                    <a:pt x="5161788" y="1036320"/>
                    <a:pt x="5081016" y="1036320"/>
                  </a:cubicBezTo>
                  <a:lnTo>
                    <a:pt x="146304" y="1036320"/>
                  </a:lnTo>
                  <a:cubicBezTo>
                    <a:pt x="65532" y="1036320"/>
                    <a:pt x="0" y="970788"/>
                    <a:pt x="0" y="890016"/>
                  </a:cubicBezTo>
                  <a:close/>
                </a:path>
              </a:pathLst>
            </a:custGeom>
            <a:solidFill>
              <a:srgbClr val="222222"/>
            </a:solidFill>
          </p:spPr>
          <p:txBody>
            <a:bodyPr/>
            <a:lstStyle/>
            <a:p>
              <a:endParaRPr lang="en-US"/>
            </a:p>
          </p:txBody>
        </p:sp>
      </p:grpSp>
      <p:grpSp>
        <p:nvGrpSpPr>
          <p:cNvPr id="10" name="Group 10"/>
          <p:cNvGrpSpPr/>
          <p:nvPr/>
        </p:nvGrpSpPr>
        <p:grpSpPr>
          <a:xfrm>
            <a:off x="1234440" y="8412480"/>
            <a:ext cx="3371850" cy="777240"/>
            <a:chOff x="0" y="0"/>
            <a:chExt cx="4495800" cy="1036320"/>
          </a:xfrm>
        </p:grpSpPr>
        <p:sp>
          <p:nvSpPr>
            <p:cNvPr id="11" name="Freeform 11"/>
            <p:cNvSpPr/>
            <p:nvPr/>
          </p:nvSpPr>
          <p:spPr>
            <a:xfrm>
              <a:off x="0" y="0"/>
              <a:ext cx="4495799" cy="1036320"/>
            </a:xfrm>
            <a:custGeom>
              <a:avLst/>
              <a:gdLst/>
              <a:ahLst/>
              <a:cxnLst/>
              <a:rect l="l" t="t" r="r" b="b"/>
              <a:pathLst>
                <a:path w="4495799" h="1036320">
                  <a:moveTo>
                    <a:pt x="0" y="0"/>
                  </a:moveTo>
                  <a:lnTo>
                    <a:pt x="4495799" y="0"/>
                  </a:lnTo>
                  <a:lnTo>
                    <a:pt x="4495799" y="1036320"/>
                  </a:lnTo>
                  <a:lnTo>
                    <a:pt x="0" y="1036320"/>
                  </a:lnTo>
                  <a:close/>
                </a:path>
              </a:pathLst>
            </a:custGeom>
            <a:blipFill>
              <a:blip r:embed="rId4">
                <a:alphaModFix amt="0"/>
              </a:blip>
              <a:stretch>
                <a:fillRect t="-34530" b="-34530"/>
              </a:stretch>
            </a:blipFill>
          </p:spPr>
          <p:txBody>
            <a:bodyPr/>
            <a:lstStyle/>
            <a:p>
              <a:endParaRPr lang="en-US"/>
            </a:p>
          </p:txBody>
        </p:sp>
        <p:sp>
          <p:nvSpPr>
            <p:cNvPr id="12" name="TextBox 12"/>
            <p:cNvSpPr txBox="1"/>
            <p:nvPr/>
          </p:nvSpPr>
          <p:spPr>
            <a:xfrm>
              <a:off x="0" y="-38100"/>
              <a:ext cx="4495800" cy="1074420"/>
            </a:xfrm>
            <a:prstGeom prst="rect">
              <a:avLst/>
            </a:prstGeom>
          </p:spPr>
          <p:txBody>
            <a:bodyPr lIns="0" tIns="0" rIns="0" bIns="0" rtlCol="0" anchor="ctr"/>
            <a:lstStyle/>
            <a:p>
              <a:pPr algn="l">
                <a:lnSpc>
                  <a:spcPts val="1800"/>
                </a:lnSpc>
              </a:pPr>
              <a:r>
                <a:rPr lang="en-US" sz="1500" b="1" dirty="0">
                  <a:solidFill>
                    <a:srgbClr val="B4B4BC"/>
                  </a:solidFill>
                  <a:latin typeface="Calibri (MS) Bold"/>
                  <a:ea typeface="Calibri (MS) Bold"/>
                  <a:cs typeface="Calibri (MS) Bold"/>
                  <a:sym typeface="Calibri (MS) Bold"/>
                </a:rPr>
                <a:t>01  </a:t>
              </a:r>
              <a:r>
                <a:rPr lang="en-US" sz="1500" dirty="0">
                  <a:solidFill>
                    <a:srgbClr val="B4B4BC"/>
                  </a:solidFill>
                  <a:latin typeface="Calibri (MS)"/>
                  <a:ea typeface="Calibri (MS)"/>
                  <a:cs typeface="Calibri (MS)"/>
                  <a:sym typeface="Calibri (MS)"/>
                </a:rPr>
                <a:t>Overview &amp; Research</a:t>
              </a:r>
            </a:p>
          </p:txBody>
        </p:sp>
      </p:grpSp>
      <p:grpSp>
        <p:nvGrpSpPr>
          <p:cNvPr id="13" name="Group 13"/>
          <p:cNvGrpSpPr/>
          <p:nvPr/>
        </p:nvGrpSpPr>
        <p:grpSpPr>
          <a:xfrm>
            <a:off x="5109210" y="8412480"/>
            <a:ext cx="3920490" cy="777240"/>
            <a:chOff x="0" y="0"/>
            <a:chExt cx="5227320" cy="1036320"/>
          </a:xfrm>
        </p:grpSpPr>
        <p:sp>
          <p:nvSpPr>
            <p:cNvPr id="14" name="Freeform 14"/>
            <p:cNvSpPr/>
            <p:nvPr/>
          </p:nvSpPr>
          <p:spPr>
            <a:xfrm>
              <a:off x="0" y="0"/>
              <a:ext cx="5227320" cy="1036320"/>
            </a:xfrm>
            <a:custGeom>
              <a:avLst/>
              <a:gdLst/>
              <a:ahLst/>
              <a:cxnLst/>
              <a:rect l="l" t="t" r="r" b="b"/>
              <a:pathLst>
                <a:path w="5227320" h="1036320">
                  <a:moveTo>
                    <a:pt x="0" y="146304"/>
                  </a:moveTo>
                  <a:cubicBezTo>
                    <a:pt x="0" y="65532"/>
                    <a:pt x="65532" y="0"/>
                    <a:pt x="146304" y="0"/>
                  </a:cubicBezTo>
                  <a:lnTo>
                    <a:pt x="5081016" y="0"/>
                  </a:lnTo>
                  <a:cubicBezTo>
                    <a:pt x="5161788" y="0"/>
                    <a:pt x="5227320" y="65532"/>
                    <a:pt x="5227320" y="146304"/>
                  </a:cubicBezTo>
                  <a:lnTo>
                    <a:pt x="5227320" y="890016"/>
                  </a:lnTo>
                  <a:cubicBezTo>
                    <a:pt x="5227320" y="970788"/>
                    <a:pt x="5161788" y="1036320"/>
                    <a:pt x="5081016" y="1036320"/>
                  </a:cubicBezTo>
                  <a:lnTo>
                    <a:pt x="146304" y="1036320"/>
                  </a:lnTo>
                  <a:cubicBezTo>
                    <a:pt x="65532" y="1036320"/>
                    <a:pt x="0" y="970788"/>
                    <a:pt x="0" y="890016"/>
                  </a:cubicBezTo>
                  <a:close/>
                </a:path>
              </a:pathLst>
            </a:custGeom>
            <a:solidFill>
              <a:srgbClr val="222222"/>
            </a:solidFill>
          </p:spPr>
          <p:txBody>
            <a:bodyPr/>
            <a:lstStyle/>
            <a:p>
              <a:endParaRPr lang="en-US"/>
            </a:p>
          </p:txBody>
        </p:sp>
      </p:grpSp>
      <p:grpSp>
        <p:nvGrpSpPr>
          <p:cNvPr id="15" name="Group 15"/>
          <p:cNvGrpSpPr/>
          <p:nvPr/>
        </p:nvGrpSpPr>
        <p:grpSpPr>
          <a:xfrm>
            <a:off x="5383530" y="8412480"/>
            <a:ext cx="3371850" cy="777240"/>
            <a:chOff x="0" y="0"/>
            <a:chExt cx="4495800" cy="1036320"/>
          </a:xfrm>
        </p:grpSpPr>
        <p:sp>
          <p:nvSpPr>
            <p:cNvPr id="16" name="Freeform 16"/>
            <p:cNvSpPr/>
            <p:nvPr/>
          </p:nvSpPr>
          <p:spPr>
            <a:xfrm>
              <a:off x="0" y="0"/>
              <a:ext cx="4495799" cy="1036320"/>
            </a:xfrm>
            <a:custGeom>
              <a:avLst/>
              <a:gdLst/>
              <a:ahLst/>
              <a:cxnLst/>
              <a:rect l="l" t="t" r="r" b="b"/>
              <a:pathLst>
                <a:path w="4495799" h="1036320">
                  <a:moveTo>
                    <a:pt x="0" y="0"/>
                  </a:moveTo>
                  <a:lnTo>
                    <a:pt x="4495799" y="0"/>
                  </a:lnTo>
                  <a:lnTo>
                    <a:pt x="4495799" y="1036320"/>
                  </a:lnTo>
                  <a:lnTo>
                    <a:pt x="0" y="1036320"/>
                  </a:lnTo>
                  <a:close/>
                </a:path>
              </a:pathLst>
            </a:custGeom>
            <a:blipFill>
              <a:blip r:embed="rId4">
                <a:alphaModFix amt="0"/>
              </a:blip>
              <a:stretch>
                <a:fillRect t="-34530" b="-34530"/>
              </a:stretch>
            </a:blipFill>
          </p:spPr>
          <p:txBody>
            <a:bodyPr/>
            <a:lstStyle/>
            <a:p>
              <a:endParaRPr lang="en-US"/>
            </a:p>
          </p:txBody>
        </p:sp>
        <p:sp>
          <p:nvSpPr>
            <p:cNvPr id="17" name="TextBox 17"/>
            <p:cNvSpPr txBox="1"/>
            <p:nvPr/>
          </p:nvSpPr>
          <p:spPr>
            <a:xfrm>
              <a:off x="0" y="-38100"/>
              <a:ext cx="4495800" cy="1074420"/>
            </a:xfrm>
            <a:prstGeom prst="rect">
              <a:avLst/>
            </a:prstGeom>
          </p:spPr>
          <p:txBody>
            <a:bodyPr lIns="0" tIns="0" rIns="0" bIns="0" rtlCol="0" anchor="ctr"/>
            <a:lstStyle/>
            <a:p>
              <a:pPr algn="l">
                <a:lnSpc>
                  <a:spcPts val="1800"/>
                </a:lnSpc>
              </a:pPr>
              <a:r>
                <a:rPr lang="en-US" sz="1500" b="1">
                  <a:solidFill>
                    <a:srgbClr val="B4B4BC"/>
                  </a:solidFill>
                  <a:latin typeface="Calibri (MS) Bold"/>
                  <a:ea typeface="Calibri (MS) Bold"/>
                  <a:cs typeface="Calibri (MS) Bold"/>
                  <a:sym typeface="Calibri (MS) Bold"/>
                </a:rPr>
                <a:t>02  </a:t>
              </a:r>
              <a:r>
                <a:rPr lang="en-US" sz="1500">
                  <a:solidFill>
                    <a:srgbClr val="B4B4BC"/>
                  </a:solidFill>
                  <a:latin typeface="Calibri (MS)"/>
                  <a:ea typeface="Calibri (MS)"/>
                  <a:cs typeface="Calibri (MS)"/>
                  <a:sym typeface="Calibri (MS)"/>
                </a:rPr>
                <a:t>Design</a:t>
              </a:r>
            </a:p>
          </p:txBody>
        </p:sp>
      </p:grpSp>
      <p:grpSp>
        <p:nvGrpSpPr>
          <p:cNvPr id="18" name="Group 18"/>
          <p:cNvGrpSpPr/>
          <p:nvPr/>
        </p:nvGrpSpPr>
        <p:grpSpPr>
          <a:xfrm>
            <a:off x="9258300" y="8412480"/>
            <a:ext cx="3920490" cy="777240"/>
            <a:chOff x="0" y="0"/>
            <a:chExt cx="5227320" cy="1036320"/>
          </a:xfrm>
        </p:grpSpPr>
        <p:sp>
          <p:nvSpPr>
            <p:cNvPr id="19" name="Freeform 19"/>
            <p:cNvSpPr/>
            <p:nvPr/>
          </p:nvSpPr>
          <p:spPr>
            <a:xfrm>
              <a:off x="0" y="0"/>
              <a:ext cx="5227320" cy="1036320"/>
            </a:xfrm>
            <a:custGeom>
              <a:avLst/>
              <a:gdLst/>
              <a:ahLst/>
              <a:cxnLst/>
              <a:rect l="l" t="t" r="r" b="b"/>
              <a:pathLst>
                <a:path w="5227320" h="1036320">
                  <a:moveTo>
                    <a:pt x="0" y="146304"/>
                  </a:moveTo>
                  <a:cubicBezTo>
                    <a:pt x="0" y="65532"/>
                    <a:pt x="65532" y="0"/>
                    <a:pt x="146304" y="0"/>
                  </a:cubicBezTo>
                  <a:lnTo>
                    <a:pt x="5081016" y="0"/>
                  </a:lnTo>
                  <a:cubicBezTo>
                    <a:pt x="5161788" y="0"/>
                    <a:pt x="5227320" y="65532"/>
                    <a:pt x="5227320" y="146304"/>
                  </a:cubicBezTo>
                  <a:lnTo>
                    <a:pt x="5227320" y="890016"/>
                  </a:lnTo>
                  <a:cubicBezTo>
                    <a:pt x="5227320" y="970788"/>
                    <a:pt x="5161788" y="1036320"/>
                    <a:pt x="5081016" y="1036320"/>
                  </a:cubicBezTo>
                  <a:lnTo>
                    <a:pt x="146304" y="1036320"/>
                  </a:lnTo>
                  <a:cubicBezTo>
                    <a:pt x="65532" y="1036320"/>
                    <a:pt x="0" y="970788"/>
                    <a:pt x="0" y="890016"/>
                  </a:cubicBezTo>
                  <a:close/>
                </a:path>
              </a:pathLst>
            </a:custGeom>
            <a:solidFill>
              <a:srgbClr val="222222"/>
            </a:solidFill>
          </p:spPr>
          <p:txBody>
            <a:bodyPr/>
            <a:lstStyle/>
            <a:p>
              <a:endParaRPr lang="en-US"/>
            </a:p>
          </p:txBody>
        </p:sp>
      </p:grpSp>
      <p:grpSp>
        <p:nvGrpSpPr>
          <p:cNvPr id="20" name="Group 20"/>
          <p:cNvGrpSpPr/>
          <p:nvPr/>
        </p:nvGrpSpPr>
        <p:grpSpPr>
          <a:xfrm>
            <a:off x="9532620" y="8412480"/>
            <a:ext cx="3371850" cy="777240"/>
            <a:chOff x="0" y="0"/>
            <a:chExt cx="4495800" cy="1036320"/>
          </a:xfrm>
        </p:grpSpPr>
        <p:sp>
          <p:nvSpPr>
            <p:cNvPr id="21" name="Freeform 21"/>
            <p:cNvSpPr/>
            <p:nvPr/>
          </p:nvSpPr>
          <p:spPr>
            <a:xfrm>
              <a:off x="0" y="0"/>
              <a:ext cx="4495799" cy="1036320"/>
            </a:xfrm>
            <a:custGeom>
              <a:avLst/>
              <a:gdLst/>
              <a:ahLst/>
              <a:cxnLst/>
              <a:rect l="l" t="t" r="r" b="b"/>
              <a:pathLst>
                <a:path w="4495799" h="1036320">
                  <a:moveTo>
                    <a:pt x="0" y="0"/>
                  </a:moveTo>
                  <a:lnTo>
                    <a:pt x="4495799" y="0"/>
                  </a:lnTo>
                  <a:lnTo>
                    <a:pt x="4495799" y="1036320"/>
                  </a:lnTo>
                  <a:lnTo>
                    <a:pt x="0" y="1036320"/>
                  </a:lnTo>
                  <a:close/>
                </a:path>
              </a:pathLst>
            </a:custGeom>
            <a:blipFill>
              <a:blip r:embed="rId4">
                <a:alphaModFix amt="0"/>
              </a:blip>
              <a:stretch>
                <a:fillRect t="-34530" b="-34530"/>
              </a:stretch>
            </a:blipFill>
          </p:spPr>
          <p:txBody>
            <a:bodyPr/>
            <a:lstStyle/>
            <a:p>
              <a:endParaRPr lang="en-US"/>
            </a:p>
          </p:txBody>
        </p:sp>
        <p:sp>
          <p:nvSpPr>
            <p:cNvPr id="22" name="TextBox 22"/>
            <p:cNvSpPr txBox="1"/>
            <p:nvPr/>
          </p:nvSpPr>
          <p:spPr>
            <a:xfrm>
              <a:off x="0" y="-38100"/>
              <a:ext cx="4495800" cy="1074420"/>
            </a:xfrm>
            <a:prstGeom prst="rect">
              <a:avLst/>
            </a:prstGeom>
          </p:spPr>
          <p:txBody>
            <a:bodyPr lIns="0" tIns="0" rIns="0" bIns="0" rtlCol="0" anchor="ctr"/>
            <a:lstStyle/>
            <a:p>
              <a:pPr algn="l">
                <a:lnSpc>
                  <a:spcPts val="1800"/>
                </a:lnSpc>
              </a:pPr>
              <a:r>
                <a:rPr lang="en-US" sz="1500" b="1" dirty="0">
                  <a:solidFill>
                    <a:srgbClr val="B4B4BC"/>
                  </a:solidFill>
                  <a:latin typeface="Calibri (MS) Bold"/>
                  <a:ea typeface="Calibri (MS) Bold"/>
                  <a:cs typeface="Calibri (MS) Bold"/>
                  <a:sym typeface="Calibri (MS) Bold"/>
                </a:rPr>
                <a:t>03  </a:t>
              </a:r>
              <a:r>
                <a:rPr lang="en-US" sz="1500" dirty="0">
                  <a:solidFill>
                    <a:srgbClr val="B4B4BC"/>
                  </a:solidFill>
                  <a:latin typeface="Calibri (MS)"/>
                  <a:ea typeface="Calibri (MS)"/>
                  <a:cs typeface="Calibri (MS)"/>
                  <a:sym typeface="Calibri (MS)"/>
                </a:rPr>
                <a:t>User Testing</a:t>
              </a:r>
            </a:p>
          </p:txBody>
        </p:sp>
      </p:grpSp>
      <p:grpSp>
        <p:nvGrpSpPr>
          <p:cNvPr id="23" name="Group 23"/>
          <p:cNvGrpSpPr/>
          <p:nvPr/>
        </p:nvGrpSpPr>
        <p:grpSpPr>
          <a:xfrm>
            <a:off x="13407390" y="8412480"/>
            <a:ext cx="3920490" cy="777240"/>
            <a:chOff x="0" y="0"/>
            <a:chExt cx="5227320" cy="1036320"/>
          </a:xfrm>
        </p:grpSpPr>
        <p:sp>
          <p:nvSpPr>
            <p:cNvPr id="24" name="Freeform 24"/>
            <p:cNvSpPr/>
            <p:nvPr/>
          </p:nvSpPr>
          <p:spPr>
            <a:xfrm>
              <a:off x="0" y="0"/>
              <a:ext cx="5227320" cy="1036320"/>
            </a:xfrm>
            <a:custGeom>
              <a:avLst/>
              <a:gdLst/>
              <a:ahLst/>
              <a:cxnLst/>
              <a:rect l="l" t="t" r="r" b="b"/>
              <a:pathLst>
                <a:path w="5227320" h="1036320">
                  <a:moveTo>
                    <a:pt x="0" y="146304"/>
                  </a:moveTo>
                  <a:cubicBezTo>
                    <a:pt x="0" y="65532"/>
                    <a:pt x="65532" y="0"/>
                    <a:pt x="146304" y="0"/>
                  </a:cubicBezTo>
                  <a:lnTo>
                    <a:pt x="5081016" y="0"/>
                  </a:lnTo>
                  <a:cubicBezTo>
                    <a:pt x="5161788" y="0"/>
                    <a:pt x="5227320" y="65532"/>
                    <a:pt x="5227320" y="146304"/>
                  </a:cubicBezTo>
                  <a:lnTo>
                    <a:pt x="5227320" y="890016"/>
                  </a:lnTo>
                  <a:cubicBezTo>
                    <a:pt x="5227320" y="970788"/>
                    <a:pt x="5161788" y="1036320"/>
                    <a:pt x="5081016" y="1036320"/>
                  </a:cubicBezTo>
                  <a:lnTo>
                    <a:pt x="146304" y="1036320"/>
                  </a:lnTo>
                  <a:cubicBezTo>
                    <a:pt x="65532" y="1036320"/>
                    <a:pt x="0" y="970788"/>
                    <a:pt x="0" y="890016"/>
                  </a:cubicBezTo>
                  <a:close/>
                </a:path>
              </a:pathLst>
            </a:custGeom>
            <a:solidFill>
              <a:srgbClr val="FFDE59"/>
            </a:solidFill>
          </p:spPr>
          <p:txBody>
            <a:bodyPr/>
            <a:lstStyle/>
            <a:p>
              <a:endParaRPr lang="en-US"/>
            </a:p>
          </p:txBody>
        </p:sp>
      </p:grpSp>
      <p:grpSp>
        <p:nvGrpSpPr>
          <p:cNvPr id="25" name="Group 25"/>
          <p:cNvGrpSpPr/>
          <p:nvPr/>
        </p:nvGrpSpPr>
        <p:grpSpPr>
          <a:xfrm>
            <a:off x="13681710" y="8412480"/>
            <a:ext cx="3371850" cy="777240"/>
            <a:chOff x="0" y="0"/>
            <a:chExt cx="4495800" cy="1036320"/>
          </a:xfrm>
        </p:grpSpPr>
        <p:sp>
          <p:nvSpPr>
            <p:cNvPr id="26" name="Freeform 26"/>
            <p:cNvSpPr/>
            <p:nvPr/>
          </p:nvSpPr>
          <p:spPr>
            <a:xfrm>
              <a:off x="0" y="0"/>
              <a:ext cx="4495799" cy="1036320"/>
            </a:xfrm>
            <a:custGeom>
              <a:avLst/>
              <a:gdLst/>
              <a:ahLst/>
              <a:cxnLst/>
              <a:rect l="l" t="t" r="r" b="b"/>
              <a:pathLst>
                <a:path w="4495799" h="1036320">
                  <a:moveTo>
                    <a:pt x="0" y="0"/>
                  </a:moveTo>
                  <a:lnTo>
                    <a:pt x="4495799" y="0"/>
                  </a:lnTo>
                  <a:lnTo>
                    <a:pt x="4495799" y="1036320"/>
                  </a:lnTo>
                  <a:lnTo>
                    <a:pt x="0" y="1036320"/>
                  </a:lnTo>
                  <a:close/>
                </a:path>
              </a:pathLst>
            </a:custGeom>
            <a:blipFill>
              <a:blip r:embed="rId4">
                <a:alphaModFix amt="0"/>
              </a:blip>
              <a:stretch>
                <a:fillRect t="-34530" b="-34530"/>
              </a:stretch>
            </a:blipFill>
          </p:spPr>
          <p:txBody>
            <a:bodyPr/>
            <a:lstStyle/>
            <a:p>
              <a:endParaRPr lang="en-US"/>
            </a:p>
          </p:txBody>
        </p:sp>
        <p:sp>
          <p:nvSpPr>
            <p:cNvPr id="27" name="TextBox 27"/>
            <p:cNvSpPr txBox="1"/>
            <p:nvPr/>
          </p:nvSpPr>
          <p:spPr>
            <a:xfrm>
              <a:off x="0" y="-38100"/>
              <a:ext cx="4495800" cy="1074420"/>
            </a:xfrm>
            <a:prstGeom prst="rect">
              <a:avLst/>
            </a:prstGeom>
          </p:spPr>
          <p:txBody>
            <a:bodyPr lIns="0" tIns="0" rIns="0" bIns="0" rtlCol="0" anchor="ctr"/>
            <a:lstStyle/>
            <a:p>
              <a:pPr algn="l">
                <a:lnSpc>
                  <a:spcPts val="1800"/>
                </a:lnSpc>
              </a:pPr>
              <a:r>
                <a:rPr lang="en-US" sz="1500" b="1" dirty="0">
                  <a:solidFill>
                    <a:srgbClr val="0A0A0A"/>
                  </a:solidFill>
                  <a:latin typeface="Calibri (MS) Bold"/>
                  <a:ea typeface="Calibri (MS) Bold"/>
                  <a:cs typeface="Calibri (MS) Bold"/>
                  <a:sym typeface="Calibri (MS) Bold"/>
                </a:rPr>
                <a:t>04  </a:t>
              </a:r>
              <a:r>
                <a:rPr lang="en-US" sz="1500" dirty="0">
                  <a:solidFill>
                    <a:srgbClr val="0A0A0A"/>
                  </a:solidFill>
                  <a:latin typeface="Calibri (MS)"/>
                  <a:ea typeface="Calibri (MS)"/>
                  <a:cs typeface="Calibri (MS)"/>
                  <a:sym typeface="Calibri (MS)"/>
                </a:rPr>
                <a:t>Recommendation &amp; Reflection</a:t>
              </a:r>
            </a:p>
          </p:txBody>
        </p:sp>
      </p:gr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2" name="TextBox 2"/>
          <p:cNvSpPr txBox="1"/>
          <p:nvPr/>
        </p:nvSpPr>
        <p:spPr>
          <a:xfrm>
            <a:off x="960120" y="666750"/>
            <a:ext cx="16367760" cy="285750"/>
          </a:xfrm>
          <a:prstGeom prst="rect">
            <a:avLst/>
          </a:prstGeom>
        </p:spPr>
        <p:txBody>
          <a:bodyPr lIns="0" tIns="0" rIns="0" bIns="0" rtlCol="0" anchor="t">
            <a:spAutoFit/>
          </a:bodyPr>
          <a:lstStyle/>
          <a:p>
            <a:pPr algn="l">
              <a:lnSpc>
                <a:spcPts val="2159"/>
              </a:lnSpc>
            </a:pPr>
            <a:r>
              <a:rPr lang="en-US" sz="1799" b="1" spc="830" dirty="0">
                <a:solidFill>
                  <a:srgbClr val="93A9CF"/>
                </a:solidFill>
                <a:latin typeface="Arial Bold"/>
                <a:ea typeface="Arial Bold"/>
                <a:cs typeface="Arial Bold"/>
                <a:sym typeface="Arial Bold"/>
              </a:rPr>
              <a:t>RECOMMENDATION</a:t>
            </a:r>
          </a:p>
        </p:txBody>
      </p:sp>
      <p:sp>
        <p:nvSpPr>
          <p:cNvPr id="3" name="TextBox 3"/>
          <p:cNvSpPr txBox="1"/>
          <p:nvPr/>
        </p:nvSpPr>
        <p:spPr>
          <a:xfrm>
            <a:off x="960120" y="1169670"/>
            <a:ext cx="16367760" cy="638188"/>
          </a:xfrm>
          <a:prstGeom prst="rect">
            <a:avLst/>
          </a:prstGeom>
        </p:spPr>
        <p:txBody>
          <a:bodyPr lIns="0" tIns="0" rIns="0" bIns="0" rtlCol="0" anchor="t">
            <a:spAutoFit/>
          </a:bodyPr>
          <a:lstStyle/>
          <a:p>
            <a:pPr algn="l">
              <a:lnSpc>
                <a:spcPts val="5280"/>
              </a:lnSpc>
            </a:pPr>
            <a:r>
              <a:rPr lang="en-US" sz="4400" b="1" dirty="0">
                <a:solidFill>
                  <a:srgbClr val="FFFFFF"/>
                </a:solidFill>
                <a:latin typeface="Arial Bold"/>
                <a:ea typeface="Arial Bold"/>
                <a:cs typeface="Arial Bold"/>
                <a:sym typeface="Arial Bold"/>
              </a:rPr>
              <a:t>Refine, Then Retest</a:t>
            </a:r>
          </a:p>
        </p:txBody>
      </p:sp>
      <p:grpSp>
        <p:nvGrpSpPr>
          <p:cNvPr id="4" name="Group 4"/>
          <p:cNvGrpSpPr/>
          <p:nvPr/>
        </p:nvGrpSpPr>
        <p:grpSpPr>
          <a:xfrm>
            <a:off x="953767" y="2691127"/>
            <a:ext cx="5681977" cy="6322057"/>
            <a:chOff x="0" y="0"/>
            <a:chExt cx="7575969" cy="8429409"/>
          </a:xfrm>
        </p:grpSpPr>
        <p:sp>
          <p:nvSpPr>
            <p:cNvPr id="5" name="Freeform 5"/>
            <p:cNvSpPr/>
            <p:nvPr/>
          </p:nvSpPr>
          <p:spPr>
            <a:xfrm>
              <a:off x="0" y="0"/>
              <a:ext cx="7575931" cy="8429371"/>
            </a:xfrm>
            <a:custGeom>
              <a:avLst/>
              <a:gdLst/>
              <a:ahLst/>
              <a:cxnLst/>
              <a:rect l="l" t="t" r="r" b="b"/>
              <a:pathLst>
                <a:path w="7575931" h="8429371">
                  <a:moveTo>
                    <a:pt x="0" y="146558"/>
                  </a:moveTo>
                  <a:cubicBezTo>
                    <a:pt x="0" y="65659"/>
                    <a:pt x="65659" y="0"/>
                    <a:pt x="146558" y="0"/>
                  </a:cubicBezTo>
                  <a:lnTo>
                    <a:pt x="7429373" y="0"/>
                  </a:lnTo>
                  <a:cubicBezTo>
                    <a:pt x="7510272" y="0"/>
                    <a:pt x="7575931" y="65659"/>
                    <a:pt x="7575931" y="146558"/>
                  </a:cubicBezTo>
                  <a:lnTo>
                    <a:pt x="7575931" y="8282813"/>
                  </a:lnTo>
                  <a:cubicBezTo>
                    <a:pt x="7575931" y="8363712"/>
                    <a:pt x="7510272" y="8429371"/>
                    <a:pt x="7429373" y="8429371"/>
                  </a:cubicBezTo>
                  <a:lnTo>
                    <a:pt x="146558" y="8429371"/>
                  </a:lnTo>
                  <a:cubicBezTo>
                    <a:pt x="65659" y="8429371"/>
                    <a:pt x="0" y="8363839"/>
                    <a:pt x="0" y="8282813"/>
                  </a:cubicBezTo>
                  <a:close/>
                </a:path>
              </a:pathLst>
            </a:custGeom>
            <a:solidFill>
              <a:srgbClr val="FFDE59"/>
            </a:solidFill>
            <a:ln w="12700" cap="sq">
              <a:solidFill>
                <a:srgbClr val="FFDE59"/>
              </a:solidFill>
              <a:prstDash val="solid"/>
              <a:miter/>
            </a:ln>
          </p:spPr>
          <p:txBody>
            <a:bodyPr/>
            <a:lstStyle/>
            <a:p>
              <a:endParaRPr lang="en-US"/>
            </a:p>
          </p:txBody>
        </p:sp>
      </p:grpSp>
      <p:sp>
        <p:nvSpPr>
          <p:cNvPr id="6" name="TextBox 6"/>
          <p:cNvSpPr txBox="1"/>
          <p:nvPr/>
        </p:nvSpPr>
        <p:spPr>
          <a:xfrm>
            <a:off x="1417320" y="3135630"/>
            <a:ext cx="4937760" cy="384810"/>
          </a:xfrm>
          <a:prstGeom prst="rect">
            <a:avLst/>
          </a:prstGeom>
        </p:spPr>
        <p:txBody>
          <a:bodyPr lIns="0" tIns="0" rIns="0" bIns="0" rtlCol="0" anchor="t">
            <a:spAutoFit/>
          </a:bodyPr>
          <a:lstStyle/>
          <a:p>
            <a:pPr algn="l">
              <a:lnSpc>
                <a:spcPts val="1559"/>
              </a:lnSpc>
            </a:pPr>
            <a:r>
              <a:rPr lang="en-US" sz="1299" b="1" spc="299">
                <a:solidFill>
                  <a:srgbClr val="3A3A3E"/>
                </a:solidFill>
                <a:latin typeface="Arial Bold"/>
                <a:ea typeface="Arial Bold"/>
                <a:cs typeface="Arial Bold"/>
                <a:sym typeface="Arial Bold"/>
              </a:rPr>
              <a:t>PROCEED  ·  REFINE  ·  PIVOT</a:t>
            </a:r>
          </a:p>
        </p:txBody>
      </p:sp>
      <p:sp>
        <p:nvSpPr>
          <p:cNvPr id="7" name="TextBox 7"/>
          <p:cNvSpPr txBox="1"/>
          <p:nvPr/>
        </p:nvSpPr>
        <p:spPr>
          <a:xfrm>
            <a:off x="1417320" y="3710940"/>
            <a:ext cx="4937760" cy="1226820"/>
          </a:xfrm>
          <a:prstGeom prst="rect">
            <a:avLst/>
          </a:prstGeom>
        </p:spPr>
        <p:txBody>
          <a:bodyPr lIns="0" tIns="0" rIns="0" bIns="0" rtlCol="0" anchor="t">
            <a:spAutoFit/>
          </a:bodyPr>
          <a:lstStyle/>
          <a:p>
            <a:pPr algn="l">
              <a:lnSpc>
                <a:spcPts val="7920"/>
              </a:lnSpc>
            </a:pPr>
            <a:r>
              <a:rPr lang="en-US" sz="6600" b="1">
                <a:solidFill>
                  <a:srgbClr val="0A0A0A"/>
                </a:solidFill>
                <a:latin typeface="Arial Bold"/>
                <a:ea typeface="Arial Bold"/>
                <a:cs typeface="Arial Bold"/>
                <a:sym typeface="Arial Bold"/>
              </a:rPr>
              <a:t>Refine</a:t>
            </a:r>
          </a:p>
        </p:txBody>
      </p:sp>
      <p:sp>
        <p:nvSpPr>
          <p:cNvPr id="8" name="TextBox 8"/>
          <p:cNvSpPr txBox="1"/>
          <p:nvPr/>
        </p:nvSpPr>
        <p:spPr>
          <a:xfrm>
            <a:off x="1417320" y="5219700"/>
            <a:ext cx="4846320" cy="2049780"/>
          </a:xfrm>
          <a:prstGeom prst="rect">
            <a:avLst/>
          </a:prstGeom>
        </p:spPr>
        <p:txBody>
          <a:bodyPr lIns="0" tIns="0" rIns="0" bIns="0" rtlCol="0" anchor="t">
            <a:spAutoFit/>
          </a:bodyPr>
          <a:lstStyle/>
          <a:p>
            <a:pPr algn="l">
              <a:lnSpc>
                <a:spcPts val="2160"/>
              </a:lnSpc>
            </a:pPr>
            <a:r>
              <a:rPr lang="en-US" sz="1800">
                <a:solidFill>
                  <a:srgbClr val="0A0A0A"/>
                </a:solidFill>
                <a:latin typeface="Calibri (MS)"/>
                <a:ea typeface="Calibri (MS)"/>
                <a:cs typeface="Calibri (MS)"/>
                <a:sym typeface="Calibri (MS)"/>
              </a:rPr>
              <a:t>Keep the concept. Users valued the stamps, Passport and squad boards, and the hooks added no pressure. Fix the friction before a wider test.</a:t>
            </a:r>
          </a:p>
        </p:txBody>
      </p:sp>
      <p:sp>
        <p:nvSpPr>
          <p:cNvPr id="9" name="TextBox 9"/>
          <p:cNvSpPr txBox="1"/>
          <p:nvPr/>
        </p:nvSpPr>
        <p:spPr>
          <a:xfrm>
            <a:off x="1417320" y="7459980"/>
            <a:ext cx="4846320" cy="1226820"/>
          </a:xfrm>
          <a:prstGeom prst="rect">
            <a:avLst/>
          </a:prstGeom>
        </p:spPr>
        <p:txBody>
          <a:bodyPr lIns="0" tIns="0" rIns="0" bIns="0" rtlCol="0" anchor="t">
            <a:spAutoFit/>
          </a:bodyPr>
          <a:lstStyle/>
          <a:p>
            <a:pPr algn="l">
              <a:lnSpc>
                <a:spcPts val="1800"/>
              </a:lnSpc>
            </a:pPr>
            <a:r>
              <a:rPr lang="en-US" sz="1500" b="1">
                <a:solidFill>
                  <a:srgbClr val="0A0A0A"/>
                </a:solidFill>
                <a:latin typeface="Calibri (MS) Bold"/>
                <a:ea typeface="Calibri (MS) Bold"/>
                <a:cs typeface="Calibri (MS) Bold"/>
                <a:sym typeface="Calibri (MS) Bold"/>
              </a:rPr>
              <a:t>Retest with 7–10 people, including more non-users. Measure taps and time from capture to a stamped post.</a:t>
            </a:r>
          </a:p>
        </p:txBody>
      </p:sp>
      <p:grpSp>
        <p:nvGrpSpPr>
          <p:cNvPr id="10" name="Group 10"/>
          <p:cNvGrpSpPr/>
          <p:nvPr/>
        </p:nvGrpSpPr>
        <p:grpSpPr>
          <a:xfrm>
            <a:off x="7125967" y="2691127"/>
            <a:ext cx="10208257" cy="1430017"/>
            <a:chOff x="0" y="0"/>
            <a:chExt cx="13611009" cy="1906689"/>
          </a:xfrm>
        </p:grpSpPr>
        <p:sp>
          <p:nvSpPr>
            <p:cNvPr id="11" name="Freeform 11"/>
            <p:cNvSpPr/>
            <p:nvPr/>
          </p:nvSpPr>
          <p:spPr>
            <a:xfrm>
              <a:off x="0" y="0"/>
              <a:ext cx="13610971" cy="1906651"/>
            </a:xfrm>
            <a:custGeom>
              <a:avLst/>
              <a:gdLst/>
              <a:ahLst/>
              <a:cxnLst/>
              <a:rect l="l" t="t" r="r" b="b"/>
              <a:pathLst>
                <a:path w="13610971" h="1906651">
                  <a:moveTo>
                    <a:pt x="0" y="147574"/>
                  </a:moveTo>
                  <a:cubicBezTo>
                    <a:pt x="0" y="66040"/>
                    <a:pt x="66040" y="0"/>
                    <a:pt x="147574" y="0"/>
                  </a:cubicBezTo>
                  <a:lnTo>
                    <a:pt x="13463397" y="0"/>
                  </a:lnTo>
                  <a:cubicBezTo>
                    <a:pt x="13544931" y="0"/>
                    <a:pt x="13610971" y="66040"/>
                    <a:pt x="13610971" y="147574"/>
                  </a:cubicBezTo>
                  <a:lnTo>
                    <a:pt x="13610971" y="1759077"/>
                  </a:lnTo>
                  <a:cubicBezTo>
                    <a:pt x="13610971" y="1840611"/>
                    <a:pt x="13544931" y="1906651"/>
                    <a:pt x="13463397" y="1906651"/>
                  </a:cubicBezTo>
                  <a:lnTo>
                    <a:pt x="147574" y="1906651"/>
                  </a:lnTo>
                  <a:cubicBezTo>
                    <a:pt x="66040" y="1906651"/>
                    <a:pt x="0" y="1840611"/>
                    <a:pt x="0" y="1759077"/>
                  </a:cubicBezTo>
                  <a:close/>
                </a:path>
              </a:pathLst>
            </a:custGeom>
            <a:solidFill>
              <a:srgbClr val="222222"/>
            </a:solidFill>
            <a:ln w="12700" cap="sq">
              <a:solidFill>
                <a:srgbClr val="222222"/>
              </a:solidFill>
              <a:prstDash val="solid"/>
              <a:miter/>
            </a:ln>
          </p:spPr>
          <p:txBody>
            <a:bodyPr/>
            <a:lstStyle/>
            <a:p>
              <a:endParaRPr lang="en-US"/>
            </a:p>
          </p:txBody>
        </p:sp>
      </p:grpSp>
      <p:grpSp>
        <p:nvGrpSpPr>
          <p:cNvPr id="12" name="Group 12"/>
          <p:cNvGrpSpPr/>
          <p:nvPr/>
        </p:nvGrpSpPr>
        <p:grpSpPr>
          <a:xfrm>
            <a:off x="7491727" y="3102607"/>
            <a:ext cx="579625" cy="579625"/>
            <a:chOff x="0" y="0"/>
            <a:chExt cx="772833" cy="772833"/>
          </a:xfrm>
        </p:grpSpPr>
        <p:sp>
          <p:nvSpPr>
            <p:cNvPr id="13" name="Freeform 13"/>
            <p:cNvSpPr/>
            <p:nvPr/>
          </p:nvSpPr>
          <p:spPr>
            <a:xfrm>
              <a:off x="0" y="0"/>
              <a:ext cx="772795" cy="772795"/>
            </a:xfrm>
            <a:custGeom>
              <a:avLst/>
              <a:gdLst/>
              <a:ahLst/>
              <a:cxnLst/>
              <a:rect l="l" t="t" r="r" b="b"/>
              <a:pathLst>
                <a:path w="772795" h="772795">
                  <a:moveTo>
                    <a:pt x="0" y="386461"/>
                  </a:moveTo>
                  <a:cubicBezTo>
                    <a:pt x="0" y="172974"/>
                    <a:pt x="172974" y="0"/>
                    <a:pt x="386461" y="0"/>
                  </a:cubicBezTo>
                  <a:cubicBezTo>
                    <a:pt x="599948" y="0"/>
                    <a:pt x="772795" y="172974"/>
                    <a:pt x="772795" y="386461"/>
                  </a:cubicBezTo>
                  <a:cubicBezTo>
                    <a:pt x="772795" y="599948"/>
                    <a:pt x="599821" y="772795"/>
                    <a:pt x="386461" y="772795"/>
                  </a:cubicBezTo>
                  <a:cubicBezTo>
                    <a:pt x="173101" y="772795"/>
                    <a:pt x="0" y="599821"/>
                    <a:pt x="0" y="386461"/>
                  </a:cubicBezTo>
                  <a:close/>
                </a:path>
              </a:pathLst>
            </a:custGeom>
            <a:solidFill>
              <a:srgbClr val="FFDE59"/>
            </a:solidFill>
            <a:ln w="12700" cap="sq">
              <a:solidFill>
                <a:srgbClr val="FFDE59"/>
              </a:solidFill>
              <a:prstDash val="solid"/>
              <a:miter/>
            </a:ln>
          </p:spPr>
          <p:txBody>
            <a:bodyPr/>
            <a:lstStyle/>
            <a:p>
              <a:endParaRPr lang="en-US"/>
            </a:p>
          </p:txBody>
        </p:sp>
      </p:grpSp>
      <p:grpSp>
        <p:nvGrpSpPr>
          <p:cNvPr id="14" name="Group 14"/>
          <p:cNvGrpSpPr/>
          <p:nvPr/>
        </p:nvGrpSpPr>
        <p:grpSpPr>
          <a:xfrm>
            <a:off x="7498080" y="3108960"/>
            <a:ext cx="566928" cy="566928"/>
            <a:chOff x="0" y="0"/>
            <a:chExt cx="755904" cy="755904"/>
          </a:xfrm>
        </p:grpSpPr>
        <p:sp>
          <p:nvSpPr>
            <p:cNvPr id="15" name="Freeform 15"/>
            <p:cNvSpPr/>
            <p:nvPr/>
          </p:nvSpPr>
          <p:spPr>
            <a:xfrm>
              <a:off x="0" y="0"/>
              <a:ext cx="755904" cy="755904"/>
            </a:xfrm>
            <a:custGeom>
              <a:avLst/>
              <a:gdLst/>
              <a:ahLst/>
              <a:cxnLst/>
              <a:rect l="l" t="t" r="r" b="b"/>
              <a:pathLst>
                <a:path w="755904" h="755904">
                  <a:moveTo>
                    <a:pt x="0" y="0"/>
                  </a:moveTo>
                  <a:lnTo>
                    <a:pt x="755904" y="0"/>
                  </a:lnTo>
                  <a:lnTo>
                    <a:pt x="755904" y="755904"/>
                  </a:lnTo>
                  <a:lnTo>
                    <a:pt x="0" y="755904"/>
                  </a:lnTo>
                  <a:close/>
                </a:path>
              </a:pathLst>
            </a:custGeom>
            <a:blipFill>
              <a:blip r:embed="rId3">
                <a:alphaModFix amt="0"/>
              </a:blip>
              <a:stretch>
                <a:fillRect l="-78303" r="-78303"/>
              </a:stretch>
            </a:blipFill>
          </p:spPr>
          <p:txBody>
            <a:bodyPr/>
            <a:lstStyle/>
            <a:p>
              <a:endParaRPr lang="en-US"/>
            </a:p>
          </p:txBody>
        </p:sp>
        <p:sp>
          <p:nvSpPr>
            <p:cNvPr id="16" name="TextBox 16"/>
            <p:cNvSpPr txBox="1"/>
            <p:nvPr/>
          </p:nvSpPr>
          <p:spPr>
            <a:xfrm>
              <a:off x="0" y="-19050"/>
              <a:ext cx="755904" cy="774954"/>
            </a:xfrm>
            <a:prstGeom prst="rect">
              <a:avLst/>
            </a:prstGeom>
          </p:spPr>
          <p:txBody>
            <a:bodyPr lIns="0" tIns="0" rIns="0" bIns="0" rtlCol="0" anchor="ctr"/>
            <a:lstStyle/>
            <a:p>
              <a:pPr algn="ctr">
                <a:lnSpc>
                  <a:spcPts val="2160"/>
                </a:lnSpc>
              </a:pPr>
              <a:r>
                <a:rPr lang="en-US" sz="1800" b="1">
                  <a:solidFill>
                    <a:srgbClr val="0A0A0A"/>
                  </a:solidFill>
                  <a:latin typeface="Arial Bold"/>
                  <a:ea typeface="Arial Bold"/>
                  <a:cs typeface="Arial Bold"/>
                  <a:sym typeface="Arial Bold"/>
                </a:rPr>
                <a:t>1</a:t>
              </a:r>
            </a:p>
          </p:txBody>
        </p:sp>
      </p:grpSp>
      <p:sp>
        <p:nvSpPr>
          <p:cNvPr id="17" name="TextBox 17"/>
          <p:cNvSpPr txBox="1"/>
          <p:nvPr/>
        </p:nvSpPr>
        <p:spPr>
          <a:xfrm>
            <a:off x="8366760" y="2962275"/>
            <a:ext cx="5623560" cy="276679"/>
          </a:xfrm>
          <a:prstGeom prst="rect">
            <a:avLst/>
          </a:prstGeom>
        </p:spPr>
        <p:txBody>
          <a:bodyPr lIns="0" tIns="0" rIns="0" bIns="0" rtlCol="0" anchor="t">
            <a:spAutoFit/>
          </a:bodyPr>
          <a:lstStyle/>
          <a:p>
            <a:pPr algn="l">
              <a:lnSpc>
                <a:spcPts val="2279"/>
              </a:lnSpc>
            </a:pPr>
            <a:r>
              <a:rPr lang="en-US" sz="1899" b="1" dirty="0">
                <a:solidFill>
                  <a:srgbClr val="FFFFFF"/>
                </a:solidFill>
                <a:latin typeface="Arial Bold"/>
                <a:ea typeface="Arial Bold"/>
                <a:cs typeface="Arial Bold"/>
                <a:sym typeface="Arial Bold"/>
              </a:rPr>
              <a:t>Cut Taps from Capture to Stamp</a:t>
            </a:r>
          </a:p>
        </p:txBody>
      </p:sp>
      <p:sp>
        <p:nvSpPr>
          <p:cNvPr id="18" name="TextBox 18"/>
          <p:cNvSpPr txBox="1"/>
          <p:nvPr/>
        </p:nvSpPr>
        <p:spPr>
          <a:xfrm>
            <a:off x="8366760" y="3409188"/>
            <a:ext cx="5623560" cy="586740"/>
          </a:xfrm>
          <a:prstGeom prst="rect">
            <a:avLst/>
          </a:prstGeom>
        </p:spPr>
        <p:txBody>
          <a:bodyPr lIns="0" tIns="0" rIns="0" bIns="0" rtlCol="0" anchor="t">
            <a:spAutoFit/>
          </a:bodyPr>
          <a:lstStyle/>
          <a:p>
            <a:pPr algn="l">
              <a:lnSpc>
                <a:spcPts val="1800"/>
              </a:lnSpc>
            </a:pPr>
            <a:r>
              <a:rPr lang="en-US" sz="1500">
                <a:solidFill>
                  <a:srgbClr val="A6A6AD"/>
                </a:solidFill>
                <a:latin typeface="Calibri (MS)"/>
                <a:ea typeface="Calibri (MS)"/>
                <a:cs typeface="Calibri (MS)"/>
                <a:sym typeface="Calibri (MS)"/>
              </a:rPr>
              <a:t>Remember the last board used, or pick a board right on the compose screen.</a:t>
            </a:r>
          </a:p>
        </p:txBody>
      </p:sp>
      <p:grpSp>
        <p:nvGrpSpPr>
          <p:cNvPr id="19" name="Group 19"/>
          <p:cNvGrpSpPr/>
          <p:nvPr/>
        </p:nvGrpSpPr>
        <p:grpSpPr>
          <a:xfrm>
            <a:off x="14173200" y="2971800"/>
            <a:ext cx="2834640" cy="914400"/>
            <a:chOff x="0" y="0"/>
            <a:chExt cx="3779520" cy="1219200"/>
          </a:xfrm>
        </p:grpSpPr>
        <p:sp>
          <p:nvSpPr>
            <p:cNvPr id="20" name="Freeform 20"/>
            <p:cNvSpPr/>
            <p:nvPr/>
          </p:nvSpPr>
          <p:spPr>
            <a:xfrm>
              <a:off x="0" y="0"/>
              <a:ext cx="3779520" cy="1219200"/>
            </a:xfrm>
            <a:custGeom>
              <a:avLst/>
              <a:gdLst/>
              <a:ahLst/>
              <a:cxnLst/>
              <a:rect l="l" t="t" r="r" b="b"/>
              <a:pathLst>
                <a:path w="3779520" h="1219200">
                  <a:moveTo>
                    <a:pt x="0" y="0"/>
                  </a:moveTo>
                  <a:lnTo>
                    <a:pt x="3779520" y="0"/>
                  </a:lnTo>
                  <a:lnTo>
                    <a:pt x="3779520" y="1219200"/>
                  </a:lnTo>
                  <a:lnTo>
                    <a:pt x="0" y="1219200"/>
                  </a:lnTo>
                  <a:close/>
                </a:path>
              </a:pathLst>
            </a:custGeom>
            <a:blipFill>
              <a:blip r:embed="rId3">
                <a:alphaModFix amt="0"/>
              </a:blip>
              <a:stretch>
                <a:fillRect t="-10403" b="-10403"/>
              </a:stretch>
            </a:blipFill>
          </p:spPr>
          <p:txBody>
            <a:bodyPr/>
            <a:lstStyle/>
            <a:p>
              <a:endParaRPr lang="en-US"/>
            </a:p>
          </p:txBody>
        </p:sp>
        <p:sp>
          <p:nvSpPr>
            <p:cNvPr id="21" name="TextBox 21"/>
            <p:cNvSpPr txBox="1"/>
            <p:nvPr/>
          </p:nvSpPr>
          <p:spPr>
            <a:xfrm>
              <a:off x="0" y="-28575"/>
              <a:ext cx="3779520" cy="1247775"/>
            </a:xfrm>
            <a:prstGeom prst="rect">
              <a:avLst/>
            </a:prstGeom>
          </p:spPr>
          <p:txBody>
            <a:bodyPr lIns="0" tIns="0" rIns="0" bIns="0" rtlCol="0" anchor="ctr"/>
            <a:lstStyle/>
            <a:p>
              <a:pPr algn="r">
                <a:lnSpc>
                  <a:spcPts val="1680"/>
                </a:lnSpc>
              </a:pPr>
              <a:r>
                <a:rPr lang="en-US" sz="1400" i="1">
                  <a:solidFill>
                    <a:srgbClr val="93A9CF"/>
                  </a:solidFill>
                  <a:latin typeface="Calibri (MS) Italics"/>
                  <a:ea typeface="Calibri (MS) Italics"/>
                  <a:cs typeface="Calibri (MS) Italics"/>
                  <a:sym typeface="Calibri (MS) Italics"/>
                </a:rPr>
                <a:t>Most repeated issue</a:t>
              </a:r>
            </a:p>
          </p:txBody>
        </p:sp>
      </p:grpSp>
      <p:grpSp>
        <p:nvGrpSpPr>
          <p:cNvPr id="22" name="Group 22"/>
          <p:cNvGrpSpPr/>
          <p:nvPr/>
        </p:nvGrpSpPr>
        <p:grpSpPr>
          <a:xfrm>
            <a:off x="7125967" y="4318759"/>
            <a:ext cx="10208257" cy="1430017"/>
            <a:chOff x="0" y="0"/>
            <a:chExt cx="13611009" cy="1906689"/>
          </a:xfrm>
        </p:grpSpPr>
        <p:sp>
          <p:nvSpPr>
            <p:cNvPr id="23" name="Freeform 23"/>
            <p:cNvSpPr/>
            <p:nvPr/>
          </p:nvSpPr>
          <p:spPr>
            <a:xfrm>
              <a:off x="0" y="0"/>
              <a:ext cx="13610971" cy="1906651"/>
            </a:xfrm>
            <a:custGeom>
              <a:avLst/>
              <a:gdLst/>
              <a:ahLst/>
              <a:cxnLst/>
              <a:rect l="l" t="t" r="r" b="b"/>
              <a:pathLst>
                <a:path w="13610971" h="1906651">
                  <a:moveTo>
                    <a:pt x="0" y="147574"/>
                  </a:moveTo>
                  <a:cubicBezTo>
                    <a:pt x="0" y="66040"/>
                    <a:pt x="66040" y="0"/>
                    <a:pt x="147574" y="0"/>
                  </a:cubicBezTo>
                  <a:lnTo>
                    <a:pt x="13463397" y="0"/>
                  </a:lnTo>
                  <a:cubicBezTo>
                    <a:pt x="13544931" y="0"/>
                    <a:pt x="13610971" y="66040"/>
                    <a:pt x="13610971" y="147574"/>
                  </a:cubicBezTo>
                  <a:lnTo>
                    <a:pt x="13610971" y="1759077"/>
                  </a:lnTo>
                  <a:cubicBezTo>
                    <a:pt x="13610971" y="1840611"/>
                    <a:pt x="13544931" y="1906651"/>
                    <a:pt x="13463397" y="1906651"/>
                  </a:cubicBezTo>
                  <a:lnTo>
                    <a:pt x="147574" y="1906651"/>
                  </a:lnTo>
                  <a:cubicBezTo>
                    <a:pt x="66040" y="1906651"/>
                    <a:pt x="0" y="1840611"/>
                    <a:pt x="0" y="1759077"/>
                  </a:cubicBezTo>
                  <a:close/>
                </a:path>
              </a:pathLst>
            </a:custGeom>
            <a:solidFill>
              <a:srgbClr val="222222"/>
            </a:solidFill>
            <a:ln w="12700" cap="sq">
              <a:solidFill>
                <a:srgbClr val="222222"/>
              </a:solidFill>
              <a:prstDash val="solid"/>
              <a:miter/>
            </a:ln>
          </p:spPr>
          <p:txBody>
            <a:bodyPr/>
            <a:lstStyle/>
            <a:p>
              <a:endParaRPr lang="en-US"/>
            </a:p>
          </p:txBody>
        </p:sp>
      </p:grpSp>
      <p:grpSp>
        <p:nvGrpSpPr>
          <p:cNvPr id="24" name="Group 24"/>
          <p:cNvGrpSpPr/>
          <p:nvPr/>
        </p:nvGrpSpPr>
        <p:grpSpPr>
          <a:xfrm>
            <a:off x="7491727" y="4730239"/>
            <a:ext cx="579625" cy="579625"/>
            <a:chOff x="0" y="0"/>
            <a:chExt cx="772833" cy="772833"/>
          </a:xfrm>
        </p:grpSpPr>
        <p:sp>
          <p:nvSpPr>
            <p:cNvPr id="25" name="Freeform 25"/>
            <p:cNvSpPr/>
            <p:nvPr/>
          </p:nvSpPr>
          <p:spPr>
            <a:xfrm>
              <a:off x="0" y="0"/>
              <a:ext cx="772795" cy="772795"/>
            </a:xfrm>
            <a:custGeom>
              <a:avLst/>
              <a:gdLst/>
              <a:ahLst/>
              <a:cxnLst/>
              <a:rect l="l" t="t" r="r" b="b"/>
              <a:pathLst>
                <a:path w="772795" h="772795">
                  <a:moveTo>
                    <a:pt x="0" y="386461"/>
                  </a:moveTo>
                  <a:cubicBezTo>
                    <a:pt x="0" y="172974"/>
                    <a:pt x="172974" y="0"/>
                    <a:pt x="386461" y="0"/>
                  </a:cubicBezTo>
                  <a:cubicBezTo>
                    <a:pt x="599948" y="0"/>
                    <a:pt x="772795" y="172974"/>
                    <a:pt x="772795" y="386461"/>
                  </a:cubicBezTo>
                  <a:cubicBezTo>
                    <a:pt x="772795" y="599948"/>
                    <a:pt x="599821" y="772795"/>
                    <a:pt x="386461" y="772795"/>
                  </a:cubicBezTo>
                  <a:cubicBezTo>
                    <a:pt x="173101" y="772795"/>
                    <a:pt x="0" y="599821"/>
                    <a:pt x="0" y="386461"/>
                  </a:cubicBezTo>
                  <a:close/>
                </a:path>
              </a:pathLst>
            </a:custGeom>
            <a:solidFill>
              <a:srgbClr val="FFDE59"/>
            </a:solidFill>
            <a:ln w="12700" cap="sq">
              <a:solidFill>
                <a:srgbClr val="FFDE59"/>
              </a:solidFill>
              <a:prstDash val="solid"/>
              <a:miter/>
            </a:ln>
          </p:spPr>
          <p:txBody>
            <a:bodyPr/>
            <a:lstStyle/>
            <a:p>
              <a:endParaRPr lang="en-US"/>
            </a:p>
          </p:txBody>
        </p:sp>
      </p:grpSp>
      <p:grpSp>
        <p:nvGrpSpPr>
          <p:cNvPr id="26" name="Group 26"/>
          <p:cNvGrpSpPr/>
          <p:nvPr/>
        </p:nvGrpSpPr>
        <p:grpSpPr>
          <a:xfrm>
            <a:off x="7498080" y="4736592"/>
            <a:ext cx="566928" cy="566928"/>
            <a:chOff x="0" y="0"/>
            <a:chExt cx="755904" cy="755904"/>
          </a:xfrm>
        </p:grpSpPr>
        <p:sp>
          <p:nvSpPr>
            <p:cNvPr id="27" name="Freeform 27"/>
            <p:cNvSpPr/>
            <p:nvPr/>
          </p:nvSpPr>
          <p:spPr>
            <a:xfrm>
              <a:off x="0" y="0"/>
              <a:ext cx="755904" cy="755904"/>
            </a:xfrm>
            <a:custGeom>
              <a:avLst/>
              <a:gdLst/>
              <a:ahLst/>
              <a:cxnLst/>
              <a:rect l="l" t="t" r="r" b="b"/>
              <a:pathLst>
                <a:path w="755904" h="755904">
                  <a:moveTo>
                    <a:pt x="0" y="0"/>
                  </a:moveTo>
                  <a:lnTo>
                    <a:pt x="755904" y="0"/>
                  </a:lnTo>
                  <a:lnTo>
                    <a:pt x="755904" y="755904"/>
                  </a:lnTo>
                  <a:lnTo>
                    <a:pt x="0" y="755904"/>
                  </a:lnTo>
                  <a:close/>
                </a:path>
              </a:pathLst>
            </a:custGeom>
            <a:blipFill>
              <a:blip r:embed="rId3">
                <a:alphaModFix amt="0"/>
              </a:blip>
              <a:stretch>
                <a:fillRect l="-78303" r="-78303"/>
              </a:stretch>
            </a:blipFill>
          </p:spPr>
          <p:txBody>
            <a:bodyPr/>
            <a:lstStyle/>
            <a:p>
              <a:endParaRPr lang="en-US"/>
            </a:p>
          </p:txBody>
        </p:sp>
        <p:sp>
          <p:nvSpPr>
            <p:cNvPr id="28" name="TextBox 28"/>
            <p:cNvSpPr txBox="1"/>
            <p:nvPr/>
          </p:nvSpPr>
          <p:spPr>
            <a:xfrm>
              <a:off x="0" y="-19050"/>
              <a:ext cx="755904" cy="774954"/>
            </a:xfrm>
            <a:prstGeom prst="rect">
              <a:avLst/>
            </a:prstGeom>
          </p:spPr>
          <p:txBody>
            <a:bodyPr lIns="0" tIns="0" rIns="0" bIns="0" rtlCol="0" anchor="ctr"/>
            <a:lstStyle/>
            <a:p>
              <a:pPr algn="ctr">
                <a:lnSpc>
                  <a:spcPts val="2160"/>
                </a:lnSpc>
              </a:pPr>
              <a:r>
                <a:rPr lang="en-US" sz="1800" b="1">
                  <a:solidFill>
                    <a:srgbClr val="0A0A0A"/>
                  </a:solidFill>
                  <a:latin typeface="Arial Bold"/>
                  <a:ea typeface="Arial Bold"/>
                  <a:cs typeface="Arial Bold"/>
                  <a:sym typeface="Arial Bold"/>
                </a:rPr>
                <a:t>2</a:t>
              </a:r>
            </a:p>
          </p:txBody>
        </p:sp>
      </p:grpSp>
      <p:sp>
        <p:nvSpPr>
          <p:cNvPr id="29" name="TextBox 29"/>
          <p:cNvSpPr txBox="1"/>
          <p:nvPr/>
        </p:nvSpPr>
        <p:spPr>
          <a:xfrm>
            <a:off x="8366760" y="4589907"/>
            <a:ext cx="5623560" cy="276679"/>
          </a:xfrm>
          <a:prstGeom prst="rect">
            <a:avLst/>
          </a:prstGeom>
        </p:spPr>
        <p:txBody>
          <a:bodyPr lIns="0" tIns="0" rIns="0" bIns="0" rtlCol="0" anchor="t">
            <a:spAutoFit/>
          </a:bodyPr>
          <a:lstStyle/>
          <a:p>
            <a:pPr algn="l">
              <a:lnSpc>
                <a:spcPts val="2279"/>
              </a:lnSpc>
            </a:pPr>
            <a:r>
              <a:rPr lang="en-US" sz="1899" b="1" dirty="0">
                <a:solidFill>
                  <a:srgbClr val="FFFFFF"/>
                </a:solidFill>
                <a:latin typeface="Arial Bold"/>
                <a:ea typeface="Arial Bold"/>
                <a:cs typeface="Arial Bold"/>
                <a:sym typeface="Arial Bold"/>
              </a:rPr>
              <a:t>Make SEND vs COMMUNITY BOARD Clear</a:t>
            </a:r>
          </a:p>
        </p:txBody>
      </p:sp>
      <p:sp>
        <p:nvSpPr>
          <p:cNvPr id="30" name="TextBox 30"/>
          <p:cNvSpPr txBox="1"/>
          <p:nvPr/>
        </p:nvSpPr>
        <p:spPr>
          <a:xfrm>
            <a:off x="8366760" y="5036820"/>
            <a:ext cx="5623560" cy="586740"/>
          </a:xfrm>
          <a:prstGeom prst="rect">
            <a:avLst/>
          </a:prstGeom>
        </p:spPr>
        <p:txBody>
          <a:bodyPr lIns="0" tIns="0" rIns="0" bIns="0" rtlCol="0" anchor="t">
            <a:spAutoFit/>
          </a:bodyPr>
          <a:lstStyle/>
          <a:p>
            <a:pPr algn="l">
              <a:lnSpc>
                <a:spcPts val="1800"/>
              </a:lnSpc>
            </a:pPr>
            <a:r>
              <a:rPr lang="en-US" sz="1500">
                <a:solidFill>
                  <a:srgbClr val="A6A6AD"/>
                </a:solidFill>
                <a:latin typeface="Calibri (MS)"/>
                <a:ea typeface="Calibri (MS)"/>
                <a:cs typeface="Calibri (MS)"/>
                <a:sym typeface="Calibri (MS)"/>
              </a:rPr>
              <a:t>Add a one-line hint the first time someone sees the choice.</a:t>
            </a:r>
          </a:p>
        </p:txBody>
      </p:sp>
      <p:grpSp>
        <p:nvGrpSpPr>
          <p:cNvPr id="31" name="Group 31"/>
          <p:cNvGrpSpPr/>
          <p:nvPr/>
        </p:nvGrpSpPr>
        <p:grpSpPr>
          <a:xfrm>
            <a:off x="14173200" y="4599432"/>
            <a:ext cx="2834640" cy="914400"/>
            <a:chOff x="0" y="0"/>
            <a:chExt cx="3779520" cy="1219200"/>
          </a:xfrm>
        </p:grpSpPr>
        <p:sp>
          <p:nvSpPr>
            <p:cNvPr id="32" name="Freeform 32"/>
            <p:cNvSpPr/>
            <p:nvPr/>
          </p:nvSpPr>
          <p:spPr>
            <a:xfrm>
              <a:off x="0" y="0"/>
              <a:ext cx="3779520" cy="1219200"/>
            </a:xfrm>
            <a:custGeom>
              <a:avLst/>
              <a:gdLst/>
              <a:ahLst/>
              <a:cxnLst/>
              <a:rect l="l" t="t" r="r" b="b"/>
              <a:pathLst>
                <a:path w="3779520" h="1219200">
                  <a:moveTo>
                    <a:pt x="0" y="0"/>
                  </a:moveTo>
                  <a:lnTo>
                    <a:pt x="3779520" y="0"/>
                  </a:lnTo>
                  <a:lnTo>
                    <a:pt x="3779520" y="1219200"/>
                  </a:lnTo>
                  <a:lnTo>
                    <a:pt x="0" y="1219200"/>
                  </a:lnTo>
                  <a:close/>
                </a:path>
              </a:pathLst>
            </a:custGeom>
            <a:blipFill>
              <a:blip r:embed="rId3">
                <a:alphaModFix amt="0"/>
              </a:blip>
              <a:stretch>
                <a:fillRect t="-10403" b="-10403"/>
              </a:stretch>
            </a:blipFill>
          </p:spPr>
          <p:txBody>
            <a:bodyPr/>
            <a:lstStyle/>
            <a:p>
              <a:endParaRPr lang="en-US"/>
            </a:p>
          </p:txBody>
        </p:sp>
        <p:sp>
          <p:nvSpPr>
            <p:cNvPr id="33" name="TextBox 33"/>
            <p:cNvSpPr txBox="1"/>
            <p:nvPr/>
          </p:nvSpPr>
          <p:spPr>
            <a:xfrm>
              <a:off x="0" y="-28575"/>
              <a:ext cx="3779520" cy="1247775"/>
            </a:xfrm>
            <a:prstGeom prst="rect">
              <a:avLst/>
            </a:prstGeom>
          </p:spPr>
          <p:txBody>
            <a:bodyPr lIns="0" tIns="0" rIns="0" bIns="0" rtlCol="0" anchor="ctr"/>
            <a:lstStyle/>
            <a:p>
              <a:pPr algn="r">
                <a:lnSpc>
                  <a:spcPts val="1680"/>
                </a:lnSpc>
              </a:pPr>
              <a:r>
                <a:rPr lang="en-US" sz="1400" i="1">
                  <a:solidFill>
                    <a:srgbClr val="93A9CF"/>
                  </a:solidFill>
                  <a:latin typeface="Calibri (MS) Italics"/>
                  <a:ea typeface="Calibri (MS) Italics"/>
                  <a:cs typeface="Calibri (MS) Italics"/>
                  <a:sym typeface="Calibri (MS) Italics"/>
                </a:rPr>
                <a:t>“Not sure which one does what”</a:t>
              </a:r>
            </a:p>
          </p:txBody>
        </p:sp>
      </p:grpSp>
      <p:grpSp>
        <p:nvGrpSpPr>
          <p:cNvPr id="34" name="Group 34"/>
          <p:cNvGrpSpPr/>
          <p:nvPr/>
        </p:nvGrpSpPr>
        <p:grpSpPr>
          <a:xfrm>
            <a:off x="7125967" y="5946391"/>
            <a:ext cx="10208257" cy="1430017"/>
            <a:chOff x="0" y="0"/>
            <a:chExt cx="13611009" cy="1906689"/>
          </a:xfrm>
        </p:grpSpPr>
        <p:sp>
          <p:nvSpPr>
            <p:cNvPr id="35" name="Freeform 35"/>
            <p:cNvSpPr/>
            <p:nvPr/>
          </p:nvSpPr>
          <p:spPr>
            <a:xfrm>
              <a:off x="0" y="0"/>
              <a:ext cx="13610971" cy="1906651"/>
            </a:xfrm>
            <a:custGeom>
              <a:avLst/>
              <a:gdLst/>
              <a:ahLst/>
              <a:cxnLst/>
              <a:rect l="l" t="t" r="r" b="b"/>
              <a:pathLst>
                <a:path w="13610971" h="1906651">
                  <a:moveTo>
                    <a:pt x="0" y="147574"/>
                  </a:moveTo>
                  <a:cubicBezTo>
                    <a:pt x="0" y="66040"/>
                    <a:pt x="66040" y="0"/>
                    <a:pt x="147574" y="0"/>
                  </a:cubicBezTo>
                  <a:lnTo>
                    <a:pt x="13463397" y="0"/>
                  </a:lnTo>
                  <a:cubicBezTo>
                    <a:pt x="13544931" y="0"/>
                    <a:pt x="13610971" y="66040"/>
                    <a:pt x="13610971" y="147574"/>
                  </a:cubicBezTo>
                  <a:lnTo>
                    <a:pt x="13610971" y="1759077"/>
                  </a:lnTo>
                  <a:cubicBezTo>
                    <a:pt x="13610971" y="1840611"/>
                    <a:pt x="13544931" y="1906651"/>
                    <a:pt x="13463397" y="1906651"/>
                  </a:cubicBezTo>
                  <a:lnTo>
                    <a:pt x="147574" y="1906651"/>
                  </a:lnTo>
                  <a:cubicBezTo>
                    <a:pt x="66040" y="1906651"/>
                    <a:pt x="0" y="1840611"/>
                    <a:pt x="0" y="1759077"/>
                  </a:cubicBezTo>
                  <a:close/>
                </a:path>
              </a:pathLst>
            </a:custGeom>
            <a:solidFill>
              <a:srgbClr val="222222"/>
            </a:solidFill>
            <a:ln w="12700" cap="sq">
              <a:solidFill>
                <a:srgbClr val="222222"/>
              </a:solidFill>
              <a:prstDash val="solid"/>
              <a:miter/>
            </a:ln>
          </p:spPr>
          <p:txBody>
            <a:bodyPr/>
            <a:lstStyle/>
            <a:p>
              <a:endParaRPr lang="en-US"/>
            </a:p>
          </p:txBody>
        </p:sp>
      </p:grpSp>
      <p:grpSp>
        <p:nvGrpSpPr>
          <p:cNvPr id="36" name="Group 36"/>
          <p:cNvGrpSpPr/>
          <p:nvPr/>
        </p:nvGrpSpPr>
        <p:grpSpPr>
          <a:xfrm>
            <a:off x="7491727" y="6357871"/>
            <a:ext cx="579625" cy="579625"/>
            <a:chOff x="0" y="0"/>
            <a:chExt cx="772833" cy="772833"/>
          </a:xfrm>
        </p:grpSpPr>
        <p:sp>
          <p:nvSpPr>
            <p:cNvPr id="37" name="Freeform 37"/>
            <p:cNvSpPr/>
            <p:nvPr/>
          </p:nvSpPr>
          <p:spPr>
            <a:xfrm>
              <a:off x="0" y="0"/>
              <a:ext cx="772795" cy="772795"/>
            </a:xfrm>
            <a:custGeom>
              <a:avLst/>
              <a:gdLst/>
              <a:ahLst/>
              <a:cxnLst/>
              <a:rect l="l" t="t" r="r" b="b"/>
              <a:pathLst>
                <a:path w="772795" h="772795">
                  <a:moveTo>
                    <a:pt x="0" y="386461"/>
                  </a:moveTo>
                  <a:cubicBezTo>
                    <a:pt x="0" y="172974"/>
                    <a:pt x="172974" y="0"/>
                    <a:pt x="386461" y="0"/>
                  </a:cubicBezTo>
                  <a:cubicBezTo>
                    <a:pt x="599948" y="0"/>
                    <a:pt x="772795" y="172974"/>
                    <a:pt x="772795" y="386461"/>
                  </a:cubicBezTo>
                  <a:cubicBezTo>
                    <a:pt x="772795" y="599948"/>
                    <a:pt x="599821" y="772795"/>
                    <a:pt x="386461" y="772795"/>
                  </a:cubicBezTo>
                  <a:cubicBezTo>
                    <a:pt x="173101" y="772795"/>
                    <a:pt x="0" y="599821"/>
                    <a:pt x="0" y="386461"/>
                  </a:cubicBezTo>
                  <a:close/>
                </a:path>
              </a:pathLst>
            </a:custGeom>
            <a:solidFill>
              <a:srgbClr val="FFDE59"/>
            </a:solidFill>
            <a:ln w="12700" cap="sq">
              <a:solidFill>
                <a:srgbClr val="FFDE59"/>
              </a:solidFill>
              <a:prstDash val="solid"/>
              <a:miter/>
            </a:ln>
          </p:spPr>
          <p:txBody>
            <a:bodyPr/>
            <a:lstStyle/>
            <a:p>
              <a:endParaRPr lang="en-US"/>
            </a:p>
          </p:txBody>
        </p:sp>
      </p:grpSp>
      <p:grpSp>
        <p:nvGrpSpPr>
          <p:cNvPr id="38" name="Group 38"/>
          <p:cNvGrpSpPr/>
          <p:nvPr/>
        </p:nvGrpSpPr>
        <p:grpSpPr>
          <a:xfrm>
            <a:off x="7498080" y="6364224"/>
            <a:ext cx="566928" cy="566928"/>
            <a:chOff x="0" y="0"/>
            <a:chExt cx="755904" cy="755904"/>
          </a:xfrm>
        </p:grpSpPr>
        <p:sp>
          <p:nvSpPr>
            <p:cNvPr id="39" name="Freeform 39"/>
            <p:cNvSpPr/>
            <p:nvPr/>
          </p:nvSpPr>
          <p:spPr>
            <a:xfrm>
              <a:off x="0" y="0"/>
              <a:ext cx="755904" cy="755904"/>
            </a:xfrm>
            <a:custGeom>
              <a:avLst/>
              <a:gdLst/>
              <a:ahLst/>
              <a:cxnLst/>
              <a:rect l="l" t="t" r="r" b="b"/>
              <a:pathLst>
                <a:path w="755904" h="755904">
                  <a:moveTo>
                    <a:pt x="0" y="0"/>
                  </a:moveTo>
                  <a:lnTo>
                    <a:pt x="755904" y="0"/>
                  </a:lnTo>
                  <a:lnTo>
                    <a:pt x="755904" y="755904"/>
                  </a:lnTo>
                  <a:lnTo>
                    <a:pt x="0" y="755904"/>
                  </a:lnTo>
                  <a:close/>
                </a:path>
              </a:pathLst>
            </a:custGeom>
            <a:blipFill>
              <a:blip r:embed="rId3">
                <a:alphaModFix amt="0"/>
              </a:blip>
              <a:stretch>
                <a:fillRect l="-78303" r="-78303"/>
              </a:stretch>
            </a:blipFill>
          </p:spPr>
          <p:txBody>
            <a:bodyPr/>
            <a:lstStyle/>
            <a:p>
              <a:endParaRPr lang="en-US"/>
            </a:p>
          </p:txBody>
        </p:sp>
        <p:sp>
          <p:nvSpPr>
            <p:cNvPr id="40" name="TextBox 40"/>
            <p:cNvSpPr txBox="1"/>
            <p:nvPr/>
          </p:nvSpPr>
          <p:spPr>
            <a:xfrm>
              <a:off x="0" y="-19050"/>
              <a:ext cx="755904" cy="774954"/>
            </a:xfrm>
            <a:prstGeom prst="rect">
              <a:avLst/>
            </a:prstGeom>
          </p:spPr>
          <p:txBody>
            <a:bodyPr lIns="0" tIns="0" rIns="0" bIns="0" rtlCol="0" anchor="ctr"/>
            <a:lstStyle/>
            <a:p>
              <a:pPr algn="ctr">
                <a:lnSpc>
                  <a:spcPts val="2160"/>
                </a:lnSpc>
              </a:pPr>
              <a:r>
                <a:rPr lang="en-US" sz="1800" b="1">
                  <a:solidFill>
                    <a:srgbClr val="0A0A0A"/>
                  </a:solidFill>
                  <a:latin typeface="Arial Bold"/>
                  <a:ea typeface="Arial Bold"/>
                  <a:cs typeface="Arial Bold"/>
                  <a:sym typeface="Arial Bold"/>
                </a:rPr>
                <a:t>3</a:t>
              </a:r>
            </a:p>
          </p:txBody>
        </p:sp>
      </p:grpSp>
      <p:sp>
        <p:nvSpPr>
          <p:cNvPr id="41" name="TextBox 41"/>
          <p:cNvSpPr txBox="1"/>
          <p:nvPr/>
        </p:nvSpPr>
        <p:spPr>
          <a:xfrm>
            <a:off x="8366760" y="6217539"/>
            <a:ext cx="5623560" cy="276679"/>
          </a:xfrm>
          <a:prstGeom prst="rect">
            <a:avLst/>
          </a:prstGeom>
        </p:spPr>
        <p:txBody>
          <a:bodyPr lIns="0" tIns="0" rIns="0" bIns="0" rtlCol="0" anchor="t">
            <a:spAutoFit/>
          </a:bodyPr>
          <a:lstStyle/>
          <a:p>
            <a:pPr algn="l">
              <a:lnSpc>
                <a:spcPts val="2279"/>
              </a:lnSpc>
            </a:pPr>
            <a:r>
              <a:rPr lang="en-US" sz="1899" b="1" dirty="0">
                <a:solidFill>
                  <a:srgbClr val="FFFFFF"/>
                </a:solidFill>
                <a:latin typeface="Arial Bold"/>
                <a:ea typeface="Arial Bold"/>
                <a:cs typeface="Arial Bold"/>
                <a:sym typeface="Arial Bold"/>
              </a:rPr>
              <a:t>Add a First-use Explainer</a:t>
            </a:r>
          </a:p>
        </p:txBody>
      </p:sp>
      <p:sp>
        <p:nvSpPr>
          <p:cNvPr id="42" name="TextBox 42"/>
          <p:cNvSpPr txBox="1"/>
          <p:nvPr/>
        </p:nvSpPr>
        <p:spPr>
          <a:xfrm>
            <a:off x="8366760" y="6664452"/>
            <a:ext cx="5623560" cy="586740"/>
          </a:xfrm>
          <a:prstGeom prst="rect">
            <a:avLst/>
          </a:prstGeom>
        </p:spPr>
        <p:txBody>
          <a:bodyPr lIns="0" tIns="0" rIns="0" bIns="0" rtlCol="0" anchor="t">
            <a:spAutoFit/>
          </a:bodyPr>
          <a:lstStyle/>
          <a:p>
            <a:pPr algn="l">
              <a:lnSpc>
                <a:spcPts val="1800"/>
              </a:lnSpc>
            </a:pPr>
            <a:r>
              <a:rPr lang="en-US" sz="1500">
                <a:solidFill>
                  <a:srgbClr val="A6A6AD"/>
                </a:solidFill>
                <a:latin typeface="Calibri (MS)"/>
                <a:ea typeface="Calibri (MS)"/>
                <a:cs typeface="Calibri (MS)"/>
                <a:sym typeface="Calibri (MS)"/>
              </a:rPr>
              <a:t>One screen for people new to boards.</a:t>
            </a:r>
          </a:p>
        </p:txBody>
      </p:sp>
      <p:grpSp>
        <p:nvGrpSpPr>
          <p:cNvPr id="43" name="Group 43"/>
          <p:cNvGrpSpPr/>
          <p:nvPr/>
        </p:nvGrpSpPr>
        <p:grpSpPr>
          <a:xfrm>
            <a:off x="14173200" y="6227064"/>
            <a:ext cx="2834640" cy="914400"/>
            <a:chOff x="0" y="0"/>
            <a:chExt cx="3779520" cy="1219200"/>
          </a:xfrm>
        </p:grpSpPr>
        <p:sp>
          <p:nvSpPr>
            <p:cNvPr id="44" name="Freeform 44"/>
            <p:cNvSpPr/>
            <p:nvPr/>
          </p:nvSpPr>
          <p:spPr>
            <a:xfrm>
              <a:off x="0" y="0"/>
              <a:ext cx="3779520" cy="1219200"/>
            </a:xfrm>
            <a:custGeom>
              <a:avLst/>
              <a:gdLst/>
              <a:ahLst/>
              <a:cxnLst/>
              <a:rect l="l" t="t" r="r" b="b"/>
              <a:pathLst>
                <a:path w="3779520" h="1219200">
                  <a:moveTo>
                    <a:pt x="0" y="0"/>
                  </a:moveTo>
                  <a:lnTo>
                    <a:pt x="3779520" y="0"/>
                  </a:lnTo>
                  <a:lnTo>
                    <a:pt x="3779520" y="1219200"/>
                  </a:lnTo>
                  <a:lnTo>
                    <a:pt x="0" y="1219200"/>
                  </a:lnTo>
                  <a:close/>
                </a:path>
              </a:pathLst>
            </a:custGeom>
            <a:blipFill>
              <a:blip r:embed="rId3">
                <a:alphaModFix amt="0"/>
              </a:blip>
              <a:stretch>
                <a:fillRect t="-10403" b="-10403"/>
              </a:stretch>
            </a:blipFill>
          </p:spPr>
          <p:txBody>
            <a:bodyPr/>
            <a:lstStyle/>
            <a:p>
              <a:endParaRPr lang="en-US"/>
            </a:p>
          </p:txBody>
        </p:sp>
        <p:sp>
          <p:nvSpPr>
            <p:cNvPr id="45" name="TextBox 45"/>
            <p:cNvSpPr txBox="1"/>
            <p:nvPr/>
          </p:nvSpPr>
          <p:spPr>
            <a:xfrm>
              <a:off x="0" y="-28575"/>
              <a:ext cx="3779520" cy="1247775"/>
            </a:xfrm>
            <a:prstGeom prst="rect">
              <a:avLst/>
            </a:prstGeom>
          </p:spPr>
          <p:txBody>
            <a:bodyPr lIns="0" tIns="0" rIns="0" bIns="0" rtlCol="0" anchor="ctr"/>
            <a:lstStyle/>
            <a:p>
              <a:pPr algn="r">
                <a:lnSpc>
                  <a:spcPts val="1680"/>
                </a:lnSpc>
              </a:pPr>
              <a:r>
                <a:rPr lang="en-US" sz="1400" i="1">
                  <a:solidFill>
                    <a:srgbClr val="93A9CF"/>
                  </a:solidFill>
                  <a:latin typeface="Calibri (MS) Italics"/>
                  <a:ea typeface="Calibri (MS) Italics"/>
                  <a:cs typeface="Calibri (MS) Italics"/>
                  <a:sym typeface="Calibri (MS) Italics"/>
                </a:rPr>
                <a:t>A non-user didn't see the point</a:t>
              </a:r>
            </a:p>
          </p:txBody>
        </p:sp>
      </p:grpSp>
      <p:grpSp>
        <p:nvGrpSpPr>
          <p:cNvPr id="46" name="Group 46"/>
          <p:cNvGrpSpPr/>
          <p:nvPr/>
        </p:nvGrpSpPr>
        <p:grpSpPr>
          <a:xfrm>
            <a:off x="7125967" y="7574023"/>
            <a:ext cx="10208257" cy="1430017"/>
            <a:chOff x="0" y="0"/>
            <a:chExt cx="13611009" cy="1906689"/>
          </a:xfrm>
        </p:grpSpPr>
        <p:sp>
          <p:nvSpPr>
            <p:cNvPr id="47" name="Freeform 47"/>
            <p:cNvSpPr/>
            <p:nvPr/>
          </p:nvSpPr>
          <p:spPr>
            <a:xfrm>
              <a:off x="0" y="0"/>
              <a:ext cx="13610971" cy="1906651"/>
            </a:xfrm>
            <a:custGeom>
              <a:avLst/>
              <a:gdLst/>
              <a:ahLst/>
              <a:cxnLst/>
              <a:rect l="l" t="t" r="r" b="b"/>
              <a:pathLst>
                <a:path w="13610971" h="1906651">
                  <a:moveTo>
                    <a:pt x="0" y="147574"/>
                  </a:moveTo>
                  <a:cubicBezTo>
                    <a:pt x="0" y="66040"/>
                    <a:pt x="66040" y="0"/>
                    <a:pt x="147574" y="0"/>
                  </a:cubicBezTo>
                  <a:lnTo>
                    <a:pt x="13463397" y="0"/>
                  </a:lnTo>
                  <a:cubicBezTo>
                    <a:pt x="13544931" y="0"/>
                    <a:pt x="13610971" y="66040"/>
                    <a:pt x="13610971" y="147574"/>
                  </a:cubicBezTo>
                  <a:lnTo>
                    <a:pt x="13610971" y="1759077"/>
                  </a:lnTo>
                  <a:cubicBezTo>
                    <a:pt x="13610971" y="1840611"/>
                    <a:pt x="13544931" y="1906651"/>
                    <a:pt x="13463397" y="1906651"/>
                  </a:cubicBezTo>
                  <a:lnTo>
                    <a:pt x="147574" y="1906651"/>
                  </a:lnTo>
                  <a:cubicBezTo>
                    <a:pt x="66040" y="1906651"/>
                    <a:pt x="0" y="1840611"/>
                    <a:pt x="0" y="1759077"/>
                  </a:cubicBezTo>
                  <a:close/>
                </a:path>
              </a:pathLst>
            </a:custGeom>
            <a:solidFill>
              <a:srgbClr val="222222"/>
            </a:solidFill>
            <a:ln w="12700" cap="sq">
              <a:solidFill>
                <a:srgbClr val="222222"/>
              </a:solidFill>
              <a:prstDash val="solid"/>
              <a:miter/>
            </a:ln>
          </p:spPr>
          <p:txBody>
            <a:bodyPr/>
            <a:lstStyle/>
            <a:p>
              <a:endParaRPr lang="en-US"/>
            </a:p>
          </p:txBody>
        </p:sp>
      </p:grpSp>
      <p:grpSp>
        <p:nvGrpSpPr>
          <p:cNvPr id="48" name="Group 48"/>
          <p:cNvGrpSpPr/>
          <p:nvPr/>
        </p:nvGrpSpPr>
        <p:grpSpPr>
          <a:xfrm>
            <a:off x="7491727" y="7985503"/>
            <a:ext cx="579625" cy="579625"/>
            <a:chOff x="0" y="0"/>
            <a:chExt cx="772833" cy="772833"/>
          </a:xfrm>
        </p:grpSpPr>
        <p:sp>
          <p:nvSpPr>
            <p:cNvPr id="49" name="Freeform 49"/>
            <p:cNvSpPr/>
            <p:nvPr/>
          </p:nvSpPr>
          <p:spPr>
            <a:xfrm>
              <a:off x="0" y="0"/>
              <a:ext cx="772795" cy="772795"/>
            </a:xfrm>
            <a:custGeom>
              <a:avLst/>
              <a:gdLst/>
              <a:ahLst/>
              <a:cxnLst/>
              <a:rect l="l" t="t" r="r" b="b"/>
              <a:pathLst>
                <a:path w="772795" h="772795">
                  <a:moveTo>
                    <a:pt x="0" y="386461"/>
                  </a:moveTo>
                  <a:cubicBezTo>
                    <a:pt x="0" y="172974"/>
                    <a:pt x="172974" y="0"/>
                    <a:pt x="386461" y="0"/>
                  </a:cubicBezTo>
                  <a:cubicBezTo>
                    <a:pt x="599948" y="0"/>
                    <a:pt x="772795" y="172974"/>
                    <a:pt x="772795" y="386461"/>
                  </a:cubicBezTo>
                  <a:cubicBezTo>
                    <a:pt x="772795" y="599948"/>
                    <a:pt x="599821" y="772795"/>
                    <a:pt x="386461" y="772795"/>
                  </a:cubicBezTo>
                  <a:cubicBezTo>
                    <a:pt x="173101" y="772795"/>
                    <a:pt x="0" y="599821"/>
                    <a:pt x="0" y="386461"/>
                  </a:cubicBezTo>
                  <a:close/>
                </a:path>
              </a:pathLst>
            </a:custGeom>
            <a:solidFill>
              <a:srgbClr val="FFDE59"/>
            </a:solidFill>
            <a:ln w="12700" cap="sq">
              <a:solidFill>
                <a:srgbClr val="FFDE59"/>
              </a:solidFill>
              <a:prstDash val="solid"/>
              <a:miter/>
            </a:ln>
          </p:spPr>
          <p:txBody>
            <a:bodyPr/>
            <a:lstStyle/>
            <a:p>
              <a:endParaRPr lang="en-US"/>
            </a:p>
          </p:txBody>
        </p:sp>
      </p:grpSp>
      <p:grpSp>
        <p:nvGrpSpPr>
          <p:cNvPr id="50" name="Group 50"/>
          <p:cNvGrpSpPr/>
          <p:nvPr/>
        </p:nvGrpSpPr>
        <p:grpSpPr>
          <a:xfrm>
            <a:off x="7498080" y="7991856"/>
            <a:ext cx="566928" cy="566928"/>
            <a:chOff x="0" y="0"/>
            <a:chExt cx="755904" cy="755904"/>
          </a:xfrm>
        </p:grpSpPr>
        <p:sp>
          <p:nvSpPr>
            <p:cNvPr id="51" name="Freeform 51"/>
            <p:cNvSpPr/>
            <p:nvPr/>
          </p:nvSpPr>
          <p:spPr>
            <a:xfrm>
              <a:off x="0" y="0"/>
              <a:ext cx="755904" cy="755904"/>
            </a:xfrm>
            <a:custGeom>
              <a:avLst/>
              <a:gdLst/>
              <a:ahLst/>
              <a:cxnLst/>
              <a:rect l="l" t="t" r="r" b="b"/>
              <a:pathLst>
                <a:path w="755904" h="755904">
                  <a:moveTo>
                    <a:pt x="0" y="0"/>
                  </a:moveTo>
                  <a:lnTo>
                    <a:pt x="755904" y="0"/>
                  </a:lnTo>
                  <a:lnTo>
                    <a:pt x="755904" y="755904"/>
                  </a:lnTo>
                  <a:lnTo>
                    <a:pt x="0" y="755904"/>
                  </a:lnTo>
                  <a:close/>
                </a:path>
              </a:pathLst>
            </a:custGeom>
            <a:blipFill>
              <a:blip r:embed="rId3">
                <a:alphaModFix amt="0"/>
              </a:blip>
              <a:stretch>
                <a:fillRect l="-78303" r="-78303"/>
              </a:stretch>
            </a:blipFill>
          </p:spPr>
          <p:txBody>
            <a:bodyPr/>
            <a:lstStyle/>
            <a:p>
              <a:endParaRPr lang="en-US"/>
            </a:p>
          </p:txBody>
        </p:sp>
        <p:sp>
          <p:nvSpPr>
            <p:cNvPr id="52" name="TextBox 52"/>
            <p:cNvSpPr txBox="1"/>
            <p:nvPr/>
          </p:nvSpPr>
          <p:spPr>
            <a:xfrm>
              <a:off x="0" y="-19050"/>
              <a:ext cx="755904" cy="774954"/>
            </a:xfrm>
            <a:prstGeom prst="rect">
              <a:avLst/>
            </a:prstGeom>
          </p:spPr>
          <p:txBody>
            <a:bodyPr lIns="0" tIns="0" rIns="0" bIns="0" rtlCol="0" anchor="ctr"/>
            <a:lstStyle/>
            <a:p>
              <a:pPr algn="ctr">
                <a:lnSpc>
                  <a:spcPts val="2160"/>
                </a:lnSpc>
              </a:pPr>
              <a:r>
                <a:rPr lang="en-US" sz="1800" b="1">
                  <a:solidFill>
                    <a:srgbClr val="0A0A0A"/>
                  </a:solidFill>
                  <a:latin typeface="Arial Bold"/>
                  <a:ea typeface="Arial Bold"/>
                  <a:cs typeface="Arial Bold"/>
                  <a:sym typeface="Arial Bold"/>
                </a:rPr>
                <a:t>4</a:t>
              </a:r>
            </a:p>
          </p:txBody>
        </p:sp>
      </p:grpSp>
      <p:sp>
        <p:nvSpPr>
          <p:cNvPr id="53" name="TextBox 53"/>
          <p:cNvSpPr txBox="1"/>
          <p:nvPr/>
        </p:nvSpPr>
        <p:spPr>
          <a:xfrm>
            <a:off x="8366760" y="7845171"/>
            <a:ext cx="5623560" cy="276679"/>
          </a:xfrm>
          <a:prstGeom prst="rect">
            <a:avLst/>
          </a:prstGeom>
        </p:spPr>
        <p:txBody>
          <a:bodyPr lIns="0" tIns="0" rIns="0" bIns="0" rtlCol="0" anchor="t">
            <a:spAutoFit/>
          </a:bodyPr>
          <a:lstStyle/>
          <a:p>
            <a:pPr algn="l">
              <a:lnSpc>
                <a:spcPts val="2279"/>
              </a:lnSpc>
            </a:pPr>
            <a:r>
              <a:rPr lang="en-US" sz="1899" b="1" dirty="0">
                <a:solidFill>
                  <a:srgbClr val="FFFFFF"/>
                </a:solidFill>
                <a:latin typeface="Arial Bold"/>
                <a:ea typeface="Arial Bold"/>
                <a:cs typeface="Arial Bold"/>
                <a:sym typeface="Arial Bold"/>
              </a:rPr>
              <a:t>Keep Hooks Optional, Same Tone</a:t>
            </a:r>
          </a:p>
        </p:txBody>
      </p:sp>
      <p:sp>
        <p:nvSpPr>
          <p:cNvPr id="54" name="TextBox 54"/>
          <p:cNvSpPr txBox="1"/>
          <p:nvPr/>
        </p:nvSpPr>
        <p:spPr>
          <a:xfrm>
            <a:off x="8366760" y="8292084"/>
            <a:ext cx="5623560" cy="586740"/>
          </a:xfrm>
          <a:prstGeom prst="rect">
            <a:avLst/>
          </a:prstGeom>
        </p:spPr>
        <p:txBody>
          <a:bodyPr lIns="0" tIns="0" rIns="0" bIns="0" rtlCol="0" anchor="t">
            <a:spAutoFit/>
          </a:bodyPr>
          <a:lstStyle/>
          <a:p>
            <a:pPr algn="l">
              <a:lnSpc>
                <a:spcPts val="1800"/>
              </a:lnSpc>
            </a:pPr>
            <a:r>
              <a:rPr lang="en-US" sz="1500">
                <a:solidFill>
                  <a:srgbClr val="A6A6AD"/>
                </a:solidFill>
                <a:latin typeface="Calibri (MS)"/>
                <a:ea typeface="Calibri (MS)"/>
                <a:cs typeface="Calibri (MS)"/>
                <a:sym typeface="Calibri (MS)"/>
              </a:rPr>
              <a:t>They already read as motivating.</a:t>
            </a:r>
          </a:p>
        </p:txBody>
      </p:sp>
      <p:grpSp>
        <p:nvGrpSpPr>
          <p:cNvPr id="55" name="Group 55"/>
          <p:cNvGrpSpPr/>
          <p:nvPr/>
        </p:nvGrpSpPr>
        <p:grpSpPr>
          <a:xfrm>
            <a:off x="14173200" y="7854696"/>
            <a:ext cx="2834640" cy="914400"/>
            <a:chOff x="0" y="0"/>
            <a:chExt cx="3779520" cy="1219200"/>
          </a:xfrm>
        </p:grpSpPr>
        <p:sp>
          <p:nvSpPr>
            <p:cNvPr id="56" name="Freeform 56"/>
            <p:cNvSpPr/>
            <p:nvPr/>
          </p:nvSpPr>
          <p:spPr>
            <a:xfrm>
              <a:off x="0" y="0"/>
              <a:ext cx="3779520" cy="1219200"/>
            </a:xfrm>
            <a:custGeom>
              <a:avLst/>
              <a:gdLst/>
              <a:ahLst/>
              <a:cxnLst/>
              <a:rect l="l" t="t" r="r" b="b"/>
              <a:pathLst>
                <a:path w="3779520" h="1219200">
                  <a:moveTo>
                    <a:pt x="0" y="0"/>
                  </a:moveTo>
                  <a:lnTo>
                    <a:pt x="3779520" y="0"/>
                  </a:lnTo>
                  <a:lnTo>
                    <a:pt x="3779520" y="1219200"/>
                  </a:lnTo>
                  <a:lnTo>
                    <a:pt x="0" y="1219200"/>
                  </a:lnTo>
                  <a:close/>
                </a:path>
              </a:pathLst>
            </a:custGeom>
            <a:blipFill>
              <a:blip r:embed="rId3">
                <a:alphaModFix amt="0"/>
              </a:blip>
              <a:stretch>
                <a:fillRect t="-10403" b="-10403"/>
              </a:stretch>
            </a:blipFill>
          </p:spPr>
          <p:txBody>
            <a:bodyPr/>
            <a:lstStyle/>
            <a:p>
              <a:endParaRPr lang="en-US"/>
            </a:p>
          </p:txBody>
        </p:sp>
        <p:sp>
          <p:nvSpPr>
            <p:cNvPr id="57" name="TextBox 57"/>
            <p:cNvSpPr txBox="1"/>
            <p:nvPr/>
          </p:nvSpPr>
          <p:spPr>
            <a:xfrm>
              <a:off x="0" y="-28575"/>
              <a:ext cx="3779520" cy="1247775"/>
            </a:xfrm>
            <a:prstGeom prst="rect">
              <a:avLst/>
            </a:prstGeom>
          </p:spPr>
          <p:txBody>
            <a:bodyPr lIns="0" tIns="0" rIns="0" bIns="0" rtlCol="0" anchor="ctr"/>
            <a:lstStyle/>
            <a:p>
              <a:pPr algn="r">
                <a:lnSpc>
                  <a:spcPts val="1680"/>
                </a:lnSpc>
              </a:pPr>
              <a:r>
                <a:rPr lang="en-US" sz="1400" i="1">
                  <a:solidFill>
                    <a:srgbClr val="93A9CF"/>
                  </a:solidFill>
                  <a:latin typeface="Calibri (MS) Italics"/>
                  <a:ea typeface="Calibri (MS) Italics"/>
                  <a:cs typeface="Calibri (MS) Italics"/>
                  <a:sym typeface="Calibri (MS) Italics"/>
                </a:rPr>
                <a:t>Highest survey score (4.2 / 5)</a:t>
              </a:r>
            </a:p>
          </p:txBody>
        </p:sp>
      </p:gr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2" name="TextBox 2"/>
          <p:cNvSpPr txBox="1"/>
          <p:nvPr/>
        </p:nvSpPr>
        <p:spPr>
          <a:xfrm>
            <a:off x="960120" y="666750"/>
            <a:ext cx="16367760" cy="285750"/>
          </a:xfrm>
          <a:prstGeom prst="rect">
            <a:avLst/>
          </a:prstGeom>
        </p:spPr>
        <p:txBody>
          <a:bodyPr lIns="0" tIns="0" rIns="0" bIns="0" rtlCol="0" anchor="t">
            <a:spAutoFit/>
          </a:bodyPr>
          <a:lstStyle/>
          <a:p>
            <a:pPr algn="l">
              <a:lnSpc>
                <a:spcPts val="2159"/>
              </a:lnSpc>
            </a:pPr>
            <a:r>
              <a:rPr lang="en-US" sz="1799" b="1" spc="830">
                <a:solidFill>
                  <a:srgbClr val="93A9CF"/>
                </a:solidFill>
                <a:latin typeface="Arial Bold"/>
                <a:ea typeface="Arial Bold"/>
                <a:cs typeface="Arial Bold"/>
                <a:sym typeface="Arial Bold"/>
              </a:rPr>
              <a:t>RECOMMENDATIONS</a:t>
            </a:r>
          </a:p>
        </p:txBody>
      </p:sp>
      <p:sp>
        <p:nvSpPr>
          <p:cNvPr id="3" name="TextBox 3"/>
          <p:cNvSpPr txBox="1"/>
          <p:nvPr/>
        </p:nvSpPr>
        <p:spPr>
          <a:xfrm>
            <a:off x="960120" y="1169670"/>
            <a:ext cx="16367760" cy="638188"/>
          </a:xfrm>
          <a:prstGeom prst="rect">
            <a:avLst/>
          </a:prstGeom>
        </p:spPr>
        <p:txBody>
          <a:bodyPr lIns="0" tIns="0" rIns="0" bIns="0" rtlCol="0" anchor="t">
            <a:spAutoFit/>
          </a:bodyPr>
          <a:lstStyle/>
          <a:p>
            <a:pPr algn="l">
              <a:lnSpc>
                <a:spcPts val="5280"/>
              </a:lnSpc>
            </a:pPr>
            <a:r>
              <a:rPr lang="en-US" sz="4400" b="1" dirty="0">
                <a:solidFill>
                  <a:srgbClr val="FFFFFF"/>
                </a:solidFill>
                <a:latin typeface="Arial Bold"/>
                <a:ea typeface="Arial Bold"/>
                <a:cs typeface="Arial Bold"/>
                <a:sym typeface="Arial Bold"/>
              </a:rPr>
              <a:t>A Staged Rollout, Starting Small</a:t>
            </a:r>
          </a:p>
        </p:txBody>
      </p:sp>
      <p:grpSp>
        <p:nvGrpSpPr>
          <p:cNvPr id="4" name="Group 4"/>
          <p:cNvGrpSpPr/>
          <p:nvPr/>
        </p:nvGrpSpPr>
        <p:grpSpPr>
          <a:xfrm>
            <a:off x="953767" y="2736847"/>
            <a:ext cx="3066793" cy="4493257"/>
            <a:chOff x="0" y="0"/>
            <a:chExt cx="4089057" cy="5991009"/>
          </a:xfrm>
        </p:grpSpPr>
        <p:sp>
          <p:nvSpPr>
            <p:cNvPr id="5" name="Freeform 5"/>
            <p:cNvSpPr/>
            <p:nvPr/>
          </p:nvSpPr>
          <p:spPr>
            <a:xfrm>
              <a:off x="0" y="0"/>
              <a:ext cx="4089019" cy="5990971"/>
            </a:xfrm>
            <a:custGeom>
              <a:avLst/>
              <a:gdLst/>
              <a:ahLst/>
              <a:cxnLst/>
              <a:rect l="l" t="t" r="r" b="b"/>
              <a:pathLst>
                <a:path w="4089019" h="5990971">
                  <a:moveTo>
                    <a:pt x="0" y="122428"/>
                  </a:moveTo>
                  <a:cubicBezTo>
                    <a:pt x="0" y="54864"/>
                    <a:pt x="54864" y="0"/>
                    <a:pt x="122428" y="0"/>
                  </a:cubicBezTo>
                  <a:lnTo>
                    <a:pt x="3966591" y="0"/>
                  </a:lnTo>
                  <a:cubicBezTo>
                    <a:pt x="4034155" y="0"/>
                    <a:pt x="4089019" y="54864"/>
                    <a:pt x="4089019" y="122428"/>
                  </a:cubicBezTo>
                  <a:lnTo>
                    <a:pt x="4089019" y="5868543"/>
                  </a:lnTo>
                  <a:cubicBezTo>
                    <a:pt x="4089019" y="5936107"/>
                    <a:pt x="4034155" y="5990971"/>
                    <a:pt x="3966591" y="5990971"/>
                  </a:cubicBezTo>
                  <a:lnTo>
                    <a:pt x="122428" y="5990971"/>
                  </a:lnTo>
                  <a:cubicBezTo>
                    <a:pt x="54864" y="5990971"/>
                    <a:pt x="0" y="5936107"/>
                    <a:pt x="0" y="5868543"/>
                  </a:cubicBezTo>
                  <a:close/>
                </a:path>
              </a:pathLst>
            </a:custGeom>
            <a:solidFill>
              <a:srgbClr val="222222"/>
            </a:solidFill>
            <a:ln w="12700" cap="sq">
              <a:solidFill>
                <a:srgbClr val="222222"/>
              </a:solidFill>
              <a:prstDash val="solid"/>
              <a:miter/>
            </a:ln>
          </p:spPr>
          <p:txBody>
            <a:bodyPr/>
            <a:lstStyle/>
            <a:p>
              <a:endParaRPr lang="en-US"/>
            </a:p>
          </p:txBody>
        </p:sp>
      </p:grpSp>
      <p:sp>
        <p:nvSpPr>
          <p:cNvPr id="6" name="TextBox 6"/>
          <p:cNvSpPr txBox="1"/>
          <p:nvPr/>
        </p:nvSpPr>
        <p:spPr>
          <a:xfrm>
            <a:off x="1280160" y="3070860"/>
            <a:ext cx="2414016" cy="358140"/>
          </a:xfrm>
          <a:prstGeom prst="rect">
            <a:avLst/>
          </a:prstGeom>
        </p:spPr>
        <p:txBody>
          <a:bodyPr lIns="0" tIns="0" rIns="0" bIns="0" rtlCol="0" anchor="t">
            <a:spAutoFit/>
          </a:bodyPr>
          <a:lstStyle/>
          <a:p>
            <a:pPr algn="l">
              <a:lnSpc>
                <a:spcPts val="1800"/>
              </a:lnSpc>
            </a:pPr>
            <a:r>
              <a:rPr lang="en-US" sz="1500" b="1">
                <a:solidFill>
                  <a:srgbClr val="FFDE59"/>
                </a:solidFill>
                <a:latin typeface="Calibri (MS) Bold"/>
                <a:ea typeface="Calibri (MS) Bold"/>
                <a:cs typeface="Calibri (MS) Bold"/>
                <a:sym typeface="Calibri (MS) Bold"/>
              </a:rPr>
              <a:t>Phase 0</a:t>
            </a:r>
          </a:p>
        </p:txBody>
      </p:sp>
      <p:sp>
        <p:nvSpPr>
          <p:cNvPr id="7" name="TextBox 7"/>
          <p:cNvSpPr txBox="1"/>
          <p:nvPr/>
        </p:nvSpPr>
        <p:spPr>
          <a:xfrm>
            <a:off x="1280160" y="3602355"/>
            <a:ext cx="2414016" cy="320601"/>
          </a:xfrm>
          <a:prstGeom prst="rect">
            <a:avLst/>
          </a:prstGeom>
        </p:spPr>
        <p:txBody>
          <a:bodyPr lIns="0" tIns="0" rIns="0" bIns="0" rtlCol="0" anchor="t">
            <a:spAutoFit/>
          </a:bodyPr>
          <a:lstStyle/>
          <a:p>
            <a:pPr algn="l">
              <a:lnSpc>
                <a:spcPts val="2520"/>
              </a:lnSpc>
            </a:pPr>
            <a:r>
              <a:rPr lang="en-US" sz="2100" b="1" dirty="0">
                <a:solidFill>
                  <a:srgbClr val="FFFFFF"/>
                </a:solidFill>
                <a:latin typeface="Arial Bold"/>
                <a:ea typeface="Arial Bold"/>
                <a:cs typeface="Arial Bold"/>
                <a:sym typeface="Arial Bold"/>
              </a:rPr>
              <a:t>Prototype &amp; Test</a:t>
            </a:r>
          </a:p>
        </p:txBody>
      </p:sp>
      <p:sp>
        <p:nvSpPr>
          <p:cNvPr id="8" name="TextBox 8"/>
          <p:cNvSpPr txBox="1"/>
          <p:nvPr/>
        </p:nvSpPr>
        <p:spPr>
          <a:xfrm>
            <a:off x="1280160" y="4533900"/>
            <a:ext cx="2414016" cy="2141220"/>
          </a:xfrm>
          <a:prstGeom prst="rect">
            <a:avLst/>
          </a:prstGeom>
        </p:spPr>
        <p:txBody>
          <a:bodyPr lIns="0" tIns="0" rIns="0" bIns="0" rtlCol="0" anchor="t">
            <a:spAutoFit/>
          </a:bodyPr>
          <a:lstStyle/>
          <a:p>
            <a:pPr algn="l">
              <a:lnSpc>
                <a:spcPts val="1800"/>
              </a:lnSpc>
            </a:pPr>
            <a:r>
              <a:rPr lang="en-US" sz="1500">
                <a:solidFill>
                  <a:srgbClr val="A6A6AD"/>
                </a:solidFill>
                <a:latin typeface="Calibri (MS)"/>
                <a:ea typeface="Calibri (MS)"/>
                <a:cs typeface="Calibri (MS)"/>
                <a:sym typeface="Calibri (MS)"/>
              </a:rPr>
              <a:t>Done. Clickable prototype tested with 5 people; 4 of 5 would open BeReal more often.</a:t>
            </a:r>
          </a:p>
        </p:txBody>
      </p:sp>
      <p:grpSp>
        <p:nvGrpSpPr>
          <p:cNvPr id="9" name="Group 9"/>
          <p:cNvGrpSpPr/>
          <p:nvPr/>
        </p:nvGrpSpPr>
        <p:grpSpPr>
          <a:xfrm>
            <a:off x="1280160" y="6583680"/>
            <a:ext cx="1463040" cy="329184"/>
            <a:chOff x="0" y="0"/>
            <a:chExt cx="1950720" cy="438912"/>
          </a:xfrm>
        </p:grpSpPr>
        <p:sp>
          <p:nvSpPr>
            <p:cNvPr id="10" name="Freeform 10"/>
            <p:cNvSpPr/>
            <p:nvPr/>
          </p:nvSpPr>
          <p:spPr>
            <a:xfrm>
              <a:off x="0" y="0"/>
              <a:ext cx="1950720" cy="438912"/>
            </a:xfrm>
            <a:custGeom>
              <a:avLst/>
              <a:gdLst/>
              <a:ahLst/>
              <a:cxnLst/>
              <a:rect l="l" t="t" r="r" b="b"/>
              <a:pathLst>
                <a:path w="1950720" h="438912">
                  <a:moveTo>
                    <a:pt x="0" y="0"/>
                  </a:moveTo>
                  <a:lnTo>
                    <a:pt x="1950720" y="0"/>
                  </a:lnTo>
                  <a:lnTo>
                    <a:pt x="1950720" y="438912"/>
                  </a:lnTo>
                  <a:lnTo>
                    <a:pt x="0" y="438912"/>
                  </a:lnTo>
                  <a:close/>
                </a:path>
              </a:pathLst>
            </a:custGeom>
            <a:solidFill>
              <a:srgbClr val="34C759"/>
            </a:solidFill>
          </p:spPr>
          <p:txBody>
            <a:bodyPr/>
            <a:lstStyle/>
            <a:p>
              <a:endParaRPr lang="en-US"/>
            </a:p>
          </p:txBody>
        </p:sp>
        <p:sp>
          <p:nvSpPr>
            <p:cNvPr id="11" name="TextBox 11"/>
            <p:cNvSpPr txBox="1"/>
            <p:nvPr/>
          </p:nvSpPr>
          <p:spPr>
            <a:xfrm>
              <a:off x="0" y="-19050"/>
              <a:ext cx="1950720" cy="457962"/>
            </a:xfrm>
            <a:prstGeom prst="rect">
              <a:avLst/>
            </a:prstGeom>
          </p:spPr>
          <p:txBody>
            <a:bodyPr lIns="50800" tIns="50800" rIns="50800" bIns="50800" rtlCol="0" anchor="ctr"/>
            <a:lstStyle/>
            <a:p>
              <a:pPr algn="ctr">
                <a:lnSpc>
                  <a:spcPts val="1320"/>
                </a:lnSpc>
              </a:pPr>
              <a:r>
                <a:rPr lang="en-US" sz="1100" b="1" spc="200">
                  <a:solidFill>
                    <a:srgbClr val="0A0A0A"/>
                  </a:solidFill>
                  <a:latin typeface="Arial Bold"/>
                  <a:ea typeface="Arial Bold"/>
                  <a:cs typeface="Arial Bold"/>
                  <a:sym typeface="Arial Bold"/>
                </a:rPr>
                <a:t>COMPLETE</a:t>
              </a:r>
            </a:p>
          </p:txBody>
        </p:sp>
      </p:grpSp>
      <p:grpSp>
        <p:nvGrpSpPr>
          <p:cNvPr id="12" name="Group 12"/>
          <p:cNvGrpSpPr/>
          <p:nvPr/>
        </p:nvGrpSpPr>
        <p:grpSpPr>
          <a:xfrm>
            <a:off x="4282183" y="2736847"/>
            <a:ext cx="3066793" cy="4493257"/>
            <a:chOff x="0" y="0"/>
            <a:chExt cx="4089057" cy="5991009"/>
          </a:xfrm>
        </p:grpSpPr>
        <p:sp>
          <p:nvSpPr>
            <p:cNvPr id="13" name="Freeform 13"/>
            <p:cNvSpPr/>
            <p:nvPr/>
          </p:nvSpPr>
          <p:spPr>
            <a:xfrm>
              <a:off x="0" y="0"/>
              <a:ext cx="4089019" cy="5990971"/>
            </a:xfrm>
            <a:custGeom>
              <a:avLst/>
              <a:gdLst/>
              <a:ahLst/>
              <a:cxnLst/>
              <a:rect l="l" t="t" r="r" b="b"/>
              <a:pathLst>
                <a:path w="4089019" h="5990971">
                  <a:moveTo>
                    <a:pt x="0" y="122428"/>
                  </a:moveTo>
                  <a:cubicBezTo>
                    <a:pt x="0" y="54864"/>
                    <a:pt x="54864" y="0"/>
                    <a:pt x="122428" y="0"/>
                  </a:cubicBezTo>
                  <a:lnTo>
                    <a:pt x="3966591" y="0"/>
                  </a:lnTo>
                  <a:cubicBezTo>
                    <a:pt x="4034155" y="0"/>
                    <a:pt x="4089019" y="54864"/>
                    <a:pt x="4089019" y="122428"/>
                  </a:cubicBezTo>
                  <a:lnTo>
                    <a:pt x="4089019" y="5868543"/>
                  </a:lnTo>
                  <a:cubicBezTo>
                    <a:pt x="4089019" y="5936107"/>
                    <a:pt x="4034155" y="5990971"/>
                    <a:pt x="3966591" y="5990971"/>
                  </a:cubicBezTo>
                  <a:lnTo>
                    <a:pt x="122428" y="5990971"/>
                  </a:lnTo>
                  <a:cubicBezTo>
                    <a:pt x="54864" y="5990971"/>
                    <a:pt x="0" y="5936107"/>
                    <a:pt x="0" y="5868543"/>
                  </a:cubicBezTo>
                  <a:close/>
                </a:path>
              </a:pathLst>
            </a:custGeom>
            <a:solidFill>
              <a:srgbClr val="FFDE59"/>
            </a:solidFill>
            <a:ln w="12700" cap="sq">
              <a:solidFill>
                <a:srgbClr val="FFDE59"/>
              </a:solidFill>
              <a:prstDash val="solid"/>
              <a:miter/>
            </a:ln>
          </p:spPr>
          <p:txBody>
            <a:bodyPr/>
            <a:lstStyle/>
            <a:p>
              <a:endParaRPr lang="en-US"/>
            </a:p>
          </p:txBody>
        </p:sp>
      </p:grpSp>
      <p:sp>
        <p:nvSpPr>
          <p:cNvPr id="14" name="TextBox 14"/>
          <p:cNvSpPr txBox="1"/>
          <p:nvPr/>
        </p:nvSpPr>
        <p:spPr>
          <a:xfrm>
            <a:off x="4608576" y="3070860"/>
            <a:ext cx="2414016" cy="358140"/>
          </a:xfrm>
          <a:prstGeom prst="rect">
            <a:avLst/>
          </a:prstGeom>
        </p:spPr>
        <p:txBody>
          <a:bodyPr lIns="0" tIns="0" rIns="0" bIns="0" rtlCol="0" anchor="t">
            <a:spAutoFit/>
          </a:bodyPr>
          <a:lstStyle/>
          <a:p>
            <a:pPr algn="l">
              <a:lnSpc>
                <a:spcPts val="1800"/>
              </a:lnSpc>
            </a:pPr>
            <a:r>
              <a:rPr lang="en-US" sz="1500" b="1">
                <a:solidFill>
                  <a:srgbClr val="0A0A0A"/>
                </a:solidFill>
                <a:latin typeface="Calibri (MS) Bold"/>
                <a:ea typeface="Calibri (MS) Bold"/>
                <a:cs typeface="Calibri (MS) Bold"/>
                <a:sym typeface="Calibri (MS) Bold"/>
              </a:rPr>
              <a:t>Phase 1</a:t>
            </a:r>
          </a:p>
        </p:txBody>
      </p:sp>
      <p:sp>
        <p:nvSpPr>
          <p:cNvPr id="15" name="TextBox 15"/>
          <p:cNvSpPr txBox="1"/>
          <p:nvPr/>
        </p:nvSpPr>
        <p:spPr>
          <a:xfrm>
            <a:off x="4608576" y="3602355"/>
            <a:ext cx="2414016" cy="320601"/>
          </a:xfrm>
          <a:prstGeom prst="rect">
            <a:avLst/>
          </a:prstGeom>
        </p:spPr>
        <p:txBody>
          <a:bodyPr lIns="0" tIns="0" rIns="0" bIns="0" rtlCol="0" anchor="t">
            <a:spAutoFit/>
          </a:bodyPr>
          <a:lstStyle/>
          <a:p>
            <a:pPr algn="l">
              <a:lnSpc>
                <a:spcPts val="2520"/>
              </a:lnSpc>
            </a:pPr>
            <a:r>
              <a:rPr lang="en-US" sz="2100" b="1" dirty="0">
                <a:solidFill>
                  <a:srgbClr val="0A0A0A"/>
                </a:solidFill>
                <a:latin typeface="Arial Bold"/>
                <a:ea typeface="Arial Bold"/>
                <a:cs typeface="Arial Bold"/>
                <a:sym typeface="Arial Bold"/>
              </a:rPr>
              <a:t>Refine &amp; Retest</a:t>
            </a:r>
          </a:p>
        </p:txBody>
      </p:sp>
      <p:sp>
        <p:nvSpPr>
          <p:cNvPr id="16" name="TextBox 16"/>
          <p:cNvSpPr txBox="1"/>
          <p:nvPr/>
        </p:nvSpPr>
        <p:spPr>
          <a:xfrm>
            <a:off x="4608576" y="4533900"/>
            <a:ext cx="2414016" cy="2141220"/>
          </a:xfrm>
          <a:prstGeom prst="rect">
            <a:avLst/>
          </a:prstGeom>
        </p:spPr>
        <p:txBody>
          <a:bodyPr lIns="0" tIns="0" rIns="0" bIns="0" rtlCol="0" anchor="t">
            <a:spAutoFit/>
          </a:bodyPr>
          <a:lstStyle/>
          <a:p>
            <a:pPr algn="l">
              <a:lnSpc>
                <a:spcPts val="1800"/>
              </a:lnSpc>
            </a:pPr>
            <a:r>
              <a:rPr lang="en-US" sz="1500">
                <a:solidFill>
                  <a:srgbClr val="0A0A0A"/>
                </a:solidFill>
                <a:latin typeface="Calibri (MS)"/>
                <a:ea typeface="Calibri (MS)"/>
                <a:cs typeface="Calibri (MS)"/>
                <a:sym typeface="Calibri (MS)"/>
              </a:rPr>
              <a:t>Fewer taps, clearer post type, first-use explainer. Retest with 7–10 people.</a:t>
            </a:r>
          </a:p>
        </p:txBody>
      </p:sp>
      <p:grpSp>
        <p:nvGrpSpPr>
          <p:cNvPr id="17" name="Group 17"/>
          <p:cNvGrpSpPr/>
          <p:nvPr/>
        </p:nvGrpSpPr>
        <p:grpSpPr>
          <a:xfrm>
            <a:off x="4608576" y="6583680"/>
            <a:ext cx="1463040" cy="329184"/>
            <a:chOff x="0" y="0"/>
            <a:chExt cx="1950720" cy="438912"/>
          </a:xfrm>
        </p:grpSpPr>
        <p:sp>
          <p:nvSpPr>
            <p:cNvPr id="18" name="Freeform 18"/>
            <p:cNvSpPr/>
            <p:nvPr/>
          </p:nvSpPr>
          <p:spPr>
            <a:xfrm>
              <a:off x="0" y="0"/>
              <a:ext cx="1950720" cy="438912"/>
            </a:xfrm>
            <a:custGeom>
              <a:avLst/>
              <a:gdLst/>
              <a:ahLst/>
              <a:cxnLst/>
              <a:rect l="l" t="t" r="r" b="b"/>
              <a:pathLst>
                <a:path w="1950720" h="438912">
                  <a:moveTo>
                    <a:pt x="0" y="0"/>
                  </a:moveTo>
                  <a:lnTo>
                    <a:pt x="1950720" y="0"/>
                  </a:lnTo>
                  <a:lnTo>
                    <a:pt x="1950720" y="438912"/>
                  </a:lnTo>
                  <a:lnTo>
                    <a:pt x="0" y="438912"/>
                  </a:lnTo>
                  <a:close/>
                </a:path>
              </a:pathLst>
            </a:custGeom>
            <a:solidFill>
              <a:srgbClr val="0A0A0A"/>
            </a:solidFill>
          </p:spPr>
          <p:txBody>
            <a:bodyPr/>
            <a:lstStyle/>
            <a:p>
              <a:endParaRPr lang="en-US"/>
            </a:p>
          </p:txBody>
        </p:sp>
        <p:sp>
          <p:nvSpPr>
            <p:cNvPr id="19" name="TextBox 19"/>
            <p:cNvSpPr txBox="1"/>
            <p:nvPr/>
          </p:nvSpPr>
          <p:spPr>
            <a:xfrm>
              <a:off x="0" y="-19050"/>
              <a:ext cx="1950720" cy="457962"/>
            </a:xfrm>
            <a:prstGeom prst="rect">
              <a:avLst/>
            </a:prstGeom>
          </p:spPr>
          <p:txBody>
            <a:bodyPr lIns="50800" tIns="50800" rIns="50800" bIns="50800" rtlCol="0" anchor="ctr"/>
            <a:lstStyle/>
            <a:p>
              <a:pPr algn="ctr">
                <a:lnSpc>
                  <a:spcPts val="1320"/>
                </a:lnSpc>
              </a:pPr>
              <a:r>
                <a:rPr lang="en-US" sz="1100" b="1" spc="200">
                  <a:solidFill>
                    <a:srgbClr val="FFDE59"/>
                  </a:solidFill>
                  <a:latin typeface="Arial Bold"/>
                  <a:ea typeface="Arial Bold"/>
                  <a:cs typeface="Arial Bold"/>
                  <a:sym typeface="Arial Bold"/>
                </a:rPr>
                <a:t>NEXT</a:t>
              </a:r>
            </a:p>
          </p:txBody>
        </p:sp>
      </p:grpSp>
      <p:grpSp>
        <p:nvGrpSpPr>
          <p:cNvPr id="20" name="Group 20"/>
          <p:cNvGrpSpPr/>
          <p:nvPr/>
        </p:nvGrpSpPr>
        <p:grpSpPr>
          <a:xfrm>
            <a:off x="7610599" y="2736847"/>
            <a:ext cx="3066793" cy="4493257"/>
            <a:chOff x="0" y="0"/>
            <a:chExt cx="4089057" cy="5991009"/>
          </a:xfrm>
        </p:grpSpPr>
        <p:sp>
          <p:nvSpPr>
            <p:cNvPr id="21" name="Freeform 21"/>
            <p:cNvSpPr/>
            <p:nvPr/>
          </p:nvSpPr>
          <p:spPr>
            <a:xfrm>
              <a:off x="0" y="0"/>
              <a:ext cx="4089019" cy="5990971"/>
            </a:xfrm>
            <a:custGeom>
              <a:avLst/>
              <a:gdLst/>
              <a:ahLst/>
              <a:cxnLst/>
              <a:rect l="l" t="t" r="r" b="b"/>
              <a:pathLst>
                <a:path w="4089019" h="5990971">
                  <a:moveTo>
                    <a:pt x="0" y="122428"/>
                  </a:moveTo>
                  <a:cubicBezTo>
                    <a:pt x="0" y="54864"/>
                    <a:pt x="54864" y="0"/>
                    <a:pt x="122428" y="0"/>
                  </a:cubicBezTo>
                  <a:lnTo>
                    <a:pt x="3966591" y="0"/>
                  </a:lnTo>
                  <a:cubicBezTo>
                    <a:pt x="4034155" y="0"/>
                    <a:pt x="4089019" y="54864"/>
                    <a:pt x="4089019" y="122428"/>
                  </a:cubicBezTo>
                  <a:lnTo>
                    <a:pt x="4089019" y="5868543"/>
                  </a:lnTo>
                  <a:cubicBezTo>
                    <a:pt x="4089019" y="5936107"/>
                    <a:pt x="4034155" y="5990971"/>
                    <a:pt x="3966591" y="5990971"/>
                  </a:cubicBezTo>
                  <a:lnTo>
                    <a:pt x="122428" y="5990971"/>
                  </a:lnTo>
                  <a:cubicBezTo>
                    <a:pt x="54864" y="5990971"/>
                    <a:pt x="0" y="5936107"/>
                    <a:pt x="0" y="5868543"/>
                  </a:cubicBezTo>
                  <a:close/>
                </a:path>
              </a:pathLst>
            </a:custGeom>
            <a:solidFill>
              <a:srgbClr val="FFFFFF"/>
            </a:solidFill>
            <a:ln w="12700" cap="sq">
              <a:solidFill>
                <a:srgbClr val="FFFFFF"/>
              </a:solidFill>
              <a:prstDash val="solid"/>
              <a:miter/>
            </a:ln>
          </p:spPr>
          <p:txBody>
            <a:bodyPr/>
            <a:lstStyle/>
            <a:p>
              <a:endParaRPr lang="en-US"/>
            </a:p>
          </p:txBody>
        </p:sp>
      </p:grpSp>
      <p:sp>
        <p:nvSpPr>
          <p:cNvPr id="22" name="TextBox 22"/>
          <p:cNvSpPr txBox="1"/>
          <p:nvPr/>
        </p:nvSpPr>
        <p:spPr>
          <a:xfrm>
            <a:off x="7936992" y="3070860"/>
            <a:ext cx="2414016" cy="358140"/>
          </a:xfrm>
          <a:prstGeom prst="rect">
            <a:avLst/>
          </a:prstGeom>
        </p:spPr>
        <p:txBody>
          <a:bodyPr lIns="0" tIns="0" rIns="0" bIns="0" rtlCol="0" anchor="t">
            <a:spAutoFit/>
          </a:bodyPr>
          <a:lstStyle/>
          <a:p>
            <a:pPr algn="l">
              <a:lnSpc>
                <a:spcPts val="1800"/>
              </a:lnSpc>
            </a:pPr>
            <a:r>
              <a:rPr lang="en-US" sz="1500" b="1">
                <a:solidFill>
                  <a:srgbClr val="3A3A3E"/>
                </a:solidFill>
                <a:latin typeface="Calibri (MS) Bold"/>
                <a:ea typeface="Calibri (MS) Bold"/>
                <a:cs typeface="Calibri (MS) Bold"/>
                <a:sym typeface="Calibri (MS) Bold"/>
              </a:rPr>
              <a:t>Phase 2</a:t>
            </a:r>
          </a:p>
        </p:txBody>
      </p:sp>
      <p:sp>
        <p:nvSpPr>
          <p:cNvPr id="23" name="TextBox 23"/>
          <p:cNvSpPr txBox="1"/>
          <p:nvPr/>
        </p:nvSpPr>
        <p:spPr>
          <a:xfrm>
            <a:off x="7936992" y="3602355"/>
            <a:ext cx="2414016" cy="832485"/>
          </a:xfrm>
          <a:prstGeom prst="rect">
            <a:avLst/>
          </a:prstGeom>
        </p:spPr>
        <p:txBody>
          <a:bodyPr lIns="0" tIns="0" rIns="0" bIns="0" rtlCol="0" anchor="t">
            <a:spAutoFit/>
          </a:bodyPr>
          <a:lstStyle/>
          <a:p>
            <a:pPr algn="l">
              <a:lnSpc>
                <a:spcPts val="2520"/>
              </a:lnSpc>
            </a:pPr>
            <a:r>
              <a:rPr lang="en-US" sz="2100" b="1">
                <a:solidFill>
                  <a:srgbClr val="0A0A0A"/>
                </a:solidFill>
                <a:latin typeface="Arial Bold"/>
                <a:ea typeface="Arial Bold"/>
                <a:cs typeface="Arial Bold"/>
                <a:sym typeface="Arial Bold"/>
              </a:rPr>
              <a:t>MVP</a:t>
            </a:r>
          </a:p>
        </p:txBody>
      </p:sp>
      <p:sp>
        <p:nvSpPr>
          <p:cNvPr id="24" name="TextBox 24"/>
          <p:cNvSpPr txBox="1"/>
          <p:nvPr/>
        </p:nvSpPr>
        <p:spPr>
          <a:xfrm>
            <a:off x="7936992" y="4533900"/>
            <a:ext cx="2414016" cy="2141220"/>
          </a:xfrm>
          <a:prstGeom prst="rect">
            <a:avLst/>
          </a:prstGeom>
        </p:spPr>
        <p:txBody>
          <a:bodyPr lIns="0" tIns="0" rIns="0" bIns="0" rtlCol="0" anchor="t">
            <a:spAutoFit/>
          </a:bodyPr>
          <a:lstStyle/>
          <a:p>
            <a:pPr algn="l">
              <a:lnSpc>
                <a:spcPts val="1800"/>
              </a:lnSpc>
            </a:pPr>
            <a:r>
              <a:rPr lang="en-US" sz="1500">
                <a:solidFill>
                  <a:srgbClr val="0A0A0A"/>
                </a:solidFill>
                <a:latin typeface="Calibri (MS)"/>
                <a:ea typeface="Calibri (MS)"/>
                <a:cs typeface="Calibri (MS)"/>
                <a:sym typeface="Calibri (MS)"/>
              </a:rPr>
              <a:t>1–2 boards, one friend-group cohort. Measure adoption and DAU/MAU lift.</a:t>
            </a:r>
          </a:p>
        </p:txBody>
      </p:sp>
      <p:grpSp>
        <p:nvGrpSpPr>
          <p:cNvPr id="25" name="Group 25"/>
          <p:cNvGrpSpPr/>
          <p:nvPr/>
        </p:nvGrpSpPr>
        <p:grpSpPr>
          <a:xfrm>
            <a:off x="10939015" y="2736847"/>
            <a:ext cx="3066793" cy="4493257"/>
            <a:chOff x="0" y="0"/>
            <a:chExt cx="4089057" cy="5991009"/>
          </a:xfrm>
        </p:grpSpPr>
        <p:sp>
          <p:nvSpPr>
            <p:cNvPr id="26" name="Freeform 26"/>
            <p:cNvSpPr/>
            <p:nvPr/>
          </p:nvSpPr>
          <p:spPr>
            <a:xfrm>
              <a:off x="0" y="0"/>
              <a:ext cx="4089019" cy="5990971"/>
            </a:xfrm>
            <a:custGeom>
              <a:avLst/>
              <a:gdLst/>
              <a:ahLst/>
              <a:cxnLst/>
              <a:rect l="l" t="t" r="r" b="b"/>
              <a:pathLst>
                <a:path w="4089019" h="5990971">
                  <a:moveTo>
                    <a:pt x="0" y="122428"/>
                  </a:moveTo>
                  <a:cubicBezTo>
                    <a:pt x="0" y="54864"/>
                    <a:pt x="54864" y="0"/>
                    <a:pt x="122428" y="0"/>
                  </a:cubicBezTo>
                  <a:lnTo>
                    <a:pt x="3966591" y="0"/>
                  </a:lnTo>
                  <a:cubicBezTo>
                    <a:pt x="4034155" y="0"/>
                    <a:pt x="4089019" y="54864"/>
                    <a:pt x="4089019" y="122428"/>
                  </a:cubicBezTo>
                  <a:lnTo>
                    <a:pt x="4089019" y="5868543"/>
                  </a:lnTo>
                  <a:cubicBezTo>
                    <a:pt x="4089019" y="5936107"/>
                    <a:pt x="4034155" y="5990971"/>
                    <a:pt x="3966591" y="5990971"/>
                  </a:cubicBezTo>
                  <a:lnTo>
                    <a:pt x="122428" y="5990971"/>
                  </a:lnTo>
                  <a:cubicBezTo>
                    <a:pt x="54864" y="5990971"/>
                    <a:pt x="0" y="5936107"/>
                    <a:pt x="0" y="5868543"/>
                  </a:cubicBezTo>
                  <a:close/>
                </a:path>
              </a:pathLst>
            </a:custGeom>
            <a:solidFill>
              <a:srgbClr val="FFFFFF"/>
            </a:solidFill>
            <a:ln w="12700" cap="sq">
              <a:solidFill>
                <a:srgbClr val="FFFFFF"/>
              </a:solidFill>
              <a:prstDash val="solid"/>
              <a:miter/>
            </a:ln>
          </p:spPr>
          <p:txBody>
            <a:bodyPr/>
            <a:lstStyle/>
            <a:p>
              <a:endParaRPr lang="en-US"/>
            </a:p>
          </p:txBody>
        </p:sp>
      </p:grpSp>
      <p:sp>
        <p:nvSpPr>
          <p:cNvPr id="27" name="TextBox 27"/>
          <p:cNvSpPr txBox="1"/>
          <p:nvPr/>
        </p:nvSpPr>
        <p:spPr>
          <a:xfrm>
            <a:off x="11265408" y="3070860"/>
            <a:ext cx="2414016" cy="358140"/>
          </a:xfrm>
          <a:prstGeom prst="rect">
            <a:avLst/>
          </a:prstGeom>
        </p:spPr>
        <p:txBody>
          <a:bodyPr lIns="0" tIns="0" rIns="0" bIns="0" rtlCol="0" anchor="t">
            <a:spAutoFit/>
          </a:bodyPr>
          <a:lstStyle/>
          <a:p>
            <a:pPr algn="l">
              <a:lnSpc>
                <a:spcPts val="1800"/>
              </a:lnSpc>
            </a:pPr>
            <a:r>
              <a:rPr lang="en-US" sz="1500" b="1">
                <a:solidFill>
                  <a:srgbClr val="3A3A3E"/>
                </a:solidFill>
                <a:latin typeface="Calibri (MS) Bold"/>
                <a:ea typeface="Calibri (MS) Bold"/>
                <a:cs typeface="Calibri (MS) Bold"/>
                <a:sym typeface="Calibri (MS) Bold"/>
              </a:rPr>
              <a:t>Phase 3</a:t>
            </a:r>
          </a:p>
        </p:txBody>
      </p:sp>
      <p:sp>
        <p:nvSpPr>
          <p:cNvPr id="28" name="TextBox 28"/>
          <p:cNvSpPr txBox="1"/>
          <p:nvPr/>
        </p:nvSpPr>
        <p:spPr>
          <a:xfrm>
            <a:off x="11265408" y="3602355"/>
            <a:ext cx="2414016" cy="320601"/>
          </a:xfrm>
          <a:prstGeom prst="rect">
            <a:avLst/>
          </a:prstGeom>
        </p:spPr>
        <p:txBody>
          <a:bodyPr lIns="0" tIns="0" rIns="0" bIns="0" rtlCol="0" anchor="t">
            <a:spAutoFit/>
          </a:bodyPr>
          <a:lstStyle/>
          <a:p>
            <a:pPr algn="l">
              <a:lnSpc>
                <a:spcPts val="2520"/>
              </a:lnSpc>
            </a:pPr>
            <a:r>
              <a:rPr lang="en-US" sz="2100" b="1" dirty="0">
                <a:solidFill>
                  <a:srgbClr val="0A0A0A"/>
                </a:solidFill>
                <a:latin typeface="Arial Bold"/>
                <a:ea typeface="Arial Bold"/>
                <a:cs typeface="Arial Bold"/>
                <a:sym typeface="Arial Bold"/>
              </a:rPr>
              <a:t>Full Rollout</a:t>
            </a:r>
          </a:p>
        </p:txBody>
      </p:sp>
      <p:sp>
        <p:nvSpPr>
          <p:cNvPr id="29" name="TextBox 29"/>
          <p:cNvSpPr txBox="1"/>
          <p:nvPr/>
        </p:nvSpPr>
        <p:spPr>
          <a:xfrm>
            <a:off x="11265408" y="4533900"/>
            <a:ext cx="2414016" cy="2141220"/>
          </a:xfrm>
          <a:prstGeom prst="rect">
            <a:avLst/>
          </a:prstGeom>
        </p:spPr>
        <p:txBody>
          <a:bodyPr lIns="0" tIns="0" rIns="0" bIns="0" rtlCol="0" anchor="t">
            <a:spAutoFit/>
          </a:bodyPr>
          <a:lstStyle/>
          <a:p>
            <a:pPr algn="l">
              <a:lnSpc>
                <a:spcPts val="1800"/>
              </a:lnSpc>
            </a:pPr>
            <a:r>
              <a:rPr lang="en-US" sz="1500">
                <a:solidFill>
                  <a:srgbClr val="0A0A0A"/>
                </a:solidFill>
                <a:latin typeface="Calibri (MS)"/>
                <a:ea typeface="Calibri (MS)"/>
                <a:cs typeface="Calibri (MS)"/>
                <a:sym typeface="Calibri (MS)"/>
              </a:rPr>
              <a:t>4–5 concurrent monthly boards. Passport and leaderboard shipped in full.</a:t>
            </a:r>
          </a:p>
        </p:txBody>
      </p:sp>
      <p:grpSp>
        <p:nvGrpSpPr>
          <p:cNvPr id="30" name="Group 30"/>
          <p:cNvGrpSpPr/>
          <p:nvPr/>
        </p:nvGrpSpPr>
        <p:grpSpPr>
          <a:xfrm>
            <a:off x="14267431" y="2736847"/>
            <a:ext cx="3066793" cy="4493257"/>
            <a:chOff x="0" y="0"/>
            <a:chExt cx="4089057" cy="5991009"/>
          </a:xfrm>
        </p:grpSpPr>
        <p:sp>
          <p:nvSpPr>
            <p:cNvPr id="31" name="Freeform 31"/>
            <p:cNvSpPr/>
            <p:nvPr/>
          </p:nvSpPr>
          <p:spPr>
            <a:xfrm>
              <a:off x="0" y="0"/>
              <a:ext cx="4089019" cy="5990971"/>
            </a:xfrm>
            <a:custGeom>
              <a:avLst/>
              <a:gdLst/>
              <a:ahLst/>
              <a:cxnLst/>
              <a:rect l="l" t="t" r="r" b="b"/>
              <a:pathLst>
                <a:path w="4089019" h="5990971">
                  <a:moveTo>
                    <a:pt x="0" y="122428"/>
                  </a:moveTo>
                  <a:cubicBezTo>
                    <a:pt x="0" y="54864"/>
                    <a:pt x="54864" y="0"/>
                    <a:pt x="122428" y="0"/>
                  </a:cubicBezTo>
                  <a:lnTo>
                    <a:pt x="3966591" y="0"/>
                  </a:lnTo>
                  <a:cubicBezTo>
                    <a:pt x="4034155" y="0"/>
                    <a:pt x="4089019" y="54864"/>
                    <a:pt x="4089019" y="122428"/>
                  </a:cubicBezTo>
                  <a:lnTo>
                    <a:pt x="4089019" y="5868543"/>
                  </a:lnTo>
                  <a:cubicBezTo>
                    <a:pt x="4089019" y="5936107"/>
                    <a:pt x="4034155" y="5990971"/>
                    <a:pt x="3966591" y="5990971"/>
                  </a:cubicBezTo>
                  <a:lnTo>
                    <a:pt x="122428" y="5990971"/>
                  </a:lnTo>
                  <a:cubicBezTo>
                    <a:pt x="54864" y="5990971"/>
                    <a:pt x="0" y="5936107"/>
                    <a:pt x="0" y="5868543"/>
                  </a:cubicBezTo>
                  <a:close/>
                </a:path>
              </a:pathLst>
            </a:custGeom>
            <a:solidFill>
              <a:srgbClr val="FFFFFF"/>
            </a:solidFill>
            <a:ln w="12700" cap="sq">
              <a:solidFill>
                <a:srgbClr val="FFFFFF"/>
              </a:solidFill>
              <a:prstDash val="solid"/>
              <a:miter/>
            </a:ln>
          </p:spPr>
          <p:txBody>
            <a:bodyPr/>
            <a:lstStyle/>
            <a:p>
              <a:endParaRPr lang="en-US"/>
            </a:p>
          </p:txBody>
        </p:sp>
      </p:grpSp>
      <p:sp>
        <p:nvSpPr>
          <p:cNvPr id="32" name="TextBox 32"/>
          <p:cNvSpPr txBox="1"/>
          <p:nvPr/>
        </p:nvSpPr>
        <p:spPr>
          <a:xfrm>
            <a:off x="14593824" y="3070860"/>
            <a:ext cx="2414016" cy="358140"/>
          </a:xfrm>
          <a:prstGeom prst="rect">
            <a:avLst/>
          </a:prstGeom>
        </p:spPr>
        <p:txBody>
          <a:bodyPr lIns="0" tIns="0" rIns="0" bIns="0" rtlCol="0" anchor="t">
            <a:spAutoFit/>
          </a:bodyPr>
          <a:lstStyle/>
          <a:p>
            <a:pPr algn="l">
              <a:lnSpc>
                <a:spcPts val="1800"/>
              </a:lnSpc>
            </a:pPr>
            <a:r>
              <a:rPr lang="en-US" sz="1500" b="1">
                <a:solidFill>
                  <a:srgbClr val="3A3A3E"/>
                </a:solidFill>
                <a:latin typeface="Calibri (MS) Bold"/>
                <a:ea typeface="Calibri (MS) Bold"/>
                <a:cs typeface="Calibri (MS) Bold"/>
                <a:sym typeface="Calibri (MS) Bold"/>
              </a:rPr>
              <a:t>Phase 4</a:t>
            </a:r>
          </a:p>
        </p:txBody>
      </p:sp>
      <p:sp>
        <p:nvSpPr>
          <p:cNvPr id="33" name="TextBox 33"/>
          <p:cNvSpPr txBox="1"/>
          <p:nvPr/>
        </p:nvSpPr>
        <p:spPr>
          <a:xfrm>
            <a:off x="14593824" y="3602355"/>
            <a:ext cx="2414016" cy="832485"/>
          </a:xfrm>
          <a:prstGeom prst="rect">
            <a:avLst/>
          </a:prstGeom>
        </p:spPr>
        <p:txBody>
          <a:bodyPr lIns="0" tIns="0" rIns="0" bIns="0" rtlCol="0" anchor="t">
            <a:spAutoFit/>
          </a:bodyPr>
          <a:lstStyle/>
          <a:p>
            <a:pPr algn="l">
              <a:lnSpc>
                <a:spcPts val="2520"/>
              </a:lnSpc>
            </a:pPr>
            <a:r>
              <a:rPr lang="en-US" sz="2100" b="1">
                <a:solidFill>
                  <a:srgbClr val="0A0A0A"/>
                </a:solidFill>
                <a:latin typeface="Arial Bold"/>
                <a:ea typeface="Arial Bold"/>
                <a:cs typeface="Arial Bold"/>
                <a:sym typeface="Arial Bold"/>
              </a:rPr>
              <a:t>Monetization (pilot)</a:t>
            </a:r>
          </a:p>
        </p:txBody>
      </p:sp>
      <p:sp>
        <p:nvSpPr>
          <p:cNvPr id="34" name="TextBox 34"/>
          <p:cNvSpPr txBox="1"/>
          <p:nvPr/>
        </p:nvSpPr>
        <p:spPr>
          <a:xfrm>
            <a:off x="14593824" y="4533900"/>
            <a:ext cx="2414016" cy="2141220"/>
          </a:xfrm>
          <a:prstGeom prst="rect">
            <a:avLst/>
          </a:prstGeom>
        </p:spPr>
        <p:txBody>
          <a:bodyPr lIns="0" tIns="0" rIns="0" bIns="0" rtlCol="0" anchor="t">
            <a:spAutoFit/>
          </a:bodyPr>
          <a:lstStyle/>
          <a:p>
            <a:pPr algn="l">
              <a:lnSpc>
                <a:spcPts val="1800"/>
              </a:lnSpc>
            </a:pPr>
            <a:r>
              <a:rPr lang="en-US" sz="1500">
                <a:solidFill>
                  <a:srgbClr val="0A0A0A"/>
                </a:solidFill>
                <a:latin typeface="Calibri (MS)"/>
                <a:ea typeface="Calibri (MS)"/>
                <a:cs typeface="Calibri (MS)"/>
                <a:sym typeface="Calibri (MS)"/>
              </a:rPr>
              <a:t>Explore sponsor-branded boards, subject to brand-safety review.</a:t>
            </a:r>
          </a:p>
        </p:txBody>
      </p:sp>
      <p:grpSp>
        <p:nvGrpSpPr>
          <p:cNvPr id="35" name="Group 35"/>
          <p:cNvGrpSpPr/>
          <p:nvPr/>
        </p:nvGrpSpPr>
        <p:grpSpPr>
          <a:xfrm>
            <a:off x="953767" y="7583167"/>
            <a:ext cx="16380457" cy="1384297"/>
            <a:chOff x="0" y="0"/>
            <a:chExt cx="21840609" cy="1845729"/>
          </a:xfrm>
        </p:grpSpPr>
        <p:sp>
          <p:nvSpPr>
            <p:cNvPr id="36" name="Freeform 36"/>
            <p:cNvSpPr/>
            <p:nvPr/>
          </p:nvSpPr>
          <p:spPr>
            <a:xfrm>
              <a:off x="0" y="0"/>
              <a:ext cx="21840571" cy="1845691"/>
            </a:xfrm>
            <a:custGeom>
              <a:avLst/>
              <a:gdLst/>
              <a:ahLst/>
              <a:cxnLst/>
              <a:rect l="l" t="t" r="r" b="b"/>
              <a:pathLst>
                <a:path w="21840571" h="1845691">
                  <a:moveTo>
                    <a:pt x="0" y="123063"/>
                  </a:moveTo>
                  <a:cubicBezTo>
                    <a:pt x="0" y="55118"/>
                    <a:pt x="55118" y="0"/>
                    <a:pt x="123063" y="0"/>
                  </a:cubicBezTo>
                  <a:lnTo>
                    <a:pt x="21717508" y="0"/>
                  </a:lnTo>
                  <a:cubicBezTo>
                    <a:pt x="21785453" y="0"/>
                    <a:pt x="21840571" y="55118"/>
                    <a:pt x="21840571" y="123063"/>
                  </a:cubicBezTo>
                  <a:lnTo>
                    <a:pt x="21840571" y="1722628"/>
                  </a:lnTo>
                  <a:cubicBezTo>
                    <a:pt x="21840571" y="1790573"/>
                    <a:pt x="21785453" y="1845691"/>
                    <a:pt x="21717508" y="1845691"/>
                  </a:cubicBezTo>
                  <a:lnTo>
                    <a:pt x="123063" y="1845691"/>
                  </a:lnTo>
                  <a:cubicBezTo>
                    <a:pt x="55118" y="1845691"/>
                    <a:pt x="0" y="1790700"/>
                    <a:pt x="0" y="1722628"/>
                  </a:cubicBezTo>
                  <a:close/>
                </a:path>
              </a:pathLst>
            </a:custGeom>
            <a:solidFill>
              <a:srgbClr val="222222"/>
            </a:solidFill>
            <a:ln w="12700" cap="sq">
              <a:solidFill>
                <a:srgbClr val="222222"/>
              </a:solidFill>
              <a:prstDash val="solid"/>
              <a:miter/>
            </a:ln>
          </p:spPr>
          <p:txBody>
            <a:bodyPr/>
            <a:lstStyle/>
            <a:p>
              <a:endParaRPr lang="en-US"/>
            </a:p>
          </p:txBody>
        </p:sp>
      </p:grpSp>
      <p:sp>
        <p:nvSpPr>
          <p:cNvPr id="37" name="TextBox 37"/>
          <p:cNvSpPr txBox="1"/>
          <p:nvPr/>
        </p:nvSpPr>
        <p:spPr>
          <a:xfrm>
            <a:off x="1325880" y="7780020"/>
            <a:ext cx="15636240" cy="487313"/>
          </a:xfrm>
          <a:prstGeom prst="rect">
            <a:avLst/>
          </a:prstGeom>
        </p:spPr>
        <p:txBody>
          <a:bodyPr lIns="0" tIns="0" rIns="0" bIns="0" rtlCol="0" anchor="t">
            <a:spAutoFit/>
          </a:bodyPr>
          <a:lstStyle/>
          <a:p>
            <a:pPr algn="l">
              <a:lnSpc>
                <a:spcPts val="1800"/>
              </a:lnSpc>
            </a:pPr>
            <a:r>
              <a:rPr lang="en-US" sz="1500" b="1" dirty="0">
                <a:solidFill>
                  <a:srgbClr val="FFDE59"/>
                </a:solidFill>
                <a:latin typeface="Calibri (MS) Bold"/>
                <a:ea typeface="Calibri (MS) Bold"/>
                <a:cs typeface="Calibri (MS) Bold"/>
                <a:sym typeface="Calibri (MS) Bold"/>
              </a:rPr>
              <a:t>Decision Needed</a:t>
            </a:r>
          </a:p>
          <a:p>
            <a:pPr algn="l">
              <a:lnSpc>
                <a:spcPts val="2040"/>
              </a:lnSpc>
            </a:pPr>
            <a:r>
              <a:rPr lang="en-US" sz="1700" dirty="0">
                <a:solidFill>
                  <a:srgbClr val="FFFFFF"/>
                </a:solidFill>
                <a:latin typeface="Calibri (MS)"/>
                <a:ea typeface="Calibri (MS)"/>
                <a:cs typeface="Calibri (MS)"/>
                <a:sym typeface="Calibri (MS)"/>
              </a:rPr>
              <a:t>Approve a short refine-and-retest sprint, then a limited MVP with one friend-group cohort and one board to validate the MAU hypothesis before further engineering investment.</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2" name="TextBox 2"/>
          <p:cNvSpPr txBox="1"/>
          <p:nvPr/>
        </p:nvSpPr>
        <p:spPr>
          <a:xfrm>
            <a:off x="960120" y="666750"/>
            <a:ext cx="16367760" cy="285750"/>
          </a:xfrm>
          <a:prstGeom prst="rect">
            <a:avLst/>
          </a:prstGeom>
        </p:spPr>
        <p:txBody>
          <a:bodyPr lIns="0" tIns="0" rIns="0" bIns="0" rtlCol="0" anchor="t">
            <a:spAutoFit/>
          </a:bodyPr>
          <a:lstStyle/>
          <a:p>
            <a:pPr algn="l">
              <a:lnSpc>
                <a:spcPts val="2159"/>
              </a:lnSpc>
            </a:pPr>
            <a:r>
              <a:rPr lang="en-US" sz="1799" b="1" spc="830">
                <a:solidFill>
                  <a:srgbClr val="93A9CF"/>
                </a:solidFill>
                <a:latin typeface="Arial Bold"/>
                <a:ea typeface="Arial Bold"/>
                <a:cs typeface="Arial Bold"/>
                <a:sym typeface="Arial Bold"/>
              </a:rPr>
              <a:t>SUCCESS METRICS &amp; PRIORITIZATION</a:t>
            </a:r>
          </a:p>
        </p:txBody>
      </p:sp>
      <p:sp>
        <p:nvSpPr>
          <p:cNvPr id="3" name="TextBox 3"/>
          <p:cNvSpPr txBox="1"/>
          <p:nvPr/>
        </p:nvSpPr>
        <p:spPr>
          <a:xfrm>
            <a:off x="960120" y="1169670"/>
            <a:ext cx="16367760" cy="638188"/>
          </a:xfrm>
          <a:prstGeom prst="rect">
            <a:avLst/>
          </a:prstGeom>
        </p:spPr>
        <p:txBody>
          <a:bodyPr lIns="0" tIns="0" rIns="0" bIns="0" rtlCol="0" anchor="t">
            <a:spAutoFit/>
          </a:bodyPr>
          <a:lstStyle/>
          <a:p>
            <a:pPr algn="l">
              <a:lnSpc>
                <a:spcPts val="5280"/>
              </a:lnSpc>
            </a:pPr>
            <a:r>
              <a:rPr lang="en-US" sz="4400" b="1" dirty="0">
                <a:solidFill>
                  <a:srgbClr val="FFFFFF"/>
                </a:solidFill>
                <a:latin typeface="Arial Bold"/>
                <a:ea typeface="Arial Bold"/>
                <a:cs typeface="Arial Bold"/>
                <a:sym typeface="Arial Bold"/>
              </a:rPr>
              <a:t>What We’ll Watch, and Why This Ranks High</a:t>
            </a:r>
          </a:p>
        </p:txBody>
      </p:sp>
      <p:sp>
        <p:nvSpPr>
          <p:cNvPr id="4" name="TextBox 4"/>
          <p:cNvSpPr txBox="1"/>
          <p:nvPr/>
        </p:nvSpPr>
        <p:spPr>
          <a:xfrm>
            <a:off x="960120" y="2733675"/>
            <a:ext cx="7315200" cy="348942"/>
          </a:xfrm>
          <a:prstGeom prst="rect">
            <a:avLst/>
          </a:prstGeom>
        </p:spPr>
        <p:txBody>
          <a:bodyPr lIns="0" tIns="0" rIns="0" bIns="0" rtlCol="0" anchor="t">
            <a:spAutoFit/>
          </a:bodyPr>
          <a:lstStyle/>
          <a:p>
            <a:pPr algn="l">
              <a:lnSpc>
                <a:spcPts val="2879"/>
              </a:lnSpc>
            </a:pPr>
            <a:r>
              <a:rPr lang="en-US" sz="2400" b="1" dirty="0">
                <a:solidFill>
                  <a:srgbClr val="FFDE59"/>
                </a:solidFill>
                <a:latin typeface="Arial Bold"/>
                <a:ea typeface="Arial Bold"/>
                <a:cs typeface="Arial Bold"/>
                <a:sym typeface="Arial Bold"/>
              </a:rPr>
              <a:t>Success Metrics</a:t>
            </a:r>
          </a:p>
        </p:txBody>
      </p:sp>
      <p:sp>
        <p:nvSpPr>
          <p:cNvPr id="5" name="TextBox 5"/>
          <p:cNvSpPr txBox="1"/>
          <p:nvPr/>
        </p:nvSpPr>
        <p:spPr>
          <a:xfrm>
            <a:off x="960120" y="3390900"/>
            <a:ext cx="7498080" cy="3329940"/>
          </a:xfrm>
          <a:prstGeom prst="rect">
            <a:avLst/>
          </a:prstGeom>
        </p:spPr>
        <p:txBody>
          <a:bodyPr lIns="0" tIns="0" rIns="0" bIns="0" rtlCol="0" anchor="t">
            <a:spAutoFit/>
          </a:bodyPr>
          <a:lstStyle/>
          <a:p>
            <a:pPr marL="217170" lvl="1" indent="-108585" algn="l">
              <a:lnSpc>
                <a:spcPts val="2160"/>
              </a:lnSpc>
              <a:buFont typeface="Arial"/>
              <a:buChar char="•"/>
            </a:pPr>
            <a:r>
              <a:rPr lang="en-US" sz="1800">
                <a:solidFill>
                  <a:srgbClr val="FFFFFF"/>
                </a:solidFill>
                <a:latin typeface="Calibri (MS)"/>
                <a:ea typeface="Calibri (MS)"/>
                <a:cs typeface="Calibri (MS)"/>
                <a:sym typeface="Calibri (MS)"/>
              </a:rPr>
              <a:t>DAU / MAU ratio (stickiness)</a:t>
            </a:r>
          </a:p>
          <a:p>
            <a:pPr marL="217170" lvl="1" indent="-108585" algn="l">
              <a:lnSpc>
                <a:spcPts val="2160"/>
              </a:lnSpc>
              <a:buFont typeface="Arial"/>
              <a:buChar char="•"/>
            </a:pPr>
            <a:r>
              <a:rPr lang="en-US" sz="1800">
                <a:solidFill>
                  <a:srgbClr val="FFFFFF"/>
                </a:solidFill>
                <a:latin typeface="Calibri (MS)"/>
                <a:ea typeface="Calibri (MS)"/>
                <a:cs typeface="Calibri (MS)"/>
                <a:sym typeface="Calibri (MS)"/>
              </a:rPr>
              <a:t>Daily open rate</a:t>
            </a:r>
          </a:p>
          <a:p>
            <a:pPr marL="217170" lvl="1" indent="-108585" algn="l">
              <a:lnSpc>
                <a:spcPts val="2160"/>
              </a:lnSpc>
              <a:buFont typeface="Arial"/>
              <a:buChar char="•"/>
            </a:pPr>
            <a:r>
              <a:rPr lang="en-US" sz="1800">
                <a:solidFill>
                  <a:srgbClr val="FFFFFF"/>
                </a:solidFill>
                <a:latin typeface="Calibri (MS)"/>
                <a:ea typeface="Calibri (MS)"/>
                <a:cs typeface="Calibri (MS)"/>
                <a:sym typeface="Calibri (MS)"/>
              </a:rPr>
              <a:t>D7 and D30 retention</a:t>
            </a:r>
          </a:p>
          <a:p>
            <a:pPr marL="217170" lvl="1" indent="-108585" algn="l">
              <a:lnSpc>
                <a:spcPts val="2160"/>
              </a:lnSpc>
              <a:buFont typeface="Arial"/>
              <a:buChar char="•"/>
            </a:pPr>
            <a:r>
              <a:rPr lang="en-US" sz="1800">
                <a:solidFill>
                  <a:srgbClr val="FFFFFF"/>
                </a:solidFill>
                <a:latin typeface="Calibri (MS)"/>
                <a:ea typeface="Calibri (MS)"/>
                <a:cs typeface="Calibri (MS)"/>
                <a:sym typeface="Calibri (MS)"/>
              </a:rPr>
              <a:t>% of posts tagged to a board</a:t>
            </a:r>
          </a:p>
          <a:p>
            <a:pPr marL="217170" lvl="1" indent="-108585" algn="l">
              <a:lnSpc>
                <a:spcPts val="2160"/>
              </a:lnSpc>
              <a:buFont typeface="Arial"/>
              <a:buChar char="•"/>
            </a:pPr>
            <a:r>
              <a:rPr lang="en-US" sz="1800">
                <a:solidFill>
                  <a:srgbClr val="FFFFFF"/>
                </a:solidFill>
                <a:latin typeface="Calibri (MS)"/>
                <a:ea typeface="Calibri (MS)"/>
                <a:cs typeface="Calibri (MS)"/>
                <a:sym typeface="Calibri (MS)"/>
              </a:rPr>
              <a:t>Passport / leaderboard visits</a:t>
            </a:r>
          </a:p>
          <a:p>
            <a:pPr marL="217170" lvl="1" indent="-108585" algn="l">
              <a:lnSpc>
                <a:spcPts val="2160"/>
              </a:lnSpc>
              <a:buFont typeface="Arial"/>
              <a:buChar char="•"/>
            </a:pPr>
            <a:r>
              <a:rPr lang="en-US" sz="1800" b="1">
                <a:solidFill>
                  <a:srgbClr val="FFFFFF"/>
                </a:solidFill>
                <a:latin typeface="Calibri (MS) Bold"/>
                <a:ea typeface="Calibri (MS) Bold"/>
                <a:cs typeface="Calibri (MS) Bold"/>
                <a:sym typeface="Calibri (MS) Bold"/>
              </a:rPr>
              <a:t>Taps and time from capture to stamped post (new, from testing)</a:t>
            </a:r>
          </a:p>
        </p:txBody>
      </p:sp>
      <p:grpSp>
        <p:nvGrpSpPr>
          <p:cNvPr id="6" name="Group 6"/>
          <p:cNvGrpSpPr/>
          <p:nvPr/>
        </p:nvGrpSpPr>
        <p:grpSpPr>
          <a:xfrm>
            <a:off x="953767" y="6394447"/>
            <a:ext cx="7510777" cy="1750057"/>
            <a:chOff x="0" y="0"/>
            <a:chExt cx="10014369" cy="2333409"/>
          </a:xfrm>
        </p:grpSpPr>
        <p:sp>
          <p:nvSpPr>
            <p:cNvPr id="7" name="Freeform 7"/>
            <p:cNvSpPr/>
            <p:nvPr/>
          </p:nvSpPr>
          <p:spPr>
            <a:xfrm>
              <a:off x="0" y="0"/>
              <a:ext cx="10014331" cy="2333371"/>
            </a:xfrm>
            <a:custGeom>
              <a:avLst/>
              <a:gdLst/>
              <a:ahLst/>
              <a:cxnLst/>
              <a:rect l="l" t="t" r="r" b="b"/>
              <a:pathLst>
                <a:path w="10014331" h="2333371">
                  <a:moveTo>
                    <a:pt x="0" y="147320"/>
                  </a:moveTo>
                  <a:cubicBezTo>
                    <a:pt x="0" y="66040"/>
                    <a:pt x="66040" y="0"/>
                    <a:pt x="147320" y="0"/>
                  </a:cubicBezTo>
                  <a:lnTo>
                    <a:pt x="9867011" y="0"/>
                  </a:lnTo>
                  <a:cubicBezTo>
                    <a:pt x="9948418" y="0"/>
                    <a:pt x="10014331" y="66040"/>
                    <a:pt x="10014331" y="147320"/>
                  </a:cubicBezTo>
                  <a:lnTo>
                    <a:pt x="10014331" y="2186051"/>
                  </a:lnTo>
                  <a:cubicBezTo>
                    <a:pt x="10014331" y="2267458"/>
                    <a:pt x="9948291" y="2333371"/>
                    <a:pt x="9867011" y="2333371"/>
                  </a:cubicBezTo>
                  <a:lnTo>
                    <a:pt x="147320" y="2333371"/>
                  </a:lnTo>
                  <a:cubicBezTo>
                    <a:pt x="65913" y="2333371"/>
                    <a:pt x="0" y="2267331"/>
                    <a:pt x="0" y="2186051"/>
                  </a:cubicBezTo>
                  <a:close/>
                </a:path>
              </a:pathLst>
            </a:custGeom>
            <a:solidFill>
              <a:srgbClr val="222222"/>
            </a:solidFill>
            <a:ln w="12700" cap="sq">
              <a:solidFill>
                <a:srgbClr val="222222"/>
              </a:solidFill>
              <a:prstDash val="solid"/>
              <a:miter/>
            </a:ln>
          </p:spPr>
          <p:txBody>
            <a:bodyPr/>
            <a:lstStyle/>
            <a:p>
              <a:endParaRPr lang="en-US"/>
            </a:p>
          </p:txBody>
        </p:sp>
      </p:grpSp>
      <p:sp>
        <p:nvSpPr>
          <p:cNvPr id="8" name="TextBox 8"/>
          <p:cNvSpPr txBox="1"/>
          <p:nvPr/>
        </p:nvSpPr>
        <p:spPr>
          <a:xfrm>
            <a:off x="1325880" y="6637020"/>
            <a:ext cx="6766560" cy="743793"/>
          </a:xfrm>
          <a:prstGeom prst="rect">
            <a:avLst/>
          </a:prstGeom>
        </p:spPr>
        <p:txBody>
          <a:bodyPr lIns="0" tIns="0" rIns="0" bIns="0" rtlCol="0" anchor="t">
            <a:spAutoFit/>
          </a:bodyPr>
          <a:lstStyle/>
          <a:p>
            <a:pPr algn="l">
              <a:lnSpc>
                <a:spcPts val="1800"/>
              </a:lnSpc>
            </a:pPr>
            <a:r>
              <a:rPr lang="en-US" sz="1500" b="1" dirty="0">
                <a:solidFill>
                  <a:srgbClr val="FFDE59"/>
                </a:solidFill>
                <a:latin typeface="Calibri (MS) Bold"/>
                <a:ea typeface="Calibri (MS) Bold"/>
                <a:cs typeface="Calibri (MS) Bold"/>
                <a:sym typeface="Calibri (MS) Bold"/>
              </a:rPr>
              <a:t>Early Signal From Testing</a:t>
            </a:r>
          </a:p>
          <a:p>
            <a:pPr algn="l">
              <a:lnSpc>
                <a:spcPts val="2040"/>
              </a:lnSpc>
            </a:pPr>
            <a:r>
              <a:rPr lang="en-US" sz="1700" dirty="0">
                <a:solidFill>
                  <a:srgbClr val="FFFFFF"/>
                </a:solidFill>
                <a:latin typeface="Calibri (MS)"/>
                <a:ea typeface="Calibri (MS)"/>
                <a:cs typeface="Calibri (MS)"/>
                <a:sym typeface="Calibri (MS)"/>
              </a:rPr>
              <a:t>4 of 5 testers would open BeReal more often. The strongest pull was among occasional users.</a:t>
            </a:r>
          </a:p>
        </p:txBody>
      </p:sp>
      <p:sp>
        <p:nvSpPr>
          <p:cNvPr id="9" name="TextBox 9"/>
          <p:cNvSpPr txBox="1"/>
          <p:nvPr/>
        </p:nvSpPr>
        <p:spPr>
          <a:xfrm>
            <a:off x="9692640" y="2733675"/>
            <a:ext cx="7635240" cy="348942"/>
          </a:xfrm>
          <a:prstGeom prst="rect">
            <a:avLst/>
          </a:prstGeom>
        </p:spPr>
        <p:txBody>
          <a:bodyPr lIns="0" tIns="0" rIns="0" bIns="0" rtlCol="0" anchor="t">
            <a:spAutoFit/>
          </a:bodyPr>
          <a:lstStyle/>
          <a:p>
            <a:pPr algn="l">
              <a:lnSpc>
                <a:spcPts val="2879"/>
              </a:lnSpc>
            </a:pPr>
            <a:r>
              <a:rPr lang="en-US" sz="2400" b="1" dirty="0">
                <a:solidFill>
                  <a:srgbClr val="FFDE59"/>
                </a:solidFill>
                <a:latin typeface="Arial Bold"/>
                <a:ea typeface="Arial Bold"/>
                <a:cs typeface="Arial Bold"/>
                <a:sym typeface="Arial Bold"/>
              </a:rPr>
              <a:t>RICE Snapshot (indicative)</a:t>
            </a:r>
          </a:p>
        </p:txBody>
      </p:sp>
      <p:grpSp>
        <p:nvGrpSpPr>
          <p:cNvPr id="10" name="Group 10"/>
          <p:cNvGrpSpPr/>
          <p:nvPr/>
        </p:nvGrpSpPr>
        <p:grpSpPr>
          <a:xfrm>
            <a:off x="9686287" y="3468367"/>
            <a:ext cx="7647937" cy="835657"/>
            <a:chOff x="0" y="0"/>
            <a:chExt cx="10197249" cy="1114209"/>
          </a:xfrm>
        </p:grpSpPr>
        <p:sp>
          <p:nvSpPr>
            <p:cNvPr id="11" name="Freeform 11"/>
            <p:cNvSpPr/>
            <p:nvPr/>
          </p:nvSpPr>
          <p:spPr>
            <a:xfrm>
              <a:off x="0" y="0"/>
              <a:ext cx="10197211" cy="1114171"/>
            </a:xfrm>
            <a:custGeom>
              <a:avLst/>
              <a:gdLst/>
              <a:ahLst/>
              <a:cxnLst/>
              <a:rect l="l" t="t" r="r" b="b"/>
              <a:pathLst>
                <a:path w="10197211" h="1114171">
                  <a:moveTo>
                    <a:pt x="0" y="99060"/>
                  </a:moveTo>
                  <a:cubicBezTo>
                    <a:pt x="0" y="44323"/>
                    <a:pt x="44323" y="0"/>
                    <a:pt x="99060" y="0"/>
                  </a:cubicBezTo>
                  <a:lnTo>
                    <a:pt x="10098151" y="0"/>
                  </a:lnTo>
                  <a:cubicBezTo>
                    <a:pt x="10152888" y="0"/>
                    <a:pt x="10197211" y="44323"/>
                    <a:pt x="10197211" y="99060"/>
                  </a:cubicBezTo>
                  <a:lnTo>
                    <a:pt x="10197211" y="1015111"/>
                  </a:lnTo>
                  <a:cubicBezTo>
                    <a:pt x="10197211" y="1069848"/>
                    <a:pt x="10152888" y="1114171"/>
                    <a:pt x="10098151" y="1114171"/>
                  </a:cubicBezTo>
                  <a:lnTo>
                    <a:pt x="99060" y="1114171"/>
                  </a:lnTo>
                  <a:cubicBezTo>
                    <a:pt x="44323" y="1114171"/>
                    <a:pt x="0" y="1069848"/>
                    <a:pt x="0" y="1015111"/>
                  </a:cubicBezTo>
                  <a:close/>
                </a:path>
              </a:pathLst>
            </a:custGeom>
            <a:solidFill>
              <a:srgbClr val="222222"/>
            </a:solidFill>
            <a:ln w="12700" cap="sq">
              <a:solidFill>
                <a:srgbClr val="222222"/>
              </a:solidFill>
              <a:prstDash val="solid"/>
              <a:miter/>
            </a:ln>
          </p:spPr>
          <p:txBody>
            <a:bodyPr/>
            <a:lstStyle/>
            <a:p>
              <a:endParaRPr lang="en-US"/>
            </a:p>
          </p:txBody>
        </p:sp>
      </p:grpSp>
      <p:grpSp>
        <p:nvGrpSpPr>
          <p:cNvPr id="12" name="Group 12"/>
          <p:cNvGrpSpPr/>
          <p:nvPr/>
        </p:nvGrpSpPr>
        <p:grpSpPr>
          <a:xfrm>
            <a:off x="10012680" y="3474720"/>
            <a:ext cx="2743200" cy="822960"/>
            <a:chOff x="0" y="0"/>
            <a:chExt cx="3657600" cy="1097280"/>
          </a:xfrm>
        </p:grpSpPr>
        <p:sp>
          <p:nvSpPr>
            <p:cNvPr id="13" name="Freeform 13"/>
            <p:cNvSpPr/>
            <p:nvPr/>
          </p:nvSpPr>
          <p:spPr>
            <a:xfrm>
              <a:off x="0" y="0"/>
              <a:ext cx="3657600" cy="1097280"/>
            </a:xfrm>
            <a:custGeom>
              <a:avLst/>
              <a:gdLst/>
              <a:ahLst/>
              <a:cxnLst/>
              <a:rect l="l" t="t" r="r" b="b"/>
              <a:pathLst>
                <a:path w="3657600" h="1097280">
                  <a:moveTo>
                    <a:pt x="0" y="0"/>
                  </a:moveTo>
                  <a:lnTo>
                    <a:pt x="3657600" y="0"/>
                  </a:lnTo>
                  <a:lnTo>
                    <a:pt x="3657600" y="1097280"/>
                  </a:lnTo>
                  <a:lnTo>
                    <a:pt x="0" y="1097280"/>
                  </a:lnTo>
                  <a:close/>
                </a:path>
              </a:pathLst>
            </a:custGeom>
            <a:blipFill>
              <a:blip r:embed="rId3">
                <a:alphaModFix amt="0"/>
              </a:blip>
              <a:stretch>
                <a:fillRect t="-14950" b="-14950"/>
              </a:stretch>
            </a:blipFill>
          </p:spPr>
          <p:txBody>
            <a:bodyPr/>
            <a:lstStyle/>
            <a:p>
              <a:endParaRPr lang="en-US"/>
            </a:p>
          </p:txBody>
        </p:sp>
        <p:sp>
          <p:nvSpPr>
            <p:cNvPr id="14" name="TextBox 14"/>
            <p:cNvSpPr txBox="1"/>
            <p:nvPr/>
          </p:nvSpPr>
          <p:spPr>
            <a:xfrm>
              <a:off x="0" y="-38100"/>
              <a:ext cx="3657600" cy="1135380"/>
            </a:xfrm>
            <a:prstGeom prst="rect">
              <a:avLst/>
            </a:prstGeom>
          </p:spPr>
          <p:txBody>
            <a:bodyPr lIns="0" tIns="0" rIns="0" bIns="0" rtlCol="0" anchor="ctr"/>
            <a:lstStyle/>
            <a:p>
              <a:pPr algn="l">
                <a:lnSpc>
                  <a:spcPts val="2279"/>
                </a:lnSpc>
              </a:pPr>
              <a:r>
                <a:rPr lang="en-US" sz="1899">
                  <a:solidFill>
                    <a:srgbClr val="FFFFFF"/>
                  </a:solidFill>
                  <a:latin typeface="Calibri (MS)"/>
                  <a:ea typeface="Calibri (MS)"/>
                  <a:cs typeface="Calibri (MS)"/>
                  <a:sym typeface="Calibri (MS)"/>
                </a:rPr>
                <a:t>Reach</a:t>
              </a:r>
            </a:p>
          </p:txBody>
        </p:sp>
      </p:grpSp>
      <p:grpSp>
        <p:nvGrpSpPr>
          <p:cNvPr id="15" name="Group 15"/>
          <p:cNvGrpSpPr/>
          <p:nvPr/>
        </p:nvGrpSpPr>
        <p:grpSpPr>
          <a:xfrm>
            <a:off x="12435840" y="3474720"/>
            <a:ext cx="4572000" cy="822960"/>
            <a:chOff x="0" y="0"/>
            <a:chExt cx="6096000" cy="1097280"/>
          </a:xfrm>
        </p:grpSpPr>
        <p:sp>
          <p:nvSpPr>
            <p:cNvPr id="16" name="Freeform 16"/>
            <p:cNvSpPr/>
            <p:nvPr/>
          </p:nvSpPr>
          <p:spPr>
            <a:xfrm>
              <a:off x="0" y="0"/>
              <a:ext cx="6096000" cy="1097280"/>
            </a:xfrm>
            <a:custGeom>
              <a:avLst/>
              <a:gdLst/>
              <a:ahLst/>
              <a:cxnLst/>
              <a:rect l="l" t="t" r="r" b="b"/>
              <a:pathLst>
                <a:path w="6096000" h="1097280">
                  <a:moveTo>
                    <a:pt x="0" y="0"/>
                  </a:moveTo>
                  <a:lnTo>
                    <a:pt x="6096000" y="0"/>
                  </a:lnTo>
                  <a:lnTo>
                    <a:pt x="6096000" y="1097280"/>
                  </a:lnTo>
                  <a:lnTo>
                    <a:pt x="0" y="1097280"/>
                  </a:lnTo>
                  <a:close/>
                </a:path>
              </a:pathLst>
            </a:custGeom>
            <a:blipFill>
              <a:blip r:embed="rId3">
                <a:alphaModFix amt="0"/>
              </a:blip>
              <a:stretch>
                <a:fillRect t="-58250" b="-58250"/>
              </a:stretch>
            </a:blipFill>
          </p:spPr>
          <p:txBody>
            <a:bodyPr/>
            <a:lstStyle/>
            <a:p>
              <a:endParaRPr lang="en-US"/>
            </a:p>
          </p:txBody>
        </p:sp>
        <p:sp>
          <p:nvSpPr>
            <p:cNvPr id="17" name="TextBox 17"/>
            <p:cNvSpPr txBox="1"/>
            <p:nvPr/>
          </p:nvSpPr>
          <p:spPr>
            <a:xfrm>
              <a:off x="0" y="-38100"/>
              <a:ext cx="6096000" cy="1135380"/>
            </a:xfrm>
            <a:prstGeom prst="rect">
              <a:avLst/>
            </a:prstGeom>
          </p:spPr>
          <p:txBody>
            <a:bodyPr lIns="0" tIns="0" rIns="0" bIns="0" rtlCol="0" anchor="ctr"/>
            <a:lstStyle/>
            <a:p>
              <a:pPr algn="r">
                <a:lnSpc>
                  <a:spcPts val="2279"/>
                </a:lnSpc>
              </a:pPr>
              <a:r>
                <a:rPr lang="en-US" sz="1899">
                  <a:solidFill>
                    <a:srgbClr val="FFDE59"/>
                  </a:solidFill>
                  <a:latin typeface="Calibri (MS)"/>
                  <a:ea typeface="Calibri (MS)"/>
                  <a:cs typeface="Calibri (MS)"/>
                  <a:sym typeface="Calibri (MS)"/>
                </a:rPr>
                <a:t>High</a:t>
              </a:r>
            </a:p>
          </p:txBody>
        </p:sp>
      </p:grpSp>
      <p:grpSp>
        <p:nvGrpSpPr>
          <p:cNvPr id="18" name="Group 18"/>
          <p:cNvGrpSpPr/>
          <p:nvPr/>
        </p:nvGrpSpPr>
        <p:grpSpPr>
          <a:xfrm>
            <a:off x="9686287" y="4492495"/>
            <a:ext cx="7647937" cy="835657"/>
            <a:chOff x="0" y="0"/>
            <a:chExt cx="10197249" cy="1114209"/>
          </a:xfrm>
        </p:grpSpPr>
        <p:sp>
          <p:nvSpPr>
            <p:cNvPr id="19" name="Freeform 19"/>
            <p:cNvSpPr/>
            <p:nvPr/>
          </p:nvSpPr>
          <p:spPr>
            <a:xfrm>
              <a:off x="0" y="0"/>
              <a:ext cx="10197211" cy="1114171"/>
            </a:xfrm>
            <a:custGeom>
              <a:avLst/>
              <a:gdLst/>
              <a:ahLst/>
              <a:cxnLst/>
              <a:rect l="l" t="t" r="r" b="b"/>
              <a:pathLst>
                <a:path w="10197211" h="1114171">
                  <a:moveTo>
                    <a:pt x="0" y="99060"/>
                  </a:moveTo>
                  <a:cubicBezTo>
                    <a:pt x="0" y="44323"/>
                    <a:pt x="44323" y="0"/>
                    <a:pt x="99060" y="0"/>
                  </a:cubicBezTo>
                  <a:lnTo>
                    <a:pt x="10098151" y="0"/>
                  </a:lnTo>
                  <a:cubicBezTo>
                    <a:pt x="10152888" y="0"/>
                    <a:pt x="10197211" y="44323"/>
                    <a:pt x="10197211" y="99060"/>
                  </a:cubicBezTo>
                  <a:lnTo>
                    <a:pt x="10197211" y="1015111"/>
                  </a:lnTo>
                  <a:cubicBezTo>
                    <a:pt x="10197211" y="1069848"/>
                    <a:pt x="10152888" y="1114171"/>
                    <a:pt x="10098151" y="1114171"/>
                  </a:cubicBezTo>
                  <a:lnTo>
                    <a:pt x="99060" y="1114171"/>
                  </a:lnTo>
                  <a:cubicBezTo>
                    <a:pt x="44323" y="1114171"/>
                    <a:pt x="0" y="1069848"/>
                    <a:pt x="0" y="1015111"/>
                  </a:cubicBezTo>
                  <a:close/>
                </a:path>
              </a:pathLst>
            </a:custGeom>
            <a:solidFill>
              <a:srgbClr val="222222"/>
            </a:solidFill>
            <a:ln w="12700" cap="sq">
              <a:solidFill>
                <a:srgbClr val="222222"/>
              </a:solidFill>
              <a:prstDash val="solid"/>
              <a:miter/>
            </a:ln>
          </p:spPr>
          <p:txBody>
            <a:bodyPr/>
            <a:lstStyle/>
            <a:p>
              <a:endParaRPr lang="en-US"/>
            </a:p>
          </p:txBody>
        </p:sp>
      </p:grpSp>
      <p:grpSp>
        <p:nvGrpSpPr>
          <p:cNvPr id="20" name="Group 20"/>
          <p:cNvGrpSpPr/>
          <p:nvPr/>
        </p:nvGrpSpPr>
        <p:grpSpPr>
          <a:xfrm>
            <a:off x="10012680" y="4498848"/>
            <a:ext cx="2743200" cy="822960"/>
            <a:chOff x="0" y="0"/>
            <a:chExt cx="3657600" cy="1097280"/>
          </a:xfrm>
        </p:grpSpPr>
        <p:sp>
          <p:nvSpPr>
            <p:cNvPr id="21" name="Freeform 21"/>
            <p:cNvSpPr/>
            <p:nvPr/>
          </p:nvSpPr>
          <p:spPr>
            <a:xfrm>
              <a:off x="0" y="0"/>
              <a:ext cx="3657600" cy="1097280"/>
            </a:xfrm>
            <a:custGeom>
              <a:avLst/>
              <a:gdLst/>
              <a:ahLst/>
              <a:cxnLst/>
              <a:rect l="l" t="t" r="r" b="b"/>
              <a:pathLst>
                <a:path w="3657600" h="1097280">
                  <a:moveTo>
                    <a:pt x="0" y="0"/>
                  </a:moveTo>
                  <a:lnTo>
                    <a:pt x="3657600" y="0"/>
                  </a:lnTo>
                  <a:lnTo>
                    <a:pt x="3657600" y="1097280"/>
                  </a:lnTo>
                  <a:lnTo>
                    <a:pt x="0" y="1097280"/>
                  </a:lnTo>
                  <a:close/>
                </a:path>
              </a:pathLst>
            </a:custGeom>
            <a:blipFill>
              <a:blip r:embed="rId3">
                <a:alphaModFix amt="0"/>
              </a:blip>
              <a:stretch>
                <a:fillRect t="-14950" b="-14950"/>
              </a:stretch>
            </a:blipFill>
          </p:spPr>
          <p:txBody>
            <a:bodyPr/>
            <a:lstStyle/>
            <a:p>
              <a:endParaRPr lang="en-US"/>
            </a:p>
          </p:txBody>
        </p:sp>
        <p:sp>
          <p:nvSpPr>
            <p:cNvPr id="22" name="TextBox 22"/>
            <p:cNvSpPr txBox="1"/>
            <p:nvPr/>
          </p:nvSpPr>
          <p:spPr>
            <a:xfrm>
              <a:off x="0" y="-38100"/>
              <a:ext cx="3657600" cy="1135380"/>
            </a:xfrm>
            <a:prstGeom prst="rect">
              <a:avLst/>
            </a:prstGeom>
          </p:spPr>
          <p:txBody>
            <a:bodyPr lIns="0" tIns="0" rIns="0" bIns="0" rtlCol="0" anchor="ctr"/>
            <a:lstStyle/>
            <a:p>
              <a:pPr algn="l">
                <a:lnSpc>
                  <a:spcPts val="2279"/>
                </a:lnSpc>
              </a:pPr>
              <a:r>
                <a:rPr lang="en-US" sz="1899">
                  <a:solidFill>
                    <a:srgbClr val="FFFFFF"/>
                  </a:solidFill>
                  <a:latin typeface="Calibri (MS)"/>
                  <a:ea typeface="Calibri (MS)"/>
                  <a:cs typeface="Calibri (MS)"/>
                  <a:sym typeface="Calibri (MS)"/>
                </a:rPr>
                <a:t>Impact</a:t>
              </a:r>
            </a:p>
          </p:txBody>
        </p:sp>
      </p:grpSp>
      <p:grpSp>
        <p:nvGrpSpPr>
          <p:cNvPr id="23" name="Group 23"/>
          <p:cNvGrpSpPr/>
          <p:nvPr/>
        </p:nvGrpSpPr>
        <p:grpSpPr>
          <a:xfrm>
            <a:off x="12435840" y="4498848"/>
            <a:ext cx="4572000" cy="822960"/>
            <a:chOff x="0" y="0"/>
            <a:chExt cx="6096000" cy="1097280"/>
          </a:xfrm>
        </p:grpSpPr>
        <p:sp>
          <p:nvSpPr>
            <p:cNvPr id="24" name="Freeform 24"/>
            <p:cNvSpPr/>
            <p:nvPr/>
          </p:nvSpPr>
          <p:spPr>
            <a:xfrm>
              <a:off x="0" y="0"/>
              <a:ext cx="6096000" cy="1097280"/>
            </a:xfrm>
            <a:custGeom>
              <a:avLst/>
              <a:gdLst/>
              <a:ahLst/>
              <a:cxnLst/>
              <a:rect l="l" t="t" r="r" b="b"/>
              <a:pathLst>
                <a:path w="6096000" h="1097280">
                  <a:moveTo>
                    <a:pt x="0" y="0"/>
                  </a:moveTo>
                  <a:lnTo>
                    <a:pt x="6096000" y="0"/>
                  </a:lnTo>
                  <a:lnTo>
                    <a:pt x="6096000" y="1097280"/>
                  </a:lnTo>
                  <a:lnTo>
                    <a:pt x="0" y="1097280"/>
                  </a:lnTo>
                  <a:close/>
                </a:path>
              </a:pathLst>
            </a:custGeom>
            <a:blipFill>
              <a:blip r:embed="rId3">
                <a:alphaModFix amt="0"/>
              </a:blip>
              <a:stretch>
                <a:fillRect t="-58250" b="-58250"/>
              </a:stretch>
            </a:blipFill>
          </p:spPr>
          <p:txBody>
            <a:bodyPr/>
            <a:lstStyle/>
            <a:p>
              <a:endParaRPr lang="en-US"/>
            </a:p>
          </p:txBody>
        </p:sp>
        <p:sp>
          <p:nvSpPr>
            <p:cNvPr id="25" name="TextBox 25"/>
            <p:cNvSpPr txBox="1"/>
            <p:nvPr/>
          </p:nvSpPr>
          <p:spPr>
            <a:xfrm>
              <a:off x="0" y="-38100"/>
              <a:ext cx="6096000" cy="1135380"/>
            </a:xfrm>
            <a:prstGeom prst="rect">
              <a:avLst/>
            </a:prstGeom>
          </p:spPr>
          <p:txBody>
            <a:bodyPr lIns="0" tIns="0" rIns="0" bIns="0" rtlCol="0" anchor="ctr"/>
            <a:lstStyle/>
            <a:p>
              <a:pPr algn="r">
                <a:lnSpc>
                  <a:spcPts val="2279"/>
                </a:lnSpc>
              </a:pPr>
              <a:r>
                <a:rPr lang="en-US" sz="1899">
                  <a:solidFill>
                    <a:srgbClr val="FFDE59"/>
                  </a:solidFill>
                  <a:latin typeface="Calibri (MS)"/>
                  <a:ea typeface="Calibri (MS)"/>
                  <a:cs typeface="Calibri (MS)"/>
                  <a:sym typeface="Calibri (MS)"/>
                </a:rPr>
                <a:t>Medium-High</a:t>
              </a:r>
            </a:p>
          </p:txBody>
        </p:sp>
      </p:grpSp>
      <p:grpSp>
        <p:nvGrpSpPr>
          <p:cNvPr id="26" name="Group 26"/>
          <p:cNvGrpSpPr/>
          <p:nvPr/>
        </p:nvGrpSpPr>
        <p:grpSpPr>
          <a:xfrm>
            <a:off x="9686287" y="5516623"/>
            <a:ext cx="7647937" cy="835657"/>
            <a:chOff x="0" y="0"/>
            <a:chExt cx="10197249" cy="1114209"/>
          </a:xfrm>
        </p:grpSpPr>
        <p:sp>
          <p:nvSpPr>
            <p:cNvPr id="27" name="Freeform 27"/>
            <p:cNvSpPr/>
            <p:nvPr/>
          </p:nvSpPr>
          <p:spPr>
            <a:xfrm>
              <a:off x="0" y="0"/>
              <a:ext cx="10197211" cy="1114171"/>
            </a:xfrm>
            <a:custGeom>
              <a:avLst/>
              <a:gdLst/>
              <a:ahLst/>
              <a:cxnLst/>
              <a:rect l="l" t="t" r="r" b="b"/>
              <a:pathLst>
                <a:path w="10197211" h="1114171">
                  <a:moveTo>
                    <a:pt x="0" y="99060"/>
                  </a:moveTo>
                  <a:cubicBezTo>
                    <a:pt x="0" y="44323"/>
                    <a:pt x="44323" y="0"/>
                    <a:pt x="99060" y="0"/>
                  </a:cubicBezTo>
                  <a:lnTo>
                    <a:pt x="10098151" y="0"/>
                  </a:lnTo>
                  <a:cubicBezTo>
                    <a:pt x="10152888" y="0"/>
                    <a:pt x="10197211" y="44323"/>
                    <a:pt x="10197211" y="99060"/>
                  </a:cubicBezTo>
                  <a:lnTo>
                    <a:pt x="10197211" y="1015111"/>
                  </a:lnTo>
                  <a:cubicBezTo>
                    <a:pt x="10197211" y="1069848"/>
                    <a:pt x="10152888" y="1114171"/>
                    <a:pt x="10098151" y="1114171"/>
                  </a:cubicBezTo>
                  <a:lnTo>
                    <a:pt x="99060" y="1114171"/>
                  </a:lnTo>
                  <a:cubicBezTo>
                    <a:pt x="44323" y="1114171"/>
                    <a:pt x="0" y="1069848"/>
                    <a:pt x="0" y="1015111"/>
                  </a:cubicBezTo>
                  <a:close/>
                </a:path>
              </a:pathLst>
            </a:custGeom>
            <a:solidFill>
              <a:srgbClr val="222222"/>
            </a:solidFill>
            <a:ln w="12700" cap="sq">
              <a:solidFill>
                <a:srgbClr val="222222"/>
              </a:solidFill>
              <a:prstDash val="solid"/>
              <a:miter/>
            </a:ln>
          </p:spPr>
          <p:txBody>
            <a:bodyPr/>
            <a:lstStyle/>
            <a:p>
              <a:endParaRPr lang="en-US"/>
            </a:p>
          </p:txBody>
        </p:sp>
      </p:grpSp>
      <p:grpSp>
        <p:nvGrpSpPr>
          <p:cNvPr id="28" name="Group 28"/>
          <p:cNvGrpSpPr/>
          <p:nvPr/>
        </p:nvGrpSpPr>
        <p:grpSpPr>
          <a:xfrm>
            <a:off x="10012680" y="5522976"/>
            <a:ext cx="2743200" cy="822960"/>
            <a:chOff x="0" y="0"/>
            <a:chExt cx="3657600" cy="1097280"/>
          </a:xfrm>
        </p:grpSpPr>
        <p:sp>
          <p:nvSpPr>
            <p:cNvPr id="29" name="Freeform 29"/>
            <p:cNvSpPr/>
            <p:nvPr/>
          </p:nvSpPr>
          <p:spPr>
            <a:xfrm>
              <a:off x="0" y="0"/>
              <a:ext cx="3657600" cy="1097280"/>
            </a:xfrm>
            <a:custGeom>
              <a:avLst/>
              <a:gdLst/>
              <a:ahLst/>
              <a:cxnLst/>
              <a:rect l="l" t="t" r="r" b="b"/>
              <a:pathLst>
                <a:path w="3657600" h="1097280">
                  <a:moveTo>
                    <a:pt x="0" y="0"/>
                  </a:moveTo>
                  <a:lnTo>
                    <a:pt x="3657600" y="0"/>
                  </a:lnTo>
                  <a:lnTo>
                    <a:pt x="3657600" y="1097280"/>
                  </a:lnTo>
                  <a:lnTo>
                    <a:pt x="0" y="1097280"/>
                  </a:lnTo>
                  <a:close/>
                </a:path>
              </a:pathLst>
            </a:custGeom>
            <a:blipFill>
              <a:blip r:embed="rId3">
                <a:alphaModFix amt="0"/>
              </a:blip>
              <a:stretch>
                <a:fillRect t="-14950" b="-14950"/>
              </a:stretch>
            </a:blipFill>
          </p:spPr>
          <p:txBody>
            <a:bodyPr/>
            <a:lstStyle/>
            <a:p>
              <a:endParaRPr lang="en-US"/>
            </a:p>
          </p:txBody>
        </p:sp>
        <p:sp>
          <p:nvSpPr>
            <p:cNvPr id="30" name="TextBox 30"/>
            <p:cNvSpPr txBox="1"/>
            <p:nvPr/>
          </p:nvSpPr>
          <p:spPr>
            <a:xfrm>
              <a:off x="0" y="-38100"/>
              <a:ext cx="3657600" cy="1135380"/>
            </a:xfrm>
            <a:prstGeom prst="rect">
              <a:avLst/>
            </a:prstGeom>
          </p:spPr>
          <p:txBody>
            <a:bodyPr lIns="0" tIns="0" rIns="0" bIns="0" rtlCol="0" anchor="ctr"/>
            <a:lstStyle/>
            <a:p>
              <a:pPr algn="l">
                <a:lnSpc>
                  <a:spcPts val="2279"/>
                </a:lnSpc>
              </a:pPr>
              <a:r>
                <a:rPr lang="en-US" sz="1899">
                  <a:solidFill>
                    <a:srgbClr val="FFFFFF"/>
                  </a:solidFill>
                  <a:latin typeface="Calibri (MS)"/>
                  <a:ea typeface="Calibri (MS)"/>
                  <a:cs typeface="Calibri (MS)"/>
                  <a:sym typeface="Calibri (MS)"/>
                </a:rPr>
                <a:t>Confidence</a:t>
              </a:r>
            </a:p>
          </p:txBody>
        </p:sp>
      </p:grpSp>
      <p:grpSp>
        <p:nvGrpSpPr>
          <p:cNvPr id="31" name="Group 31"/>
          <p:cNvGrpSpPr/>
          <p:nvPr/>
        </p:nvGrpSpPr>
        <p:grpSpPr>
          <a:xfrm>
            <a:off x="12435840" y="5522976"/>
            <a:ext cx="4572000" cy="822960"/>
            <a:chOff x="0" y="0"/>
            <a:chExt cx="6096000" cy="1097280"/>
          </a:xfrm>
        </p:grpSpPr>
        <p:sp>
          <p:nvSpPr>
            <p:cNvPr id="32" name="Freeform 32"/>
            <p:cNvSpPr/>
            <p:nvPr/>
          </p:nvSpPr>
          <p:spPr>
            <a:xfrm>
              <a:off x="0" y="0"/>
              <a:ext cx="6096000" cy="1097280"/>
            </a:xfrm>
            <a:custGeom>
              <a:avLst/>
              <a:gdLst/>
              <a:ahLst/>
              <a:cxnLst/>
              <a:rect l="l" t="t" r="r" b="b"/>
              <a:pathLst>
                <a:path w="6096000" h="1097280">
                  <a:moveTo>
                    <a:pt x="0" y="0"/>
                  </a:moveTo>
                  <a:lnTo>
                    <a:pt x="6096000" y="0"/>
                  </a:lnTo>
                  <a:lnTo>
                    <a:pt x="6096000" y="1097280"/>
                  </a:lnTo>
                  <a:lnTo>
                    <a:pt x="0" y="1097280"/>
                  </a:lnTo>
                  <a:close/>
                </a:path>
              </a:pathLst>
            </a:custGeom>
            <a:blipFill>
              <a:blip r:embed="rId3">
                <a:alphaModFix amt="0"/>
              </a:blip>
              <a:stretch>
                <a:fillRect t="-58250" b="-58250"/>
              </a:stretch>
            </a:blipFill>
          </p:spPr>
          <p:txBody>
            <a:bodyPr/>
            <a:lstStyle/>
            <a:p>
              <a:endParaRPr lang="en-US"/>
            </a:p>
          </p:txBody>
        </p:sp>
        <p:sp>
          <p:nvSpPr>
            <p:cNvPr id="33" name="TextBox 33"/>
            <p:cNvSpPr txBox="1"/>
            <p:nvPr/>
          </p:nvSpPr>
          <p:spPr>
            <a:xfrm>
              <a:off x="0" y="-38100"/>
              <a:ext cx="6096000" cy="1135380"/>
            </a:xfrm>
            <a:prstGeom prst="rect">
              <a:avLst/>
            </a:prstGeom>
          </p:spPr>
          <p:txBody>
            <a:bodyPr lIns="0" tIns="0" rIns="0" bIns="0" rtlCol="0" anchor="ctr"/>
            <a:lstStyle/>
            <a:p>
              <a:pPr algn="r">
                <a:lnSpc>
                  <a:spcPts val="2279"/>
                </a:lnSpc>
              </a:pPr>
              <a:r>
                <a:rPr lang="en-US" sz="1899">
                  <a:solidFill>
                    <a:srgbClr val="FFDE59"/>
                  </a:solidFill>
                  <a:latin typeface="Calibri (MS)"/>
                  <a:ea typeface="Calibri (MS)"/>
                  <a:cs typeface="Calibri (MS)"/>
                  <a:sym typeface="Calibri (MS)"/>
                </a:rPr>
                <a:t>Medium (5-person test)</a:t>
              </a:r>
            </a:p>
          </p:txBody>
        </p:sp>
      </p:grpSp>
      <p:grpSp>
        <p:nvGrpSpPr>
          <p:cNvPr id="34" name="Group 34"/>
          <p:cNvGrpSpPr/>
          <p:nvPr/>
        </p:nvGrpSpPr>
        <p:grpSpPr>
          <a:xfrm>
            <a:off x="9686287" y="6540751"/>
            <a:ext cx="7647937" cy="835657"/>
            <a:chOff x="0" y="0"/>
            <a:chExt cx="10197249" cy="1114209"/>
          </a:xfrm>
        </p:grpSpPr>
        <p:sp>
          <p:nvSpPr>
            <p:cNvPr id="35" name="Freeform 35"/>
            <p:cNvSpPr/>
            <p:nvPr/>
          </p:nvSpPr>
          <p:spPr>
            <a:xfrm>
              <a:off x="0" y="0"/>
              <a:ext cx="10197211" cy="1114171"/>
            </a:xfrm>
            <a:custGeom>
              <a:avLst/>
              <a:gdLst/>
              <a:ahLst/>
              <a:cxnLst/>
              <a:rect l="l" t="t" r="r" b="b"/>
              <a:pathLst>
                <a:path w="10197211" h="1114171">
                  <a:moveTo>
                    <a:pt x="0" y="99060"/>
                  </a:moveTo>
                  <a:cubicBezTo>
                    <a:pt x="0" y="44323"/>
                    <a:pt x="44323" y="0"/>
                    <a:pt x="99060" y="0"/>
                  </a:cubicBezTo>
                  <a:lnTo>
                    <a:pt x="10098151" y="0"/>
                  </a:lnTo>
                  <a:cubicBezTo>
                    <a:pt x="10152888" y="0"/>
                    <a:pt x="10197211" y="44323"/>
                    <a:pt x="10197211" y="99060"/>
                  </a:cubicBezTo>
                  <a:lnTo>
                    <a:pt x="10197211" y="1015111"/>
                  </a:lnTo>
                  <a:cubicBezTo>
                    <a:pt x="10197211" y="1069848"/>
                    <a:pt x="10152888" y="1114171"/>
                    <a:pt x="10098151" y="1114171"/>
                  </a:cubicBezTo>
                  <a:lnTo>
                    <a:pt x="99060" y="1114171"/>
                  </a:lnTo>
                  <a:cubicBezTo>
                    <a:pt x="44323" y="1114171"/>
                    <a:pt x="0" y="1069848"/>
                    <a:pt x="0" y="1015111"/>
                  </a:cubicBezTo>
                  <a:close/>
                </a:path>
              </a:pathLst>
            </a:custGeom>
            <a:solidFill>
              <a:srgbClr val="222222"/>
            </a:solidFill>
            <a:ln w="12700" cap="sq">
              <a:solidFill>
                <a:srgbClr val="222222"/>
              </a:solidFill>
              <a:prstDash val="solid"/>
              <a:miter/>
            </a:ln>
          </p:spPr>
          <p:txBody>
            <a:bodyPr/>
            <a:lstStyle/>
            <a:p>
              <a:endParaRPr lang="en-US"/>
            </a:p>
          </p:txBody>
        </p:sp>
      </p:grpSp>
      <p:grpSp>
        <p:nvGrpSpPr>
          <p:cNvPr id="36" name="Group 36"/>
          <p:cNvGrpSpPr/>
          <p:nvPr/>
        </p:nvGrpSpPr>
        <p:grpSpPr>
          <a:xfrm>
            <a:off x="10012680" y="6547104"/>
            <a:ext cx="2743200" cy="822960"/>
            <a:chOff x="0" y="0"/>
            <a:chExt cx="3657600" cy="1097280"/>
          </a:xfrm>
        </p:grpSpPr>
        <p:sp>
          <p:nvSpPr>
            <p:cNvPr id="37" name="Freeform 37"/>
            <p:cNvSpPr/>
            <p:nvPr/>
          </p:nvSpPr>
          <p:spPr>
            <a:xfrm>
              <a:off x="0" y="0"/>
              <a:ext cx="3657600" cy="1097280"/>
            </a:xfrm>
            <a:custGeom>
              <a:avLst/>
              <a:gdLst/>
              <a:ahLst/>
              <a:cxnLst/>
              <a:rect l="l" t="t" r="r" b="b"/>
              <a:pathLst>
                <a:path w="3657600" h="1097280">
                  <a:moveTo>
                    <a:pt x="0" y="0"/>
                  </a:moveTo>
                  <a:lnTo>
                    <a:pt x="3657600" y="0"/>
                  </a:lnTo>
                  <a:lnTo>
                    <a:pt x="3657600" y="1097280"/>
                  </a:lnTo>
                  <a:lnTo>
                    <a:pt x="0" y="1097280"/>
                  </a:lnTo>
                  <a:close/>
                </a:path>
              </a:pathLst>
            </a:custGeom>
            <a:blipFill>
              <a:blip r:embed="rId3">
                <a:alphaModFix amt="0"/>
              </a:blip>
              <a:stretch>
                <a:fillRect t="-14950" b="-14950"/>
              </a:stretch>
            </a:blipFill>
          </p:spPr>
          <p:txBody>
            <a:bodyPr/>
            <a:lstStyle/>
            <a:p>
              <a:endParaRPr lang="en-US"/>
            </a:p>
          </p:txBody>
        </p:sp>
        <p:sp>
          <p:nvSpPr>
            <p:cNvPr id="38" name="TextBox 38"/>
            <p:cNvSpPr txBox="1"/>
            <p:nvPr/>
          </p:nvSpPr>
          <p:spPr>
            <a:xfrm>
              <a:off x="0" y="-38100"/>
              <a:ext cx="3657600" cy="1135380"/>
            </a:xfrm>
            <a:prstGeom prst="rect">
              <a:avLst/>
            </a:prstGeom>
          </p:spPr>
          <p:txBody>
            <a:bodyPr lIns="0" tIns="0" rIns="0" bIns="0" rtlCol="0" anchor="ctr"/>
            <a:lstStyle/>
            <a:p>
              <a:pPr algn="l">
                <a:lnSpc>
                  <a:spcPts val="2279"/>
                </a:lnSpc>
              </a:pPr>
              <a:r>
                <a:rPr lang="en-US" sz="1899">
                  <a:solidFill>
                    <a:srgbClr val="FFFFFF"/>
                  </a:solidFill>
                  <a:latin typeface="Calibri (MS)"/>
                  <a:ea typeface="Calibri (MS)"/>
                  <a:cs typeface="Calibri (MS)"/>
                  <a:sym typeface="Calibri (MS)"/>
                </a:rPr>
                <a:t>Effort</a:t>
              </a:r>
            </a:p>
          </p:txBody>
        </p:sp>
      </p:grpSp>
      <p:grpSp>
        <p:nvGrpSpPr>
          <p:cNvPr id="39" name="Group 39"/>
          <p:cNvGrpSpPr/>
          <p:nvPr/>
        </p:nvGrpSpPr>
        <p:grpSpPr>
          <a:xfrm>
            <a:off x="12435840" y="6547104"/>
            <a:ext cx="4572000" cy="822960"/>
            <a:chOff x="0" y="0"/>
            <a:chExt cx="6096000" cy="1097280"/>
          </a:xfrm>
        </p:grpSpPr>
        <p:sp>
          <p:nvSpPr>
            <p:cNvPr id="40" name="Freeform 40"/>
            <p:cNvSpPr/>
            <p:nvPr/>
          </p:nvSpPr>
          <p:spPr>
            <a:xfrm>
              <a:off x="0" y="0"/>
              <a:ext cx="6096000" cy="1097280"/>
            </a:xfrm>
            <a:custGeom>
              <a:avLst/>
              <a:gdLst/>
              <a:ahLst/>
              <a:cxnLst/>
              <a:rect l="l" t="t" r="r" b="b"/>
              <a:pathLst>
                <a:path w="6096000" h="1097280">
                  <a:moveTo>
                    <a:pt x="0" y="0"/>
                  </a:moveTo>
                  <a:lnTo>
                    <a:pt x="6096000" y="0"/>
                  </a:lnTo>
                  <a:lnTo>
                    <a:pt x="6096000" y="1097280"/>
                  </a:lnTo>
                  <a:lnTo>
                    <a:pt x="0" y="1097280"/>
                  </a:lnTo>
                  <a:close/>
                </a:path>
              </a:pathLst>
            </a:custGeom>
            <a:blipFill>
              <a:blip r:embed="rId3">
                <a:alphaModFix amt="0"/>
              </a:blip>
              <a:stretch>
                <a:fillRect t="-58250" b="-58250"/>
              </a:stretch>
            </a:blipFill>
          </p:spPr>
          <p:txBody>
            <a:bodyPr/>
            <a:lstStyle/>
            <a:p>
              <a:endParaRPr lang="en-US"/>
            </a:p>
          </p:txBody>
        </p:sp>
        <p:sp>
          <p:nvSpPr>
            <p:cNvPr id="41" name="TextBox 41"/>
            <p:cNvSpPr txBox="1"/>
            <p:nvPr/>
          </p:nvSpPr>
          <p:spPr>
            <a:xfrm>
              <a:off x="0" y="-38100"/>
              <a:ext cx="6096000" cy="1135380"/>
            </a:xfrm>
            <a:prstGeom prst="rect">
              <a:avLst/>
            </a:prstGeom>
          </p:spPr>
          <p:txBody>
            <a:bodyPr lIns="0" tIns="0" rIns="0" bIns="0" rtlCol="0" anchor="ctr"/>
            <a:lstStyle/>
            <a:p>
              <a:pPr algn="r">
                <a:lnSpc>
                  <a:spcPts val="2279"/>
                </a:lnSpc>
              </a:pPr>
              <a:r>
                <a:rPr lang="en-US" sz="1899">
                  <a:solidFill>
                    <a:srgbClr val="FFDE59"/>
                  </a:solidFill>
                  <a:latin typeface="Calibri (MS)"/>
                  <a:ea typeface="Calibri (MS)"/>
                  <a:cs typeface="Calibri (MS)"/>
                  <a:sym typeface="Calibri (MS)"/>
                </a:rPr>
                <a:t>Medium</a:t>
              </a:r>
            </a:p>
          </p:txBody>
        </p:sp>
      </p:grpSp>
      <p:sp>
        <p:nvSpPr>
          <p:cNvPr id="42" name="TextBox 42"/>
          <p:cNvSpPr txBox="1"/>
          <p:nvPr/>
        </p:nvSpPr>
        <p:spPr>
          <a:xfrm>
            <a:off x="9692640" y="7652385"/>
            <a:ext cx="7635240" cy="760095"/>
          </a:xfrm>
          <a:prstGeom prst="rect">
            <a:avLst/>
          </a:prstGeom>
        </p:spPr>
        <p:txBody>
          <a:bodyPr lIns="0" tIns="0" rIns="0" bIns="0" rtlCol="0" anchor="t">
            <a:spAutoFit/>
          </a:bodyPr>
          <a:lstStyle/>
          <a:p>
            <a:pPr algn="l">
              <a:lnSpc>
                <a:spcPts val="1680"/>
              </a:lnSpc>
            </a:pPr>
            <a:r>
              <a:rPr lang="en-US" sz="1400" i="1">
                <a:solidFill>
                  <a:srgbClr val="A6A6AD"/>
                </a:solidFill>
                <a:latin typeface="Calibri (MS) Italics"/>
                <a:ea typeface="Calibri (MS) Italics"/>
                <a:cs typeface="Calibri (MS) Italics"/>
                <a:sym typeface="Calibri (MS) Italics"/>
              </a:rPr>
              <a:t>Directional. A 5-person focus group shows direction, not proof; refine the scoring with Phase 2 MVP data.</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2" name="TextBox 2"/>
          <p:cNvSpPr txBox="1"/>
          <p:nvPr/>
        </p:nvSpPr>
        <p:spPr>
          <a:xfrm>
            <a:off x="960120" y="666750"/>
            <a:ext cx="16367760" cy="206467"/>
          </a:xfrm>
          <a:prstGeom prst="rect">
            <a:avLst/>
          </a:prstGeom>
        </p:spPr>
        <p:txBody>
          <a:bodyPr lIns="0" tIns="0" rIns="0" bIns="0" rtlCol="0" anchor="t">
            <a:spAutoFit/>
          </a:bodyPr>
          <a:lstStyle/>
          <a:p>
            <a:pPr algn="l">
              <a:lnSpc>
                <a:spcPts val="1559"/>
              </a:lnSpc>
            </a:pPr>
            <a:r>
              <a:rPr lang="en-US" b="1" spc="599">
                <a:solidFill>
                  <a:srgbClr val="93A9CF"/>
                </a:solidFill>
                <a:latin typeface="Arial Bold"/>
                <a:ea typeface="Arial Bold"/>
                <a:cs typeface="Arial Bold"/>
                <a:sym typeface="Arial Bold"/>
              </a:rPr>
              <a:t>REFLECTION</a:t>
            </a:r>
          </a:p>
        </p:txBody>
      </p:sp>
      <p:sp>
        <p:nvSpPr>
          <p:cNvPr id="3" name="TextBox 3"/>
          <p:cNvSpPr txBox="1"/>
          <p:nvPr/>
        </p:nvSpPr>
        <p:spPr>
          <a:xfrm>
            <a:off x="960120" y="1179195"/>
            <a:ext cx="16367760" cy="578428"/>
          </a:xfrm>
          <a:prstGeom prst="rect">
            <a:avLst/>
          </a:prstGeom>
        </p:spPr>
        <p:txBody>
          <a:bodyPr lIns="0" tIns="0" rIns="0" bIns="0" rtlCol="0" anchor="t">
            <a:spAutoFit/>
          </a:bodyPr>
          <a:lstStyle/>
          <a:p>
            <a:pPr algn="l">
              <a:lnSpc>
                <a:spcPts val="4799"/>
              </a:lnSpc>
            </a:pPr>
            <a:r>
              <a:rPr lang="en-US" sz="3999" b="1" dirty="0">
                <a:solidFill>
                  <a:srgbClr val="FFFFFF"/>
                </a:solidFill>
                <a:latin typeface="Arial Bold"/>
                <a:ea typeface="Arial Bold"/>
                <a:cs typeface="Arial Bold"/>
                <a:sym typeface="Arial Bold"/>
              </a:rPr>
              <a:t>What I learned, and What I’d Do Differently</a:t>
            </a:r>
          </a:p>
        </p:txBody>
      </p:sp>
      <p:grpSp>
        <p:nvGrpSpPr>
          <p:cNvPr id="4" name="Group 4"/>
          <p:cNvGrpSpPr/>
          <p:nvPr/>
        </p:nvGrpSpPr>
        <p:grpSpPr>
          <a:xfrm>
            <a:off x="960120" y="2560320"/>
            <a:ext cx="5212080" cy="3566160"/>
            <a:chOff x="0" y="0"/>
            <a:chExt cx="6949440" cy="4754880"/>
          </a:xfrm>
        </p:grpSpPr>
        <p:sp>
          <p:nvSpPr>
            <p:cNvPr id="5" name="Freeform 5"/>
            <p:cNvSpPr/>
            <p:nvPr/>
          </p:nvSpPr>
          <p:spPr>
            <a:xfrm>
              <a:off x="0" y="0"/>
              <a:ext cx="6949440" cy="4754880"/>
            </a:xfrm>
            <a:custGeom>
              <a:avLst/>
              <a:gdLst/>
              <a:ahLst/>
              <a:cxnLst/>
              <a:rect l="l" t="t" r="r" b="b"/>
              <a:pathLst>
                <a:path w="6949440" h="4754880">
                  <a:moveTo>
                    <a:pt x="0" y="146304"/>
                  </a:moveTo>
                  <a:cubicBezTo>
                    <a:pt x="0" y="65532"/>
                    <a:pt x="65532" y="0"/>
                    <a:pt x="146304" y="0"/>
                  </a:cubicBezTo>
                  <a:lnTo>
                    <a:pt x="6803136" y="0"/>
                  </a:lnTo>
                  <a:cubicBezTo>
                    <a:pt x="6883908" y="0"/>
                    <a:pt x="6949440" y="65532"/>
                    <a:pt x="6949440" y="146304"/>
                  </a:cubicBezTo>
                  <a:lnTo>
                    <a:pt x="6949440" y="4608576"/>
                  </a:lnTo>
                  <a:cubicBezTo>
                    <a:pt x="6949440" y="4689348"/>
                    <a:pt x="6883908" y="4754880"/>
                    <a:pt x="6803136" y="4754880"/>
                  </a:cubicBezTo>
                  <a:lnTo>
                    <a:pt x="146304" y="4754880"/>
                  </a:lnTo>
                  <a:cubicBezTo>
                    <a:pt x="65532" y="4754880"/>
                    <a:pt x="0" y="4689348"/>
                    <a:pt x="0" y="4608576"/>
                  </a:cubicBezTo>
                  <a:close/>
                </a:path>
              </a:pathLst>
            </a:custGeom>
            <a:solidFill>
              <a:srgbClr val="222222"/>
            </a:solidFill>
          </p:spPr>
          <p:txBody>
            <a:bodyPr/>
            <a:lstStyle/>
            <a:p>
              <a:endParaRPr lang="en-US"/>
            </a:p>
          </p:txBody>
        </p:sp>
      </p:grpSp>
      <p:grpSp>
        <p:nvGrpSpPr>
          <p:cNvPr id="6" name="Group 6"/>
          <p:cNvGrpSpPr/>
          <p:nvPr/>
        </p:nvGrpSpPr>
        <p:grpSpPr>
          <a:xfrm>
            <a:off x="1325880" y="2926080"/>
            <a:ext cx="548640" cy="548640"/>
            <a:chOff x="0" y="0"/>
            <a:chExt cx="731520" cy="731520"/>
          </a:xfrm>
        </p:grpSpPr>
        <p:sp>
          <p:nvSpPr>
            <p:cNvPr id="7" name="Freeform 7"/>
            <p:cNvSpPr/>
            <p:nvPr/>
          </p:nvSpPr>
          <p:spPr>
            <a:xfrm>
              <a:off x="0" y="0"/>
              <a:ext cx="731520" cy="731520"/>
            </a:xfrm>
            <a:custGeom>
              <a:avLst/>
              <a:gdLst/>
              <a:ahLst/>
              <a:cxnLst/>
              <a:rect l="l" t="t" r="r" b="b"/>
              <a:pathLst>
                <a:path w="731520" h="731520">
                  <a:moveTo>
                    <a:pt x="0" y="365760"/>
                  </a:moveTo>
                  <a:cubicBezTo>
                    <a:pt x="0" y="163703"/>
                    <a:pt x="163703" y="0"/>
                    <a:pt x="365760" y="0"/>
                  </a:cubicBezTo>
                  <a:cubicBezTo>
                    <a:pt x="567817" y="0"/>
                    <a:pt x="731520" y="163703"/>
                    <a:pt x="731520" y="365760"/>
                  </a:cubicBezTo>
                  <a:cubicBezTo>
                    <a:pt x="731520" y="567817"/>
                    <a:pt x="567817" y="731520"/>
                    <a:pt x="365760" y="731520"/>
                  </a:cubicBezTo>
                  <a:cubicBezTo>
                    <a:pt x="163703" y="731520"/>
                    <a:pt x="0" y="567817"/>
                    <a:pt x="0" y="365760"/>
                  </a:cubicBezTo>
                  <a:close/>
                </a:path>
              </a:pathLst>
            </a:custGeom>
            <a:solidFill>
              <a:srgbClr val="FFDE59"/>
            </a:solidFill>
          </p:spPr>
          <p:txBody>
            <a:bodyPr/>
            <a:lstStyle/>
            <a:p>
              <a:endParaRPr lang="en-US"/>
            </a:p>
          </p:txBody>
        </p:sp>
        <p:sp>
          <p:nvSpPr>
            <p:cNvPr id="8" name="TextBox 8"/>
            <p:cNvSpPr txBox="1"/>
            <p:nvPr/>
          </p:nvSpPr>
          <p:spPr>
            <a:xfrm>
              <a:off x="0" y="-19050"/>
              <a:ext cx="731520" cy="750570"/>
            </a:xfrm>
            <a:prstGeom prst="rect">
              <a:avLst/>
            </a:prstGeom>
          </p:spPr>
          <p:txBody>
            <a:bodyPr lIns="50800" tIns="50800" rIns="50800" bIns="50800" rtlCol="0" anchor="ctr"/>
            <a:lstStyle/>
            <a:p>
              <a:pPr algn="ctr">
                <a:lnSpc>
                  <a:spcPts val="1919"/>
                </a:lnSpc>
              </a:pPr>
              <a:r>
                <a:rPr lang="en-US" sz="1599" b="1">
                  <a:solidFill>
                    <a:srgbClr val="0A0A0A"/>
                  </a:solidFill>
                  <a:latin typeface="Arial Bold"/>
                  <a:ea typeface="Arial Bold"/>
                  <a:cs typeface="Arial Bold"/>
                  <a:sym typeface="Arial Bold"/>
                </a:rPr>
                <a:t>1</a:t>
              </a:r>
            </a:p>
          </p:txBody>
        </p:sp>
      </p:grpSp>
      <p:sp>
        <p:nvSpPr>
          <p:cNvPr id="9" name="TextBox 9"/>
          <p:cNvSpPr txBox="1"/>
          <p:nvPr/>
        </p:nvSpPr>
        <p:spPr>
          <a:xfrm>
            <a:off x="1325880" y="3739515"/>
            <a:ext cx="4480560" cy="641201"/>
          </a:xfrm>
          <a:prstGeom prst="rect">
            <a:avLst/>
          </a:prstGeom>
        </p:spPr>
        <p:txBody>
          <a:bodyPr lIns="0" tIns="0" rIns="0" bIns="0" rtlCol="0" anchor="t">
            <a:spAutoFit/>
          </a:bodyPr>
          <a:lstStyle/>
          <a:p>
            <a:pPr algn="l">
              <a:lnSpc>
                <a:spcPts val="2520"/>
              </a:lnSpc>
            </a:pPr>
            <a:r>
              <a:rPr lang="en-US" sz="2100" b="1" dirty="0">
                <a:solidFill>
                  <a:srgbClr val="FFFFFF"/>
                </a:solidFill>
                <a:latin typeface="Arial Bold"/>
                <a:ea typeface="Arial Bold"/>
                <a:cs typeface="Arial Bold"/>
                <a:sym typeface="Arial Bold"/>
              </a:rPr>
              <a:t>Complexity, Not Pressure, Was The Real Risk</a:t>
            </a:r>
          </a:p>
        </p:txBody>
      </p:sp>
      <p:sp>
        <p:nvSpPr>
          <p:cNvPr id="10" name="TextBox 10"/>
          <p:cNvSpPr txBox="1"/>
          <p:nvPr/>
        </p:nvSpPr>
        <p:spPr>
          <a:xfrm>
            <a:off x="1325880" y="4726305"/>
            <a:ext cx="4480560" cy="1308735"/>
          </a:xfrm>
          <a:prstGeom prst="rect">
            <a:avLst/>
          </a:prstGeom>
        </p:spPr>
        <p:txBody>
          <a:bodyPr lIns="0" tIns="0" rIns="0" bIns="0" rtlCol="0" anchor="t">
            <a:spAutoFit/>
          </a:bodyPr>
          <a:lstStyle/>
          <a:p>
            <a:pPr algn="l">
              <a:lnSpc>
                <a:spcPts val="1919"/>
              </a:lnSpc>
            </a:pPr>
            <a:r>
              <a:rPr lang="en-US" sz="1599">
                <a:solidFill>
                  <a:srgbClr val="B4B4BC"/>
                </a:solidFill>
                <a:latin typeface="Calibri (MS)"/>
                <a:ea typeface="Calibri (MS)"/>
                <a:cs typeface="Calibri (MS)"/>
                <a:sym typeface="Calibri (MS)"/>
              </a:rPr>
              <a:t>The hooks scored highest for low pressure (4.2/5). The one non-user’s complaint was that it felt “overly complex.”</a:t>
            </a:r>
          </a:p>
        </p:txBody>
      </p:sp>
      <p:grpSp>
        <p:nvGrpSpPr>
          <p:cNvPr id="11" name="Group 11"/>
          <p:cNvGrpSpPr/>
          <p:nvPr/>
        </p:nvGrpSpPr>
        <p:grpSpPr>
          <a:xfrm>
            <a:off x="6537960" y="2560320"/>
            <a:ext cx="5212080" cy="3566160"/>
            <a:chOff x="0" y="0"/>
            <a:chExt cx="6949440" cy="4754880"/>
          </a:xfrm>
        </p:grpSpPr>
        <p:sp>
          <p:nvSpPr>
            <p:cNvPr id="12" name="Freeform 12"/>
            <p:cNvSpPr/>
            <p:nvPr/>
          </p:nvSpPr>
          <p:spPr>
            <a:xfrm>
              <a:off x="0" y="0"/>
              <a:ext cx="6949440" cy="4754880"/>
            </a:xfrm>
            <a:custGeom>
              <a:avLst/>
              <a:gdLst/>
              <a:ahLst/>
              <a:cxnLst/>
              <a:rect l="l" t="t" r="r" b="b"/>
              <a:pathLst>
                <a:path w="6949440" h="4754880">
                  <a:moveTo>
                    <a:pt x="0" y="146304"/>
                  </a:moveTo>
                  <a:cubicBezTo>
                    <a:pt x="0" y="65532"/>
                    <a:pt x="65532" y="0"/>
                    <a:pt x="146304" y="0"/>
                  </a:cubicBezTo>
                  <a:lnTo>
                    <a:pt x="6803136" y="0"/>
                  </a:lnTo>
                  <a:cubicBezTo>
                    <a:pt x="6883908" y="0"/>
                    <a:pt x="6949440" y="65532"/>
                    <a:pt x="6949440" y="146304"/>
                  </a:cubicBezTo>
                  <a:lnTo>
                    <a:pt x="6949440" y="4608576"/>
                  </a:lnTo>
                  <a:cubicBezTo>
                    <a:pt x="6949440" y="4689348"/>
                    <a:pt x="6883908" y="4754880"/>
                    <a:pt x="6803136" y="4754880"/>
                  </a:cubicBezTo>
                  <a:lnTo>
                    <a:pt x="146304" y="4754880"/>
                  </a:lnTo>
                  <a:cubicBezTo>
                    <a:pt x="65532" y="4754880"/>
                    <a:pt x="0" y="4689348"/>
                    <a:pt x="0" y="4608576"/>
                  </a:cubicBezTo>
                  <a:close/>
                </a:path>
              </a:pathLst>
            </a:custGeom>
            <a:solidFill>
              <a:srgbClr val="222222"/>
            </a:solidFill>
          </p:spPr>
          <p:txBody>
            <a:bodyPr/>
            <a:lstStyle/>
            <a:p>
              <a:endParaRPr lang="en-US"/>
            </a:p>
          </p:txBody>
        </p:sp>
      </p:grpSp>
      <p:grpSp>
        <p:nvGrpSpPr>
          <p:cNvPr id="13" name="Group 13"/>
          <p:cNvGrpSpPr/>
          <p:nvPr/>
        </p:nvGrpSpPr>
        <p:grpSpPr>
          <a:xfrm>
            <a:off x="6903720" y="2926080"/>
            <a:ext cx="548640" cy="548640"/>
            <a:chOff x="0" y="0"/>
            <a:chExt cx="731520" cy="731520"/>
          </a:xfrm>
        </p:grpSpPr>
        <p:sp>
          <p:nvSpPr>
            <p:cNvPr id="14" name="Freeform 14"/>
            <p:cNvSpPr/>
            <p:nvPr/>
          </p:nvSpPr>
          <p:spPr>
            <a:xfrm>
              <a:off x="0" y="0"/>
              <a:ext cx="731520" cy="731520"/>
            </a:xfrm>
            <a:custGeom>
              <a:avLst/>
              <a:gdLst/>
              <a:ahLst/>
              <a:cxnLst/>
              <a:rect l="l" t="t" r="r" b="b"/>
              <a:pathLst>
                <a:path w="731520" h="731520">
                  <a:moveTo>
                    <a:pt x="0" y="365760"/>
                  </a:moveTo>
                  <a:cubicBezTo>
                    <a:pt x="0" y="163703"/>
                    <a:pt x="163703" y="0"/>
                    <a:pt x="365760" y="0"/>
                  </a:cubicBezTo>
                  <a:cubicBezTo>
                    <a:pt x="567817" y="0"/>
                    <a:pt x="731520" y="163703"/>
                    <a:pt x="731520" y="365760"/>
                  </a:cubicBezTo>
                  <a:cubicBezTo>
                    <a:pt x="731520" y="567817"/>
                    <a:pt x="567817" y="731520"/>
                    <a:pt x="365760" y="731520"/>
                  </a:cubicBezTo>
                  <a:cubicBezTo>
                    <a:pt x="163703" y="731520"/>
                    <a:pt x="0" y="567817"/>
                    <a:pt x="0" y="365760"/>
                  </a:cubicBezTo>
                  <a:close/>
                </a:path>
              </a:pathLst>
            </a:custGeom>
            <a:solidFill>
              <a:srgbClr val="FFDE59"/>
            </a:solidFill>
          </p:spPr>
          <p:txBody>
            <a:bodyPr/>
            <a:lstStyle/>
            <a:p>
              <a:endParaRPr lang="en-US"/>
            </a:p>
          </p:txBody>
        </p:sp>
        <p:sp>
          <p:nvSpPr>
            <p:cNvPr id="15" name="TextBox 15"/>
            <p:cNvSpPr txBox="1"/>
            <p:nvPr/>
          </p:nvSpPr>
          <p:spPr>
            <a:xfrm>
              <a:off x="0" y="-19050"/>
              <a:ext cx="731520" cy="750570"/>
            </a:xfrm>
            <a:prstGeom prst="rect">
              <a:avLst/>
            </a:prstGeom>
          </p:spPr>
          <p:txBody>
            <a:bodyPr lIns="50800" tIns="50800" rIns="50800" bIns="50800" rtlCol="0" anchor="ctr"/>
            <a:lstStyle/>
            <a:p>
              <a:pPr algn="ctr">
                <a:lnSpc>
                  <a:spcPts val="1919"/>
                </a:lnSpc>
              </a:pPr>
              <a:r>
                <a:rPr lang="en-US" sz="1599" b="1">
                  <a:solidFill>
                    <a:srgbClr val="0A0A0A"/>
                  </a:solidFill>
                  <a:latin typeface="Arial Bold"/>
                  <a:ea typeface="Arial Bold"/>
                  <a:cs typeface="Arial Bold"/>
                  <a:sym typeface="Arial Bold"/>
                </a:rPr>
                <a:t>2</a:t>
              </a:r>
            </a:p>
          </p:txBody>
        </p:sp>
      </p:grpSp>
      <p:sp>
        <p:nvSpPr>
          <p:cNvPr id="16" name="TextBox 16"/>
          <p:cNvSpPr txBox="1"/>
          <p:nvPr/>
        </p:nvSpPr>
        <p:spPr>
          <a:xfrm>
            <a:off x="6903720" y="3739515"/>
            <a:ext cx="4480560" cy="641201"/>
          </a:xfrm>
          <a:prstGeom prst="rect">
            <a:avLst/>
          </a:prstGeom>
        </p:spPr>
        <p:txBody>
          <a:bodyPr lIns="0" tIns="0" rIns="0" bIns="0" rtlCol="0" anchor="t">
            <a:spAutoFit/>
          </a:bodyPr>
          <a:lstStyle/>
          <a:p>
            <a:pPr algn="l">
              <a:lnSpc>
                <a:spcPts val="2520"/>
              </a:lnSpc>
            </a:pPr>
            <a:r>
              <a:rPr lang="en-US" sz="2100" b="1" dirty="0">
                <a:solidFill>
                  <a:srgbClr val="FFFFFF"/>
                </a:solidFill>
                <a:latin typeface="Arial Bold"/>
                <a:ea typeface="Arial Bold"/>
                <a:cs typeface="Arial Bold"/>
                <a:sym typeface="Arial Bold"/>
              </a:rPr>
              <a:t>Test With The People You Want To Win</a:t>
            </a:r>
          </a:p>
        </p:txBody>
      </p:sp>
      <p:sp>
        <p:nvSpPr>
          <p:cNvPr id="17" name="TextBox 17"/>
          <p:cNvSpPr txBox="1"/>
          <p:nvPr/>
        </p:nvSpPr>
        <p:spPr>
          <a:xfrm>
            <a:off x="6903720" y="4726305"/>
            <a:ext cx="4480560" cy="1308735"/>
          </a:xfrm>
          <a:prstGeom prst="rect">
            <a:avLst/>
          </a:prstGeom>
        </p:spPr>
        <p:txBody>
          <a:bodyPr lIns="0" tIns="0" rIns="0" bIns="0" rtlCol="0" anchor="t">
            <a:spAutoFit/>
          </a:bodyPr>
          <a:lstStyle/>
          <a:p>
            <a:pPr algn="l">
              <a:lnSpc>
                <a:spcPts val="1919"/>
              </a:lnSpc>
            </a:pPr>
            <a:r>
              <a:rPr lang="en-US" sz="1599">
                <a:solidFill>
                  <a:srgbClr val="B4B4BC"/>
                </a:solidFill>
                <a:latin typeface="Calibri (MS)"/>
                <a:ea typeface="Calibri (MS)"/>
                <a:cs typeface="Calibri (MS)"/>
                <a:sym typeface="Calibri (MS)"/>
              </a:rPr>
              <a:t>Occasional users loved it; a non-user didn’t see the point. Two non-users weren’t enough to know why.</a:t>
            </a:r>
          </a:p>
        </p:txBody>
      </p:sp>
      <p:grpSp>
        <p:nvGrpSpPr>
          <p:cNvPr id="18" name="Group 18"/>
          <p:cNvGrpSpPr/>
          <p:nvPr/>
        </p:nvGrpSpPr>
        <p:grpSpPr>
          <a:xfrm>
            <a:off x="12115800" y="2560320"/>
            <a:ext cx="5212080" cy="3566160"/>
            <a:chOff x="0" y="0"/>
            <a:chExt cx="6949440" cy="4754880"/>
          </a:xfrm>
        </p:grpSpPr>
        <p:sp>
          <p:nvSpPr>
            <p:cNvPr id="19" name="Freeform 19"/>
            <p:cNvSpPr/>
            <p:nvPr/>
          </p:nvSpPr>
          <p:spPr>
            <a:xfrm>
              <a:off x="0" y="0"/>
              <a:ext cx="6949440" cy="4754880"/>
            </a:xfrm>
            <a:custGeom>
              <a:avLst/>
              <a:gdLst/>
              <a:ahLst/>
              <a:cxnLst/>
              <a:rect l="l" t="t" r="r" b="b"/>
              <a:pathLst>
                <a:path w="6949440" h="4754880">
                  <a:moveTo>
                    <a:pt x="0" y="146304"/>
                  </a:moveTo>
                  <a:cubicBezTo>
                    <a:pt x="0" y="65532"/>
                    <a:pt x="65532" y="0"/>
                    <a:pt x="146304" y="0"/>
                  </a:cubicBezTo>
                  <a:lnTo>
                    <a:pt x="6803136" y="0"/>
                  </a:lnTo>
                  <a:cubicBezTo>
                    <a:pt x="6883908" y="0"/>
                    <a:pt x="6949440" y="65532"/>
                    <a:pt x="6949440" y="146304"/>
                  </a:cubicBezTo>
                  <a:lnTo>
                    <a:pt x="6949440" y="4608576"/>
                  </a:lnTo>
                  <a:cubicBezTo>
                    <a:pt x="6949440" y="4689348"/>
                    <a:pt x="6883908" y="4754880"/>
                    <a:pt x="6803136" y="4754880"/>
                  </a:cubicBezTo>
                  <a:lnTo>
                    <a:pt x="146304" y="4754880"/>
                  </a:lnTo>
                  <a:cubicBezTo>
                    <a:pt x="65532" y="4754880"/>
                    <a:pt x="0" y="4689348"/>
                    <a:pt x="0" y="4608576"/>
                  </a:cubicBezTo>
                  <a:close/>
                </a:path>
              </a:pathLst>
            </a:custGeom>
            <a:solidFill>
              <a:srgbClr val="222222"/>
            </a:solidFill>
          </p:spPr>
          <p:txBody>
            <a:bodyPr/>
            <a:lstStyle/>
            <a:p>
              <a:endParaRPr lang="en-US"/>
            </a:p>
          </p:txBody>
        </p:sp>
      </p:grpSp>
      <p:grpSp>
        <p:nvGrpSpPr>
          <p:cNvPr id="20" name="Group 20"/>
          <p:cNvGrpSpPr/>
          <p:nvPr/>
        </p:nvGrpSpPr>
        <p:grpSpPr>
          <a:xfrm>
            <a:off x="12481560" y="2926080"/>
            <a:ext cx="548640" cy="548640"/>
            <a:chOff x="0" y="0"/>
            <a:chExt cx="731520" cy="731520"/>
          </a:xfrm>
        </p:grpSpPr>
        <p:sp>
          <p:nvSpPr>
            <p:cNvPr id="21" name="Freeform 21"/>
            <p:cNvSpPr/>
            <p:nvPr/>
          </p:nvSpPr>
          <p:spPr>
            <a:xfrm>
              <a:off x="0" y="0"/>
              <a:ext cx="731520" cy="731520"/>
            </a:xfrm>
            <a:custGeom>
              <a:avLst/>
              <a:gdLst/>
              <a:ahLst/>
              <a:cxnLst/>
              <a:rect l="l" t="t" r="r" b="b"/>
              <a:pathLst>
                <a:path w="731520" h="731520">
                  <a:moveTo>
                    <a:pt x="0" y="365760"/>
                  </a:moveTo>
                  <a:cubicBezTo>
                    <a:pt x="0" y="163703"/>
                    <a:pt x="163703" y="0"/>
                    <a:pt x="365760" y="0"/>
                  </a:cubicBezTo>
                  <a:cubicBezTo>
                    <a:pt x="567817" y="0"/>
                    <a:pt x="731520" y="163703"/>
                    <a:pt x="731520" y="365760"/>
                  </a:cubicBezTo>
                  <a:cubicBezTo>
                    <a:pt x="731520" y="567817"/>
                    <a:pt x="567817" y="731520"/>
                    <a:pt x="365760" y="731520"/>
                  </a:cubicBezTo>
                  <a:cubicBezTo>
                    <a:pt x="163703" y="731520"/>
                    <a:pt x="0" y="567817"/>
                    <a:pt x="0" y="365760"/>
                  </a:cubicBezTo>
                  <a:close/>
                </a:path>
              </a:pathLst>
            </a:custGeom>
            <a:solidFill>
              <a:srgbClr val="FFDE59"/>
            </a:solidFill>
          </p:spPr>
          <p:txBody>
            <a:bodyPr/>
            <a:lstStyle/>
            <a:p>
              <a:endParaRPr lang="en-US"/>
            </a:p>
          </p:txBody>
        </p:sp>
        <p:sp>
          <p:nvSpPr>
            <p:cNvPr id="22" name="TextBox 22"/>
            <p:cNvSpPr txBox="1"/>
            <p:nvPr/>
          </p:nvSpPr>
          <p:spPr>
            <a:xfrm>
              <a:off x="0" y="-19050"/>
              <a:ext cx="731520" cy="750570"/>
            </a:xfrm>
            <a:prstGeom prst="rect">
              <a:avLst/>
            </a:prstGeom>
          </p:spPr>
          <p:txBody>
            <a:bodyPr lIns="50800" tIns="50800" rIns="50800" bIns="50800" rtlCol="0" anchor="ctr"/>
            <a:lstStyle/>
            <a:p>
              <a:pPr algn="ctr">
                <a:lnSpc>
                  <a:spcPts val="1919"/>
                </a:lnSpc>
              </a:pPr>
              <a:r>
                <a:rPr lang="en-US" sz="1599" b="1">
                  <a:solidFill>
                    <a:srgbClr val="0A0A0A"/>
                  </a:solidFill>
                  <a:latin typeface="Arial Bold"/>
                  <a:ea typeface="Arial Bold"/>
                  <a:cs typeface="Arial Bold"/>
                  <a:sym typeface="Arial Bold"/>
                </a:rPr>
                <a:t>3</a:t>
              </a:r>
            </a:p>
          </p:txBody>
        </p:sp>
      </p:grpSp>
      <p:sp>
        <p:nvSpPr>
          <p:cNvPr id="23" name="TextBox 23"/>
          <p:cNvSpPr txBox="1"/>
          <p:nvPr/>
        </p:nvSpPr>
        <p:spPr>
          <a:xfrm>
            <a:off x="12481560" y="3739515"/>
            <a:ext cx="4480560" cy="641201"/>
          </a:xfrm>
          <a:prstGeom prst="rect">
            <a:avLst/>
          </a:prstGeom>
        </p:spPr>
        <p:txBody>
          <a:bodyPr lIns="0" tIns="0" rIns="0" bIns="0" rtlCol="0" anchor="t">
            <a:spAutoFit/>
          </a:bodyPr>
          <a:lstStyle/>
          <a:p>
            <a:pPr algn="l">
              <a:lnSpc>
                <a:spcPts val="2520"/>
              </a:lnSpc>
            </a:pPr>
            <a:r>
              <a:rPr lang="en-US" sz="2100" b="1" dirty="0">
                <a:solidFill>
                  <a:srgbClr val="FFFFFF"/>
                </a:solidFill>
                <a:latin typeface="Arial Bold"/>
                <a:ea typeface="Arial Bold"/>
                <a:cs typeface="Arial Bold"/>
                <a:sym typeface="Arial Bold"/>
              </a:rPr>
              <a:t>A Working Prototype Beats A Static Mock</a:t>
            </a:r>
          </a:p>
        </p:txBody>
      </p:sp>
      <p:sp>
        <p:nvSpPr>
          <p:cNvPr id="24" name="TextBox 24"/>
          <p:cNvSpPr txBox="1"/>
          <p:nvPr/>
        </p:nvSpPr>
        <p:spPr>
          <a:xfrm>
            <a:off x="12481560" y="4726305"/>
            <a:ext cx="4480560" cy="1308735"/>
          </a:xfrm>
          <a:prstGeom prst="rect">
            <a:avLst/>
          </a:prstGeom>
        </p:spPr>
        <p:txBody>
          <a:bodyPr lIns="0" tIns="0" rIns="0" bIns="0" rtlCol="0" anchor="t">
            <a:spAutoFit/>
          </a:bodyPr>
          <a:lstStyle/>
          <a:p>
            <a:pPr algn="l">
              <a:lnSpc>
                <a:spcPts val="1919"/>
              </a:lnSpc>
            </a:pPr>
            <a:r>
              <a:rPr lang="en-US" sz="1599">
                <a:solidFill>
                  <a:srgbClr val="B4B4BC"/>
                </a:solidFill>
                <a:latin typeface="Calibri (MS)"/>
                <a:ea typeface="Calibri (MS)"/>
                <a:cs typeface="Calibri (MS)"/>
                <a:sym typeface="Calibri (MS)"/>
              </a:rPr>
              <a:t>Clicking through the flow surfaced the extra taps in one session, something slides alone never showed.</a:t>
            </a:r>
          </a:p>
        </p:txBody>
      </p:sp>
      <p:sp>
        <p:nvSpPr>
          <p:cNvPr id="25" name="TextBox 25"/>
          <p:cNvSpPr txBox="1"/>
          <p:nvPr/>
        </p:nvSpPr>
        <p:spPr>
          <a:xfrm>
            <a:off x="960120" y="6518910"/>
            <a:ext cx="16367760" cy="384810"/>
          </a:xfrm>
          <a:prstGeom prst="rect">
            <a:avLst/>
          </a:prstGeom>
        </p:spPr>
        <p:txBody>
          <a:bodyPr lIns="0" tIns="0" rIns="0" bIns="0" rtlCol="0" anchor="t">
            <a:spAutoFit/>
          </a:bodyPr>
          <a:lstStyle/>
          <a:p>
            <a:pPr algn="l">
              <a:lnSpc>
                <a:spcPts val="1559"/>
              </a:lnSpc>
            </a:pPr>
            <a:r>
              <a:rPr lang="en-US" sz="1299" b="1" spc="399">
                <a:solidFill>
                  <a:srgbClr val="FFDE59"/>
                </a:solidFill>
                <a:latin typeface="Arial Bold"/>
                <a:ea typeface="Arial Bold"/>
                <a:cs typeface="Arial Bold"/>
                <a:sym typeface="Arial Bold"/>
              </a:rPr>
              <a:t>NEXT TIME</a:t>
            </a:r>
          </a:p>
        </p:txBody>
      </p:sp>
      <p:grpSp>
        <p:nvGrpSpPr>
          <p:cNvPr id="26" name="Group 26"/>
          <p:cNvGrpSpPr/>
          <p:nvPr/>
        </p:nvGrpSpPr>
        <p:grpSpPr>
          <a:xfrm>
            <a:off x="960120" y="6995160"/>
            <a:ext cx="5212080" cy="1371600"/>
            <a:chOff x="0" y="0"/>
            <a:chExt cx="6949440" cy="1828800"/>
          </a:xfrm>
        </p:grpSpPr>
        <p:sp>
          <p:nvSpPr>
            <p:cNvPr id="27" name="Freeform 27"/>
            <p:cNvSpPr/>
            <p:nvPr/>
          </p:nvSpPr>
          <p:spPr>
            <a:xfrm>
              <a:off x="0" y="0"/>
              <a:ext cx="6949440" cy="1828800"/>
            </a:xfrm>
            <a:custGeom>
              <a:avLst/>
              <a:gdLst/>
              <a:ahLst/>
              <a:cxnLst/>
              <a:rect l="l" t="t" r="r" b="b"/>
              <a:pathLst>
                <a:path w="6949440" h="1828800">
                  <a:moveTo>
                    <a:pt x="0" y="146304"/>
                  </a:moveTo>
                  <a:cubicBezTo>
                    <a:pt x="0" y="65532"/>
                    <a:pt x="65532" y="0"/>
                    <a:pt x="146304" y="0"/>
                  </a:cubicBezTo>
                  <a:lnTo>
                    <a:pt x="6803136" y="0"/>
                  </a:lnTo>
                  <a:cubicBezTo>
                    <a:pt x="6883908" y="0"/>
                    <a:pt x="6949440" y="65532"/>
                    <a:pt x="6949440" y="146304"/>
                  </a:cubicBezTo>
                  <a:lnTo>
                    <a:pt x="6949440" y="1682496"/>
                  </a:lnTo>
                  <a:cubicBezTo>
                    <a:pt x="6949440" y="1763268"/>
                    <a:pt x="6883908" y="1828800"/>
                    <a:pt x="6803136" y="1828800"/>
                  </a:cubicBezTo>
                  <a:lnTo>
                    <a:pt x="146304" y="1828800"/>
                  </a:lnTo>
                  <a:cubicBezTo>
                    <a:pt x="65532" y="1828800"/>
                    <a:pt x="0" y="1763268"/>
                    <a:pt x="0" y="1682496"/>
                  </a:cubicBezTo>
                  <a:close/>
                </a:path>
              </a:pathLst>
            </a:custGeom>
            <a:solidFill>
              <a:srgbClr val="161616"/>
            </a:solidFill>
          </p:spPr>
          <p:txBody>
            <a:bodyPr/>
            <a:lstStyle/>
            <a:p>
              <a:endParaRPr lang="en-US"/>
            </a:p>
          </p:txBody>
        </p:sp>
      </p:grpSp>
      <p:grpSp>
        <p:nvGrpSpPr>
          <p:cNvPr id="28" name="Group 28"/>
          <p:cNvGrpSpPr/>
          <p:nvPr/>
        </p:nvGrpSpPr>
        <p:grpSpPr>
          <a:xfrm>
            <a:off x="1325880" y="6995160"/>
            <a:ext cx="4480560" cy="1371600"/>
            <a:chOff x="0" y="0"/>
            <a:chExt cx="5974080" cy="1828800"/>
          </a:xfrm>
        </p:grpSpPr>
        <p:sp>
          <p:nvSpPr>
            <p:cNvPr id="29" name="Freeform 29"/>
            <p:cNvSpPr/>
            <p:nvPr/>
          </p:nvSpPr>
          <p:spPr>
            <a:xfrm>
              <a:off x="0" y="0"/>
              <a:ext cx="5974079" cy="1828800"/>
            </a:xfrm>
            <a:custGeom>
              <a:avLst/>
              <a:gdLst/>
              <a:ahLst/>
              <a:cxnLst/>
              <a:rect l="l" t="t" r="r" b="b"/>
              <a:pathLst>
                <a:path w="5974079" h="1828800">
                  <a:moveTo>
                    <a:pt x="0" y="0"/>
                  </a:moveTo>
                  <a:lnTo>
                    <a:pt x="5974079" y="0"/>
                  </a:lnTo>
                  <a:lnTo>
                    <a:pt x="5974079" y="1828800"/>
                  </a:lnTo>
                  <a:lnTo>
                    <a:pt x="0" y="1828800"/>
                  </a:lnTo>
                  <a:close/>
                </a:path>
              </a:pathLst>
            </a:custGeom>
            <a:blipFill>
              <a:blip r:embed="rId3">
                <a:alphaModFix amt="0"/>
              </a:blip>
              <a:stretch>
                <a:fillRect t="-13651" b="-13651"/>
              </a:stretch>
            </a:blipFill>
          </p:spPr>
          <p:txBody>
            <a:bodyPr/>
            <a:lstStyle/>
            <a:p>
              <a:endParaRPr lang="en-US"/>
            </a:p>
          </p:txBody>
        </p:sp>
        <p:sp>
          <p:nvSpPr>
            <p:cNvPr id="30" name="TextBox 30"/>
            <p:cNvSpPr txBox="1"/>
            <p:nvPr/>
          </p:nvSpPr>
          <p:spPr>
            <a:xfrm>
              <a:off x="0" y="-38100"/>
              <a:ext cx="5974080" cy="1866900"/>
            </a:xfrm>
            <a:prstGeom prst="rect">
              <a:avLst/>
            </a:prstGeom>
          </p:spPr>
          <p:txBody>
            <a:bodyPr lIns="0" tIns="0" rIns="0" bIns="0" rtlCol="0" anchor="ctr"/>
            <a:lstStyle/>
            <a:p>
              <a:pPr algn="l">
                <a:lnSpc>
                  <a:spcPts val="2040"/>
                </a:lnSpc>
              </a:pPr>
              <a:r>
                <a:rPr lang="en-US" sz="1700" b="1">
                  <a:solidFill>
                    <a:srgbClr val="FFFFFF"/>
                  </a:solidFill>
                  <a:latin typeface="Calibri (MS) Bold"/>
                  <a:ea typeface="Calibri (MS) Bold"/>
                  <a:cs typeface="Calibri (MS) Bold"/>
                  <a:sym typeface="Calibri (MS) Bold"/>
                </a:rPr>
                <a:t>Recruit 7–10 testers, with more non-users</a:t>
              </a:r>
            </a:p>
          </p:txBody>
        </p:sp>
      </p:grpSp>
      <p:grpSp>
        <p:nvGrpSpPr>
          <p:cNvPr id="31" name="Group 31"/>
          <p:cNvGrpSpPr/>
          <p:nvPr/>
        </p:nvGrpSpPr>
        <p:grpSpPr>
          <a:xfrm>
            <a:off x="6537960" y="6995160"/>
            <a:ext cx="5212080" cy="1371600"/>
            <a:chOff x="0" y="0"/>
            <a:chExt cx="6949440" cy="1828800"/>
          </a:xfrm>
        </p:grpSpPr>
        <p:sp>
          <p:nvSpPr>
            <p:cNvPr id="32" name="Freeform 32"/>
            <p:cNvSpPr/>
            <p:nvPr/>
          </p:nvSpPr>
          <p:spPr>
            <a:xfrm>
              <a:off x="0" y="0"/>
              <a:ext cx="6949440" cy="1828800"/>
            </a:xfrm>
            <a:custGeom>
              <a:avLst/>
              <a:gdLst/>
              <a:ahLst/>
              <a:cxnLst/>
              <a:rect l="l" t="t" r="r" b="b"/>
              <a:pathLst>
                <a:path w="6949440" h="1828800">
                  <a:moveTo>
                    <a:pt x="0" y="146304"/>
                  </a:moveTo>
                  <a:cubicBezTo>
                    <a:pt x="0" y="65532"/>
                    <a:pt x="65532" y="0"/>
                    <a:pt x="146304" y="0"/>
                  </a:cubicBezTo>
                  <a:lnTo>
                    <a:pt x="6803136" y="0"/>
                  </a:lnTo>
                  <a:cubicBezTo>
                    <a:pt x="6883908" y="0"/>
                    <a:pt x="6949440" y="65532"/>
                    <a:pt x="6949440" y="146304"/>
                  </a:cubicBezTo>
                  <a:lnTo>
                    <a:pt x="6949440" y="1682496"/>
                  </a:lnTo>
                  <a:cubicBezTo>
                    <a:pt x="6949440" y="1763268"/>
                    <a:pt x="6883908" y="1828800"/>
                    <a:pt x="6803136" y="1828800"/>
                  </a:cubicBezTo>
                  <a:lnTo>
                    <a:pt x="146304" y="1828800"/>
                  </a:lnTo>
                  <a:cubicBezTo>
                    <a:pt x="65532" y="1828800"/>
                    <a:pt x="0" y="1763268"/>
                    <a:pt x="0" y="1682496"/>
                  </a:cubicBezTo>
                  <a:close/>
                </a:path>
              </a:pathLst>
            </a:custGeom>
            <a:solidFill>
              <a:srgbClr val="161616"/>
            </a:solidFill>
          </p:spPr>
          <p:txBody>
            <a:bodyPr/>
            <a:lstStyle/>
            <a:p>
              <a:endParaRPr lang="en-US"/>
            </a:p>
          </p:txBody>
        </p:sp>
      </p:grpSp>
      <p:grpSp>
        <p:nvGrpSpPr>
          <p:cNvPr id="33" name="Group 33"/>
          <p:cNvGrpSpPr/>
          <p:nvPr/>
        </p:nvGrpSpPr>
        <p:grpSpPr>
          <a:xfrm>
            <a:off x="6903720" y="6995160"/>
            <a:ext cx="4480560" cy="1371600"/>
            <a:chOff x="0" y="0"/>
            <a:chExt cx="5974080" cy="1828800"/>
          </a:xfrm>
        </p:grpSpPr>
        <p:sp>
          <p:nvSpPr>
            <p:cNvPr id="34" name="Freeform 34"/>
            <p:cNvSpPr/>
            <p:nvPr/>
          </p:nvSpPr>
          <p:spPr>
            <a:xfrm>
              <a:off x="0" y="0"/>
              <a:ext cx="5974079" cy="1828800"/>
            </a:xfrm>
            <a:custGeom>
              <a:avLst/>
              <a:gdLst/>
              <a:ahLst/>
              <a:cxnLst/>
              <a:rect l="l" t="t" r="r" b="b"/>
              <a:pathLst>
                <a:path w="5974079" h="1828800">
                  <a:moveTo>
                    <a:pt x="0" y="0"/>
                  </a:moveTo>
                  <a:lnTo>
                    <a:pt x="5974079" y="0"/>
                  </a:lnTo>
                  <a:lnTo>
                    <a:pt x="5974079" y="1828800"/>
                  </a:lnTo>
                  <a:lnTo>
                    <a:pt x="0" y="1828800"/>
                  </a:lnTo>
                  <a:close/>
                </a:path>
              </a:pathLst>
            </a:custGeom>
            <a:blipFill>
              <a:blip r:embed="rId3">
                <a:alphaModFix amt="0"/>
              </a:blip>
              <a:stretch>
                <a:fillRect t="-13651" b="-13651"/>
              </a:stretch>
            </a:blipFill>
          </p:spPr>
          <p:txBody>
            <a:bodyPr/>
            <a:lstStyle/>
            <a:p>
              <a:endParaRPr lang="en-US"/>
            </a:p>
          </p:txBody>
        </p:sp>
        <p:sp>
          <p:nvSpPr>
            <p:cNvPr id="35" name="TextBox 35"/>
            <p:cNvSpPr txBox="1"/>
            <p:nvPr/>
          </p:nvSpPr>
          <p:spPr>
            <a:xfrm>
              <a:off x="0" y="-38100"/>
              <a:ext cx="5974080" cy="1866900"/>
            </a:xfrm>
            <a:prstGeom prst="rect">
              <a:avLst/>
            </a:prstGeom>
          </p:spPr>
          <p:txBody>
            <a:bodyPr lIns="0" tIns="0" rIns="0" bIns="0" rtlCol="0" anchor="ctr"/>
            <a:lstStyle/>
            <a:p>
              <a:pPr algn="l">
                <a:lnSpc>
                  <a:spcPts val="2040"/>
                </a:lnSpc>
              </a:pPr>
              <a:r>
                <a:rPr lang="en-US" sz="1700" b="1">
                  <a:solidFill>
                    <a:srgbClr val="FFFFFF"/>
                  </a:solidFill>
                  <a:latin typeface="Calibri (MS) Bold"/>
                  <a:ea typeface="Calibri (MS) Bold"/>
                  <a:cs typeface="Calibri (MS) Bold"/>
                  <a:sym typeface="Calibri (MS) Bold"/>
                </a:rPr>
                <a:t>Measure taps and time-on-task during each task</a:t>
              </a:r>
            </a:p>
          </p:txBody>
        </p:sp>
      </p:grpSp>
      <p:grpSp>
        <p:nvGrpSpPr>
          <p:cNvPr id="36" name="Group 36"/>
          <p:cNvGrpSpPr/>
          <p:nvPr/>
        </p:nvGrpSpPr>
        <p:grpSpPr>
          <a:xfrm>
            <a:off x="12115800" y="6995160"/>
            <a:ext cx="5212080" cy="1371600"/>
            <a:chOff x="0" y="0"/>
            <a:chExt cx="6949440" cy="1828800"/>
          </a:xfrm>
        </p:grpSpPr>
        <p:sp>
          <p:nvSpPr>
            <p:cNvPr id="37" name="Freeform 37"/>
            <p:cNvSpPr/>
            <p:nvPr/>
          </p:nvSpPr>
          <p:spPr>
            <a:xfrm>
              <a:off x="0" y="0"/>
              <a:ext cx="6949440" cy="1828800"/>
            </a:xfrm>
            <a:custGeom>
              <a:avLst/>
              <a:gdLst/>
              <a:ahLst/>
              <a:cxnLst/>
              <a:rect l="l" t="t" r="r" b="b"/>
              <a:pathLst>
                <a:path w="6949440" h="1828800">
                  <a:moveTo>
                    <a:pt x="0" y="146304"/>
                  </a:moveTo>
                  <a:cubicBezTo>
                    <a:pt x="0" y="65532"/>
                    <a:pt x="65532" y="0"/>
                    <a:pt x="146304" y="0"/>
                  </a:cubicBezTo>
                  <a:lnTo>
                    <a:pt x="6803136" y="0"/>
                  </a:lnTo>
                  <a:cubicBezTo>
                    <a:pt x="6883908" y="0"/>
                    <a:pt x="6949440" y="65532"/>
                    <a:pt x="6949440" y="146304"/>
                  </a:cubicBezTo>
                  <a:lnTo>
                    <a:pt x="6949440" y="1682496"/>
                  </a:lnTo>
                  <a:cubicBezTo>
                    <a:pt x="6949440" y="1763268"/>
                    <a:pt x="6883908" y="1828800"/>
                    <a:pt x="6803136" y="1828800"/>
                  </a:cubicBezTo>
                  <a:lnTo>
                    <a:pt x="146304" y="1828800"/>
                  </a:lnTo>
                  <a:cubicBezTo>
                    <a:pt x="65532" y="1828800"/>
                    <a:pt x="0" y="1763268"/>
                    <a:pt x="0" y="1682496"/>
                  </a:cubicBezTo>
                  <a:close/>
                </a:path>
              </a:pathLst>
            </a:custGeom>
            <a:solidFill>
              <a:srgbClr val="161616"/>
            </a:solidFill>
          </p:spPr>
          <p:txBody>
            <a:bodyPr/>
            <a:lstStyle/>
            <a:p>
              <a:endParaRPr lang="en-US"/>
            </a:p>
          </p:txBody>
        </p:sp>
      </p:grpSp>
      <p:grpSp>
        <p:nvGrpSpPr>
          <p:cNvPr id="38" name="Group 38"/>
          <p:cNvGrpSpPr/>
          <p:nvPr/>
        </p:nvGrpSpPr>
        <p:grpSpPr>
          <a:xfrm>
            <a:off x="12481560" y="6995160"/>
            <a:ext cx="4480560" cy="1371600"/>
            <a:chOff x="0" y="0"/>
            <a:chExt cx="5974080" cy="1828800"/>
          </a:xfrm>
        </p:grpSpPr>
        <p:sp>
          <p:nvSpPr>
            <p:cNvPr id="39" name="Freeform 39"/>
            <p:cNvSpPr/>
            <p:nvPr/>
          </p:nvSpPr>
          <p:spPr>
            <a:xfrm>
              <a:off x="0" y="0"/>
              <a:ext cx="5974079" cy="1828800"/>
            </a:xfrm>
            <a:custGeom>
              <a:avLst/>
              <a:gdLst/>
              <a:ahLst/>
              <a:cxnLst/>
              <a:rect l="l" t="t" r="r" b="b"/>
              <a:pathLst>
                <a:path w="5974079" h="1828800">
                  <a:moveTo>
                    <a:pt x="0" y="0"/>
                  </a:moveTo>
                  <a:lnTo>
                    <a:pt x="5974079" y="0"/>
                  </a:lnTo>
                  <a:lnTo>
                    <a:pt x="5974079" y="1828800"/>
                  </a:lnTo>
                  <a:lnTo>
                    <a:pt x="0" y="1828800"/>
                  </a:lnTo>
                  <a:close/>
                </a:path>
              </a:pathLst>
            </a:custGeom>
            <a:blipFill>
              <a:blip r:embed="rId3">
                <a:alphaModFix amt="0"/>
              </a:blip>
              <a:stretch>
                <a:fillRect t="-13651" b="-13651"/>
              </a:stretch>
            </a:blipFill>
          </p:spPr>
          <p:txBody>
            <a:bodyPr/>
            <a:lstStyle/>
            <a:p>
              <a:endParaRPr lang="en-US"/>
            </a:p>
          </p:txBody>
        </p:sp>
        <p:sp>
          <p:nvSpPr>
            <p:cNvPr id="40" name="TextBox 40"/>
            <p:cNvSpPr txBox="1"/>
            <p:nvPr/>
          </p:nvSpPr>
          <p:spPr>
            <a:xfrm>
              <a:off x="0" y="-38100"/>
              <a:ext cx="5974080" cy="1866900"/>
            </a:xfrm>
            <a:prstGeom prst="rect">
              <a:avLst/>
            </a:prstGeom>
          </p:spPr>
          <p:txBody>
            <a:bodyPr lIns="0" tIns="0" rIns="0" bIns="0" rtlCol="0" anchor="ctr"/>
            <a:lstStyle/>
            <a:p>
              <a:pPr algn="l">
                <a:lnSpc>
                  <a:spcPts val="2040"/>
                </a:lnSpc>
              </a:pPr>
              <a:r>
                <a:rPr lang="en-US" sz="1700" b="1">
                  <a:solidFill>
                    <a:srgbClr val="FFFFFF"/>
                  </a:solidFill>
                  <a:latin typeface="Calibri (MS) Bold"/>
                  <a:ea typeface="Calibri (MS) Bold"/>
                  <a:cs typeface="Calibri (MS) Bold"/>
                  <a:sym typeface="Calibri (MS) Bold"/>
                </a:rPr>
                <a:t>Test the hooks over a full week, not one session</a:t>
              </a:r>
            </a:p>
          </p:txBody>
        </p:sp>
      </p:gr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bg>
      <p:bgPr>
        <a:solidFill>
          <a:srgbClr val="0A0A0A"/>
        </a:solidFill>
        <a:effectLst/>
      </p:bgPr>
    </p:bg>
    <p:spTree>
      <p:nvGrpSpPr>
        <p:cNvPr id="1" name=""/>
        <p:cNvGrpSpPr/>
        <p:nvPr/>
      </p:nvGrpSpPr>
      <p:grpSpPr>
        <a:xfrm>
          <a:off x="0" y="0"/>
          <a:ext cx="0" cy="0"/>
          <a:chOff x="0" y="0"/>
          <a:chExt cx="0" cy="0"/>
        </a:xfrm>
      </p:grpSpPr>
      <p:grpSp>
        <p:nvGrpSpPr>
          <p:cNvPr id="2" name="Group 2"/>
          <p:cNvGrpSpPr/>
          <p:nvPr/>
        </p:nvGrpSpPr>
        <p:grpSpPr>
          <a:xfrm>
            <a:off x="13488829" y="1830229"/>
            <a:ext cx="3128962" cy="4116514"/>
            <a:chOff x="0" y="0"/>
            <a:chExt cx="4171950" cy="5488686"/>
          </a:xfrm>
        </p:grpSpPr>
        <p:sp>
          <p:nvSpPr>
            <p:cNvPr id="3" name="Freeform 3"/>
            <p:cNvSpPr/>
            <p:nvPr/>
          </p:nvSpPr>
          <p:spPr>
            <a:xfrm>
              <a:off x="0" y="0"/>
              <a:ext cx="4171950" cy="5488686"/>
            </a:xfrm>
            <a:custGeom>
              <a:avLst/>
              <a:gdLst/>
              <a:ahLst/>
              <a:cxnLst/>
              <a:rect l="l" t="t" r="r" b="b"/>
              <a:pathLst>
                <a:path w="4171950" h="5488686">
                  <a:moveTo>
                    <a:pt x="0" y="259588"/>
                  </a:moveTo>
                  <a:cubicBezTo>
                    <a:pt x="0" y="116205"/>
                    <a:pt x="116205" y="0"/>
                    <a:pt x="259588" y="0"/>
                  </a:cubicBezTo>
                  <a:lnTo>
                    <a:pt x="3912362" y="0"/>
                  </a:lnTo>
                  <a:cubicBezTo>
                    <a:pt x="4055745" y="0"/>
                    <a:pt x="4171950" y="116205"/>
                    <a:pt x="4171950" y="259588"/>
                  </a:cubicBezTo>
                  <a:lnTo>
                    <a:pt x="4171950" y="5229098"/>
                  </a:lnTo>
                  <a:cubicBezTo>
                    <a:pt x="4171950" y="5372481"/>
                    <a:pt x="4055745" y="5488686"/>
                    <a:pt x="3912362" y="5488686"/>
                  </a:cubicBezTo>
                  <a:lnTo>
                    <a:pt x="259588" y="5488686"/>
                  </a:lnTo>
                  <a:cubicBezTo>
                    <a:pt x="116205" y="5488686"/>
                    <a:pt x="0" y="5372481"/>
                    <a:pt x="0" y="5229098"/>
                  </a:cubicBezTo>
                  <a:close/>
                </a:path>
              </a:pathLst>
            </a:custGeom>
            <a:solidFill>
              <a:srgbClr val="141414"/>
            </a:solidFill>
            <a:ln w="42862" cap="sq">
              <a:solidFill>
                <a:srgbClr val="FFFFFF"/>
              </a:solidFill>
              <a:prstDash val="solid"/>
              <a:miter/>
            </a:ln>
          </p:spPr>
          <p:txBody>
            <a:bodyPr/>
            <a:lstStyle/>
            <a:p>
              <a:endParaRPr lang="en-US"/>
            </a:p>
          </p:txBody>
        </p:sp>
      </p:grpSp>
      <p:grpSp>
        <p:nvGrpSpPr>
          <p:cNvPr id="4" name="Group 4"/>
          <p:cNvGrpSpPr/>
          <p:nvPr/>
        </p:nvGrpSpPr>
        <p:grpSpPr>
          <a:xfrm>
            <a:off x="12911900" y="2032645"/>
            <a:ext cx="1153858" cy="1464935"/>
            <a:chOff x="0" y="0"/>
            <a:chExt cx="1538478" cy="1953247"/>
          </a:xfrm>
        </p:grpSpPr>
        <p:sp>
          <p:nvSpPr>
            <p:cNvPr id="5" name="Freeform 5"/>
            <p:cNvSpPr/>
            <p:nvPr/>
          </p:nvSpPr>
          <p:spPr>
            <a:xfrm>
              <a:off x="0" y="0"/>
              <a:ext cx="1538605" cy="1953260"/>
            </a:xfrm>
            <a:custGeom>
              <a:avLst/>
              <a:gdLst/>
              <a:ahLst/>
              <a:cxnLst/>
              <a:rect l="l" t="t" r="r" b="b"/>
              <a:pathLst>
                <a:path w="1538605" h="1953260">
                  <a:moveTo>
                    <a:pt x="0" y="189992"/>
                  </a:moveTo>
                  <a:cubicBezTo>
                    <a:pt x="0" y="85090"/>
                    <a:pt x="85090" y="0"/>
                    <a:pt x="189992" y="0"/>
                  </a:cubicBezTo>
                  <a:lnTo>
                    <a:pt x="1348613" y="0"/>
                  </a:lnTo>
                  <a:cubicBezTo>
                    <a:pt x="1453515" y="0"/>
                    <a:pt x="1538605" y="85090"/>
                    <a:pt x="1538605" y="189992"/>
                  </a:cubicBezTo>
                  <a:lnTo>
                    <a:pt x="1538605" y="1763268"/>
                  </a:lnTo>
                  <a:cubicBezTo>
                    <a:pt x="1538605" y="1868170"/>
                    <a:pt x="1453515" y="1953260"/>
                    <a:pt x="1348613" y="1953260"/>
                  </a:cubicBezTo>
                  <a:lnTo>
                    <a:pt x="189992" y="1953260"/>
                  </a:lnTo>
                  <a:cubicBezTo>
                    <a:pt x="85090" y="1953260"/>
                    <a:pt x="0" y="1868170"/>
                    <a:pt x="0" y="1763268"/>
                  </a:cubicBezTo>
                  <a:close/>
                </a:path>
              </a:pathLst>
            </a:custGeom>
            <a:solidFill>
              <a:srgbClr val="93A9CF"/>
            </a:solidFill>
            <a:ln w="42862" cap="sq">
              <a:solidFill>
                <a:srgbClr val="FFFFFF"/>
              </a:solidFill>
              <a:prstDash val="solid"/>
              <a:miter/>
            </a:ln>
          </p:spPr>
          <p:txBody>
            <a:bodyPr/>
            <a:lstStyle/>
            <a:p>
              <a:endParaRPr lang="en-US"/>
            </a:p>
          </p:txBody>
        </p:sp>
      </p:grpSp>
      <p:grpSp>
        <p:nvGrpSpPr>
          <p:cNvPr id="6" name="Group 6"/>
          <p:cNvGrpSpPr/>
          <p:nvPr/>
        </p:nvGrpSpPr>
        <p:grpSpPr>
          <a:xfrm>
            <a:off x="1028700" y="3497580"/>
            <a:ext cx="10972800" cy="548640"/>
            <a:chOff x="0" y="0"/>
            <a:chExt cx="14630400" cy="731520"/>
          </a:xfrm>
        </p:grpSpPr>
        <p:sp>
          <p:nvSpPr>
            <p:cNvPr id="7" name="Freeform 7"/>
            <p:cNvSpPr/>
            <p:nvPr/>
          </p:nvSpPr>
          <p:spPr>
            <a:xfrm>
              <a:off x="0" y="0"/>
              <a:ext cx="14630400" cy="731520"/>
            </a:xfrm>
            <a:custGeom>
              <a:avLst/>
              <a:gdLst/>
              <a:ahLst/>
              <a:cxnLst/>
              <a:rect l="l" t="t" r="r" b="b"/>
              <a:pathLst>
                <a:path w="14630400" h="731520">
                  <a:moveTo>
                    <a:pt x="0" y="0"/>
                  </a:moveTo>
                  <a:lnTo>
                    <a:pt x="14630400" y="0"/>
                  </a:lnTo>
                  <a:lnTo>
                    <a:pt x="14630400" y="731520"/>
                  </a:lnTo>
                  <a:lnTo>
                    <a:pt x="0" y="731520"/>
                  </a:lnTo>
                  <a:close/>
                </a:path>
              </a:pathLst>
            </a:custGeom>
            <a:blipFill>
              <a:blip r:embed="rId3">
                <a:alphaModFix amt="0"/>
              </a:blip>
              <a:stretch>
                <a:fillRect t="-339700" b="-339700"/>
              </a:stretch>
            </a:blipFill>
          </p:spPr>
          <p:txBody>
            <a:bodyPr/>
            <a:lstStyle/>
            <a:p>
              <a:endParaRPr lang="en-US"/>
            </a:p>
          </p:txBody>
        </p:sp>
        <p:sp>
          <p:nvSpPr>
            <p:cNvPr id="8" name="TextBox 8"/>
            <p:cNvSpPr txBox="1"/>
            <p:nvPr/>
          </p:nvSpPr>
          <p:spPr>
            <a:xfrm>
              <a:off x="0" y="-9525"/>
              <a:ext cx="14630400" cy="741045"/>
            </a:xfrm>
            <a:prstGeom prst="rect">
              <a:avLst/>
            </a:prstGeom>
          </p:spPr>
          <p:txBody>
            <a:bodyPr lIns="0" tIns="0" rIns="0" bIns="0" rtlCol="0" anchor="ctr"/>
            <a:lstStyle/>
            <a:p>
              <a:pPr algn="l">
                <a:lnSpc>
                  <a:spcPts val="2520"/>
                </a:lnSpc>
              </a:pPr>
              <a:r>
                <a:rPr lang="en-US" sz="2100" b="1" spc="450">
                  <a:solidFill>
                    <a:srgbClr val="93A9CF"/>
                  </a:solidFill>
                  <a:latin typeface="Arial Bold"/>
                  <a:ea typeface="Arial Bold"/>
                  <a:cs typeface="Arial Bold"/>
                  <a:sym typeface="Arial Bold"/>
                </a:rPr>
                <a:t>THANK YOU</a:t>
              </a:r>
            </a:p>
          </p:txBody>
        </p:sp>
      </p:grpSp>
      <p:grpSp>
        <p:nvGrpSpPr>
          <p:cNvPr id="9" name="Group 9"/>
          <p:cNvGrpSpPr/>
          <p:nvPr/>
        </p:nvGrpSpPr>
        <p:grpSpPr>
          <a:xfrm>
            <a:off x="960120" y="4046220"/>
            <a:ext cx="11658600" cy="2743200"/>
            <a:chOff x="0" y="0"/>
            <a:chExt cx="15544800" cy="3657600"/>
          </a:xfrm>
        </p:grpSpPr>
        <p:sp>
          <p:nvSpPr>
            <p:cNvPr id="10" name="Freeform 10"/>
            <p:cNvSpPr/>
            <p:nvPr/>
          </p:nvSpPr>
          <p:spPr>
            <a:xfrm>
              <a:off x="0" y="0"/>
              <a:ext cx="15544800" cy="3657600"/>
            </a:xfrm>
            <a:custGeom>
              <a:avLst/>
              <a:gdLst/>
              <a:ahLst/>
              <a:cxnLst/>
              <a:rect l="l" t="t" r="r" b="b"/>
              <a:pathLst>
                <a:path w="15544800" h="3657600">
                  <a:moveTo>
                    <a:pt x="0" y="0"/>
                  </a:moveTo>
                  <a:lnTo>
                    <a:pt x="15544800" y="0"/>
                  </a:lnTo>
                  <a:lnTo>
                    <a:pt x="15544800" y="3657600"/>
                  </a:lnTo>
                  <a:lnTo>
                    <a:pt x="0" y="3657600"/>
                  </a:lnTo>
                  <a:close/>
                </a:path>
              </a:pathLst>
            </a:custGeom>
            <a:blipFill>
              <a:blip r:embed="rId3">
                <a:alphaModFix amt="0"/>
              </a:blip>
              <a:stretch>
                <a:fillRect t="-32811" b="-32811"/>
              </a:stretch>
            </a:blipFill>
          </p:spPr>
          <p:txBody>
            <a:bodyPr/>
            <a:lstStyle/>
            <a:p>
              <a:endParaRPr lang="en-US"/>
            </a:p>
          </p:txBody>
        </p:sp>
        <p:sp>
          <p:nvSpPr>
            <p:cNvPr id="11" name="TextBox 11"/>
            <p:cNvSpPr txBox="1"/>
            <p:nvPr/>
          </p:nvSpPr>
          <p:spPr>
            <a:xfrm>
              <a:off x="0" y="-66675"/>
              <a:ext cx="15544800" cy="3724275"/>
            </a:xfrm>
            <a:prstGeom prst="rect">
              <a:avLst/>
            </a:prstGeom>
          </p:spPr>
          <p:txBody>
            <a:bodyPr lIns="0" tIns="0" rIns="0" bIns="0" rtlCol="0" anchor="ctr"/>
            <a:lstStyle/>
            <a:p>
              <a:pPr algn="l">
                <a:lnSpc>
                  <a:spcPts val="8694"/>
                </a:lnSpc>
              </a:pPr>
              <a:r>
                <a:rPr lang="en-US" sz="6900" b="1">
                  <a:solidFill>
                    <a:srgbClr val="FFFFFF"/>
                  </a:solidFill>
                  <a:latin typeface="Arial Bold"/>
                  <a:ea typeface="Arial Bold"/>
                  <a:cs typeface="Arial Bold"/>
                  <a:sym typeface="Arial Bold"/>
                </a:rPr>
                <a:t>Be real.</a:t>
              </a:r>
            </a:p>
            <a:p>
              <a:pPr algn="l">
                <a:lnSpc>
                  <a:spcPts val="8694"/>
                </a:lnSpc>
              </a:pPr>
              <a:r>
                <a:rPr lang="en-US" sz="6900" b="1">
                  <a:solidFill>
                    <a:srgbClr val="FFFFFF"/>
                  </a:solidFill>
                  <a:latin typeface="Arial Bold"/>
                  <a:ea typeface="Arial Bold"/>
                  <a:cs typeface="Arial Bold"/>
                  <a:sym typeface="Arial Bold"/>
                </a:rPr>
                <a:t>Not polished.</a:t>
              </a:r>
            </a:p>
          </p:txBody>
        </p:sp>
      </p:grpSp>
      <p:sp>
        <p:nvSpPr>
          <p:cNvPr id="12" name="AutoShape 12"/>
          <p:cNvSpPr/>
          <p:nvPr/>
        </p:nvSpPr>
        <p:spPr>
          <a:xfrm rot="35460">
            <a:off x="1014336" y="6985635"/>
            <a:ext cx="2771918" cy="0"/>
          </a:xfrm>
          <a:prstGeom prst="line">
            <a:avLst/>
          </a:prstGeom>
          <a:ln w="19050" cap="rnd">
            <a:solidFill>
              <a:srgbClr val="2B2B2B"/>
            </a:solidFill>
            <a:prstDash val="solid"/>
            <a:headEnd type="none" w="sm" len="sm"/>
            <a:tailEnd type="none" w="sm" len="sm"/>
          </a:ln>
        </p:spPr>
        <p:txBody>
          <a:bodyPr/>
          <a:lstStyle/>
          <a:p>
            <a:endParaRPr lang="en-US"/>
          </a:p>
        </p:txBody>
      </p:sp>
      <p:grpSp>
        <p:nvGrpSpPr>
          <p:cNvPr id="13" name="Group 13"/>
          <p:cNvGrpSpPr/>
          <p:nvPr/>
        </p:nvGrpSpPr>
        <p:grpSpPr>
          <a:xfrm>
            <a:off x="960120" y="7328664"/>
            <a:ext cx="9601200" cy="1432285"/>
            <a:chOff x="0" y="0"/>
            <a:chExt cx="12801600" cy="1909713"/>
          </a:xfrm>
        </p:grpSpPr>
        <p:sp>
          <p:nvSpPr>
            <p:cNvPr id="14" name="Freeform 14"/>
            <p:cNvSpPr/>
            <p:nvPr/>
          </p:nvSpPr>
          <p:spPr>
            <a:xfrm>
              <a:off x="0" y="0"/>
              <a:ext cx="12801600" cy="1909713"/>
            </a:xfrm>
            <a:custGeom>
              <a:avLst/>
              <a:gdLst/>
              <a:ahLst/>
              <a:cxnLst/>
              <a:rect l="l" t="t" r="r" b="b"/>
              <a:pathLst>
                <a:path w="12801600" h="1909713">
                  <a:moveTo>
                    <a:pt x="0" y="0"/>
                  </a:moveTo>
                  <a:lnTo>
                    <a:pt x="12801600" y="0"/>
                  </a:lnTo>
                  <a:lnTo>
                    <a:pt x="12801600" y="1909713"/>
                  </a:lnTo>
                  <a:lnTo>
                    <a:pt x="0" y="1909713"/>
                  </a:lnTo>
                  <a:close/>
                </a:path>
              </a:pathLst>
            </a:custGeom>
            <a:blipFill>
              <a:blip r:embed="rId3">
                <a:alphaModFix amt="0"/>
              </a:blip>
              <a:stretch>
                <a:fillRect t="-113857" b="-47374"/>
              </a:stretch>
            </a:blipFill>
          </p:spPr>
          <p:txBody>
            <a:bodyPr/>
            <a:lstStyle/>
            <a:p>
              <a:endParaRPr lang="en-US"/>
            </a:p>
          </p:txBody>
        </p:sp>
        <p:sp>
          <p:nvSpPr>
            <p:cNvPr id="15" name="TextBox 15"/>
            <p:cNvSpPr txBox="1"/>
            <p:nvPr/>
          </p:nvSpPr>
          <p:spPr>
            <a:xfrm>
              <a:off x="0" y="-19050"/>
              <a:ext cx="12801600" cy="1928763"/>
            </a:xfrm>
            <a:prstGeom prst="rect">
              <a:avLst/>
            </a:prstGeom>
          </p:spPr>
          <p:txBody>
            <a:bodyPr lIns="0" tIns="0" rIns="0" bIns="0" rtlCol="0" anchor="ctr"/>
            <a:lstStyle/>
            <a:p>
              <a:pPr algn="l">
                <a:lnSpc>
                  <a:spcPts val="2160"/>
                </a:lnSpc>
              </a:pPr>
              <a:r>
                <a:rPr lang="en-US" sz="1800" dirty="0">
                  <a:solidFill>
                    <a:srgbClr val="FFFFFF"/>
                  </a:solidFill>
                  <a:latin typeface="Arial"/>
                  <a:ea typeface="Arial"/>
                  <a:cs typeface="Arial"/>
                  <a:sym typeface="Arial"/>
                </a:rPr>
                <a:t>Prototype —  Be</a:t>
              </a:r>
              <a:r>
                <a:rPr lang="en-US" sz="1800" i="1" dirty="0">
                  <a:solidFill>
                    <a:srgbClr val="FFFFFF"/>
                  </a:solidFill>
                  <a:latin typeface="Arial Italics"/>
                  <a:ea typeface="Arial Italics"/>
                  <a:cs typeface="Arial Italics"/>
                  <a:sym typeface="Arial Italics"/>
                </a:rPr>
                <a:t>Real Passport And Community Boards</a:t>
              </a:r>
            </a:p>
            <a:p>
              <a:pPr algn="l">
                <a:lnSpc>
                  <a:spcPts val="2160"/>
                </a:lnSpc>
              </a:pPr>
              <a:endParaRPr lang="en-US" sz="1800" i="1" dirty="0">
                <a:solidFill>
                  <a:srgbClr val="FFFFFF"/>
                </a:solidFill>
                <a:latin typeface="Arial Italics"/>
                <a:ea typeface="Arial Italics"/>
                <a:cs typeface="Arial Italics"/>
                <a:sym typeface="Arial Italics"/>
              </a:endParaRPr>
            </a:p>
            <a:p>
              <a:pPr algn="l">
                <a:lnSpc>
                  <a:spcPts val="2160"/>
                </a:lnSpc>
              </a:pPr>
              <a:r>
                <a:rPr lang="en-US" sz="1800" dirty="0">
                  <a:solidFill>
                    <a:srgbClr val="FFFFFF"/>
                  </a:solidFill>
                  <a:latin typeface="Arial"/>
                  <a:ea typeface="Arial"/>
                  <a:cs typeface="Arial"/>
                  <a:sym typeface="Arial"/>
                </a:rPr>
                <a:t>Prepared 2026</a:t>
              </a:r>
            </a:p>
            <a:p>
              <a:pPr algn="l">
                <a:lnSpc>
                  <a:spcPts val="2160"/>
                </a:lnSpc>
              </a:pPr>
              <a:endParaRPr lang="en-US" sz="1800" dirty="0">
                <a:solidFill>
                  <a:srgbClr val="FFFFFF"/>
                </a:solidFill>
                <a:latin typeface="Arial"/>
                <a:ea typeface="Arial"/>
                <a:cs typeface="Arial"/>
                <a:sym typeface="Arial"/>
              </a:endParaRPr>
            </a:p>
            <a:p>
              <a:pPr algn="l">
                <a:lnSpc>
                  <a:spcPts val="2160"/>
                </a:lnSpc>
              </a:pPr>
              <a:r>
                <a:rPr lang="en-US" sz="1800" dirty="0">
                  <a:solidFill>
                    <a:srgbClr val="FFFFFF"/>
                  </a:solidFill>
                  <a:latin typeface="Arial"/>
                  <a:ea typeface="Arial"/>
                  <a:cs typeface="Arial"/>
                  <a:sym typeface="Arial"/>
                </a:rPr>
                <a:t>Presented by Lashawn Fofung, MBA, PMP, CSM, CSPO</a:t>
              </a:r>
            </a:p>
          </p:txBody>
        </p:sp>
      </p:grpSp>
      <p:sp>
        <p:nvSpPr>
          <p:cNvPr id="16" name="TextBox 47">
            <a:extLst>
              <a:ext uri="{FF2B5EF4-FFF2-40B4-BE49-F238E27FC236}">
                <a16:creationId xmlns:a16="http://schemas.microsoft.com/office/drawing/2014/main" id="{B40C54E2-CD0D-EF6C-178D-82EE58024BE7}"/>
              </a:ext>
            </a:extLst>
          </p:cNvPr>
          <p:cNvSpPr txBox="1"/>
          <p:nvPr/>
        </p:nvSpPr>
        <p:spPr>
          <a:xfrm>
            <a:off x="949234" y="9088737"/>
            <a:ext cx="16367760" cy="224420"/>
          </a:xfrm>
          <a:prstGeom prst="rect">
            <a:avLst/>
          </a:prstGeom>
        </p:spPr>
        <p:txBody>
          <a:bodyPr lIns="0" tIns="0" rIns="0" bIns="0" rtlCol="0" anchor="t">
            <a:spAutoFit/>
          </a:bodyPr>
          <a:lstStyle/>
          <a:p>
            <a:pPr algn="l">
              <a:lnSpc>
                <a:spcPts val="1680"/>
              </a:lnSpc>
            </a:pPr>
            <a:r>
              <a:rPr lang="en-US" dirty="0">
                <a:solidFill>
                  <a:srgbClr val="FFFFFF"/>
                </a:solidFill>
                <a:latin typeface="Arial" panose="020B0604020202020204" pitchFamily="34" charset="0"/>
                <a:ea typeface="Calibri (MS) Bold"/>
                <a:cs typeface="Arial" panose="020B0604020202020204" pitchFamily="34" charset="0"/>
                <a:sym typeface="Calibri (MS) Bold"/>
              </a:rPr>
              <a:t>Live</a:t>
            </a:r>
            <a:r>
              <a:rPr lang="en-US" b="1" dirty="0">
                <a:solidFill>
                  <a:srgbClr val="FFFFFF"/>
                </a:solidFill>
                <a:latin typeface="Arial" panose="020B0604020202020204" pitchFamily="34" charset="0"/>
                <a:ea typeface="Calibri (MS) Bold"/>
                <a:cs typeface="Arial" panose="020B0604020202020204" pitchFamily="34" charset="0"/>
                <a:sym typeface="Calibri (MS) Bold"/>
              </a:rPr>
              <a:t> prototype: </a:t>
            </a:r>
            <a:r>
              <a:rPr lang="en-US" dirty="0" err="1">
                <a:solidFill>
                  <a:srgbClr val="93A9CF"/>
                </a:solidFill>
                <a:latin typeface="Arial" panose="020B0604020202020204" pitchFamily="34" charset="0"/>
                <a:ea typeface="Calibri (MS)"/>
                <a:cs typeface="Arial" panose="020B0604020202020204" pitchFamily="34" charset="0"/>
                <a:sym typeface="Calibri (MS)"/>
              </a:rPr>
              <a:t>lashawnfofung.github.io</a:t>
            </a:r>
            <a:r>
              <a:rPr lang="en-US" dirty="0">
                <a:solidFill>
                  <a:srgbClr val="93A9CF"/>
                </a:solidFill>
                <a:latin typeface="Arial" panose="020B0604020202020204" pitchFamily="34" charset="0"/>
                <a:ea typeface="Calibri (MS)"/>
                <a:cs typeface="Arial" panose="020B0604020202020204" pitchFamily="34" charset="0"/>
                <a:sym typeface="Calibri (MS)"/>
              </a:rPr>
              <a:t>/BeReal-RealProcess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958</TotalTime>
  <Words>5578</Words>
  <Application>Microsoft Macintosh PowerPoint</Application>
  <PresentationFormat>Custom</PresentationFormat>
  <Paragraphs>1038</Paragraphs>
  <Slides>36</Slides>
  <Notes>36</Notes>
  <HiddenSlides>0</HiddenSlides>
  <MMClips>0</MMClips>
  <ScaleCrop>false</ScaleCrop>
  <HeadingPairs>
    <vt:vector size="6" baseType="variant">
      <vt:variant>
        <vt:lpstr>Fonts Used</vt:lpstr>
      </vt:variant>
      <vt:variant>
        <vt:i4>10</vt:i4>
      </vt:variant>
      <vt:variant>
        <vt:lpstr>Theme</vt:lpstr>
      </vt:variant>
      <vt:variant>
        <vt:i4>1</vt:i4>
      </vt:variant>
      <vt:variant>
        <vt:lpstr>Slide Titles</vt:lpstr>
      </vt:variant>
      <vt:variant>
        <vt:i4>36</vt:i4>
      </vt:variant>
    </vt:vector>
  </HeadingPairs>
  <TitlesOfParts>
    <vt:vector size="47" baseType="lpstr">
      <vt:lpstr>Arial</vt:lpstr>
      <vt:lpstr>Arial Italics</vt:lpstr>
      <vt:lpstr>Cambria Bold Italics</vt:lpstr>
      <vt:lpstr>Arial Bold</vt:lpstr>
      <vt:lpstr>Calibri (MS) Italics</vt:lpstr>
      <vt:lpstr>Calibri (MS)</vt:lpstr>
      <vt:lpstr>Calibri (MS) Bold Italics</vt:lpstr>
      <vt:lpstr>Calibri (MS) Bold</vt:lpstr>
      <vt:lpstr>Arial Bold Italics</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BeReal Prototype - Real Passport And Community Boards.pptx</dc:title>
  <cp:lastModifiedBy>Lashawn Fofung</cp:lastModifiedBy>
  <cp:revision>107</cp:revision>
  <dcterms:created xsi:type="dcterms:W3CDTF">2006-08-16T00:00:00Z</dcterms:created>
  <dcterms:modified xsi:type="dcterms:W3CDTF">2026-10-27T23:16:28Z</dcterms:modified>
  <dc:identifier>DAHYal7pApo</dc:identifier>
</cp:coreProperties>
</file>